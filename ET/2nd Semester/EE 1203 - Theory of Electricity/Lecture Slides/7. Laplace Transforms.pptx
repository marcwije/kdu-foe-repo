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51" roundtripDataSignature="AMtx7mi6aodGs36V0MZwoSDZ8mHNl9Ro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customschemas.google.com/relationships/presentationmetadata" Target="metadata"/><Relationship Id="rId50" Type="http://schemas.openxmlformats.org/officeDocument/2006/relationships/slide" Target="slides/slide4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solidFill>
                <a:schemeClr val="dk1"/>
              </a:solidFill>
            </a:endParaRPr>
          </a:p>
        </p:txBody>
      </p:sp>
      <p:sp>
        <p:nvSpPr>
          <p:cNvPr id="172" name="Google Shape;17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GB"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GB"/>
              <a:t>.</a:t>
            </a:r>
            <a:endParaRPr/>
          </a:p>
        </p:txBody>
      </p:sp>
      <p:sp>
        <p:nvSpPr>
          <p:cNvPr id="180" name="Google Shape;18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GB" sz="1200">
                <a:solidFill>
                  <a:schemeClr val="dk1"/>
                </a:solidFill>
                <a:latin typeface="Calibri"/>
                <a:ea typeface="Calibri"/>
                <a:cs typeface="Calibri"/>
                <a:sym typeface="Calibri"/>
              </a:rPr>
              <a:t>Laplace transform, in mathematics, a particular integral transform invented by the French mathematician </a:t>
            </a:r>
            <a:r>
              <a:rPr b="1" i="0" lang="en-GB" sz="1200">
                <a:solidFill>
                  <a:schemeClr val="dk1"/>
                </a:solidFill>
                <a:latin typeface="Calibri"/>
                <a:ea typeface="Calibri"/>
                <a:cs typeface="Calibri"/>
                <a:sym typeface="Calibri"/>
              </a:rPr>
              <a:t>Pierre-Simon Laplace</a:t>
            </a:r>
            <a:r>
              <a:rPr b="0" i="0" lang="en-GB" sz="1200">
                <a:solidFill>
                  <a:schemeClr val="dk1"/>
                </a:solidFill>
                <a:latin typeface="Calibri"/>
                <a:ea typeface="Calibri"/>
                <a:cs typeface="Calibri"/>
                <a:sym typeface="Calibri"/>
              </a:rPr>
              <a:t> (1749–1827), and systematically developed by the British physicist </a:t>
            </a:r>
            <a:r>
              <a:rPr b="1" i="0" lang="en-GB" sz="1200">
                <a:solidFill>
                  <a:schemeClr val="dk1"/>
                </a:solidFill>
                <a:latin typeface="Calibri"/>
                <a:ea typeface="Calibri"/>
                <a:cs typeface="Calibri"/>
                <a:sym typeface="Calibri"/>
              </a:rPr>
              <a:t>Oliver Heaviside</a:t>
            </a:r>
            <a:r>
              <a:rPr b="0" i="0" lang="en-GB" sz="1200">
                <a:solidFill>
                  <a:schemeClr val="dk1"/>
                </a:solidFill>
                <a:latin typeface="Calibri"/>
                <a:ea typeface="Calibri"/>
                <a:cs typeface="Calibri"/>
                <a:sym typeface="Calibri"/>
              </a:rPr>
              <a:t> (1850–1925), to simplify the solution of many differential equations that describe physical processes.</a:t>
            </a:r>
            <a:endParaRPr/>
          </a:p>
        </p:txBody>
      </p:sp>
      <p:sp>
        <p:nvSpPr>
          <p:cNvPr id="327" name="Google Shape;32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5" name="Google Shape;55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1" name="Google Shape;57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3" name="Google Shape;65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7" name="Google Shape;72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6" name="Google Shape;74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9" name="Google Shape;75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0" name="Google Shape;80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7" name="Google Shape;85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7" name="Google Shape;94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7" name="Google Shape;101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3" name="Google Shape;102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5" name="Google Shape;106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9" name="Google Shape;1079;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9" name="Google Shape;112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9" name="Google Shape;1139;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1" name="Google Shape;1181;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3" name="Google Shape;1243;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6" name="Google Shape;1256;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8" name="Google Shape;1298;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6" name="Google Shape;1376;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5" name="Google Shape;1425;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4" name="Google Shape;1464;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6" name="Shape 1516"/>
        <p:cNvGrpSpPr/>
        <p:nvPr/>
      </p:nvGrpSpPr>
      <p:grpSpPr>
        <a:xfrm>
          <a:off x="0" y="0"/>
          <a:ext cx="0" cy="0"/>
          <a:chOff x="0" y="0"/>
          <a:chExt cx="0" cy="0"/>
        </a:xfrm>
      </p:grpSpPr>
      <p:sp>
        <p:nvSpPr>
          <p:cNvPr id="1517" name="Google Shape;1517;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8" name="Google Shape;1518;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4" name="Shape 1574"/>
        <p:cNvGrpSpPr/>
        <p:nvPr/>
      </p:nvGrpSpPr>
      <p:grpSpPr>
        <a:xfrm>
          <a:off x="0" y="0"/>
          <a:ext cx="0" cy="0"/>
          <a:chOff x="0" y="0"/>
          <a:chExt cx="0" cy="0"/>
        </a:xfrm>
      </p:grpSpPr>
      <p:sp>
        <p:nvSpPr>
          <p:cNvPr id="1575" name="Google Shape;1575;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6" name="Google Shape;1576;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47"/>
          <p:cNvSpPr txBox="1"/>
          <p:nvPr>
            <p:ph type="title"/>
          </p:nvPr>
        </p:nvSpPr>
        <p:spPr>
          <a:xfrm>
            <a:off x="429715" y="634543"/>
            <a:ext cx="10924085" cy="482745"/>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C00000"/>
              </a:buClr>
              <a:buSzPts val="3200"/>
              <a:buFont typeface="Times New Roman"/>
              <a:buNone/>
              <a:defRPr b="1" sz="3200">
                <a:solidFill>
                  <a:srgbClr val="C00000"/>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7"/>
          <p:cNvSpPr txBox="1"/>
          <p:nvPr>
            <p:ph idx="1" type="body"/>
          </p:nvPr>
        </p:nvSpPr>
        <p:spPr>
          <a:xfrm>
            <a:off x="429715" y="1208323"/>
            <a:ext cx="11360503" cy="4024078"/>
          </a:xfrm>
          <a:prstGeom prst="rect">
            <a:avLst/>
          </a:prstGeom>
          <a:noFill/>
          <a:ln>
            <a:noFill/>
          </a:ln>
        </p:spPr>
        <p:txBody>
          <a:bodyPr anchorCtr="0" anchor="t" bIns="45700" lIns="91425" spcFirstLastPara="1" rIns="91425" wrap="square" tIns="45700">
            <a:normAutofit/>
          </a:bodyPr>
          <a:lstStyle>
            <a:lvl1pPr indent="-457200" lvl="0" marL="457200" algn="l">
              <a:lnSpc>
                <a:spcPct val="90000"/>
              </a:lnSpc>
              <a:spcBef>
                <a:spcPts val="1000"/>
              </a:spcBef>
              <a:spcAft>
                <a:spcPts val="0"/>
              </a:spcAft>
              <a:buClr>
                <a:srgbClr val="002060"/>
              </a:buClr>
              <a:buSzPts val="3600"/>
              <a:buChar char="•"/>
              <a:defRPr sz="3600">
                <a:solidFill>
                  <a:srgbClr val="002060"/>
                </a:solidFill>
              </a:defRPr>
            </a:lvl1pPr>
            <a:lvl2pPr indent="-431800" lvl="1" marL="914400" algn="l">
              <a:lnSpc>
                <a:spcPct val="90000"/>
              </a:lnSpc>
              <a:spcBef>
                <a:spcPts val="500"/>
              </a:spcBef>
              <a:spcAft>
                <a:spcPts val="0"/>
              </a:spcAft>
              <a:buClr>
                <a:srgbClr val="002060"/>
              </a:buClr>
              <a:buSzPts val="3200"/>
              <a:buChar char="•"/>
              <a:defRPr sz="3200">
                <a:solidFill>
                  <a:srgbClr val="002060"/>
                </a:solidFill>
              </a:defRPr>
            </a:lvl2pPr>
            <a:lvl3pPr indent="-406400" lvl="2" marL="1371600" algn="l">
              <a:lnSpc>
                <a:spcPct val="90000"/>
              </a:lnSpc>
              <a:spcBef>
                <a:spcPts val="500"/>
              </a:spcBef>
              <a:spcAft>
                <a:spcPts val="0"/>
              </a:spcAft>
              <a:buClr>
                <a:srgbClr val="002060"/>
              </a:buClr>
              <a:buSzPts val="2800"/>
              <a:buChar char="•"/>
              <a:defRPr sz="2800">
                <a:solidFill>
                  <a:srgbClr val="002060"/>
                </a:solidFill>
              </a:defRPr>
            </a:lvl3pPr>
            <a:lvl4pPr indent="-381000" lvl="3" marL="1828800" algn="l">
              <a:lnSpc>
                <a:spcPct val="90000"/>
              </a:lnSpc>
              <a:spcBef>
                <a:spcPts val="500"/>
              </a:spcBef>
              <a:spcAft>
                <a:spcPts val="0"/>
              </a:spcAft>
              <a:buClr>
                <a:srgbClr val="002060"/>
              </a:buClr>
              <a:buSzPts val="2400"/>
              <a:buChar char="•"/>
              <a:defRPr sz="2400">
                <a:solidFill>
                  <a:srgbClr val="002060"/>
                </a:solidFill>
              </a:defRPr>
            </a:lvl4pPr>
            <a:lvl5pPr indent="-381000" lvl="4" marL="2286000" algn="l">
              <a:lnSpc>
                <a:spcPct val="90000"/>
              </a:lnSpc>
              <a:spcBef>
                <a:spcPts val="500"/>
              </a:spcBef>
              <a:spcAft>
                <a:spcPts val="0"/>
              </a:spcAft>
              <a:buClr>
                <a:srgbClr val="002060"/>
              </a:buClr>
              <a:buSzPts val="2400"/>
              <a:buChar char="•"/>
              <a:defRPr sz="2400">
                <a:solidFill>
                  <a:srgbClr val="002060"/>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47"/>
          <p:cNvSpPr txBox="1"/>
          <p:nvPr/>
        </p:nvSpPr>
        <p:spPr>
          <a:xfrm>
            <a:off x="566702" y="313267"/>
            <a:ext cx="8989252" cy="230242"/>
          </a:xfrm>
          <a:prstGeom prst="rect">
            <a:avLst/>
          </a:prstGeom>
          <a:noFill/>
          <a:ln>
            <a:noFill/>
          </a:ln>
        </p:spPr>
        <p:txBody>
          <a:bodyPr anchorCtr="0" anchor="t" bIns="0" lIns="0" spcFirstLastPara="1" rIns="0" wrap="square" tIns="11275">
            <a:spAutoFit/>
          </a:bodyPr>
          <a:lstStyle/>
          <a:p>
            <a:pPr indent="0" lvl="0" marL="11289" marR="0" rtl="0" algn="l">
              <a:lnSpc>
                <a:spcPct val="100000"/>
              </a:lnSpc>
              <a:spcBef>
                <a:spcPts val="0"/>
              </a:spcBef>
              <a:spcAft>
                <a:spcPts val="0"/>
              </a:spcAft>
              <a:buClr>
                <a:srgbClr val="000000"/>
              </a:buClr>
              <a:buSzPts val="1422"/>
              <a:buFont typeface="Arial"/>
              <a:buNone/>
            </a:pPr>
            <a:r>
              <a:rPr b="0" i="0" lang="en-GB" sz="1422" u="none" cap="none" strike="noStrike">
                <a:solidFill>
                  <a:srgbClr val="000000"/>
                </a:solidFill>
                <a:latin typeface="Arial"/>
                <a:ea typeface="Arial"/>
                <a:cs typeface="Arial"/>
                <a:sym typeface="Arial"/>
              </a:rPr>
              <a:t>EE 1203Theory of Electricity	Laplace Transform</a:t>
            </a:r>
            <a:endParaRPr b="0" i="0" sz="1422" u="none" cap="none" strike="noStrike">
              <a:solidFill>
                <a:srgbClr val="000000"/>
              </a:solidFill>
              <a:latin typeface="Arial"/>
              <a:ea typeface="Arial"/>
              <a:cs typeface="Arial"/>
              <a:sym typeface="Arial"/>
            </a:endParaRPr>
          </a:p>
        </p:txBody>
      </p:sp>
      <p:sp>
        <p:nvSpPr>
          <p:cNvPr id="19" name="Google Shape;19;p47"/>
          <p:cNvSpPr txBox="1"/>
          <p:nvPr/>
        </p:nvSpPr>
        <p:spPr>
          <a:xfrm>
            <a:off x="429714" y="6630501"/>
            <a:ext cx="3340181" cy="169277"/>
          </a:xfrm>
          <a:prstGeom prst="rect">
            <a:avLst/>
          </a:prstGeom>
          <a:noFill/>
          <a:ln>
            <a:noFill/>
          </a:ln>
        </p:spPr>
        <p:txBody>
          <a:bodyPr anchorCtr="0" anchor="ctr" bIns="0" lIns="0" spcFirstLastPara="1" rIns="0" wrap="square" tIns="0">
            <a:spAutoFit/>
          </a:bodyPr>
          <a:lstStyle/>
          <a:p>
            <a:pPr indent="0" lvl="0" marL="11289" marR="0" rtl="0" algn="l">
              <a:spcBef>
                <a:spcPts val="0"/>
              </a:spcBef>
              <a:spcAft>
                <a:spcPts val="0"/>
              </a:spcAft>
              <a:buNone/>
            </a:pPr>
            <a:r>
              <a:rPr b="0" i="0" lang="en-GB" sz="1100" u="none" cap="none" strike="noStrike">
                <a:solidFill>
                  <a:srgbClr val="000000"/>
                </a:solidFill>
                <a:latin typeface="Arial"/>
                <a:ea typeface="Arial"/>
                <a:cs typeface="Arial"/>
                <a:sym typeface="Arial"/>
              </a:rPr>
              <a:t>KDU – Prepared by Prof J R Lucas/September2020</a:t>
            </a:r>
            <a:endParaRPr b="0" i="0" sz="3600" u="none" cap="none" strike="noStrike">
              <a:solidFill>
                <a:srgbClr val="000000"/>
              </a:solidFill>
              <a:latin typeface="Arial"/>
              <a:ea typeface="Arial"/>
              <a:cs typeface="Arial"/>
              <a:sym typeface="Arial"/>
            </a:endParaRPr>
          </a:p>
        </p:txBody>
      </p:sp>
      <p:pic>
        <p:nvPicPr>
          <p:cNvPr descr="A close up of a logo&#10;&#10;Description automatically generated" id="20" name="Google Shape;20;p47"/>
          <p:cNvPicPr preferRelativeResize="0"/>
          <p:nvPr/>
        </p:nvPicPr>
        <p:blipFill rotWithShape="1">
          <a:blip r:embed="rId2">
            <a:alphaModFix/>
          </a:blip>
          <a:srcRect b="0" l="0" r="0" t="0"/>
          <a:stretch/>
        </p:blipFill>
        <p:spPr>
          <a:xfrm>
            <a:off x="10904309" y="138184"/>
            <a:ext cx="1051611" cy="795982"/>
          </a:xfrm>
          <a:prstGeom prst="rect">
            <a:avLst/>
          </a:prstGeom>
          <a:noFill/>
          <a:ln>
            <a:noFill/>
          </a:ln>
        </p:spPr>
      </p:pic>
      <p:sp>
        <p:nvSpPr>
          <p:cNvPr id="21" name="Google Shape;21;p47"/>
          <p:cNvSpPr txBox="1"/>
          <p:nvPr/>
        </p:nvSpPr>
        <p:spPr>
          <a:xfrm>
            <a:off x="11637817" y="110691"/>
            <a:ext cx="512853" cy="30776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400" u="none" cap="none" strike="noStrike">
                <a:solidFill>
                  <a:srgbClr val="888888"/>
                </a:solidFill>
                <a:latin typeface="Calibri"/>
                <a:ea typeface="Calibri"/>
                <a:cs typeface="Calibri"/>
                <a:sym typeface="Calibri"/>
              </a:rPr>
              <a:t>‹#›</a:t>
            </a:fld>
            <a:endParaRPr b="0" i="0" sz="1400" u="none" cap="none" strike="noStrike">
              <a:solidFill>
                <a:srgbClr val="888888"/>
              </a:solidFill>
              <a:latin typeface="Calibri"/>
              <a:ea typeface="Calibri"/>
              <a:cs typeface="Calibri"/>
              <a:sym typeface="Calibri"/>
            </a:endParaRPr>
          </a:p>
        </p:txBody>
      </p:sp>
      <p:pic>
        <p:nvPicPr>
          <p:cNvPr id="22" name="Google Shape;22;p47"/>
          <p:cNvPicPr preferRelativeResize="0"/>
          <p:nvPr/>
        </p:nvPicPr>
        <p:blipFill rotWithShape="1">
          <a:blip r:embed="rId3">
            <a:alphaModFix/>
          </a:blip>
          <a:srcRect b="0" l="0" r="0" t="0"/>
          <a:stretch/>
        </p:blipFill>
        <p:spPr>
          <a:xfrm>
            <a:off x="10019169" y="5232400"/>
            <a:ext cx="2172831" cy="16256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3" name="Shape 23"/>
        <p:cNvGrpSpPr/>
        <p:nvPr/>
      </p:nvGrpSpPr>
      <p:grpSpPr>
        <a:xfrm>
          <a:off x="0" y="0"/>
          <a:ext cx="0" cy="0"/>
          <a:chOff x="0" y="0"/>
          <a:chExt cx="0" cy="0"/>
        </a:xfrm>
      </p:grpSpPr>
      <p:sp>
        <p:nvSpPr>
          <p:cNvPr id="24" name="Google Shape;24;p4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6" name="Google Shape;26;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9" name="Shape 29"/>
        <p:cNvGrpSpPr/>
        <p:nvPr/>
      </p:nvGrpSpPr>
      <p:grpSpPr>
        <a:xfrm>
          <a:off x="0" y="0"/>
          <a:ext cx="0" cy="0"/>
          <a:chOff x="0" y="0"/>
          <a:chExt cx="0" cy="0"/>
        </a:xfrm>
      </p:grpSpPr>
      <p:sp>
        <p:nvSpPr>
          <p:cNvPr id="30" name="Google Shape;30;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5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5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5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5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5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5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5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5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5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8" name="Google Shape;68;p5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 name="Shape 72"/>
        <p:cNvGrpSpPr/>
        <p:nvPr/>
      </p:nvGrpSpPr>
      <p:grpSpPr>
        <a:xfrm>
          <a:off x="0" y="0"/>
          <a:ext cx="0" cy="0"/>
          <a:chOff x="0" y="0"/>
          <a:chExt cx="0" cy="0"/>
        </a:xfrm>
      </p:grpSpPr>
      <p:sp>
        <p:nvSpPr>
          <p:cNvPr id="73" name="Google Shape;73;p5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6"/>
          <p:cNvSpPr/>
          <p:nvPr>
            <p:ph idx="2" type="pic"/>
          </p:nvPr>
        </p:nvSpPr>
        <p:spPr>
          <a:xfrm>
            <a:off x="5183188" y="987425"/>
            <a:ext cx="6172200" cy="4873625"/>
          </a:xfrm>
          <a:prstGeom prst="rect">
            <a:avLst/>
          </a:prstGeom>
          <a:noFill/>
          <a:ln>
            <a:noFill/>
          </a:ln>
        </p:spPr>
      </p:sp>
      <p:sp>
        <p:nvSpPr>
          <p:cNvPr id="75" name="Google Shape;75;p5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9" name="Shape 79"/>
        <p:cNvGrpSpPr/>
        <p:nvPr/>
      </p:nvGrpSpPr>
      <p:grpSpPr>
        <a:xfrm>
          <a:off x="0" y="0"/>
          <a:ext cx="0" cy="0"/>
          <a:chOff x="0" y="0"/>
          <a:chExt cx="0" cy="0"/>
        </a:xfrm>
      </p:grpSpPr>
      <p:sp>
        <p:nvSpPr>
          <p:cNvPr id="80" name="Google Shape;80;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5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5" name="Shape 85"/>
        <p:cNvGrpSpPr/>
        <p:nvPr/>
      </p:nvGrpSpPr>
      <p:grpSpPr>
        <a:xfrm>
          <a:off x="0" y="0"/>
          <a:ext cx="0" cy="0"/>
          <a:chOff x="0" y="0"/>
          <a:chExt cx="0" cy="0"/>
        </a:xfrm>
      </p:grpSpPr>
      <p:sp>
        <p:nvSpPr>
          <p:cNvPr id="86" name="Google Shape;86;p5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5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7" name="Shape 97"/>
        <p:cNvGrpSpPr/>
        <p:nvPr/>
      </p:nvGrpSpPr>
      <p:grpSpPr>
        <a:xfrm>
          <a:off x="0" y="0"/>
          <a:ext cx="0" cy="0"/>
          <a:chOff x="0" y="0"/>
          <a:chExt cx="0" cy="0"/>
        </a:xfrm>
      </p:grpSpPr>
      <p:sp>
        <p:nvSpPr>
          <p:cNvPr id="98" name="Google Shape;98;p6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6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00" name="Google Shape;100;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3" name="Shape 103"/>
        <p:cNvGrpSpPr/>
        <p:nvPr/>
      </p:nvGrpSpPr>
      <p:grpSpPr>
        <a:xfrm>
          <a:off x="0" y="0"/>
          <a:ext cx="0" cy="0"/>
          <a:chOff x="0" y="0"/>
          <a:chExt cx="0" cy="0"/>
        </a:xfrm>
      </p:grpSpPr>
      <p:sp>
        <p:nvSpPr>
          <p:cNvPr id="104" name="Google Shape;104;p61"/>
          <p:cNvSpPr txBox="1"/>
          <p:nvPr>
            <p:ph type="title"/>
          </p:nvPr>
        </p:nvSpPr>
        <p:spPr>
          <a:xfrm>
            <a:off x="838200" y="365125"/>
            <a:ext cx="10515600" cy="720725"/>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C00000"/>
              </a:buClr>
              <a:buSzPts val="3600"/>
              <a:buFont typeface="Calibri"/>
              <a:buNone/>
              <a:defRPr b="1" sz="3600">
                <a:solidFill>
                  <a:srgbClr val="C0000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 name="Google Shape;105;p61"/>
          <p:cNvSpPr txBox="1"/>
          <p:nvPr>
            <p:ph idx="1" type="body"/>
          </p:nvPr>
        </p:nvSpPr>
        <p:spPr>
          <a:xfrm>
            <a:off x="353291" y="1257300"/>
            <a:ext cx="11514859" cy="4919663"/>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rgbClr val="002060"/>
              </a:buClr>
              <a:buSzPts val="3200"/>
              <a:buChar char="•"/>
              <a:defRPr sz="3200">
                <a:solidFill>
                  <a:srgbClr val="002060"/>
                </a:solidFill>
              </a:defRPr>
            </a:lvl1pPr>
            <a:lvl2pPr indent="-406400" lvl="1" marL="914400" algn="l">
              <a:lnSpc>
                <a:spcPct val="90000"/>
              </a:lnSpc>
              <a:spcBef>
                <a:spcPts val="500"/>
              </a:spcBef>
              <a:spcAft>
                <a:spcPts val="0"/>
              </a:spcAft>
              <a:buClr>
                <a:srgbClr val="002060"/>
              </a:buClr>
              <a:buSzPts val="2800"/>
              <a:buChar char="•"/>
              <a:defRPr sz="2800">
                <a:solidFill>
                  <a:srgbClr val="002060"/>
                </a:solidFill>
              </a:defRPr>
            </a:lvl2pPr>
            <a:lvl3pPr indent="-381000" lvl="2" marL="1371600" algn="l">
              <a:lnSpc>
                <a:spcPct val="90000"/>
              </a:lnSpc>
              <a:spcBef>
                <a:spcPts val="500"/>
              </a:spcBef>
              <a:spcAft>
                <a:spcPts val="0"/>
              </a:spcAft>
              <a:buClr>
                <a:srgbClr val="002060"/>
              </a:buClr>
              <a:buSzPts val="2400"/>
              <a:buChar char="•"/>
              <a:defRPr sz="2400">
                <a:solidFill>
                  <a:srgbClr val="002060"/>
                </a:solidFill>
              </a:defRPr>
            </a:lvl3pPr>
            <a:lvl4pPr indent="-355600" lvl="3" marL="1828800" algn="l">
              <a:lnSpc>
                <a:spcPct val="90000"/>
              </a:lnSpc>
              <a:spcBef>
                <a:spcPts val="500"/>
              </a:spcBef>
              <a:spcAft>
                <a:spcPts val="0"/>
              </a:spcAft>
              <a:buClr>
                <a:srgbClr val="002060"/>
              </a:buClr>
              <a:buSzPts val="2000"/>
              <a:buChar char="•"/>
              <a:defRPr sz="2000">
                <a:solidFill>
                  <a:srgbClr val="002060"/>
                </a:solidFill>
              </a:defRPr>
            </a:lvl4pPr>
            <a:lvl5pPr indent="-355600" lvl="4" marL="2286000" algn="l">
              <a:lnSpc>
                <a:spcPct val="90000"/>
              </a:lnSpc>
              <a:spcBef>
                <a:spcPts val="500"/>
              </a:spcBef>
              <a:spcAft>
                <a:spcPts val="0"/>
              </a:spcAft>
              <a:buClr>
                <a:srgbClr val="002060"/>
              </a:buClr>
              <a:buSzPts val="2000"/>
              <a:buChar char="•"/>
              <a:defRPr sz="2000">
                <a:solidFill>
                  <a:srgbClr val="002060"/>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 name="Google Shape;106;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61"/>
          <p:cNvSpPr txBox="1"/>
          <p:nvPr/>
        </p:nvSpPr>
        <p:spPr>
          <a:xfrm>
            <a:off x="143740" y="6480729"/>
            <a:ext cx="264809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600">
                <a:solidFill>
                  <a:schemeClr val="dk1"/>
                </a:solidFill>
                <a:latin typeface="Calibri"/>
                <a:ea typeface="Calibri"/>
                <a:cs typeface="Calibri"/>
                <a:sym typeface="Calibri"/>
              </a:rPr>
              <a:t>Prof J Rohan Lucas/April 2020</a:t>
            </a:r>
            <a:endParaRPr sz="1600">
              <a:solidFill>
                <a:schemeClr val="dk1"/>
              </a:solidFill>
              <a:latin typeface="Calibri"/>
              <a:ea typeface="Calibri"/>
              <a:cs typeface="Calibri"/>
              <a:sym typeface="Calibri"/>
            </a:endParaRPr>
          </a:p>
        </p:txBody>
      </p:sp>
      <p:pic>
        <p:nvPicPr>
          <p:cNvPr id="108" name="Google Shape;108;p61"/>
          <p:cNvPicPr preferRelativeResize="0"/>
          <p:nvPr/>
        </p:nvPicPr>
        <p:blipFill rotWithShape="1">
          <a:blip r:embed="rId2">
            <a:alphaModFix/>
          </a:blip>
          <a:srcRect b="0" l="0" r="0" t="0"/>
          <a:stretch/>
        </p:blipFill>
        <p:spPr>
          <a:xfrm>
            <a:off x="109150" y="0"/>
            <a:ext cx="723810" cy="552381"/>
          </a:xfrm>
          <a:prstGeom prst="rect">
            <a:avLst/>
          </a:prstGeom>
          <a:noFill/>
          <a:ln>
            <a:noFill/>
          </a:ln>
        </p:spPr>
      </p:pic>
      <p:sp>
        <p:nvSpPr>
          <p:cNvPr id="109" name="Google Shape;109;p61"/>
          <p:cNvSpPr txBox="1"/>
          <p:nvPr/>
        </p:nvSpPr>
        <p:spPr>
          <a:xfrm>
            <a:off x="554182" y="53395"/>
            <a:ext cx="11000509" cy="369332"/>
          </a:xfrm>
          <a:prstGeom prst="rect">
            <a:avLst/>
          </a:prstGeom>
          <a:noFill/>
          <a:ln>
            <a:noFill/>
          </a:ln>
        </p:spPr>
        <p:txBody>
          <a:bodyPr anchorCtr="0" anchor="t" bIns="45700" lIns="91425" spcFirstLastPara="1" rIns="91425" wrap="square" tIns="45700">
            <a:spAutoFit/>
          </a:bodyPr>
          <a:lstStyle/>
          <a:p>
            <a:pPr indent="0" lvl="0" marL="504825" marR="0" rtl="0" algn="l">
              <a:spcBef>
                <a:spcPts val="0"/>
              </a:spcBef>
              <a:spcAft>
                <a:spcPts val="0"/>
              </a:spcAft>
              <a:buNone/>
            </a:pPr>
            <a:r>
              <a:rPr lang="en-GB" sz="1600">
                <a:solidFill>
                  <a:schemeClr val="dk1"/>
                </a:solidFill>
                <a:latin typeface="Calibri"/>
                <a:ea typeface="Calibri"/>
                <a:cs typeface="Calibri"/>
                <a:sym typeface="Calibri"/>
              </a:rPr>
              <a:t>High Voltage Engineering 1	</a:t>
            </a:r>
            <a:r>
              <a:rPr b="1" lang="en-GB" sz="1800">
                <a:solidFill>
                  <a:schemeClr val="dk1"/>
                </a:solidFill>
                <a:latin typeface="Calibri"/>
                <a:ea typeface="Calibri"/>
                <a:cs typeface="Calibri"/>
                <a:sym typeface="Calibri"/>
              </a:rPr>
              <a:t>High Voltage Cables	</a:t>
            </a:r>
            <a:endParaRPr b="0" sz="1600">
              <a:solidFill>
                <a:schemeClr val="dk1"/>
              </a:solidFill>
              <a:latin typeface="Calibri"/>
              <a:ea typeface="Calibri"/>
              <a:cs typeface="Calibri"/>
              <a:sym typeface="Calibri"/>
            </a:endParaRPr>
          </a:p>
        </p:txBody>
      </p:sp>
      <p:sp>
        <p:nvSpPr>
          <p:cNvPr id="110" name="Google Shape;110;p61"/>
          <p:cNvSpPr txBox="1"/>
          <p:nvPr/>
        </p:nvSpPr>
        <p:spPr>
          <a:xfrm>
            <a:off x="11637818" y="110690"/>
            <a:ext cx="432304" cy="31203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lang="en-GB" sz="1400">
                <a:solidFill>
                  <a:srgbClr val="888888"/>
                </a:solidFill>
                <a:latin typeface="Calibri"/>
                <a:ea typeface="Calibri"/>
                <a:cs typeface="Calibri"/>
                <a:sym typeface="Calibri"/>
              </a:rPr>
              <a:t>‹#›</a:t>
            </a:fld>
            <a:endParaRPr sz="1400">
              <a:solidFill>
                <a:srgbClr val="888888"/>
              </a:solidFill>
              <a:latin typeface="Calibri"/>
              <a:ea typeface="Calibri"/>
              <a:cs typeface="Calibri"/>
              <a:sym typeface="Calibri"/>
            </a:endParaRPr>
          </a:p>
        </p:txBody>
      </p:sp>
      <p:pic>
        <p:nvPicPr>
          <p:cNvPr id="111" name="Google Shape;111;p61"/>
          <p:cNvPicPr preferRelativeResize="0"/>
          <p:nvPr/>
        </p:nvPicPr>
        <p:blipFill rotWithShape="1">
          <a:blip r:embed="rId3">
            <a:alphaModFix/>
          </a:blip>
          <a:srcRect b="0" l="0" r="0" t="0"/>
          <a:stretch/>
        </p:blipFill>
        <p:spPr>
          <a:xfrm>
            <a:off x="10019169" y="5232400"/>
            <a:ext cx="2172831" cy="16256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2" name="Shape 112"/>
        <p:cNvGrpSpPr/>
        <p:nvPr/>
      </p:nvGrpSpPr>
      <p:grpSpPr>
        <a:xfrm>
          <a:off x="0" y="0"/>
          <a:ext cx="0" cy="0"/>
          <a:chOff x="0" y="0"/>
          <a:chExt cx="0" cy="0"/>
        </a:xfrm>
      </p:grpSpPr>
      <p:sp>
        <p:nvSpPr>
          <p:cNvPr id="113" name="Google Shape;113;p6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6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15" name="Google Shape;115;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8" name="Shape 118"/>
        <p:cNvGrpSpPr/>
        <p:nvPr/>
      </p:nvGrpSpPr>
      <p:grpSpPr>
        <a:xfrm>
          <a:off x="0" y="0"/>
          <a:ext cx="0" cy="0"/>
          <a:chOff x="0" y="0"/>
          <a:chExt cx="0" cy="0"/>
        </a:xfrm>
      </p:grpSpPr>
      <p:sp>
        <p:nvSpPr>
          <p:cNvPr id="119" name="Google Shape;119;p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6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6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5" name="Shape 125"/>
        <p:cNvGrpSpPr/>
        <p:nvPr/>
      </p:nvGrpSpPr>
      <p:grpSpPr>
        <a:xfrm>
          <a:off x="0" y="0"/>
          <a:ext cx="0" cy="0"/>
          <a:chOff x="0" y="0"/>
          <a:chExt cx="0" cy="0"/>
        </a:xfrm>
      </p:grpSpPr>
      <p:sp>
        <p:nvSpPr>
          <p:cNvPr id="126" name="Google Shape;126;p6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p6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8" name="Google Shape;128;p6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 name="Google Shape;129;p6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0" name="Google Shape;130;p6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 name="Google Shape;131;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4" name="Shape 134"/>
        <p:cNvGrpSpPr/>
        <p:nvPr/>
      </p:nvGrpSpPr>
      <p:grpSpPr>
        <a:xfrm>
          <a:off x="0" y="0"/>
          <a:ext cx="0" cy="0"/>
          <a:chOff x="0" y="0"/>
          <a:chExt cx="0" cy="0"/>
        </a:xfrm>
      </p:grpSpPr>
      <p:sp>
        <p:nvSpPr>
          <p:cNvPr id="135" name="Google Shape;135;p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9" name="Shape 139"/>
        <p:cNvGrpSpPr/>
        <p:nvPr/>
      </p:nvGrpSpPr>
      <p:grpSpPr>
        <a:xfrm>
          <a:off x="0" y="0"/>
          <a:ext cx="0" cy="0"/>
          <a:chOff x="0" y="0"/>
          <a:chExt cx="0" cy="0"/>
        </a:xfrm>
      </p:grpSpPr>
      <p:sp>
        <p:nvSpPr>
          <p:cNvPr id="140" name="Google Shape;140;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3" name="Shape 143"/>
        <p:cNvGrpSpPr/>
        <p:nvPr/>
      </p:nvGrpSpPr>
      <p:grpSpPr>
        <a:xfrm>
          <a:off x="0" y="0"/>
          <a:ext cx="0" cy="0"/>
          <a:chOff x="0" y="0"/>
          <a:chExt cx="0" cy="0"/>
        </a:xfrm>
      </p:grpSpPr>
      <p:sp>
        <p:nvSpPr>
          <p:cNvPr id="144" name="Google Shape;144;p6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6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46" name="Google Shape;146;p6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7" name="Google Shape;147;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0" name="Shape 150"/>
        <p:cNvGrpSpPr/>
        <p:nvPr/>
      </p:nvGrpSpPr>
      <p:grpSpPr>
        <a:xfrm>
          <a:off x="0" y="0"/>
          <a:ext cx="0" cy="0"/>
          <a:chOff x="0" y="0"/>
          <a:chExt cx="0" cy="0"/>
        </a:xfrm>
      </p:grpSpPr>
      <p:sp>
        <p:nvSpPr>
          <p:cNvPr id="151" name="Google Shape;151;p6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 name="Google Shape;152;p68"/>
          <p:cNvSpPr/>
          <p:nvPr>
            <p:ph idx="2" type="pic"/>
          </p:nvPr>
        </p:nvSpPr>
        <p:spPr>
          <a:xfrm>
            <a:off x="5183188" y="987425"/>
            <a:ext cx="6172200" cy="4873625"/>
          </a:xfrm>
          <a:prstGeom prst="rect">
            <a:avLst/>
          </a:prstGeom>
          <a:noFill/>
          <a:ln>
            <a:noFill/>
          </a:ln>
        </p:spPr>
      </p:sp>
      <p:sp>
        <p:nvSpPr>
          <p:cNvPr id="153" name="Google Shape;153;p6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54" name="Google Shape;154;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7" name="Shape 157"/>
        <p:cNvGrpSpPr/>
        <p:nvPr/>
      </p:nvGrpSpPr>
      <p:grpSpPr>
        <a:xfrm>
          <a:off x="0" y="0"/>
          <a:ext cx="0" cy="0"/>
          <a:chOff x="0" y="0"/>
          <a:chExt cx="0" cy="0"/>
        </a:xfrm>
      </p:grpSpPr>
      <p:sp>
        <p:nvSpPr>
          <p:cNvPr id="158" name="Google Shape;158;p6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6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 name="Google Shape;160;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3" name="Shape 163"/>
        <p:cNvGrpSpPr/>
        <p:nvPr/>
      </p:nvGrpSpPr>
      <p:grpSpPr>
        <a:xfrm>
          <a:off x="0" y="0"/>
          <a:ext cx="0" cy="0"/>
          <a:chOff x="0" y="0"/>
          <a:chExt cx="0" cy="0"/>
        </a:xfrm>
      </p:grpSpPr>
      <p:sp>
        <p:nvSpPr>
          <p:cNvPr id="164" name="Google Shape;164;p7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5" name="Google Shape;165;p7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 name="Google Shape;166;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8" name="Google Shape;168;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2.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 name="Shape 91"/>
        <p:cNvGrpSpPr/>
        <p:nvPr/>
      </p:nvGrpSpPr>
      <p:grpSpPr>
        <a:xfrm>
          <a:off x="0" y="0"/>
          <a:ext cx="0" cy="0"/>
          <a:chOff x="0" y="0"/>
          <a:chExt cx="0" cy="0"/>
        </a:xfrm>
      </p:grpSpPr>
      <p:sp>
        <p:nvSpPr>
          <p:cNvPr id="92" name="Google Shape;92;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3" name="Google Shape;93;p5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4" name="Google Shape;94;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5" name="Google Shape;95;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6" name="Google Shape;96;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6.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3.png"/><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23.png"/><Relationship Id="rId6" Type="http://schemas.openxmlformats.org/officeDocument/2006/relationships/image" Target="../media/image25.png"/><Relationship Id="rId7"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6.png"/><Relationship Id="rId4" Type="http://schemas.openxmlformats.org/officeDocument/2006/relationships/image" Target="../media/image37.png"/><Relationship Id="rId5"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9.png"/><Relationship Id="rId4" Type="http://schemas.openxmlformats.org/officeDocument/2006/relationships/image" Target="../media/image28.png"/><Relationship Id="rId5" Type="http://schemas.openxmlformats.org/officeDocument/2006/relationships/image" Target="../media/image34.png"/><Relationship Id="rId6" Type="http://schemas.openxmlformats.org/officeDocument/2006/relationships/image" Target="../media/image41.png"/><Relationship Id="rId7"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6.png"/><Relationship Id="rId4" Type="http://schemas.openxmlformats.org/officeDocument/2006/relationships/image" Target="../media/image43.png"/><Relationship Id="rId5" Type="http://schemas.openxmlformats.org/officeDocument/2006/relationships/image" Target="../media/image39.png"/><Relationship Id="rId6"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8.png"/><Relationship Id="rId4" Type="http://schemas.openxmlformats.org/officeDocument/2006/relationships/image" Target="../media/image35.png"/><Relationship Id="rId9" Type="http://schemas.openxmlformats.org/officeDocument/2006/relationships/image" Target="../media/image47.png"/><Relationship Id="rId5" Type="http://schemas.openxmlformats.org/officeDocument/2006/relationships/image" Target="../media/image40.png"/><Relationship Id="rId6" Type="http://schemas.openxmlformats.org/officeDocument/2006/relationships/image" Target="../media/image38.png"/><Relationship Id="rId7" Type="http://schemas.openxmlformats.org/officeDocument/2006/relationships/image" Target="../media/image54.png"/><Relationship Id="rId8" Type="http://schemas.openxmlformats.org/officeDocument/2006/relationships/image" Target="../media/image4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1.png"/><Relationship Id="rId4" Type="http://schemas.openxmlformats.org/officeDocument/2006/relationships/image" Target="../media/image45.png"/><Relationship Id="rId5" Type="http://schemas.openxmlformats.org/officeDocument/2006/relationships/image" Target="../media/image51.png"/><Relationship Id="rId6" Type="http://schemas.openxmlformats.org/officeDocument/2006/relationships/image" Target="../media/image44.png"/><Relationship Id="rId7" Type="http://schemas.openxmlformats.org/officeDocument/2006/relationships/image" Target="../media/image5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9.png"/><Relationship Id="rId4" Type="http://schemas.openxmlformats.org/officeDocument/2006/relationships/image" Target="../media/image55.png"/><Relationship Id="rId5" Type="http://schemas.openxmlformats.org/officeDocument/2006/relationships/image" Target="../media/image57.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9.png"/><Relationship Id="rId6" Type="http://schemas.openxmlformats.org/officeDocument/2006/relationships/image" Target="../media/image68.png"/><Relationship Id="rId7" Type="http://schemas.openxmlformats.org/officeDocument/2006/relationships/image" Target="../media/image6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7.png"/><Relationship Id="rId4" Type="http://schemas.openxmlformats.org/officeDocument/2006/relationships/image" Target="../media/image56.png"/><Relationship Id="rId9" Type="http://schemas.openxmlformats.org/officeDocument/2006/relationships/image" Target="../media/image63.png"/><Relationship Id="rId5" Type="http://schemas.openxmlformats.org/officeDocument/2006/relationships/image" Target="../media/image59.png"/><Relationship Id="rId6" Type="http://schemas.openxmlformats.org/officeDocument/2006/relationships/image" Target="../media/image71.png"/><Relationship Id="rId7" Type="http://schemas.openxmlformats.org/officeDocument/2006/relationships/image" Target="../media/image60.png"/><Relationship Id="rId8" Type="http://schemas.openxmlformats.org/officeDocument/2006/relationships/image" Target="../media/image6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70.png"/><Relationship Id="rId4" Type="http://schemas.openxmlformats.org/officeDocument/2006/relationships/image" Target="../media/image75.png"/><Relationship Id="rId5" Type="http://schemas.openxmlformats.org/officeDocument/2006/relationships/image" Target="../media/image7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72.png"/><Relationship Id="rId4" Type="http://schemas.openxmlformats.org/officeDocument/2006/relationships/image" Target="../media/image7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81.png"/><Relationship Id="rId4" Type="http://schemas.openxmlformats.org/officeDocument/2006/relationships/image" Target="../media/image8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84.png"/><Relationship Id="rId4" Type="http://schemas.openxmlformats.org/officeDocument/2006/relationships/image" Target="../media/image83.png"/><Relationship Id="rId5" Type="http://schemas.openxmlformats.org/officeDocument/2006/relationships/image" Target="../media/image73.png"/><Relationship Id="rId6" Type="http://schemas.openxmlformats.org/officeDocument/2006/relationships/image" Target="../media/image74.png"/><Relationship Id="rId7" Type="http://schemas.openxmlformats.org/officeDocument/2006/relationships/image" Target="../media/image7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78.png"/><Relationship Id="rId4" Type="http://schemas.openxmlformats.org/officeDocument/2006/relationships/image" Target="../media/image86.png"/><Relationship Id="rId5" Type="http://schemas.openxmlformats.org/officeDocument/2006/relationships/image" Target="../media/image87.png"/><Relationship Id="rId6" Type="http://schemas.openxmlformats.org/officeDocument/2006/relationships/image" Target="../media/image82.png"/><Relationship Id="rId7" Type="http://schemas.openxmlformats.org/officeDocument/2006/relationships/image" Target="../media/image88.png"/><Relationship Id="rId8" Type="http://schemas.openxmlformats.org/officeDocument/2006/relationships/image" Target="../media/image9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8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01.png"/><Relationship Id="rId4" Type="http://schemas.openxmlformats.org/officeDocument/2006/relationships/image" Target="../media/image90.png"/><Relationship Id="rId5" Type="http://schemas.openxmlformats.org/officeDocument/2006/relationships/image" Target="../media/image94.png"/><Relationship Id="rId6" Type="http://schemas.openxmlformats.org/officeDocument/2006/relationships/image" Target="../media/image89.png"/><Relationship Id="rId7" Type="http://schemas.openxmlformats.org/officeDocument/2006/relationships/image" Target="../media/image111.png"/><Relationship Id="rId8" Type="http://schemas.openxmlformats.org/officeDocument/2006/relationships/image" Target="../media/image9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92.png"/><Relationship Id="rId4" Type="http://schemas.openxmlformats.org/officeDocument/2006/relationships/image" Target="../media/image9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03.png"/><Relationship Id="rId4" Type="http://schemas.openxmlformats.org/officeDocument/2006/relationships/image" Target="../media/image9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04.png"/><Relationship Id="rId4" Type="http://schemas.openxmlformats.org/officeDocument/2006/relationships/image" Target="../media/image108.png"/><Relationship Id="rId5" Type="http://schemas.openxmlformats.org/officeDocument/2006/relationships/image" Target="../media/image9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02.png"/><Relationship Id="rId4" Type="http://schemas.openxmlformats.org/officeDocument/2006/relationships/image" Target="../media/image106.png"/><Relationship Id="rId5" Type="http://schemas.openxmlformats.org/officeDocument/2006/relationships/image" Target="../media/image98.png"/><Relationship Id="rId6" Type="http://schemas.openxmlformats.org/officeDocument/2006/relationships/image" Target="../media/image10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12.png"/><Relationship Id="rId4" Type="http://schemas.openxmlformats.org/officeDocument/2006/relationships/image" Target="../media/image105.png"/><Relationship Id="rId5" Type="http://schemas.openxmlformats.org/officeDocument/2006/relationships/image" Target="../media/image99.png"/></Relationships>
</file>

<file path=ppt/slides/_rels/slide41.xml.rels><?xml version="1.0" encoding="UTF-8" standalone="yes"?><Relationships xmlns="http://schemas.openxmlformats.org/package/2006/relationships"><Relationship Id="rId11" Type="http://schemas.openxmlformats.org/officeDocument/2006/relationships/image" Target="../media/image99.png"/><Relationship Id="rId10" Type="http://schemas.openxmlformats.org/officeDocument/2006/relationships/image" Target="../media/image105.png"/><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13.png"/><Relationship Id="rId4" Type="http://schemas.openxmlformats.org/officeDocument/2006/relationships/image" Target="../media/image115.png"/><Relationship Id="rId9" Type="http://schemas.openxmlformats.org/officeDocument/2006/relationships/image" Target="../media/image114.png"/><Relationship Id="rId5" Type="http://schemas.openxmlformats.org/officeDocument/2006/relationships/image" Target="../media/image107.png"/><Relationship Id="rId6" Type="http://schemas.openxmlformats.org/officeDocument/2006/relationships/image" Target="../media/image109.png"/><Relationship Id="rId7" Type="http://schemas.openxmlformats.org/officeDocument/2006/relationships/image" Target="../media/image110.png"/><Relationship Id="rId8" Type="http://schemas.openxmlformats.org/officeDocument/2006/relationships/image" Target="../media/image1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16.png"/><Relationship Id="rId4" Type="http://schemas.openxmlformats.org/officeDocument/2006/relationships/image" Target="../media/image121.png"/><Relationship Id="rId5" Type="http://schemas.openxmlformats.org/officeDocument/2006/relationships/image" Target="../media/image120.png"/></Relationships>
</file>

<file path=ppt/slides/_rels/slide44.xml.rels><?xml version="1.0" encoding="UTF-8" standalone="yes"?><Relationships xmlns="http://schemas.openxmlformats.org/package/2006/relationships"><Relationship Id="rId10" Type="http://schemas.openxmlformats.org/officeDocument/2006/relationships/image" Target="../media/image116.png"/><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23.png"/><Relationship Id="rId4" Type="http://schemas.openxmlformats.org/officeDocument/2006/relationships/image" Target="../media/image122.png"/><Relationship Id="rId9" Type="http://schemas.openxmlformats.org/officeDocument/2006/relationships/image" Target="../media/image120.png"/><Relationship Id="rId5" Type="http://schemas.openxmlformats.org/officeDocument/2006/relationships/image" Target="../media/image117.png"/><Relationship Id="rId6" Type="http://schemas.openxmlformats.org/officeDocument/2006/relationships/image" Target="../media/image119.png"/><Relationship Id="rId7" Type="http://schemas.openxmlformats.org/officeDocument/2006/relationships/image" Target="../media/image124.png"/><Relationship Id="rId8" Type="http://schemas.openxmlformats.org/officeDocument/2006/relationships/image" Target="../media/image12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
          <p:cNvSpPr txBox="1"/>
          <p:nvPr>
            <p:ph type="title"/>
          </p:nvPr>
        </p:nvSpPr>
        <p:spPr>
          <a:xfrm>
            <a:off x="2190485" y="1926373"/>
            <a:ext cx="7169821" cy="1315844"/>
          </a:xfrm>
          <a:prstGeom prst="rect">
            <a:avLst/>
          </a:prstGeom>
          <a:noFill/>
          <a:ln>
            <a:noFill/>
          </a:ln>
        </p:spPr>
        <p:txBody>
          <a:bodyPr anchorCtr="0" anchor="ctr" bIns="45700" lIns="91425" spcFirstLastPara="1" rIns="91425" wrap="square" tIns="45700">
            <a:normAutofit/>
          </a:bodyPr>
          <a:lstStyle/>
          <a:p>
            <a:pPr indent="0" lvl="0" marL="0" rtl="0" algn="ctr">
              <a:lnSpc>
                <a:spcPct val="120000"/>
              </a:lnSpc>
              <a:spcBef>
                <a:spcPts val="0"/>
              </a:spcBef>
              <a:spcAft>
                <a:spcPts val="0"/>
              </a:spcAft>
              <a:buClr>
                <a:srgbClr val="C00000"/>
              </a:buClr>
              <a:buSzPts val="4000"/>
              <a:buFont typeface="Times New Roman"/>
              <a:buNone/>
            </a:pPr>
            <a:r>
              <a:rPr b="1" lang="en-GB" sz="4000">
                <a:latin typeface="Times New Roman"/>
                <a:ea typeface="Times New Roman"/>
                <a:cs typeface="Times New Roman"/>
                <a:sym typeface="Times New Roman"/>
              </a:rPr>
              <a:t>7.0 Laplace Transform</a:t>
            </a:r>
            <a:endParaRPr sz="4000">
              <a:latin typeface="Times New Roman"/>
              <a:ea typeface="Times New Roman"/>
              <a:cs typeface="Times New Roman"/>
              <a:sym typeface="Times New Roman"/>
            </a:endParaRPr>
          </a:p>
        </p:txBody>
      </p:sp>
      <p:sp>
        <p:nvSpPr>
          <p:cNvPr id="175" name="Google Shape;175;p1"/>
          <p:cNvSpPr txBox="1"/>
          <p:nvPr>
            <p:ph idx="1" type="body"/>
          </p:nvPr>
        </p:nvSpPr>
        <p:spPr>
          <a:xfrm>
            <a:off x="948267" y="790703"/>
            <a:ext cx="9654258" cy="65659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C00000"/>
              </a:buClr>
              <a:buSzPts val="3600"/>
              <a:buNone/>
            </a:pPr>
            <a:r>
              <a:rPr b="1" lang="en-GB">
                <a:solidFill>
                  <a:srgbClr val="C00000"/>
                </a:solidFill>
                <a:latin typeface="Times New Roman"/>
                <a:ea typeface="Times New Roman"/>
                <a:cs typeface="Times New Roman"/>
                <a:sym typeface="Times New Roman"/>
              </a:rPr>
              <a:t>EE1203 – Theory of Electricity</a:t>
            </a:r>
            <a:endParaRPr b="1">
              <a:solidFill>
                <a:srgbClr val="C00000"/>
              </a:solidFill>
              <a:latin typeface="Times New Roman"/>
              <a:ea typeface="Times New Roman"/>
              <a:cs typeface="Times New Roman"/>
              <a:sym typeface="Times New Roman"/>
            </a:endParaRPr>
          </a:p>
        </p:txBody>
      </p:sp>
      <p:sp>
        <p:nvSpPr>
          <p:cNvPr id="176" name="Google Shape;176;p1"/>
          <p:cNvSpPr txBox="1"/>
          <p:nvPr/>
        </p:nvSpPr>
        <p:spPr>
          <a:xfrm>
            <a:off x="1447123" y="3721298"/>
            <a:ext cx="8197380" cy="286565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C00000"/>
              </a:buClr>
              <a:buSzPts val="3556"/>
              <a:buFont typeface="Times New Roman"/>
              <a:buNone/>
            </a:pPr>
            <a:r>
              <a:rPr b="1" i="0" lang="en-GB" sz="3556" u="none" cap="none" strike="noStrike">
                <a:solidFill>
                  <a:srgbClr val="C00000"/>
                </a:solidFill>
                <a:latin typeface="Times New Roman"/>
                <a:ea typeface="Times New Roman"/>
                <a:cs typeface="Times New Roman"/>
                <a:sym typeface="Times New Roman"/>
              </a:rPr>
              <a:t>      Prof J. Rohan Lucas</a:t>
            </a:r>
            <a:endParaRPr/>
          </a:p>
          <a:p>
            <a:pPr indent="0" lvl="0" marL="0" marR="0" rtl="0" algn="ctr">
              <a:lnSpc>
                <a:spcPct val="100000"/>
              </a:lnSpc>
              <a:spcBef>
                <a:spcPts val="0"/>
              </a:spcBef>
              <a:spcAft>
                <a:spcPts val="0"/>
              </a:spcAft>
              <a:buClr>
                <a:srgbClr val="C00000"/>
              </a:buClr>
              <a:buSzPts val="3200"/>
              <a:buFont typeface="Times New Roman"/>
              <a:buNone/>
            </a:pPr>
            <a:r>
              <a:rPr b="0" i="1" lang="en-GB" sz="3200" u="none" cap="none" strike="noStrike">
                <a:solidFill>
                  <a:srgbClr val="C00000"/>
                </a:solidFill>
                <a:latin typeface="Times New Roman"/>
                <a:ea typeface="Times New Roman"/>
                <a:cs typeface="Times New Roman"/>
                <a:sym typeface="Times New Roman"/>
              </a:rPr>
              <a:t>lucas@kdu.ac.lk</a:t>
            </a:r>
            <a:endParaRPr/>
          </a:p>
          <a:p>
            <a:pPr indent="0" lvl="0" marL="0" marR="0" rtl="0" algn="ctr">
              <a:lnSpc>
                <a:spcPct val="100000"/>
              </a:lnSpc>
              <a:spcBef>
                <a:spcPts val="0"/>
              </a:spcBef>
              <a:spcAft>
                <a:spcPts val="0"/>
              </a:spcAft>
              <a:buClr>
                <a:schemeClr val="dk1"/>
              </a:buClr>
              <a:buSzPts val="1200"/>
              <a:buFont typeface="Times New Roman"/>
              <a:buNone/>
            </a:pPr>
            <a:r>
              <a:t/>
            </a:r>
            <a:endParaRPr b="1" i="0" sz="1200" u="none" cap="none" strike="noStrike">
              <a:solidFill>
                <a:srgbClr val="C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3556"/>
              <a:buFont typeface="Times New Roman"/>
              <a:buNone/>
            </a:pPr>
            <a:r>
              <a:t/>
            </a:r>
            <a:endParaRPr b="1" i="0" sz="3556" u="none" cap="none" strike="noStrike">
              <a:solidFill>
                <a:srgbClr val="C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133"/>
              <a:buFont typeface="Times New Roman"/>
              <a:buNone/>
            </a:pPr>
            <a:r>
              <a:rPr b="0" i="0" lang="en-GB" sz="2133" u="none" cap="none" strike="noStrike">
                <a:solidFill>
                  <a:srgbClr val="000000"/>
                </a:solidFill>
                <a:latin typeface="Times New Roman"/>
                <a:ea typeface="Times New Roman"/>
                <a:cs typeface="Times New Roman"/>
                <a:sym typeface="Times New Roman"/>
              </a:rPr>
              <a:t>Department of Electrical, Electronic &amp; Telecommunication Engineering</a:t>
            </a:r>
            <a:endParaRPr/>
          </a:p>
          <a:p>
            <a:pPr indent="0" lvl="0" marL="0" marR="0" rtl="0" algn="ctr">
              <a:lnSpc>
                <a:spcPct val="100000"/>
              </a:lnSpc>
              <a:spcBef>
                <a:spcPts val="0"/>
              </a:spcBef>
              <a:spcAft>
                <a:spcPts val="0"/>
              </a:spcAft>
              <a:buClr>
                <a:srgbClr val="000000"/>
              </a:buClr>
              <a:buSzPts val="2844"/>
              <a:buFont typeface="Times New Roman"/>
              <a:buNone/>
            </a:pPr>
            <a:r>
              <a:rPr b="0" i="0" lang="en-GB" sz="2844" u="none" cap="none" strike="noStrike">
                <a:solidFill>
                  <a:srgbClr val="000000"/>
                </a:solidFill>
                <a:latin typeface="Times New Roman"/>
                <a:ea typeface="Times New Roman"/>
                <a:cs typeface="Times New Roman"/>
                <a:sym typeface="Times New Roman"/>
              </a:rPr>
              <a:t>General Sir John Kotelawala Defence University</a:t>
            </a:r>
            <a:endParaRPr/>
          </a:p>
          <a:p>
            <a:pPr indent="0" lvl="0" marL="0" marR="0" rtl="0" algn="ctr">
              <a:lnSpc>
                <a:spcPct val="100000"/>
              </a:lnSpc>
              <a:spcBef>
                <a:spcPts val="0"/>
              </a:spcBef>
              <a:spcAft>
                <a:spcPts val="0"/>
              </a:spcAft>
              <a:buClr>
                <a:srgbClr val="000000"/>
              </a:buClr>
              <a:buSzPts val="2133"/>
              <a:buFont typeface="Times New Roman"/>
              <a:buNone/>
            </a:pPr>
            <a:r>
              <a:rPr b="0" i="0" lang="en-GB" sz="2133" u="none" cap="none" strike="noStrike">
                <a:solidFill>
                  <a:srgbClr val="000000"/>
                </a:solidFill>
                <a:latin typeface="Times New Roman"/>
                <a:ea typeface="Times New Roman"/>
                <a:cs typeface="Times New Roman"/>
                <a:sym typeface="Times New Roman"/>
              </a:rPr>
              <a:t>September 2020</a:t>
            </a:r>
            <a:endParaRPr b="0" i="0" sz="2133"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
          <p:cNvSpPr txBox="1"/>
          <p:nvPr>
            <p:ph type="title"/>
          </p:nvPr>
        </p:nvSpPr>
        <p:spPr>
          <a:xfrm>
            <a:off x="429715" y="582715"/>
            <a:ext cx="10924085" cy="482745"/>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rgbClr val="C00000"/>
              </a:buClr>
              <a:buSzPts val="3200"/>
              <a:buFont typeface="Times New Roman"/>
              <a:buNone/>
            </a:pPr>
            <a:r>
              <a:rPr lang="en-GB">
                <a:latin typeface="Times New Roman"/>
                <a:ea typeface="Times New Roman"/>
                <a:cs typeface="Times New Roman"/>
                <a:sym typeface="Times New Roman"/>
              </a:rPr>
              <a:t>Learning Outcomes</a:t>
            </a:r>
            <a:endParaRPr/>
          </a:p>
        </p:txBody>
      </p:sp>
      <p:sp>
        <p:nvSpPr>
          <p:cNvPr id="183" name="Google Shape;183;p2"/>
          <p:cNvSpPr txBox="1"/>
          <p:nvPr/>
        </p:nvSpPr>
        <p:spPr>
          <a:xfrm>
            <a:off x="9218266" y="2607656"/>
            <a:ext cx="442844" cy="36984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GB" sz="2400" u="none" cap="none" strike="noStrike">
                <a:solidFill>
                  <a:srgbClr val="FFFFFF"/>
                </a:solidFill>
                <a:latin typeface="Times New Roman"/>
                <a:ea typeface="Times New Roman"/>
                <a:cs typeface="Times New Roman"/>
                <a:sym typeface="Times New Roman"/>
              </a:rPr>
              <a:t>t</a:t>
            </a:r>
            <a:endParaRPr b="0" i="0" sz="800" u="none" cap="none" strike="noStrike">
              <a:solidFill>
                <a:schemeClr val="dk1"/>
              </a:solidFill>
              <a:latin typeface="Times New Roman"/>
              <a:ea typeface="Times New Roman"/>
              <a:cs typeface="Times New Roman"/>
              <a:sym typeface="Times New Roman"/>
            </a:endParaRPr>
          </a:p>
        </p:txBody>
      </p:sp>
      <p:sp>
        <p:nvSpPr>
          <p:cNvPr id="184" name="Google Shape;184;p2"/>
          <p:cNvSpPr/>
          <p:nvPr/>
        </p:nvSpPr>
        <p:spPr>
          <a:xfrm>
            <a:off x="429715" y="944402"/>
            <a:ext cx="11409359" cy="5785879"/>
          </a:xfrm>
          <a:prstGeom prst="rect">
            <a:avLst/>
          </a:prstGeom>
          <a:noFill/>
          <a:ln>
            <a:noFill/>
          </a:ln>
        </p:spPr>
        <p:txBody>
          <a:bodyPr anchorCtr="0" anchor="t" bIns="45700" lIns="91425" spcFirstLastPara="1" rIns="91425" wrap="square" tIns="45700">
            <a:spAutoFit/>
          </a:bodyPr>
          <a:lstStyle/>
          <a:p>
            <a:pPr indent="-1151255" lvl="0" marL="1151255" marR="0" rtl="0" algn="l">
              <a:lnSpc>
                <a:spcPct val="115000"/>
              </a:lnSpc>
              <a:spcBef>
                <a:spcPts val="0"/>
              </a:spcBef>
              <a:spcAft>
                <a:spcPts val="0"/>
              </a:spcAft>
              <a:buNone/>
            </a:pPr>
            <a:r>
              <a:rPr b="0" i="0" lang="en-GB" sz="3600" u="none" cap="none" strike="noStrike">
                <a:solidFill>
                  <a:srgbClr val="002060"/>
                </a:solidFill>
                <a:latin typeface="Times New Roman"/>
                <a:ea typeface="Times New Roman"/>
                <a:cs typeface="Times New Roman"/>
                <a:sym typeface="Times New Roman"/>
              </a:rPr>
              <a:t>On completion of module, student will be able to </a:t>
            </a:r>
            <a:endParaRPr b="0" i="0" sz="1200" u="none" cap="none" strike="noStrike">
              <a:solidFill>
                <a:srgbClr val="002060"/>
              </a:solidFill>
              <a:latin typeface="Calibri"/>
              <a:ea typeface="Calibri"/>
              <a:cs typeface="Calibri"/>
              <a:sym typeface="Calibri"/>
            </a:endParaRPr>
          </a:p>
          <a:p>
            <a:pPr indent="-1151255" lvl="0" marL="1151255" marR="0" rtl="0" algn="l">
              <a:lnSpc>
                <a:spcPct val="115000"/>
              </a:lnSpc>
              <a:spcBef>
                <a:spcPts val="0"/>
              </a:spcBef>
              <a:spcAft>
                <a:spcPts val="0"/>
              </a:spcAft>
              <a:buNone/>
            </a:pPr>
            <a:r>
              <a:rPr b="1" i="0" lang="en-GB" sz="3600" u="none" cap="none" strike="noStrike">
                <a:solidFill>
                  <a:srgbClr val="002060"/>
                </a:solidFill>
                <a:latin typeface="Times New Roman"/>
                <a:ea typeface="Times New Roman"/>
                <a:cs typeface="Times New Roman"/>
                <a:sym typeface="Times New Roman"/>
              </a:rPr>
              <a:t>LO1</a:t>
            </a:r>
            <a:r>
              <a:rPr b="0" i="0" lang="en-GB" sz="3600" u="none" cap="none" strike="noStrike">
                <a:solidFill>
                  <a:srgbClr val="002060"/>
                </a:solidFill>
                <a:latin typeface="Times New Roman"/>
                <a:ea typeface="Times New Roman"/>
                <a:cs typeface="Times New Roman"/>
                <a:sym typeface="Times New Roman"/>
              </a:rPr>
              <a:t>: </a:t>
            </a:r>
            <a:r>
              <a:rPr b="1" i="0" lang="en-GB" sz="3600" u="none" cap="none" strike="noStrike">
                <a:solidFill>
                  <a:srgbClr val="002060"/>
                </a:solidFill>
                <a:latin typeface="Times New Roman"/>
                <a:ea typeface="Times New Roman"/>
                <a:cs typeface="Times New Roman"/>
                <a:sym typeface="Times New Roman"/>
              </a:rPr>
              <a:t>Analyse</a:t>
            </a:r>
            <a:r>
              <a:rPr b="0" i="0" lang="en-GB" sz="3600" u="none" cap="none" strike="noStrike">
                <a:solidFill>
                  <a:srgbClr val="002060"/>
                </a:solidFill>
                <a:latin typeface="Times New Roman"/>
                <a:ea typeface="Times New Roman"/>
                <a:cs typeface="Times New Roman"/>
                <a:sym typeface="Times New Roman"/>
              </a:rPr>
              <a:t> the performances of AC circuits</a:t>
            </a:r>
            <a:r>
              <a:rPr b="1" i="0" lang="en-GB" sz="3600" u="none" cap="none" strike="noStrike">
                <a:solidFill>
                  <a:srgbClr val="C00000"/>
                </a:solidFill>
                <a:latin typeface="Times New Roman"/>
                <a:ea typeface="Times New Roman"/>
                <a:cs typeface="Times New Roman"/>
                <a:sym typeface="Times New Roman"/>
              </a:rPr>
              <a:t> </a:t>
            </a:r>
            <a:endParaRPr/>
          </a:p>
          <a:p>
            <a:pPr indent="-1151255" lvl="0" marL="1151255" marR="0" rtl="0" algn="l">
              <a:lnSpc>
                <a:spcPct val="115000"/>
              </a:lnSpc>
              <a:spcBef>
                <a:spcPts val="0"/>
              </a:spcBef>
              <a:spcAft>
                <a:spcPts val="0"/>
              </a:spcAft>
              <a:buNone/>
            </a:pPr>
            <a:r>
              <a:rPr b="0" i="0" lang="en-GB" sz="1800" u="none" cap="none" strike="noStrike">
                <a:solidFill>
                  <a:schemeClr val="dk1"/>
                </a:solidFill>
                <a:latin typeface="Calibri"/>
                <a:ea typeface="Calibri"/>
                <a:cs typeface="Calibri"/>
                <a:sym typeface="Calibri"/>
              </a:rPr>
              <a:t>	</a:t>
            </a:r>
            <a:r>
              <a:rPr b="0" i="0" lang="en-GB" sz="3600" u="none" cap="none" strike="noStrike">
                <a:solidFill>
                  <a:srgbClr val="002060"/>
                </a:solidFill>
                <a:latin typeface="Times New Roman"/>
                <a:ea typeface="Times New Roman"/>
                <a:cs typeface="Times New Roman"/>
                <a:sym typeface="Times New Roman"/>
              </a:rPr>
              <a:t>Analyse circuits</a:t>
            </a:r>
            <a:r>
              <a:rPr b="0" i="0" lang="en-GB" sz="1800" u="none" cap="none" strike="noStrike">
                <a:solidFill>
                  <a:srgbClr val="002060"/>
                </a:solidFill>
                <a:latin typeface="Calibri"/>
                <a:ea typeface="Calibri"/>
                <a:cs typeface="Calibri"/>
                <a:sym typeface="Calibri"/>
              </a:rPr>
              <a:t> </a:t>
            </a:r>
            <a:r>
              <a:rPr b="0" i="0" lang="en-GB" sz="3600" u="none" cap="none" strike="noStrike">
                <a:solidFill>
                  <a:srgbClr val="002060"/>
                </a:solidFill>
                <a:latin typeface="Times New Roman"/>
                <a:ea typeface="Times New Roman"/>
                <a:cs typeface="Times New Roman"/>
                <a:sym typeface="Times New Roman"/>
              </a:rPr>
              <a:t>using nodal and mesh theory</a:t>
            </a:r>
            <a:endParaRPr/>
          </a:p>
          <a:p>
            <a:pPr indent="-1151255" lvl="0" marL="1151255" marR="0" rtl="0" algn="l">
              <a:lnSpc>
                <a:spcPct val="115000"/>
              </a:lnSpc>
              <a:spcBef>
                <a:spcPts val="0"/>
              </a:spcBef>
              <a:spcAft>
                <a:spcPts val="0"/>
              </a:spcAft>
              <a:buNone/>
            </a:pPr>
            <a:r>
              <a:rPr b="1" i="0" lang="en-GB" sz="3600" u="none" cap="none" strike="noStrike">
                <a:solidFill>
                  <a:srgbClr val="002060"/>
                </a:solidFill>
                <a:latin typeface="Times New Roman"/>
                <a:ea typeface="Times New Roman"/>
                <a:cs typeface="Times New Roman"/>
                <a:sym typeface="Times New Roman"/>
              </a:rPr>
              <a:t>LO2</a:t>
            </a:r>
            <a:r>
              <a:rPr b="0" i="0" lang="en-GB" sz="3600" u="none" cap="none" strike="noStrike">
                <a:solidFill>
                  <a:srgbClr val="002060"/>
                </a:solidFill>
                <a:latin typeface="Times New Roman"/>
                <a:ea typeface="Times New Roman"/>
                <a:cs typeface="Times New Roman"/>
                <a:sym typeface="Times New Roman"/>
              </a:rPr>
              <a:t>: </a:t>
            </a:r>
            <a:r>
              <a:rPr b="1" i="0" lang="en-GB" sz="3600" u="none" cap="none" strike="noStrike">
                <a:solidFill>
                  <a:srgbClr val="002060"/>
                </a:solidFill>
                <a:latin typeface="Times New Roman"/>
                <a:ea typeface="Times New Roman"/>
                <a:cs typeface="Times New Roman"/>
                <a:sym typeface="Times New Roman"/>
              </a:rPr>
              <a:t>Analyse</a:t>
            </a:r>
            <a:r>
              <a:rPr b="0" i="0" lang="en-GB" sz="3600" u="none" cap="none" strike="noStrike">
                <a:solidFill>
                  <a:srgbClr val="002060"/>
                </a:solidFill>
                <a:latin typeface="Times New Roman"/>
                <a:ea typeface="Times New Roman"/>
                <a:cs typeface="Times New Roman"/>
                <a:sym typeface="Times New Roman"/>
              </a:rPr>
              <a:t> two port networks using different models. </a:t>
            </a:r>
            <a:endParaRPr b="0" i="0" sz="1200" u="none" cap="none" strike="noStrike">
              <a:solidFill>
                <a:srgbClr val="002060"/>
              </a:solidFill>
              <a:latin typeface="Calibri"/>
              <a:ea typeface="Calibri"/>
              <a:cs typeface="Calibri"/>
              <a:sym typeface="Calibri"/>
            </a:endParaRPr>
          </a:p>
          <a:p>
            <a:pPr indent="-1151255" lvl="0" marL="1151255" marR="0" rtl="0" algn="l">
              <a:lnSpc>
                <a:spcPct val="115000"/>
              </a:lnSpc>
              <a:spcBef>
                <a:spcPts val="0"/>
              </a:spcBef>
              <a:spcAft>
                <a:spcPts val="0"/>
              </a:spcAft>
              <a:buNone/>
            </a:pPr>
            <a:r>
              <a:rPr b="1" i="0" lang="en-GB" sz="3600" u="none" cap="none" strike="noStrike">
                <a:solidFill>
                  <a:srgbClr val="002060"/>
                </a:solidFill>
                <a:latin typeface="Times New Roman"/>
                <a:ea typeface="Times New Roman"/>
                <a:cs typeface="Times New Roman"/>
                <a:sym typeface="Times New Roman"/>
              </a:rPr>
              <a:t>LO3</a:t>
            </a:r>
            <a:r>
              <a:rPr b="0" i="0" lang="en-GB" sz="3600" u="none" cap="none" strike="noStrike">
                <a:solidFill>
                  <a:srgbClr val="002060"/>
                </a:solidFill>
                <a:latin typeface="Times New Roman"/>
                <a:ea typeface="Times New Roman"/>
                <a:cs typeface="Times New Roman"/>
                <a:sym typeface="Times New Roman"/>
              </a:rPr>
              <a:t>: </a:t>
            </a:r>
            <a:r>
              <a:rPr b="1" i="0" lang="en-GB" sz="3600" u="none" cap="none" strike="noStrike">
                <a:solidFill>
                  <a:srgbClr val="C00000"/>
                </a:solidFill>
                <a:latin typeface="Times New Roman"/>
                <a:ea typeface="Times New Roman"/>
                <a:cs typeface="Times New Roman"/>
                <a:sym typeface="Times New Roman"/>
              </a:rPr>
              <a:t>Analyse transfer functions of RLC networks for transients. </a:t>
            </a:r>
            <a:endParaRPr b="1" i="0" sz="1200" u="none" cap="none" strike="noStrike">
              <a:solidFill>
                <a:srgbClr val="C00000"/>
              </a:solidFill>
              <a:latin typeface="Calibri"/>
              <a:ea typeface="Calibri"/>
              <a:cs typeface="Calibri"/>
              <a:sym typeface="Calibri"/>
            </a:endParaRPr>
          </a:p>
          <a:p>
            <a:pPr indent="-1151255" lvl="0" marL="1151255" marR="0" rtl="0" algn="l">
              <a:lnSpc>
                <a:spcPct val="115000"/>
              </a:lnSpc>
              <a:spcBef>
                <a:spcPts val="0"/>
              </a:spcBef>
              <a:spcAft>
                <a:spcPts val="0"/>
              </a:spcAft>
              <a:buNone/>
            </a:pPr>
            <a:r>
              <a:rPr b="1" i="0" lang="en-GB" sz="3600" u="none" cap="none" strike="noStrike">
                <a:solidFill>
                  <a:srgbClr val="002060"/>
                </a:solidFill>
                <a:latin typeface="Times New Roman"/>
                <a:ea typeface="Times New Roman"/>
                <a:cs typeface="Times New Roman"/>
                <a:sym typeface="Times New Roman"/>
              </a:rPr>
              <a:t>LO4</a:t>
            </a:r>
            <a:r>
              <a:rPr b="0" i="0" lang="en-GB" sz="3600" u="none" cap="none" strike="noStrike">
                <a:solidFill>
                  <a:srgbClr val="002060"/>
                </a:solidFill>
                <a:latin typeface="Times New Roman"/>
                <a:ea typeface="Times New Roman"/>
                <a:cs typeface="Times New Roman"/>
                <a:sym typeface="Times New Roman"/>
              </a:rPr>
              <a:t>: </a:t>
            </a:r>
            <a:r>
              <a:rPr b="1" i="0" lang="en-GB" sz="3600" u="none" cap="none" strike="noStrike">
                <a:solidFill>
                  <a:srgbClr val="002060"/>
                </a:solidFill>
                <a:latin typeface="Times New Roman"/>
                <a:ea typeface="Times New Roman"/>
                <a:cs typeface="Times New Roman"/>
                <a:sym typeface="Times New Roman"/>
              </a:rPr>
              <a:t>Analyse </a:t>
            </a:r>
            <a:r>
              <a:rPr b="0" i="0" lang="en-GB" sz="3600" u="none" cap="none" strike="noStrike">
                <a:solidFill>
                  <a:srgbClr val="002060"/>
                </a:solidFill>
                <a:latin typeface="Times New Roman"/>
                <a:ea typeface="Times New Roman"/>
                <a:cs typeface="Times New Roman"/>
                <a:sym typeface="Times New Roman"/>
              </a:rPr>
              <a:t>waveforms for its harmonics.</a:t>
            </a:r>
            <a:endParaRPr/>
          </a:p>
          <a:p>
            <a:pPr indent="-1151255" lvl="0" marL="1151255" marR="0" rtl="0" algn="l">
              <a:lnSpc>
                <a:spcPct val="115000"/>
              </a:lnSpc>
              <a:spcBef>
                <a:spcPts val="0"/>
              </a:spcBef>
              <a:spcAft>
                <a:spcPts val="0"/>
              </a:spcAft>
              <a:buNone/>
            </a:pPr>
            <a:r>
              <a:rPr b="1" i="0" lang="en-GB" sz="3600" u="none" cap="none" strike="noStrike">
                <a:solidFill>
                  <a:srgbClr val="002060"/>
                </a:solidFill>
                <a:latin typeface="Times New Roman"/>
                <a:ea typeface="Times New Roman"/>
                <a:cs typeface="Times New Roman"/>
                <a:sym typeface="Times New Roman"/>
              </a:rPr>
              <a:t>LO5: Perform </a:t>
            </a:r>
            <a:r>
              <a:rPr b="0" i="0" lang="en-GB" sz="3600" u="none" cap="none" strike="noStrike">
                <a:solidFill>
                  <a:srgbClr val="002060"/>
                </a:solidFill>
                <a:latin typeface="Times New Roman"/>
                <a:ea typeface="Times New Roman"/>
                <a:cs typeface="Times New Roman"/>
                <a:sym typeface="Times New Roman"/>
              </a:rPr>
              <a:t>calculations in three phase circuits    including unbalanced waveforms.</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
          <p:cNvSpPr txBox="1"/>
          <p:nvPr>
            <p:ph type="title"/>
          </p:nvPr>
        </p:nvSpPr>
        <p:spPr>
          <a:xfrm>
            <a:off x="429715" y="457199"/>
            <a:ext cx="10924085" cy="5517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Times New Roman"/>
              <a:buNone/>
            </a:pPr>
            <a:r>
              <a:rPr lang="en-GB"/>
              <a:t>Repetitiveness of Non-Sinusoidal Waveforms</a:t>
            </a:r>
            <a:endParaRPr/>
          </a:p>
        </p:txBody>
      </p:sp>
      <p:grpSp>
        <p:nvGrpSpPr>
          <p:cNvPr id="190" name="Google Shape;190;p3"/>
          <p:cNvGrpSpPr/>
          <p:nvPr/>
        </p:nvGrpSpPr>
        <p:grpSpPr>
          <a:xfrm>
            <a:off x="300990" y="1438275"/>
            <a:ext cx="11612880" cy="1761490"/>
            <a:chOff x="1538" y="6576"/>
            <a:chExt cx="9120" cy="1862"/>
          </a:xfrm>
        </p:grpSpPr>
        <p:cxnSp>
          <p:nvCxnSpPr>
            <p:cNvPr id="191" name="Google Shape;191;p3"/>
            <p:cNvCxnSpPr/>
            <p:nvPr/>
          </p:nvCxnSpPr>
          <p:spPr>
            <a:xfrm>
              <a:off x="4538" y="6638"/>
              <a:ext cx="0" cy="1440"/>
            </a:xfrm>
            <a:prstGeom prst="straightConnector1">
              <a:avLst/>
            </a:prstGeom>
            <a:noFill/>
            <a:ln cap="flat" cmpd="sng" w="28575">
              <a:solidFill>
                <a:srgbClr val="002060"/>
              </a:solidFill>
              <a:prstDash val="solid"/>
              <a:round/>
              <a:headEnd len="med" w="med" type="stealth"/>
              <a:tailEnd len="med" w="med" type="none"/>
            </a:ln>
          </p:spPr>
        </p:cxnSp>
        <p:cxnSp>
          <p:nvCxnSpPr>
            <p:cNvPr id="192" name="Google Shape;192;p3"/>
            <p:cNvCxnSpPr/>
            <p:nvPr/>
          </p:nvCxnSpPr>
          <p:spPr>
            <a:xfrm>
              <a:off x="1538" y="7898"/>
              <a:ext cx="9000" cy="0"/>
            </a:xfrm>
            <a:prstGeom prst="straightConnector1">
              <a:avLst/>
            </a:prstGeom>
            <a:noFill/>
            <a:ln cap="flat" cmpd="sng" w="28575">
              <a:solidFill>
                <a:srgbClr val="002060"/>
              </a:solidFill>
              <a:prstDash val="solid"/>
              <a:round/>
              <a:headEnd len="med" w="med" type="none"/>
              <a:tailEnd len="med" w="med" type="stealth"/>
            </a:ln>
          </p:spPr>
        </p:cxnSp>
        <p:grpSp>
          <p:nvGrpSpPr>
            <p:cNvPr id="193" name="Google Shape;193;p3"/>
            <p:cNvGrpSpPr/>
            <p:nvPr/>
          </p:nvGrpSpPr>
          <p:grpSpPr>
            <a:xfrm>
              <a:off x="2747" y="6755"/>
              <a:ext cx="1550" cy="1140"/>
              <a:chOff x="4073" y="6578"/>
              <a:chExt cx="2385" cy="1140"/>
            </a:xfrm>
          </p:grpSpPr>
          <p:sp>
            <p:nvSpPr>
              <p:cNvPr id="194" name="Google Shape;194;p3"/>
              <p:cNvSpPr/>
              <p:nvPr/>
            </p:nvSpPr>
            <p:spPr>
              <a:xfrm>
                <a:off x="5138" y="6578"/>
                <a:ext cx="1320" cy="1140"/>
              </a:xfrm>
              <a:custGeom>
                <a:rect b="b" l="l" r="r" t="t"/>
                <a:pathLst>
                  <a:path extrusionOk="0" h="1140" w="1320">
                    <a:moveTo>
                      <a:pt x="0" y="1140"/>
                    </a:moveTo>
                    <a:cubicBezTo>
                      <a:pt x="130" y="1095"/>
                      <a:pt x="260" y="1050"/>
                      <a:pt x="360" y="960"/>
                    </a:cubicBezTo>
                    <a:cubicBezTo>
                      <a:pt x="460" y="870"/>
                      <a:pt x="560" y="750"/>
                      <a:pt x="600" y="600"/>
                    </a:cubicBezTo>
                    <a:cubicBezTo>
                      <a:pt x="640" y="450"/>
                      <a:pt x="580" y="120"/>
                      <a:pt x="600" y="60"/>
                    </a:cubicBezTo>
                    <a:cubicBezTo>
                      <a:pt x="620" y="0"/>
                      <a:pt x="669" y="184"/>
                      <a:pt x="720" y="240"/>
                    </a:cubicBezTo>
                    <a:cubicBezTo>
                      <a:pt x="771" y="296"/>
                      <a:pt x="867" y="337"/>
                      <a:pt x="907" y="397"/>
                    </a:cubicBezTo>
                    <a:cubicBezTo>
                      <a:pt x="947" y="457"/>
                      <a:pt x="951" y="506"/>
                      <a:pt x="960" y="600"/>
                    </a:cubicBezTo>
                    <a:cubicBezTo>
                      <a:pt x="969" y="694"/>
                      <a:pt x="900" y="870"/>
                      <a:pt x="960" y="960"/>
                    </a:cubicBezTo>
                    <a:cubicBezTo>
                      <a:pt x="1020" y="1050"/>
                      <a:pt x="1170" y="1095"/>
                      <a:pt x="1320" y="1140"/>
                    </a:cubicBezTo>
                  </a:path>
                </a:pathLst>
              </a:custGeom>
              <a:noFill/>
              <a:ln cap="flat" cmpd="sng" w="2857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95" name="Google Shape;195;p3"/>
              <p:cNvCxnSpPr/>
              <p:nvPr/>
            </p:nvCxnSpPr>
            <p:spPr>
              <a:xfrm rot="10800000">
                <a:off x="4073" y="7703"/>
                <a:ext cx="1080" cy="0"/>
              </a:xfrm>
              <a:prstGeom prst="straightConnector1">
                <a:avLst/>
              </a:prstGeom>
              <a:noFill/>
              <a:ln cap="flat" cmpd="sng" w="28575">
                <a:solidFill>
                  <a:srgbClr val="C00000"/>
                </a:solidFill>
                <a:prstDash val="solid"/>
                <a:round/>
                <a:headEnd len="med" w="med" type="none"/>
                <a:tailEnd len="med" w="med" type="none"/>
              </a:ln>
            </p:spPr>
          </p:cxnSp>
        </p:grpSp>
        <p:sp>
          <p:nvSpPr>
            <p:cNvPr id="196" name="Google Shape;196;p3"/>
            <p:cNvSpPr/>
            <p:nvPr/>
          </p:nvSpPr>
          <p:spPr>
            <a:xfrm>
              <a:off x="1918" y="6755"/>
              <a:ext cx="858" cy="1140"/>
            </a:xfrm>
            <a:custGeom>
              <a:rect b="b" l="l" r="r" t="t"/>
              <a:pathLst>
                <a:path extrusionOk="0" h="1140" w="1320">
                  <a:moveTo>
                    <a:pt x="0" y="1140"/>
                  </a:moveTo>
                  <a:cubicBezTo>
                    <a:pt x="130" y="1095"/>
                    <a:pt x="260" y="1050"/>
                    <a:pt x="360" y="960"/>
                  </a:cubicBezTo>
                  <a:cubicBezTo>
                    <a:pt x="460" y="870"/>
                    <a:pt x="560" y="750"/>
                    <a:pt x="600" y="600"/>
                  </a:cubicBezTo>
                  <a:cubicBezTo>
                    <a:pt x="640" y="450"/>
                    <a:pt x="580" y="120"/>
                    <a:pt x="600" y="60"/>
                  </a:cubicBezTo>
                  <a:cubicBezTo>
                    <a:pt x="620" y="0"/>
                    <a:pt x="669" y="184"/>
                    <a:pt x="720" y="240"/>
                  </a:cubicBezTo>
                  <a:cubicBezTo>
                    <a:pt x="771" y="296"/>
                    <a:pt x="867" y="337"/>
                    <a:pt x="907" y="397"/>
                  </a:cubicBezTo>
                  <a:cubicBezTo>
                    <a:pt x="947" y="457"/>
                    <a:pt x="951" y="506"/>
                    <a:pt x="960" y="600"/>
                  </a:cubicBezTo>
                  <a:cubicBezTo>
                    <a:pt x="969" y="694"/>
                    <a:pt x="900" y="870"/>
                    <a:pt x="960" y="960"/>
                  </a:cubicBezTo>
                  <a:cubicBezTo>
                    <a:pt x="1020" y="1050"/>
                    <a:pt x="1170" y="1095"/>
                    <a:pt x="1320" y="1140"/>
                  </a:cubicBezTo>
                </a:path>
              </a:pathLst>
            </a:custGeom>
            <a:noFill/>
            <a:ln cap="flat" cmpd="sng" w="2857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97" name="Google Shape;197;p3"/>
            <p:cNvCxnSpPr/>
            <p:nvPr/>
          </p:nvCxnSpPr>
          <p:spPr>
            <a:xfrm rot="10800000">
              <a:off x="1778" y="7868"/>
              <a:ext cx="150" cy="0"/>
            </a:xfrm>
            <a:prstGeom prst="straightConnector1">
              <a:avLst/>
            </a:prstGeom>
            <a:noFill/>
            <a:ln cap="flat" cmpd="sng" w="28575">
              <a:solidFill>
                <a:srgbClr val="C00000"/>
              </a:solidFill>
              <a:prstDash val="solid"/>
              <a:round/>
              <a:headEnd len="med" w="med" type="none"/>
              <a:tailEnd len="med" w="med" type="none"/>
            </a:ln>
          </p:spPr>
        </p:cxnSp>
        <p:grpSp>
          <p:nvGrpSpPr>
            <p:cNvPr id="198" name="Google Shape;198;p3"/>
            <p:cNvGrpSpPr/>
            <p:nvPr/>
          </p:nvGrpSpPr>
          <p:grpSpPr>
            <a:xfrm>
              <a:off x="5770" y="6755"/>
              <a:ext cx="1550" cy="1140"/>
              <a:chOff x="4073" y="6578"/>
              <a:chExt cx="2385" cy="1140"/>
            </a:xfrm>
          </p:grpSpPr>
          <p:sp>
            <p:nvSpPr>
              <p:cNvPr id="199" name="Google Shape;199;p3"/>
              <p:cNvSpPr/>
              <p:nvPr/>
            </p:nvSpPr>
            <p:spPr>
              <a:xfrm>
                <a:off x="5138" y="6578"/>
                <a:ext cx="1320" cy="1140"/>
              </a:xfrm>
              <a:custGeom>
                <a:rect b="b" l="l" r="r" t="t"/>
                <a:pathLst>
                  <a:path extrusionOk="0" h="1140" w="1320">
                    <a:moveTo>
                      <a:pt x="0" y="1140"/>
                    </a:moveTo>
                    <a:cubicBezTo>
                      <a:pt x="130" y="1095"/>
                      <a:pt x="260" y="1050"/>
                      <a:pt x="360" y="960"/>
                    </a:cubicBezTo>
                    <a:cubicBezTo>
                      <a:pt x="460" y="870"/>
                      <a:pt x="560" y="750"/>
                      <a:pt x="600" y="600"/>
                    </a:cubicBezTo>
                    <a:cubicBezTo>
                      <a:pt x="640" y="450"/>
                      <a:pt x="580" y="120"/>
                      <a:pt x="600" y="60"/>
                    </a:cubicBezTo>
                    <a:cubicBezTo>
                      <a:pt x="620" y="0"/>
                      <a:pt x="669" y="184"/>
                      <a:pt x="720" y="240"/>
                    </a:cubicBezTo>
                    <a:cubicBezTo>
                      <a:pt x="771" y="296"/>
                      <a:pt x="867" y="337"/>
                      <a:pt x="907" y="397"/>
                    </a:cubicBezTo>
                    <a:cubicBezTo>
                      <a:pt x="947" y="457"/>
                      <a:pt x="951" y="506"/>
                      <a:pt x="960" y="600"/>
                    </a:cubicBezTo>
                    <a:cubicBezTo>
                      <a:pt x="969" y="694"/>
                      <a:pt x="900" y="870"/>
                      <a:pt x="960" y="960"/>
                    </a:cubicBezTo>
                    <a:cubicBezTo>
                      <a:pt x="1020" y="1050"/>
                      <a:pt x="1170" y="1095"/>
                      <a:pt x="1320" y="1140"/>
                    </a:cubicBezTo>
                  </a:path>
                </a:pathLst>
              </a:custGeom>
              <a:noFill/>
              <a:ln cap="flat" cmpd="sng" w="2857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00" name="Google Shape;200;p3"/>
              <p:cNvCxnSpPr/>
              <p:nvPr/>
            </p:nvCxnSpPr>
            <p:spPr>
              <a:xfrm rot="10800000">
                <a:off x="4073" y="7703"/>
                <a:ext cx="1080" cy="0"/>
              </a:xfrm>
              <a:prstGeom prst="straightConnector1">
                <a:avLst/>
              </a:prstGeom>
              <a:noFill/>
              <a:ln cap="flat" cmpd="sng" w="28575">
                <a:solidFill>
                  <a:srgbClr val="C00000"/>
                </a:solidFill>
                <a:prstDash val="solid"/>
                <a:round/>
                <a:headEnd len="med" w="med" type="none"/>
                <a:tailEnd len="med" w="med" type="none"/>
              </a:ln>
            </p:spPr>
          </p:cxnSp>
        </p:grpSp>
        <p:grpSp>
          <p:nvGrpSpPr>
            <p:cNvPr id="201" name="Google Shape;201;p3"/>
            <p:cNvGrpSpPr/>
            <p:nvPr/>
          </p:nvGrpSpPr>
          <p:grpSpPr>
            <a:xfrm>
              <a:off x="4249" y="6755"/>
              <a:ext cx="1550" cy="1140"/>
              <a:chOff x="4073" y="6578"/>
              <a:chExt cx="2385" cy="1140"/>
            </a:xfrm>
          </p:grpSpPr>
          <p:sp>
            <p:nvSpPr>
              <p:cNvPr id="202" name="Google Shape;202;p3"/>
              <p:cNvSpPr/>
              <p:nvPr/>
            </p:nvSpPr>
            <p:spPr>
              <a:xfrm>
                <a:off x="5138" y="6578"/>
                <a:ext cx="1320" cy="1140"/>
              </a:xfrm>
              <a:custGeom>
                <a:rect b="b" l="l" r="r" t="t"/>
                <a:pathLst>
                  <a:path extrusionOk="0" h="1140" w="1320">
                    <a:moveTo>
                      <a:pt x="0" y="1140"/>
                    </a:moveTo>
                    <a:cubicBezTo>
                      <a:pt x="130" y="1095"/>
                      <a:pt x="260" y="1050"/>
                      <a:pt x="360" y="960"/>
                    </a:cubicBezTo>
                    <a:cubicBezTo>
                      <a:pt x="460" y="870"/>
                      <a:pt x="560" y="750"/>
                      <a:pt x="600" y="600"/>
                    </a:cubicBezTo>
                    <a:cubicBezTo>
                      <a:pt x="640" y="450"/>
                      <a:pt x="580" y="120"/>
                      <a:pt x="600" y="60"/>
                    </a:cubicBezTo>
                    <a:cubicBezTo>
                      <a:pt x="620" y="0"/>
                      <a:pt x="669" y="184"/>
                      <a:pt x="720" y="240"/>
                    </a:cubicBezTo>
                    <a:cubicBezTo>
                      <a:pt x="771" y="296"/>
                      <a:pt x="867" y="337"/>
                      <a:pt x="907" y="397"/>
                    </a:cubicBezTo>
                    <a:cubicBezTo>
                      <a:pt x="947" y="457"/>
                      <a:pt x="951" y="506"/>
                      <a:pt x="960" y="600"/>
                    </a:cubicBezTo>
                    <a:cubicBezTo>
                      <a:pt x="969" y="694"/>
                      <a:pt x="900" y="870"/>
                      <a:pt x="960" y="960"/>
                    </a:cubicBezTo>
                    <a:cubicBezTo>
                      <a:pt x="1020" y="1050"/>
                      <a:pt x="1170" y="1095"/>
                      <a:pt x="1320" y="1140"/>
                    </a:cubicBezTo>
                  </a:path>
                </a:pathLst>
              </a:custGeom>
              <a:noFill/>
              <a:ln cap="flat" cmpd="sng" w="2857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03" name="Google Shape;203;p3"/>
              <p:cNvCxnSpPr/>
              <p:nvPr/>
            </p:nvCxnSpPr>
            <p:spPr>
              <a:xfrm rot="10800000">
                <a:off x="4073" y="7703"/>
                <a:ext cx="1080" cy="0"/>
              </a:xfrm>
              <a:prstGeom prst="straightConnector1">
                <a:avLst/>
              </a:prstGeom>
              <a:noFill/>
              <a:ln cap="flat" cmpd="sng" w="28575">
                <a:solidFill>
                  <a:srgbClr val="C00000"/>
                </a:solidFill>
                <a:prstDash val="solid"/>
                <a:round/>
                <a:headEnd len="med" w="med" type="none"/>
                <a:tailEnd len="med" w="med" type="none"/>
              </a:ln>
            </p:spPr>
          </p:cxnSp>
        </p:grpSp>
        <p:grpSp>
          <p:nvGrpSpPr>
            <p:cNvPr id="204" name="Google Shape;204;p3"/>
            <p:cNvGrpSpPr/>
            <p:nvPr/>
          </p:nvGrpSpPr>
          <p:grpSpPr>
            <a:xfrm>
              <a:off x="8763" y="6743"/>
              <a:ext cx="1550" cy="1140"/>
              <a:chOff x="4073" y="6578"/>
              <a:chExt cx="2385" cy="1140"/>
            </a:xfrm>
          </p:grpSpPr>
          <p:sp>
            <p:nvSpPr>
              <p:cNvPr id="205" name="Google Shape;205;p3"/>
              <p:cNvSpPr/>
              <p:nvPr/>
            </p:nvSpPr>
            <p:spPr>
              <a:xfrm>
                <a:off x="5138" y="6578"/>
                <a:ext cx="1320" cy="1140"/>
              </a:xfrm>
              <a:custGeom>
                <a:rect b="b" l="l" r="r" t="t"/>
                <a:pathLst>
                  <a:path extrusionOk="0" h="1140" w="1320">
                    <a:moveTo>
                      <a:pt x="0" y="1140"/>
                    </a:moveTo>
                    <a:cubicBezTo>
                      <a:pt x="130" y="1095"/>
                      <a:pt x="260" y="1050"/>
                      <a:pt x="360" y="960"/>
                    </a:cubicBezTo>
                    <a:cubicBezTo>
                      <a:pt x="460" y="870"/>
                      <a:pt x="560" y="750"/>
                      <a:pt x="600" y="600"/>
                    </a:cubicBezTo>
                    <a:cubicBezTo>
                      <a:pt x="640" y="450"/>
                      <a:pt x="580" y="120"/>
                      <a:pt x="600" y="60"/>
                    </a:cubicBezTo>
                    <a:cubicBezTo>
                      <a:pt x="620" y="0"/>
                      <a:pt x="669" y="184"/>
                      <a:pt x="720" y="240"/>
                    </a:cubicBezTo>
                    <a:cubicBezTo>
                      <a:pt x="771" y="296"/>
                      <a:pt x="867" y="337"/>
                      <a:pt x="907" y="397"/>
                    </a:cubicBezTo>
                    <a:cubicBezTo>
                      <a:pt x="947" y="457"/>
                      <a:pt x="951" y="506"/>
                      <a:pt x="960" y="600"/>
                    </a:cubicBezTo>
                    <a:cubicBezTo>
                      <a:pt x="969" y="694"/>
                      <a:pt x="900" y="870"/>
                      <a:pt x="960" y="960"/>
                    </a:cubicBezTo>
                    <a:cubicBezTo>
                      <a:pt x="1020" y="1050"/>
                      <a:pt x="1170" y="1095"/>
                      <a:pt x="1320" y="1140"/>
                    </a:cubicBezTo>
                  </a:path>
                </a:pathLst>
              </a:custGeom>
              <a:noFill/>
              <a:ln cap="flat" cmpd="sng" w="2857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06" name="Google Shape;206;p3"/>
              <p:cNvCxnSpPr/>
              <p:nvPr/>
            </p:nvCxnSpPr>
            <p:spPr>
              <a:xfrm rot="10800000">
                <a:off x="4073" y="7703"/>
                <a:ext cx="1080" cy="0"/>
              </a:xfrm>
              <a:prstGeom prst="straightConnector1">
                <a:avLst/>
              </a:prstGeom>
              <a:noFill/>
              <a:ln cap="flat" cmpd="sng" w="28575">
                <a:solidFill>
                  <a:srgbClr val="C00000"/>
                </a:solidFill>
                <a:prstDash val="solid"/>
                <a:round/>
                <a:headEnd len="med" w="med" type="none"/>
                <a:tailEnd len="med" w="med" type="none"/>
              </a:ln>
            </p:spPr>
          </p:cxnSp>
        </p:grpSp>
        <p:grpSp>
          <p:nvGrpSpPr>
            <p:cNvPr id="207" name="Google Shape;207;p3"/>
            <p:cNvGrpSpPr/>
            <p:nvPr/>
          </p:nvGrpSpPr>
          <p:grpSpPr>
            <a:xfrm>
              <a:off x="7257" y="6743"/>
              <a:ext cx="1550" cy="1140"/>
              <a:chOff x="4073" y="6578"/>
              <a:chExt cx="2385" cy="1140"/>
            </a:xfrm>
          </p:grpSpPr>
          <p:sp>
            <p:nvSpPr>
              <p:cNvPr id="208" name="Google Shape;208;p3"/>
              <p:cNvSpPr/>
              <p:nvPr/>
            </p:nvSpPr>
            <p:spPr>
              <a:xfrm>
                <a:off x="5138" y="6578"/>
                <a:ext cx="1320" cy="1140"/>
              </a:xfrm>
              <a:custGeom>
                <a:rect b="b" l="l" r="r" t="t"/>
                <a:pathLst>
                  <a:path extrusionOk="0" h="1140" w="1320">
                    <a:moveTo>
                      <a:pt x="0" y="1140"/>
                    </a:moveTo>
                    <a:cubicBezTo>
                      <a:pt x="130" y="1095"/>
                      <a:pt x="260" y="1050"/>
                      <a:pt x="360" y="960"/>
                    </a:cubicBezTo>
                    <a:cubicBezTo>
                      <a:pt x="460" y="870"/>
                      <a:pt x="560" y="750"/>
                      <a:pt x="600" y="600"/>
                    </a:cubicBezTo>
                    <a:cubicBezTo>
                      <a:pt x="640" y="450"/>
                      <a:pt x="580" y="120"/>
                      <a:pt x="600" y="60"/>
                    </a:cubicBezTo>
                    <a:cubicBezTo>
                      <a:pt x="620" y="0"/>
                      <a:pt x="669" y="184"/>
                      <a:pt x="720" y="240"/>
                    </a:cubicBezTo>
                    <a:cubicBezTo>
                      <a:pt x="771" y="296"/>
                      <a:pt x="867" y="337"/>
                      <a:pt x="907" y="397"/>
                    </a:cubicBezTo>
                    <a:cubicBezTo>
                      <a:pt x="947" y="457"/>
                      <a:pt x="951" y="506"/>
                      <a:pt x="960" y="600"/>
                    </a:cubicBezTo>
                    <a:cubicBezTo>
                      <a:pt x="969" y="694"/>
                      <a:pt x="900" y="870"/>
                      <a:pt x="960" y="960"/>
                    </a:cubicBezTo>
                    <a:cubicBezTo>
                      <a:pt x="1020" y="1050"/>
                      <a:pt x="1170" y="1095"/>
                      <a:pt x="1320" y="1140"/>
                    </a:cubicBezTo>
                  </a:path>
                </a:pathLst>
              </a:custGeom>
              <a:noFill/>
              <a:ln cap="flat" cmpd="sng" w="2857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09" name="Google Shape;209;p3"/>
              <p:cNvCxnSpPr/>
              <p:nvPr/>
            </p:nvCxnSpPr>
            <p:spPr>
              <a:xfrm rot="10800000">
                <a:off x="4073" y="7703"/>
                <a:ext cx="1080" cy="0"/>
              </a:xfrm>
              <a:prstGeom prst="straightConnector1">
                <a:avLst/>
              </a:prstGeom>
              <a:noFill/>
              <a:ln cap="flat" cmpd="sng" w="28575">
                <a:solidFill>
                  <a:srgbClr val="C00000"/>
                </a:solidFill>
                <a:prstDash val="solid"/>
                <a:round/>
                <a:headEnd len="med" w="med" type="none"/>
                <a:tailEnd len="med" w="med" type="none"/>
              </a:ln>
            </p:spPr>
          </p:cxnSp>
        </p:grpSp>
        <p:sp>
          <p:nvSpPr>
            <p:cNvPr id="210" name="Google Shape;210;p3"/>
            <p:cNvSpPr txBox="1"/>
            <p:nvPr/>
          </p:nvSpPr>
          <p:spPr>
            <a:xfrm>
              <a:off x="4058" y="6576"/>
              <a:ext cx="480" cy="413"/>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f(t)</a:t>
              </a:r>
              <a:endParaRPr sz="1200">
                <a:solidFill>
                  <a:schemeClr val="dk1"/>
                </a:solidFill>
                <a:latin typeface="Times New Roman"/>
                <a:ea typeface="Times New Roman"/>
                <a:cs typeface="Times New Roman"/>
                <a:sym typeface="Times New Roman"/>
              </a:endParaRPr>
            </a:p>
          </p:txBody>
        </p:sp>
        <p:sp>
          <p:nvSpPr>
            <p:cNvPr id="211" name="Google Shape;211;p3"/>
            <p:cNvSpPr txBox="1"/>
            <p:nvPr/>
          </p:nvSpPr>
          <p:spPr>
            <a:xfrm>
              <a:off x="10178" y="7898"/>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sp>
          <p:nvSpPr>
            <p:cNvPr id="212" name="Google Shape;212;p3"/>
            <p:cNvSpPr txBox="1"/>
            <p:nvPr/>
          </p:nvSpPr>
          <p:spPr>
            <a:xfrm>
              <a:off x="5738" y="8078"/>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 </a:t>
              </a:r>
              <a:r>
                <a:rPr lang="en-GB" sz="2200">
                  <a:solidFill>
                    <a:srgbClr val="002060"/>
                  </a:solidFill>
                  <a:latin typeface="Times New Roman"/>
                  <a:ea typeface="Times New Roman"/>
                  <a:cs typeface="Times New Roman"/>
                  <a:sym typeface="Times New Roman"/>
                </a:rPr>
                <a:t> (a)</a:t>
              </a:r>
              <a:endParaRPr sz="1200">
                <a:solidFill>
                  <a:schemeClr val="dk1"/>
                </a:solidFill>
                <a:latin typeface="Times New Roman"/>
                <a:ea typeface="Times New Roman"/>
                <a:cs typeface="Times New Roman"/>
                <a:sym typeface="Times New Roman"/>
              </a:endParaRPr>
            </a:p>
          </p:txBody>
        </p:sp>
        <p:cxnSp>
          <p:nvCxnSpPr>
            <p:cNvPr id="213" name="Google Shape;213;p3"/>
            <p:cNvCxnSpPr/>
            <p:nvPr/>
          </p:nvCxnSpPr>
          <p:spPr>
            <a:xfrm>
              <a:off x="6473" y="8258"/>
              <a:ext cx="1440" cy="0"/>
            </a:xfrm>
            <a:prstGeom prst="straightConnector1">
              <a:avLst/>
            </a:prstGeom>
            <a:noFill/>
            <a:ln cap="flat" cmpd="sng" w="28575">
              <a:solidFill>
                <a:srgbClr val="002060"/>
              </a:solidFill>
              <a:prstDash val="solid"/>
              <a:round/>
              <a:headEnd len="sm" w="sm" type="stealth"/>
              <a:tailEnd len="sm" w="sm" type="stealth"/>
            </a:ln>
          </p:spPr>
        </p:cxnSp>
        <p:sp>
          <p:nvSpPr>
            <p:cNvPr id="214" name="Google Shape;214;p3"/>
            <p:cNvSpPr txBox="1"/>
            <p:nvPr/>
          </p:nvSpPr>
          <p:spPr>
            <a:xfrm>
              <a:off x="7103" y="7907"/>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4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grpSp>
      <p:grpSp>
        <p:nvGrpSpPr>
          <p:cNvPr id="215" name="Google Shape;215;p3"/>
          <p:cNvGrpSpPr/>
          <p:nvPr/>
        </p:nvGrpSpPr>
        <p:grpSpPr>
          <a:xfrm>
            <a:off x="111760" y="3100070"/>
            <a:ext cx="12080235" cy="1672590"/>
            <a:chOff x="1538" y="8716"/>
            <a:chExt cx="9120" cy="1702"/>
          </a:xfrm>
        </p:grpSpPr>
        <p:cxnSp>
          <p:nvCxnSpPr>
            <p:cNvPr id="216" name="Google Shape;216;p3"/>
            <p:cNvCxnSpPr/>
            <p:nvPr/>
          </p:nvCxnSpPr>
          <p:spPr>
            <a:xfrm>
              <a:off x="4538" y="8716"/>
              <a:ext cx="0" cy="1342"/>
            </a:xfrm>
            <a:prstGeom prst="straightConnector1">
              <a:avLst/>
            </a:prstGeom>
            <a:noFill/>
            <a:ln cap="flat" cmpd="sng" w="28575">
              <a:solidFill>
                <a:srgbClr val="002060"/>
              </a:solidFill>
              <a:prstDash val="solid"/>
              <a:round/>
              <a:headEnd len="med" w="med" type="stealth"/>
              <a:tailEnd len="med" w="med" type="none"/>
            </a:ln>
          </p:spPr>
        </p:cxnSp>
        <p:cxnSp>
          <p:nvCxnSpPr>
            <p:cNvPr id="217" name="Google Shape;217;p3"/>
            <p:cNvCxnSpPr/>
            <p:nvPr/>
          </p:nvCxnSpPr>
          <p:spPr>
            <a:xfrm>
              <a:off x="1538" y="9878"/>
              <a:ext cx="9000" cy="0"/>
            </a:xfrm>
            <a:prstGeom prst="straightConnector1">
              <a:avLst/>
            </a:prstGeom>
            <a:noFill/>
            <a:ln cap="flat" cmpd="sng" w="28575">
              <a:solidFill>
                <a:srgbClr val="002060"/>
              </a:solidFill>
              <a:prstDash val="solid"/>
              <a:round/>
              <a:headEnd len="med" w="med" type="none"/>
              <a:tailEnd len="med" w="med" type="stealth"/>
            </a:ln>
          </p:spPr>
        </p:cxnSp>
        <p:sp>
          <p:nvSpPr>
            <p:cNvPr id="218" name="Google Shape;218;p3"/>
            <p:cNvSpPr/>
            <p:nvPr/>
          </p:nvSpPr>
          <p:spPr>
            <a:xfrm>
              <a:off x="2135" y="8735"/>
              <a:ext cx="858" cy="1140"/>
            </a:xfrm>
            <a:custGeom>
              <a:rect b="b" l="l" r="r" t="t"/>
              <a:pathLst>
                <a:path extrusionOk="0" h="1140" w="1320">
                  <a:moveTo>
                    <a:pt x="0" y="1140"/>
                  </a:moveTo>
                  <a:cubicBezTo>
                    <a:pt x="130" y="1095"/>
                    <a:pt x="260" y="1050"/>
                    <a:pt x="360" y="960"/>
                  </a:cubicBezTo>
                  <a:cubicBezTo>
                    <a:pt x="460" y="870"/>
                    <a:pt x="560" y="750"/>
                    <a:pt x="600" y="600"/>
                  </a:cubicBezTo>
                  <a:cubicBezTo>
                    <a:pt x="640" y="450"/>
                    <a:pt x="580" y="120"/>
                    <a:pt x="600" y="60"/>
                  </a:cubicBezTo>
                  <a:cubicBezTo>
                    <a:pt x="620" y="0"/>
                    <a:pt x="669" y="184"/>
                    <a:pt x="720" y="240"/>
                  </a:cubicBezTo>
                  <a:cubicBezTo>
                    <a:pt x="771" y="296"/>
                    <a:pt x="867" y="337"/>
                    <a:pt x="907" y="397"/>
                  </a:cubicBezTo>
                  <a:cubicBezTo>
                    <a:pt x="947" y="457"/>
                    <a:pt x="951" y="506"/>
                    <a:pt x="960" y="600"/>
                  </a:cubicBezTo>
                  <a:cubicBezTo>
                    <a:pt x="969" y="694"/>
                    <a:pt x="900" y="870"/>
                    <a:pt x="960" y="960"/>
                  </a:cubicBezTo>
                  <a:cubicBezTo>
                    <a:pt x="1020" y="1050"/>
                    <a:pt x="1170" y="1095"/>
                    <a:pt x="1320" y="1140"/>
                  </a:cubicBezTo>
                </a:path>
              </a:pathLst>
            </a:custGeom>
            <a:noFill/>
            <a:ln cap="flat" cmpd="sng" w="2857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19" name="Google Shape;219;p3"/>
            <p:cNvCxnSpPr/>
            <p:nvPr/>
          </p:nvCxnSpPr>
          <p:spPr>
            <a:xfrm rot="10800000">
              <a:off x="1658" y="9848"/>
              <a:ext cx="480" cy="0"/>
            </a:xfrm>
            <a:prstGeom prst="straightConnector1">
              <a:avLst/>
            </a:prstGeom>
            <a:noFill/>
            <a:ln cap="flat" cmpd="sng" w="28575">
              <a:solidFill>
                <a:srgbClr val="C00000"/>
              </a:solidFill>
              <a:prstDash val="solid"/>
              <a:round/>
              <a:headEnd len="med" w="med" type="none"/>
              <a:tailEnd len="med" w="med" type="none"/>
            </a:ln>
          </p:spPr>
        </p:cxnSp>
        <p:sp>
          <p:nvSpPr>
            <p:cNvPr id="220" name="Google Shape;220;p3"/>
            <p:cNvSpPr/>
            <p:nvPr/>
          </p:nvSpPr>
          <p:spPr>
            <a:xfrm>
              <a:off x="4941" y="8735"/>
              <a:ext cx="858" cy="1140"/>
            </a:xfrm>
            <a:custGeom>
              <a:rect b="b" l="l" r="r" t="t"/>
              <a:pathLst>
                <a:path extrusionOk="0" h="1140" w="1320">
                  <a:moveTo>
                    <a:pt x="0" y="1140"/>
                  </a:moveTo>
                  <a:cubicBezTo>
                    <a:pt x="130" y="1095"/>
                    <a:pt x="260" y="1050"/>
                    <a:pt x="360" y="960"/>
                  </a:cubicBezTo>
                  <a:cubicBezTo>
                    <a:pt x="460" y="870"/>
                    <a:pt x="560" y="750"/>
                    <a:pt x="600" y="600"/>
                  </a:cubicBezTo>
                  <a:cubicBezTo>
                    <a:pt x="640" y="450"/>
                    <a:pt x="580" y="120"/>
                    <a:pt x="600" y="60"/>
                  </a:cubicBezTo>
                  <a:cubicBezTo>
                    <a:pt x="620" y="0"/>
                    <a:pt x="669" y="184"/>
                    <a:pt x="720" y="240"/>
                  </a:cubicBezTo>
                  <a:cubicBezTo>
                    <a:pt x="771" y="296"/>
                    <a:pt x="867" y="337"/>
                    <a:pt x="907" y="397"/>
                  </a:cubicBezTo>
                  <a:cubicBezTo>
                    <a:pt x="947" y="457"/>
                    <a:pt x="951" y="506"/>
                    <a:pt x="960" y="600"/>
                  </a:cubicBezTo>
                  <a:cubicBezTo>
                    <a:pt x="969" y="694"/>
                    <a:pt x="900" y="870"/>
                    <a:pt x="960" y="960"/>
                  </a:cubicBezTo>
                  <a:cubicBezTo>
                    <a:pt x="1020" y="1050"/>
                    <a:pt x="1170" y="1095"/>
                    <a:pt x="1320" y="1140"/>
                  </a:cubicBezTo>
                </a:path>
              </a:pathLst>
            </a:custGeom>
            <a:noFill/>
            <a:ln cap="flat" cmpd="sng" w="2857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21" name="Google Shape;221;p3"/>
            <p:cNvCxnSpPr/>
            <p:nvPr/>
          </p:nvCxnSpPr>
          <p:spPr>
            <a:xfrm rot="10800000">
              <a:off x="2978" y="9860"/>
              <a:ext cx="1973" cy="0"/>
            </a:xfrm>
            <a:prstGeom prst="straightConnector1">
              <a:avLst/>
            </a:prstGeom>
            <a:noFill/>
            <a:ln cap="flat" cmpd="sng" w="28575">
              <a:solidFill>
                <a:srgbClr val="C00000"/>
              </a:solidFill>
              <a:prstDash val="solid"/>
              <a:round/>
              <a:headEnd len="med" w="med" type="none"/>
              <a:tailEnd len="med" w="med" type="none"/>
            </a:ln>
          </p:spPr>
        </p:cxnSp>
        <p:sp>
          <p:nvSpPr>
            <p:cNvPr id="222" name="Google Shape;222;p3"/>
            <p:cNvSpPr txBox="1"/>
            <p:nvPr/>
          </p:nvSpPr>
          <p:spPr>
            <a:xfrm>
              <a:off x="4065" y="8762"/>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f(t)</a:t>
              </a:r>
              <a:endParaRPr sz="1200">
                <a:solidFill>
                  <a:schemeClr val="dk1"/>
                </a:solidFill>
                <a:latin typeface="Times New Roman"/>
                <a:ea typeface="Times New Roman"/>
                <a:cs typeface="Times New Roman"/>
                <a:sym typeface="Times New Roman"/>
              </a:endParaRPr>
            </a:p>
          </p:txBody>
        </p:sp>
        <p:sp>
          <p:nvSpPr>
            <p:cNvPr id="223" name="Google Shape;223;p3"/>
            <p:cNvSpPr txBox="1"/>
            <p:nvPr/>
          </p:nvSpPr>
          <p:spPr>
            <a:xfrm>
              <a:off x="10178" y="9878"/>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4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sp>
          <p:nvSpPr>
            <p:cNvPr id="224" name="Google Shape;224;p3"/>
            <p:cNvSpPr txBox="1"/>
            <p:nvPr/>
          </p:nvSpPr>
          <p:spPr>
            <a:xfrm>
              <a:off x="5978" y="10058"/>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400">
                  <a:solidFill>
                    <a:srgbClr val="002060"/>
                  </a:solidFill>
                  <a:latin typeface="Times New Roman"/>
                  <a:ea typeface="Times New Roman"/>
                  <a:cs typeface="Times New Roman"/>
                  <a:sym typeface="Times New Roman"/>
                </a:rPr>
                <a:t>(b)</a:t>
              </a:r>
              <a:endParaRPr sz="1200">
                <a:solidFill>
                  <a:schemeClr val="dk1"/>
                </a:solidFill>
                <a:latin typeface="Times New Roman"/>
                <a:ea typeface="Times New Roman"/>
                <a:cs typeface="Times New Roman"/>
                <a:sym typeface="Times New Roman"/>
              </a:endParaRPr>
            </a:p>
          </p:txBody>
        </p:sp>
        <p:cxnSp>
          <p:nvCxnSpPr>
            <p:cNvPr id="225" name="Google Shape;225;p3"/>
            <p:cNvCxnSpPr/>
            <p:nvPr/>
          </p:nvCxnSpPr>
          <p:spPr>
            <a:xfrm>
              <a:off x="2978" y="10238"/>
              <a:ext cx="2880" cy="0"/>
            </a:xfrm>
            <a:prstGeom prst="straightConnector1">
              <a:avLst/>
            </a:prstGeom>
            <a:noFill/>
            <a:ln cap="flat" cmpd="sng" w="28575">
              <a:solidFill>
                <a:srgbClr val="002060"/>
              </a:solidFill>
              <a:prstDash val="solid"/>
              <a:round/>
              <a:headEnd len="sm" w="sm" type="stealth"/>
              <a:tailEnd len="sm" w="sm" type="stealth"/>
            </a:ln>
          </p:spPr>
        </p:cxnSp>
        <p:sp>
          <p:nvSpPr>
            <p:cNvPr id="226" name="Google Shape;226;p3"/>
            <p:cNvSpPr txBox="1"/>
            <p:nvPr/>
          </p:nvSpPr>
          <p:spPr>
            <a:xfrm>
              <a:off x="4298" y="9868"/>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6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sp>
          <p:nvSpPr>
            <p:cNvPr id="227" name="Google Shape;227;p3"/>
            <p:cNvSpPr/>
            <p:nvPr/>
          </p:nvSpPr>
          <p:spPr>
            <a:xfrm>
              <a:off x="7745" y="8723"/>
              <a:ext cx="858" cy="1140"/>
            </a:xfrm>
            <a:custGeom>
              <a:rect b="b" l="l" r="r" t="t"/>
              <a:pathLst>
                <a:path extrusionOk="0" h="1140" w="1320">
                  <a:moveTo>
                    <a:pt x="0" y="1140"/>
                  </a:moveTo>
                  <a:cubicBezTo>
                    <a:pt x="130" y="1095"/>
                    <a:pt x="260" y="1050"/>
                    <a:pt x="360" y="960"/>
                  </a:cubicBezTo>
                  <a:cubicBezTo>
                    <a:pt x="460" y="870"/>
                    <a:pt x="560" y="750"/>
                    <a:pt x="600" y="600"/>
                  </a:cubicBezTo>
                  <a:cubicBezTo>
                    <a:pt x="640" y="450"/>
                    <a:pt x="580" y="120"/>
                    <a:pt x="600" y="60"/>
                  </a:cubicBezTo>
                  <a:cubicBezTo>
                    <a:pt x="620" y="0"/>
                    <a:pt x="669" y="184"/>
                    <a:pt x="720" y="240"/>
                  </a:cubicBezTo>
                  <a:cubicBezTo>
                    <a:pt x="771" y="296"/>
                    <a:pt x="867" y="337"/>
                    <a:pt x="907" y="397"/>
                  </a:cubicBezTo>
                  <a:cubicBezTo>
                    <a:pt x="947" y="457"/>
                    <a:pt x="951" y="506"/>
                    <a:pt x="960" y="600"/>
                  </a:cubicBezTo>
                  <a:cubicBezTo>
                    <a:pt x="969" y="694"/>
                    <a:pt x="900" y="870"/>
                    <a:pt x="960" y="960"/>
                  </a:cubicBezTo>
                  <a:cubicBezTo>
                    <a:pt x="1020" y="1050"/>
                    <a:pt x="1170" y="1095"/>
                    <a:pt x="1320" y="1140"/>
                  </a:cubicBezTo>
                </a:path>
              </a:pathLst>
            </a:custGeom>
            <a:noFill/>
            <a:ln cap="flat" cmpd="sng" w="2857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28" name="Google Shape;228;p3"/>
            <p:cNvCxnSpPr/>
            <p:nvPr/>
          </p:nvCxnSpPr>
          <p:spPr>
            <a:xfrm rot="10800000">
              <a:off x="5782" y="9848"/>
              <a:ext cx="1973" cy="0"/>
            </a:xfrm>
            <a:prstGeom prst="straightConnector1">
              <a:avLst/>
            </a:prstGeom>
            <a:noFill/>
            <a:ln cap="flat" cmpd="sng" w="28575">
              <a:solidFill>
                <a:srgbClr val="C00000"/>
              </a:solidFill>
              <a:prstDash val="solid"/>
              <a:round/>
              <a:headEnd len="med" w="med" type="none"/>
              <a:tailEnd len="med" w="med" type="none"/>
            </a:ln>
          </p:spPr>
        </p:cxnSp>
        <p:cxnSp>
          <p:nvCxnSpPr>
            <p:cNvPr id="229" name="Google Shape;229;p3"/>
            <p:cNvCxnSpPr/>
            <p:nvPr/>
          </p:nvCxnSpPr>
          <p:spPr>
            <a:xfrm rot="10800000">
              <a:off x="8565" y="9848"/>
              <a:ext cx="1733" cy="0"/>
            </a:xfrm>
            <a:prstGeom prst="straightConnector1">
              <a:avLst/>
            </a:prstGeom>
            <a:noFill/>
            <a:ln cap="flat" cmpd="sng" w="28575">
              <a:solidFill>
                <a:srgbClr val="C00000"/>
              </a:solidFill>
              <a:prstDash val="solid"/>
              <a:round/>
              <a:headEnd len="med" w="med" type="none"/>
              <a:tailEnd len="med" w="med" type="none"/>
            </a:ln>
          </p:spPr>
        </p:cxnSp>
      </p:grpSp>
      <p:grpSp>
        <p:nvGrpSpPr>
          <p:cNvPr id="230" name="Google Shape;230;p3"/>
          <p:cNvGrpSpPr/>
          <p:nvPr/>
        </p:nvGrpSpPr>
        <p:grpSpPr>
          <a:xfrm>
            <a:off x="222885" y="4631690"/>
            <a:ext cx="11690985" cy="1576070"/>
            <a:chOff x="1538" y="10692"/>
            <a:chExt cx="9120" cy="1546"/>
          </a:xfrm>
        </p:grpSpPr>
        <p:cxnSp>
          <p:nvCxnSpPr>
            <p:cNvPr id="231" name="Google Shape;231;p3"/>
            <p:cNvCxnSpPr/>
            <p:nvPr/>
          </p:nvCxnSpPr>
          <p:spPr>
            <a:xfrm>
              <a:off x="4538" y="10692"/>
              <a:ext cx="0" cy="1346"/>
            </a:xfrm>
            <a:prstGeom prst="straightConnector1">
              <a:avLst/>
            </a:prstGeom>
            <a:noFill/>
            <a:ln cap="flat" cmpd="sng" w="28575">
              <a:solidFill>
                <a:srgbClr val="002060"/>
              </a:solidFill>
              <a:prstDash val="solid"/>
              <a:round/>
              <a:headEnd len="med" w="med" type="stealth"/>
              <a:tailEnd len="med" w="med" type="none"/>
            </a:ln>
          </p:spPr>
        </p:cxnSp>
        <p:cxnSp>
          <p:nvCxnSpPr>
            <p:cNvPr id="232" name="Google Shape;232;p3"/>
            <p:cNvCxnSpPr/>
            <p:nvPr/>
          </p:nvCxnSpPr>
          <p:spPr>
            <a:xfrm>
              <a:off x="1538" y="11858"/>
              <a:ext cx="9000" cy="0"/>
            </a:xfrm>
            <a:prstGeom prst="straightConnector1">
              <a:avLst/>
            </a:prstGeom>
            <a:noFill/>
            <a:ln cap="flat" cmpd="sng" w="28575">
              <a:solidFill>
                <a:srgbClr val="002060"/>
              </a:solidFill>
              <a:prstDash val="solid"/>
              <a:round/>
              <a:headEnd len="med" w="med" type="none"/>
              <a:tailEnd len="med" w="med" type="stealth"/>
            </a:ln>
          </p:spPr>
        </p:cxnSp>
        <p:sp>
          <p:nvSpPr>
            <p:cNvPr id="233" name="Google Shape;233;p3"/>
            <p:cNvSpPr/>
            <p:nvPr/>
          </p:nvSpPr>
          <p:spPr>
            <a:xfrm>
              <a:off x="4941" y="10715"/>
              <a:ext cx="858" cy="1140"/>
            </a:xfrm>
            <a:custGeom>
              <a:rect b="b" l="l" r="r" t="t"/>
              <a:pathLst>
                <a:path extrusionOk="0" h="1140" w="1320">
                  <a:moveTo>
                    <a:pt x="0" y="1140"/>
                  </a:moveTo>
                  <a:cubicBezTo>
                    <a:pt x="130" y="1095"/>
                    <a:pt x="260" y="1050"/>
                    <a:pt x="360" y="960"/>
                  </a:cubicBezTo>
                  <a:cubicBezTo>
                    <a:pt x="460" y="870"/>
                    <a:pt x="560" y="750"/>
                    <a:pt x="600" y="600"/>
                  </a:cubicBezTo>
                  <a:cubicBezTo>
                    <a:pt x="640" y="450"/>
                    <a:pt x="580" y="120"/>
                    <a:pt x="600" y="60"/>
                  </a:cubicBezTo>
                  <a:cubicBezTo>
                    <a:pt x="620" y="0"/>
                    <a:pt x="669" y="184"/>
                    <a:pt x="720" y="240"/>
                  </a:cubicBezTo>
                  <a:cubicBezTo>
                    <a:pt x="771" y="296"/>
                    <a:pt x="867" y="337"/>
                    <a:pt x="907" y="397"/>
                  </a:cubicBezTo>
                  <a:cubicBezTo>
                    <a:pt x="947" y="457"/>
                    <a:pt x="951" y="506"/>
                    <a:pt x="960" y="600"/>
                  </a:cubicBezTo>
                  <a:cubicBezTo>
                    <a:pt x="969" y="694"/>
                    <a:pt x="900" y="870"/>
                    <a:pt x="960" y="960"/>
                  </a:cubicBezTo>
                  <a:cubicBezTo>
                    <a:pt x="1020" y="1050"/>
                    <a:pt x="1170" y="1095"/>
                    <a:pt x="1320" y="1140"/>
                  </a:cubicBezTo>
                </a:path>
              </a:pathLst>
            </a:custGeom>
            <a:noFill/>
            <a:ln cap="flat" cmpd="sng" w="2857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34" name="Google Shape;234;p3"/>
            <p:cNvCxnSpPr/>
            <p:nvPr/>
          </p:nvCxnSpPr>
          <p:spPr>
            <a:xfrm rot="10800000">
              <a:off x="1538" y="11840"/>
              <a:ext cx="3413" cy="0"/>
            </a:xfrm>
            <a:prstGeom prst="straightConnector1">
              <a:avLst/>
            </a:prstGeom>
            <a:noFill/>
            <a:ln cap="flat" cmpd="sng" w="28575">
              <a:solidFill>
                <a:srgbClr val="C00000"/>
              </a:solidFill>
              <a:prstDash val="solid"/>
              <a:round/>
              <a:headEnd len="med" w="med" type="none"/>
              <a:tailEnd len="med" w="med" type="none"/>
            </a:ln>
          </p:spPr>
        </p:cxnSp>
        <p:sp>
          <p:nvSpPr>
            <p:cNvPr id="235" name="Google Shape;235;p3"/>
            <p:cNvSpPr txBox="1"/>
            <p:nvPr/>
          </p:nvSpPr>
          <p:spPr>
            <a:xfrm>
              <a:off x="4116" y="10736"/>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400">
                  <a:solidFill>
                    <a:srgbClr val="002060"/>
                  </a:solidFill>
                  <a:latin typeface="Times New Roman"/>
                  <a:ea typeface="Times New Roman"/>
                  <a:cs typeface="Times New Roman"/>
                  <a:sym typeface="Times New Roman"/>
                </a:rPr>
                <a:t>f(t)</a:t>
              </a:r>
              <a:endParaRPr sz="1200">
                <a:solidFill>
                  <a:schemeClr val="dk1"/>
                </a:solidFill>
                <a:latin typeface="Times New Roman"/>
                <a:ea typeface="Times New Roman"/>
                <a:cs typeface="Times New Roman"/>
                <a:sym typeface="Times New Roman"/>
              </a:endParaRPr>
            </a:p>
          </p:txBody>
        </p:sp>
        <p:sp>
          <p:nvSpPr>
            <p:cNvPr id="236" name="Google Shape;236;p3"/>
            <p:cNvSpPr txBox="1"/>
            <p:nvPr/>
          </p:nvSpPr>
          <p:spPr>
            <a:xfrm>
              <a:off x="10178" y="11858"/>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6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sp>
          <p:nvSpPr>
            <p:cNvPr id="237" name="Google Shape;237;p3"/>
            <p:cNvSpPr txBox="1"/>
            <p:nvPr/>
          </p:nvSpPr>
          <p:spPr>
            <a:xfrm>
              <a:off x="5978" y="11878"/>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400">
                  <a:solidFill>
                    <a:srgbClr val="002060"/>
                  </a:solidFill>
                  <a:latin typeface="Times New Roman"/>
                  <a:ea typeface="Times New Roman"/>
                  <a:cs typeface="Times New Roman"/>
                  <a:sym typeface="Times New Roman"/>
                </a:rPr>
                <a:t>(c)</a:t>
              </a:r>
              <a:endParaRPr sz="1200">
                <a:solidFill>
                  <a:schemeClr val="dk1"/>
                </a:solidFill>
                <a:latin typeface="Times New Roman"/>
                <a:ea typeface="Times New Roman"/>
                <a:cs typeface="Times New Roman"/>
                <a:sym typeface="Times New Roman"/>
              </a:endParaRPr>
            </a:p>
          </p:txBody>
        </p:sp>
        <p:cxnSp>
          <p:nvCxnSpPr>
            <p:cNvPr id="238" name="Google Shape;238;p3"/>
            <p:cNvCxnSpPr/>
            <p:nvPr/>
          </p:nvCxnSpPr>
          <p:spPr>
            <a:xfrm rot="10800000">
              <a:off x="5782" y="11828"/>
              <a:ext cx="4516" cy="0"/>
            </a:xfrm>
            <a:prstGeom prst="straightConnector1">
              <a:avLst/>
            </a:prstGeom>
            <a:noFill/>
            <a:ln cap="flat" cmpd="sng" w="28575">
              <a:solidFill>
                <a:srgbClr val="C00000"/>
              </a:solidFill>
              <a:prstDash val="solid"/>
              <a:round/>
              <a:headEnd len="med" w="med" type="none"/>
              <a:tailEnd len="med" w="med" type="none"/>
            </a:ln>
          </p:spPr>
        </p:cxnSp>
      </p:grpSp>
      <p:sp>
        <p:nvSpPr>
          <p:cNvPr id="239" name="Google Shape;239;p3"/>
          <p:cNvSpPr txBox="1"/>
          <p:nvPr/>
        </p:nvSpPr>
        <p:spPr>
          <a:xfrm>
            <a:off x="666822" y="6155798"/>
            <a:ext cx="8706800" cy="473302"/>
          </a:xfrm>
          <a:prstGeom prst="rect">
            <a:avLst/>
          </a:prstGeom>
          <a:noFill/>
          <a:ln>
            <a:noFill/>
          </a:ln>
        </p:spPr>
        <p:txBody>
          <a:bodyPr anchorCtr="0" anchor="t" bIns="10800" lIns="18000" spcFirstLastPara="1" rIns="18000" wrap="square" tIns="10800">
            <a:noAutofit/>
          </a:bodyPr>
          <a:lstStyle/>
          <a:p>
            <a:pPr indent="0" lvl="0" marL="0" marR="0" rtl="0" algn="l">
              <a:lnSpc>
                <a:spcPct val="100000"/>
              </a:lnSpc>
              <a:spcBef>
                <a:spcPts val="0"/>
              </a:spcBef>
              <a:spcAft>
                <a:spcPts val="0"/>
              </a:spcAft>
              <a:buClr>
                <a:srgbClr val="002060"/>
              </a:buClr>
              <a:buSzPts val="2800"/>
              <a:buFont typeface="Arial"/>
              <a:buNone/>
            </a:pPr>
            <a:r>
              <a:rPr b="0" i="0" lang="en-GB" sz="2800" u="none" cap="none" strike="noStrike">
                <a:solidFill>
                  <a:srgbClr val="002060"/>
                </a:solidFill>
                <a:latin typeface="Arial"/>
                <a:ea typeface="Arial"/>
                <a:cs typeface="Arial"/>
                <a:sym typeface="Arial"/>
              </a:rPr>
              <a:t>Figure 1 – Period of repetition gradually increased to </a:t>
            </a:r>
            <a:r>
              <a:rPr b="0" i="0" lang="en-GB" sz="2800" u="none" cap="none" strike="noStrike">
                <a:solidFill>
                  <a:srgbClr val="002060"/>
                </a:solidFill>
                <a:latin typeface="Times New Roman"/>
                <a:ea typeface="Times New Roman"/>
                <a:cs typeface="Times New Roman"/>
                <a:sym typeface="Times New Roman"/>
              </a:rPr>
              <a:t>∞</a:t>
            </a:r>
            <a:endParaRPr/>
          </a:p>
        </p:txBody>
      </p:sp>
      <p:sp>
        <p:nvSpPr>
          <p:cNvPr id="240" name="Google Shape;240;p3"/>
          <p:cNvSpPr/>
          <p:nvPr/>
        </p:nvSpPr>
        <p:spPr>
          <a:xfrm>
            <a:off x="0" y="457200"/>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p4"/>
          <p:cNvPicPr preferRelativeResize="0"/>
          <p:nvPr/>
        </p:nvPicPr>
        <p:blipFill rotWithShape="1">
          <a:blip r:embed="rId3">
            <a:alphaModFix/>
          </a:blip>
          <a:srcRect b="0" l="0" r="0" t="0"/>
          <a:stretch/>
        </p:blipFill>
        <p:spPr>
          <a:xfrm>
            <a:off x="335280" y="1647959"/>
            <a:ext cx="3714750" cy="1162050"/>
          </a:xfrm>
          <a:prstGeom prst="rect">
            <a:avLst/>
          </a:prstGeom>
          <a:noFill/>
          <a:ln>
            <a:noFill/>
          </a:ln>
        </p:spPr>
      </p:pic>
      <p:pic>
        <p:nvPicPr>
          <p:cNvPr id="246" name="Google Shape;246;p4"/>
          <p:cNvPicPr preferRelativeResize="0"/>
          <p:nvPr/>
        </p:nvPicPr>
        <p:blipFill rotWithShape="1">
          <a:blip r:embed="rId4">
            <a:alphaModFix/>
          </a:blip>
          <a:srcRect b="0" l="0" r="0" t="0"/>
          <a:stretch/>
        </p:blipFill>
        <p:spPr>
          <a:xfrm>
            <a:off x="182880" y="3260482"/>
            <a:ext cx="7734300" cy="1714500"/>
          </a:xfrm>
          <a:prstGeom prst="rect">
            <a:avLst/>
          </a:prstGeom>
          <a:noFill/>
          <a:ln>
            <a:noFill/>
          </a:ln>
        </p:spPr>
      </p:pic>
      <p:sp>
        <p:nvSpPr>
          <p:cNvPr id="247" name="Google Shape;247;p4"/>
          <p:cNvSpPr/>
          <p:nvPr/>
        </p:nvSpPr>
        <p:spPr>
          <a:xfrm>
            <a:off x="182880" y="636805"/>
            <a:ext cx="11826240" cy="120032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Any non-repetitive waveform may be thus considered with a period T→ ∞, and corresponding fundamental frequency </a:t>
            </a:r>
            <a:endParaRPr/>
          </a:p>
        </p:txBody>
      </p:sp>
      <p:sp>
        <p:nvSpPr>
          <p:cNvPr id="248" name="Google Shape;248;p4"/>
          <p:cNvSpPr/>
          <p:nvPr/>
        </p:nvSpPr>
        <p:spPr>
          <a:xfrm>
            <a:off x="137160" y="2741607"/>
            <a:ext cx="11452860"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Fourier coefficients C</a:t>
            </a:r>
            <a:r>
              <a:rPr b="0" baseline="-25000" i="0" lang="en-GB" sz="3600" u="none" cap="none" strike="noStrike">
                <a:solidFill>
                  <a:srgbClr val="002060"/>
                </a:solidFill>
                <a:latin typeface="Times New Roman"/>
                <a:ea typeface="Times New Roman"/>
                <a:cs typeface="Times New Roman"/>
                <a:sym typeface="Times New Roman"/>
              </a:rPr>
              <a:t>n</a:t>
            </a:r>
            <a:r>
              <a:rPr b="0" i="0" lang="en-GB" sz="3600" u="none" cap="none" strike="noStrike">
                <a:solidFill>
                  <a:srgbClr val="002060"/>
                </a:solidFill>
                <a:latin typeface="Times New Roman"/>
                <a:ea typeface="Times New Roman"/>
                <a:cs typeface="Times New Roman"/>
                <a:sym typeface="Times New Roman"/>
              </a:rPr>
              <a:t> in symmetrical exponential series</a:t>
            </a:r>
            <a:endParaRPr b="0" i="0" sz="3600" u="none" cap="none" strike="noStrike">
              <a:solidFill>
                <a:schemeClr val="dk1"/>
              </a:solidFill>
              <a:latin typeface="Times New Roman"/>
              <a:ea typeface="Times New Roman"/>
              <a:cs typeface="Times New Roman"/>
              <a:sym typeface="Times New Roman"/>
            </a:endParaRPr>
          </a:p>
        </p:txBody>
      </p:sp>
      <p:sp>
        <p:nvSpPr>
          <p:cNvPr id="249" name="Google Shape;249;p4"/>
          <p:cNvSpPr/>
          <p:nvPr/>
        </p:nvSpPr>
        <p:spPr>
          <a:xfrm>
            <a:off x="137160" y="5124646"/>
            <a:ext cx="10035540" cy="132343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General frequency</a:t>
            </a:r>
            <a:r>
              <a:rPr b="0" i="0" lang="en-GB" sz="3600" u="none" cap="none" strike="noStrike">
                <a:solidFill>
                  <a:srgbClr val="002060"/>
                </a:solidFill>
                <a:latin typeface="Arial"/>
                <a:ea typeface="Arial"/>
                <a:cs typeface="Arial"/>
                <a:sym typeface="Arial"/>
              </a:rPr>
              <a:t> n</a:t>
            </a:r>
            <a:r>
              <a:rPr b="0" i="0" lang="en-GB" sz="3600" u="none" cap="none" strike="noStrike">
                <a:solidFill>
                  <a:srgbClr val="002060"/>
                </a:solidFill>
                <a:latin typeface="Noto Sans Symbols"/>
                <a:ea typeface="Noto Sans Symbols"/>
                <a:cs typeface="Noto Sans Symbols"/>
                <a:sym typeface="Noto Sans Symbols"/>
              </a:rPr>
              <a:t>ω</a:t>
            </a:r>
            <a:r>
              <a:rPr b="0" baseline="-25000" i="0" lang="en-GB" sz="3600" u="none" cap="none" strike="noStrike">
                <a:solidFill>
                  <a:srgbClr val="002060"/>
                </a:solidFill>
                <a:latin typeface="Arial"/>
                <a:ea typeface="Arial"/>
                <a:cs typeface="Arial"/>
                <a:sym typeface="Arial"/>
              </a:rPr>
              <a:t>o</a:t>
            </a:r>
            <a:r>
              <a:rPr b="0" i="0" lang="en-GB" sz="3600" u="none" cap="none" strike="noStrike">
                <a:solidFill>
                  <a:srgbClr val="002060"/>
                </a:solidFill>
                <a:latin typeface="Arial"/>
                <a:ea typeface="Arial"/>
                <a:cs typeface="Arial"/>
                <a:sym typeface="Arial"/>
              </a:rPr>
              <a:t> </a:t>
            </a:r>
            <a:r>
              <a:rPr b="0" i="0" lang="en-GB" sz="3600" u="none" cap="none" strike="noStrike">
                <a:solidFill>
                  <a:srgbClr val="002060"/>
                </a:solidFill>
                <a:latin typeface="Times New Roman"/>
                <a:ea typeface="Times New Roman"/>
                <a:cs typeface="Times New Roman"/>
                <a:sym typeface="Times New Roman"/>
              </a:rPr>
              <a:t>corresponds to</a:t>
            </a:r>
            <a:r>
              <a:rPr b="0" i="0" lang="en-GB" sz="3600" u="none" cap="none" strike="noStrike">
                <a:solidFill>
                  <a:srgbClr val="002060"/>
                </a:solidFill>
                <a:latin typeface="Arial"/>
                <a:ea typeface="Arial"/>
                <a:cs typeface="Arial"/>
                <a:sym typeface="Arial"/>
              </a:rPr>
              <a:t> </a:t>
            </a:r>
            <a:r>
              <a:rPr b="0" i="0" lang="en-GB" sz="4000" u="none" cap="none" strike="noStrike">
                <a:solidFill>
                  <a:srgbClr val="002060"/>
                </a:solidFill>
                <a:latin typeface="Noto Sans Symbols"/>
                <a:ea typeface="Noto Sans Symbols"/>
                <a:cs typeface="Noto Sans Symbols"/>
                <a:sym typeface="Noto Sans Symbols"/>
              </a:rPr>
              <a:t>ΣΔω</a:t>
            </a:r>
            <a:r>
              <a:rPr b="0" i="0" lang="en-GB" sz="3600" u="none" cap="none" strike="noStrike">
                <a:solidFill>
                  <a:srgbClr val="002060"/>
                </a:solidFill>
                <a:latin typeface="Arial"/>
                <a:ea typeface="Arial"/>
                <a:cs typeface="Arial"/>
                <a:sym typeface="Arial"/>
              </a:rPr>
              <a:t> </a:t>
            </a:r>
            <a:endParaRPr/>
          </a:p>
          <a:p>
            <a:pPr indent="0" lvl="0" marL="0" marR="0" rtl="0" algn="l">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or as  Δω→0, </a:t>
            </a:r>
            <a:r>
              <a:rPr b="0" i="0" lang="en-GB" sz="3600" u="none" cap="none" strike="noStrike">
                <a:solidFill>
                  <a:srgbClr val="002060"/>
                </a:solidFill>
                <a:latin typeface="Arial"/>
                <a:ea typeface="Arial"/>
                <a:cs typeface="Arial"/>
                <a:sym typeface="Arial"/>
              </a:rPr>
              <a:t> </a:t>
            </a:r>
            <a:r>
              <a:rPr b="0" i="0" lang="en-GB" sz="4000" u="none" cap="none" strike="noStrike">
                <a:solidFill>
                  <a:srgbClr val="002060"/>
                </a:solidFill>
                <a:latin typeface="Times New Roman"/>
                <a:ea typeface="Times New Roman"/>
                <a:cs typeface="Times New Roman"/>
                <a:sym typeface="Times New Roman"/>
              </a:rPr>
              <a:t>∫</a:t>
            </a:r>
            <a:r>
              <a:rPr b="0" i="0" lang="en-GB" sz="4000" u="none" cap="none" strike="noStrike">
                <a:solidFill>
                  <a:srgbClr val="002060"/>
                </a:solidFill>
                <a:latin typeface="Arial"/>
                <a:ea typeface="Arial"/>
                <a:cs typeface="Arial"/>
                <a:sym typeface="Arial"/>
              </a:rPr>
              <a:t>d</a:t>
            </a:r>
            <a:r>
              <a:rPr b="0" i="0" lang="en-GB" sz="4000" u="none" cap="none" strike="noStrike">
                <a:solidFill>
                  <a:srgbClr val="002060"/>
                </a:solidFill>
                <a:latin typeface="Noto Sans Symbols"/>
                <a:ea typeface="Noto Sans Symbols"/>
                <a:cs typeface="Noto Sans Symbols"/>
                <a:sym typeface="Noto Sans Symbols"/>
              </a:rPr>
              <a:t>ω</a:t>
            </a:r>
            <a:r>
              <a:rPr b="0" i="0" lang="en-GB" sz="4000" u="none" cap="none" strike="noStrike">
                <a:solidFill>
                  <a:srgbClr val="002060"/>
                </a:solidFill>
                <a:latin typeface="Arial"/>
                <a:ea typeface="Arial"/>
                <a:cs typeface="Arial"/>
                <a:sym typeface="Arial"/>
              </a:rPr>
              <a:t> = </a:t>
            </a:r>
            <a:r>
              <a:rPr b="0" i="0" lang="en-GB" sz="4000" u="none" cap="none" strike="noStrike">
                <a:solidFill>
                  <a:srgbClr val="002060"/>
                </a:solidFill>
                <a:latin typeface="Noto Sans Symbols"/>
                <a:ea typeface="Noto Sans Symbols"/>
                <a:cs typeface="Noto Sans Symbols"/>
                <a:sym typeface="Noto Sans Symbols"/>
              </a:rPr>
              <a:t>ω</a:t>
            </a:r>
            <a:endParaRPr b="0" i="0" sz="3600" u="none" cap="none" strike="noStrike">
              <a:solidFill>
                <a:srgbClr val="002060"/>
              </a:solidFill>
              <a:latin typeface="Times New Roman"/>
              <a:ea typeface="Times New Roman"/>
              <a:cs typeface="Times New Roman"/>
              <a:sym typeface="Times New Roman"/>
            </a:endParaRPr>
          </a:p>
        </p:txBody>
      </p:sp>
      <p:sp>
        <p:nvSpPr>
          <p:cNvPr id="250" name="Google Shape;250;p4"/>
          <p:cNvSpPr/>
          <p:nvPr/>
        </p:nvSpPr>
        <p:spPr>
          <a:xfrm>
            <a:off x="182880" y="4609876"/>
            <a:ext cx="1140714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Frequencies involved are no longer discrete but continuous.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p5"/>
          <p:cNvPicPr preferRelativeResize="0"/>
          <p:nvPr/>
        </p:nvPicPr>
        <p:blipFill rotWithShape="1">
          <a:blip r:embed="rId3">
            <a:alphaModFix/>
          </a:blip>
          <a:srcRect b="0" l="0" r="0" t="0"/>
          <a:stretch/>
        </p:blipFill>
        <p:spPr>
          <a:xfrm>
            <a:off x="949325" y="3473450"/>
            <a:ext cx="4286250" cy="1276350"/>
          </a:xfrm>
          <a:prstGeom prst="rect">
            <a:avLst/>
          </a:prstGeom>
          <a:noFill/>
          <a:ln>
            <a:noFill/>
          </a:ln>
        </p:spPr>
      </p:pic>
      <p:pic>
        <p:nvPicPr>
          <p:cNvPr id="256" name="Google Shape;256;p5"/>
          <p:cNvPicPr preferRelativeResize="0"/>
          <p:nvPr/>
        </p:nvPicPr>
        <p:blipFill rotWithShape="1">
          <a:blip r:embed="rId4">
            <a:alphaModFix/>
          </a:blip>
          <a:srcRect b="0" l="0" r="0" t="0"/>
          <a:stretch/>
        </p:blipFill>
        <p:spPr>
          <a:xfrm>
            <a:off x="434023" y="5251758"/>
            <a:ext cx="4819650" cy="1333500"/>
          </a:xfrm>
          <a:prstGeom prst="rect">
            <a:avLst/>
          </a:prstGeom>
          <a:noFill/>
          <a:ln>
            <a:noFill/>
          </a:ln>
        </p:spPr>
      </p:pic>
      <p:sp>
        <p:nvSpPr>
          <p:cNvPr id="257" name="Google Shape;257;p5"/>
          <p:cNvSpPr/>
          <p:nvPr/>
        </p:nvSpPr>
        <p:spPr>
          <a:xfrm>
            <a:off x="392271" y="595194"/>
            <a:ext cx="11407457" cy="286232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For non-repetitive functions, following can be written.</a:t>
            </a:r>
            <a:endParaRPr b="0" i="0" sz="3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2060"/>
              </a:buClr>
              <a:buSzPts val="3600"/>
              <a:buFont typeface="Arial"/>
              <a:buNone/>
            </a:pPr>
            <a:r>
              <a:rPr b="0" i="1" lang="en-GB" sz="3600" u="none" cap="none" strike="noStrike">
                <a:solidFill>
                  <a:srgbClr val="002060"/>
                </a:solidFill>
                <a:latin typeface="Arial"/>
                <a:ea typeface="Arial"/>
                <a:cs typeface="Arial"/>
                <a:sym typeface="Arial"/>
              </a:rPr>
              <a:t>	T 	</a:t>
            </a:r>
            <a:r>
              <a:rPr b="0" i="1" lang="en-GB" sz="3600" u="none" cap="none" strike="noStrike">
                <a:solidFill>
                  <a:srgbClr val="002060"/>
                </a:solidFill>
                <a:latin typeface="Times New Roman"/>
                <a:ea typeface="Times New Roman"/>
                <a:cs typeface="Times New Roman"/>
                <a:sym typeface="Times New Roman"/>
              </a:rPr>
              <a:t>→</a:t>
            </a:r>
            <a:r>
              <a:rPr b="0" i="1" lang="en-GB" sz="3600" u="none" cap="none" strike="noStrike">
                <a:solidFill>
                  <a:srgbClr val="002060"/>
                </a:solidFill>
                <a:latin typeface="Arial"/>
                <a:ea typeface="Arial"/>
                <a:cs typeface="Arial"/>
                <a:sym typeface="Arial"/>
              </a:rPr>
              <a:t>	 </a:t>
            </a:r>
            <a:r>
              <a:rPr b="0" i="1" lang="en-GB" sz="3600" u="none" cap="none" strike="noStrike">
                <a:solidFill>
                  <a:srgbClr val="002060"/>
                </a:solidFill>
                <a:latin typeface="Times New Roman"/>
                <a:ea typeface="Times New Roman"/>
                <a:cs typeface="Times New Roman"/>
                <a:sym typeface="Times New Roman"/>
              </a:rPr>
              <a:t>∞</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2060"/>
              </a:buClr>
              <a:buSzPts val="3600"/>
              <a:buFont typeface="Times New Roman"/>
              <a:buNone/>
            </a:pPr>
            <a:r>
              <a:rPr b="0" i="1" lang="en-GB" sz="3600" u="none" cap="none" strike="noStrike">
                <a:solidFill>
                  <a:srgbClr val="002060"/>
                </a:solidFill>
                <a:latin typeface="Times New Roman"/>
                <a:ea typeface="Times New Roman"/>
                <a:cs typeface="Times New Roman"/>
                <a:sym typeface="Times New Roman"/>
              </a:rPr>
              <a:t>		</a:t>
            </a:r>
            <a:r>
              <a:rPr b="0" i="1" lang="en-GB" sz="3600" u="none" cap="none" strike="noStrike">
                <a:solidFill>
                  <a:srgbClr val="002060"/>
                </a:solidFill>
                <a:latin typeface="Noto Sans Symbols"/>
                <a:ea typeface="Noto Sans Symbols"/>
                <a:cs typeface="Noto Sans Symbols"/>
                <a:sym typeface="Noto Sans Symbols"/>
              </a:rPr>
              <a:t>ω</a:t>
            </a:r>
            <a:r>
              <a:rPr b="0" baseline="-25000" i="1" lang="en-GB" sz="3600" u="none" cap="none" strike="noStrike">
                <a:solidFill>
                  <a:srgbClr val="002060"/>
                </a:solidFill>
                <a:latin typeface="Arial"/>
                <a:ea typeface="Arial"/>
                <a:cs typeface="Arial"/>
                <a:sym typeface="Arial"/>
              </a:rPr>
              <a:t>o </a:t>
            </a:r>
            <a:r>
              <a:rPr b="0" baseline="-25000" i="1" lang="en-GB" sz="3600" u="none" cap="none" strike="noStrike">
                <a:solidFill>
                  <a:srgbClr val="002060"/>
                </a:solidFill>
                <a:latin typeface="Times New Roman"/>
                <a:ea typeface="Times New Roman"/>
                <a:cs typeface="Times New Roman"/>
                <a:sym typeface="Times New Roman"/>
              </a:rPr>
              <a:t>	</a:t>
            </a:r>
            <a:r>
              <a:rPr b="0" i="1" lang="en-GB" sz="3600" u="none" cap="none" strike="noStrike">
                <a:solidFill>
                  <a:srgbClr val="002060"/>
                </a:solidFill>
                <a:latin typeface="Times New Roman"/>
                <a:ea typeface="Times New Roman"/>
                <a:cs typeface="Times New Roman"/>
                <a:sym typeface="Times New Roman"/>
              </a:rPr>
              <a:t>→</a:t>
            </a:r>
            <a:r>
              <a:rPr b="0" i="1" lang="en-GB" sz="3600" u="none" cap="none" strike="noStrike">
                <a:solidFill>
                  <a:srgbClr val="002060"/>
                </a:solidFill>
                <a:latin typeface="Arial"/>
                <a:ea typeface="Arial"/>
                <a:cs typeface="Arial"/>
                <a:sym typeface="Arial"/>
              </a:rPr>
              <a:t>	 </a:t>
            </a:r>
            <a:r>
              <a:rPr b="0" i="1" lang="en-GB" sz="3600" u="none" cap="none" strike="noStrike">
                <a:solidFill>
                  <a:srgbClr val="002060"/>
                </a:solidFill>
                <a:latin typeface="Times New Roman"/>
                <a:ea typeface="Times New Roman"/>
                <a:cs typeface="Times New Roman"/>
                <a:sym typeface="Times New Roman"/>
              </a:rPr>
              <a:t>d</a:t>
            </a:r>
            <a:r>
              <a:rPr b="0" i="1" lang="en-GB" sz="3600" u="none" cap="none" strike="noStrike">
                <a:solidFill>
                  <a:srgbClr val="002060"/>
                </a:solidFill>
                <a:latin typeface="Noto Sans Symbols"/>
                <a:ea typeface="Noto Sans Symbols"/>
                <a:cs typeface="Noto Sans Symbols"/>
                <a:sym typeface="Noto Sans Symbols"/>
              </a:rPr>
              <a:t>ω</a:t>
            </a:r>
            <a:endParaRPr b="0" i="0" sz="3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2060"/>
              </a:buClr>
              <a:buSzPts val="3600"/>
              <a:buFont typeface="Noto Sans Symbols"/>
              <a:buNone/>
            </a:pPr>
            <a:r>
              <a:rPr b="0" i="1" lang="en-GB" sz="3600" u="none" cap="none" strike="noStrike">
                <a:solidFill>
                  <a:srgbClr val="002060"/>
                </a:solidFill>
                <a:latin typeface="Noto Sans Symbols"/>
                <a:ea typeface="Noto Sans Symbols"/>
                <a:cs typeface="Noto Sans Symbols"/>
                <a:sym typeface="Noto Sans Symbols"/>
              </a:rPr>
              <a:t>		</a:t>
            </a:r>
            <a:r>
              <a:rPr b="0" i="1" lang="en-GB" sz="3600" u="none" cap="none" strike="noStrike">
                <a:solidFill>
                  <a:srgbClr val="002060"/>
                </a:solidFill>
                <a:latin typeface="Arial"/>
                <a:ea typeface="Arial"/>
                <a:cs typeface="Arial"/>
                <a:sym typeface="Arial"/>
              </a:rPr>
              <a:t>C</a:t>
            </a:r>
            <a:r>
              <a:rPr b="0" baseline="-25000" i="1" lang="en-GB" sz="3600" u="none" cap="none" strike="noStrike">
                <a:solidFill>
                  <a:srgbClr val="002060"/>
                </a:solidFill>
                <a:latin typeface="Times New Roman"/>
                <a:ea typeface="Times New Roman"/>
                <a:cs typeface="Times New Roman"/>
                <a:sym typeface="Times New Roman"/>
              </a:rPr>
              <a:t>n</a:t>
            </a:r>
            <a:r>
              <a:rPr b="0" i="1" lang="en-GB" sz="3600" u="none" cap="none" strike="noStrike">
                <a:solidFill>
                  <a:srgbClr val="002060"/>
                </a:solidFill>
                <a:latin typeface="Times New Roman"/>
                <a:ea typeface="Times New Roman"/>
                <a:cs typeface="Times New Roman"/>
                <a:sym typeface="Times New Roman"/>
              </a:rPr>
              <a:t>	→</a:t>
            </a:r>
            <a:r>
              <a:rPr b="0" i="1" lang="en-GB" sz="3600" u="none" cap="none" strike="noStrike">
                <a:solidFill>
                  <a:srgbClr val="002060"/>
                </a:solidFill>
                <a:latin typeface="Arial"/>
                <a:ea typeface="Arial"/>
                <a:cs typeface="Arial"/>
                <a:sym typeface="Arial"/>
              </a:rPr>
              <a:t>	 </a:t>
            </a:r>
            <a:r>
              <a:rPr b="0" i="1" lang="en-GB" sz="3600" u="none" cap="none" strike="noStrike">
                <a:solidFill>
                  <a:srgbClr val="002060"/>
                </a:solidFill>
                <a:latin typeface="Times New Roman"/>
                <a:ea typeface="Times New Roman"/>
                <a:cs typeface="Times New Roman"/>
                <a:sym typeface="Times New Roman"/>
              </a:rPr>
              <a:t>dC</a:t>
            </a:r>
            <a:endParaRPr b="0" i="0" sz="3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2060"/>
              </a:buClr>
              <a:buSzPts val="3600"/>
              <a:buFont typeface="Times New Roman"/>
              <a:buNone/>
            </a:pPr>
            <a:r>
              <a:rPr b="0" i="1" lang="en-GB" sz="3600" u="none" cap="none" strike="noStrike">
                <a:solidFill>
                  <a:srgbClr val="002060"/>
                </a:solidFill>
                <a:latin typeface="Times New Roman"/>
                <a:ea typeface="Times New Roman"/>
                <a:cs typeface="Times New Roman"/>
                <a:sym typeface="Times New Roman"/>
              </a:rPr>
              <a:t>		n</a:t>
            </a:r>
            <a:r>
              <a:rPr b="0" i="1" lang="en-GB" sz="3600" u="none" cap="none" strike="noStrike">
                <a:solidFill>
                  <a:srgbClr val="002060"/>
                </a:solidFill>
                <a:latin typeface="Noto Sans Symbols"/>
                <a:ea typeface="Noto Sans Symbols"/>
                <a:cs typeface="Noto Sans Symbols"/>
                <a:sym typeface="Noto Sans Symbols"/>
              </a:rPr>
              <a:t>ω</a:t>
            </a:r>
            <a:r>
              <a:rPr b="0" baseline="-25000" i="1" lang="en-GB" sz="3600" u="none" cap="none" strike="noStrike">
                <a:solidFill>
                  <a:srgbClr val="002060"/>
                </a:solidFill>
                <a:latin typeface="Arial"/>
                <a:ea typeface="Arial"/>
                <a:cs typeface="Arial"/>
                <a:sym typeface="Arial"/>
              </a:rPr>
              <a:t>o </a:t>
            </a:r>
            <a:r>
              <a:rPr b="0" i="1" lang="en-GB" sz="3600" u="none" cap="none" strike="noStrike">
                <a:solidFill>
                  <a:srgbClr val="002060"/>
                </a:solidFill>
                <a:latin typeface="Times New Roman"/>
                <a:ea typeface="Times New Roman"/>
                <a:cs typeface="Times New Roman"/>
                <a:sym typeface="Times New Roman"/>
              </a:rPr>
              <a:t>→</a:t>
            </a:r>
            <a:r>
              <a:rPr i="1" lang="en-GB" sz="3600">
                <a:solidFill>
                  <a:srgbClr val="002060"/>
                </a:solidFill>
                <a:latin typeface="Times New Roman"/>
                <a:ea typeface="Times New Roman"/>
                <a:cs typeface="Times New Roman"/>
                <a:sym typeface="Times New Roman"/>
              </a:rPr>
              <a:t> 	</a:t>
            </a:r>
            <a:r>
              <a:rPr b="0" i="1" lang="en-GB" sz="3600" u="none" cap="none" strike="noStrike">
                <a:solidFill>
                  <a:srgbClr val="002060"/>
                </a:solidFill>
                <a:latin typeface="Noto Sans Symbols"/>
                <a:ea typeface="Noto Sans Symbols"/>
                <a:cs typeface="Noto Sans Symbols"/>
                <a:sym typeface="Noto Sans Symbols"/>
              </a:rPr>
              <a:t>ω</a:t>
            </a:r>
            <a:endParaRPr b="0" i="0" sz="3600" u="none" cap="none" strike="noStrike">
              <a:solidFill>
                <a:schemeClr val="dk1"/>
              </a:solidFill>
              <a:latin typeface="Arial"/>
              <a:ea typeface="Arial"/>
              <a:cs typeface="Arial"/>
              <a:sym typeface="Arial"/>
            </a:endParaRPr>
          </a:p>
        </p:txBody>
      </p:sp>
      <p:sp>
        <p:nvSpPr>
          <p:cNvPr id="258" name="Google Shape;258;p5"/>
          <p:cNvSpPr/>
          <p:nvPr/>
        </p:nvSpPr>
        <p:spPr>
          <a:xfrm>
            <a:off x="182880" y="4689396"/>
            <a:ext cx="11616848"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Expression for complex Fourier Coefficient C</a:t>
            </a:r>
            <a:r>
              <a:rPr b="0" baseline="-25000" i="0" lang="en-GB" sz="3600" u="none" cap="none" strike="noStrike">
                <a:solidFill>
                  <a:srgbClr val="002060"/>
                </a:solidFill>
                <a:latin typeface="Times New Roman"/>
                <a:ea typeface="Times New Roman"/>
                <a:cs typeface="Times New Roman"/>
                <a:sym typeface="Times New Roman"/>
              </a:rPr>
              <a:t>n</a:t>
            </a:r>
            <a:r>
              <a:rPr b="0" i="0" lang="en-GB" sz="3600" u="none" cap="none" strike="noStrike">
                <a:solidFill>
                  <a:srgbClr val="002060"/>
                </a:solidFill>
                <a:latin typeface="Times New Roman"/>
                <a:ea typeface="Times New Roman"/>
                <a:cs typeface="Times New Roman"/>
                <a:sym typeface="Times New Roman"/>
              </a:rPr>
              <a:t> becomes</a:t>
            </a:r>
            <a:endParaRPr b="0" i="0" sz="1100" u="none" cap="none" strike="noStrike">
              <a:solidFill>
                <a:schemeClr val="dk1"/>
              </a:solidFill>
              <a:latin typeface="Times New Roman"/>
              <a:ea typeface="Times New Roman"/>
              <a:cs typeface="Times New Roman"/>
              <a:sym typeface="Times New Roman"/>
            </a:endParaRPr>
          </a:p>
        </p:txBody>
      </p:sp>
      <p:grpSp>
        <p:nvGrpSpPr>
          <p:cNvPr id="259" name="Google Shape;259;p5"/>
          <p:cNvGrpSpPr/>
          <p:nvPr/>
        </p:nvGrpSpPr>
        <p:grpSpPr>
          <a:xfrm>
            <a:off x="5096573" y="1553915"/>
            <a:ext cx="6842668" cy="1920240"/>
            <a:chOff x="2854" y="10692"/>
            <a:chExt cx="7583" cy="1526"/>
          </a:xfrm>
        </p:grpSpPr>
        <p:cxnSp>
          <p:nvCxnSpPr>
            <p:cNvPr id="260" name="Google Shape;260;p5"/>
            <p:cNvCxnSpPr/>
            <p:nvPr/>
          </p:nvCxnSpPr>
          <p:spPr>
            <a:xfrm>
              <a:off x="4538" y="10692"/>
              <a:ext cx="0" cy="1346"/>
            </a:xfrm>
            <a:prstGeom prst="straightConnector1">
              <a:avLst/>
            </a:prstGeom>
            <a:noFill/>
            <a:ln cap="flat" cmpd="sng" w="28575">
              <a:solidFill>
                <a:srgbClr val="002060"/>
              </a:solidFill>
              <a:prstDash val="solid"/>
              <a:round/>
              <a:headEnd len="med" w="med" type="stealth"/>
              <a:tailEnd len="med" w="med" type="none"/>
            </a:ln>
          </p:spPr>
        </p:cxnSp>
        <p:cxnSp>
          <p:nvCxnSpPr>
            <p:cNvPr id="261" name="Google Shape;261;p5"/>
            <p:cNvCxnSpPr/>
            <p:nvPr/>
          </p:nvCxnSpPr>
          <p:spPr>
            <a:xfrm>
              <a:off x="2854" y="11858"/>
              <a:ext cx="7499" cy="0"/>
            </a:xfrm>
            <a:prstGeom prst="straightConnector1">
              <a:avLst/>
            </a:prstGeom>
            <a:noFill/>
            <a:ln cap="flat" cmpd="sng" w="28575">
              <a:solidFill>
                <a:srgbClr val="002060"/>
              </a:solidFill>
              <a:prstDash val="solid"/>
              <a:round/>
              <a:headEnd len="med" w="med" type="none"/>
              <a:tailEnd len="med" w="med" type="stealth"/>
            </a:ln>
          </p:spPr>
        </p:cxnSp>
        <p:sp>
          <p:nvSpPr>
            <p:cNvPr id="262" name="Google Shape;262;p5"/>
            <p:cNvSpPr/>
            <p:nvPr/>
          </p:nvSpPr>
          <p:spPr>
            <a:xfrm>
              <a:off x="4941" y="10715"/>
              <a:ext cx="858" cy="1140"/>
            </a:xfrm>
            <a:custGeom>
              <a:rect b="b" l="l" r="r" t="t"/>
              <a:pathLst>
                <a:path extrusionOk="0" h="1140" w="1320">
                  <a:moveTo>
                    <a:pt x="0" y="1140"/>
                  </a:moveTo>
                  <a:cubicBezTo>
                    <a:pt x="130" y="1095"/>
                    <a:pt x="260" y="1050"/>
                    <a:pt x="360" y="960"/>
                  </a:cubicBezTo>
                  <a:cubicBezTo>
                    <a:pt x="460" y="870"/>
                    <a:pt x="560" y="750"/>
                    <a:pt x="600" y="600"/>
                  </a:cubicBezTo>
                  <a:cubicBezTo>
                    <a:pt x="640" y="450"/>
                    <a:pt x="580" y="120"/>
                    <a:pt x="600" y="60"/>
                  </a:cubicBezTo>
                  <a:cubicBezTo>
                    <a:pt x="620" y="0"/>
                    <a:pt x="669" y="184"/>
                    <a:pt x="720" y="240"/>
                  </a:cubicBezTo>
                  <a:cubicBezTo>
                    <a:pt x="771" y="296"/>
                    <a:pt x="867" y="337"/>
                    <a:pt x="907" y="397"/>
                  </a:cubicBezTo>
                  <a:cubicBezTo>
                    <a:pt x="947" y="457"/>
                    <a:pt x="951" y="506"/>
                    <a:pt x="960" y="600"/>
                  </a:cubicBezTo>
                  <a:cubicBezTo>
                    <a:pt x="969" y="694"/>
                    <a:pt x="900" y="870"/>
                    <a:pt x="960" y="960"/>
                  </a:cubicBezTo>
                  <a:cubicBezTo>
                    <a:pt x="1020" y="1050"/>
                    <a:pt x="1170" y="1095"/>
                    <a:pt x="1320" y="1140"/>
                  </a:cubicBezTo>
                </a:path>
              </a:pathLst>
            </a:custGeom>
            <a:noFill/>
            <a:ln cap="flat" cmpd="sng" w="28575">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63" name="Google Shape;263;p5"/>
            <p:cNvCxnSpPr/>
            <p:nvPr/>
          </p:nvCxnSpPr>
          <p:spPr>
            <a:xfrm rot="10800000">
              <a:off x="2905" y="11840"/>
              <a:ext cx="2027" cy="0"/>
            </a:xfrm>
            <a:prstGeom prst="straightConnector1">
              <a:avLst/>
            </a:prstGeom>
            <a:noFill/>
            <a:ln cap="flat" cmpd="sng" w="28575">
              <a:solidFill>
                <a:srgbClr val="C00000"/>
              </a:solidFill>
              <a:prstDash val="solid"/>
              <a:round/>
              <a:headEnd len="med" w="med" type="none"/>
              <a:tailEnd len="med" w="med" type="none"/>
            </a:ln>
          </p:spPr>
        </p:cxnSp>
        <p:sp>
          <p:nvSpPr>
            <p:cNvPr id="264" name="Google Shape;264;p5"/>
            <p:cNvSpPr txBox="1"/>
            <p:nvPr/>
          </p:nvSpPr>
          <p:spPr>
            <a:xfrm>
              <a:off x="3873" y="10736"/>
              <a:ext cx="723"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f(t)</a:t>
              </a:r>
              <a:endParaRPr sz="1400">
                <a:solidFill>
                  <a:schemeClr val="dk1"/>
                </a:solidFill>
                <a:latin typeface="Times New Roman"/>
                <a:ea typeface="Times New Roman"/>
                <a:cs typeface="Times New Roman"/>
                <a:sym typeface="Times New Roman"/>
              </a:endParaRPr>
            </a:p>
          </p:txBody>
        </p:sp>
        <p:sp>
          <p:nvSpPr>
            <p:cNvPr id="265" name="Google Shape;265;p5"/>
            <p:cNvSpPr txBox="1"/>
            <p:nvPr/>
          </p:nvSpPr>
          <p:spPr>
            <a:xfrm>
              <a:off x="9957" y="11858"/>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6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cxnSp>
          <p:nvCxnSpPr>
            <p:cNvPr id="266" name="Google Shape;266;p5"/>
            <p:cNvCxnSpPr/>
            <p:nvPr/>
          </p:nvCxnSpPr>
          <p:spPr>
            <a:xfrm rot="10800000">
              <a:off x="5782" y="11841"/>
              <a:ext cx="4516" cy="0"/>
            </a:xfrm>
            <a:prstGeom prst="straightConnector1">
              <a:avLst/>
            </a:prstGeom>
            <a:noFill/>
            <a:ln cap="flat" cmpd="sng" w="28575">
              <a:solidFill>
                <a:srgbClr val="C00000"/>
              </a:solidFill>
              <a:prstDash val="solid"/>
              <a:round/>
              <a:headEnd len="med" w="med" type="none"/>
              <a:tailEnd len="med" w="med" type="none"/>
            </a:ln>
          </p:spPr>
        </p:cxn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id="271" name="Google Shape;271;p6"/>
          <p:cNvPicPr preferRelativeResize="0"/>
          <p:nvPr/>
        </p:nvPicPr>
        <p:blipFill rotWithShape="1">
          <a:blip r:embed="rId3">
            <a:alphaModFix/>
          </a:blip>
          <a:srcRect b="0" l="0" r="0" t="0"/>
          <a:stretch/>
        </p:blipFill>
        <p:spPr>
          <a:xfrm>
            <a:off x="164122" y="808890"/>
            <a:ext cx="5695950" cy="1314450"/>
          </a:xfrm>
          <a:prstGeom prst="rect">
            <a:avLst/>
          </a:prstGeom>
          <a:noFill/>
          <a:ln>
            <a:noFill/>
          </a:ln>
        </p:spPr>
      </p:pic>
      <p:pic>
        <p:nvPicPr>
          <p:cNvPr id="272" name="Google Shape;272;p6"/>
          <p:cNvPicPr preferRelativeResize="0"/>
          <p:nvPr/>
        </p:nvPicPr>
        <p:blipFill rotWithShape="1">
          <a:blip r:embed="rId4">
            <a:alphaModFix/>
          </a:blip>
          <a:srcRect b="0" l="0" r="0" t="0"/>
          <a:stretch/>
        </p:blipFill>
        <p:spPr>
          <a:xfrm>
            <a:off x="257906" y="2217124"/>
            <a:ext cx="6191250" cy="1314450"/>
          </a:xfrm>
          <a:prstGeom prst="rect">
            <a:avLst/>
          </a:prstGeom>
          <a:noFill/>
          <a:ln>
            <a:noFill/>
          </a:ln>
        </p:spPr>
      </p:pic>
      <p:pic>
        <p:nvPicPr>
          <p:cNvPr id="273" name="Google Shape;273;p6"/>
          <p:cNvPicPr preferRelativeResize="0"/>
          <p:nvPr/>
        </p:nvPicPr>
        <p:blipFill rotWithShape="1">
          <a:blip r:embed="rId5">
            <a:alphaModFix/>
          </a:blip>
          <a:srcRect b="0" l="0" r="0" t="0"/>
          <a:stretch/>
        </p:blipFill>
        <p:spPr>
          <a:xfrm>
            <a:off x="257906" y="3660530"/>
            <a:ext cx="4953000" cy="1466850"/>
          </a:xfrm>
          <a:prstGeom prst="rect">
            <a:avLst/>
          </a:prstGeom>
          <a:noFill/>
          <a:ln>
            <a:noFill/>
          </a:ln>
        </p:spPr>
      </p:pic>
      <p:sp>
        <p:nvSpPr>
          <p:cNvPr id="274" name="Google Shape;274;p6"/>
          <p:cNvSpPr/>
          <p:nvPr/>
        </p:nvSpPr>
        <p:spPr>
          <a:xfrm>
            <a:off x="70338" y="452804"/>
            <a:ext cx="7877908" cy="58477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Dividing both sides by</a:t>
            </a:r>
            <a:r>
              <a:rPr b="0" i="0" lang="en-GB" sz="3200" u="none" cap="none" strike="noStrike">
                <a:solidFill>
                  <a:srgbClr val="002060"/>
                </a:solidFill>
                <a:latin typeface="Arial"/>
                <a:ea typeface="Arial"/>
                <a:cs typeface="Arial"/>
                <a:sym typeface="Arial"/>
              </a:rPr>
              <a:t> d</a:t>
            </a:r>
            <a:r>
              <a:rPr b="0" i="0" lang="en-GB" sz="3200" u="none" cap="none" strike="noStrike">
                <a:solidFill>
                  <a:srgbClr val="002060"/>
                </a:solidFill>
                <a:latin typeface="Noto Sans Symbols"/>
                <a:ea typeface="Noto Sans Symbols"/>
                <a:cs typeface="Noto Sans Symbols"/>
                <a:sym typeface="Noto Sans Symbols"/>
              </a:rPr>
              <a:t>ω</a:t>
            </a:r>
            <a:r>
              <a:rPr b="0" i="0" lang="en-GB" sz="3200" u="none" cap="none" strike="noStrike">
                <a:solidFill>
                  <a:srgbClr val="002060"/>
                </a:solidFill>
                <a:latin typeface="Arial"/>
                <a:ea typeface="Arial"/>
                <a:cs typeface="Arial"/>
                <a:sym typeface="Arial"/>
              </a:rPr>
              <a:t>, </a:t>
            </a:r>
            <a:endParaRPr b="0" i="0" sz="1050" u="none" cap="none" strike="noStrike">
              <a:solidFill>
                <a:schemeClr val="dk1"/>
              </a:solidFill>
              <a:latin typeface="Arial"/>
              <a:ea typeface="Arial"/>
              <a:cs typeface="Arial"/>
              <a:sym typeface="Arial"/>
            </a:endParaRPr>
          </a:p>
        </p:txBody>
      </p:sp>
      <p:sp>
        <p:nvSpPr>
          <p:cNvPr id="275" name="Google Shape;275;p6"/>
          <p:cNvSpPr/>
          <p:nvPr/>
        </p:nvSpPr>
        <p:spPr>
          <a:xfrm>
            <a:off x="117231" y="1876326"/>
            <a:ext cx="8487508"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The original function f(t) is now given as</a:t>
            </a:r>
            <a:r>
              <a:rPr b="0" i="0" lang="en-GB" sz="3600" u="none" cap="none" strike="noStrike">
                <a:solidFill>
                  <a:srgbClr val="002060"/>
                </a:solidFill>
                <a:latin typeface="Times New Roman"/>
                <a:ea typeface="Times New Roman"/>
                <a:cs typeface="Times New Roman"/>
                <a:sym typeface="Times New Roman"/>
              </a:rPr>
              <a:t>	</a:t>
            </a:r>
            <a:endParaRPr b="0" i="0" sz="1800" u="none" cap="none" strike="noStrike">
              <a:solidFill>
                <a:schemeClr val="dk1"/>
              </a:solidFill>
              <a:latin typeface="Times New Roman"/>
              <a:ea typeface="Times New Roman"/>
              <a:cs typeface="Times New Roman"/>
              <a:sym typeface="Times New Roman"/>
            </a:endParaRPr>
          </a:p>
        </p:txBody>
      </p:sp>
      <p:sp>
        <p:nvSpPr>
          <p:cNvPr id="276" name="Google Shape;276;p6"/>
          <p:cNvSpPr/>
          <p:nvPr/>
        </p:nvSpPr>
        <p:spPr>
          <a:xfrm>
            <a:off x="177602" y="3270477"/>
            <a:ext cx="10480431"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from the definition, </a:t>
            </a:r>
            <a:r>
              <a:rPr b="0" i="0" lang="en-GB" sz="3600" u="none" cap="none" strike="noStrike">
                <a:solidFill>
                  <a:srgbClr val="002060"/>
                </a:solidFill>
                <a:latin typeface="Arial"/>
                <a:ea typeface="Arial"/>
                <a:cs typeface="Arial"/>
                <a:sym typeface="Arial"/>
              </a:rPr>
              <a:t>dC = F(</a:t>
            </a:r>
            <a:r>
              <a:rPr b="0" i="0" lang="en-GB" sz="3600" u="none" cap="none" strike="noStrike">
                <a:solidFill>
                  <a:srgbClr val="002060"/>
                </a:solidFill>
                <a:latin typeface="Noto Sans Symbols"/>
                <a:ea typeface="Noto Sans Symbols"/>
                <a:cs typeface="Noto Sans Symbols"/>
                <a:sym typeface="Noto Sans Symbols"/>
              </a:rPr>
              <a:t>ω</a:t>
            </a:r>
            <a:r>
              <a:rPr b="0" i="0" lang="en-GB" sz="3600" u="none" cap="none" strike="noStrike">
                <a:solidFill>
                  <a:srgbClr val="002060"/>
                </a:solidFill>
                <a:latin typeface="Arial"/>
                <a:ea typeface="Arial"/>
                <a:cs typeface="Arial"/>
                <a:sym typeface="Arial"/>
              </a:rPr>
              <a:t>).d</a:t>
            </a:r>
            <a:r>
              <a:rPr b="0" i="0" lang="en-GB" sz="3600" u="none" cap="none" strike="noStrike">
                <a:solidFill>
                  <a:srgbClr val="002060"/>
                </a:solidFill>
                <a:latin typeface="Noto Sans Symbols"/>
                <a:ea typeface="Noto Sans Symbols"/>
                <a:cs typeface="Noto Sans Symbols"/>
                <a:sym typeface="Noto Sans Symbols"/>
              </a:rPr>
              <a:t>ω</a:t>
            </a:r>
            <a:r>
              <a:rPr b="0" i="0" lang="en-GB" sz="3600" u="none" cap="none" strike="noStrike">
                <a:solidFill>
                  <a:srgbClr val="002060"/>
                </a:solidFill>
                <a:latin typeface="Arial"/>
                <a:ea typeface="Arial"/>
                <a:cs typeface="Arial"/>
                <a:sym typeface="Arial"/>
              </a:rPr>
              <a:t>, </a:t>
            </a:r>
            <a:r>
              <a:rPr b="0" i="0" lang="en-GB" sz="3600" u="none" cap="none" strike="noStrike">
                <a:solidFill>
                  <a:srgbClr val="002060"/>
                </a:solidFill>
                <a:latin typeface="Times New Roman"/>
                <a:ea typeface="Times New Roman"/>
                <a:cs typeface="Times New Roman"/>
                <a:sym typeface="Times New Roman"/>
              </a:rPr>
              <a:t>so that</a:t>
            </a:r>
            <a:r>
              <a:rPr b="0" i="0" lang="en-GB" sz="3600" u="none" cap="none" strike="noStrike">
                <a:solidFill>
                  <a:srgbClr val="002060"/>
                </a:solidFill>
                <a:latin typeface="Arial"/>
                <a:ea typeface="Arial"/>
                <a:cs typeface="Arial"/>
                <a:sym typeface="Arial"/>
              </a:rPr>
              <a:t>	</a:t>
            </a:r>
            <a:endParaRPr b="0" i="0" sz="3600" u="none" cap="none" strike="noStrike">
              <a:solidFill>
                <a:schemeClr val="dk1"/>
              </a:solidFill>
              <a:latin typeface="Arial"/>
              <a:ea typeface="Arial"/>
              <a:cs typeface="Arial"/>
              <a:sym typeface="Arial"/>
            </a:endParaRPr>
          </a:p>
        </p:txBody>
      </p:sp>
      <p:sp>
        <p:nvSpPr>
          <p:cNvPr id="277" name="Google Shape;277;p6"/>
          <p:cNvSpPr/>
          <p:nvPr/>
        </p:nvSpPr>
        <p:spPr>
          <a:xfrm>
            <a:off x="211016" y="4918431"/>
            <a:ext cx="9730154" cy="1754326"/>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Fourier Transform expression and Fourier Inverse Transform expression together are known as </a:t>
            </a:r>
            <a:r>
              <a:rPr b="1" i="0" lang="en-GB" sz="3200" u="none" cap="none" strike="noStrike">
                <a:solidFill>
                  <a:srgbClr val="C00000"/>
                </a:solidFill>
                <a:latin typeface="Times New Roman"/>
                <a:ea typeface="Times New Roman"/>
                <a:cs typeface="Times New Roman"/>
                <a:sym typeface="Times New Roman"/>
              </a:rPr>
              <a:t>Fourier Transform Pair.</a:t>
            </a:r>
            <a:r>
              <a:rPr b="0" i="0" lang="en-GB" sz="1100" u="none" cap="none" strike="noStrike">
                <a:solidFill>
                  <a:srgbClr val="C00000"/>
                </a:solidFill>
                <a:latin typeface="Times New Roman"/>
                <a:ea typeface="Times New Roman"/>
                <a:cs typeface="Times New Roman"/>
                <a:sym typeface="Times New Roman"/>
              </a:rPr>
              <a:t> </a:t>
            </a:r>
            <a:endParaRPr b="0" i="0" sz="1800" u="none" cap="none" strike="noStrike">
              <a:solidFill>
                <a:srgbClr val="C00000"/>
              </a:solidFill>
              <a:latin typeface="Times New Roman"/>
              <a:ea typeface="Times New Roman"/>
              <a:cs typeface="Times New Roman"/>
              <a:sym typeface="Times New Roman"/>
            </a:endParaRPr>
          </a:p>
        </p:txBody>
      </p:sp>
      <p:sp>
        <p:nvSpPr>
          <p:cNvPr id="278" name="Google Shape;278;p6"/>
          <p:cNvSpPr/>
          <p:nvPr/>
        </p:nvSpPr>
        <p:spPr>
          <a:xfrm>
            <a:off x="-350669" y="7716322"/>
            <a:ext cx="304448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800">
                <a:solidFill>
                  <a:srgbClr val="002060"/>
                </a:solidFill>
                <a:latin typeface="Arial"/>
                <a:ea typeface="Arial"/>
                <a:cs typeface="Arial"/>
                <a:sym typeface="Arial"/>
              </a:rPr>
              <a:t>Fourier Inverse Transform</a:t>
            </a:r>
            <a:endParaRPr sz="2000">
              <a:solidFill>
                <a:srgbClr val="002060"/>
              </a:solidFill>
              <a:latin typeface="Arial"/>
              <a:ea typeface="Arial"/>
              <a:cs typeface="Arial"/>
              <a:sym typeface="Arial"/>
            </a:endParaRPr>
          </a:p>
        </p:txBody>
      </p:sp>
      <p:sp>
        <p:nvSpPr>
          <p:cNvPr id="279" name="Google Shape;279;p6"/>
          <p:cNvSpPr/>
          <p:nvPr/>
        </p:nvSpPr>
        <p:spPr>
          <a:xfrm>
            <a:off x="5726665" y="4018297"/>
            <a:ext cx="590437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3600">
                <a:solidFill>
                  <a:srgbClr val="C00000"/>
                </a:solidFill>
                <a:latin typeface="Arial"/>
                <a:ea typeface="Arial"/>
                <a:cs typeface="Arial"/>
                <a:sym typeface="Arial"/>
              </a:rPr>
              <a:t>Fourier Inverse Transform</a:t>
            </a:r>
            <a:endParaRPr sz="3600">
              <a:solidFill>
                <a:srgbClr val="C00000"/>
              </a:solidFill>
              <a:latin typeface="Calibri"/>
              <a:ea typeface="Calibri"/>
              <a:cs typeface="Calibri"/>
              <a:sym typeface="Calibri"/>
            </a:endParaRPr>
          </a:p>
        </p:txBody>
      </p:sp>
      <p:sp>
        <p:nvSpPr>
          <p:cNvPr id="280" name="Google Shape;280;p6"/>
          <p:cNvSpPr/>
          <p:nvPr/>
        </p:nvSpPr>
        <p:spPr>
          <a:xfrm>
            <a:off x="6137034" y="1159216"/>
            <a:ext cx="508363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3600">
                <a:solidFill>
                  <a:srgbClr val="C00000"/>
                </a:solidFill>
                <a:latin typeface="Arial"/>
                <a:ea typeface="Arial"/>
                <a:cs typeface="Arial"/>
                <a:sym typeface="Arial"/>
              </a:rPr>
              <a:t>	</a:t>
            </a:r>
            <a:r>
              <a:rPr b="1" lang="en-GB" sz="3600">
                <a:solidFill>
                  <a:srgbClr val="C00000"/>
                </a:solidFill>
                <a:latin typeface="Arial"/>
                <a:ea typeface="Arial"/>
                <a:cs typeface="Arial"/>
                <a:sym typeface="Arial"/>
              </a:rPr>
              <a:t>Fourier Transform</a:t>
            </a:r>
            <a:endParaRPr sz="3600">
              <a:solidFill>
                <a:srgbClr val="C0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7"/>
          <p:cNvSpPr/>
          <p:nvPr/>
        </p:nvSpPr>
        <p:spPr>
          <a:xfrm>
            <a:off x="67408" y="944000"/>
            <a:ext cx="12007362" cy="147732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000"/>
              <a:buFont typeface="Arial"/>
              <a:buNone/>
            </a:pPr>
            <a:r>
              <a:rPr b="0" i="0" lang="en-GB" sz="3000" u="none" cap="none" strike="noStrike">
                <a:solidFill>
                  <a:srgbClr val="002060"/>
                </a:solidFill>
                <a:latin typeface="Arial"/>
                <a:ea typeface="Arial"/>
                <a:cs typeface="Arial"/>
                <a:sym typeface="Arial"/>
              </a:rPr>
              <a:t>If Fourier Transform is multiplied by </a:t>
            </a:r>
            <a:r>
              <a:rPr lang="en-GB" sz="3000">
                <a:solidFill>
                  <a:srgbClr val="002060"/>
                </a:solidFill>
                <a:latin typeface="Arial"/>
                <a:ea typeface="Arial"/>
                <a:cs typeface="Arial"/>
                <a:sym typeface="Arial"/>
              </a:rPr>
              <a:t>a </a:t>
            </a:r>
            <a:r>
              <a:rPr b="0" i="0" lang="en-GB" sz="3000" u="none" cap="none" strike="noStrike">
                <a:solidFill>
                  <a:srgbClr val="002060"/>
                </a:solidFill>
                <a:latin typeface="Arial"/>
                <a:ea typeface="Arial"/>
                <a:cs typeface="Arial"/>
                <a:sym typeface="Arial"/>
              </a:rPr>
              <a:t>constant and Inverse Transform divided by same constant, we get modified transform pair.</a:t>
            </a:r>
            <a:endParaRPr b="0" i="0" sz="3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2060"/>
              </a:buClr>
              <a:buSzPts val="3000"/>
              <a:buFont typeface="Arial"/>
              <a:buNone/>
            </a:pPr>
            <a:r>
              <a:rPr b="0" i="0" lang="en-GB" sz="3000" u="none" cap="none" strike="noStrike">
                <a:solidFill>
                  <a:srgbClr val="002060"/>
                </a:solidFill>
                <a:latin typeface="Arial"/>
                <a:ea typeface="Arial"/>
                <a:cs typeface="Arial"/>
                <a:sym typeface="Arial"/>
              </a:rPr>
              <a:t>Could define </a:t>
            </a:r>
            <a:r>
              <a:rPr b="1" i="0" lang="en-GB" sz="3000" u="none" cap="none" strike="noStrike">
                <a:solidFill>
                  <a:srgbClr val="002060"/>
                </a:solidFill>
                <a:latin typeface="Arial"/>
                <a:ea typeface="Arial"/>
                <a:cs typeface="Arial"/>
                <a:sym typeface="Arial"/>
              </a:rPr>
              <a:t>Symmetrical Transform pair</a:t>
            </a:r>
            <a:r>
              <a:rPr b="0" i="0" lang="en-GB" sz="3000" u="none" cap="none" strike="noStrike">
                <a:solidFill>
                  <a:srgbClr val="002060"/>
                </a:solidFill>
                <a:latin typeface="Arial"/>
                <a:ea typeface="Arial"/>
                <a:cs typeface="Arial"/>
                <a:sym typeface="Arial"/>
              </a:rPr>
              <a:t> by using a factor  </a:t>
            </a:r>
            <a:endParaRPr b="0" i="0" sz="3000" u="none" cap="none" strike="noStrike">
              <a:solidFill>
                <a:schemeClr val="dk1"/>
              </a:solidFill>
              <a:latin typeface="Arial"/>
              <a:ea typeface="Arial"/>
              <a:cs typeface="Arial"/>
              <a:sym typeface="Arial"/>
            </a:endParaRPr>
          </a:p>
        </p:txBody>
      </p:sp>
      <p:sp>
        <p:nvSpPr>
          <p:cNvPr id="286" name="Google Shape;286;p7"/>
          <p:cNvSpPr txBox="1"/>
          <p:nvPr>
            <p:ph type="title"/>
          </p:nvPr>
        </p:nvSpPr>
        <p:spPr>
          <a:xfrm>
            <a:off x="429715" y="457199"/>
            <a:ext cx="10924085" cy="5517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Times New Roman"/>
              <a:buNone/>
            </a:pPr>
            <a:r>
              <a:rPr lang="en-GB"/>
              <a:t>Symmetric Fourier Transform</a:t>
            </a:r>
            <a:endParaRPr/>
          </a:p>
        </p:txBody>
      </p:sp>
      <p:pic>
        <p:nvPicPr>
          <p:cNvPr id="287" name="Google Shape;287;p7"/>
          <p:cNvPicPr preferRelativeResize="0"/>
          <p:nvPr/>
        </p:nvPicPr>
        <p:blipFill rotWithShape="1">
          <a:blip r:embed="rId3">
            <a:alphaModFix/>
          </a:blip>
          <a:srcRect b="0" l="0" r="0" t="0"/>
          <a:stretch/>
        </p:blipFill>
        <p:spPr>
          <a:xfrm>
            <a:off x="10563959" y="1928743"/>
            <a:ext cx="876300" cy="590550"/>
          </a:xfrm>
          <a:prstGeom prst="rect">
            <a:avLst/>
          </a:prstGeom>
          <a:noFill/>
          <a:ln>
            <a:noFill/>
          </a:ln>
        </p:spPr>
      </p:pic>
      <p:pic>
        <p:nvPicPr>
          <p:cNvPr id="288" name="Google Shape;288;p7"/>
          <p:cNvPicPr preferRelativeResize="0"/>
          <p:nvPr/>
        </p:nvPicPr>
        <p:blipFill rotWithShape="1">
          <a:blip r:embed="rId4">
            <a:alphaModFix/>
          </a:blip>
          <a:srcRect b="0" l="0" r="0" t="0"/>
          <a:stretch/>
        </p:blipFill>
        <p:spPr>
          <a:xfrm>
            <a:off x="429715" y="2358682"/>
            <a:ext cx="7219950" cy="1276350"/>
          </a:xfrm>
          <a:prstGeom prst="rect">
            <a:avLst/>
          </a:prstGeom>
          <a:noFill/>
          <a:ln>
            <a:noFill/>
          </a:ln>
        </p:spPr>
      </p:pic>
      <p:pic>
        <p:nvPicPr>
          <p:cNvPr id="289" name="Google Shape;289;p7"/>
          <p:cNvPicPr preferRelativeResize="0"/>
          <p:nvPr/>
        </p:nvPicPr>
        <p:blipFill rotWithShape="1">
          <a:blip r:embed="rId5">
            <a:alphaModFix/>
          </a:blip>
          <a:srcRect b="0" l="0" r="0" t="0"/>
          <a:stretch/>
        </p:blipFill>
        <p:spPr>
          <a:xfrm>
            <a:off x="429715" y="3808277"/>
            <a:ext cx="5981700" cy="1428750"/>
          </a:xfrm>
          <a:prstGeom prst="rect">
            <a:avLst/>
          </a:prstGeom>
          <a:noFill/>
          <a:ln>
            <a:noFill/>
          </a:ln>
        </p:spPr>
      </p:pic>
      <p:sp>
        <p:nvSpPr>
          <p:cNvPr id="290" name="Google Shape;290;p7"/>
          <p:cNvSpPr/>
          <p:nvPr/>
        </p:nvSpPr>
        <p:spPr>
          <a:xfrm>
            <a:off x="114300" y="3453956"/>
            <a:ext cx="11963400"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Arial"/>
              <a:buNone/>
            </a:pPr>
            <a:r>
              <a:rPr b="0" i="0" lang="en-GB" sz="3200" u="none" cap="none" strike="noStrike">
                <a:solidFill>
                  <a:srgbClr val="002060"/>
                </a:solidFill>
                <a:latin typeface="Arial"/>
                <a:ea typeface="Arial"/>
                <a:cs typeface="Arial"/>
                <a:sym typeface="Arial"/>
              </a:rPr>
              <a:t>and corresponding</a:t>
            </a:r>
            <a:r>
              <a:rPr b="0" i="0" lang="en-GB" sz="3600" u="none" cap="none" strike="noStrike">
                <a:solidFill>
                  <a:srgbClr val="002060"/>
                </a:solidFill>
                <a:latin typeface="Arial"/>
                <a:ea typeface="Arial"/>
                <a:cs typeface="Arial"/>
                <a:sym typeface="Arial"/>
              </a:rPr>
              <a:t> </a:t>
            </a:r>
            <a:r>
              <a:rPr b="1" i="0" lang="en-GB" sz="3200" u="none" cap="none" strike="noStrike">
                <a:solidFill>
                  <a:srgbClr val="002060"/>
                </a:solidFill>
                <a:latin typeface="Arial"/>
                <a:ea typeface="Arial"/>
                <a:cs typeface="Arial"/>
                <a:sym typeface="Arial"/>
              </a:rPr>
              <a:t>Symmetric Inverse Transform</a:t>
            </a:r>
            <a:endParaRPr b="0" i="0" sz="1100" u="none" cap="none" strike="noStrike">
              <a:solidFill>
                <a:schemeClr val="dk1"/>
              </a:solidFill>
              <a:latin typeface="Arial"/>
              <a:ea typeface="Arial"/>
              <a:cs typeface="Arial"/>
              <a:sym typeface="Arial"/>
            </a:endParaRPr>
          </a:p>
        </p:txBody>
      </p:sp>
      <p:sp>
        <p:nvSpPr>
          <p:cNvPr id="291" name="Google Shape;291;p7"/>
          <p:cNvSpPr/>
          <p:nvPr/>
        </p:nvSpPr>
        <p:spPr>
          <a:xfrm>
            <a:off x="114300" y="5030548"/>
            <a:ext cx="9990992" cy="156966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200"/>
              <a:buFont typeface="Arial"/>
              <a:buNone/>
            </a:pPr>
            <a:r>
              <a:rPr b="0" i="0" lang="en-GB" sz="3200" u="none" cap="none" strike="noStrike">
                <a:solidFill>
                  <a:srgbClr val="002060"/>
                </a:solidFill>
                <a:latin typeface="Arial"/>
                <a:ea typeface="Arial"/>
                <a:cs typeface="Arial"/>
                <a:sym typeface="Arial"/>
              </a:rPr>
              <a:t>Fourier Transform is useful in analysing transients in electrical circuits, especially where the elements are frequency dependant.</a:t>
            </a:r>
            <a:r>
              <a:rPr b="0" i="0" lang="en-GB"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8"/>
          <p:cNvSpPr/>
          <p:nvPr/>
        </p:nvSpPr>
        <p:spPr>
          <a:xfrm>
            <a:off x="140677" y="509697"/>
            <a:ext cx="8815754" cy="555536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3400">
                <a:solidFill>
                  <a:srgbClr val="002060"/>
                </a:solidFill>
                <a:latin typeface="Times New Roman"/>
                <a:ea typeface="Times New Roman"/>
                <a:cs typeface="Times New Roman"/>
                <a:sym typeface="Times New Roman"/>
              </a:rPr>
              <a:t>For functions which do not decay till infinite time (including waveforms such as causal sinusoids), Fourier Transform cannot be obtained.</a:t>
            </a:r>
            <a:endParaRPr sz="3400">
              <a:solidFill>
                <a:schemeClr val="dk1"/>
              </a:solidFill>
              <a:latin typeface="Times New Roman"/>
              <a:ea typeface="Times New Roman"/>
              <a:cs typeface="Times New Roman"/>
              <a:sym typeface="Times New Roman"/>
            </a:endParaRPr>
          </a:p>
          <a:p>
            <a:pPr indent="0" lvl="0" marL="0" marR="0" rtl="0" algn="l">
              <a:spcBef>
                <a:spcPts val="600"/>
              </a:spcBef>
              <a:spcAft>
                <a:spcPts val="0"/>
              </a:spcAft>
              <a:buNone/>
            </a:pPr>
            <a:r>
              <a:rPr lang="en-GB" sz="3400">
                <a:solidFill>
                  <a:srgbClr val="002060"/>
                </a:solidFill>
                <a:latin typeface="Times New Roman"/>
                <a:ea typeface="Times New Roman"/>
                <a:cs typeface="Times New Roman"/>
                <a:sym typeface="Times New Roman"/>
              </a:rPr>
              <a:t>To avoid this problem, waveforms which do not decay may be artificially decayed by an exponential factor to allow integration.</a:t>
            </a:r>
            <a:endParaRPr sz="3400">
              <a:solidFill>
                <a:schemeClr val="dk1"/>
              </a:solidFill>
              <a:latin typeface="Times New Roman"/>
              <a:ea typeface="Times New Roman"/>
              <a:cs typeface="Times New Roman"/>
              <a:sym typeface="Times New Roman"/>
            </a:endParaRPr>
          </a:p>
          <a:p>
            <a:pPr indent="0" lvl="0" marL="0" marR="0" rtl="0" algn="l">
              <a:spcBef>
                <a:spcPts val="600"/>
              </a:spcBef>
              <a:spcAft>
                <a:spcPts val="0"/>
              </a:spcAft>
              <a:buNone/>
            </a:pPr>
            <a:r>
              <a:rPr lang="en-GB" sz="3400">
                <a:solidFill>
                  <a:srgbClr val="002060"/>
                </a:solidFill>
                <a:latin typeface="Times New Roman"/>
                <a:ea typeface="Times New Roman"/>
                <a:cs typeface="Times New Roman"/>
                <a:sym typeface="Times New Roman"/>
              </a:rPr>
              <a:t>Integrated result is then exponentially magnified to correct for the initial decay introduced.  </a:t>
            </a:r>
            <a:endParaRPr sz="3400">
              <a:solidFill>
                <a:schemeClr val="dk1"/>
              </a:solidFill>
              <a:latin typeface="Times New Roman"/>
              <a:ea typeface="Times New Roman"/>
              <a:cs typeface="Times New Roman"/>
              <a:sym typeface="Times New Roman"/>
            </a:endParaRPr>
          </a:p>
          <a:p>
            <a:pPr indent="0" lvl="0" marL="0" marR="0" rtl="0" algn="l">
              <a:spcBef>
                <a:spcPts val="600"/>
              </a:spcBef>
              <a:spcAft>
                <a:spcPts val="0"/>
              </a:spcAft>
              <a:buNone/>
            </a:pPr>
            <a:r>
              <a:rPr lang="en-GB" sz="3400">
                <a:solidFill>
                  <a:srgbClr val="002060"/>
                </a:solidFill>
                <a:latin typeface="Times New Roman"/>
                <a:ea typeface="Times New Roman"/>
                <a:cs typeface="Times New Roman"/>
                <a:sym typeface="Times New Roman"/>
              </a:rPr>
              <a:t>However, such exponential magnification can also magnify numerical errors.</a:t>
            </a:r>
            <a:endParaRPr sz="3400">
              <a:solidFill>
                <a:schemeClr val="dk1"/>
              </a:solidFill>
              <a:latin typeface="Times New Roman"/>
              <a:ea typeface="Times New Roman"/>
              <a:cs typeface="Times New Roman"/>
              <a:sym typeface="Times New Roman"/>
            </a:endParaRPr>
          </a:p>
        </p:txBody>
      </p:sp>
      <p:sp>
        <p:nvSpPr>
          <p:cNvPr id="297" name="Google Shape;297;p8"/>
          <p:cNvSpPr/>
          <p:nvPr/>
        </p:nvSpPr>
        <p:spPr>
          <a:xfrm>
            <a:off x="164124" y="5974542"/>
            <a:ext cx="9870831"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3200">
                <a:solidFill>
                  <a:srgbClr val="002060"/>
                </a:solidFill>
                <a:latin typeface="Times New Roman"/>
                <a:ea typeface="Times New Roman"/>
                <a:cs typeface="Times New Roman"/>
                <a:sym typeface="Times New Roman"/>
              </a:rPr>
              <a:t>Laplace Transform is defined based on this artificial decay.</a:t>
            </a:r>
            <a:endParaRPr sz="3200">
              <a:solidFill>
                <a:srgbClr val="000000"/>
              </a:solidFill>
              <a:latin typeface="Calibri"/>
              <a:ea typeface="Calibri"/>
              <a:cs typeface="Calibri"/>
              <a:sym typeface="Calibri"/>
            </a:endParaRPr>
          </a:p>
        </p:txBody>
      </p:sp>
      <p:grpSp>
        <p:nvGrpSpPr>
          <p:cNvPr id="298" name="Google Shape;298;p8"/>
          <p:cNvGrpSpPr/>
          <p:nvPr/>
        </p:nvGrpSpPr>
        <p:grpSpPr>
          <a:xfrm>
            <a:off x="8946414" y="482419"/>
            <a:ext cx="2891150" cy="1462969"/>
            <a:chOff x="1652505" y="1930413"/>
            <a:chExt cx="2891150" cy="1462969"/>
          </a:xfrm>
        </p:grpSpPr>
        <p:cxnSp>
          <p:nvCxnSpPr>
            <p:cNvPr id="299" name="Google Shape;299;p8"/>
            <p:cNvCxnSpPr/>
            <p:nvPr/>
          </p:nvCxnSpPr>
          <p:spPr>
            <a:xfrm>
              <a:off x="2133222" y="2021782"/>
              <a:ext cx="0" cy="1371600"/>
            </a:xfrm>
            <a:prstGeom prst="straightConnector1">
              <a:avLst/>
            </a:prstGeom>
            <a:noFill/>
            <a:ln cap="flat" cmpd="sng" w="28575">
              <a:solidFill>
                <a:srgbClr val="002060"/>
              </a:solidFill>
              <a:prstDash val="solid"/>
              <a:round/>
              <a:headEnd len="med" w="med" type="stealth"/>
              <a:tailEnd len="med" w="med" type="none"/>
            </a:ln>
          </p:spPr>
        </p:cxnSp>
        <p:cxnSp>
          <p:nvCxnSpPr>
            <p:cNvPr id="300" name="Google Shape;300;p8"/>
            <p:cNvCxnSpPr/>
            <p:nvPr/>
          </p:nvCxnSpPr>
          <p:spPr>
            <a:xfrm>
              <a:off x="1652505" y="2833304"/>
              <a:ext cx="2602442" cy="0"/>
            </a:xfrm>
            <a:prstGeom prst="straightConnector1">
              <a:avLst/>
            </a:prstGeom>
            <a:noFill/>
            <a:ln cap="flat" cmpd="sng" w="28575">
              <a:solidFill>
                <a:srgbClr val="002060"/>
              </a:solidFill>
              <a:prstDash val="solid"/>
              <a:round/>
              <a:headEnd len="med" w="med" type="none"/>
              <a:tailEnd len="med" w="med" type="stealth"/>
            </a:ln>
          </p:spPr>
        </p:cxnSp>
        <p:sp>
          <p:nvSpPr>
            <p:cNvPr id="301" name="Google Shape;301;p8"/>
            <p:cNvSpPr txBox="1"/>
            <p:nvPr/>
          </p:nvSpPr>
          <p:spPr>
            <a:xfrm>
              <a:off x="2133222" y="1930413"/>
              <a:ext cx="867141" cy="50321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2060"/>
                  </a:solidFill>
                  <a:latin typeface="Times New Roman"/>
                  <a:ea typeface="Times New Roman"/>
                  <a:cs typeface="Times New Roman"/>
                  <a:sym typeface="Times New Roman"/>
                </a:rPr>
                <a:t>a(t)</a:t>
              </a:r>
              <a:endParaRPr sz="1200">
                <a:solidFill>
                  <a:schemeClr val="dk1"/>
                </a:solidFill>
                <a:latin typeface="Times New Roman"/>
                <a:ea typeface="Times New Roman"/>
                <a:cs typeface="Times New Roman"/>
                <a:sym typeface="Times New Roman"/>
              </a:endParaRPr>
            </a:p>
          </p:txBody>
        </p:sp>
        <p:sp>
          <p:nvSpPr>
            <p:cNvPr id="302" name="Google Shape;302;p8"/>
            <p:cNvSpPr txBox="1"/>
            <p:nvPr/>
          </p:nvSpPr>
          <p:spPr>
            <a:xfrm>
              <a:off x="4110339" y="2936665"/>
              <a:ext cx="433316" cy="38900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sp>
          <p:nvSpPr>
            <p:cNvPr id="303" name="Google Shape;303;p8"/>
            <p:cNvSpPr/>
            <p:nvPr/>
          </p:nvSpPr>
          <p:spPr>
            <a:xfrm>
              <a:off x="2164478" y="2314755"/>
              <a:ext cx="716689" cy="835768"/>
            </a:xfrm>
            <a:custGeom>
              <a:rect b="b" l="l" r="r" t="t"/>
              <a:pathLst>
                <a:path extrusionOk="0" h="10000" w="7777">
                  <a:moveTo>
                    <a:pt x="0" y="3949"/>
                  </a:moveTo>
                  <a:cubicBezTo>
                    <a:pt x="555" y="2981"/>
                    <a:pt x="740" y="-567"/>
                    <a:pt x="1111" y="78"/>
                  </a:cubicBezTo>
                  <a:cubicBezTo>
                    <a:pt x="1481" y="723"/>
                    <a:pt x="1852" y="6210"/>
                    <a:pt x="2221" y="7823"/>
                  </a:cubicBezTo>
                  <a:cubicBezTo>
                    <a:pt x="2592" y="9436"/>
                    <a:pt x="2963" y="9436"/>
                    <a:pt x="3333" y="9758"/>
                  </a:cubicBezTo>
                  <a:cubicBezTo>
                    <a:pt x="3702" y="10081"/>
                    <a:pt x="4074" y="10081"/>
                    <a:pt x="4444" y="9758"/>
                  </a:cubicBezTo>
                  <a:cubicBezTo>
                    <a:pt x="4814" y="9436"/>
                    <a:pt x="5185" y="7823"/>
                    <a:pt x="5555" y="7823"/>
                  </a:cubicBezTo>
                  <a:cubicBezTo>
                    <a:pt x="5925" y="7823"/>
                    <a:pt x="6296" y="9758"/>
                    <a:pt x="6666" y="9758"/>
                  </a:cubicBezTo>
                  <a:cubicBezTo>
                    <a:pt x="7035" y="9758"/>
                    <a:pt x="7407" y="8790"/>
                    <a:pt x="7777" y="7823"/>
                  </a:cubicBezTo>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8"/>
            <p:cNvSpPr/>
            <p:nvPr/>
          </p:nvSpPr>
          <p:spPr>
            <a:xfrm>
              <a:off x="2881167" y="2307469"/>
              <a:ext cx="1229171" cy="823243"/>
            </a:xfrm>
            <a:custGeom>
              <a:rect b="b" l="l" r="r" t="t"/>
              <a:pathLst>
                <a:path extrusionOk="0" h="915" w="1020">
                  <a:moveTo>
                    <a:pt x="0" y="735"/>
                  </a:moveTo>
                  <a:cubicBezTo>
                    <a:pt x="28" y="585"/>
                    <a:pt x="61" y="464"/>
                    <a:pt x="85" y="375"/>
                  </a:cubicBezTo>
                  <a:cubicBezTo>
                    <a:pt x="109" y="286"/>
                    <a:pt x="115" y="133"/>
                    <a:pt x="142" y="202"/>
                  </a:cubicBezTo>
                  <a:cubicBezTo>
                    <a:pt x="169" y="271"/>
                    <a:pt x="212" y="760"/>
                    <a:pt x="247" y="787"/>
                  </a:cubicBezTo>
                  <a:cubicBezTo>
                    <a:pt x="282" y="814"/>
                    <a:pt x="308" y="496"/>
                    <a:pt x="352" y="367"/>
                  </a:cubicBezTo>
                  <a:cubicBezTo>
                    <a:pt x="396" y="238"/>
                    <a:pt x="463" y="0"/>
                    <a:pt x="510" y="15"/>
                  </a:cubicBezTo>
                  <a:cubicBezTo>
                    <a:pt x="557" y="30"/>
                    <a:pt x="601" y="316"/>
                    <a:pt x="637" y="457"/>
                  </a:cubicBezTo>
                  <a:cubicBezTo>
                    <a:pt x="673" y="598"/>
                    <a:pt x="702" y="869"/>
                    <a:pt x="727" y="862"/>
                  </a:cubicBezTo>
                  <a:cubicBezTo>
                    <a:pt x="752" y="855"/>
                    <a:pt x="767" y="433"/>
                    <a:pt x="787" y="412"/>
                  </a:cubicBezTo>
                  <a:cubicBezTo>
                    <a:pt x="807" y="391"/>
                    <a:pt x="825" y="651"/>
                    <a:pt x="850" y="735"/>
                  </a:cubicBezTo>
                  <a:cubicBezTo>
                    <a:pt x="875" y="819"/>
                    <a:pt x="907" y="915"/>
                    <a:pt x="935" y="915"/>
                  </a:cubicBezTo>
                  <a:cubicBezTo>
                    <a:pt x="963" y="915"/>
                    <a:pt x="992" y="825"/>
                    <a:pt x="1020" y="735"/>
                  </a:cubicBezTo>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05" name="Google Shape;305;p8"/>
          <p:cNvGrpSpPr/>
          <p:nvPr/>
        </p:nvGrpSpPr>
        <p:grpSpPr>
          <a:xfrm>
            <a:off x="9008650" y="2018533"/>
            <a:ext cx="2834630" cy="1521841"/>
            <a:chOff x="9008650" y="2182655"/>
            <a:chExt cx="2834630" cy="1521841"/>
          </a:xfrm>
        </p:grpSpPr>
        <p:sp>
          <p:nvSpPr>
            <p:cNvPr id="306" name="Google Shape;306;p8"/>
            <p:cNvSpPr/>
            <p:nvPr/>
          </p:nvSpPr>
          <p:spPr>
            <a:xfrm>
              <a:off x="9467104" y="2435022"/>
              <a:ext cx="1054510" cy="1180577"/>
            </a:xfrm>
            <a:custGeom>
              <a:rect b="b" l="l" r="r" t="t"/>
              <a:pathLst>
                <a:path extrusionOk="0" h="9982" w="9013">
                  <a:moveTo>
                    <a:pt x="0" y="498"/>
                  </a:moveTo>
                  <a:cubicBezTo>
                    <a:pt x="414" y="1287"/>
                    <a:pt x="1030" y="3574"/>
                    <a:pt x="1498" y="5054"/>
                  </a:cubicBezTo>
                  <a:cubicBezTo>
                    <a:pt x="1964" y="6534"/>
                    <a:pt x="2357" y="8641"/>
                    <a:pt x="2802" y="9379"/>
                  </a:cubicBezTo>
                  <a:cubicBezTo>
                    <a:pt x="3248" y="10117"/>
                    <a:pt x="3716" y="10205"/>
                    <a:pt x="4172" y="9494"/>
                  </a:cubicBezTo>
                  <a:cubicBezTo>
                    <a:pt x="4629" y="8784"/>
                    <a:pt x="5059" y="6618"/>
                    <a:pt x="5541" y="5112"/>
                  </a:cubicBezTo>
                  <a:cubicBezTo>
                    <a:pt x="6023" y="3605"/>
                    <a:pt x="6646" y="1217"/>
                    <a:pt x="7071" y="442"/>
                  </a:cubicBezTo>
                  <a:cubicBezTo>
                    <a:pt x="7495" y="-335"/>
                    <a:pt x="7766" y="76"/>
                    <a:pt x="8089" y="442"/>
                  </a:cubicBezTo>
                  <a:cubicBezTo>
                    <a:pt x="8413" y="806"/>
                    <a:pt x="8822" y="2174"/>
                    <a:pt x="9013" y="2632"/>
                  </a:cubicBezTo>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307" name="Google Shape;307;p8"/>
            <p:cNvCxnSpPr/>
            <p:nvPr/>
          </p:nvCxnSpPr>
          <p:spPr>
            <a:xfrm>
              <a:off x="9443157" y="2231660"/>
              <a:ext cx="0" cy="1472836"/>
            </a:xfrm>
            <a:prstGeom prst="straightConnector1">
              <a:avLst/>
            </a:prstGeom>
            <a:noFill/>
            <a:ln cap="flat" cmpd="sng" w="28575">
              <a:solidFill>
                <a:srgbClr val="002060"/>
              </a:solidFill>
              <a:prstDash val="solid"/>
              <a:round/>
              <a:headEnd len="med" w="med" type="stealth"/>
              <a:tailEnd len="med" w="med" type="none"/>
            </a:ln>
          </p:spPr>
        </p:cxnSp>
        <p:cxnSp>
          <p:nvCxnSpPr>
            <p:cNvPr id="308" name="Google Shape;308;p8"/>
            <p:cNvCxnSpPr/>
            <p:nvPr/>
          </p:nvCxnSpPr>
          <p:spPr>
            <a:xfrm>
              <a:off x="9008650" y="3022737"/>
              <a:ext cx="2766679" cy="0"/>
            </a:xfrm>
            <a:prstGeom prst="straightConnector1">
              <a:avLst/>
            </a:prstGeom>
            <a:noFill/>
            <a:ln cap="flat" cmpd="sng" w="28575">
              <a:solidFill>
                <a:srgbClr val="002060"/>
              </a:solidFill>
              <a:prstDash val="solid"/>
              <a:round/>
              <a:headEnd len="med" w="med" type="none"/>
              <a:tailEnd len="med" w="med" type="stealth"/>
            </a:ln>
          </p:spPr>
        </p:cxnSp>
        <p:sp>
          <p:nvSpPr>
            <p:cNvPr id="309" name="Google Shape;309;p8"/>
            <p:cNvSpPr txBox="1"/>
            <p:nvPr/>
          </p:nvSpPr>
          <p:spPr>
            <a:xfrm>
              <a:off x="9544912" y="2182655"/>
              <a:ext cx="721850" cy="41627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rgbClr val="002060"/>
                  </a:solidFill>
                  <a:latin typeface="Times New Roman"/>
                  <a:ea typeface="Times New Roman"/>
                  <a:cs typeface="Times New Roman"/>
                  <a:sym typeface="Times New Roman"/>
                </a:rPr>
                <a:t>a(t)</a:t>
              </a:r>
              <a:endParaRPr sz="1100">
                <a:solidFill>
                  <a:schemeClr val="dk1"/>
                </a:solidFill>
                <a:latin typeface="Times New Roman"/>
                <a:ea typeface="Times New Roman"/>
                <a:cs typeface="Times New Roman"/>
                <a:sym typeface="Times New Roman"/>
              </a:endParaRPr>
            </a:p>
          </p:txBody>
        </p:sp>
        <p:sp>
          <p:nvSpPr>
            <p:cNvPr id="310" name="Google Shape;310;p8"/>
            <p:cNvSpPr txBox="1"/>
            <p:nvPr/>
          </p:nvSpPr>
          <p:spPr>
            <a:xfrm>
              <a:off x="11414155" y="3050202"/>
              <a:ext cx="361174" cy="32687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rgbClr val="FFFFFF"/>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sp>
          <p:nvSpPr>
            <p:cNvPr id="311" name="Google Shape;311;p8"/>
            <p:cNvSpPr/>
            <p:nvPr/>
          </p:nvSpPr>
          <p:spPr>
            <a:xfrm>
              <a:off x="11594494" y="3074362"/>
              <a:ext cx="248786" cy="3301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002060"/>
                  </a:solidFill>
                  <a:latin typeface="Times New Roman"/>
                  <a:ea typeface="Times New Roman"/>
                  <a:cs typeface="Times New Roman"/>
                  <a:sym typeface="Times New Roman"/>
                </a:rPr>
                <a:t>t</a:t>
              </a:r>
              <a:endParaRPr sz="1800">
                <a:solidFill>
                  <a:schemeClr val="dk1"/>
                </a:solidFill>
                <a:latin typeface="Calibri"/>
                <a:ea typeface="Calibri"/>
                <a:cs typeface="Calibri"/>
                <a:sym typeface="Calibri"/>
              </a:endParaRPr>
            </a:p>
          </p:txBody>
        </p:sp>
        <p:sp>
          <p:nvSpPr>
            <p:cNvPr id="312" name="Google Shape;312;p8"/>
            <p:cNvSpPr/>
            <p:nvPr/>
          </p:nvSpPr>
          <p:spPr>
            <a:xfrm>
              <a:off x="10424864" y="2435022"/>
              <a:ext cx="1054510" cy="1180577"/>
            </a:xfrm>
            <a:custGeom>
              <a:rect b="b" l="l" r="r" t="t"/>
              <a:pathLst>
                <a:path extrusionOk="0" h="9982" w="9013">
                  <a:moveTo>
                    <a:pt x="0" y="498"/>
                  </a:moveTo>
                  <a:cubicBezTo>
                    <a:pt x="414" y="1287"/>
                    <a:pt x="1030" y="3574"/>
                    <a:pt x="1498" y="5054"/>
                  </a:cubicBezTo>
                  <a:cubicBezTo>
                    <a:pt x="1964" y="6534"/>
                    <a:pt x="2357" y="8641"/>
                    <a:pt x="2802" y="9379"/>
                  </a:cubicBezTo>
                  <a:cubicBezTo>
                    <a:pt x="3248" y="10117"/>
                    <a:pt x="3716" y="10205"/>
                    <a:pt x="4172" y="9494"/>
                  </a:cubicBezTo>
                  <a:cubicBezTo>
                    <a:pt x="4629" y="8784"/>
                    <a:pt x="5059" y="6618"/>
                    <a:pt x="5541" y="5112"/>
                  </a:cubicBezTo>
                  <a:cubicBezTo>
                    <a:pt x="6023" y="3605"/>
                    <a:pt x="6646" y="1217"/>
                    <a:pt x="7071" y="442"/>
                  </a:cubicBezTo>
                  <a:cubicBezTo>
                    <a:pt x="7495" y="-335"/>
                    <a:pt x="7766" y="76"/>
                    <a:pt x="8089" y="442"/>
                  </a:cubicBezTo>
                  <a:cubicBezTo>
                    <a:pt x="8413" y="806"/>
                    <a:pt x="8822" y="2174"/>
                    <a:pt x="9013" y="2632"/>
                  </a:cubicBezTo>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313" name="Google Shape;313;p8"/>
          <p:cNvGrpSpPr/>
          <p:nvPr/>
        </p:nvGrpSpPr>
        <p:grpSpPr>
          <a:xfrm>
            <a:off x="9023315" y="3692680"/>
            <a:ext cx="2834630" cy="1521841"/>
            <a:chOff x="9023315" y="3692680"/>
            <a:chExt cx="2834630" cy="1521841"/>
          </a:xfrm>
        </p:grpSpPr>
        <p:grpSp>
          <p:nvGrpSpPr>
            <p:cNvPr id="314" name="Google Shape;314;p8"/>
            <p:cNvGrpSpPr/>
            <p:nvPr/>
          </p:nvGrpSpPr>
          <p:grpSpPr>
            <a:xfrm>
              <a:off x="9023315" y="3692680"/>
              <a:ext cx="2834630" cy="1521841"/>
              <a:chOff x="9008650" y="2182655"/>
              <a:chExt cx="2834630" cy="1521841"/>
            </a:xfrm>
          </p:grpSpPr>
          <p:sp>
            <p:nvSpPr>
              <p:cNvPr id="315" name="Google Shape;315;p8"/>
              <p:cNvSpPr/>
              <p:nvPr/>
            </p:nvSpPr>
            <p:spPr>
              <a:xfrm>
                <a:off x="9467104" y="2435022"/>
                <a:ext cx="1054510" cy="1180577"/>
              </a:xfrm>
              <a:custGeom>
                <a:rect b="b" l="l" r="r" t="t"/>
                <a:pathLst>
                  <a:path extrusionOk="0" h="9982" w="9013">
                    <a:moveTo>
                      <a:pt x="0" y="498"/>
                    </a:moveTo>
                    <a:cubicBezTo>
                      <a:pt x="414" y="1287"/>
                      <a:pt x="1030" y="3574"/>
                      <a:pt x="1498" y="5054"/>
                    </a:cubicBezTo>
                    <a:cubicBezTo>
                      <a:pt x="1964" y="6534"/>
                      <a:pt x="2357" y="8641"/>
                      <a:pt x="2802" y="9379"/>
                    </a:cubicBezTo>
                    <a:cubicBezTo>
                      <a:pt x="3248" y="10117"/>
                      <a:pt x="3716" y="10205"/>
                      <a:pt x="4172" y="9494"/>
                    </a:cubicBezTo>
                    <a:cubicBezTo>
                      <a:pt x="4629" y="8784"/>
                      <a:pt x="5059" y="6618"/>
                      <a:pt x="5541" y="5112"/>
                    </a:cubicBezTo>
                    <a:cubicBezTo>
                      <a:pt x="6023" y="3605"/>
                      <a:pt x="6646" y="1217"/>
                      <a:pt x="7071" y="442"/>
                    </a:cubicBezTo>
                    <a:cubicBezTo>
                      <a:pt x="7495" y="-335"/>
                      <a:pt x="7766" y="76"/>
                      <a:pt x="8089" y="442"/>
                    </a:cubicBezTo>
                    <a:cubicBezTo>
                      <a:pt x="8413" y="806"/>
                      <a:pt x="8822" y="2174"/>
                      <a:pt x="9013" y="2632"/>
                    </a:cubicBezTo>
                  </a:path>
                </a:pathLst>
              </a:custGeom>
              <a:noFill/>
              <a:ln cap="flat" cmpd="sng" w="38100">
                <a:solidFill>
                  <a:srgbClr val="C00000"/>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316" name="Google Shape;316;p8"/>
              <p:cNvCxnSpPr/>
              <p:nvPr/>
            </p:nvCxnSpPr>
            <p:spPr>
              <a:xfrm>
                <a:off x="9443157" y="2231660"/>
                <a:ext cx="0" cy="1472836"/>
              </a:xfrm>
              <a:prstGeom prst="straightConnector1">
                <a:avLst/>
              </a:prstGeom>
              <a:noFill/>
              <a:ln cap="flat" cmpd="sng" w="28575">
                <a:solidFill>
                  <a:srgbClr val="002060"/>
                </a:solidFill>
                <a:prstDash val="solid"/>
                <a:round/>
                <a:headEnd len="med" w="med" type="stealth"/>
                <a:tailEnd len="med" w="med" type="none"/>
              </a:ln>
            </p:spPr>
          </p:cxnSp>
          <p:cxnSp>
            <p:nvCxnSpPr>
              <p:cNvPr id="317" name="Google Shape;317;p8"/>
              <p:cNvCxnSpPr/>
              <p:nvPr/>
            </p:nvCxnSpPr>
            <p:spPr>
              <a:xfrm>
                <a:off x="9008650" y="3022737"/>
                <a:ext cx="2766679" cy="0"/>
              </a:xfrm>
              <a:prstGeom prst="straightConnector1">
                <a:avLst/>
              </a:prstGeom>
              <a:noFill/>
              <a:ln cap="flat" cmpd="sng" w="28575">
                <a:solidFill>
                  <a:srgbClr val="002060"/>
                </a:solidFill>
                <a:prstDash val="solid"/>
                <a:round/>
                <a:headEnd len="med" w="med" type="none"/>
                <a:tailEnd len="med" w="med" type="stealth"/>
              </a:ln>
            </p:spPr>
          </p:cxnSp>
          <p:sp>
            <p:nvSpPr>
              <p:cNvPr id="318" name="Google Shape;318;p8"/>
              <p:cNvSpPr txBox="1"/>
              <p:nvPr/>
            </p:nvSpPr>
            <p:spPr>
              <a:xfrm>
                <a:off x="9544912" y="2182655"/>
                <a:ext cx="721850" cy="41627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400">
                    <a:solidFill>
                      <a:srgbClr val="002060"/>
                    </a:solidFill>
                    <a:latin typeface="Times New Roman"/>
                    <a:ea typeface="Times New Roman"/>
                    <a:cs typeface="Times New Roman"/>
                    <a:sym typeface="Times New Roman"/>
                  </a:rPr>
                  <a:t>a(t)</a:t>
                </a:r>
                <a:endParaRPr sz="1100">
                  <a:solidFill>
                    <a:schemeClr val="dk1"/>
                  </a:solidFill>
                  <a:latin typeface="Times New Roman"/>
                  <a:ea typeface="Times New Roman"/>
                  <a:cs typeface="Times New Roman"/>
                  <a:sym typeface="Times New Roman"/>
                </a:endParaRPr>
              </a:p>
            </p:txBody>
          </p:sp>
          <p:sp>
            <p:nvSpPr>
              <p:cNvPr id="319" name="Google Shape;319;p8"/>
              <p:cNvSpPr txBox="1"/>
              <p:nvPr/>
            </p:nvSpPr>
            <p:spPr>
              <a:xfrm>
                <a:off x="11414155" y="3050202"/>
                <a:ext cx="361174" cy="326878"/>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2800">
                    <a:solidFill>
                      <a:srgbClr val="FFFFFF"/>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sp>
            <p:nvSpPr>
              <p:cNvPr id="320" name="Google Shape;320;p8"/>
              <p:cNvSpPr/>
              <p:nvPr/>
            </p:nvSpPr>
            <p:spPr>
              <a:xfrm>
                <a:off x="11594494" y="3074362"/>
                <a:ext cx="248786" cy="33018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rgbClr val="002060"/>
                    </a:solidFill>
                    <a:latin typeface="Times New Roman"/>
                    <a:ea typeface="Times New Roman"/>
                    <a:cs typeface="Times New Roman"/>
                    <a:sym typeface="Times New Roman"/>
                  </a:rPr>
                  <a:t>t</a:t>
                </a:r>
                <a:endParaRPr sz="1800">
                  <a:solidFill>
                    <a:schemeClr val="dk1"/>
                  </a:solidFill>
                  <a:latin typeface="Calibri"/>
                  <a:ea typeface="Calibri"/>
                  <a:cs typeface="Calibri"/>
                  <a:sym typeface="Calibri"/>
                </a:endParaRPr>
              </a:p>
            </p:txBody>
          </p:sp>
          <p:sp>
            <p:nvSpPr>
              <p:cNvPr id="321" name="Google Shape;321;p8"/>
              <p:cNvSpPr/>
              <p:nvPr/>
            </p:nvSpPr>
            <p:spPr>
              <a:xfrm>
                <a:off x="10516660" y="2435022"/>
                <a:ext cx="978480" cy="1180577"/>
              </a:xfrm>
              <a:custGeom>
                <a:rect b="b" l="l" r="r" t="t"/>
                <a:pathLst>
                  <a:path extrusionOk="0" h="10000" w="9279">
                    <a:moveTo>
                      <a:pt x="0" y="2640"/>
                    </a:moveTo>
                    <a:cubicBezTo>
                      <a:pt x="277" y="3401"/>
                      <a:pt x="543" y="3937"/>
                      <a:pt x="941" y="5063"/>
                    </a:cubicBezTo>
                    <a:cubicBezTo>
                      <a:pt x="1339" y="6189"/>
                      <a:pt x="1894" y="8657"/>
                      <a:pt x="2388" y="9396"/>
                    </a:cubicBezTo>
                    <a:cubicBezTo>
                      <a:pt x="2883" y="10135"/>
                      <a:pt x="3402" y="10223"/>
                      <a:pt x="3908" y="9511"/>
                    </a:cubicBezTo>
                    <a:cubicBezTo>
                      <a:pt x="4415" y="8800"/>
                      <a:pt x="4892" y="6630"/>
                      <a:pt x="5427" y="5121"/>
                    </a:cubicBezTo>
                    <a:cubicBezTo>
                      <a:pt x="5962" y="3612"/>
                      <a:pt x="6653" y="1219"/>
                      <a:pt x="7124" y="443"/>
                    </a:cubicBezTo>
                    <a:cubicBezTo>
                      <a:pt x="7595" y="-336"/>
                      <a:pt x="7895" y="76"/>
                      <a:pt x="8254" y="443"/>
                    </a:cubicBezTo>
                    <a:cubicBezTo>
                      <a:pt x="8613" y="807"/>
                      <a:pt x="9067" y="2178"/>
                      <a:pt x="9279" y="2637"/>
                    </a:cubicBezTo>
                  </a:path>
                </a:pathLst>
              </a:custGeom>
              <a:noFill/>
              <a:ln cap="flat" cmpd="sng" w="38100">
                <a:solidFill>
                  <a:srgbClr val="C00000"/>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2" name="Google Shape;322;p8"/>
            <p:cNvSpPr/>
            <p:nvPr/>
          </p:nvSpPr>
          <p:spPr>
            <a:xfrm>
              <a:off x="9475757" y="4004011"/>
              <a:ext cx="1054510" cy="1057238"/>
            </a:xfrm>
            <a:custGeom>
              <a:rect b="b" l="l" r="r" t="t"/>
              <a:pathLst>
                <a:path extrusionOk="0" h="10511" w="10057">
                  <a:moveTo>
                    <a:pt x="0" y="0"/>
                  </a:moveTo>
                  <a:cubicBezTo>
                    <a:pt x="459" y="790"/>
                    <a:pt x="1191" y="3923"/>
                    <a:pt x="1719" y="5574"/>
                  </a:cubicBezTo>
                  <a:cubicBezTo>
                    <a:pt x="2247" y="7225"/>
                    <a:pt x="2672" y="9168"/>
                    <a:pt x="3166" y="9907"/>
                  </a:cubicBezTo>
                  <a:cubicBezTo>
                    <a:pt x="3661" y="10646"/>
                    <a:pt x="4180" y="10734"/>
                    <a:pt x="4686" y="10022"/>
                  </a:cubicBezTo>
                  <a:cubicBezTo>
                    <a:pt x="5193" y="9311"/>
                    <a:pt x="5670" y="7141"/>
                    <a:pt x="6205" y="5632"/>
                  </a:cubicBezTo>
                  <a:cubicBezTo>
                    <a:pt x="6740" y="4123"/>
                    <a:pt x="7431" y="1730"/>
                    <a:pt x="7902" y="954"/>
                  </a:cubicBezTo>
                  <a:cubicBezTo>
                    <a:pt x="8373" y="175"/>
                    <a:pt x="8673" y="587"/>
                    <a:pt x="9032" y="954"/>
                  </a:cubicBezTo>
                  <a:cubicBezTo>
                    <a:pt x="9391" y="1318"/>
                    <a:pt x="9845" y="2689"/>
                    <a:pt x="10057" y="3148"/>
                  </a:cubicBezTo>
                </a:path>
              </a:pathLst>
            </a:custGeom>
            <a:noFill/>
            <a:ln cap="flat" cmpd="sng" w="190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8"/>
            <p:cNvSpPr/>
            <p:nvPr/>
          </p:nvSpPr>
          <p:spPr>
            <a:xfrm>
              <a:off x="10530554" y="4171576"/>
              <a:ext cx="978479" cy="771134"/>
            </a:xfrm>
            <a:custGeom>
              <a:rect b="b" l="l" r="r" t="t"/>
              <a:pathLst>
                <a:path extrusionOk="0" h="10000" w="9353">
                  <a:moveTo>
                    <a:pt x="0" y="2096"/>
                  </a:moveTo>
                  <a:cubicBezTo>
                    <a:pt x="277" y="2857"/>
                    <a:pt x="605" y="3846"/>
                    <a:pt x="1015" y="5063"/>
                  </a:cubicBezTo>
                  <a:cubicBezTo>
                    <a:pt x="1425" y="6280"/>
                    <a:pt x="1968" y="8657"/>
                    <a:pt x="2462" y="9396"/>
                  </a:cubicBezTo>
                  <a:cubicBezTo>
                    <a:pt x="2957" y="10135"/>
                    <a:pt x="3476" y="10223"/>
                    <a:pt x="3982" y="9511"/>
                  </a:cubicBezTo>
                  <a:cubicBezTo>
                    <a:pt x="4489" y="8800"/>
                    <a:pt x="4966" y="6630"/>
                    <a:pt x="5501" y="5121"/>
                  </a:cubicBezTo>
                  <a:cubicBezTo>
                    <a:pt x="6036" y="3612"/>
                    <a:pt x="6727" y="1219"/>
                    <a:pt x="7198" y="443"/>
                  </a:cubicBezTo>
                  <a:cubicBezTo>
                    <a:pt x="7669" y="-336"/>
                    <a:pt x="7969" y="76"/>
                    <a:pt x="8328" y="443"/>
                  </a:cubicBezTo>
                  <a:cubicBezTo>
                    <a:pt x="8687" y="807"/>
                    <a:pt x="9141" y="2178"/>
                    <a:pt x="9353" y="2637"/>
                  </a:cubicBezTo>
                </a:path>
              </a:pathLst>
            </a:custGeom>
            <a:noFill/>
            <a:ln cap="flat" cmpd="sng" w="190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9"/>
          <p:cNvSpPr txBox="1"/>
          <p:nvPr>
            <p:ph type="title"/>
          </p:nvPr>
        </p:nvSpPr>
        <p:spPr>
          <a:xfrm>
            <a:off x="429715" y="457199"/>
            <a:ext cx="10924085" cy="5517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Times New Roman"/>
              <a:buNone/>
            </a:pPr>
            <a:r>
              <a:rPr lang="en-GB"/>
              <a:t>Laplace Transform</a:t>
            </a:r>
            <a:endParaRPr/>
          </a:p>
        </p:txBody>
      </p:sp>
      <p:sp>
        <p:nvSpPr>
          <p:cNvPr id="330" name="Google Shape;330;p9"/>
          <p:cNvSpPr/>
          <p:nvPr/>
        </p:nvSpPr>
        <p:spPr>
          <a:xfrm>
            <a:off x="187569" y="1032437"/>
            <a:ext cx="11840308" cy="5740482"/>
          </a:xfrm>
          <a:prstGeom prst="rect">
            <a:avLst/>
          </a:prstGeom>
          <a:blipFill rotWithShape="1">
            <a:blip r:embed="rId3">
              <a:alphaModFix/>
            </a:blip>
            <a:stretch>
              <a:fillRect b="-1698" l="-2110" r="-410" t="-148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0"/>
          <p:cNvSpPr/>
          <p:nvPr/>
        </p:nvSpPr>
        <p:spPr>
          <a:xfrm>
            <a:off x="433754" y="1246441"/>
            <a:ext cx="11324492" cy="4620689"/>
          </a:xfrm>
          <a:prstGeom prst="rect">
            <a:avLst/>
          </a:prstGeom>
          <a:blipFill rotWithShape="1">
            <a:blip r:embed="rId3">
              <a:alphaModFix/>
            </a:blip>
            <a:stretch>
              <a:fillRect b="-3692" l="-1614" r="-166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336" name="Google Shape;336;p10"/>
          <p:cNvSpPr txBox="1"/>
          <p:nvPr>
            <p:ph type="title"/>
          </p:nvPr>
        </p:nvSpPr>
        <p:spPr>
          <a:xfrm>
            <a:off x="429715" y="457199"/>
            <a:ext cx="10924085" cy="5517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Times New Roman"/>
              <a:buNone/>
            </a:pPr>
            <a:r>
              <a:rPr lang="en-GB"/>
              <a:t>Laplace Inverse Transform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11"/>
          <p:cNvSpPr txBox="1"/>
          <p:nvPr>
            <p:ph type="title"/>
          </p:nvPr>
        </p:nvSpPr>
        <p:spPr>
          <a:xfrm>
            <a:off x="429715" y="457199"/>
            <a:ext cx="10924085" cy="5517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Times New Roman"/>
              <a:buNone/>
            </a:pPr>
            <a:r>
              <a:rPr lang="en-GB"/>
              <a:t>Response of a linear Passive Bilateral Network</a:t>
            </a:r>
            <a:endParaRPr/>
          </a:p>
        </p:txBody>
      </p:sp>
      <p:sp>
        <p:nvSpPr>
          <p:cNvPr id="342" name="Google Shape;342;p11"/>
          <p:cNvSpPr/>
          <p:nvPr/>
        </p:nvSpPr>
        <p:spPr>
          <a:xfrm>
            <a:off x="429715" y="3246015"/>
            <a:ext cx="11410593"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Response r(t) related to input e(t) by an ordinary linear differential equation.</a:t>
            </a:r>
            <a:endParaRPr sz="12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GB" sz="3600">
                <a:solidFill>
                  <a:srgbClr val="002060"/>
                </a:solidFill>
                <a:latin typeface="Times New Roman"/>
                <a:ea typeface="Times New Roman"/>
                <a:cs typeface="Times New Roman"/>
                <a:sym typeface="Times New Roman"/>
              </a:rPr>
              <a:t>		r(t)   =	 F(p) . e(t)		</a:t>
            </a:r>
            <a:endParaRPr sz="12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GB" sz="3600">
                <a:solidFill>
                  <a:srgbClr val="002060"/>
                </a:solidFill>
                <a:latin typeface="Times New Roman"/>
                <a:ea typeface="Times New Roman"/>
                <a:cs typeface="Times New Roman"/>
                <a:sym typeface="Times New Roman"/>
              </a:rPr>
              <a:t>where    p = d/dt  = differential operator</a:t>
            </a:r>
            <a:endParaRPr sz="12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rPr lang="en-GB" sz="3600">
                <a:solidFill>
                  <a:srgbClr val="002060"/>
                </a:solidFill>
                <a:latin typeface="Times New Roman"/>
                <a:ea typeface="Times New Roman"/>
                <a:cs typeface="Times New Roman"/>
                <a:sym typeface="Times New Roman"/>
              </a:rPr>
              <a:t>Consider an exponential excitation function  e</a:t>
            </a:r>
            <a:r>
              <a:rPr baseline="30000" lang="en-GB" sz="3600">
                <a:solidFill>
                  <a:srgbClr val="002060"/>
                </a:solidFill>
                <a:latin typeface="Times New Roman"/>
                <a:ea typeface="Times New Roman"/>
                <a:cs typeface="Times New Roman"/>
                <a:sym typeface="Times New Roman"/>
              </a:rPr>
              <a:t>st</a:t>
            </a:r>
            <a:r>
              <a:rPr lang="en-GB" sz="3600">
                <a:solidFill>
                  <a:srgbClr val="002060"/>
                </a:solidFill>
                <a:latin typeface="Times New Roman"/>
                <a:ea typeface="Times New Roman"/>
                <a:cs typeface="Times New Roman"/>
                <a:sym typeface="Times New Roman"/>
              </a:rPr>
              <a:t>.</a:t>
            </a:r>
            <a:endParaRPr sz="12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i.e.	e(t)  =  e</a:t>
            </a:r>
            <a:r>
              <a:rPr baseline="30000" lang="en-GB" sz="3600">
                <a:solidFill>
                  <a:srgbClr val="002060"/>
                </a:solidFill>
                <a:latin typeface="Times New Roman"/>
                <a:ea typeface="Times New Roman"/>
                <a:cs typeface="Times New Roman"/>
                <a:sym typeface="Times New Roman"/>
              </a:rPr>
              <a:t>st</a:t>
            </a:r>
            <a:r>
              <a:rPr lang="en-GB" sz="3600">
                <a:solidFill>
                  <a:srgbClr val="002060"/>
                </a:solidFill>
                <a:latin typeface="Times New Roman"/>
                <a:ea typeface="Times New Roman"/>
                <a:cs typeface="Times New Roman"/>
                <a:sym typeface="Times New Roman"/>
              </a:rPr>
              <a:t>	→	r(t)  =  F(p) . e</a:t>
            </a:r>
            <a:r>
              <a:rPr baseline="30000" lang="en-GB" sz="3600">
                <a:solidFill>
                  <a:srgbClr val="002060"/>
                </a:solidFill>
                <a:latin typeface="Times New Roman"/>
                <a:ea typeface="Times New Roman"/>
                <a:cs typeface="Times New Roman"/>
                <a:sym typeface="Times New Roman"/>
              </a:rPr>
              <a:t>st</a:t>
            </a:r>
            <a:r>
              <a:rPr lang="en-GB" sz="3600">
                <a:solidFill>
                  <a:srgbClr val="002060"/>
                </a:solidFill>
                <a:latin typeface="Times New Roman"/>
                <a:ea typeface="Times New Roman"/>
                <a:cs typeface="Times New Roman"/>
                <a:sym typeface="Times New Roman"/>
              </a:rPr>
              <a:t>  =  e</a:t>
            </a:r>
            <a:r>
              <a:rPr baseline="30000" lang="en-GB" sz="3600">
                <a:solidFill>
                  <a:srgbClr val="002060"/>
                </a:solidFill>
                <a:latin typeface="Times New Roman"/>
                <a:ea typeface="Times New Roman"/>
                <a:cs typeface="Times New Roman"/>
                <a:sym typeface="Times New Roman"/>
              </a:rPr>
              <a:t>st</a:t>
            </a:r>
            <a:r>
              <a:rPr lang="en-GB" sz="3600">
                <a:solidFill>
                  <a:srgbClr val="002060"/>
                </a:solidFill>
                <a:latin typeface="Times New Roman"/>
                <a:ea typeface="Times New Roman"/>
                <a:cs typeface="Times New Roman"/>
                <a:sym typeface="Times New Roman"/>
              </a:rPr>
              <a:t> . F(s)</a:t>
            </a:r>
            <a:endParaRPr sz="1800">
              <a:solidFill>
                <a:schemeClr val="dk1"/>
              </a:solidFill>
              <a:latin typeface="Calibri"/>
              <a:ea typeface="Calibri"/>
              <a:cs typeface="Calibri"/>
              <a:sym typeface="Calibri"/>
            </a:endParaRPr>
          </a:p>
        </p:txBody>
      </p:sp>
      <p:grpSp>
        <p:nvGrpSpPr>
          <p:cNvPr id="343" name="Google Shape;343;p11"/>
          <p:cNvGrpSpPr/>
          <p:nvPr/>
        </p:nvGrpSpPr>
        <p:grpSpPr>
          <a:xfrm>
            <a:off x="429715" y="1050022"/>
            <a:ext cx="10924085" cy="2174875"/>
            <a:chOff x="2858" y="8078"/>
            <a:chExt cx="4320" cy="1370"/>
          </a:xfrm>
        </p:grpSpPr>
        <p:grpSp>
          <p:nvGrpSpPr>
            <p:cNvPr id="344" name="Google Shape;344;p11"/>
            <p:cNvGrpSpPr/>
            <p:nvPr/>
          </p:nvGrpSpPr>
          <p:grpSpPr>
            <a:xfrm>
              <a:off x="2858" y="8078"/>
              <a:ext cx="4320" cy="950"/>
              <a:chOff x="2858" y="8078"/>
              <a:chExt cx="4320" cy="950"/>
            </a:xfrm>
          </p:grpSpPr>
          <p:cxnSp>
            <p:nvCxnSpPr>
              <p:cNvPr id="345" name="Google Shape;345;p11"/>
              <p:cNvCxnSpPr/>
              <p:nvPr/>
            </p:nvCxnSpPr>
            <p:spPr>
              <a:xfrm>
                <a:off x="2858" y="8618"/>
                <a:ext cx="840" cy="0"/>
              </a:xfrm>
              <a:prstGeom prst="straightConnector1">
                <a:avLst/>
              </a:prstGeom>
              <a:noFill/>
              <a:ln cap="flat" cmpd="sng" w="38100">
                <a:solidFill>
                  <a:srgbClr val="002060"/>
                </a:solidFill>
                <a:prstDash val="solid"/>
                <a:round/>
                <a:headEnd len="med" w="med" type="none"/>
                <a:tailEnd len="lg" w="lg" type="stealth"/>
              </a:ln>
            </p:spPr>
          </p:cxnSp>
          <p:cxnSp>
            <p:nvCxnSpPr>
              <p:cNvPr id="346" name="Google Shape;346;p11"/>
              <p:cNvCxnSpPr/>
              <p:nvPr/>
            </p:nvCxnSpPr>
            <p:spPr>
              <a:xfrm>
                <a:off x="3698" y="8618"/>
                <a:ext cx="542" cy="0"/>
              </a:xfrm>
              <a:prstGeom prst="straightConnector1">
                <a:avLst/>
              </a:prstGeom>
              <a:noFill/>
              <a:ln cap="flat" cmpd="sng" w="38100">
                <a:solidFill>
                  <a:srgbClr val="002060"/>
                </a:solidFill>
                <a:prstDash val="solid"/>
                <a:round/>
                <a:headEnd len="med" w="med" type="none"/>
                <a:tailEnd len="med" w="med" type="none"/>
              </a:ln>
            </p:spPr>
          </p:cxnSp>
          <p:sp>
            <p:nvSpPr>
              <p:cNvPr id="347" name="Google Shape;347;p11"/>
              <p:cNvSpPr txBox="1"/>
              <p:nvPr/>
            </p:nvSpPr>
            <p:spPr>
              <a:xfrm>
                <a:off x="4240" y="8198"/>
                <a:ext cx="1504" cy="830"/>
              </a:xfrm>
              <a:prstGeom prst="rect">
                <a:avLst/>
              </a:prstGeom>
              <a:noFill/>
              <a:ln cap="flat" cmpd="sng" w="38100">
                <a:solidFill>
                  <a:srgbClr val="C00000"/>
                </a:solidFill>
                <a:prstDash val="solid"/>
                <a:miter lim="800000"/>
                <a:headEnd len="sm" w="sm" type="none"/>
                <a:tailEnd len="sm" w="sm" type="none"/>
              </a:ln>
            </p:spPr>
            <p:txBody>
              <a:bodyPr anchorCtr="0" anchor="t" bIns="10800" lIns="18000" spcFirstLastPara="1" rIns="18000" wrap="square" tIns="10800">
                <a:noAutofit/>
              </a:bodyPr>
              <a:lstStyle/>
              <a:p>
                <a:pPr indent="0" lvl="0" marL="0" marR="0" rtl="0" algn="ctr">
                  <a:spcBef>
                    <a:spcPts val="0"/>
                  </a:spcBef>
                  <a:spcAft>
                    <a:spcPts val="0"/>
                  </a:spcAft>
                  <a:buNone/>
                </a:pPr>
                <a:r>
                  <a:rPr lang="en-GB" sz="3600">
                    <a:solidFill>
                      <a:srgbClr val="002060"/>
                    </a:solidFill>
                    <a:latin typeface="Times New Roman"/>
                    <a:ea typeface="Times New Roman"/>
                    <a:cs typeface="Times New Roman"/>
                    <a:sym typeface="Times New Roman"/>
                  </a:rPr>
                  <a:t>Linear Passive bilateral Network</a:t>
                </a:r>
                <a:endParaRPr sz="1200">
                  <a:solidFill>
                    <a:schemeClr val="dk1"/>
                  </a:solidFill>
                  <a:latin typeface="Times New Roman"/>
                  <a:ea typeface="Times New Roman"/>
                  <a:cs typeface="Times New Roman"/>
                  <a:sym typeface="Times New Roman"/>
                </a:endParaRPr>
              </a:p>
            </p:txBody>
          </p:sp>
          <p:cxnSp>
            <p:nvCxnSpPr>
              <p:cNvPr id="348" name="Google Shape;348;p11"/>
              <p:cNvCxnSpPr/>
              <p:nvPr/>
            </p:nvCxnSpPr>
            <p:spPr>
              <a:xfrm>
                <a:off x="5744" y="8618"/>
                <a:ext cx="723" cy="0"/>
              </a:xfrm>
              <a:prstGeom prst="straightConnector1">
                <a:avLst/>
              </a:prstGeom>
              <a:noFill/>
              <a:ln cap="flat" cmpd="sng" w="38100">
                <a:solidFill>
                  <a:srgbClr val="002060"/>
                </a:solidFill>
                <a:prstDash val="solid"/>
                <a:round/>
                <a:headEnd len="med" w="med" type="none"/>
                <a:tailEnd len="lg" w="lg" type="stealth"/>
              </a:ln>
            </p:spPr>
          </p:cxnSp>
          <p:cxnSp>
            <p:nvCxnSpPr>
              <p:cNvPr id="349" name="Google Shape;349;p11"/>
              <p:cNvCxnSpPr/>
              <p:nvPr/>
            </p:nvCxnSpPr>
            <p:spPr>
              <a:xfrm>
                <a:off x="6458" y="8618"/>
                <a:ext cx="720" cy="0"/>
              </a:xfrm>
              <a:prstGeom prst="straightConnector1">
                <a:avLst/>
              </a:prstGeom>
              <a:noFill/>
              <a:ln cap="flat" cmpd="sng" w="38100">
                <a:solidFill>
                  <a:srgbClr val="002060"/>
                </a:solidFill>
                <a:prstDash val="solid"/>
                <a:round/>
                <a:headEnd len="med" w="med" type="none"/>
                <a:tailEnd len="med" w="med" type="none"/>
              </a:ln>
            </p:spPr>
          </p:cxnSp>
          <p:sp>
            <p:nvSpPr>
              <p:cNvPr id="350" name="Google Shape;350;p11"/>
              <p:cNvSpPr txBox="1"/>
              <p:nvPr/>
            </p:nvSpPr>
            <p:spPr>
              <a:xfrm>
                <a:off x="3458" y="8078"/>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e(t)</a:t>
                </a:r>
                <a:endParaRPr sz="1200">
                  <a:solidFill>
                    <a:schemeClr val="dk1"/>
                  </a:solidFill>
                  <a:latin typeface="Times New Roman"/>
                  <a:ea typeface="Times New Roman"/>
                  <a:cs typeface="Times New Roman"/>
                  <a:sym typeface="Times New Roman"/>
                </a:endParaRPr>
              </a:p>
            </p:txBody>
          </p:sp>
          <p:sp>
            <p:nvSpPr>
              <p:cNvPr id="351" name="Google Shape;351;p11"/>
              <p:cNvSpPr txBox="1"/>
              <p:nvPr/>
            </p:nvSpPr>
            <p:spPr>
              <a:xfrm>
                <a:off x="6218" y="8078"/>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r(t)</a:t>
                </a:r>
                <a:endParaRPr sz="1200">
                  <a:solidFill>
                    <a:schemeClr val="dk1"/>
                  </a:solidFill>
                  <a:latin typeface="Times New Roman"/>
                  <a:ea typeface="Times New Roman"/>
                  <a:cs typeface="Times New Roman"/>
                  <a:sym typeface="Times New Roman"/>
                </a:endParaRPr>
              </a:p>
            </p:txBody>
          </p:sp>
        </p:grpSp>
        <p:sp>
          <p:nvSpPr>
            <p:cNvPr id="352" name="Google Shape;352;p11"/>
            <p:cNvSpPr txBox="1"/>
            <p:nvPr/>
          </p:nvSpPr>
          <p:spPr>
            <a:xfrm>
              <a:off x="3938" y="9079"/>
              <a:ext cx="2365" cy="369"/>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Figure 2 – Transfer Function</a:t>
              </a:r>
              <a:endParaRPr sz="1200">
                <a:solidFill>
                  <a:schemeClr val="dk1"/>
                </a:solidFill>
                <a:latin typeface="Times New Roman"/>
                <a:ea typeface="Times New Roman"/>
                <a:cs typeface="Times New Roman"/>
                <a:sym typeface="Times New Roman"/>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12"/>
          <p:cNvSpPr/>
          <p:nvPr/>
        </p:nvSpPr>
        <p:spPr>
          <a:xfrm>
            <a:off x="211014" y="633171"/>
            <a:ext cx="11676185" cy="6088270"/>
          </a:xfrm>
          <a:prstGeom prst="rect">
            <a:avLst/>
          </a:prstGeom>
          <a:blipFill rotWithShape="1">
            <a:blip r:embed="rId3">
              <a:alphaModFix/>
            </a:blip>
            <a:stretch>
              <a:fillRect b="-2100" l="-1357" r="0" t="-140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13"/>
          <p:cNvSpPr/>
          <p:nvPr/>
        </p:nvSpPr>
        <p:spPr>
          <a:xfrm>
            <a:off x="253538" y="418306"/>
            <a:ext cx="10029419" cy="3508653"/>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Arial"/>
              <a:buNone/>
            </a:pPr>
            <a:r>
              <a:t/>
            </a:r>
            <a:endParaRPr b="0" i="0" sz="3200" u="none" cap="none" strike="noStrike">
              <a:solidFill>
                <a:srgbClr val="C00000"/>
              </a:solidFill>
              <a:latin typeface="Arial"/>
              <a:ea typeface="Arial"/>
              <a:cs typeface="Arial"/>
              <a:sym typeface="Arial"/>
            </a:endParaRPr>
          </a:p>
          <a:p>
            <a:pPr indent="0" lvl="0" marL="0" marR="0" rtl="0" algn="just">
              <a:lnSpc>
                <a:spcPct val="100000"/>
              </a:lnSpc>
              <a:spcBef>
                <a:spcPts val="600"/>
              </a:spcBef>
              <a:spcAft>
                <a:spcPts val="0"/>
              </a:spcAft>
              <a:buClr>
                <a:srgbClr val="C00000"/>
              </a:buClr>
              <a:buSzPts val="3200"/>
              <a:buFont typeface="Arial"/>
              <a:buNone/>
            </a:pPr>
            <a:r>
              <a:rPr b="0" i="0" lang="en-GB" sz="3200" u="none" cap="none" strike="noStrike">
                <a:solidFill>
                  <a:srgbClr val="C00000"/>
                </a:solidFill>
                <a:latin typeface="Arial"/>
                <a:ea typeface="Arial"/>
                <a:cs typeface="Arial"/>
                <a:sym typeface="Arial"/>
              </a:rPr>
              <a:t>(a) </a:t>
            </a:r>
            <a:r>
              <a:rPr b="0" i="1" lang="en-GB" sz="3200" u="none" cap="none" strike="noStrike">
                <a:solidFill>
                  <a:srgbClr val="C00000"/>
                </a:solidFill>
                <a:latin typeface="Arial"/>
                <a:ea typeface="Arial"/>
                <a:cs typeface="Arial"/>
                <a:sym typeface="Arial"/>
              </a:rPr>
              <a:t>Unit impulse function  </a:t>
            </a:r>
            <a:r>
              <a:rPr b="0" i="1" lang="en-GB" sz="3200" u="none" cap="none" strike="noStrike">
                <a:solidFill>
                  <a:srgbClr val="C00000"/>
                </a:solidFill>
                <a:latin typeface="Noto Sans Symbols"/>
                <a:ea typeface="Noto Sans Symbols"/>
                <a:cs typeface="Noto Sans Symbols"/>
                <a:sym typeface="Noto Sans Symbols"/>
              </a:rPr>
              <a:t>δ</a:t>
            </a:r>
            <a:r>
              <a:rPr b="0" i="1" lang="en-GB" sz="3200" u="none" cap="none" strike="noStrike">
                <a:solidFill>
                  <a:srgbClr val="C00000"/>
                </a:solidFill>
                <a:latin typeface="Arial"/>
                <a:ea typeface="Arial"/>
                <a:cs typeface="Arial"/>
                <a:sym typeface="Arial"/>
              </a:rPr>
              <a:t>(t)</a:t>
            </a:r>
            <a:endParaRPr b="0" i="0" sz="3200" u="none" cap="none" strike="noStrike">
              <a:solidFill>
                <a:schemeClr val="dk1"/>
              </a:solidFill>
              <a:latin typeface="Arial"/>
              <a:ea typeface="Arial"/>
              <a:cs typeface="Arial"/>
              <a:sym typeface="Arial"/>
            </a:endParaRPr>
          </a:p>
          <a:p>
            <a:pPr indent="0" lvl="0" marL="0" marR="0" rtl="0" algn="just">
              <a:lnSpc>
                <a:spcPct val="100000"/>
              </a:lnSpc>
              <a:spcBef>
                <a:spcPts val="600"/>
              </a:spcBef>
              <a:spcAft>
                <a:spcPts val="0"/>
              </a:spcAft>
              <a:buClr>
                <a:srgbClr val="002060"/>
              </a:buClr>
              <a:buSzPts val="3200"/>
              <a:buFont typeface="Arial"/>
              <a:buNone/>
            </a:pPr>
            <a:r>
              <a:rPr b="0" i="0" lang="en-GB" sz="3200" u="none" cap="none" strike="noStrike">
                <a:solidFill>
                  <a:srgbClr val="002060"/>
                </a:solidFill>
                <a:latin typeface="Arial"/>
                <a:ea typeface="Arial"/>
                <a:cs typeface="Arial"/>
                <a:sym typeface="Arial"/>
              </a:rPr>
              <a:t>Unit impulse has a value 0 at all values of t other than at t = 0 where it has an infinite magnitude.  </a:t>
            </a:r>
            <a:endParaRPr b="0" i="0" sz="32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2060"/>
              </a:buClr>
              <a:buSzPts val="3200"/>
              <a:buFont typeface="Arial"/>
              <a:buNone/>
            </a:pPr>
            <a:r>
              <a:rPr b="0" i="0" lang="en-GB" sz="3200" u="none" cap="none" strike="noStrike">
                <a:solidFill>
                  <a:srgbClr val="002060"/>
                </a:solidFill>
                <a:latin typeface="Arial"/>
                <a:ea typeface="Arial"/>
                <a:cs typeface="Arial"/>
                <a:sym typeface="Arial"/>
              </a:rPr>
              <a:t>Integral of unit impulse function over time is equal to 1. </a:t>
            </a:r>
            <a:endParaRPr b="0" i="0" sz="32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2060"/>
              </a:buClr>
              <a:buSzPts val="2000"/>
              <a:buFont typeface="Arial"/>
              <a:buNone/>
            </a:pPr>
            <a:r>
              <a:rPr b="0" i="0" lang="en-GB" sz="2000" u="none" cap="none" strike="noStrike">
                <a:solidFill>
                  <a:srgbClr val="002060"/>
                </a:solidFill>
                <a:latin typeface="Arial"/>
                <a:ea typeface="Arial"/>
                <a:cs typeface="Arial"/>
                <a:sym typeface="Arial"/>
              </a:rPr>
              <a:t>	</a:t>
            </a:r>
            <a:endParaRPr b="0" i="0" sz="3200" u="none" cap="none" strike="noStrike">
              <a:solidFill>
                <a:srgbClr val="002060"/>
              </a:solidFill>
              <a:latin typeface="Arial"/>
              <a:ea typeface="Arial"/>
              <a:cs typeface="Arial"/>
              <a:sym typeface="Arial"/>
            </a:endParaRPr>
          </a:p>
          <a:p>
            <a:pPr indent="0" lvl="0" marL="0" marR="0" rtl="0" algn="just">
              <a:lnSpc>
                <a:spcPct val="100000"/>
              </a:lnSpc>
              <a:spcBef>
                <a:spcPts val="0"/>
              </a:spcBef>
              <a:spcAft>
                <a:spcPts val="0"/>
              </a:spcAft>
              <a:buClr>
                <a:srgbClr val="002060"/>
              </a:buClr>
              <a:buSzPts val="3200"/>
              <a:buFont typeface="Arial"/>
              <a:buNone/>
            </a:pPr>
            <a:r>
              <a:rPr b="0" i="0" lang="en-GB" sz="3200" u="none" cap="none" strike="noStrike">
                <a:solidFill>
                  <a:srgbClr val="002060"/>
                </a:solidFill>
                <a:latin typeface="Arial"/>
                <a:ea typeface="Arial"/>
                <a:cs typeface="Arial"/>
                <a:sym typeface="Arial"/>
              </a:rPr>
              <a:t>L  [</a:t>
            </a:r>
            <a:r>
              <a:rPr b="0" i="1" lang="en-GB" sz="3200" u="none" cap="none" strike="noStrike">
                <a:solidFill>
                  <a:srgbClr val="002060"/>
                </a:solidFill>
                <a:latin typeface="Noto Sans Symbols"/>
                <a:ea typeface="Noto Sans Symbols"/>
                <a:cs typeface="Noto Sans Symbols"/>
                <a:sym typeface="Noto Sans Symbols"/>
              </a:rPr>
              <a:t>δ</a:t>
            </a:r>
            <a:r>
              <a:rPr b="0" i="1" lang="en-GB" sz="3200" u="none" cap="none" strike="noStrike">
                <a:solidFill>
                  <a:srgbClr val="002060"/>
                </a:solidFill>
                <a:latin typeface="Arial"/>
                <a:ea typeface="Arial"/>
                <a:cs typeface="Arial"/>
                <a:sym typeface="Arial"/>
              </a:rPr>
              <a:t>(t)</a:t>
            </a:r>
            <a:r>
              <a:rPr b="0" i="0" lang="en-GB" sz="3200" u="none" cap="none" strike="noStrike">
                <a:solidFill>
                  <a:srgbClr val="002060"/>
                </a:solidFill>
                <a:latin typeface="Arial"/>
                <a:ea typeface="Arial"/>
                <a:cs typeface="Arial"/>
                <a:sym typeface="Arial"/>
              </a:rPr>
              <a:t>] = </a:t>
            </a:r>
            <a:endParaRPr b="0" i="0" sz="3200" u="none" cap="none" strike="noStrike">
              <a:solidFill>
                <a:schemeClr val="dk1"/>
              </a:solidFill>
              <a:latin typeface="Arial"/>
              <a:ea typeface="Arial"/>
              <a:cs typeface="Arial"/>
              <a:sym typeface="Arial"/>
            </a:endParaRPr>
          </a:p>
        </p:txBody>
      </p:sp>
      <p:sp>
        <p:nvSpPr>
          <p:cNvPr id="363" name="Google Shape;363;p13"/>
          <p:cNvSpPr txBox="1"/>
          <p:nvPr>
            <p:ph type="title"/>
          </p:nvPr>
        </p:nvSpPr>
        <p:spPr>
          <a:xfrm>
            <a:off x="429715" y="574429"/>
            <a:ext cx="10924085" cy="5517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Times New Roman"/>
              <a:buNone/>
            </a:pPr>
            <a:r>
              <a:rPr lang="en-GB"/>
              <a:t>Laplace Transform of Special Causal Functions</a:t>
            </a:r>
            <a:endParaRPr/>
          </a:p>
        </p:txBody>
      </p:sp>
      <p:pic>
        <p:nvPicPr>
          <p:cNvPr id="364" name="Google Shape;364;p13"/>
          <p:cNvPicPr preferRelativeResize="0"/>
          <p:nvPr/>
        </p:nvPicPr>
        <p:blipFill rotWithShape="1">
          <a:blip r:embed="rId3">
            <a:alphaModFix/>
          </a:blip>
          <a:srcRect b="0" l="0" r="0" t="0"/>
          <a:stretch/>
        </p:blipFill>
        <p:spPr>
          <a:xfrm>
            <a:off x="2306391" y="2783496"/>
            <a:ext cx="2990850" cy="1428750"/>
          </a:xfrm>
          <a:prstGeom prst="rect">
            <a:avLst/>
          </a:prstGeom>
          <a:noFill/>
          <a:ln>
            <a:noFill/>
          </a:ln>
        </p:spPr>
      </p:pic>
      <p:pic>
        <p:nvPicPr>
          <p:cNvPr id="365" name="Google Shape;365;p13"/>
          <p:cNvPicPr preferRelativeResize="0"/>
          <p:nvPr/>
        </p:nvPicPr>
        <p:blipFill rotWithShape="1">
          <a:blip r:embed="rId4">
            <a:alphaModFix/>
          </a:blip>
          <a:srcRect b="0" l="0" r="0" t="0"/>
          <a:stretch/>
        </p:blipFill>
        <p:spPr>
          <a:xfrm>
            <a:off x="2719751" y="4991100"/>
            <a:ext cx="5048250" cy="1409700"/>
          </a:xfrm>
          <a:prstGeom prst="rect">
            <a:avLst/>
          </a:prstGeom>
          <a:noFill/>
          <a:ln>
            <a:noFill/>
          </a:ln>
        </p:spPr>
      </p:pic>
      <p:grpSp>
        <p:nvGrpSpPr>
          <p:cNvPr id="366" name="Google Shape;366;p13"/>
          <p:cNvGrpSpPr/>
          <p:nvPr/>
        </p:nvGrpSpPr>
        <p:grpSpPr>
          <a:xfrm>
            <a:off x="9426601" y="2121413"/>
            <a:ext cx="3044825" cy="2924175"/>
            <a:chOff x="8858" y="14378"/>
            <a:chExt cx="1920" cy="1440"/>
          </a:xfrm>
        </p:grpSpPr>
        <p:grpSp>
          <p:nvGrpSpPr>
            <p:cNvPr id="367" name="Google Shape;367;p13"/>
            <p:cNvGrpSpPr/>
            <p:nvPr/>
          </p:nvGrpSpPr>
          <p:grpSpPr>
            <a:xfrm>
              <a:off x="8858" y="14378"/>
              <a:ext cx="1680" cy="1080"/>
              <a:chOff x="8858" y="2498"/>
              <a:chExt cx="1680" cy="1080"/>
            </a:xfrm>
          </p:grpSpPr>
          <p:cxnSp>
            <p:nvCxnSpPr>
              <p:cNvPr id="368" name="Google Shape;368;p13"/>
              <p:cNvCxnSpPr/>
              <p:nvPr/>
            </p:nvCxnSpPr>
            <p:spPr>
              <a:xfrm>
                <a:off x="8858" y="3578"/>
                <a:ext cx="1680" cy="0"/>
              </a:xfrm>
              <a:prstGeom prst="straightConnector1">
                <a:avLst/>
              </a:prstGeom>
              <a:noFill/>
              <a:ln cap="flat" cmpd="sng" w="38100">
                <a:solidFill>
                  <a:srgbClr val="002060"/>
                </a:solidFill>
                <a:prstDash val="solid"/>
                <a:round/>
                <a:headEnd len="med" w="med" type="none"/>
                <a:tailEnd len="med" w="med" type="stealth"/>
              </a:ln>
            </p:spPr>
          </p:cxnSp>
          <p:cxnSp>
            <p:nvCxnSpPr>
              <p:cNvPr id="369" name="Google Shape;369;p13"/>
              <p:cNvCxnSpPr/>
              <p:nvPr/>
            </p:nvCxnSpPr>
            <p:spPr>
              <a:xfrm>
                <a:off x="9578" y="2678"/>
                <a:ext cx="0" cy="900"/>
              </a:xfrm>
              <a:prstGeom prst="straightConnector1">
                <a:avLst/>
              </a:prstGeom>
              <a:noFill/>
              <a:ln cap="flat" cmpd="sng" w="38100">
                <a:solidFill>
                  <a:srgbClr val="002060"/>
                </a:solidFill>
                <a:prstDash val="solid"/>
                <a:round/>
                <a:headEnd len="med" w="med" type="stealth"/>
                <a:tailEnd len="med" w="med" type="none"/>
              </a:ln>
            </p:spPr>
          </p:cxnSp>
          <p:cxnSp>
            <p:nvCxnSpPr>
              <p:cNvPr id="370" name="Google Shape;370;p13"/>
              <p:cNvCxnSpPr/>
              <p:nvPr/>
            </p:nvCxnSpPr>
            <p:spPr>
              <a:xfrm rot="10800000">
                <a:off x="9578" y="3038"/>
                <a:ext cx="0" cy="540"/>
              </a:xfrm>
              <a:prstGeom prst="straightConnector1">
                <a:avLst/>
              </a:prstGeom>
              <a:noFill/>
              <a:ln cap="flat" cmpd="sng" w="57150">
                <a:solidFill>
                  <a:srgbClr val="C00000"/>
                </a:solidFill>
                <a:prstDash val="solid"/>
                <a:round/>
                <a:headEnd len="med" w="med" type="none"/>
                <a:tailEnd len="med" w="med" type="triangle"/>
              </a:ln>
            </p:spPr>
          </p:cxnSp>
          <p:sp>
            <p:nvSpPr>
              <p:cNvPr id="371" name="Google Shape;371;p13"/>
              <p:cNvSpPr txBox="1"/>
              <p:nvPr/>
            </p:nvSpPr>
            <p:spPr>
              <a:xfrm>
                <a:off x="9698" y="2498"/>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Noto Sans Symbols"/>
                    <a:ea typeface="Noto Sans Symbols"/>
                    <a:cs typeface="Noto Sans Symbols"/>
                    <a:sym typeface="Noto Sans Symbols"/>
                  </a:rPr>
                  <a:t>δ</a:t>
                </a:r>
                <a:r>
                  <a:rPr lang="en-GB" sz="36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sp>
            <p:nvSpPr>
              <p:cNvPr id="372" name="Google Shape;372;p13"/>
              <p:cNvSpPr txBox="1"/>
              <p:nvPr/>
            </p:nvSpPr>
            <p:spPr>
              <a:xfrm>
                <a:off x="9678" y="2858"/>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a:t>
                </a:r>
                <a:endParaRPr sz="1200">
                  <a:solidFill>
                    <a:schemeClr val="dk1"/>
                  </a:solidFill>
                  <a:latin typeface="Times New Roman"/>
                  <a:ea typeface="Times New Roman"/>
                  <a:cs typeface="Times New Roman"/>
                  <a:sym typeface="Times New Roman"/>
                </a:endParaRPr>
              </a:p>
            </p:txBody>
          </p:sp>
        </p:grpSp>
        <p:sp>
          <p:nvSpPr>
            <p:cNvPr id="373" name="Google Shape;373;p13"/>
            <p:cNvSpPr txBox="1"/>
            <p:nvPr/>
          </p:nvSpPr>
          <p:spPr>
            <a:xfrm>
              <a:off x="10418" y="1545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grpSp>
      <p:grpSp>
        <p:nvGrpSpPr>
          <p:cNvPr id="374" name="Google Shape;374;p13"/>
          <p:cNvGrpSpPr/>
          <p:nvPr/>
        </p:nvGrpSpPr>
        <p:grpSpPr>
          <a:xfrm>
            <a:off x="7255407" y="4599622"/>
            <a:ext cx="2888615" cy="2192655"/>
            <a:chOff x="11613" y="8264"/>
            <a:chExt cx="4549" cy="3453"/>
          </a:xfrm>
        </p:grpSpPr>
        <p:sp>
          <p:nvSpPr>
            <p:cNvPr id="375" name="Google Shape;375;p13"/>
            <p:cNvSpPr txBox="1"/>
            <p:nvPr/>
          </p:nvSpPr>
          <p:spPr>
            <a:xfrm>
              <a:off x="11613" y="8264"/>
              <a:ext cx="1700" cy="85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Noto Sans Symbols"/>
                  <a:ea typeface="Noto Sans Symbols"/>
                  <a:cs typeface="Noto Sans Symbols"/>
                  <a:sym typeface="Noto Sans Symbols"/>
                </a:rPr>
                <a:t>δ</a:t>
              </a:r>
              <a:r>
                <a:rPr lang="en-GB" sz="3600">
                  <a:solidFill>
                    <a:srgbClr val="002060"/>
                  </a:solidFill>
                  <a:latin typeface="Times New Roman"/>
                  <a:ea typeface="Times New Roman"/>
                  <a:cs typeface="Times New Roman"/>
                  <a:sym typeface="Times New Roman"/>
                </a:rPr>
                <a:t>(t-t</a:t>
              </a:r>
              <a:r>
                <a:rPr baseline="-25000" lang="en-GB" sz="3600">
                  <a:solidFill>
                    <a:srgbClr val="002060"/>
                  </a:solidFill>
                  <a:latin typeface="Times New Roman"/>
                  <a:ea typeface="Times New Roman"/>
                  <a:cs typeface="Times New Roman"/>
                  <a:sym typeface="Times New Roman"/>
                </a:rPr>
                <a:t>i</a:t>
              </a:r>
              <a:r>
                <a:rPr lang="en-GB" sz="3600">
                  <a:solidFill>
                    <a:srgbClr val="002060"/>
                  </a:solidFill>
                  <a:latin typeface="Times New Roman"/>
                  <a:ea typeface="Times New Roman"/>
                  <a:cs typeface="Times New Roman"/>
                  <a:sym typeface="Times New Roman"/>
                </a:rPr>
                <a:t>)</a:t>
              </a:r>
              <a:endParaRPr sz="1200">
                <a:solidFill>
                  <a:schemeClr val="dk1"/>
                </a:solidFill>
                <a:latin typeface="Times New Roman"/>
                <a:ea typeface="Times New Roman"/>
                <a:cs typeface="Times New Roman"/>
                <a:sym typeface="Times New Roman"/>
              </a:endParaRPr>
            </a:p>
          </p:txBody>
        </p:sp>
        <p:grpSp>
          <p:nvGrpSpPr>
            <p:cNvPr id="376" name="Google Shape;376;p13"/>
            <p:cNvGrpSpPr/>
            <p:nvPr/>
          </p:nvGrpSpPr>
          <p:grpSpPr>
            <a:xfrm>
              <a:off x="11655" y="8562"/>
              <a:ext cx="4507" cy="3155"/>
              <a:chOff x="8858" y="4118"/>
              <a:chExt cx="1800" cy="1260"/>
            </a:xfrm>
          </p:grpSpPr>
          <p:cxnSp>
            <p:nvCxnSpPr>
              <p:cNvPr id="377" name="Google Shape;377;p13"/>
              <p:cNvCxnSpPr/>
              <p:nvPr/>
            </p:nvCxnSpPr>
            <p:spPr>
              <a:xfrm>
                <a:off x="8858" y="5018"/>
                <a:ext cx="1680" cy="0"/>
              </a:xfrm>
              <a:prstGeom prst="straightConnector1">
                <a:avLst/>
              </a:prstGeom>
              <a:noFill/>
              <a:ln cap="flat" cmpd="sng" w="38100">
                <a:solidFill>
                  <a:srgbClr val="002060"/>
                </a:solidFill>
                <a:prstDash val="solid"/>
                <a:round/>
                <a:headEnd len="med" w="med" type="none"/>
                <a:tailEnd len="med" w="med" type="stealth"/>
              </a:ln>
            </p:spPr>
          </p:cxnSp>
          <p:cxnSp>
            <p:nvCxnSpPr>
              <p:cNvPr id="378" name="Google Shape;378;p13"/>
              <p:cNvCxnSpPr/>
              <p:nvPr/>
            </p:nvCxnSpPr>
            <p:spPr>
              <a:xfrm>
                <a:off x="9578" y="4118"/>
                <a:ext cx="0" cy="900"/>
              </a:xfrm>
              <a:prstGeom prst="straightConnector1">
                <a:avLst/>
              </a:prstGeom>
              <a:noFill/>
              <a:ln cap="flat" cmpd="sng" w="38100">
                <a:solidFill>
                  <a:srgbClr val="002060"/>
                </a:solidFill>
                <a:prstDash val="solid"/>
                <a:round/>
                <a:headEnd len="med" w="med" type="stealth"/>
                <a:tailEnd len="med" w="med" type="none"/>
              </a:ln>
            </p:spPr>
          </p:cxnSp>
          <p:cxnSp>
            <p:nvCxnSpPr>
              <p:cNvPr id="379" name="Google Shape;379;p13"/>
              <p:cNvCxnSpPr/>
              <p:nvPr/>
            </p:nvCxnSpPr>
            <p:spPr>
              <a:xfrm rot="10800000">
                <a:off x="9998" y="4478"/>
                <a:ext cx="0" cy="540"/>
              </a:xfrm>
              <a:prstGeom prst="straightConnector1">
                <a:avLst/>
              </a:prstGeom>
              <a:noFill/>
              <a:ln cap="flat" cmpd="sng" w="57150">
                <a:solidFill>
                  <a:srgbClr val="C00000"/>
                </a:solidFill>
                <a:prstDash val="solid"/>
                <a:round/>
                <a:headEnd len="med" w="med" type="none"/>
                <a:tailEnd len="med" w="med" type="triangle"/>
              </a:ln>
            </p:spPr>
          </p:cxnSp>
          <p:sp>
            <p:nvSpPr>
              <p:cNvPr id="380" name="Google Shape;380;p13"/>
              <p:cNvSpPr txBox="1"/>
              <p:nvPr/>
            </p:nvSpPr>
            <p:spPr>
              <a:xfrm>
                <a:off x="10012" y="4298"/>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a:t>
                </a:r>
                <a:endParaRPr sz="1200">
                  <a:solidFill>
                    <a:schemeClr val="dk1"/>
                  </a:solidFill>
                  <a:latin typeface="Times New Roman"/>
                  <a:ea typeface="Times New Roman"/>
                  <a:cs typeface="Times New Roman"/>
                  <a:sym typeface="Times New Roman"/>
                </a:endParaRPr>
              </a:p>
            </p:txBody>
          </p:sp>
          <p:sp>
            <p:nvSpPr>
              <p:cNvPr id="381" name="Google Shape;381;p13"/>
              <p:cNvSpPr txBox="1"/>
              <p:nvPr/>
            </p:nvSpPr>
            <p:spPr>
              <a:xfrm>
                <a:off x="10298" y="465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sp>
            <p:nvSpPr>
              <p:cNvPr id="382" name="Google Shape;382;p13"/>
              <p:cNvSpPr txBox="1"/>
              <p:nvPr/>
            </p:nvSpPr>
            <p:spPr>
              <a:xfrm>
                <a:off x="9938" y="501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t</a:t>
                </a:r>
                <a:r>
                  <a:rPr baseline="-25000" lang="en-GB" sz="3600">
                    <a:solidFill>
                      <a:srgbClr val="002060"/>
                    </a:solidFill>
                    <a:latin typeface="Times New Roman"/>
                    <a:ea typeface="Times New Roman"/>
                    <a:cs typeface="Times New Roman"/>
                    <a:sym typeface="Times New Roman"/>
                  </a:rPr>
                  <a:t>i</a:t>
                </a:r>
                <a:endParaRPr sz="1200">
                  <a:solidFill>
                    <a:schemeClr val="dk1"/>
                  </a:solidFill>
                  <a:latin typeface="Times New Roman"/>
                  <a:ea typeface="Times New Roman"/>
                  <a:cs typeface="Times New Roman"/>
                  <a:sym typeface="Times New Roman"/>
                </a:endParaRPr>
              </a:p>
            </p:txBody>
          </p:sp>
        </p:grpSp>
      </p:grpSp>
      <p:sp>
        <p:nvSpPr>
          <p:cNvPr id="383" name="Google Shape;383;p13"/>
          <p:cNvSpPr/>
          <p:nvPr/>
        </p:nvSpPr>
        <p:spPr>
          <a:xfrm>
            <a:off x="0" y="0"/>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13"/>
          <p:cNvSpPr/>
          <p:nvPr/>
        </p:nvSpPr>
        <p:spPr>
          <a:xfrm>
            <a:off x="183040" y="4045986"/>
            <a:ext cx="7237552" cy="107721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200"/>
              <a:buFont typeface="Arial"/>
              <a:buNone/>
            </a:pPr>
            <a:r>
              <a:rPr b="0" i="0" lang="en-GB" sz="3200" u="none" cap="none" strike="noStrike">
                <a:solidFill>
                  <a:srgbClr val="002060"/>
                </a:solidFill>
                <a:latin typeface="Arial"/>
                <a:ea typeface="Arial"/>
                <a:cs typeface="Arial"/>
                <a:sym typeface="Arial"/>
              </a:rPr>
              <a:t>If unit impulse occurs at t = t</a:t>
            </a:r>
            <a:r>
              <a:rPr b="0" baseline="-25000" i="0" lang="en-GB" sz="3200" u="none" cap="none" strike="noStrike">
                <a:solidFill>
                  <a:srgbClr val="002060"/>
                </a:solidFill>
                <a:latin typeface="Arial"/>
                <a:ea typeface="Arial"/>
                <a:cs typeface="Arial"/>
                <a:sym typeface="Arial"/>
              </a:rPr>
              <a:t>i</a:t>
            </a:r>
            <a:r>
              <a:rPr b="0" i="0" lang="en-GB" sz="3200" u="none" cap="none" strike="noStrike">
                <a:solidFill>
                  <a:srgbClr val="002060"/>
                </a:solidFill>
                <a:latin typeface="Arial"/>
                <a:ea typeface="Arial"/>
                <a:cs typeface="Arial"/>
                <a:sym typeface="Arial"/>
              </a:rPr>
              <a:t>, rather than at t = 0, function is </a:t>
            </a:r>
            <a:r>
              <a:rPr b="0" i="1" lang="en-GB" sz="3200" u="none" cap="none" strike="noStrike">
                <a:solidFill>
                  <a:srgbClr val="002060"/>
                </a:solidFill>
                <a:latin typeface="Noto Sans Symbols"/>
                <a:ea typeface="Noto Sans Symbols"/>
                <a:cs typeface="Noto Sans Symbols"/>
                <a:sym typeface="Noto Sans Symbols"/>
              </a:rPr>
              <a:t>δ </a:t>
            </a:r>
            <a:r>
              <a:rPr b="0" i="1" lang="en-GB" sz="3200" u="none" cap="none" strike="noStrike">
                <a:solidFill>
                  <a:srgbClr val="002060"/>
                </a:solidFill>
                <a:latin typeface="Arial"/>
                <a:ea typeface="Arial"/>
                <a:cs typeface="Arial"/>
                <a:sym typeface="Arial"/>
              </a:rPr>
              <a:t>(t </a:t>
            </a:r>
            <a:r>
              <a:rPr b="0" i="1" lang="en-GB" sz="3200" u="none" cap="none" strike="noStrike">
                <a:solidFill>
                  <a:srgbClr val="002060"/>
                </a:solidFill>
                <a:latin typeface="Noto Sans Symbols"/>
                <a:ea typeface="Noto Sans Symbols"/>
                <a:cs typeface="Noto Sans Symbols"/>
                <a:sym typeface="Noto Sans Symbols"/>
              </a:rPr>
              <a:t>− </a:t>
            </a:r>
            <a:r>
              <a:rPr b="0" i="1" lang="en-GB" sz="3200" u="none" cap="none" strike="noStrike">
                <a:solidFill>
                  <a:srgbClr val="002060"/>
                </a:solidFill>
                <a:latin typeface="Arial"/>
                <a:ea typeface="Arial"/>
                <a:cs typeface="Arial"/>
                <a:sym typeface="Arial"/>
              </a:rPr>
              <a:t>t</a:t>
            </a:r>
            <a:r>
              <a:rPr b="0" baseline="-25000" i="1" lang="en-GB" sz="3200" u="none" cap="none" strike="noStrike">
                <a:solidFill>
                  <a:srgbClr val="002060"/>
                </a:solidFill>
                <a:latin typeface="Arial"/>
                <a:ea typeface="Arial"/>
                <a:cs typeface="Arial"/>
                <a:sym typeface="Arial"/>
              </a:rPr>
              <a:t>i</a:t>
            </a:r>
            <a:r>
              <a:rPr b="0" i="1" lang="en-GB" sz="3200" u="none" cap="none" strike="noStrike">
                <a:solidFill>
                  <a:srgbClr val="002060"/>
                </a:solidFill>
                <a:latin typeface="Arial"/>
                <a:ea typeface="Arial"/>
                <a:cs typeface="Arial"/>
                <a:sym typeface="Arial"/>
              </a:rPr>
              <a:t>).</a:t>
            </a:r>
            <a:endParaRPr b="0" i="0" sz="1050" u="none" cap="none" strike="noStrike">
              <a:solidFill>
                <a:schemeClr val="dk1"/>
              </a:solidFill>
              <a:latin typeface="Arial"/>
              <a:ea typeface="Arial"/>
              <a:cs typeface="Arial"/>
              <a:sym typeface="Arial"/>
            </a:endParaRPr>
          </a:p>
        </p:txBody>
      </p:sp>
      <p:sp>
        <p:nvSpPr>
          <p:cNvPr id="385" name="Google Shape;385;p13"/>
          <p:cNvSpPr/>
          <p:nvPr/>
        </p:nvSpPr>
        <p:spPr>
          <a:xfrm>
            <a:off x="70336" y="5416371"/>
            <a:ext cx="3607005"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Arial"/>
              <a:buNone/>
            </a:pPr>
            <a:r>
              <a:rPr b="0" i="0" lang="en-GB" sz="3600" u="none" cap="none" strike="noStrike">
                <a:solidFill>
                  <a:srgbClr val="002060"/>
                </a:solidFill>
                <a:latin typeface="Arial"/>
                <a:ea typeface="Arial"/>
                <a:cs typeface="Arial"/>
                <a:sym typeface="Arial"/>
              </a:rPr>
              <a:t>L</a:t>
            </a:r>
            <a:r>
              <a:rPr b="0" i="0" lang="en-GB" sz="3600" u="none" cap="none" strike="noStrike">
                <a:solidFill>
                  <a:srgbClr val="002060"/>
                </a:solidFill>
                <a:latin typeface="Calibri"/>
                <a:ea typeface="Calibri"/>
                <a:cs typeface="Calibri"/>
                <a:sym typeface="Calibri"/>
              </a:rPr>
              <a:t> </a:t>
            </a:r>
            <a:r>
              <a:rPr b="0" i="0" lang="en-GB" sz="3600" u="none" cap="none" strike="noStrike">
                <a:solidFill>
                  <a:srgbClr val="002060"/>
                </a:solidFill>
                <a:latin typeface="Arial"/>
                <a:ea typeface="Arial"/>
                <a:cs typeface="Arial"/>
                <a:sym typeface="Arial"/>
              </a:rPr>
              <a:t> [</a:t>
            </a:r>
            <a:r>
              <a:rPr b="0" i="1" lang="en-GB" sz="3600" u="none" cap="none" strike="noStrike">
                <a:solidFill>
                  <a:srgbClr val="002060"/>
                </a:solidFill>
                <a:latin typeface="Noto Sans Symbols"/>
                <a:ea typeface="Noto Sans Symbols"/>
                <a:cs typeface="Noto Sans Symbols"/>
                <a:sym typeface="Noto Sans Symbols"/>
              </a:rPr>
              <a:t>δ</a:t>
            </a:r>
            <a:r>
              <a:rPr b="0" i="1" lang="en-GB" sz="3600" u="none" cap="none" strike="noStrike">
                <a:solidFill>
                  <a:srgbClr val="002060"/>
                </a:solidFill>
                <a:latin typeface="Calibri"/>
                <a:ea typeface="Calibri"/>
                <a:cs typeface="Calibri"/>
                <a:sym typeface="Calibri"/>
              </a:rPr>
              <a:t>(t </a:t>
            </a:r>
            <a:r>
              <a:rPr b="0" i="1" lang="en-GB" sz="3600" u="none" cap="none" strike="noStrike">
                <a:solidFill>
                  <a:srgbClr val="002060"/>
                </a:solidFill>
                <a:latin typeface="Noto Sans Symbols"/>
                <a:ea typeface="Noto Sans Symbols"/>
                <a:cs typeface="Noto Sans Symbols"/>
                <a:sym typeface="Noto Sans Symbols"/>
              </a:rPr>
              <a:t>− </a:t>
            </a:r>
            <a:r>
              <a:rPr b="0" i="1" lang="en-GB" sz="3600" u="none" cap="none" strike="noStrike">
                <a:solidFill>
                  <a:srgbClr val="002060"/>
                </a:solidFill>
                <a:latin typeface="Calibri"/>
                <a:ea typeface="Calibri"/>
                <a:cs typeface="Calibri"/>
                <a:sym typeface="Calibri"/>
              </a:rPr>
              <a:t>t</a:t>
            </a:r>
            <a:r>
              <a:rPr b="0" baseline="-25000" i="1" lang="en-GB" sz="3600" u="none" cap="none" strike="noStrike">
                <a:solidFill>
                  <a:srgbClr val="002060"/>
                </a:solidFill>
                <a:latin typeface="Arial"/>
                <a:ea typeface="Arial"/>
                <a:cs typeface="Arial"/>
                <a:sym typeface="Arial"/>
              </a:rPr>
              <a:t>i</a:t>
            </a:r>
            <a:r>
              <a:rPr b="0" i="1" lang="en-GB" sz="3600" u="none" cap="none" strike="noStrike">
                <a:solidFill>
                  <a:srgbClr val="002060"/>
                </a:solidFill>
                <a:latin typeface="Arial"/>
                <a:ea typeface="Arial"/>
                <a:cs typeface="Arial"/>
                <a:sym typeface="Arial"/>
              </a:rPr>
              <a:t>)</a:t>
            </a:r>
            <a:r>
              <a:rPr b="0" i="0" lang="en-GB" sz="3600" u="none" cap="none" strike="noStrike">
                <a:solidFill>
                  <a:srgbClr val="002060"/>
                </a:solidFill>
                <a:latin typeface="Arial"/>
                <a:ea typeface="Arial"/>
                <a:cs typeface="Arial"/>
                <a:sym typeface="Arial"/>
              </a:rPr>
              <a:t>] = </a:t>
            </a:r>
            <a:endParaRPr b="0" i="0" sz="3600" u="none" cap="none" strike="noStrike">
              <a:solidFill>
                <a:schemeClr val="dk1"/>
              </a:solidFill>
              <a:latin typeface="Arial"/>
              <a:ea typeface="Arial"/>
              <a:cs typeface="Arial"/>
              <a:sym typeface="Arial"/>
            </a:endParaRPr>
          </a:p>
        </p:txBody>
      </p:sp>
      <p:sp>
        <p:nvSpPr>
          <p:cNvPr id="386" name="Google Shape;386;p13"/>
          <p:cNvSpPr/>
          <p:nvPr/>
        </p:nvSpPr>
        <p:spPr>
          <a:xfrm>
            <a:off x="5517958" y="3217979"/>
            <a:ext cx="96693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3600">
                <a:solidFill>
                  <a:srgbClr val="002060"/>
                </a:solidFill>
                <a:latin typeface="Arial"/>
                <a:ea typeface="Arial"/>
                <a:cs typeface="Arial"/>
                <a:sym typeface="Arial"/>
              </a:rPr>
              <a:t> = 1</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14"/>
          <p:cNvSpPr txBox="1"/>
          <p:nvPr>
            <p:ph type="title"/>
          </p:nvPr>
        </p:nvSpPr>
        <p:spPr>
          <a:xfrm>
            <a:off x="429715" y="457199"/>
            <a:ext cx="10924085" cy="5517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Times New Roman"/>
              <a:buNone/>
            </a:pPr>
            <a:r>
              <a:rPr lang="en-GB"/>
              <a:t>(b) Unit step function H(t)</a:t>
            </a:r>
            <a:endParaRPr/>
          </a:p>
        </p:txBody>
      </p:sp>
      <p:pic>
        <p:nvPicPr>
          <p:cNvPr id="392" name="Google Shape;392;p14"/>
          <p:cNvPicPr preferRelativeResize="0"/>
          <p:nvPr/>
        </p:nvPicPr>
        <p:blipFill rotWithShape="1">
          <a:blip r:embed="rId3">
            <a:alphaModFix/>
          </a:blip>
          <a:srcRect b="0" l="0" r="0" t="0"/>
          <a:stretch/>
        </p:blipFill>
        <p:spPr>
          <a:xfrm>
            <a:off x="2677843" y="2266950"/>
            <a:ext cx="5353050" cy="1162050"/>
          </a:xfrm>
          <a:prstGeom prst="rect">
            <a:avLst/>
          </a:prstGeom>
          <a:noFill/>
          <a:ln>
            <a:noFill/>
          </a:ln>
        </p:spPr>
      </p:pic>
      <p:pic>
        <p:nvPicPr>
          <p:cNvPr id="393" name="Google Shape;393;p14"/>
          <p:cNvPicPr preferRelativeResize="0"/>
          <p:nvPr/>
        </p:nvPicPr>
        <p:blipFill rotWithShape="1">
          <a:blip r:embed="rId4">
            <a:alphaModFix/>
          </a:blip>
          <a:srcRect b="0" l="0" r="0" t="0"/>
          <a:stretch/>
        </p:blipFill>
        <p:spPr>
          <a:xfrm>
            <a:off x="2686050" y="5030603"/>
            <a:ext cx="6819900" cy="1295400"/>
          </a:xfrm>
          <a:prstGeom prst="rect">
            <a:avLst/>
          </a:prstGeom>
          <a:noFill/>
          <a:ln>
            <a:noFill/>
          </a:ln>
        </p:spPr>
      </p:pic>
      <p:grpSp>
        <p:nvGrpSpPr>
          <p:cNvPr id="394" name="Google Shape;394;p14"/>
          <p:cNvGrpSpPr/>
          <p:nvPr/>
        </p:nvGrpSpPr>
        <p:grpSpPr>
          <a:xfrm>
            <a:off x="9004702" y="3265221"/>
            <a:ext cx="2853055" cy="2026920"/>
            <a:chOff x="8858" y="6638"/>
            <a:chExt cx="1800" cy="1395"/>
          </a:xfrm>
        </p:grpSpPr>
        <p:cxnSp>
          <p:nvCxnSpPr>
            <p:cNvPr id="395" name="Google Shape;395;p14"/>
            <p:cNvCxnSpPr/>
            <p:nvPr/>
          </p:nvCxnSpPr>
          <p:spPr>
            <a:xfrm>
              <a:off x="8858" y="7718"/>
              <a:ext cx="1680" cy="0"/>
            </a:xfrm>
            <a:prstGeom prst="straightConnector1">
              <a:avLst/>
            </a:prstGeom>
            <a:noFill/>
            <a:ln cap="flat" cmpd="sng" w="28575">
              <a:solidFill>
                <a:srgbClr val="002060"/>
              </a:solidFill>
              <a:prstDash val="solid"/>
              <a:round/>
              <a:headEnd len="med" w="med" type="none"/>
              <a:tailEnd len="med" w="med" type="stealth"/>
            </a:ln>
          </p:spPr>
        </p:cxnSp>
        <p:cxnSp>
          <p:nvCxnSpPr>
            <p:cNvPr id="396" name="Google Shape;396;p14"/>
            <p:cNvCxnSpPr/>
            <p:nvPr/>
          </p:nvCxnSpPr>
          <p:spPr>
            <a:xfrm>
              <a:off x="9578" y="6818"/>
              <a:ext cx="0" cy="900"/>
            </a:xfrm>
            <a:prstGeom prst="straightConnector1">
              <a:avLst/>
            </a:prstGeom>
            <a:noFill/>
            <a:ln cap="flat" cmpd="sng" w="28575">
              <a:solidFill>
                <a:srgbClr val="002060"/>
              </a:solidFill>
              <a:prstDash val="solid"/>
              <a:round/>
              <a:headEnd len="med" w="med" type="stealth"/>
              <a:tailEnd len="med" w="med" type="none"/>
            </a:ln>
          </p:spPr>
        </p:cxnSp>
        <p:cxnSp>
          <p:nvCxnSpPr>
            <p:cNvPr id="397" name="Google Shape;397;p14"/>
            <p:cNvCxnSpPr/>
            <p:nvPr/>
          </p:nvCxnSpPr>
          <p:spPr>
            <a:xfrm rot="10800000">
              <a:off x="9818" y="7178"/>
              <a:ext cx="0" cy="540"/>
            </a:xfrm>
            <a:prstGeom prst="straightConnector1">
              <a:avLst/>
            </a:prstGeom>
            <a:noFill/>
            <a:ln cap="flat" cmpd="sng" w="38100">
              <a:solidFill>
                <a:srgbClr val="C00000"/>
              </a:solidFill>
              <a:prstDash val="solid"/>
              <a:round/>
              <a:headEnd len="med" w="med" type="none"/>
              <a:tailEnd len="med" w="med" type="none"/>
            </a:ln>
          </p:spPr>
        </p:cxnSp>
        <p:sp>
          <p:nvSpPr>
            <p:cNvPr id="398" name="Google Shape;398;p14"/>
            <p:cNvSpPr txBox="1"/>
            <p:nvPr/>
          </p:nvSpPr>
          <p:spPr>
            <a:xfrm>
              <a:off x="9338" y="6998"/>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1</a:t>
              </a:r>
              <a:endParaRPr sz="1200">
                <a:solidFill>
                  <a:schemeClr val="dk1"/>
                </a:solidFill>
                <a:latin typeface="Times New Roman"/>
                <a:ea typeface="Times New Roman"/>
                <a:cs typeface="Times New Roman"/>
                <a:sym typeface="Times New Roman"/>
              </a:endParaRPr>
            </a:p>
          </p:txBody>
        </p:sp>
        <p:sp>
          <p:nvSpPr>
            <p:cNvPr id="399" name="Google Shape;399;p14"/>
            <p:cNvSpPr txBox="1"/>
            <p:nvPr/>
          </p:nvSpPr>
          <p:spPr>
            <a:xfrm>
              <a:off x="10298" y="735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cxnSp>
          <p:nvCxnSpPr>
            <p:cNvPr id="400" name="Google Shape;400;p14"/>
            <p:cNvCxnSpPr/>
            <p:nvPr/>
          </p:nvCxnSpPr>
          <p:spPr>
            <a:xfrm>
              <a:off x="9818" y="7178"/>
              <a:ext cx="720" cy="0"/>
            </a:xfrm>
            <a:prstGeom prst="straightConnector1">
              <a:avLst/>
            </a:prstGeom>
            <a:noFill/>
            <a:ln cap="flat" cmpd="sng" w="38100">
              <a:solidFill>
                <a:srgbClr val="C00000"/>
              </a:solidFill>
              <a:prstDash val="solid"/>
              <a:round/>
              <a:headEnd len="med" w="med" type="none"/>
              <a:tailEnd len="med" w="med" type="none"/>
            </a:ln>
          </p:spPr>
        </p:cxnSp>
        <p:sp>
          <p:nvSpPr>
            <p:cNvPr id="401" name="Google Shape;401;p14"/>
            <p:cNvSpPr txBox="1"/>
            <p:nvPr/>
          </p:nvSpPr>
          <p:spPr>
            <a:xfrm>
              <a:off x="9698" y="6638"/>
              <a:ext cx="72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H(t-t</a:t>
              </a:r>
              <a:r>
                <a:rPr baseline="-25000" lang="en-GB" sz="2800">
                  <a:solidFill>
                    <a:srgbClr val="002060"/>
                  </a:solidFill>
                  <a:latin typeface="Times New Roman"/>
                  <a:ea typeface="Times New Roman"/>
                  <a:cs typeface="Times New Roman"/>
                  <a:sym typeface="Times New Roman"/>
                </a:rPr>
                <a:t>i</a:t>
              </a:r>
              <a:r>
                <a:rPr lang="en-GB" sz="2800">
                  <a:solidFill>
                    <a:srgbClr val="002060"/>
                  </a:solidFill>
                  <a:latin typeface="Times New Roman"/>
                  <a:ea typeface="Times New Roman"/>
                  <a:cs typeface="Times New Roman"/>
                  <a:sym typeface="Times New Roman"/>
                </a:rPr>
                <a:t>)</a:t>
              </a:r>
              <a:endParaRPr sz="1200">
                <a:solidFill>
                  <a:schemeClr val="dk1"/>
                </a:solidFill>
                <a:latin typeface="Times New Roman"/>
                <a:ea typeface="Times New Roman"/>
                <a:cs typeface="Times New Roman"/>
                <a:sym typeface="Times New Roman"/>
              </a:endParaRPr>
            </a:p>
          </p:txBody>
        </p:sp>
        <p:sp>
          <p:nvSpPr>
            <p:cNvPr id="402" name="Google Shape;402;p14"/>
            <p:cNvSpPr txBox="1"/>
            <p:nvPr/>
          </p:nvSpPr>
          <p:spPr>
            <a:xfrm>
              <a:off x="9773" y="7673"/>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t</a:t>
              </a:r>
              <a:r>
                <a:rPr baseline="-25000" lang="en-GB" sz="2800">
                  <a:solidFill>
                    <a:srgbClr val="002060"/>
                  </a:solidFill>
                  <a:latin typeface="Times New Roman"/>
                  <a:ea typeface="Times New Roman"/>
                  <a:cs typeface="Times New Roman"/>
                  <a:sym typeface="Times New Roman"/>
                </a:rPr>
                <a:t>i</a:t>
              </a:r>
              <a:endParaRPr sz="1200">
                <a:solidFill>
                  <a:schemeClr val="dk1"/>
                </a:solidFill>
                <a:latin typeface="Times New Roman"/>
                <a:ea typeface="Times New Roman"/>
                <a:cs typeface="Times New Roman"/>
                <a:sym typeface="Times New Roman"/>
              </a:endParaRPr>
            </a:p>
          </p:txBody>
        </p:sp>
      </p:grpSp>
      <p:sp>
        <p:nvSpPr>
          <p:cNvPr id="403" name="Google Shape;403;p14"/>
          <p:cNvSpPr/>
          <p:nvPr/>
        </p:nvSpPr>
        <p:spPr>
          <a:xfrm>
            <a:off x="406593" y="1133246"/>
            <a:ext cx="8219928" cy="135421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200"/>
              <a:buFont typeface="Arial"/>
              <a:buNone/>
            </a:pPr>
            <a:r>
              <a:rPr b="0" i="0" lang="en-GB" sz="3200" u="none" cap="none" strike="noStrike">
                <a:solidFill>
                  <a:srgbClr val="002060"/>
                </a:solidFill>
                <a:latin typeface="Arial"/>
                <a:ea typeface="Arial"/>
                <a:cs typeface="Arial"/>
                <a:sym typeface="Arial"/>
              </a:rPr>
              <a:t>Unit step has value 0 for values of  t &lt; 0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2060"/>
              </a:buClr>
              <a:buSzPts val="3200"/>
              <a:buFont typeface="Arial"/>
              <a:buNone/>
            </a:pPr>
            <a:r>
              <a:rPr b="0" i="0" lang="en-GB" sz="3200" u="none" cap="none" strike="noStrike">
                <a:solidFill>
                  <a:srgbClr val="002060"/>
                </a:solidFill>
                <a:latin typeface="Arial"/>
                <a:ea typeface="Arial"/>
                <a:cs typeface="Arial"/>
                <a:sym typeface="Arial"/>
              </a:rPr>
              <a:t>and a value of 1 for t &gt; 0.</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4" name="Google Shape;404;p14"/>
          <p:cNvSpPr/>
          <p:nvPr/>
        </p:nvSpPr>
        <p:spPr>
          <a:xfrm>
            <a:off x="406593" y="2569561"/>
            <a:ext cx="2508414" cy="58477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Arial"/>
              <a:buNone/>
            </a:pPr>
            <a:r>
              <a:rPr b="0" i="0" lang="en-GB" sz="3200" u="none" cap="none" strike="noStrike">
                <a:solidFill>
                  <a:srgbClr val="002060"/>
                </a:solidFill>
                <a:latin typeface="Arial"/>
                <a:ea typeface="Arial"/>
                <a:cs typeface="Arial"/>
                <a:sym typeface="Arial"/>
              </a:rPr>
              <a:t>L</a:t>
            </a:r>
            <a:r>
              <a:rPr b="0" i="0" lang="en-GB" sz="3200" u="none" cap="none" strike="noStrike">
                <a:solidFill>
                  <a:srgbClr val="002060"/>
                </a:solidFill>
                <a:latin typeface="Calibri"/>
                <a:ea typeface="Calibri"/>
                <a:cs typeface="Calibri"/>
                <a:sym typeface="Calibri"/>
              </a:rPr>
              <a:t>  </a:t>
            </a:r>
            <a:r>
              <a:rPr b="0" i="0" lang="en-GB" sz="3200" u="none" cap="none" strike="noStrike">
                <a:solidFill>
                  <a:srgbClr val="002060"/>
                </a:solidFill>
                <a:latin typeface="Arial"/>
                <a:ea typeface="Arial"/>
                <a:cs typeface="Arial"/>
                <a:sym typeface="Arial"/>
              </a:rPr>
              <a:t>[</a:t>
            </a:r>
            <a:r>
              <a:rPr b="0" i="1" lang="en-GB" sz="3200" u="none" cap="none" strike="noStrike">
                <a:solidFill>
                  <a:srgbClr val="002060"/>
                </a:solidFill>
                <a:latin typeface="Arial"/>
                <a:ea typeface="Arial"/>
                <a:cs typeface="Arial"/>
                <a:sym typeface="Arial"/>
              </a:rPr>
              <a:t>H(t)</a:t>
            </a:r>
            <a:r>
              <a:rPr b="0" i="0" lang="en-GB" sz="3200" u="none" cap="none" strike="noStrike">
                <a:solidFill>
                  <a:srgbClr val="002060"/>
                </a:solidFill>
                <a:latin typeface="Arial"/>
                <a:ea typeface="Arial"/>
                <a:cs typeface="Arial"/>
                <a:sym typeface="Arial"/>
              </a:rPr>
              <a:t>] = </a:t>
            </a:r>
            <a:endParaRPr b="0" i="0" sz="1800" u="none" cap="none" strike="noStrike">
              <a:solidFill>
                <a:schemeClr val="dk1"/>
              </a:solidFill>
              <a:latin typeface="Arial"/>
              <a:ea typeface="Arial"/>
              <a:cs typeface="Arial"/>
              <a:sym typeface="Arial"/>
            </a:endParaRPr>
          </a:p>
        </p:txBody>
      </p:sp>
      <p:sp>
        <p:nvSpPr>
          <p:cNvPr id="405" name="Google Shape;405;p14"/>
          <p:cNvSpPr/>
          <p:nvPr/>
        </p:nvSpPr>
        <p:spPr>
          <a:xfrm>
            <a:off x="339298" y="3607915"/>
            <a:ext cx="8759188" cy="1077218"/>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Arial"/>
              <a:buNone/>
            </a:pPr>
            <a:r>
              <a:rPr b="0" i="0" lang="en-GB" sz="3200" u="none" cap="none" strike="noStrike">
                <a:solidFill>
                  <a:srgbClr val="002060"/>
                </a:solidFill>
                <a:latin typeface="Arial"/>
                <a:ea typeface="Arial"/>
                <a:cs typeface="Arial"/>
                <a:sym typeface="Arial"/>
              </a:rPr>
              <a:t>If unit step occurs at t = t</a:t>
            </a:r>
            <a:r>
              <a:rPr b="0" baseline="-25000" i="0" lang="en-GB" sz="3200" u="none" cap="none" strike="noStrike">
                <a:solidFill>
                  <a:srgbClr val="002060"/>
                </a:solidFill>
                <a:latin typeface="Arial"/>
                <a:ea typeface="Arial"/>
                <a:cs typeface="Arial"/>
                <a:sym typeface="Arial"/>
              </a:rPr>
              <a:t>i</a:t>
            </a:r>
            <a:r>
              <a:rPr b="0" i="0" lang="en-GB" sz="3200" u="none" cap="none" strike="noStrike">
                <a:solidFill>
                  <a:srgbClr val="002060"/>
                </a:solidFill>
                <a:latin typeface="Arial"/>
                <a:ea typeface="Arial"/>
                <a:cs typeface="Arial"/>
                <a:sym typeface="Arial"/>
              </a:rPr>
              <a:t>, and not at t = 0, </a:t>
            </a:r>
            <a:endParaRPr b="0" i="0" sz="11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2060"/>
              </a:buClr>
              <a:buSzPts val="3200"/>
              <a:buFont typeface="Arial"/>
              <a:buNone/>
            </a:pPr>
            <a:r>
              <a:rPr b="0" i="0" lang="en-GB" sz="3200" u="none" cap="none" strike="noStrike">
                <a:solidFill>
                  <a:srgbClr val="002060"/>
                </a:solidFill>
                <a:latin typeface="Arial"/>
                <a:ea typeface="Arial"/>
                <a:cs typeface="Arial"/>
                <a:sym typeface="Arial"/>
              </a:rPr>
              <a:t>then the function is </a:t>
            </a:r>
            <a:r>
              <a:rPr b="0" i="1" lang="en-GB" sz="3200" u="none" cap="none" strike="noStrike">
                <a:solidFill>
                  <a:srgbClr val="002060"/>
                </a:solidFill>
                <a:latin typeface="Arial"/>
                <a:ea typeface="Arial"/>
                <a:cs typeface="Arial"/>
                <a:sym typeface="Arial"/>
              </a:rPr>
              <a:t>H(t </a:t>
            </a:r>
            <a:r>
              <a:rPr b="0" i="1" lang="en-GB" sz="3200" u="none" cap="none" strike="noStrike">
                <a:solidFill>
                  <a:srgbClr val="002060"/>
                </a:solidFill>
                <a:latin typeface="Noto Sans Symbols"/>
                <a:ea typeface="Noto Sans Symbols"/>
                <a:cs typeface="Noto Sans Symbols"/>
                <a:sym typeface="Noto Sans Symbols"/>
              </a:rPr>
              <a:t>− </a:t>
            </a:r>
            <a:r>
              <a:rPr b="0" i="1" lang="en-GB" sz="3200" u="none" cap="none" strike="noStrike">
                <a:solidFill>
                  <a:srgbClr val="002060"/>
                </a:solidFill>
                <a:latin typeface="Arial"/>
                <a:ea typeface="Arial"/>
                <a:cs typeface="Arial"/>
                <a:sym typeface="Arial"/>
              </a:rPr>
              <a:t>t</a:t>
            </a:r>
            <a:r>
              <a:rPr b="0" baseline="-25000" i="1" lang="en-GB" sz="3200" u="none" cap="none" strike="noStrike">
                <a:solidFill>
                  <a:srgbClr val="002060"/>
                </a:solidFill>
                <a:latin typeface="Arial"/>
                <a:ea typeface="Arial"/>
                <a:cs typeface="Arial"/>
                <a:sym typeface="Arial"/>
              </a:rPr>
              <a:t>i</a:t>
            </a:r>
            <a:r>
              <a:rPr b="0" i="1" lang="en-GB" sz="3200" u="none" cap="none" strike="noStrike">
                <a:solidFill>
                  <a:srgbClr val="002060"/>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p:txBody>
      </p:sp>
      <p:sp>
        <p:nvSpPr>
          <p:cNvPr id="406" name="Google Shape;406;p14"/>
          <p:cNvSpPr/>
          <p:nvPr/>
        </p:nvSpPr>
        <p:spPr>
          <a:xfrm>
            <a:off x="429715" y="5388890"/>
            <a:ext cx="2383986" cy="5847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GB" sz="3200">
                <a:solidFill>
                  <a:srgbClr val="002060"/>
                </a:solidFill>
                <a:latin typeface="Arial"/>
                <a:ea typeface="Arial"/>
                <a:cs typeface="Arial"/>
                <a:sym typeface="Arial"/>
              </a:rPr>
              <a:t>L</a:t>
            </a:r>
            <a:r>
              <a:rPr lang="en-GB" sz="3200">
                <a:solidFill>
                  <a:srgbClr val="002060"/>
                </a:solidFill>
                <a:latin typeface="Calibri"/>
                <a:ea typeface="Calibri"/>
                <a:cs typeface="Calibri"/>
                <a:sym typeface="Calibri"/>
              </a:rPr>
              <a:t>[</a:t>
            </a:r>
            <a:r>
              <a:rPr i="1" lang="en-GB" sz="3200">
                <a:solidFill>
                  <a:srgbClr val="002060"/>
                </a:solidFill>
                <a:latin typeface="Arial"/>
                <a:ea typeface="Arial"/>
                <a:cs typeface="Arial"/>
                <a:sym typeface="Arial"/>
              </a:rPr>
              <a:t>H(t </a:t>
            </a:r>
            <a:r>
              <a:rPr i="1" lang="en-GB" sz="3200">
                <a:solidFill>
                  <a:srgbClr val="002060"/>
                </a:solidFill>
                <a:latin typeface="Noto Sans Symbols"/>
                <a:ea typeface="Noto Sans Symbols"/>
                <a:cs typeface="Noto Sans Symbols"/>
                <a:sym typeface="Noto Sans Symbols"/>
              </a:rPr>
              <a:t>− </a:t>
            </a:r>
            <a:r>
              <a:rPr i="1" lang="en-GB" sz="3200">
                <a:solidFill>
                  <a:srgbClr val="002060"/>
                </a:solidFill>
                <a:latin typeface="Calibri"/>
                <a:ea typeface="Calibri"/>
                <a:cs typeface="Calibri"/>
                <a:sym typeface="Calibri"/>
              </a:rPr>
              <a:t>t</a:t>
            </a:r>
            <a:r>
              <a:rPr baseline="-25000" i="1" lang="en-GB" sz="3200">
                <a:solidFill>
                  <a:srgbClr val="002060"/>
                </a:solidFill>
                <a:latin typeface="Arial"/>
                <a:ea typeface="Arial"/>
                <a:cs typeface="Arial"/>
                <a:sym typeface="Arial"/>
              </a:rPr>
              <a:t>i</a:t>
            </a:r>
            <a:r>
              <a:rPr i="1" lang="en-GB" sz="3200">
                <a:solidFill>
                  <a:srgbClr val="002060"/>
                </a:solidFill>
                <a:latin typeface="Arial"/>
                <a:ea typeface="Arial"/>
                <a:cs typeface="Arial"/>
                <a:sym typeface="Arial"/>
              </a:rPr>
              <a:t>)</a:t>
            </a:r>
            <a:r>
              <a:rPr lang="en-GB" sz="3200">
                <a:solidFill>
                  <a:srgbClr val="002060"/>
                </a:solidFill>
                <a:latin typeface="Arial"/>
                <a:ea typeface="Arial"/>
                <a:cs typeface="Arial"/>
                <a:sym typeface="Arial"/>
              </a:rPr>
              <a:t>]= </a:t>
            </a:r>
            <a:endParaRPr sz="1800">
              <a:solidFill>
                <a:srgbClr val="000000"/>
              </a:solidFill>
              <a:latin typeface="Arial"/>
              <a:ea typeface="Arial"/>
              <a:cs typeface="Arial"/>
              <a:sym typeface="Arial"/>
            </a:endParaRPr>
          </a:p>
        </p:txBody>
      </p:sp>
      <p:grpSp>
        <p:nvGrpSpPr>
          <p:cNvPr id="407" name="Google Shape;407;p14"/>
          <p:cNvGrpSpPr/>
          <p:nvPr/>
        </p:nvGrpSpPr>
        <p:grpSpPr>
          <a:xfrm>
            <a:off x="8993176" y="939094"/>
            <a:ext cx="2861945" cy="2079374"/>
            <a:chOff x="8858" y="3896"/>
            <a:chExt cx="1800" cy="1080"/>
          </a:xfrm>
        </p:grpSpPr>
        <p:cxnSp>
          <p:nvCxnSpPr>
            <p:cNvPr id="408" name="Google Shape;408;p14"/>
            <p:cNvCxnSpPr/>
            <p:nvPr/>
          </p:nvCxnSpPr>
          <p:spPr>
            <a:xfrm>
              <a:off x="8858" y="4976"/>
              <a:ext cx="1680" cy="0"/>
            </a:xfrm>
            <a:prstGeom prst="straightConnector1">
              <a:avLst/>
            </a:prstGeom>
            <a:noFill/>
            <a:ln cap="flat" cmpd="sng" w="28575">
              <a:solidFill>
                <a:srgbClr val="002060"/>
              </a:solidFill>
              <a:prstDash val="solid"/>
              <a:round/>
              <a:headEnd len="med" w="med" type="none"/>
              <a:tailEnd len="med" w="med" type="stealth"/>
            </a:ln>
          </p:spPr>
        </p:cxnSp>
        <p:cxnSp>
          <p:nvCxnSpPr>
            <p:cNvPr id="409" name="Google Shape;409;p14"/>
            <p:cNvCxnSpPr/>
            <p:nvPr/>
          </p:nvCxnSpPr>
          <p:spPr>
            <a:xfrm>
              <a:off x="9578" y="4076"/>
              <a:ext cx="0" cy="900"/>
            </a:xfrm>
            <a:prstGeom prst="straightConnector1">
              <a:avLst/>
            </a:prstGeom>
            <a:noFill/>
            <a:ln cap="flat" cmpd="sng" w="28575">
              <a:solidFill>
                <a:srgbClr val="002060"/>
              </a:solidFill>
              <a:prstDash val="solid"/>
              <a:round/>
              <a:headEnd len="med" w="med" type="stealth"/>
              <a:tailEnd len="med" w="med" type="none"/>
            </a:ln>
          </p:spPr>
        </p:cxnSp>
        <p:cxnSp>
          <p:nvCxnSpPr>
            <p:cNvPr id="410" name="Google Shape;410;p14"/>
            <p:cNvCxnSpPr/>
            <p:nvPr/>
          </p:nvCxnSpPr>
          <p:spPr>
            <a:xfrm rot="10800000">
              <a:off x="9578" y="4436"/>
              <a:ext cx="0" cy="540"/>
            </a:xfrm>
            <a:prstGeom prst="straightConnector1">
              <a:avLst/>
            </a:prstGeom>
            <a:noFill/>
            <a:ln cap="flat" cmpd="sng" w="38100">
              <a:solidFill>
                <a:srgbClr val="C00000"/>
              </a:solidFill>
              <a:prstDash val="solid"/>
              <a:round/>
              <a:headEnd len="med" w="med" type="none"/>
              <a:tailEnd len="med" w="med" type="none"/>
            </a:ln>
          </p:spPr>
        </p:cxnSp>
        <p:sp>
          <p:nvSpPr>
            <p:cNvPr id="411" name="Google Shape;411;p14"/>
            <p:cNvSpPr txBox="1"/>
            <p:nvPr/>
          </p:nvSpPr>
          <p:spPr>
            <a:xfrm>
              <a:off x="9338" y="4256"/>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1</a:t>
              </a:r>
              <a:endParaRPr sz="1200">
                <a:solidFill>
                  <a:schemeClr val="dk1"/>
                </a:solidFill>
                <a:latin typeface="Times New Roman"/>
                <a:ea typeface="Times New Roman"/>
                <a:cs typeface="Times New Roman"/>
                <a:sym typeface="Times New Roman"/>
              </a:endParaRPr>
            </a:p>
          </p:txBody>
        </p:sp>
        <p:sp>
          <p:nvSpPr>
            <p:cNvPr id="412" name="Google Shape;412;p14"/>
            <p:cNvSpPr txBox="1"/>
            <p:nvPr/>
          </p:nvSpPr>
          <p:spPr>
            <a:xfrm>
              <a:off x="10298" y="4616"/>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cxnSp>
          <p:nvCxnSpPr>
            <p:cNvPr id="413" name="Google Shape;413;p14"/>
            <p:cNvCxnSpPr/>
            <p:nvPr/>
          </p:nvCxnSpPr>
          <p:spPr>
            <a:xfrm>
              <a:off x="9578" y="4436"/>
              <a:ext cx="720" cy="0"/>
            </a:xfrm>
            <a:prstGeom prst="straightConnector1">
              <a:avLst/>
            </a:prstGeom>
            <a:noFill/>
            <a:ln cap="flat" cmpd="sng" w="38100">
              <a:solidFill>
                <a:srgbClr val="C00000"/>
              </a:solidFill>
              <a:prstDash val="solid"/>
              <a:round/>
              <a:headEnd len="med" w="med" type="none"/>
              <a:tailEnd len="med" w="med" type="none"/>
            </a:ln>
          </p:spPr>
        </p:cxnSp>
        <p:sp>
          <p:nvSpPr>
            <p:cNvPr id="414" name="Google Shape;414;p14"/>
            <p:cNvSpPr txBox="1"/>
            <p:nvPr/>
          </p:nvSpPr>
          <p:spPr>
            <a:xfrm>
              <a:off x="9698" y="3896"/>
              <a:ext cx="72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H(t)</a:t>
              </a:r>
              <a:endParaRPr sz="1200">
                <a:solidFill>
                  <a:schemeClr val="dk1"/>
                </a:solidFill>
                <a:latin typeface="Times New Roman"/>
                <a:ea typeface="Times New Roman"/>
                <a:cs typeface="Times New Roman"/>
                <a:sym typeface="Times New Roman"/>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15"/>
          <p:cNvSpPr txBox="1"/>
          <p:nvPr>
            <p:ph type="title"/>
          </p:nvPr>
        </p:nvSpPr>
        <p:spPr>
          <a:xfrm>
            <a:off x="429715" y="597874"/>
            <a:ext cx="10924085" cy="78232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Times New Roman"/>
              <a:buNone/>
            </a:pPr>
            <a:r>
              <a:rPr lang="en-GB"/>
              <a:t>(c)  Causal exponential function   </a:t>
            </a:r>
            <a:r>
              <a:rPr lang="en-GB" sz="4000"/>
              <a:t>e</a:t>
            </a:r>
            <a:r>
              <a:rPr baseline="30000" lang="en-GB" sz="4000"/>
              <a:t>at</a:t>
            </a:r>
            <a:r>
              <a:rPr lang="en-GB" sz="4000"/>
              <a:t> . H(t)</a:t>
            </a:r>
            <a:endParaRPr/>
          </a:p>
        </p:txBody>
      </p:sp>
      <p:grpSp>
        <p:nvGrpSpPr>
          <p:cNvPr id="420" name="Google Shape;420;p15"/>
          <p:cNvGrpSpPr/>
          <p:nvPr/>
        </p:nvGrpSpPr>
        <p:grpSpPr>
          <a:xfrm>
            <a:off x="4424631" y="1550619"/>
            <a:ext cx="3359492" cy="2206622"/>
            <a:chOff x="12591" y="8859"/>
            <a:chExt cx="3708" cy="2215"/>
          </a:xfrm>
        </p:grpSpPr>
        <p:cxnSp>
          <p:nvCxnSpPr>
            <p:cNvPr id="421" name="Google Shape;421;p15"/>
            <p:cNvCxnSpPr/>
            <p:nvPr/>
          </p:nvCxnSpPr>
          <p:spPr>
            <a:xfrm>
              <a:off x="13714" y="9228"/>
              <a:ext cx="0" cy="1845"/>
            </a:xfrm>
            <a:prstGeom prst="straightConnector1">
              <a:avLst/>
            </a:prstGeom>
            <a:noFill/>
            <a:ln cap="flat" cmpd="sng" w="38100">
              <a:solidFill>
                <a:srgbClr val="002060"/>
              </a:solidFill>
              <a:prstDash val="solid"/>
              <a:round/>
              <a:headEnd len="med" w="med" type="stealth"/>
              <a:tailEnd len="med" w="med" type="none"/>
            </a:ln>
          </p:spPr>
        </p:cxnSp>
        <p:sp>
          <p:nvSpPr>
            <p:cNvPr id="422" name="Google Shape;422;p15"/>
            <p:cNvSpPr txBox="1"/>
            <p:nvPr/>
          </p:nvSpPr>
          <p:spPr>
            <a:xfrm>
              <a:off x="13140" y="9874"/>
              <a:ext cx="1149" cy="738"/>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1</a:t>
              </a:r>
              <a:endParaRPr sz="1200">
                <a:solidFill>
                  <a:schemeClr val="dk1"/>
                </a:solidFill>
                <a:latin typeface="Times New Roman"/>
                <a:ea typeface="Times New Roman"/>
                <a:cs typeface="Times New Roman"/>
                <a:sym typeface="Times New Roman"/>
              </a:endParaRPr>
            </a:p>
          </p:txBody>
        </p:sp>
        <p:sp>
          <p:nvSpPr>
            <p:cNvPr id="423" name="Google Shape;423;p15"/>
            <p:cNvSpPr txBox="1"/>
            <p:nvPr/>
          </p:nvSpPr>
          <p:spPr>
            <a:xfrm>
              <a:off x="14001" y="8859"/>
              <a:ext cx="2011" cy="738"/>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e</a:t>
              </a:r>
              <a:r>
                <a:rPr baseline="30000" lang="en-GB" sz="2800">
                  <a:solidFill>
                    <a:srgbClr val="002060"/>
                  </a:solidFill>
                  <a:latin typeface="Times New Roman"/>
                  <a:ea typeface="Times New Roman"/>
                  <a:cs typeface="Times New Roman"/>
                  <a:sym typeface="Times New Roman"/>
                </a:rPr>
                <a:t>at</a:t>
              </a:r>
              <a:r>
                <a:rPr lang="en-GB" sz="2800">
                  <a:solidFill>
                    <a:srgbClr val="002060"/>
                  </a:solidFill>
                  <a:latin typeface="Times New Roman"/>
                  <a:ea typeface="Times New Roman"/>
                  <a:cs typeface="Times New Roman"/>
                  <a:sym typeface="Times New Roman"/>
                </a:rPr>
                <a:t>.H(t)</a:t>
              </a:r>
              <a:endParaRPr sz="1200">
                <a:solidFill>
                  <a:schemeClr val="dk1"/>
                </a:solidFill>
                <a:latin typeface="Times New Roman"/>
                <a:ea typeface="Times New Roman"/>
                <a:cs typeface="Times New Roman"/>
                <a:sym typeface="Times New Roman"/>
              </a:endParaRPr>
            </a:p>
          </p:txBody>
        </p:sp>
        <p:sp>
          <p:nvSpPr>
            <p:cNvPr id="424" name="Google Shape;424;p15"/>
            <p:cNvSpPr/>
            <p:nvPr/>
          </p:nvSpPr>
          <p:spPr>
            <a:xfrm>
              <a:off x="13714" y="9505"/>
              <a:ext cx="2011" cy="738"/>
            </a:xfrm>
            <a:custGeom>
              <a:rect b="b" l="l" r="r" t="t"/>
              <a:pathLst>
                <a:path extrusionOk="0" h="900" w="960">
                  <a:moveTo>
                    <a:pt x="0" y="900"/>
                  </a:moveTo>
                  <a:cubicBezTo>
                    <a:pt x="170" y="855"/>
                    <a:pt x="340" y="810"/>
                    <a:pt x="480" y="720"/>
                  </a:cubicBezTo>
                  <a:cubicBezTo>
                    <a:pt x="620" y="630"/>
                    <a:pt x="760" y="480"/>
                    <a:pt x="840" y="360"/>
                  </a:cubicBezTo>
                  <a:cubicBezTo>
                    <a:pt x="920" y="240"/>
                    <a:pt x="940" y="120"/>
                    <a:pt x="960" y="0"/>
                  </a:cubicBezTo>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425" name="Google Shape;425;p15"/>
            <p:cNvCxnSpPr/>
            <p:nvPr/>
          </p:nvCxnSpPr>
          <p:spPr>
            <a:xfrm>
              <a:off x="12591" y="11073"/>
              <a:ext cx="3312" cy="1"/>
            </a:xfrm>
            <a:prstGeom prst="straightConnector1">
              <a:avLst/>
            </a:prstGeom>
            <a:noFill/>
            <a:ln cap="flat" cmpd="sng" w="38100">
              <a:solidFill>
                <a:srgbClr val="002060"/>
              </a:solidFill>
              <a:prstDash val="solid"/>
              <a:round/>
              <a:headEnd len="med" w="med" type="none"/>
              <a:tailEnd len="med" w="med" type="stealth"/>
            </a:ln>
          </p:spPr>
        </p:cxnSp>
        <p:cxnSp>
          <p:nvCxnSpPr>
            <p:cNvPr id="426" name="Google Shape;426;p15"/>
            <p:cNvCxnSpPr/>
            <p:nvPr/>
          </p:nvCxnSpPr>
          <p:spPr>
            <a:xfrm rot="10800000">
              <a:off x="13714" y="10243"/>
              <a:ext cx="0" cy="830"/>
            </a:xfrm>
            <a:prstGeom prst="straightConnector1">
              <a:avLst/>
            </a:prstGeom>
            <a:noFill/>
            <a:ln cap="flat" cmpd="sng" w="38100">
              <a:solidFill>
                <a:srgbClr val="C00000"/>
              </a:solidFill>
              <a:prstDash val="solid"/>
              <a:round/>
              <a:headEnd len="med" w="med" type="none"/>
              <a:tailEnd len="med" w="med" type="none"/>
            </a:ln>
          </p:spPr>
        </p:cxnSp>
        <p:sp>
          <p:nvSpPr>
            <p:cNvPr id="427" name="Google Shape;427;p15"/>
            <p:cNvSpPr txBox="1"/>
            <p:nvPr/>
          </p:nvSpPr>
          <p:spPr>
            <a:xfrm>
              <a:off x="15437" y="10335"/>
              <a:ext cx="862" cy="738"/>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grpSp>
      <p:pic>
        <p:nvPicPr>
          <p:cNvPr id="428" name="Google Shape;428;p15"/>
          <p:cNvPicPr preferRelativeResize="0"/>
          <p:nvPr/>
        </p:nvPicPr>
        <p:blipFill rotWithShape="1">
          <a:blip r:embed="rId3">
            <a:alphaModFix/>
          </a:blip>
          <a:srcRect b="0" l="0" r="0" t="0"/>
          <a:stretch/>
        </p:blipFill>
        <p:spPr>
          <a:xfrm>
            <a:off x="3188676" y="3848095"/>
            <a:ext cx="8452517" cy="1367926"/>
          </a:xfrm>
          <a:prstGeom prst="rect">
            <a:avLst/>
          </a:prstGeom>
          <a:noFill/>
          <a:ln>
            <a:noFill/>
          </a:ln>
        </p:spPr>
      </p:pic>
      <p:sp>
        <p:nvSpPr>
          <p:cNvPr id="429" name="Google Shape;429;p15"/>
          <p:cNvSpPr/>
          <p:nvPr/>
        </p:nvSpPr>
        <p:spPr>
          <a:xfrm>
            <a:off x="0" y="0"/>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0" name="Google Shape;430;p15"/>
          <p:cNvSpPr/>
          <p:nvPr/>
        </p:nvSpPr>
        <p:spPr>
          <a:xfrm>
            <a:off x="550807" y="3939027"/>
            <a:ext cx="2876891" cy="89255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L [e</a:t>
            </a:r>
            <a:r>
              <a:rPr b="0" baseline="30000" i="0" lang="en-GB" sz="3200" u="none" cap="none" strike="noStrike">
                <a:solidFill>
                  <a:srgbClr val="002060"/>
                </a:solidFill>
                <a:latin typeface="Times New Roman"/>
                <a:ea typeface="Times New Roman"/>
                <a:cs typeface="Times New Roman"/>
                <a:sym typeface="Times New Roman"/>
              </a:rPr>
              <a:t>at</a:t>
            </a:r>
            <a:r>
              <a:rPr b="0" i="0" lang="en-GB" sz="3200" u="none" cap="none" strike="noStrike">
                <a:solidFill>
                  <a:srgbClr val="002060"/>
                </a:solidFill>
                <a:latin typeface="Times New Roman"/>
                <a:ea typeface="Times New Roman"/>
                <a:cs typeface="Times New Roman"/>
                <a:sym typeface="Times New Roman"/>
              </a:rPr>
              <a:t>.</a:t>
            </a:r>
            <a:r>
              <a:rPr b="0" i="1" lang="en-GB" sz="3200" u="none" cap="none" strike="noStrike">
                <a:solidFill>
                  <a:srgbClr val="002060"/>
                </a:solidFill>
                <a:latin typeface="Times New Roman"/>
                <a:ea typeface="Times New Roman"/>
                <a:cs typeface="Times New Roman"/>
                <a:sym typeface="Times New Roman"/>
              </a:rPr>
              <a:t>H(t)</a:t>
            </a:r>
            <a:r>
              <a:rPr b="0" i="0" lang="en-GB" sz="3200" u="none" cap="none" strike="noStrike">
                <a:solidFill>
                  <a:srgbClr val="002060"/>
                </a:solidFill>
                <a:latin typeface="Times New Roman"/>
                <a:ea typeface="Times New Roman"/>
                <a:cs typeface="Times New Roman"/>
                <a:sym typeface="Times New Roman"/>
              </a:rPr>
              <a:t>] </a:t>
            </a:r>
            <a:r>
              <a:rPr b="0" i="0" lang="en-GB" sz="4000" u="none" cap="none" strike="noStrike">
                <a:solidFill>
                  <a:srgbClr val="002060"/>
                </a:solidFill>
                <a:latin typeface="Times New Roman"/>
                <a:ea typeface="Times New Roman"/>
                <a:cs typeface="Times New Roman"/>
                <a:sym typeface="Times New Roman"/>
              </a:rPr>
              <a:t> = </a:t>
            </a:r>
            <a:endParaRPr b="0" i="0" sz="2000" u="none" cap="none" strike="noStrike">
              <a:solidFill>
                <a:schemeClr val="dk1"/>
              </a:solidFill>
              <a:latin typeface="Times New Roman"/>
              <a:ea typeface="Times New Roman"/>
              <a:cs typeface="Times New Roman"/>
              <a:sym typeface="Times New Roman"/>
            </a:endParaRPr>
          </a:p>
        </p:txBody>
      </p:sp>
      <p:sp>
        <p:nvSpPr>
          <p:cNvPr id="431" name="Google Shape;431;p15"/>
          <p:cNvSpPr/>
          <p:nvPr/>
        </p:nvSpPr>
        <p:spPr>
          <a:xfrm>
            <a:off x="0" y="1543050"/>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Arial"/>
              <a:buNone/>
            </a:pPr>
            <a:br>
              <a:rPr b="0" i="0" lang="en-GB" sz="3600" u="none" cap="none" strike="noStrike">
                <a:solidFill>
                  <a:srgbClr val="002060"/>
                </a:solidFill>
                <a:latin typeface="Arial"/>
                <a:ea typeface="Arial"/>
                <a:cs typeface="Arial"/>
                <a:sym typeface="Arial"/>
              </a:rPr>
            </a:b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16"/>
          <p:cNvSpPr txBox="1"/>
          <p:nvPr>
            <p:ph type="title"/>
          </p:nvPr>
        </p:nvSpPr>
        <p:spPr>
          <a:xfrm>
            <a:off x="429715" y="536029"/>
            <a:ext cx="10924085" cy="5517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Times New Roman"/>
              <a:buNone/>
            </a:pPr>
            <a:r>
              <a:rPr lang="en-GB"/>
              <a:t>(d)  Causal Sinusoidal function   sin(w t+f) .H(t)</a:t>
            </a:r>
            <a:endParaRPr/>
          </a:p>
        </p:txBody>
      </p:sp>
      <p:grpSp>
        <p:nvGrpSpPr>
          <p:cNvPr id="437" name="Google Shape;437;p16"/>
          <p:cNvGrpSpPr/>
          <p:nvPr/>
        </p:nvGrpSpPr>
        <p:grpSpPr>
          <a:xfrm>
            <a:off x="8557846" y="1829525"/>
            <a:ext cx="3292915" cy="1647190"/>
            <a:chOff x="9058" y="10279"/>
            <a:chExt cx="1483" cy="1039"/>
          </a:xfrm>
        </p:grpSpPr>
        <p:cxnSp>
          <p:nvCxnSpPr>
            <p:cNvPr id="438" name="Google Shape;438;p16"/>
            <p:cNvCxnSpPr/>
            <p:nvPr/>
          </p:nvCxnSpPr>
          <p:spPr>
            <a:xfrm>
              <a:off x="9578" y="10279"/>
              <a:ext cx="0" cy="900"/>
            </a:xfrm>
            <a:prstGeom prst="straightConnector1">
              <a:avLst/>
            </a:prstGeom>
            <a:noFill/>
            <a:ln cap="flat" cmpd="sng" w="38100">
              <a:solidFill>
                <a:srgbClr val="002060"/>
              </a:solidFill>
              <a:prstDash val="solid"/>
              <a:round/>
              <a:headEnd len="med" w="med" type="stealth"/>
              <a:tailEnd len="med" w="med" type="none"/>
            </a:ln>
          </p:spPr>
        </p:cxnSp>
        <p:cxnSp>
          <p:nvCxnSpPr>
            <p:cNvPr id="439" name="Google Shape;439;p16"/>
            <p:cNvCxnSpPr/>
            <p:nvPr/>
          </p:nvCxnSpPr>
          <p:spPr>
            <a:xfrm>
              <a:off x="9058" y="10939"/>
              <a:ext cx="1483" cy="0"/>
            </a:xfrm>
            <a:prstGeom prst="straightConnector1">
              <a:avLst/>
            </a:prstGeom>
            <a:noFill/>
            <a:ln cap="flat" cmpd="sng" w="38100">
              <a:solidFill>
                <a:srgbClr val="002060"/>
              </a:solidFill>
              <a:prstDash val="solid"/>
              <a:round/>
              <a:headEnd len="med" w="med" type="none"/>
              <a:tailEnd len="med" w="med" type="stealth"/>
            </a:ln>
          </p:spPr>
        </p:cxnSp>
        <p:sp>
          <p:nvSpPr>
            <p:cNvPr id="440" name="Google Shape;440;p16"/>
            <p:cNvSpPr txBox="1"/>
            <p:nvPr/>
          </p:nvSpPr>
          <p:spPr>
            <a:xfrm>
              <a:off x="10378" y="10579"/>
              <a:ext cx="1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2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sp>
          <p:nvSpPr>
            <p:cNvPr id="441" name="Google Shape;441;p16"/>
            <p:cNvSpPr/>
            <p:nvPr/>
          </p:nvSpPr>
          <p:spPr>
            <a:xfrm>
              <a:off x="9577" y="10580"/>
              <a:ext cx="228" cy="374"/>
            </a:xfrm>
            <a:custGeom>
              <a:rect b="b" l="l" r="r" t="t"/>
              <a:pathLst>
                <a:path extrusionOk="0" fill="none" h="21600" w="40210">
                  <a:moveTo>
                    <a:pt x="0" y="11620"/>
                  </a:moveTo>
                  <a:cubicBezTo>
                    <a:pt x="3352" y="3567"/>
                    <a:pt x="8821" y="0"/>
                    <a:pt x="17544" y="0"/>
                  </a:cubicBezTo>
                  <a:cubicBezTo>
                    <a:pt x="29473" y="0"/>
                    <a:pt x="40210" y="9670"/>
                    <a:pt x="40210" y="21600"/>
                  </a:cubicBezTo>
                </a:path>
                <a:path extrusionOk="0" h="21600" w="40210">
                  <a:moveTo>
                    <a:pt x="1959" y="10685"/>
                  </a:moveTo>
                  <a:cubicBezTo>
                    <a:pt x="5311" y="2632"/>
                    <a:pt x="8821" y="0"/>
                    <a:pt x="17544" y="0"/>
                  </a:cubicBezTo>
                  <a:lnTo>
                    <a:pt x="1959" y="10685"/>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16"/>
            <p:cNvSpPr/>
            <p:nvPr/>
          </p:nvSpPr>
          <p:spPr>
            <a:xfrm>
              <a:off x="10047" y="10579"/>
              <a:ext cx="240" cy="379"/>
            </a:xfrm>
            <a:custGeom>
              <a:rect b="b" l="l" r="r" t="t"/>
              <a:pathLst>
                <a:path extrusionOk="0" fill="none" h="21870" w="43200">
                  <a:moveTo>
                    <a:pt x="1" y="21870"/>
                  </a:moveTo>
                  <a:cubicBezTo>
                    <a:pt x="0" y="21780"/>
                    <a:pt x="0" y="21690"/>
                    <a:pt x="0" y="21600"/>
                  </a:cubicBezTo>
                  <a:cubicBezTo>
                    <a:pt x="0" y="9670"/>
                    <a:pt x="9670" y="0"/>
                    <a:pt x="21600" y="0"/>
                  </a:cubicBezTo>
                  <a:cubicBezTo>
                    <a:pt x="33529" y="0"/>
                    <a:pt x="43200" y="9670"/>
                    <a:pt x="43200" y="21599"/>
                  </a:cubicBezTo>
                </a:path>
                <a:path extrusionOk="0" h="21870" w="43200">
                  <a:moveTo>
                    <a:pt x="1" y="21870"/>
                  </a:moveTo>
                  <a:cubicBezTo>
                    <a:pt x="0" y="21780"/>
                    <a:pt x="0" y="21690"/>
                    <a:pt x="0" y="21600"/>
                  </a:cubicBezTo>
                  <a:cubicBezTo>
                    <a:pt x="0" y="9670"/>
                    <a:pt x="9670" y="0"/>
                    <a:pt x="21600" y="0"/>
                  </a:cubicBezTo>
                  <a:cubicBezTo>
                    <a:pt x="33529" y="0"/>
                    <a:pt x="43200" y="9670"/>
                    <a:pt x="43200" y="21599"/>
                  </a:cubicBezTo>
                  <a:lnTo>
                    <a:pt x="21600" y="21600"/>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16"/>
            <p:cNvSpPr/>
            <p:nvPr/>
          </p:nvSpPr>
          <p:spPr>
            <a:xfrm flipH="1" rot="10800000">
              <a:off x="9807" y="10939"/>
              <a:ext cx="240" cy="379"/>
            </a:xfrm>
            <a:custGeom>
              <a:rect b="b" l="l" r="r" t="t"/>
              <a:pathLst>
                <a:path extrusionOk="0" fill="none" h="21870" w="43200">
                  <a:moveTo>
                    <a:pt x="1" y="21870"/>
                  </a:moveTo>
                  <a:cubicBezTo>
                    <a:pt x="0" y="21780"/>
                    <a:pt x="0" y="21690"/>
                    <a:pt x="0" y="21600"/>
                  </a:cubicBezTo>
                  <a:cubicBezTo>
                    <a:pt x="0" y="9670"/>
                    <a:pt x="9670" y="0"/>
                    <a:pt x="21600" y="0"/>
                  </a:cubicBezTo>
                  <a:cubicBezTo>
                    <a:pt x="33529" y="0"/>
                    <a:pt x="43200" y="9670"/>
                    <a:pt x="43200" y="21599"/>
                  </a:cubicBezTo>
                </a:path>
                <a:path extrusionOk="0" h="21870" w="43200">
                  <a:moveTo>
                    <a:pt x="1" y="21870"/>
                  </a:moveTo>
                  <a:cubicBezTo>
                    <a:pt x="0" y="21780"/>
                    <a:pt x="0" y="21690"/>
                    <a:pt x="0" y="21600"/>
                  </a:cubicBezTo>
                  <a:cubicBezTo>
                    <a:pt x="0" y="9670"/>
                    <a:pt x="9670" y="0"/>
                    <a:pt x="21600" y="0"/>
                  </a:cubicBezTo>
                  <a:cubicBezTo>
                    <a:pt x="33529" y="0"/>
                    <a:pt x="43200" y="9670"/>
                    <a:pt x="43200" y="21599"/>
                  </a:cubicBezTo>
                  <a:lnTo>
                    <a:pt x="21600" y="21600"/>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444" name="Google Shape;444;p16"/>
            <p:cNvCxnSpPr/>
            <p:nvPr/>
          </p:nvCxnSpPr>
          <p:spPr>
            <a:xfrm>
              <a:off x="9198" y="10939"/>
              <a:ext cx="371" cy="0"/>
            </a:xfrm>
            <a:prstGeom prst="straightConnector1">
              <a:avLst/>
            </a:prstGeom>
            <a:noFill/>
            <a:ln cap="flat" cmpd="sng" w="38100">
              <a:solidFill>
                <a:srgbClr val="C00000"/>
              </a:solidFill>
              <a:prstDash val="solid"/>
              <a:round/>
              <a:headEnd len="med" w="med" type="none"/>
              <a:tailEnd len="med" w="med" type="none"/>
            </a:ln>
          </p:spPr>
        </p:cxnSp>
        <p:cxnSp>
          <p:nvCxnSpPr>
            <p:cNvPr id="445" name="Google Shape;445;p16"/>
            <p:cNvCxnSpPr/>
            <p:nvPr/>
          </p:nvCxnSpPr>
          <p:spPr>
            <a:xfrm>
              <a:off x="9578" y="10778"/>
              <a:ext cx="0" cy="180"/>
            </a:xfrm>
            <a:prstGeom prst="straightConnector1">
              <a:avLst/>
            </a:prstGeom>
            <a:noFill/>
            <a:ln cap="flat" cmpd="sng" w="38100">
              <a:solidFill>
                <a:srgbClr val="C00000"/>
              </a:solidFill>
              <a:prstDash val="solid"/>
              <a:round/>
              <a:headEnd len="med" w="med" type="none"/>
              <a:tailEnd len="med" w="med" type="none"/>
            </a:ln>
          </p:spPr>
        </p:cxnSp>
      </p:grpSp>
      <p:pic>
        <p:nvPicPr>
          <p:cNvPr id="446" name="Google Shape;446;p16"/>
          <p:cNvPicPr preferRelativeResize="0"/>
          <p:nvPr/>
        </p:nvPicPr>
        <p:blipFill rotWithShape="1">
          <a:blip r:embed="rId3">
            <a:alphaModFix/>
          </a:blip>
          <a:srcRect b="0" l="0" r="0" t="0"/>
          <a:stretch/>
        </p:blipFill>
        <p:spPr>
          <a:xfrm>
            <a:off x="4518447" y="831694"/>
            <a:ext cx="5181600" cy="1466850"/>
          </a:xfrm>
          <a:prstGeom prst="rect">
            <a:avLst/>
          </a:prstGeom>
          <a:noFill/>
          <a:ln>
            <a:noFill/>
          </a:ln>
        </p:spPr>
      </p:pic>
      <p:pic>
        <p:nvPicPr>
          <p:cNvPr id="447" name="Google Shape;447;p16"/>
          <p:cNvPicPr preferRelativeResize="0"/>
          <p:nvPr/>
        </p:nvPicPr>
        <p:blipFill rotWithShape="1">
          <a:blip r:embed="rId4">
            <a:alphaModFix/>
          </a:blip>
          <a:srcRect b="0" l="0" r="0" t="0"/>
          <a:stretch/>
        </p:blipFill>
        <p:spPr>
          <a:xfrm>
            <a:off x="1625106" y="1955670"/>
            <a:ext cx="5314950" cy="1428750"/>
          </a:xfrm>
          <a:prstGeom prst="rect">
            <a:avLst/>
          </a:prstGeom>
          <a:noFill/>
          <a:ln>
            <a:noFill/>
          </a:ln>
        </p:spPr>
      </p:pic>
      <p:pic>
        <p:nvPicPr>
          <p:cNvPr id="448" name="Google Shape;448;p16"/>
          <p:cNvPicPr preferRelativeResize="0"/>
          <p:nvPr/>
        </p:nvPicPr>
        <p:blipFill rotWithShape="1">
          <a:blip r:embed="rId5">
            <a:alphaModFix/>
          </a:blip>
          <a:srcRect b="0" l="0" r="0" t="0"/>
          <a:stretch/>
        </p:blipFill>
        <p:spPr>
          <a:xfrm>
            <a:off x="1657350" y="2883299"/>
            <a:ext cx="7905750" cy="1447800"/>
          </a:xfrm>
          <a:prstGeom prst="rect">
            <a:avLst/>
          </a:prstGeom>
          <a:noFill/>
          <a:ln>
            <a:noFill/>
          </a:ln>
        </p:spPr>
      </p:pic>
      <p:pic>
        <p:nvPicPr>
          <p:cNvPr id="449" name="Google Shape;449;p16"/>
          <p:cNvPicPr preferRelativeResize="0"/>
          <p:nvPr/>
        </p:nvPicPr>
        <p:blipFill rotWithShape="1">
          <a:blip r:embed="rId6">
            <a:alphaModFix/>
          </a:blip>
          <a:srcRect b="0" l="0" r="0" t="0"/>
          <a:stretch/>
        </p:blipFill>
        <p:spPr>
          <a:xfrm>
            <a:off x="1748786" y="4249189"/>
            <a:ext cx="7943850" cy="1123950"/>
          </a:xfrm>
          <a:prstGeom prst="rect">
            <a:avLst/>
          </a:prstGeom>
          <a:noFill/>
          <a:ln>
            <a:noFill/>
          </a:ln>
        </p:spPr>
      </p:pic>
      <p:pic>
        <p:nvPicPr>
          <p:cNvPr id="450" name="Google Shape;450;p16"/>
          <p:cNvPicPr preferRelativeResize="0"/>
          <p:nvPr/>
        </p:nvPicPr>
        <p:blipFill rotWithShape="1">
          <a:blip r:embed="rId7">
            <a:alphaModFix/>
          </a:blip>
          <a:srcRect b="0" l="0" r="0" t="0"/>
          <a:stretch/>
        </p:blipFill>
        <p:spPr>
          <a:xfrm>
            <a:off x="1833645" y="5292126"/>
            <a:ext cx="4819650" cy="1123950"/>
          </a:xfrm>
          <a:prstGeom prst="rect">
            <a:avLst/>
          </a:prstGeom>
          <a:noFill/>
          <a:ln>
            <a:noFill/>
          </a:ln>
        </p:spPr>
      </p:pic>
      <p:sp>
        <p:nvSpPr>
          <p:cNvPr id="451" name="Google Shape;451;p16"/>
          <p:cNvSpPr/>
          <p:nvPr/>
        </p:nvSpPr>
        <p:spPr>
          <a:xfrm>
            <a:off x="108305" y="889472"/>
            <a:ext cx="5533292" cy="1200329"/>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7200"/>
              <a:buFont typeface="Arial"/>
              <a:buNone/>
            </a:pPr>
            <a:r>
              <a:rPr b="0" i="0" lang="en-GB" sz="7200" u="none" cap="none" strike="noStrike">
                <a:solidFill>
                  <a:srgbClr val="002060"/>
                </a:solidFill>
                <a:latin typeface="Arial"/>
                <a:ea typeface="Arial"/>
                <a:cs typeface="Arial"/>
                <a:sym typeface="Arial"/>
              </a:rPr>
              <a:t>L </a:t>
            </a:r>
            <a:r>
              <a:rPr b="0" i="0" lang="en-GB" sz="3600" u="none" cap="none" strike="noStrike">
                <a:solidFill>
                  <a:srgbClr val="002060"/>
                </a:solidFill>
                <a:latin typeface="Arial"/>
                <a:ea typeface="Arial"/>
                <a:cs typeface="Arial"/>
                <a:sym typeface="Arial"/>
              </a:rPr>
              <a:t> </a:t>
            </a:r>
            <a:r>
              <a:rPr b="0" i="1" lang="en-GB" sz="3600" u="none" cap="none" strike="noStrike">
                <a:solidFill>
                  <a:srgbClr val="002060"/>
                </a:solidFill>
                <a:latin typeface="Times New Roman"/>
                <a:ea typeface="Times New Roman"/>
                <a:cs typeface="Times New Roman"/>
                <a:sym typeface="Times New Roman"/>
              </a:rPr>
              <a:t>[sin(wt+f).H(t)]</a:t>
            </a:r>
            <a:r>
              <a:rPr b="0" i="0" lang="en-GB" sz="3600" u="none" cap="none" strike="noStrike">
                <a:solidFill>
                  <a:srgbClr val="002060"/>
                </a:solidFill>
                <a:latin typeface="Arial"/>
                <a:ea typeface="Arial"/>
                <a:cs typeface="Arial"/>
                <a:sym typeface="Arial"/>
              </a:rPr>
              <a:t> </a:t>
            </a:r>
            <a:r>
              <a:rPr b="0" i="0" lang="en-GB" sz="2800" u="none" cap="none" strike="noStrike">
                <a:solidFill>
                  <a:srgbClr val="002060"/>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452" name="Google Shape;452;p16"/>
          <p:cNvSpPr/>
          <p:nvPr/>
        </p:nvSpPr>
        <p:spPr>
          <a:xfrm>
            <a:off x="1131274" y="2399690"/>
            <a:ext cx="1101963" cy="52322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Arial"/>
              <a:buNone/>
            </a:pPr>
            <a:r>
              <a:rPr b="0" i="0" lang="en-GB" sz="2800" u="none" cap="none" strike="noStrike">
                <a:solidFill>
                  <a:srgbClr val="002060"/>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453" name="Google Shape;453;p16"/>
          <p:cNvSpPr/>
          <p:nvPr/>
        </p:nvSpPr>
        <p:spPr>
          <a:xfrm>
            <a:off x="240319" y="3483552"/>
            <a:ext cx="2297723" cy="52322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Times New Roman"/>
              <a:buNone/>
            </a:pPr>
            <a:r>
              <a:rPr b="0" i="1" lang="en-GB" sz="2800" u="none" cap="none" strike="noStrike">
                <a:solidFill>
                  <a:srgbClr val="002060"/>
                </a:solidFill>
                <a:latin typeface="Times New Roman"/>
                <a:ea typeface="Times New Roman"/>
                <a:cs typeface="Times New Roman"/>
                <a:sym typeface="Times New Roman"/>
              </a:rPr>
              <a:t>F(s)	= </a:t>
            </a:r>
            <a:endParaRPr b="0" i="1" sz="1800" u="none" cap="none" strike="noStrike">
              <a:solidFill>
                <a:schemeClr val="dk1"/>
              </a:solidFill>
              <a:latin typeface="Times New Roman"/>
              <a:ea typeface="Times New Roman"/>
              <a:cs typeface="Times New Roman"/>
              <a:sym typeface="Times New Roman"/>
            </a:endParaRPr>
          </a:p>
        </p:txBody>
      </p:sp>
      <p:sp>
        <p:nvSpPr>
          <p:cNvPr id="454" name="Google Shape;454;p16"/>
          <p:cNvSpPr/>
          <p:nvPr/>
        </p:nvSpPr>
        <p:spPr>
          <a:xfrm>
            <a:off x="1119548" y="4498414"/>
            <a:ext cx="429715" cy="52322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Arial"/>
              <a:buNone/>
            </a:pPr>
            <a:r>
              <a:rPr b="0" i="0" lang="en-GB" sz="2800" u="none" cap="none" strike="noStrike">
                <a:solidFill>
                  <a:srgbClr val="002060"/>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455" name="Google Shape;455;p16"/>
          <p:cNvSpPr/>
          <p:nvPr/>
        </p:nvSpPr>
        <p:spPr>
          <a:xfrm>
            <a:off x="1203433" y="5595864"/>
            <a:ext cx="775545" cy="537833"/>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Arial"/>
              <a:buNone/>
            </a:pPr>
            <a:r>
              <a:rPr b="0" i="0" lang="en-GB" sz="2800" u="none" cap="none" strike="noStrike">
                <a:solidFill>
                  <a:srgbClr val="002060"/>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pic>
        <p:nvPicPr>
          <p:cNvPr id="460" name="Google Shape;460;p17"/>
          <p:cNvPicPr preferRelativeResize="0"/>
          <p:nvPr/>
        </p:nvPicPr>
        <p:blipFill rotWithShape="1">
          <a:blip r:embed="rId3">
            <a:alphaModFix/>
          </a:blip>
          <a:srcRect b="0" l="0" r="0" t="0"/>
          <a:stretch/>
        </p:blipFill>
        <p:spPr>
          <a:xfrm>
            <a:off x="328246" y="1441757"/>
            <a:ext cx="4362450" cy="1200150"/>
          </a:xfrm>
          <a:prstGeom prst="rect">
            <a:avLst/>
          </a:prstGeom>
          <a:noFill/>
          <a:ln>
            <a:noFill/>
          </a:ln>
        </p:spPr>
      </p:pic>
      <p:sp>
        <p:nvSpPr>
          <p:cNvPr id="461" name="Google Shape;461;p17"/>
          <p:cNvSpPr/>
          <p:nvPr/>
        </p:nvSpPr>
        <p:spPr>
          <a:xfrm>
            <a:off x="328246" y="731316"/>
            <a:ext cx="10245380" cy="64633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Times New Roman"/>
              <a:buNone/>
            </a:pPr>
            <a:r>
              <a:rPr i="1" lang="en-GB" sz="3600">
                <a:solidFill>
                  <a:srgbClr val="002060"/>
                </a:solidFill>
                <a:latin typeface="Times New Roman"/>
                <a:ea typeface="Times New Roman"/>
                <a:cs typeface="Times New Roman"/>
                <a:sym typeface="Times New Roman"/>
              </a:rPr>
              <a:t>(s2+</a:t>
            </a:r>
            <a:r>
              <a:rPr b="0" i="1" lang="en-GB" sz="3600" u="none" cap="none" strike="noStrike">
                <a:solidFill>
                  <a:srgbClr val="002060"/>
                </a:solidFill>
                <a:latin typeface="Noto Sans Symbols"/>
                <a:ea typeface="Noto Sans Symbols"/>
                <a:cs typeface="Noto Sans Symbols"/>
                <a:sym typeface="Noto Sans Symbols"/>
              </a:rPr>
              <a:t>ω</a:t>
            </a:r>
            <a:r>
              <a:rPr b="0" baseline="30000" i="1" lang="en-GB" sz="3600" u="none" cap="none" strike="noStrike">
                <a:solidFill>
                  <a:srgbClr val="002060"/>
                </a:solidFill>
                <a:latin typeface="Arial"/>
                <a:ea typeface="Arial"/>
                <a:cs typeface="Arial"/>
                <a:sym typeface="Arial"/>
              </a:rPr>
              <a:t>2</a:t>
            </a:r>
            <a:r>
              <a:rPr b="0" i="1" lang="en-GB" sz="3600" u="none" cap="none" strike="noStrike">
                <a:solidFill>
                  <a:srgbClr val="002060"/>
                </a:solidFill>
                <a:latin typeface="Times New Roman"/>
                <a:ea typeface="Times New Roman"/>
                <a:cs typeface="Times New Roman"/>
                <a:sym typeface="Times New Roman"/>
              </a:rPr>
              <a:t>)</a:t>
            </a:r>
            <a:r>
              <a:rPr b="0" i="1" lang="en-GB" sz="3600" u="none" cap="none" strike="noStrike">
                <a:solidFill>
                  <a:srgbClr val="002060"/>
                </a:solidFill>
                <a:latin typeface="Arial"/>
                <a:ea typeface="Arial"/>
                <a:cs typeface="Arial"/>
                <a:sym typeface="Arial"/>
              </a:rPr>
              <a:t>. </a:t>
            </a:r>
            <a:r>
              <a:rPr b="0" i="1" lang="en-GB" sz="3600" u="none" cap="none" strike="noStrike">
                <a:solidFill>
                  <a:srgbClr val="002060"/>
                </a:solidFill>
                <a:latin typeface="Times New Roman"/>
                <a:ea typeface="Times New Roman"/>
                <a:cs typeface="Times New Roman"/>
                <a:sym typeface="Times New Roman"/>
              </a:rPr>
              <a:t>F(s) = s . sin </a:t>
            </a:r>
            <a:r>
              <a:rPr b="0" i="1" lang="en-GB" sz="3600" u="none" cap="none" strike="noStrike">
                <a:solidFill>
                  <a:srgbClr val="002060"/>
                </a:solidFill>
                <a:latin typeface="Noto Sans Symbols"/>
                <a:ea typeface="Noto Sans Symbols"/>
                <a:cs typeface="Noto Sans Symbols"/>
                <a:sym typeface="Noto Sans Symbols"/>
              </a:rPr>
              <a:t>φ</a:t>
            </a:r>
            <a:r>
              <a:rPr b="0" i="1" lang="en-GB" sz="3600" u="none" cap="none" strike="noStrike">
                <a:solidFill>
                  <a:srgbClr val="002060"/>
                </a:solidFill>
                <a:latin typeface="Arial"/>
                <a:ea typeface="Arial"/>
                <a:cs typeface="Arial"/>
                <a:sym typeface="Arial"/>
              </a:rPr>
              <a:t> + </a:t>
            </a:r>
            <a:r>
              <a:rPr b="0" i="1" lang="en-GB" sz="3600" u="none" cap="none" strike="noStrike">
                <a:solidFill>
                  <a:srgbClr val="002060"/>
                </a:solidFill>
                <a:latin typeface="Noto Sans Symbols"/>
                <a:ea typeface="Noto Sans Symbols"/>
                <a:cs typeface="Noto Sans Symbols"/>
                <a:sym typeface="Noto Sans Symbols"/>
              </a:rPr>
              <a:t>ω</a:t>
            </a:r>
            <a:r>
              <a:rPr b="0" i="1" lang="en-GB" sz="3600" u="none" cap="none" strike="noStrike">
                <a:solidFill>
                  <a:srgbClr val="002060"/>
                </a:solidFill>
                <a:latin typeface="Arial"/>
                <a:ea typeface="Arial"/>
                <a:cs typeface="Arial"/>
                <a:sym typeface="Arial"/>
              </a:rPr>
              <a:t> . </a:t>
            </a:r>
            <a:r>
              <a:rPr i="1" lang="en-GB" sz="3600">
                <a:solidFill>
                  <a:srgbClr val="002060"/>
                </a:solidFill>
                <a:latin typeface="Times New Roman"/>
                <a:ea typeface="Times New Roman"/>
                <a:cs typeface="Times New Roman"/>
                <a:sym typeface="Times New Roman"/>
              </a:rPr>
              <a:t>cos</a:t>
            </a:r>
            <a:r>
              <a:rPr b="0" i="1" lang="en-GB" sz="3600" u="none" cap="none" strike="noStrike">
                <a:solidFill>
                  <a:srgbClr val="002060"/>
                </a:solidFill>
                <a:latin typeface="Arial"/>
                <a:ea typeface="Arial"/>
                <a:cs typeface="Arial"/>
                <a:sym typeface="Arial"/>
              </a:rPr>
              <a:t> </a:t>
            </a:r>
            <a:r>
              <a:rPr b="0" i="1" lang="en-GB" sz="3600" u="none" cap="none" strike="noStrike">
                <a:solidFill>
                  <a:srgbClr val="002060"/>
                </a:solidFill>
                <a:latin typeface="Noto Sans Symbols"/>
                <a:ea typeface="Noto Sans Symbols"/>
                <a:cs typeface="Noto Sans Symbols"/>
                <a:sym typeface="Noto Sans Symbols"/>
              </a:rPr>
              <a:t>φ</a:t>
            </a:r>
            <a:endParaRPr b="0" i="1" sz="1100" u="none" cap="none" strike="noStrike">
              <a:solidFill>
                <a:schemeClr val="dk1"/>
              </a:solidFill>
              <a:latin typeface="Arial"/>
              <a:ea typeface="Arial"/>
              <a:cs typeface="Arial"/>
              <a:sym typeface="Arial"/>
            </a:endParaRPr>
          </a:p>
        </p:txBody>
      </p:sp>
      <p:sp>
        <p:nvSpPr>
          <p:cNvPr id="462" name="Google Shape;462;p17"/>
          <p:cNvSpPr/>
          <p:nvPr/>
        </p:nvSpPr>
        <p:spPr>
          <a:xfrm>
            <a:off x="-82061" y="2598723"/>
            <a:ext cx="7583368" cy="584775"/>
          </a:xfrm>
          <a:prstGeom prst="rect">
            <a:avLst/>
          </a:prstGeom>
          <a:noFill/>
          <a:ln>
            <a:noFill/>
          </a:ln>
        </p:spPr>
        <p:txBody>
          <a:bodyPr anchorCtr="0" anchor="ctr" bIns="45700" lIns="91425" spcFirstLastPara="1" rIns="91425" wrap="square" tIns="45700">
            <a:spAutoFit/>
          </a:bodyPr>
          <a:lstStyle/>
          <a:p>
            <a:pPr indent="457200" lvl="0" marL="0" marR="0" rtl="0" algn="just">
              <a:lnSpc>
                <a:spcPct val="100000"/>
              </a:lnSpc>
              <a:spcBef>
                <a:spcPts val="0"/>
              </a:spcBef>
              <a:spcAft>
                <a:spcPts val="0"/>
              </a:spcAft>
              <a:buClr>
                <a:srgbClr val="002060"/>
              </a:buClr>
              <a:buSzPts val="3200"/>
              <a:buFont typeface="Arial"/>
              <a:buNone/>
            </a:pPr>
            <a:r>
              <a:rPr b="0" i="0" lang="en-GB" sz="3200" u="none" cap="none" strike="noStrike">
                <a:solidFill>
                  <a:srgbClr val="002060"/>
                </a:solidFill>
                <a:latin typeface="Arial"/>
                <a:ea typeface="Arial"/>
                <a:cs typeface="Arial"/>
                <a:sym typeface="Arial"/>
              </a:rPr>
              <a:t>with </a:t>
            </a:r>
            <a:r>
              <a:rPr b="0" i="0" lang="en-GB" sz="3200" u="none" cap="none" strike="noStrike">
                <a:solidFill>
                  <a:srgbClr val="002060"/>
                </a:solidFill>
                <a:latin typeface="Noto Sans Symbols"/>
                <a:ea typeface="Noto Sans Symbols"/>
                <a:cs typeface="Noto Sans Symbols"/>
                <a:sym typeface="Noto Sans Symbols"/>
              </a:rPr>
              <a:t>φ</a:t>
            </a:r>
            <a:r>
              <a:rPr b="0" i="0" lang="en-GB" sz="3200" u="none" cap="none" strike="noStrike">
                <a:solidFill>
                  <a:srgbClr val="002060"/>
                </a:solidFill>
                <a:latin typeface="Arial"/>
                <a:ea typeface="Arial"/>
                <a:cs typeface="Arial"/>
                <a:sym typeface="Arial"/>
              </a:rPr>
              <a:t> = 0</a:t>
            </a:r>
            <a:r>
              <a:rPr b="0" baseline="30000" i="0" lang="en-GB" sz="3200" u="none" cap="none" strike="noStrike">
                <a:solidFill>
                  <a:srgbClr val="002060"/>
                </a:solidFill>
                <a:latin typeface="Arial"/>
                <a:ea typeface="Arial"/>
                <a:cs typeface="Arial"/>
                <a:sym typeface="Arial"/>
              </a:rPr>
              <a:t>o</a:t>
            </a:r>
            <a:r>
              <a:rPr b="0" i="0" lang="en-GB" sz="3200" u="none" cap="none" strike="noStrike">
                <a:solidFill>
                  <a:srgbClr val="002060"/>
                </a:solidFill>
                <a:latin typeface="Arial"/>
                <a:ea typeface="Arial"/>
                <a:cs typeface="Arial"/>
                <a:sym typeface="Arial"/>
              </a:rPr>
              <a:t> the following is obtained.</a:t>
            </a:r>
            <a:endParaRPr b="0" i="0" sz="1200" u="none" cap="none" strike="noStrike">
              <a:solidFill>
                <a:schemeClr val="dk1"/>
              </a:solidFill>
              <a:latin typeface="Arial"/>
              <a:ea typeface="Arial"/>
              <a:cs typeface="Arial"/>
              <a:sym typeface="Arial"/>
            </a:endParaRPr>
          </a:p>
        </p:txBody>
      </p:sp>
      <p:pic>
        <p:nvPicPr>
          <p:cNvPr id="463" name="Google Shape;463;p17"/>
          <p:cNvPicPr preferRelativeResize="0"/>
          <p:nvPr/>
        </p:nvPicPr>
        <p:blipFill rotWithShape="1">
          <a:blip r:embed="rId4">
            <a:alphaModFix/>
          </a:blip>
          <a:srcRect b="0" l="0" r="0" t="0"/>
          <a:stretch/>
        </p:blipFill>
        <p:spPr>
          <a:xfrm>
            <a:off x="3391809" y="3177429"/>
            <a:ext cx="1676400" cy="1219200"/>
          </a:xfrm>
          <a:prstGeom prst="rect">
            <a:avLst/>
          </a:prstGeom>
          <a:noFill/>
          <a:ln>
            <a:noFill/>
          </a:ln>
        </p:spPr>
      </p:pic>
      <p:sp>
        <p:nvSpPr>
          <p:cNvPr id="464" name="Google Shape;464;p17"/>
          <p:cNvSpPr/>
          <p:nvPr/>
        </p:nvSpPr>
        <p:spPr>
          <a:xfrm>
            <a:off x="-623521" y="5387832"/>
            <a:ext cx="4445244" cy="584775"/>
          </a:xfrm>
          <a:prstGeom prst="rect">
            <a:avLst/>
          </a:prstGeom>
          <a:noFill/>
          <a:ln>
            <a:noFill/>
          </a:ln>
        </p:spPr>
        <p:txBody>
          <a:bodyPr anchorCtr="0" anchor="ctr" bIns="45700" lIns="91425" spcFirstLastPara="1" rIns="91425" wrap="square" tIns="45700">
            <a:spAutoFit/>
          </a:bodyPr>
          <a:lstStyle/>
          <a:p>
            <a:pPr indent="457200" lvl="0" marL="0" marR="0" rtl="0" algn="just">
              <a:lnSpc>
                <a:spcPct val="100000"/>
              </a:lnSpc>
              <a:spcBef>
                <a:spcPts val="0"/>
              </a:spcBef>
              <a:spcAft>
                <a:spcPts val="0"/>
              </a:spcAft>
              <a:buClr>
                <a:srgbClr val="002060"/>
              </a:buClr>
              <a:buSzPts val="3200"/>
              <a:buFont typeface="Arial"/>
              <a:buNone/>
            </a:pPr>
            <a:r>
              <a:rPr b="0" i="0" lang="en-GB" sz="3200" u="none" cap="none" strike="noStrike">
                <a:solidFill>
                  <a:srgbClr val="002060"/>
                </a:solidFill>
                <a:latin typeface="Arial"/>
                <a:ea typeface="Arial"/>
                <a:cs typeface="Arial"/>
                <a:sym typeface="Arial"/>
              </a:rPr>
              <a:t>,    L</a:t>
            </a:r>
            <a:r>
              <a:rPr b="0" i="0" lang="en-GB" sz="3200" u="none" cap="none" strike="noStrike">
                <a:solidFill>
                  <a:srgbClr val="002060"/>
                </a:solidFill>
                <a:latin typeface="Calibri"/>
                <a:ea typeface="Calibri"/>
                <a:cs typeface="Calibri"/>
                <a:sym typeface="Calibri"/>
              </a:rPr>
              <a:t>  </a:t>
            </a:r>
            <a:r>
              <a:rPr b="0" i="0" lang="en-GB" sz="3200" u="none" cap="none" strike="noStrike">
                <a:solidFill>
                  <a:srgbClr val="002060"/>
                </a:solidFill>
                <a:latin typeface="Arial"/>
                <a:ea typeface="Arial"/>
                <a:cs typeface="Arial"/>
                <a:sym typeface="Arial"/>
              </a:rPr>
              <a:t>[cos </a:t>
            </a:r>
            <a:r>
              <a:rPr b="0" i="0" lang="en-GB" sz="3200" u="none" cap="none" strike="noStrike">
                <a:solidFill>
                  <a:srgbClr val="002060"/>
                </a:solidFill>
                <a:latin typeface="Noto Sans Symbols"/>
                <a:ea typeface="Noto Sans Symbols"/>
                <a:cs typeface="Noto Sans Symbols"/>
                <a:sym typeface="Noto Sans Symbols"/>
              </a:rPr>
              <a:t>ω</a:t>
            </a:r>
            <a:r>
              <a:rPr b="0" i="0" lang="en-GB" sz="3200" u="none" cap="none" strike="noStrike">
                <a:solidFill>
                  <a:srgbClr val="002060"/>
                </a:solidFill>
                <a:latin typeface="Calibri"/>
                <a:ea typeface="Calibri"/>
                <a:cs typeface="Calibri"/>
                <a:sym typeface="Calibri"/>
              </a:rPr>
              <a:t>t.H(t)] = </a:t>
            </a:r>
            <a:endParaRPr b="0" i="0" sz="2000" u="none" cap="none" strike="noStrike">
              <a:solidFill>
                <a:schemeClr val="dk1"/>
              </a:solidFill>
              <a:latin typeface="Arial"/>
              <a:ea typeface="Arial"/>
              <a:cs typeface="Arial"/>
              <a:sym typeface="Arial"/>
            </a:endParaRPr>
          </a:p>
        </p:txBody>
      </p:sp>
      <p:pic>
        <p:nvPicPr>
          <p:cNvPr id="465" name="Google Shape;465;p17"/>
          <p:cNvPicPr preferRelativeResize="0"/>
          <p:nvPr/>
        </p:nvPicPr>
        <p:blipFill rotWithShape="1">
          <a:blip r:embed="rId5">
            <a:alphaModFix/>
          </a:blip>
          <a:srcRect b="0" l="0" r="0" t="0"/>
          <a:stretch/>
        </p:blipFill>
        <p:spPr>
          <a:xfrm>
            <a:off x="3793586" y="5070619"/>
            <a:ext cx="1657350" cy="1219200"/>
          </a:xfrm>
          <a:prstGeom prst="rect">
            <a:avLst/>
          </a:prstGeom>
          <a:noFill/>
          <a:ln>
            <a:noFill/>
          </a:ln>
        </p:spPr>
      </p:pic>
      <p:sp>
        <p:nvSpPr>
          <p:cNvPr id="466" name="Google Shape;466;p17"/>
          <p:cNvSpPr/>
          <p:nvPr/>
        </p:nvSpPr>
        <p:spPr>
          <a:xfrm>
            <a:off x="82061" y="4514131"/>
            <a:ext cx="12027877" cy="584775"/>
          </a:xfrm>
          <a:prstGeom prst="rect">
            <a:avLst/>
          </a:prstGeom>
          <a:noFill/>
          <a:ln>
            <a:noFill/>
          </a:ln>
        </p:spPr>
        <p:txBody>
          <a:bodyPr anchorCtr="0" anchor="ctr" bIns="45700" lIns="91425" spcFirstLastPara="1" rIns="91425" wrap="square" tIns="45700">
            <a:spAutoFit/>
          </a:bodyPr>
          <a:lstStyle/>
          <a:p>
            <a:pPr indent="457200" lvl="0" marL="0" marR="0" rtl="0" algn="just">
              <a:lnSpc>
                <a:spcPct val="100000"/>
              </a:lnSpc>
              <a:spcBef>
                <a:spcPts val="0"/>
              </a:spcBef>
              <a:spcAft>
                <a:spcPts val="0"/>
              </a:spcAft>
              <a:buClr>
                <a:srgbClr val="002060"/>
              </a:buClr>
              <a:buSzPts val="3200"/>
              <a:buFont typeface="Arial"/>
              <a:buNone/>
            </a:pPr>
            <a:r>
              <a:rPr b="0" i="0" lang="en-GB" sz="3200" u="none" cap="none" strike="noStrike">
                <a:solidFill>
                  <a:srgbClr val="002060"/>
                </a:solidFill>
                <a:latin typeface="Arial"/>
                <a:ea typeface="Arial"/>
                <a:cs typeface="Arial"/>
                <a:sym typeface="Arial"/>
              </a:rPr>
              <a:t>And with </a:t>
            </a:r>
            <a:r>
              <a:rPr b="0" i="0" lang="en-GB" sz="3200" u="none" cap="none" strike="noStrike">
                <a:solidFill>
                  <a:srgbClr val="002060"/>
                </a:solidFill>
                <a:latin typeface="Noto Sans Symbols"/>
                <a:ea typeface="Noto Sans Symbols"/>
                <a:cs typeface="Noto Sans Symbols"/>
                <a:sym typeface="Noto Sans Symbols"/>
              </a:rPr>
              <a:t>φ</a:t>
            </a:r>
            <a:r>
              <a:rPr b="0" i="0" lang="en-GB" sz="3200" u="none" cap="none" strike="noStrike">
                <a:solidFill>
                  <a:srgbClr val="002060"/>
                </a:solidFill>
                <a:latin typeface="Arial"/>
                <a:ea typeface="Arial"/>
                <a:cs typeface="Arial"/>
                <a:sym typeface="Arial"/>
              </a:rPr>
              <a:t> = 90</a:t>
            </a:r>
            <a:r>
              <a:rPr b="0" baseline="30000" i="0" lang="en-GB" sz="3200" u="none" cap="none" strike="noStrike">
                <a:solidFill>
                  <a:srgbClr val="002060"/>
                </a:solidFill>
                <a:latin typeface="Arial"/>
                <a:ea typeface="Arial"/>
                <a:cs typeface="Arial"/>
                <a:sym typeface="Arial"/>
              </a:rPr>
              <a:t>o</a:t>
            </a:r>
            <a:r>
              <a:rPr b="0" i="0" lang="en-GB" sz="3200" u="none" cap="none" strike="noStrike">
                <a:solidFill>
                  <a:srgbClr val="002060"/>
                </a:solidFill>
                <a:latin typeface="Arial"/>
                <a:ea typeface="Arial"/>
                <a:cs typeface="Arial"/>
                <a:sym typeface="Arial"/>
              </a:rPr>
              <a:t> the following is obtained.</a:t>
            </a:r>
            <a:endParaRPr b="0" i="0" sz="3200" u="none" cap="none" strike="noStrike">
              <a:solidFill>
                <a:schemeClr val="dk1"/>
              </a:solidFill>
              <a:latin typeface="Arial"/>
              <a:ea typeface="Arial"/>
              <a:cs typeface="Arial"/>
              <a:sym typeface="Arial"/>
            </a:endParaRPr>
          </a:p>
        </p:txBody>
      </p:sp>
      <p:sp>
        <p:nvSpPr>
          <p:cNvPr id="467" name="Google Shape;467;p17"/>
          <p:cNvSpPr/>
          <p:nvPr/>
        </p:nvSpPr>
        <p:spPr>
          <a:xfrm>
            <a:off x="363416" y="3436986"/>
            <a:ext cx="3028393" cy="5847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GB" sz="3200">
                <a:solidFill>
                  <a:srgbClr val="002060"/>
                </a:solidFill>
                <a:latin typeface="Arial"/>
                <a:ea typeface="Arial"/>
                <a:cs typeface="Arial"/>
                <a:sym typeface="Arial"/>
              </a:rPr>
              <a:t>L</a:t>
            </a:r>
            <a:r>
              <a:rPr lang="en-GB" sz="3200">
                <a:solidFill>
                  <a:srgbClr val="002060"/>
                </a:solidFill>
                <a:latin typeface="Calibri"/>
                <a:ea typeface="Calibri"/>
                <a:cs typeface="Calibri"/>
                <a:sym typeface="Calibri"/>
              </a:rPr>
              <a:t>  [sin </a:t>
            </a:r>
            <a:r>
              <a:rPr lang="en-GB" sz="3200">
                <a:solidFill>
                  <a:srgbClr val="002060"/>
                </a:solidFill>
                <a:latin typeface="Noto Sans Symbols"/>
                <a:ea typeface="Noto Sans Symbols"/>
                <a:cs typeface="Noto Sans Symbols"/>
                <a:sym typeface="Noto Sans Symbols"/>
              </a:rPr>
              <a:t>ω</a:t>
            </a:r>
            <a:r>
              <a:rPr lang="en-GB" sz="3200">
                <a:solidFill>
                  <a:srgbClr val="002060"/>
                </a:solidFill>
                <a:latin typeface="Calibri"/>
                <a:ea typeface="Calibri"/>
                <a:cs typeface="Calibri"/>
                <a:sym typeface="Calibri"/>
              </a:rPr>
              <a:t>t.H(t)] = </a:t>
            </a:r>
            <a:endParaRPr sz="3200">
              <a:solidFill>
                <a:srgbClr val="000000"/>
              </a:solidFill>
              <a:latin typeface="Calibri"/>
              <a:ea typeface="Calibri"/>
              <a:cs typeface="Calibri"/>
              <a:sym typeface="Calibri"/>
            </a:endParaRPr>
          </a:p>
        </p:txBody>
      </p:sp>
      <p:grpSp>
        <p:nvGrpSpPr>
          <p:cNvPr id="468" name="Google Shape;468;p17"/>
          <p:cNvGrpSpPr/>
          <p:nvPr/>
        </p:nvGrpSpPr>
        <p:grpSpPr>
          <a:xfrm>
            <a:off x="6825734" y="2928547"/>
            <a:ext cx="3040708" cy="1647190"/>
            <a:chOff x="8407464" y="1547142"/>
            <a:chExt cx="3040708" cy="1647190"/>
          </a:xfrm>
        </p:grpSpPr>
        <p:grpSp>
          <p:nvGrpSpPr>
            <p:cNvPr id="469" name="Google Shape;469;p17"/>
            <p:cNvGrpSpPr/>
            <p:nvPr/>
          </p:nvGrpSpPr>
          <p:grpSpPr>
            <a:xfrm>
              <a:off x="8407464" y="1547142"/>
              <a:ext cx="3040708" cy="1647190"/>
              <a:chOff x="8407464" y="1547142"/>
              <a:chExt cx="3040708" cy="1647190"/>
            </a:xfrm>
          </p:grpSpPr>
          <p:cxnSp>
            <p:nvCxnSpPr>
              <p:cNvPr id="470" name="Google Shape;470;p17"/>
              <p:cNvCxnSpPr/>
              <p:nvPr/>
            </p:nvCxnSpPr>
            <p:spPr>
              <a:xfrm>
                <a:off x="9251232" y="1547142"/>
                <a:ext cx="0" cy="1426825"/>
              </a:xfrm>
              <a:prstGeom prst="straightConnector1">
                <a:avLst/>
              </a:prstGeom>
              <a:noFill/>
              <a:ln cap="flat" cmpd="sng" w="38100">
                <a:solidFill>
                  <a:srgbClr val="002060"/>
                </a:solidFill>
                <a:prstDash val="solid"/>
                <a:round/>
                <a:headEnd len="med" w="med" type="stealth"/>
                <a:tailEnd len="med" w="med" type="none"/>
              </a:ln>
            </p:spPr>
          </p:cxnSp>
          <p:cxnSp>
            <p:nvCxnSpPr>
              <p:cNvPr id="471" name="Google Shape;471;p17"/>
              <p:cNvCxnSpPr/>
              <p:nvPr/>
            </p:nvCxnSpPr>
            <p:spPr>
              <a:xfrm>
                <a:off x="8488498" y="2593480"/>
                <a:ext cx="2926080" cy="0"/>
              </a:xfrm>
              <a:prstGeom prst="straightConnector1">
                <a:avLst/>
              </a:prstGeom>
              <a:noFill/>
              <a:ln cap="flat" cmpd="sng" w="38100">
                <a:solidFill>
                  <a:srgbClr val="002060"/>
                </a:solidFill>
                <a:prstDash val="solid"/>
                <a:round/>
                <a:headEnd len="med" w="med" type="none"/>
                <a:tailEnd len="med" w="med" type="stealth"/>
              </a:ln>
            </p:spPr>
          </p:cxnSp>
          <p:sp>
            <p:nvSpPr>
              <p:cNvPr id="472" name="Google Shape;472;p17"/>
              <p:cNvSpPr txBox="1"/>
              <p:nvPr/>
            </p:nvSpPr>
            <p:spPr>
              <a:xfrm>
                <a:off x="11092901" y="2071737"/>
                <a:ext cx="355271" cy="57073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2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sp>
            <p:nvSpPr>
              <p:cNvPr id="473" name="Google Shape;473;p17"/>
              <p:cNvSpPr/>
              <p:nvPr/>
            </p:nvSpPr>
            <p:spPr>
              <a:xfrm>
                <a:off x="10364342" y="2022750"/>
                <a:ext cx="532906" cy="600852"/>
              </a:xfrm>
              <a:custGeom>
                <a:rect b="b" l="l" r="r" t="t"/>
                <a:pathLst>
                  <a:path extrusionOk="0" fill="none" h="21870" w="43200">
                    <a:moveTo>
                      <a:pt x="1" y="21870"/>
                    </a:moveTo>
                    <a:cubicBezTo>
                      <a:pt x="0" y="21780"/>
                      <a:pt x="0" y="21690"/>
                      <a:pt x="0" y="21600"/>
                    </a:cubicBezTo>
                    <a:cubicBezTo>
                      <a:pt x="0" y="9670"/>
                      <a:pt x="9670" y="0"/>
                      <a:pt x="21600" y="0"/>
                    </a:cubicBezTo>
                    <a:cubicBezTo>
                      <a:pt x="33529" y="0"/>
                      <a:pt x="43200" y="9670"/>
                      <a:pt x="43200" y="21599"/>
                    </a:cubicBezTo>
                  </a:path>
                  <a:path extrusionOk="0" h="21870" w="43200">
                    <a:moveTo>
                      <a:pt x="1" y="21870"/>
                    </a:moveTo>
                    <a:cubicBezTo>
                      <a:pt x="0" y="21780"/>
                      <a:pt x="0" y="21690"/>
                      <a:pt x="0" y="21600"/>
                    </a:cubicBezTo>
                    <a:cubicBezTo>
                      <a:pt x="0" y="9670"/>
                      <a:pt x="9670" y="0"/>
                      <a:pt x="21600" y="0"/>
                    </a:cubicBezTo>
                    <a:cubicBezTo>
                      <a:pt x="33529" y="0"/>
                      <a:pt x="43200" y="9670"/>
                      <a:pt x="43200" y="21599"/>
                    </a:cubicBezTo>
                    <a:lnTo>
                      <a:pt x="21600" y="21600"/>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17"/>
              <p:cNvSpPr/>
              <p:nvPr/>
            </p:nvSpPr>
            <p:spPr>
              <a:xfrm flipH="1" rot="10800000">
                <a:off x="9831436" y="2593480"/>
                <a:ext cx="532906" cy="600852"/>
              </a:xfrm>
              <a:custGeom>
                <a:rect b="b" l="l" r="r" t="t"/>
                <a:pathLst>
                  <a:path extrusionOk="0" fill="none" h="21870" w="43200">
                    <a:moveTo>
                      <a:pt x="1" y="21870"/>
                    </a:moveTo>
                    <a:cubicBezTo>
                      <a:pt x="0" y="21780"/>
                      <a:pt x="0" y="21690"/>
                      <a:pt x="0" y="21600"/>
                    </a:cubicBezTo>
                    <a:cubicBezTo>
                      <a:pt x="0" y="9670"/>
                      <a:pt x="9670" y="0"/>
                      <a:pt x="21600" y="0"/>
                    </a:cubicBezTo>
                    <a:cubicBezTo>
                      <a:pt x="33529" y="0"/>
                      <a:pt x="43200" y="9670"/>
                      <a:pt x="43200" y="21599"/>
                    </a:cubicBezTo>
                  </a:path>
                  <a:path extrusionOk="0" h="21870" w="43200">
                    <a:moveTo>
                      <a:pt x="1" y="21870"/>
                    </a:moveTo>
                    <a:cubicBezTo>
                      <a:pt x="0" y="21780"/>
                      <a:pt x="0" y="21690"/>
                      <a:pt x="0" y="21600"/>
                    </a:cubicBezTo>
                    <a:cubicBezTo>
                      <a:pt x="0" y="9670"/>
                      <a:pt x="9670" y="0"/>
                      <a:pt x="21600" y="0"/>
                    </a:cubicBezTo>
                    <a:cubicBezTo>
                      <a:pt x="33529" y="0"/>
                      <a:pt x="43200" y="9670"/>
                      <a:pt x="43200" y="21599"/>
                    </a:cubicBezTo>
                    <a:lnTo>
                      <a:pt x="21600" y="21600"/>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475" name="Google Shape;475;p17"/>
              <p:cNvCxnSpPr/>
              <p:nvPr/>
            </p:nvCxnSpPr>
            <p:spPr>
              <a:xfrm>
                <a:off x="8407464" y="2593480"/>
                <a:ext cx="823784" cy="0"/>
              </a:xfrm>
              <a:prstGeom prst="straightConnector1">
                <a:avLst/>
              </a:prstGeom>
              <a:noFill/>
              <a:ln cap="flat" cmpd="sng" w="38100">
                <a:solidFill>
                  <a:srgbClr val="C00000"/>
                </a:solidFill>
                <a:prstDash val="solid"/>
                <a:round/>
                <a:headEnd len="med" w="med" type="none"/>
                <a:tailEnd len="med" w="med" type="none"/>
              </a:ln>
            </p:spPr>
          </p:cxnSp>
          <p:sp>
            <p:nvSpPr>
              <p:cNvPr id="476" name="Google Shape;476;p17"/>
              <p:cNvSpPr/>
              <p:nvPr/>
            </p:nvSpPr>
            <p:spPr>
              <a:xfrm>
                <a:off x="9292310" y="2004128"/>
                <a:ext cx="532906" cy="600852"/>
              </a:xfrm>
              <a:custGeom>
                <a:rect b="b" l="l" r="r" t="t"/>
                <a:pathLst>
                  <a:path extrusionOk="0" fill="none" h="21870" w="43200">
                    <a:moveTo>
                      <a:pt x="1" y="21870"/>
                    </a:moveTo>
                    <a:cubicBezTo>
                      <a:pt x="0" y="21780"/>
                      <a:pt x="0" y="21690"/>
                      <a:pt x="0" y="21600"/>
                    </a:cubicBezTo>
                    <a:cubicBezTo>
                      <a:pt x="0" y="9670"/>
                      <a:pt x="9670" y="0"/>
                      <a:pt x="21600" y="0"/>
                    </a:cubicBezTo>
                    <a:cubicBezTo>
                      <a:pt x="33529" y="0"/>
                      <a:pt x="43200" y="9670"/>
                      <a:pt x="43200" y="21599"/>
                    </a:cubicBezTo>
                  </a:path>
                  <a:path extrusionOk="0" h="21870" w="43200">
                    <a:moveTo>
                      <a:pt x="1" y="21870"/>
                    </a:moveTo>
                    <a:cubicBezTo>
                      <a:pt x="0" y="21780"/>
                      <a:pt x="0" y="21690"/>
                      <a:pt x="0" y="21600"/>
                    </a:cubicBezTo>
                    <a:cubicBezTo>
                      <a:pt x="0" y="9670"/>
                      <a:pt x="9670" y="0"/>
                      <a:pt x="21600" y="0"/>
                    </a:cubicBezTo>
                    <a:cubicBezTo>
                      <a:pt x="33529" y="0"/>
                      <a:pt x="43200" y="9670"/>
                      <a:pt x="43200" y="21599"/>
                    </a:cubicBezTo>
                    <a:lnTo>
                      <a:pt x="21600" y="21600"/>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7" name="Google Shape;477;p17"/>
            <p:cNvSpPr/>
            <p:nvPr/>
          </p:nvSpPr>
          <p:spPr>
            <a:xfrm rot="10800000">
              <a:off x="10900094" y="2569545"/>
              <a:ext cx="266453" cy="592925"/>
            </a:xfrm>
            <a:custGeom>
              <a:rect b="b" l="l" r="r" t="t"/>
              <a:pathLst>
                <a:path extrusionOk="0" fill="none" h="21600" w="21600">
                  <a:moveTo>
                    <a:pt x="0" y="0"/>
                  </a:moveTo>
                  <a:cubicBezTo>
                    <a:pt x="11929" y="0"/>
                    <a:pt x="21600" y="9670"/>
                    <a:pt x="21600" y="21600"/>
                  </a:cubicBezTo>
                </a:path>
                <a:path extrusionOk="0" h="21600" w="21600">
                  <a:moveTo>
                    <a:pt x="0" y="21600"/>
                  </a:moveTo>
                  <a:lnTo>
                    <a:pt x="0" y="0"/>
                  </a:lnTo>
                  <a:lnTo>
                    <a:pt x="0" y="21600"/>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78" name="Google Shape;478;p17"/>
          <p:cNvGrpSpPr/>
          <p:nvPr/>
        </p:nvGrpSpPr>
        <p:grpSpPr>
          <a:xfrm>
            <a:off x="6808790" y="5070619"/>
            <a:ext cx="2975394" cy="1657696"/>
            <a:chOff x="8448562" y="3472904"/>
            <a:chExt cx="2975394" cy="1657696"/>
          </a:xfrm>
        </p:grpSpPr>
        <p:grpSp>
          <p:nvGrpSpPr>
            <p:cNvPr id="479" name="Google Shape;479;p17"/>
            <p:cNvGrpSpPr/>
            <p:nvPr/>
          </p:nvGrpSpPr>
          <p:grpSpPr>
            <a:xfrm>
              <a:off x="8448562" y="3472904"/>
              <a:ext cx="2975394" cy="1647190"/>
              <a:chOff x="9198" y="10279"/>
              <a:chExt cx="1340" cy="1039"/>
            </a:xfrm>
          </p:grpSpPr>
          <p:cxnSp>
            <p:nvCxnSpPr>
              <p:cNvPr id="480" name="Google Shape;480;p17"/>
              <p:cNvCxnSpPr/>
              <p:nvPr/>
            </p:nvCxnSpPr>
            <p:spPr>
              <a:xfrm>
                <a:off x="9578" y="10279"/>
                <a:ext cx="0" cy="900"/>
              </a:xfrm>
              <a:prstGeom prst="straightConnector1">
                <a:avLst/>
              </a:prstGeom>
              <a:noFill/>
              <a:ln cap="flat" cmpd="sng" w="38100">
                <a:solidFill>
                  <a:srgbClr val="002060"/>
                </a:solidFill>
                <a:prstDash val="solid"/>
                <a:round/>
                <a:headEnd len="med" w="med" type="stealth"/>
                <a:tailEnd len="med" w="med" type="none"/>
              </a:ln>
            </p:spPr>
          </p:cxnSp>
          <p:cxnSp>
            <p:nvCxnSpPr>
              <p:cNvPr id="481" name="Google Shape;481;p17"/>
              <p:cNvCxnSpPr/>
              <p:nvPr/>
            </p:nvCxnSpPr>
            <p:spPr>
              <a:xfrm>
                <a:off x="9219" y="10939"/>
                <a:ext cx="1318" cy="0"/>
              </a:xfrm>
              <a:prstGeom prst="straightConnector1">
                <a:avLst/>
              </a:prstGeom>
              <a:noFill/>
              <a:ln cap="flat" cmpd="sng" w="38100">
                <a:solidFill>
                  <a:srgbClr val="002060"/>
                </a:solidFill>
                <a:prstDash val="solid"/>
                <a:round/>
                <a:headEnd len="med" w="med" type="none"/>
                <a:tailEnd len="med" w="med" type="stealth"/>
              </a:ln>
            </p:spPr>
          </p:cxnSp>
          <p:sp>
            <p:nvSpPr>
              <p:cNvPr id="482" name="Google Shape;482;p17"/>
              <p:cNvSpPr txBox="1"/>
              <p:nvPr/>
            </p:nvSpPr>
            <p:spPr>
              <a:xfrm>
                <a:off x="10378" y="10579"/>
                <a:ext cx="1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2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sp>
            <p:nvSpPr>
              <p:cNvPr id="483" name="Google Shape;483;p17"/>
              <p:cNvSpPr/>
              <p:nvPr/>
            </p:nvSpPr>
            <p:spPr>
              <a:xfrm>
                <a:off x="9587" y="10580"/>
                <a:ext cx="120" cy="374"/>
              </a:xfrm>
              <a:custGeom>
                <a:rect b="b" l="l" r="r" t="t"/>
                <a:pathLst>
                  <a:path extrusionOk="0" fill="none" h="21600" w="21600">
                    <a:moveTo>
                      <a:pt x="0" y="0"/>
                    </a:moveTo>
                    <a:cubicBezTo>
                      <a:pt x="11929" y="0"/>
                      <a:pt x="21600" y="9670"/>
                      <a:pt x="21600" y="21600"/>
                    </a:cubicBezTo>
                  </a:path>
                  <a:path extrusionOk="0" h="21600" w="21600">
                    <a:moveTo>
                      <a:pt x="0" y="21600"/>
                    </a:moveTo>
                    <a:lnTo>
                      <a:pt x="0" y="0"/>
                    </a:lnTo>
                    <a:lnTo>
                      <a:pt x="0" y="21600"/>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17"/>
              <p:cNvSpPr/>
              <p:nvPr/>
            </p:nvSpPr>
            <p:spPr>
              <a:xfrm>
                <a:off x="9953" y="10579"/>
                <a:ext cx="240" cy="379"/>
              </a:xfrm>
              <a:custGeom>
                <a:rect b="b" l="l" r="r" t="t"/>
                <a:pathLst>
                  <a:path extrusionOk="0" fill="none" h="21870" w="43200">
                    <a:moveTo>
                      <a:pt x="1" y="21870"/>
                    </a:moveTo>
                    <a:cubicBezTo>
                      <a:pt x="0" y="21780"/>
                      <a:pt x="0" y="21690"/>
                      <a:pt x="0" y="21600"/>
                    </a:cubicBezTo>
                    <a:cubicBezTo>
                      <a:pt x="0" y="9670"/>
                      <a:pt x="9670" y="0"/>
                      <a:pt x="21600" y="0"/>
                    </a:cubicBezTo>
                    <a:cubicBezTo>
                      <a:pt x="33529" y="0"/>
                      <a:pt x="43200" y="9670"/>
                      <a:pt x="43200" y="21599"/>
                    </a:cubicBezTo>
                  </a:path>
                  <a:path extrusionOk="0" h="21870" w="43200">
                    <a:moveTo>
                      <a:pt x="1" y="21870"/>
                    </a:moveTo>
                    <a:cubicBezTo>
                      <a:pt x="0" y="21780"/>
                      <a:pt x="0" y="21690"/>
                      <a:pt x="0" y="21600"/>
                    </a:cubicBezTo>
                    <a:cubicBezTo>
                      <a:pt x="0" y="9670"/>
                      <a:pt x="9670" y="0"/>
                      <a:pt x="21600" y="0"/>
                    </a:cubicBezTo>
                    <a:cubicBezTo>
                      <a:pt x="33529" y="0"/>
                      <a:pt x="43200" y="9670"/>
                      <a:pt x="43200" y="21599"/>
                    </a:cubicBezTo>
                    <a:lnTo>
                      <a:pt x="21600" y="21600"/>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17"/>
              <p:cNvSpPr/>
              <p:nvPr/>
            </p:nvSpPr>
            <p:spPr>
              <a:xfrm flipH="1" rot="10800000">
                <a:off x="9713" y="10939"/>
                <a:ext cx="240" cy="379"/>
              </a:xfrm>
              <a:custGeom>
                <a:rect b="b" l="l" r="r" t="t"/>
                <a:pathLst>
                  <a:path extrusionOk="0" fill="none" h="21870" w="43200">
                    <a:moveTo>
                      <a:pt x="1" y="21870"/>
                    </a:moveTo>
                    <a:cubicBezTo>
                      <a:pt x="0" y="21780"/>
                      <a:pt x="0" y="21690"/>
                      <a:pt x="0" y="21600"/>
                    </a:cubicBezTo>
                    <a:cubicBezTo>
                      <a:pt x="0" y="9670"/>
                      <a:pt x="9670" y="0"/>
                      <a:pt x="21600" y="0"/>
                    </a:cubicBezTo>
                    <a:cubicBezTo>
                      <a:pt x="33529" y="0"/>
                      <a:pt x="43200" y="9670"/>
                      <a:pt x="43200" y="21599"/>
                    </a:cubicBezTo>
                  </a:path>
                  <a:path extrusionOk="0" h="21870" w="43200">
                    <a:moveTo>
                      <a:pt x="1" y="21870"/>
                    </a:moveTo>
                    <a:cubicBezTo>
                      <a:pt x="0" y="21780"/>
                      <a:pt x="0" y="21690"/>
                      <a:pt x="0" y="21600"/>
                    </a:cubicBezTo>
                    <a:cubicBezTo>
                      <a:pt x="0" y="9670"/>
                      <a:pt x="9670" y="0"/>
                      <a:pt x="21600" y="0"/>
                    </a:cubicBezTo>
                    <a:cubicBezTo>
                      <a:pt x="33529" y="0"/>
                      <a:pt x="43200" y="9670"/>
                      <a:pt x="43200" y="21599"/>
                    </a:cubicBezTo>
                    <a:lnTo>
                      <a:pt x="21600" y="21600"/>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486" name="Google Shape;486;p17"/>
              <p:cNvCxnSpPr/>
              <p:nvPr/>
            </p:nvCxnSpPr>
            <p:spPr>
              <a:xfrm>
                <a:off x="9198" y="10939"/>
                <a:ext cx="371" cy="0"/>
              </a:xfrm>
              <a:prstGeom prst="straightConnector1">
                <a:avLst/>
              </a:prstGeom>
              <a:noFill/>
              <a:ln cap="flat" cmpd="sng" w="38100">
                <a:solidFill>
                  <a:srgbClr val="C00000"/>
                </a:solidFill>
                <a:prstDash val="solid"/>
                <a:round/>
                <a:headEnd len="med" w="med" type="none"/>
                <a:tailEnd len="med" w="med" type="none"/>
              </a:ln>
            </p:spPr>
          </p:cxnSp>
          <p:cxnSp>
            <p:nvCxnSpPr>
              <p:cNvPr id="487" name="Google Shape;487;p17"/>
              <p:cNvCxnSpPr/>
              <p:nvPr/>
            </p:nvCxnSpPr>
            <p:spPr>
              <a:xfrm>
                <a:off x="9578" y="10778"/>
                <a:ext cx="0" cy="180"/>
              </a:xfrm>
              <a:prstGeom prst="straightConnector1">
                <a:avLst/>
              </a:prstGeom>
              <a:noFill/>
              <a:ln cap="flat" cmpd="sng" w="38100">
                <a:solidFill>
                  <a:srgbClr val="C00000"/>
                </a:solidFill>
                <a:prstDash val="solid"/>
                <a:round/>
                <a:headEnd len="med" w="med" type="none"/>
                <a:tailEnd len="med" w="med" type="none"/>
              </a:ln>
            </p:spPr>
          </p:cxnSp>
        </p:grpSp>
        <p:sp>
          <p:nvSpPr>
            <p:cNvPr id="488" name="Google Shape;488;p17"/>
            <p:cNvSpPr/>
            <p:nvPr/>
          </p:nvSpPr>
          <p:spPr>
            <a:xfrm flipH="1" rot="10800000">
              <a:off x="10674639" y="4529748"/>
              <a:ext cx="532906" cy="600852"/>
            </a:xfrm>
            <a:custGeom>
              <a:rect b="b" l="l" r="r" t="t"/>
              <a:pathLst>
                <a:path extrusionOk="0" fill="none" h="21870" w="43200">
                  <a:moveTo>
                    <a:pt x="1" y="21870"/>
                  </a:moveTo>
                  <a:cubicBezTo>
                    <a:pt x="0" y="21780"/>
                    <a:pt x="0" y="21690"/>
                    <a:pt x="0" y="21600"/>
                  </a:cubicBezTo>
                  <a:cubicBezTo>
                    <a:pt x="0" y="9670"/>
                    <a:pt x="9670" y="0"/>
                    <a:pt x="21600" y="0"/>
                  </a:cubicBezTo>
                  <a:cubicBezTo>
                    <a:pt x="33529" y="0"/>
                    <a:pt x="43200" y="9670"/>
                    <a:pt x="43200" y="21599"/>
                  </a:cubicBezTo>
                </a:path>
                <a:path extrusionOk="0" h="21870" w="43200">
                  <a:moveTo>
                    <a:pt x="1" y="21870"/>
                  </a:moveTo>
                  <a:cubicBezTo>
                    <a:pt x="0" y="21780"/>
                    <a:pt x="0" y="21690"/>
                    <a:pt x="0" y="21600"/>
                  </a:cubicBezTo>
                  <a:cubicBezTo>
                    <a:pt x="0" y="9670"/>
                    <a:pt x="9670" y="0"/>
                    <a:pt x="21600" y="0"/>
                  </a:cubicBezTo>
                  <a:cubicBezTo>
                    <a:pt x="33529" y="0"/>
                    <a:pt x="43200" y="9670"/>
                    <a:pt x="43200" y="21599"/>
                  </a:cubicBezTo>
                  <a:lnTo>
                    <a:pt x="21600" y="21600"/>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489" name="Google Shape;489;p17"/>
          <p:cNvGrpSpPr/>
          <p:nvPr/>
        </p:nvGrpSpPr>
        <p:grpSpPr>
          <a:xfrm>
            <a:off x="6853321" y="980931"/>
            <a:ext cx="3006480" cy="1647190"/>
            <a:chOff x="9184" y="10279"/>
            <a:chExt cx="1354" cy="1039"/>
          </a:xfrm>
        </p:grpSpPr>
        <p:cxnSp>
          <p:nvCxnSpPr>
            <p:cNvPr id="490" name="Google Shape;490;p17"/>
            <p:cNvCxnSpPr/>
            <p:nvPr/>
          </p:nvCxnSpPr>
          <p:spPr>
            <a:xfrm>
              <a:off x="9578" y="10279"/>
              <a:ext cx="0" cy="900"/>
            </a:xfrm>
            <a:prstGeom prst="straightConnector1">
              <a:avLst/>
            </a:prstGeom>
            <a:noFill/>
            <a:ln cap="flat" cmpd="sng" w="38100">
              <a:solidFill>
                <a:srgbClr val="002060"/>
              </a:solidFill>
              <a:prstDash val="solid"/>
              <a:round/>
              <a:headEnd len="med" w="med" type="stealth"/>
              <a:tailEnd len="med" w="med" type="none"/>
            </a:ln>
          </p:spPr>
        </p:cxnSp>
        <p:cxnSp>
          <p:nvCxnSpPr>
            <p:cNvPr id="491" name="Google Shape;491;p17"/>
            <p:cNvCxnSpPr/>
            <p:nvPr/>
          </p:nvCxnSpPr>
          <p:spPr>
            <a:xfrm>
              <a:off x="9184" y="10939"/>
              <a:ext cx="1318" cy="0"/>
            </a:xfrm>
            <a:prstGeom prst="straightConnector1">
              <a:avLst/>
            </a:prstGeom>
            <a:noFill/>
            <a:ln cap="flat" cmpd="sng" w="38100">
              <a:solidFill>
                <a:srgbClr val="002060"/>
              </a:solidFill>
              <a:prstDash val="solid"/>
              <a:round/>
              <a:headEnd len="med" w="med" type="none"/>
              <a:tailEnd len="med" w="med" type="stealth"/>
            </a:ln>
          </p:spPr>
        </p:cxnSp>
        <p:sp>
          <p:nvSpPr>
            <p:cNvPr id="492" name="Google Shape;492;p17"/>
            <p:cNvSpPr txBox="1"/>
            <p:nvPr/>
          </p:nvSpPr>
          <p:spPr>
            <a:xfrm>
              <a:off x="10378" y="10579"/>
              <a:ext cx="1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2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sp>
          <p:nvSpPr>
            <p:cNvPr id="493" name="Google Shape;493;p17"/>
            <p:cNvSpPr/>
            <p:nvPr/>
          </p:nvSpPr>
          <p:spPr>
            <a:xfrm>
              <a:off x="9577" y="10580"/>
              <a:ext cx="228" cy="374"/>
            </a:xfrm>
            <a:custGeom>
              <a:rect b="b" l="l" r="r" t="t"/>
              <a:pathLst>
                <a:path extrusionOk="0" fill="none" h="21600" w="40210">
                  <a:moveTo>
                    <a:pt x="0" y="11620"/>
                  </a:moveTo>
                  <a:cubicBezTo>
                    <a:pt x="3352" y="3567"/>
                    <a:pt x="8821" y="0"/>
                    <a:pt x="17544" y="0"/>
                  </a:cubicBezTo>
                  <a:cubicBezTo>
                    <a:pt x="29473" y="0"/>
                    <a:pt x="40210" y="9670"/>
                    <a:pt x="40210" y="21600"/>
                  </a:cubicBezTo>
                </a:path>
                <a:path extrusionOk="0" h="21600" w="40210">
                  <a:moveTo>
                    <a:pt x="1959" y="10685"/>
                  </a:moveTo>
                  <a:cubicBezTo>
                    <a:pt x="5311" y="2632"/>
                    <a:pt x="8821" y="0"/>
                    <a:pt x="17544" y="0"/>
                  </a:cubicBezTo>
                  <a:lnTo>
                    <a:pt x="1959" y="10685"/>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p17"/>
            <p:cNvSpPr/>
            <p:nvPr/>
          </p:nvSpPr>
          <p:spPr>
            <a:xfrm>
              <a:off x="10047" y="10579"/>
              <a:ext cx="240" cy="379"/>
            </a:xfrm>
            <a:custGeom>
              <a:rect b="b" l="l" r="r" t="t"/>
              <a:pathLst>
                <a:path extrusionOk="0" fill="none" h="21870" w="43200">
                  <a:moveTo>
                    <a:pt x="1" y="21870"/>
                  </a:moveTo>
                  <a:cubicBezTo>
                    <a:pt x="0" y="21780"/>
                    <a:pt x="0" y="21690"/>
                    <a:pt x="0" y="21600"/>
                  </a:cubicBezTo>
                  <a:cubicBezTo>
                    <a:pt x="0" y="9670"/>
                    <a:pt x="9670" y="0"/>
                    <a:pt x="21600" y="0"/>
                  </a:cubicBezTo>
                  <a:cubicBezTo>
                    <a:pt x="33529" y="0"/>
                    <a:pt x="43200" y="9670"/>
                    <a:pt x="43200" y="21599"/>
                  </a:cubicBezTo>
                </a:path>
                <a:path extrusionOk="0" h="21870" w="43200">
                  <a:moveTo>
                    <a:pt x="1" y="21870"/>
                  </a:moveTo>
                  <a:cubicBezTo>
                    <a:pt x="0" y="21780"/>
                    <a:pt x="0" y="21690"/>
                    <a:pt x="0" y="21600"/>
                  </a:cubicBezTo>
                  <a:cubicBezTo>
                    <a:pt x="0" y="9670"/>
                    <a:pt x="9670" y="0"/>
                    <a:pt x="21600" y="0"/>
                  </a:cubicBezTo>
                  <a:cubicBezTo>
                    <a:pt x="33529" y="0"/>
                    <a:pt x="43200" y="9670"/>
                    <a:pt x="43200" y="21599"/>
                  </a:cubicBezTo>
                  <a:lnTo>
                    <a:pt x="21600" y="21600"/>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17"/>
            <p:cNvSpPr/>
            <p:nvPr/>
          </p:nvSpPr>
          <p:spPr>
            <a:xfrm flipH="1" rot="10800000">
              <a:off x="9807" y="10939"/>
              <a:ext cx="240" cy="379"/>
            </a:xfrm>
            <a:custGeom>
              <a:rect b="b" l="l" r="r" t="t"/>
              <a:pathLst>
                <a:path extrusionOk="0" fill="none" h="21870" w="43200">
                  <a:moveTo>
                    <a:pt x="1" y="21870"/>
                  </a:moveTo>
                  <a:cubicBezTo>
                    <a:pt x="0" y="21780"/>
                    <a:pt x="0" y="21690"/>
                    <a:pt x="0" y="21600"/>
                  </a:cubicBezTo>
                  <a:cubicBezTo>
                    <a:pt x="0" y="9670"/>
                    <a:pt x="9670" y="0"/>
                    <a:pt x="21600" y="0"/>
                  </a:cubicBezTo>
                  <a:cubicBezTo>
                    <a:pt x="33529" y="0"/>
                    <a:pt x="43200" y="9670"/>
                    <a:pt x="43200" y="21599"/>
                  </a:cubicBezTo>
                </a:path>
                <a:path extrusionOk="0" h="21870" w="43200">
                  <a:moveTo>
                    <a:pt x="1" y="21870"/>
                  </a:moveTo>
                  <a:cubicBezTo>
                    <a:pt x="0" y="21780"/>
                    <a:pt x="0" y="21690"/>
                    <a:pt x="0" y="21600"/>
                  </a:cubicBezTo>
                  <a:cubicBezTo>
                    <a:pt x="0" y="9670"/>
                    <a:pt x="9670" y="0"/>
                    <a:pt x="21600" y="0"/>
                  </a:cubicBezTo>
                  <a:cubicBezTo>
                    <a:pt x="33529" y="0"/>
                    <a:pt x="43200" y="9670"/>
                    <a:pt x="43200" y="21599"/>
                  </a:cubicBezTo>
                  <a:lnTo>
                    <a:pt x="21600" y="21600"/>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496" name="Google Shape;496;p17"/>
            <p:cNvCxnSpPr/>
            <p:nvPr/>
          </p:nvCxnSpPr>
          <p:spPr>
            <a:xfrm>
              <a:off x="9198" y="10939"/>
              <a:ext cx="371" cy="0"/>
            </a:xfrm>
            <a:prstGeom prst="straightConnector1">
              <a:avLst/>
            </a:prstGeom>
            <a:noFill/>
            <a:ln cap="flat" cmpd="sng" w="38100">
              <a:solidFill>
                <a:srgbClr val="C00000"/>
              </a:solidFill>
              <a:prstDash val="solid"/>
              <a:round/>
              <a:headEnd len="med" w="med" type="none"/>
              <a:tailEnd len="med" w="med" type="none"/>
            </a:ln>
          </p:spPr>
        </p:cxnSp>
        <p:cxnSp>
          <p:nvCxnSpPr>
            <p:cNvPr id="497" name="Google Shape;497;p17"/>
            <p:cNvCxnSpPr/>
            <p:nvPr/>
          </p:nvCxnSpPr>
          <p:spPr>
            <a:xfrm>
              <a:off x="9578" y="10778"/>
              <a:ext cx="0" cy="180"/>
            </a:xfrm>
            <a:prstGeom prst="straightConnector1">
              <a:avLst/>
            </a:prstGeom>
            <a:noFill/>
            <a:ln cap="flat" cmpd="sng" w="38100">
              <a:solidFill>
                <a:srgbClr val="C00000"/>
              </a:solidFill>
              <a:prstDash val="solid"/>
              <a:round/>
              <a:headEnd len="med" w="med" type="none"/>
              <a:tailEnd len="med" w="med" type="none"/>
            </a:ln>
          </p:spPr>
        </p:cxn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18"/>
          <p:cNvSpPr txBox="1"/>
          <p:nvPr>
            <p:ph type="title"/>
          </p:nvPr>
        </p:nvSpPr>
        <p:spPr>
          <a:xfrm>
            <a:off x="429715" y="373459"/>
            <a:ext cx="10214839" cy="94242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3200"/>
              <a:buFont typeface="Times New Roman"/>
              <a:buNone/>
            </a:pPr>
            <a:r>
              <a:rPr lang="en-GB"/>
              <a:t>(e)  Laplace Transform of the causal derivative</a:t>
            </a:r>
            <a:endParaRPr/>
          </a:p>
        </p:txBody>
      </p:sp>
      <p:pic>
        <p:nvPicPr>
          <p:cNvPr id="503" name="Google Shape;503;p18"/>
          <p:cNvPicPr preferRelativeResize="0"/>
          <p:nvPr/>
        </p:nvPicPr>
        <p:blipFill rotWithShape="1">
          <a:blip r:embed="rId3">
            <a:alphaModFix/>
          </a:blip>
          <a:srcRect b="0" l="0" r="0" t="0"/>
          <a:stretch/>
        </p:blipFill>
        <p:spPr>
          <a:xfrm>
            <a:off x="8792308" y="246184"/>
            <a:ext cx="1257300" cy="1085850"/>
          </a:xfrm>
          <a:prstGeom prst="rect">
            <a:avLst/>
          </a:prstGeom>
          <a:noFill/>
          <a:ln>
            <a:noFill/>
          </a:ln>
        </p:spPr>
      </p:pic>
      <p:pic>
        <p:nvPicPr>
          <p:cNvPr id="504" name="Google Shape;504;p18"/>
          <p:cNvPicPr preferRelativeResize="0"/>
          <p:nvPr/>
        </p:nvPicPr>
        <p:blipFill rotWithShape="1">
          <a:blip r:embed="rId4">
            <a:alphaModFix/>
          </a:blip>
          <a:srcRect b="0" l="0" r="0" t="0"/>
          <a:stretch/>
        </p:blipFill>
        <p:spPr>
          <a:xfrm>
            <a:off x="1547446" y="1193799"/>
            <a:ext cx="6515100" cy="1162050"/>
          </a:xfrm>
          <a:prstGeom prst="rect">
            <a:avLst/>
          </a:prstGeom>
          <a:noFill/>
          <a:ln>
            <a:noFill/>
          </a:ln>
        </p:spPr>
      </p:pic>
      <p:pic>
        <p:nvPicPr>
          <p:cNvPr id="505" name="Google Shape;505;p18"/>
          <p:cNvPicPr preferRelativeResize="0"/>
          <p:nvPr/>
        </p:nvPicPr>
        <p:blipFill rotWithShape="1">
          <a:blip r:embed="rId5">
            <a:alphaModFix/>
          </a:blip>
          <a:srcRect b="0" l="0" r="0" t="0"/>
          <a:stretch/>
        </p:blipFill>
        <p:spPr>
          <a:xfrm>
            <a:off x="963490" y="2245773"/>
            <a:ext cx="5410200" cy="1352550"/>
          </a:xfrm>
          <a:prstGeom prst="rect">
            <a:avLst/>
          </a:prstGeom>
          <a:noFill/>
          <a:ln>
            <a:noFill/>
          </a:ln>
        </p:spPr>
      </p:pic>
      <p:pic>
        <p:nvPicPr>
          <p:cNvPr id="506" name="Google Shape;506;p18"/>
          <p:cNvPicPr preferRelativeResize="0"/>
          <p:nvPr/>
        </p:nvPicPr>
        <p:blipFill rotWithShape="1">
          <a:blip r:embed="rId6">
            <a:alphaModFix/>
          </a:blip>
          <a:srcRect b="0" l="0" r="0" t="0"/>
          <a:stretch/>
        </p:blipFill>
        <p:spPr>
          <a:xfrm>
            <a:off x="8956074" y="2194905"/>
            <a:ext cx="2514600" cy="1390650"/>
          </a:xfrm>
          <a:prstGeom prst="rect">
            <a:avLst/>
          </a:prstGeom>
          <a:noFill/>
          <a:ln>
            <a:noFill/>
          </a:ln>
        </p:spPr>
      </p:pic>
      <p:pic>
        <p:nvPicPr>
          <p:cNvPr id="507" name="Google Shape;507;p18"/>
          <p:cNvPicPr preferRelativeResize="0"/>
          <p:nvPr/>
        </p:nvPicPr>
        <p:blipFill rotWithShape="1">
          <a:blip r:embed="rId7">
            <a:alphaModFix/>
          </a:blip>
          <a:srcRect b="0" l="0" r="0" t="0"/>
          <a:stretch/>
        </p:blipFill>
        <p:spPr>
          <a:xfrm>
            <a:off x="1306747" y="3608316"/>
            <a:ext cx="4610100" cy="1333500"/>
          </a:xfrm>
          <a:prstGeom prst="rect">
            <a:avLst/>
          </a:prstGeom>
          <a:noFill/>
          <a:ln>
            <a:noFill/>
          </a:ln>
        </p:spPr>
      </p:pic>
      <p:sp>
        <p:nvSpPr>
          <p:cNvPr id="508" name="Google Shape;508;p18"/>
          <p:cNvSpPr/>
          <p:nvPr/>
        </p:nvSpPr>
        <p:spPr>
          <a:xfrm>
            <a:off x="429715" y="1104255"/>
            <a:ext cx="1137138" cy="1200329"/>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7200"/>
              <a:buFont typeface="Arial"/>
              <a:buNone/>
            </a:pPr>
            <a:r>
              <a:rPr b="0" i="0" lang="en-GB" sz="7200" u="none" cap="none" strike="noStrike">
                <a:solidFill>
                  <a:srgbClr val="002060"/>
                </a:solidFill>
                <a:latin typeface="Arial"/>
                <a:ea typeface="Arial"/>
                <a:cs typeface="Arial"/>
                <a:sym typeface="Arial"/>
              </a:rPr>
              <a:t>L</a:t>
            </a:r>
            <a:r>
              <a:rPr b="0" i="0" lang="en-GB" sz="7200" u="none" cap="none" strike="noStrike">
                <a:solidFill>
                  <a:srgbClr val="002060"/>
                </a:solidFill>
                <a:latin typeface="Calibri"/>
                <a:ea typeface="Calibri"/>
                <a:cs typeface="Calibri"/>
                <a:sym typeface="Calibri"/>
              </a:rPr>
              <a:t> </a:t>
            </a:r>
            <a:r>
              <a:rPr b="0" i="0" lang="en-GB" sz="3600" u="none" cap="none" strike="noStrike">
                <a:solidFill>
                  <a:srgbClr val="002060"/>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509" name="Google Shape;509;p18"/>
          <p:cNvSpPr/>
          <p:nvPr/>
        </p:nvSpPr>
        <p:spPr>
          <a:xfrm>
            <a:off x="429715" y="2598882"/>
            <a:ext cx="665285"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Arial"/>
              <a:buNone/>
            </a:pPr>
            <a:r>
              <a:rPr b="0" i="0" lang="en-GB" sz="3600" u="none" cap="none" strike="noStrike">
                <a:solidFill>
                  <a:srgbClr val="002060"/>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510" name="Google Shape;510;p18"/>
          <p:cNvSpPr/>
          <p:nvPr/>
        </p:nvSpPr>
        <p:spPr>
          <a:xfrm>
            <a:off x="5899638" y="2586069"/>
            <a:ext cx="3521320" cy="646331"/>
          </a:xfrm>
          <a:prstGeom prst="rect">
            <a:avLst/>
          </a:prstGeom>
          <a:noFill/>
          <a:ln>
            <a:noFill/>
          </a:ln>
        </p:spPr>
        <p:txBody>
          <a:bodyPr anchorCtr="0" anchor="ctr" bIns="45700" lIns="91425" spcFirstLastPara="1" rIns="91425" wrap="square" tIns="45700">
            <a:spAutoFit/>
          </a:bodyPr>
          <a:lstStyle/>
          <a:p>
            <a:pPr indent="457200" lvl="0" marL="0" marR="0" rtl="0" algn="just">
              <a:lnSpc>
                <a:spcPct val="100000"/>
              </a:lnSpc>
              <a:spcBef>
                <a:spcPts val="0"/>
              </a:spcBef>
              <a:spcAft>
                <a:spcPts val="0"/>
              </a:spcAft>
              <a:buClr>
                <a:srgbClr val="002060"/>
              </a:buClr>
              <a:buSzPts val="3600"/>
              <a:buFont typeface="Times New Roman"/>
              <a:buNone/>
            </a:pPr>
            <a:r>
              <a:rPr b="0" i="1" lang="en-GB" sz="3600" u="none" cap="none" strike="noStrike">
                <a:solidFill>
                  <a:srgbClr val="002060"/>
                </a:solidFill>
                <a:latin typeface="Times New Roman"/>
                <a:ea typeface="Times New Roman"/>
                <a:cs typeface="Times New Roman"/>
                <a:sym typeface="Times New Roman"/>
              </a:rPr>
              <a:t>= (-) f(0</a:t>
            </a:r>
            <a:r>
              <a:rPr b="0" baseline="30000" i="1" lang="en-GB" sz="3600" u="none" cap="none" strike="noStrike">
                <a:solidFill>
                  <a:srgbClr val="002060"/>
                </a:solidFill>
                <a:latin typeface="Times New Roman"/>
                <a:ea typeface="Times New Roman"/>
                <a:cs typeface="Times New Roman"/>
                <a:sym typeface="Times New Roman"/>
              </a:rPr>
              <a:t>-</a:t>
            </a:r>
            <a:r>
              <a:rPr b="0" i="1" lang="en-GB" sz="3600" u="none" cap="none" strike="noStrike">
                <a:solidFill>
                  <a:srgbClr val="002060"/>
                </a:solidFill>
                <a:latin typeface="Times New Roman"/>
                <a:ea typeface="Times New Roman"/>
                <a:cs typeface="Times New Roman"/>
                <a:sym typeface="Times New Roman"/>
              </a:rPr>
              <a:t>) + s. </a:t>
            </a:r>
            <a:endParaRPr b="0" i="1" sz="1800" u="none" cap="none" strike="noStrike">
              <a:solidFill>
                <a:schemeClr val="dk1"/>
              </a:solidFill>
              <a:latin typeface="Times New Roman"/>
              <a:ea typeface="Times New Roman"/>
              <a:cs typeface="Times New Roman"/>
              <a:sym typeface="Times New Roman"/>
            </a:endParaRPr>
          </a:p>
        </p:txBody>
      </p:sp>
      <p:sp>
        <p:nvSpPr>
          <p:cNvPr id="511" name="Google Shape;511;p18"/>
          <p:cNvSpPr/>
          <p:nvPr/>
        </p:nvSpPr>
        <p:spPr>
          <a:xfrm>
            <a:off x="308820" y="3743812"/>
            <a:ext cx="1330569" cy="1200329"/>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7200"/>
              <a:buFont typeface="Arial"/>
              <a:buNone/>
            </a:pPr>
            <a:r>
              <a:rPr b="0" i="0" lang="en-GB" sz="7200" u="none" cap="none" strike="noStrike">
                <a:solidFill>
                  <a:srgbClr val="002060"/>
                </a:solidFill>
                <a:latin typeface="Arial"/>
                <a:ea typeface="Arial"/>
                <a:cs typeface="Arial"/>
                <a:sym typeface="Arial"/>
              </a:rPr>
              <a:t>L </a:t>
            </a:r>
            <a:endParaRPr b="0" i="0" sz="1800" u="none" cap="none" strike="noStrike">
              <a:solidFill>
                <a:schemeClr val="dk1"/>
              </a:solidFill>
              <a:latin typeface="Arial"/>
              <a:ea typeface="Arial"/>
              <a:cs typeface="Arial"/>
              <a:sym typeface="Arial"/>
            </a:endParaRPr>
          </a:p>
        </p:txBody>
      </p:sp>
      <p:sp>
        <p:nvSpPr>
          <p:cNvPr id="512" name="Google Shape;512;p18"/>
          <p:cNvSpPr/>
          <p:nvPr/>
        </p:nvSpPr>
        <p:spPr>
          <a:xfrm>
            <a:off x="38100" y="5032565"/>
            <a:ext cx="9809285" cy="156966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200"/>
              <a:buFont typeface="Calibri"/>
              <a:buNone/>
            </a:pPr>
            <a:r>
              <a:rPr b="0" i="0" lang="en-GB" sz="3200" u="none" cap="none" strike="noStrike">
                <a:solidFill>
                  <a:srgbClr val="002060"/>
                </a:solidFill>
                <a:latin typeface="Calibri"/>
                <a:ea typeface="Calibri"/>
                <a:cs typeface="Calibri"/>
                <a:sym typeface="Calibri"/>
              </a:rPr>
              <a:t>Note: Unlike in case of ordinary derivative, transform of derivative also keeps information about initial condition [i.e. </a:t>
            </a:r>
            <a:r>
              <a:rPr b="0" i="1" lang="en-GB" sz="3200" u="none" cap="none" strike="noStrike">
                <a:solidFill>
                  <a:srgbClr val="002060"/>
                </a:solidFill>
                <a:latin typeface="Arial"/>
                <a:ea typeface="Arial"/>
                <a:cs typeface="Arial"/>
                <a:sym typeface="Arial"/>
              </a:rPr>
              <a:t>f(0</a:t>
            </a:r>
            <a:r>
              <a:rPr b="0" baseline="30000" i="1" lang="en-GB" sz="3200" u="none" cap="none" strike="noStrike">
                <a:solidFill>
                  <a:srgbClr val="002060"/>
                </a:solidFill>
                <a:latin typeface="Arial"/>
                <a:ea typeface="Arial"/>
                <a:cs typeface="Arial"/>
                <a:sym typeface="Arial"/>
              </a:rPr>
              <a:t>-</a:t>
            </a:r>
            <a:r>
              <a:rPr b="0" i="1" lang="en-GB" sz="3200" u="none" cap="none" strike="noStrike">
                <a:solidFill>
                  <a:srgbClr val="002060"/>
                </a:solidFill>
                <a:latin typeface="Arial"/>
                <a:ea typeface="Arial"/>
                <a:cs typeface="Arial"/>
                <a:sym typeface="Arial"/>
              </a:rPr>
              <a:t>)</a:t>
            </a:r>
            <a:r>
              <a:rPr b="0" i="0" lang="en-GB" sz="3200" u="none" cap="none" strike="noStrike">
                <a:solidFill>
                  <a:srgbClr val="002060"/>
                </a:solidFill>
                <a:latin typeface="Arial"/>
                <a:ea typeface="Arial"/>
                <a:cs typeface="Arial"/>
                <a:sym typeface="Arial"/>
              </a:rPr>
              <a:t>]</a:t>
            </a:r>
            <a:r>
              <a:rPr b="0" i="0" lang="en-GB"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19"/>
          <p:cNvSpPr txBox="1"/>
          <p:nvPr>
            <p:ph type="title"/>
          </p:nvPr>
        </p:nvSpPr>
        <p:spPr>
          <a:xfrm>
            <a:off x="429715" y="715032"/>
            <a:ext cx="10924085" cy="5517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Times New Roman"/>
              <a:buNone/>
            </a:pPr>
            <a:r>
              <a:rPr lang="en-GB"/>
              <a:t>(f) Exponential multiplication of  e</a:t>
            </a:r>
            <a:r>
              <a:rPr baseline="30000" lang="en-GB"/>
              <a:t>at</a:t>
            </a:r>
            <a:r>
              <a:rPr lang="en-GB"/>
              <a:t>  in the time domain</a:t>
            </a:r>
            <a:endParaRPr/>
          </a:p>
        </p:txBody>
      </p:sp>
      <p:sp>
        <p:nvSpPr>
          <p:cNvPr id="518" name="Google Shape;518;p19"/>
          <p:cNvSpPr/>
          <p:nvPr/>
        </p:nvSpPr>
        <p:spPr>
          <a:xfrm>
            <a:off x="429715" y="1321614"/>
            <a:ext cx="11332570" cy="2185214"/>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An exponential multiplication of e</a:t>
            </a:r>
            <a:r>
              <a:rPr b="0" baseline="30000" i="0" lang="en-GB" sz="3600" u="none" cap="none" strike="noStrike">
                <a:solidFill>
                  <a:srgbClr val="002060"/>
                </a:solidFill>
                <a:latin typeface="Times New Roman"/>
                <a:ea typeface="Times New Roman"/>
                <a:cs typeface="Times New Roman"/>
                <a:sym typeface="Times New Roman"/>
              </a:rPr>
              <a:t>at</a:t>
            </a:r>
            <a:r>
              <a:rPr b="0" i="0" lang="en-GB" sz="3600" u="none" cap="none" strike="noStrike">
                <a:solidFill>
                  <a:srgbClr val="002060"/>
                </a:solidFill>
                <a:latin typeface="Times New Roman"/>
                <a:ea typeface="Times New Roman"/>
                <a:cs typeface="Times New Roman"/>
                <a:sym typeface="Times New Roman"/>
              </a:rPr>
              <a:t>  in the  time domain corresponds to a shift of  </a:t>
            </a:r>
            <a:r>
              <a:rPr b="1" i="1" lang="en-GB" sz="3600" u="none" cap="none" strike="noStrike">
                <a:solidFill>
                  <a:srgbClr val="002060"/>
                </a:solidFill>
                <a:latin typeface="Times New Roman"/>
                <a:ea typeface="Times New Roman"/>
                <a:cs typeface="Times New Roman"/>
                <a:sym typeface="Times New Roman"/>
              </a:rPr>
              <a:t>a </a:t>
            </a:r>
            <a:r>
              <a:rPr b="0" i="0" lang="en-GB" sz="3600" u="none" cap="none" strike="noStrike">
                <a:solidFill>
                  <a:srgbClr val="002060"/>
                </a:solidFill>
                <a:latin typeface="Times New Roman"/>
                <a:ea typeface="Times New Roman"/>
                <a:cs typeface="Times New Roman"/>
                <a:sym typeface="Times New Roman"/>
              </a:rPr>
              <a:t> in the  s-domain.</a:t>
            </a:r>
            <a:endParaRPr b="0" i="0" sz="36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800"/>
              <a:buFont typeface="Arial"/>
              <a:buNone/>
            </a:pPr>
            <a:r>
              <a:t/>
            </a:r>
            <a:endParaRPr b="0" i="0" sz="2800" u="none" cap="none" strike="noStrike">
              <a:solidFill>
                <a:srgbClr val="002060"/>
              </a:solidFill>
              <a:latin typeface="Arial"/>
              <a:ea typeface="Arial"/>
              <a:cs typeface="Arial"/>
              <a:sym typeface="Arial"/>
            </a:endParaRPr>
          </a:p>
          <a:p>
            <a:pPr indent="0" lvl="0" marL="0" marR="0" rtl="0" algn="just">
              <a:lnSpc>
                <a:spcPct val="100000"/>
              </a:lnSpc>
              <a:spcBef>
                <a:spcPts val="0"/>
              </a:spcBef>
              <a:spcAft>
                <a:spcPts val="0"/>
              </a:spcAft>
              <a:buClr>
                <a:srgbClr val="002060"/>
              </a:buClr>
              <a:buSzPts val="3600"/>
              <a:buFont typeface="Arial"/>
              <a:buNone/>
            </a:pPr>
            <a:r>
              <a:rPr b="0" i="0" lang="en-GB" sz="3600" u="none" cap="none" strike="noStrike">
                <a:solidFill>
                  <a:srgbClr val="002060"/>
                </a:solidFill>
                <a:latin typeface="Arial"/>
                <a:ea typeface="Arial"/>
                <a:cs typeface="Arial"/>
                <a:sym typeface="Arial"/>
              </a:rPr>
              <a:t>	L  </a:t>
            </a:r>
            <a:r>
              <a:rPr b="0" i="0" lang="en-GB" sz="3600" u="none" cap="none" strike="noStrike">
                <a:solidFill>
                  <a:srgbClr val="002060"/>
                </a:solidFill>
                <a:latin typeface="Times New Roman"/>
                <a:ea typeface="Times New Roman"/>
                <a:cs typeface="Times New Roman"/>
                <a:sym typeface="Times New Roman"/>
              </a:rPr>
              <a:t>[</a:t>
            </a:r>
            <a:r>
              <a:rPr b="0" i="1" lang="en-GB" sz="3600" u="none" cap="none" strike="noStrike">
                <a:solidFill>
                  <a:srgbClr val="002060"/>
                </a:solidFill>
                <a:latin typeface="Times New Roman"/>
                <a:ea typeface="Times New Roman"/>
                <a:cs typeface="Times New Roman"/>
                <a:sym typeface="Times New Roman"/>
              </a:rPr>
              <a:t>e</a:t>
            </a:r>
            <a:r>
              <a:rPr b="0" baseline="30000" i="1" lang="en-GB" sz="3600" u="none" cap="none" strike="noStrike">
                <a:solidFill>
                  <a:srgbClr val="002060"/>
                </a:solidFill>
                <a:latin typeface="Times New Roman"/>
                <a:ea typeface="Times New Roman"/>
                <a:cs typeface="Times New Roman"/>
                <a:sym typeface="Times New Roman"/>
              </a:rPr>
              <a:t>at</a:t>
            </a:r>
            <a:r>
              <a:rPr b="0" i="1" lang="en-GB" sz="3600" u="none" cap="none" strike="noStrike">
                <a:solidFill>
                  <a:srgbClr val="002060"/>
                </a:solidFill>
                <a:latin typeface="Times New Roman"/>
                <a:ea typeface="Times New Roman"/>
                <a:cs typeface="Times New Roman"/>
                <a:sym typeface="Times New Roman"/>
              </a:rPr>
              <a:t> . f(t)</a:t>
            </a:r>
            <a:r>
              <a:rPr b="0" i="0" lang="en-GB" sz="3600" u="none" cap="none" strike="noStrike">
                <a:solidFill>
                  <a:srgbClr val="002060"/>
                </a:solidFill>
                <a:latin typeface="Times New Roman"/>
                <a:ea typeface="Times New Roman"/>
                <a:cs typeface="Times New Roman"/>
                <a:sym typeface="Times New Roman"/>
              </a:rPr>
              <a:t>] </a:t>
            </a:r>
            <a:r>
              <a:rPr b="0" i="0" lang="en-GB" sz="3600" u="none" cap="none" strike="noStrike">
                <a:solidFill>
                  <a:srgbClr val="002060"/>
                </a:solidFill>
                <a:latin typeface="Arial"/>
                <a:ea typeface="Arial"/>
                <a:cs typeface="Arial"/>
                <a:sym typeface="Arial"/>
              </a:rPr>
              <a:t>	</a:t>
            </a:r>
            <a:endParaRPr b="0" i="0" sz="3600" u="none" cap="none" strike="noStrike">
              <a:solidFill>
                <a:schemeClr val="dk1"/>
              </a:solidFill>
              <a:latin typeface="Arial"/>
              <a:ea typeface="Arial"/>
              <a:cs typeface="Arial"/>
              <a:sym typeface="Arial"/>
            </a:endParaRPr>
          </a:p>
        </p:txBody>
      </p:sp>
      <p:pic>
        <p:nvPicPr>
          <p:cNvPr id="519" name="Google Shape;519;p19"/>
          <p:cNvPicPr preferRelativeResize="0"/>
          <p:nvPr/>
        </p:nvPicPr>
        <p:blipFill rotWithShape="1">
          <a:blip r:embed="rId3">
            <a:alphaModFix/>
          </a:blip>
          <a:srcRect b="0" l="0" r="0" t="0"/>
          <a:stretch/>
        </p:blipFill>
        <p:spPr>
          <a:xfrm>
            <a:off x="2827835" y="2414221"/>
            <a:ext cx="8934450" cy="1619250"/>
          </a:xfrm>
          <a:prstGeom prst="rect">
            <a:avLst/>
          </a:prstGeom>
          <a:noFill/>
          <a:ln>
            <a:noFill/>
          </a:ln>
        </p:spPr>
      </p:pic>
      <p:sp>
        <p:nvSpPr>
          <p:cNvPr id="520" name="Google Shape;520;p19"/>
          <p:cNvSpPr/>
          <p:nvPr/>
        </p:nvSpPr>
        <p:spPr>
          <a:xfrm>
            <a:off x="2827835" y="4033471"/>
            <a:ext cx="2398120" cy="64633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Times New Roman"/>
              <a:buNone/>
            </a:pPr>
            <a:r>
              <a:rPr b="0" i="1" lang="en-GB" sz="3600" u="none" cap="none" strike="noStrike">
                <a:solidFill>
                  <a:srgbClr val="002060"/>
                </a:solidFill>
                <a:latin typeface="Times New Roman"/>
                <a:ea typeface="Times New Roman"/>
                <a:cs typeface="Times New Roman"/>
                <a:sym typeface="Times New Roman"/>
              </a:rPr>
              <a:t>= F(s-a)</a:t>
            </a:r>
            <a:r>
              <a:rPr b="0" i="1" lang="en-GB" sz="1100" u="none" cap="none" strike="noStrike">
                <a:solidFill>
                  <a:schemeClr val="dk1"/>
                </a:solidFill>
                <a:latin typeface="Times New Roman"/>
                <a:ea typeface="Times New Roman"/>
                <a:cs typeface="Times New Roman"/>
                <a:sym typeface="Times New Roman"/>
              </a:rPr>
              <a:t> </a:t>
            </a:r>
            <a:endParaRPr b="0" i="1"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20"/>
          <p:cNvSpPr/>
          <p:nvPr/>
        </p:nvSpPr>
        <p:spPr>
          <a:xfrm>
            <a:off x="109547" y="1022010"/>
            <a:ext cx="11519745" cy="2000548"/>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Arial"/>
              <a:buNone/>
            </a:pPr>
            <a:r>
              <a:rPr b="0" i="0" lang="en-GB" sz="3200" u="none" cap="none" strike="noStrike">
                <a:solidFill>
                  <a:srgbClr val="002060"/>
                </a:solidFill>
                <a:latin typeface="Arial"/>
                <a:ea typeface="Arial"/>
                <a:cs typeface="Arial"/>
                <a:sym typeface="Arial"/>
              </a:rPr>
              <a:t>A shift of </a:t>
            </a:r>
            <a:r>
              <a:rPr b="1" i="1" lang="en-GB" sz="3200" u="none" cap="none" strike="noStrike">
                <a:solidFill>
                  <a:srgbClr val="002060"/>
                </a:solidFill>
                <a:latin typeface="Arial"/>
                <a:ea typeface="Arial"/>
                <a:cs typeface="Arial"/>
                <a:sym typeface="Arial"/>
              </a:rPr>
              <a:t>a</a:t>
            </a:r>
            <a:r>
              <a:rPr b="0" i="0" lang="en-GB" sz="3200" u="none" cap="none" strike="noStrike">
                <a:solidFill>
                  <a:srgbClr val="002060"/>
                </a:solidFill>
                <a:latin typeface="Arial"/>
                <a:ea typeface="Arial"/>
                <a:cs typeface="Arial"/>
                <a:sym typeface="Arial"/>
              </a:rPr>
              <a:t> in time domain f(t – a).H(t – a), corresponds  to an exponential decay in the s-domain.</a:t>
            </a:r>
            <a:endParaRPr/>
          </a:p>
          <a:p>
            <a:pPr indent="0" lvl="0" marL="0" marR="0" rtl="0" algn="just">
              <a:lnSpc>
                <a:spcPct val="10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2060"/>
              </a:buClr>
              <a:buSzPts val="3200"/>
              <a:buFont typeface="Arial"/>
              <a:buNone/>
            </a:pPr>
            <a:r>
              <a:rPr b="0" i="0" lang="en-GB" sz="3200" u="none" cap="none" strike="noStrike">
                <a:solidFill>
                  <a:srgbClr val="002060"/>
                </a:solidFill>
                <a:latin typeface="Arial"/>
                <a:ea typeface="Arial"/>
                <a:cs typeface="Arial"/>
                <a:sym typeface="Arial"/>
              </a:rPr>
              <a:t> 	</a:t>
            </a:r>
            <a:r>
              <a:rPr b="0" i="0" lang="en-GB" sz="3600" u="none" cap="none" strike="noStrike">
                <a:solidFill>
                  <a:srgbClr val="002060"/>
                </a:solidFill>
                <a:latin typeface="Arial"/>
                <a:ea typeface="Arial"/>
                <a:cs typeface="Arial"/>
                <a:sym typeface="Arial"/>
              </a:rPr>
              <a:t>L  </a:t>
            </a:r>
            <a:r>
              <a:rPr b="0" i="1" lang="en-GB" sz="3600" u="none" cap="none" strike="noStrike">
                <a:solidFill>
                  <a:srgbClr val="002060"/>
                </a:solidFill>
                <a:latin typeface="Times New Roman"/>
                <a:ea typeface="Times New Roman"/>
                <a:cs typeface="Times New Roman"/>
                <a:sym typeface="Times New Roman"/>
              </a:rPr>
              <a:t>[f(t-a).H(t-a)] </a:t>
            </a:r>
            <a:endParaRPr b="0" i="1" sz="3200" u="none" cap="none" strike="noStrike">
              <a:solidFill>
                <a:schemeClr val="dk1"/>
              </a:solidFill>
              <a:latin typeface="Times New Roman"/>
              <a:ea typeface="Times New Roman"/>
              <a:cs typeface="Times New Roman"/>
              <a:sym typeface="Times New Roman"/>
            </a:endParaRPr>
          </a:p>
        </p:txBody>
      </p:sp>
      <p:sp>
        <p:nvSpPr>
          <p:cNvPr id="526" name="Google Shape;526;p20"/>
          <p:cNvSpPr txBox="1"/>
          <p:nvPr>
            <p:ph type="title"/>
          </p:nvPr>
        </p:nvSpPr>
        <p:spPr>
          <a:xfrm>
            <a:off x="289038" y="593716"/>
            <a:ext cx="10924085" cy="5517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Times New Roman"/>
              <a:buNone/>
            </a:pPr>
            <a:r>
              <a:rPr lang="en-GB"/>
              <a:t>(g)  A shift in the time domain</a:t>
            </a:r>
            <a:endParaRPr/>
          </a:p>
        </p:txBody>
      </p:sp>
      <p:pic>
        <p:nvPicPr>
          <p:cNvPr id="527" name="Google Shape;527;p20"/>
          <p:cNvPicPr preferRelativeResize="0"/>
          <p:nvPr/>
        </p:nvPicPr>
        <p:blipFill rotWithShape="1">
          <a:blip r:embed="rId3">
            <a:alphaModFix/>
          </a:blip>
          <a:srcRect b="0" l="0" r="0" t="0"/>
          <a:stretch/>
        </p:blipFill>
        <p:spPr>
          <a:xfrm>
            <a:off x="3688373" y="2022284"/>
            <a:ext cx="5906966" cy="1295400"/>
          </a:xfrm>
          <a:prstGeom prst="rect">
            <a:avLst/>
          </a:prstGeom>
          <a:noFill/>
          <a:ln>
            <a:noFill/>
          </a:ln>
        </p:spPr>
      </p:pic>
      <p:pic>
        <p:nvPicPr>
          <p:cNvPr id="528" name="Google Shape;528;p20"/>
          <p:cNvPicPr preferRelativeResize="0"/>
          <p:nvPr/>
        </p:nvPicPr>
        <p:blipFill rotWithShape="1">
          <a:blip r:embed="rId4">
            <a:alphaModFix/>
          </a:blip>
          <a:srcRect b="0" l="0" r="0" t="0"/>
          <a:stretch/>
        </p:blipFill>
        <p:spPr>
          <a:xfrm>
            <a:off x="782516" y="3152150"/>
            <a:ext cx="6553200" cy="1143000"/>
          </a:xfrm>
          <a:prstGeom prst="rect">
            <a:avLst/>
          </a:prstGeom>
          <a:noFill/>
          <a:ln>
            <a:noFill/>
          </a:ln>
        </p:spPr>
      </p:pic>
      <p:pic>
        <p:nvPicPr>
          <p:cNvPr id="529" name="Google Shape;529;p20"/>
          <p:cNvPicPr preferRelativeResize="0"/>
          <p:nvPr/>
        </p:nvPicPr>
        <p:blipFill rotWithShape="1">
          <a:blip r:embed="rId5">
            <a:alphaModFix/>
          </a:blip>
          <a:srcRect b="0" l="0" r="0" t="0"/>
          <a:stretch/>
        </p:blipFill>
        <p:spPr>
          <a:xfrm>
            <a:off x="782516" y="4168612"/>
            <a:ext cx="3867150" cy="1333500"/>
          </a:xfrm>
          <a:prstGeom prst="rect">
            <a:avLst/>
          </a:prstGeom>
          <a:noFill/>
          <a:ln>
            <a:noFill/>
          </a:ln>
        </p:spPr>
      </p:pic>
      <p:pic>
        <p:nvPicPr>
          <p:cNvPr id="530" name="Google Shape;530;p20"/>
          <p:cNvPicPr preferRelativeResize="0"/>
          <p:nvPr/>
        </p:nvPicPr>
        <p:blipFill rotWithShape="1">
          <a:blip r:embed="rId6">
            <a:alphaModFix/>
          </a:blip>
          <a:srcRect b="0" l="0" r="0" t="0"/>
          <a:stretch/>
        </p:blipFill>
        <p:spPr>
          <a:xfrm>
            <a:off x="4900246" y="4295150"/>
            <a:ext cx="2933700" cy="1028700"/>
          </a:xfrm>
          <a:prstGeom prst="rect">
            <a:avLst/>
          </a:prstGeom>
          <a:noFill/>
          <a:ln>
            <a:noFill/>
          </a:ln>
        </p:spPr>
      </p:pic>
      <p:sp>
        <p:nvSpPr>
          <p:cNvPr id="531" name="Google Shape;531;p20"/>
          <p:cNvSpPr/>
          <p:nvPr/>
        </p:nvSpPr>
        <p:spPr>
          <a:xfrm>
            <a:off x="621323" y="5617953"/>
            <a:ext cx="8557846"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Arial"/>
              <a:buNone/>
            </a:pPr>
            <a:r>
              <a:rPr b="0" i="1" lang="en-GB" sz="3600" u="none" cap="none" strike="noStrike">
                <a:solidFill>
                  <a:srgbClr val="002060"/>
                </a:solidFill>
                <a:latin typeface="Arial"/>
                <a:ea typeface="Arial"/>
                <a:cs typeface="Arial"/>
                <a:sym typeface="Arial"/>
              </a:rPr>
              <a:t>	</a:t>
            </a:r>
            <a:r>
              <a:rPr b="0" i="1" lang="en-GB" sz="3600" u="none" cap="none" strike="noStrike">
                <a:solidFill>
                  <a:srgbClr val="002060"/>
                </a:solidFill>
                <a:latin typeface="Times New Roman"/>
                <a:ea typeface="Times New Roman"/>
                <a:cs typeface="Times New Roman"/>
                <a:sym typeface="Times New Roman"/>
              </a:rPr>
              <a:t>=  e</a:t>
            </a:r>
            <a:r>
              <a:rPr b="0" baseline="30000" i="1" lang="en-GB" sz="3600" u="none" cap="none" strike="noStrike">
                <a:solidFill>
                  <a:srgbClr val="002060"/>
                </a:solidFill>
                <a:latin typeface="Times New Roman"/>
                <a:ea typeface="Times New Roman"/>
                <a:cs typeface="Times New Roman"/>
                <a:sym typeface="Times New Roman"/>
              </a:rPr>
              <a:t>-as</a:t>
            </a:r>
            <a:r>
              <a:rPr b="0" i="1" lang="en-GB" sz="3600" u="none" cap="none" strike="noStrike">
                <a:solidFill>
                  <a:srgbClr val="002060"/>
                </a:solidFill>
                <a:latin typeface="Times New Roman"/>
                <a:ea typeface="Times New Roman"/>
                <a:cs typeface="Times New Roman"/>
                <a:sym typeface="Times New Roman"/>
              </a:rPr>
              <a:t>. F(s)        since f(</a:t>
            </a:r>
            <a:r>
              <a:rPr b="0" i="1" lang="en-GB" sz="3600" u="none" cap="none" strike="noStrike">
                <a:solidFill>
                  <a:srgbClr val="002060"/>
                </a:solidFill>
                <a:latin typeface="Noto Sans Symbols"/>
                <a:ea typeface="Noto Sans Symbols"/>
                <a:cs typeface="Noto Sans Symbols"/>
                <a:sym typeface="Noto Sans Symbols"/>
              </a:rPr>
              <a:t>τ</a:t>
            </a:r>
            <a:r>
              <a:rPr b="0" i="1" lang="en-GB" sz="3600" u="none" cap="none" strike="noStrike">
                <a:solidFill>
                  <a:srgbClr val="002060"/>
                </a:solidFill>
                <a:latin typeface="Times New Roman"/>
                <a:ea typeface="Times New Roman"/>
                <a:cs typeface="Times New Roman"/>
                <a:sym typeface="Times New Roman"/>
              </a:rPr>
              <a:t>) = 0 for </a:t>
            </a:r>
            <a:r>
              <a:rPr b="0" i="1" lang="en-GB" sz="3600" u="none" cap="none" strike="noStrike">
                <a:solidFill>
                  <a:srgbClr val="002060"/>
                </a:solidFill>
                <a:latin typeface="Noto Sans Symbols"/>
                <a:ea typeface="Noto Sans Symbols"/>
                <a:cs typeface="Noto Sans Symbols"/>
                <a:sym typeface="Noto Sans Symbols"/>
              </a:rPr>
              <a:t>τ &lt; 0.</a:t>
            </a:r>
            <a:endParaRPr b="0" i="1" sz="1800" u="none" cap="none" strike="noStrik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21"/>
          <p:cNvSpPr txBox="1"/>
          <p:nvPr>
            <p:ph type="title"/>
          </p:nvPr>
        </p:nvSpPr>
        <p:spPr>
          <a:xfrm>
            <a:off x="429715" y="527537"/>
            <a:ext cx="10924085" cy="5517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Times New Roman"/>
              <a:buNone/>
            </a:pPr>
            <a:r>
              <a:rPr lang="en-GB"/>
              <a:t>(h)  For a periodic waveform f(t) with period T</a:t>
            </a:r>
            <a:endParaRPr/>
          </a:p>
        </p:txBody>
      </p:sp>
      <p:pic>
        <p:nvPicPr>
          <p:cNvPr id="537" name="Google Shape;537;p21"/>
          <p:cNvPicPr preferRelativeResize="0"/>
          <p:nvPr/>
        </p:nvPicPr>
        <p:blipFill rotWithShape="1">
          <a:blip r:embed="rId3">
            <a:alphaModFix/>
          </a:blip>
          <a:srcRect b="0" l="0" r="0" t="0"/>
          <a:stretch/>
        </p:blipFill>
        <p:spPr>
          <a:xfrm>
            <a:off x="1914525" y="877508"/>
            <a:ext cx="2914650" cy="1333500"/>
          </a:xfrm>
          <a:prstGeom prst="rect">
            <a:avLst/>
          </a:prstGeom>
          <a:noFill/>
          <a:ln>
            <a:noFill/>
          </a:ln>
        </p:spPr>
      </p:pic>
      <p:pic>
        <p:nvPicPr>
          <p:cNvPr id="538" name="Google Shape;538;p21"/>
          <p:cNvPicPr preferRelativeResize="0"/>
          <p:nvPr/>
        </p:nvPicPr>
        <p:blipFill rotWithShape="1">
          <a:blip r:embed="rId4">
            <a:alphaModFix/>
          </a:blip>
          <a:srcRect b="0" l="0" r="0" t="0"/>
          <a:stretch/>
        </p:blipFill>
        <p:spPr>
          <a:xfrm>
            <a:off x="1000127" y="1968064"/>
            <a:ext cx="2971800" cy="1352550"/>
          </a:xfrm>
          <a:prstGeom prst="rect">
            <a:avLst/>
          </a:prstGeom>
          <a:noFill/>
          <a:ln>
            <a:noFill/>
          </a:ln>
        </p:spPr>
      </p:pic>
      <p:pic>
        <p:nvPicPr>
          <p:cNvPr id="539" name="Google Shape;539;p21"/>
          <p:cNvPicPr preferRelativeResize="0"/>
          <p:nvPr/>
        </p:nvPicPr>
        <p:blipFill rotWithShape="1">
          <a:blip r:embed="rId5">
            <a:alphaModFix/>
          </a:blip>
          <a:srcRect b="0" l="0" r="0" t="0"/>
          <a:stretch/>
        </p:blipFill>
        <p:spPr>
          <a:xfrm>
            <a:off x="4376739" y="1910914"/>
            <a:ext cx="2800350" cy="1409700"/>
          </a:xfrm>
          <a:prstGeom prst="rect">
            <a:avLst/>
          </a:prstGeom>
          <a:noFill/>
          <a:ln>
            <a:noFill/>
          </a:ln>
        </p:spPr>
      </p:pic>
      <p:pic>
        <p:nvPicPr>
          <p:cNvPr id="540" name="Google Shape;540;p21"/>
          <p:cNvPicPr preferRelativeResize="0"/>
          <p:nvPr/>
        </p:nvPicPr>
        <p:blipFill rotWithShape="1">
          <a:blip r:embed="rId6">
            <a:alphaModFix/>
          </a:blip>
          <a:srcRect b="0" l="0" r="0" t="0"/>
          <a:stretch/>
        </p:blipFill>
        <p:spPr>
          <a:xfrm>
            <a:off x="7495989" y="1849164"/>
            <a:ext cx="2838450" cy="1409700"/>
          </a:xfrm>
          <a:prstGeom prst="rect">
            <a:avLst/>
          </a:prstGeom>
          <a:noFill/>
          <a:ln>
            <a:noFill/>
          </a:ln>
        </p:spPr>
      </p:pic>
      <p:pic>
        <p:nvPicPr>
          <p:cNvPr id="541" name="Google Shape;541;p21"/>
          <p:cNvPicPr preferRelativeResize="0"/>
          <p:nvPr/>
        </p:nvPicPr>
        <p:blipFill rotWithShape="1">
          <a:blip r:embed="rId7">
            <a:alphaModFix/>
          </a:blip>
          <a:srcRect b="0" l="0" r="0" t="0"/>
          <a:stretch/>
        </p:blipFill>
        <p:spPr>
          <a:xfrm>
            <a:off x="1685925" y="3744026"/>
            <a:ext cx="2593249" cy="1295400"/>
          </a:xfrm>
          <a:prstGeom prst="rect">
            <a:avLst/>
          </a:prstGeom>
          <a:noFill/>
          <a:ln>
            <a:noFill/>
          </a:ln>
        </p:spPr>
      </p:pic>
      <p:pic>
        <p:nvPicPr>
          <p:cNvPr id="542" name="Google Shape;542;p21"/>
          <p:cNvPicPr preferRelativeResize="0"/>
          <p:nvPr/>
        </p:nvPicPr>
        <p:blipFill rotWithShape="1">
          <a:blip r:embed="rId8">
            <a:alphaModFix/>
          </a:blip>
          <a:srcRect b="0" l="0" r="0" t="0"/>
          <a:stretch/>
        </p:blipFill>
        <p:spPr>
          <a:xfrm>
            <a:off x="4578774" y="3683679"/>
            <a:ext cx="2838450" cy="1333500"/>
          </a:xfrm>
          <a:prstGeom prst="rect">
            <a:avLst/>
          </a:prstGeom>
          <a:noFill/>
          <a:ln>
            <a:noFill/>
          </a:ln>
        </p:spPr>
      </p:pic>
      <p:pic>
        <p:nvPicPr>
          <p:cNvPr id="543" name="Google Shape;543;p21"/>
          <p:cNvPicPr preferRelativeResize="0"/>
          <p:nvPr/>
        </p:nvPicPr>
        <p:blipFill rotWithShape="1">
          <a:blip r:embed="rId9">
            <a:alphaModFix/>
          </a:blip>
          <a:srcRect b="0" l="0" r="0" t="0"/>
          <a:stretch/>
        </p:blipFill>
        <p:spPr>
          <a:xfrm>
            <a:off x="7547443" y="3727843"/>
            <a:ext cx="3085723" cy="1276350"/>
          </a:xfrm>
          <a:prstGeom prst="rect">
            <a:avLst/>
          </a:prstGeom>
          <a:noFill/>
          <a:ln>
            <a:noFill/>
          </a:ln>
        </p:spPr>
      </p:pic>
      <p:sp>
        <p:nvSpPr>
          <p:cNvPr id="544" name="Google Shape;544;p21"/>
          <p:cNvSpPr/>
          <p:nvPr/>
        </p:nvSpPr>
        <p:spPr>
          <a:xfrm>
            <a:off x="455735" y="1232275"/>
            <a:ext cx="2344615"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Arial"/>
              <a:buNone/>
            </a:pPr>
            <a:r>
              <a:rPr b="0" i="0" lang="en-GB" sz="3600" u="none" cap="none" strike="noStrike">
                <a:solidFill>
                  <a:srgbClr val="002060"/>
                </a:solidFill>
                <a:latin typeface="Arial"/>
                <a:ea typeface="Arial"/>
                <a:cs typeface="Arial"/>
                <a:sym typeface="Arial"/>
              </a:rPr>
              <a:t>L  </a:t>
            </a:r>
            <a:r>
              <a:rPr b="0" i="0" lang="en-GB" sz="3600" u="none" cap="none" strike="noStrike">
                <a:solidFill>
                  <a:srgbClr val="002060"/>
                </a:solidFill>
                <a:latin typeface="Calibri"/>
                <a:ea typeface="Calibri"/>
                <a:cs typeface="Calibri"/>
                <a:sym typeface="Calibri"/>
              </a:rPr>
              <a:t>[</a:t>
            </a:r>
            <a:r>
              <a:rPr b="0" i="1" lang="en-GB" sz="3600" u="none" cap="none" strike="noStrike">
                <a:solidFill>
                  <a:srgbClr val="002060"/>
                </a:solidFill>
                <a:latin typeface="Arial"/>
                <a:ea typeface="Arial"/>
                <a:cs typeface="Arial"/>
                <a:sym typeface="Arial"/>
              </a:rPr>
              <a:t>f(t)</a:t>
            </a:r>
            <a:r>
              <a:rPr b="0" i="0" lang="en-GB" sz="3600" u="none" cap="none" strike="noStrike">
                <a:solidFill>
                  <a:srgbClr val="002060"/>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545" name="Google Shape;545;p21"/>
          <p:cNvSpPr/>
          <p:nvPr/>
        </p:nvSpPr>
        <p:spPr>
          <a:xfrm>
            <a:off x="3594036" y="2294724"/>
            <a:ext cx="1383323" cy="646331"/>
          </a:xfrm>
          <a:prstGeom prst="rect">
            <a:avLst/>
          </a:prstGeom>
          <a:noFill/>
          <a:ln>
            <a:noFill/>
          </a:ln>
        </p:spPr>
        <p:txBody>
          <a:bodyPr anchorCtr="0" anchor="ctr" bIns="45700" lIns="91425" spcFirstLastPara="1" rIns="91425" wrap="square" tIns="45700">
            <a:spAutoFit/>
          </a:bodyPr>
          <a:lstStyle/>
          <a:p>
            <a:pPr indent="457200" lvl="0" marL="0" marR="0" rtl="0" algn="just">
              <a:lnSpc>
                <a:spcPct val="100000"/>
              </a:lnSpc>
              <a:spcBef>
                <a:spcPts val="0"/>
              </a:spcBef>
              <a:spcAft>
                <a:spcPts val="0"/>
              </a:spcAft>
              <a:buClr>
                <a:srgbClr val="002060"/>
              </a:buClr>
              <a:buSzPts val="3600"/>
              <a:buFont typeface="Arial"/>
              <a:buNone/>
            </a:pPr>
            <a:r>
              <a:rPr b="0" i="0" lang="en-GB" sz="3600" u="none" cap="none" strike="noStrike">
                <a:solidFill>
                  <a:srgbClr val="002060"/>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546" name="Google Shape;546;p21"/>
          <p:cNvSpPr/>
          <p:nvPr/>
        </p:nvSpPr>
        <p:spPr>
          <a:xfrm>
            <a:off x="6715484" y="2235443"/>
            <a:ext cx="1383323" cy="646331"/>
          </a:xfrm>
          <a:prstGeom prst="rect">
            <a:avLst/>
          </a:prstGeom>
          <a:noFill/>
          <a:ln>
            <a:noFill/>
          </a:ln>
        </p:spPr>
        <p:txBody>
          <a:bodyPr anchorCtr="0" anchor="ctr" bIns="45700" lIns="91425" spcFirstLastPara="1" rIns="91425" wrap="square" tIns="45700">
            <a:spAutoFit/>
          </a:bodyPr>
          <a:lstStyle/>
          <a:p>
            <a:pPr indent="457200" lvl="0" marL="0" marR="0" rtl="0" algn="just">
              <a:lnSpc>
                <a:spcPct val="100000"/>
              </a:lnSpc>
              <a:spcBef>
                <a:spcPts val="0"/>
              </a:spcBef>
              <a:spcAft>
                <a:spcPts val="0"/>
              </a:spcAft>
              <a:buClr>
                <a:srgbClr val="002060"/>
              </a:buClr>
              <a:buSzPts val="3600"/>
              <a:buFont typeface="Arial"/>
              <a:buNone/>
            </a:pPr>
            <a:r>
              <a:rPr b="0" i="0" lang="en-GB" sz="3600" u="none" cap="none" strike="noStrike">
                <a:solidFill>
                  <a:srgbClr val="002060"/>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547" name="Google Shape;547;p21"/>
          <p:cNvSpPr/>
          <p:nvPr/>
        </p:nvSpPr>
        <p:spPr>
          <a:xfrm>
            <a:off x="300538" y="3222174"/>
            <a:ext cx="10462847" cy="150810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using a change of variables, may be re-written as</a:t>
            </a:r>
            <a:endParaRPr b="0" i="0" sz="11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rgbClr val="002060"/>
              </a:solidFill>
              <a:latin typeface="Arial"/>
              <a:ea typeface="Arial"/>
              <a:cs typeface="Arial"/>
              <a:sym typeface="Arial"/>
            </a:endParaRPr>
          </a:p>
          <a:p>
            <a:pPr indent="0" lvl="0" marL="0" marR="0" rtl="0" algn="just">
              <a:lnSpc>
                <a:spcPct val="100000"/>
              </a:lnSpc>
              <a:spcBef>
                <a:spcPts val="0"/>
              </a:spcBef>
              <a:spcAft>
                <a:spcPts val="0"/>
              </a:spcAft>
              <a:buClr>
                <a:srgbClr val="002060"/>
              </a:buClr>
              <a:buSzPts val="3600"/>
              <a:buFont typeface="Arial"/>
              <a:buNone/>
            </a:pPr>
            <a:r>
              <a:rPr b="0" i="0" lang="en-GB" sz="3600" u="none" cap="none" strike="noStrike">
                <a:solidFill>
                  <a:srgbClr val="002060"/>
                </a:solidFill>
                <a:latin typeface="Arial"/>
                <a:ea typeface="Arial"/>
                <a:cs typeface="Arial"/>
                <a:sym typeface="Arial"/>
              </a:rPr>
              <a:t>L  [</a:t>
            </a:r>
            <a:r>
              <a:rPr b="0" i="1" lang="en-GB" sz="3600" u="none" cap="none" strike="noStrike">
                <a:solidFill>
                  <a:srgbClr val="002060"/>
                </a:solidFill>
                <a:latin typeface="Arial"/>
                <a:ea typeface="Arial"/>
                <a:cs typeface="Arial"/>
                <a:sym typeface="Arial"/>
              </a:rPr>
              <a:t>f(t)</a:t>
            </a:r>
            <a:r>
              <a:rPr b="0" i="0" lang="en-GB" sz="3600" u="none" cap="none" strike="noStrike">
                <a:solidFill>
                  <a:srgbClr val="002060"/>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548" name="Google Shape;548;p21"/>
          <p:cNvSpPr/>
          <p:nvPr/>
        </p:nvSpPr>
        <p:spPr>
          <a:xfrm>
            <a:off x="4180190" y="4046277"/>
            <a:ext cx="797169"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Arial"/>
              <a:buNone/>
            </a:pPr>
            <a:r>
              <a:rPr b="0" i="0" lang="en-GB" sz="3600" u="none" cap="none" strike="noStrike">
                <a:solidFill>
                  <a:srgbClr val="002060"/>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549" name="Google Shape;549;p21"/>
          <p:cNvSpPr/>
          <p:nvPr/>
        </p:nvSpPr>
        <p:spPr>
          <a:xfrm>
            <a:off x="7407145" y="4033616"/>
            <a:ext cx="1008185"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Arial"/>
              <a:buNone/>
            </a:pPr>
            <a:r>
              <a:rPr b="0" i="0" lang="en-GB" sz="3600" u="none" cap="none" strike="noStrike">
                <a:solidFill>
                  <a:srgbClr val="002060"/>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550" name="Google Shape;550;p21"/>
          <p:cNvSpPr/>
          <p:nvPr/>
        </p:nvSpPr>
        <p:spPr>
          <a:xfrm>
            <a:off x="-40120" y="4920839"/>
            <a:ext cx="11863754" cy="1200329"/>
          </a:xfrm>
          <a:prstGeom prst="rect">
            <a:avLst/>
          </a:prstGeom>
          <a:noFill/>
          <a:ln>
            <a:noFill/>
          </a:ln>
        </p:spPr>
        <p:txBody>
          <a:bodyPr anchorCtr="0" anchor="ctr" bIns="45700" lIns="91425" spcFirstLastPara="1" rIns="91425" wrap="square" tIns="45700">
            <a:spAutoFit/>
          </a:bodyPr>
          <a:lstStyle/>
          <a:p>
            <a:pPr indent="457200" lvl="0" marL="0" marR="0" rtl="0" algn="just">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Since the function is periodic, </a:t>
            </a:r>
            <a:endParaRPr b="0" i="0" sz="1100" u="none" cap="none" strike="noStrike">
              <a:solidFill>
                <a:schemeClr val="dk1"/>
              </a:solidFill>
              <a:latin typeface="Times New Roman"/>
              <a:ea typeface="Times New Roman"/>
              <a:cs typeface="Times New Roman"/>
              <a:sym typeface="Times New Roman"/>
            </a:endParaRPr>
          </a:p>
          <a:p>
            <a:pPr indent="457200" lvl="0" marL="0" marR="0" rtl="0" algn="just">
              <a:lnSpc>
                <a:spcPct val="100000"/>
              </a:lnSpc>
              <a:spcBef>
                <a:spcPts val="0"/>
              </a:spcBef>
              <a:spcAft>
                <a:spcPts val="0"/>
              </a:spcAft>
              <a:buClr>
                <a:srgbClr val="002060"/>
              </a:buClr>
              <a:buSzPts val="3600"/>
              <a:buFont typeface="Times New Roman"/>
              <a:buNone/>
            </a:pPr>
            <a:r>
              <a:rPr b="0" i="1" lang="en-GB" sz="3600" u="none" cap="none" strike="noStrike">
                <a:solidFill>
                  <a:srgbClr val="002060"/>
                </a:solidFill>
                <a:latin typeface="Times New Roman"/>
                <a:ea typeface="Times New Roman"/>
                <a:cs typeface="Times New Roman"/>
                <a:sym typeface="Times New Roman"/>
              </a:rPr>
              <a:t>f(t) = f(t+T) = f(t+2T) = …..</a:t>
            </a:r>
            <a:endParaRPr b="0" i="1" sz="1800" u="none" cap="none" strike="noStrike">
              <a:solidFill>
                <a:schemeClr val="dk1"/>
              </a:solidFill>
              <a:latin typeface="Times New Roman"/>
              <a:ea typeface="Times New Roman"/>
              <a:cs typeface="Times New Roman"/>
              <a:sym typeface="Times New Roman"/>
            </a:endParaRPr>
          </a:p>
        </p:txBody>
      </p:sp>
      <p:sp>
        <p:nvSpPr>
          <p:cNvPr id="551" name="Google Shape;551;p21"/>
          <p:cNvSpPr/>
          <p:nvPr/>
        </p:nvSpPr>
        <p:spPr>
          <a:xfrm>
            <a:off x="9843903" y="2212778"/>
            <a:ext cx="1838965" cy="646331"/>
          </a:xfrm>
          <a:prstGeom prst="rect">
            <a:avLst/>
          </a:prstGeom>
          <a:noFill/>
          <a:ln>
            <a:noFill/>
          </a:ln>
        </p:spPr>
        <p:txBody>
          <a:bodyPr anchorCtr="0" anchor="t" bIns="45700" lIns="91425" spcFirstLastPara="1" rIns="91425" wrap="square" tIns="45700">
            <a:spAutoFit/>
          </a:bodyPr>
          <a:lstStyle/>
          <a:p>
            <a:pPr indent="457200" lvl="0" marL="0" marR="0" rtl="0" algn="just">
              <a:spcBef>
                <a:spcPts val="0"/>
              </a:spcBef>
              <a:spcAft>
                <a:spcPts val="0"/>
              </a:spcAft>
              <a:buNone/>
            </a:pPr>
            <a:r>
              <a:rPr lang="en-GB" sz="3600">
                <a:solidFill>
                  <a:srgbClr val="002060"/>
                </a:solidFill>
                <a:latin typeface="Arial"/>
                <a:ea typeface="Arial"/>
                <a:cs typeface="Arial"/>
                <a:sym typeface="Arial"/>
              </a:rPr>
              <a:t>+……</a:t>
            </a:r>
            <a:endParaRPr sz="1100">
              <a:solidFill>
                <a:srgbClr val="000000"/>
              </a:solidFill>
              <a:latin typeface="Arial"/>
              <a:ea typeface="Arial"/>
              <a:cs typeface="Arial"/>
              <a:sym typeface="Arial"/>
            </a:endParaRPr>
          </a:p>
        </p:txBody>
      </p:sp>
      <p:sp>
        <p:nvSpPr>
          <p:cNvPr id="552" name="Google Shape;552;p21"/>
          <p:cNvSpPr/>
          <p:nvPr/>
        </p:nvSpPr>
        <p:spPr>
          <a:xfrm>
            <a:off x="10139312" y="3976226"/>
            <a:ext cx="1838965" cy="646331"/>
          </a:xfrm>
          <a:prstGeom prst="rect">
            <a:avLst/>
          </a:prstGeom>
          <a:noFill/>
          <a:ln>
            <a:noFill/>
          </a:ln>
        </p:spPr>
        <p:txBody>
          <a:bodyPr anchorCtr="0" anchor="t" bIns="45700" lIns="91425" spcFirstLastPara="1" rIns="91425" wrap="square" tIns="45700">
            <a:spAutoFit/>
          </a:bodyPr>
          <a:lstStyle/>
          <a:p>
            <a:pPr indent="457200" lvl="0" marL="0" marR="0" rtl="0" algn="just">
              <a:spcBef>
                <a:spcPts val="0"/>
              </a:spcBef>
              <a:spcAft>
                <a:spcPts val="0"/>
              </a:spcAft>
              <a:buNone/>
            </a:pPr>
            <a:r>
              <a:rPr lang="en-GB" sz="3600">
                <a:solidFill>
                  <a:srgbClr val="002060"/>
                </a:solidFill>
                <a:latin typeface="Arial"/>
                <a:ea typeface="Arial"/>
                <a:cs typeface="Arial"/>
                <a:sym typeface="Arial"/>
              </a:rPr>
              <a:t>+……</a:t>
            </a:r>
            <a:endParaRPr sz="1100">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pic>
        <p:nvPicPr>
          <p:cNvPr id="557" name="Google Shape;557;p22"/>
          <p:cNvPicPr preferRelativeResize="0"/>
          <p:nvPr/>
        </p:nvPicPr>
        <p:blipFill rotWithShape="1">
          <a:blip r:embed="rId3">
            <a:alphaModFix/>
          </a:blip>
          <a:srcRect b="0" l="0" r="0" t="0"/>
          <a:stretch/>
        </p:blipFill>
        <p:spPr>
          <a:xfrm>
            <a:off x="1619250" y="479912"/>
            <a:ext cx="2382715" cy="1314450"/>
          </a:xfrm>
          <a:prstGeom prst="rect">
            <a:avLst/>
          </a:prstGeom>
          <a:noFill/>
          <a:ln>
            <a:noFill/>
          </a:ln>
        </p:spPr>
      </p:pic>
      <p:pic>
        <p:nvPicPr>
          <p:cNvPr id="558" name="Google Shape;558;p22"/>
          <p:cNvPicPr preferRelativeResize="0"/>
          <p:nvPr/>
        </p:nvPicPr>
        <p:blipFill rotWithShape="1">
          <a:blip r:embed="rId4">
            <a:alphaModFix/>
          </a:blip>
          <a:srcRect b="0" l="0" r="0" t="0"/>
          <a:stretch/>
        </p:blipFill>
        <p:spPr>
          <a:xfrm>
            <a:off x="4479681" y="460862"/>
            <a:ext cx="2971800" cy="1333500"/>
          </a:xfrm>
          <a:prstGeom prst="rect">
            <a:avLst/>
          </a:prstGeom>
          <a:noFill/>
          <a:ln>
            <a:noFill/>
          </a:ln>
        </p:spPr>
      </p:pic>
      <p:pic>
        <p:nvPicPr>
          <p:cNvPr id="559" name="Google Shape;559;p22"/>
          <p:cNvPicPr preferRelativeResize="0"/>
          <p:nvPr/>
        </p:nvPicPr>
        <p:blipFill rotWithShape="1">
          <a:blip r:embed="rId5">
            <a:alphaModFix/>
          </a:blip>
          <a:srcRect b="0" l="0" r="0" t="0"/>
          <a:stretch/>
        </p:blipFill>
        <p:spPr>
          <a:xfrm>
            <a:off x="7929197" y="578728"/>
            <a:ext cx="2612787" cy="1143000"/>
          </a:xfrm>
          <a:prstGeom prst="rect">
            <a:avLst/>
          </a:prstGeom>
          <a:noFill/>
          <a:ln>
            <a:noFill/>
          </a:ln>
        </p:spPr>
      </p:pic>
      <p:pic>
        <p:nvPicPr>
          <p:cNvPr id="560" name="Google Shape;560;p22"/>
          <p:cNvPicPr preferRelativeResize="0"/>
          <p:nvPr/>
        </p:nvPicPr>
        <p:blipFill rotWithShape="1">
          <a:blip r:embed="rId6">
            <a:alphaModFix/>
          </a:blip>
          <a:srcRect b="0" l="0" r="0" t="0"/>
          <a:stretch/>
        </p:blipFill>
        <p:spPr>
          <a:xfrm>
            <a:off x="7545265" y="1699465"/>
            <a:ext cx="2533650" cy="1352550"/>
          </a:xfrm>
          <a:prstGeom prst="rect">
            <a:avLst/>
          </a:prstGeom>
          <a:noFill/>
          <a:ln>
            <a:noFill/>
          </a:ln>
        </p:spPr>
      </p:pic>
      <p:pic>
        <p:nvPicPr>
          <p:cNvPr id="561" name="Google Shape;561;p22"/>
          <p:cNvPicPr preferRelativeResize="0"/>
          <p:nvPr/>
        </p:nvPicPr>
        <p:blipFill rotWithShape="1">
          <a:blip r:embed="rId7">
            <a:alphaModFix/>
          </a:blip>
          <a:srcRect b="0" l="0" r="0" t="0"/>
          <a:stretch/>
        </p:blipFill>
        <p:spPr>
          <a:xfrm>
            <a:off x="1695450" y="2902361"/>
            <a:ext cx="4400550" cy="1409700"/>
          </a:xfrm>
          <a:prstGeom prst="rect">
            <a:avLst/>
          </a:prstGeom>
          <a:noFill/>
          <a:ln>
            <a:noFill/>
          </a:ln>
        </p:spPr>
      </p:pic>
      <p:sp>
        <p:nvSpPr>
          <p:cNvPr id="562" name="Google Shape;562;p22"/>
          <p:cNvSpPr/>
          <p:nvPr/>
        </p:nvSpPr>
        <p:spPr>
          <a:xfrm>
            <a:off x="-76200" y="827063"/>
            <a:ext cx="2686050" cy="646331"/>
          </a:xfrm>
          <a:prstGeom prst="rect">
            <a:avLst/>
          </a:prstGeom>
          <a:noFill/>
          <a:ln>
            <a:noFill/>
          </a:ln>
        </p:spPr>
        <p:txBody>
          <a:bodyPr anchorCtr="0" anchor="ctr" bIns="45700" lIns="91425" spcFirstLastPara="1" rIns="91425" wrap="square" tIns="45700">
            <a:spAutoFit/>
          </a:bodyPr>
          <a:lstStyle/>
          <a:p>
            <a:pPr indent="228600" lvl="0" marL="0" marR="0" rtl="0" algn="just">
              <a:lnSpc>
                <a:spcPct val="100000"/>
              </a:lnSpc>
              <a:spcBef>
                <a:spcPts val="0"/>
              </a:spcBef>
              <a:spcAft>
                <a:spcPts val="0"/>
              </a:spcAft>
              <a:buClr>
                <a:srgbClr val="002060"/>
              </a:buClr>
              <a:buSzPts val="3600"/>
              <a:buFont typeface="Arial"/>
              <a:buNone/>
            </a:pPr>
            <a:r>
              <a:rPr b="0" i="0" lang="en-GB" sz="3600" u="none" cap="none" strike="noStrike">
                <a:solidFill>
                  <a:srgbClr val="002060"/>
                </a:solidFill>
                <a:latin typeface="Arial"/>
                <a:ea typeface="Arial"/>
                <a:cs typeface="Arial"/>
                <a:sym typeface="Arial"/>
              </a:rPr>
              <a:t>L  </a:t>
            </a:r>
            <a:r>
              <a:rPr b="0" i="0" lang="en-GB" sz="3600" u="none" cap="none" strike="noStrike">
                <a:solidFill>
                  <a:srgbClr val="002060"/>
                </a:solidFill>
                <a:latin typeface="Calibri"/>
                <a:ea typeface="Calibri"/>
                <a:cs typeface="Calibri"/>
                <a:sym typeface="Calibri"/>
              </a:rPr>
              <a:t>[</a:t>
            </a:r>
            <a:r>
              <a:rPr b="0" i="1" lang="en-GB" sz="3600" u="none" cap="none" strike="noStrike">
                <a:solidFill>
                  <a:srgbClr val="002060"/>
                </a:solidFill>
                <a:latin typeface="Arial"/>
                <a:ea typeface="Arial"/>
                <a:cs typeface="Arial"/>
                <a:sym typeface="Arial"/>
              </a:rPr>
              <a:t>f(t)</a:t>
            </a:r>
            <a:r>
              <a:rPr b="0" i="0" lang="en-GB" sz="3600" u="none" cap="none" strike="noStrike">
                <a:solidFill>
                  <a:srgbClr val="002060"/>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563" name="Google Shape;563;p22"/>
          <p:cNvSpPr/>
          <p:nvPr/>
        </p:nvSpPr>
        <p:spPr>
          <a:xfrm>
            <a:off x="3768967" y="793371"/>
            <a:ext cx="984738" cy="646331"/>
          </a:xfrm>
          <a:prstGeom prst="rect">
            <a:avLst/>
          </a:prstGeom>
          <a:noFill/>
          <a:ln>
            <a:noFill/>
          </a:ln>
        </p:spPr>
        <p:txBody>
          <a:bodyPr anchorCtr="0" anchor="ctr" bIns="45700" lIns="91425" spcFirstLastPara="1" rIns="91425" wrap="square" tIns="45700">
            <a:spAutoFit/>
          </a:bodyPr>
          <a:lstStyle/>
          <a:p>
            <a:pPr indent="228600" lvl="0" marL="0" marR="0" rtl="0" algn="just">
              <a:lnSpc>
                <a:spcPct val="100000"/>
              </a:lnSpc>
              <a:spcBef>
                <a:spcPts val="0"/>
              </a:spcBef>
              <a:spcAft>
                <a:spcPts val="0"/>
              </a:spcAft>
              <a:buClr>
                <a:srgbClr val="002060"/>
              </a:buClr>
              <a:buSzPts val="3600"/>
              <a:buFont typeface="Arial"/>
              <a:buNone/>
            </a:pPr>
            <a:r>
              <a:rPr b="0" i="0" lang="en-GB" sz="3600" u="none" cap="none" strike="noStrike">
                <a:solidFill>
                  <a:srgbClr val="002060"/>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564" name="Google Shape;564;p22"/>
          <p:cNvSpPr/>
          <p:nvPr/>
        </p:nvSpPr>
        <p:spPr>
          <a:xfrm>
            <a:off x="7245595" y="815931"/>
            <a:ext cx="984738" cy="646331"/>
          </a:xfrm>
          <a:prstGeom prst="rect">
            <a:avLst/>
          </a:prstGeom>
          <a:noFill/>
          <a:ln>
            <a:noFill/>
          </a:ln>
        </p:spPr>
        <p:txBody>
          <a:bodyPr anchorCtr="0" anchor="ctr" bIns="45700" lIns="91425" spcFirstLastPara="1" rIns="91425" wrap="square" tIns="45700">
            <a:spAutoFit/>
          </a:bodyPr>
          <a:lstStyle/>
          <a:p>
            <a:pPr indent="228600" lvl="0" marL="0" marR="0" rtl="0" algn="just">
              <a:lnSpc>
                <a:spcPct val="100000"/>
              </a:lnSpc>
              <a:spcBef>
                <a:spcPts val="0"/>
              </a:spcBef>
              <a:spcAft>
                <a:spcPts val="0"/>
              </a:spcAft>
              <a:buClr>
                <a:srgbClr val="002060"/>
              </a:buClr>
              <a:buSzPts val="3600"/>
              <a:buFont typeface="Arial"/>
              <a:buNone/>
            </a:pPr>
            <a:r>
              <a:rPr b="0" i="0" lang="en-GB" sz="3600" u="none" cap="none" strike="noStrike">
                <a:solidFill>
                  <a:srgbClr val="002060"/>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p:txBody>
      </p:sp>
      <p:sp>
        <p:nvSpPr>
          <p:cNvPr id="565" name="Google Shape;565;p22"/>
          <p:cNvSpPr/>
          <p:nvPr/>
        </p:nvSpPr>
        <p:spPr>
          <a:xfrm>
            <a:off x="1577790" y="1899609"/>
            <a:ext cx="6445192"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	= [1+ e</a:t>
            </a:r>
            <a:r>
              <a:rPr b="0" baseline="30000" i="0" lang="en-GB" sz="3600" u="none" cap="none" strike="noStrike">
                <a:solidFill>
                  <a:srgbClr val="002060"/>
                </a:solidFill>
                <a:latin typeface="Times New Roman"/>
                <a:ea typeface="Times New Roman"/>
                <a:cs typeface="Times New Roman"/>
                <a:sym typeface="Times New Roman"/>
              </a:rPr>
              <a:t>-sT</a:t>
            </a:r>
            <a:r>
              <a:rPr b="0" i="0" lang="en-GB" sz="3600" u="none" cap="none" strike="noStrike">
                <a:solidFill>
                  <a:srgbClr val="002060"/>
                </a:solidFill>
                <a:latin typeface="Times New Roman"/>
                <a:ea typeface="Times New Roman"/>
                <a:cs typeface="Times New Roman"/>
                <a:sym typeface="Times New Roman"/>
              </a:rPr>
              <a:t> + e</a:t>
            </a:r>
            <a:r>
              <a:rPr b="0" baseline="30000" i="0" lang="en-GB" sz="3600" u="none" cap="none" strike="noStrike">
                <a:solidFill>
                  <a:srgbClr val="002060"/>
                </a:solidFill>
                <a:latin typeface="Times New Roman"/>
                <a:ea typeface="Times New Roman"/>
                <a:cs typeface="Times New Roman"/>
                <a:sym typeface="Times New Roman"/>
              </a:rPr>
              <a:t>-2sT</a:t>
            </a:r>
            <a:r>
              <a:rPr b="0" i="0" lang="en-GB" sz="3600" u="none" cap="none" strike="noStrike">
                <a:solidFill>
                  <a:srgbClr val="002060"/>
                </a:solidFill>
                <a:latin typeface="Times New Roman"/>
                <a:ea typeface="Times New Roman"/>
                <a:cs typeface="Times New Roman"/>
                <a:sym typeface="Times New Roman"/>
              </a:rPr>
              <a:t> + e</a:t>
            </a:r>
            <a:r>
              <a:rPr b="0" baseline="30000" i="0" lang="en-GB" sz="3600" u="none" cap="none" strike="noStrike">
                <a:solidFill>
                  <a:srgbClr val="002060"/>
                </a:solidFill>
                <a:latin typeface="Times New Roman"/>
                <a:ea typeface="Times New Roman"/>
                <a:cs typeface="Times New Roman"/>
                <a:sym typeface="Times New Roman"/>
              </a:rPr>
              <a:t>-3sT</a:t>
            </a:r>
            <a:r>
              <a:rPr b="0" i="0" lang="en-GB" sz="3600" u="none" cap="none" strike="noStrike">
                <a:solidFill>
                  <a:srgbClr val="002060"/>
                </a:solidFill>
                <a:latin typeface="Times New Roman"/>
                <a:ea typeface="Times New Roman"/>
                <a:cs typeface="Times New Roman"/>
                <a:sym typeface="Times New Roman"/>
              </a:rPr>
              <a:t> + ……].</a:t>
            </a:r>
            <a:endParaRPr/>
          </a:p>
        </p:txBody>
      </p:sp>
      <p:sp>
        <p:nvSpPr>
          <p:cNvPr id="566" name="Google Shape;566;p22"/>
          <p:cNvSpPr/>
          <p:nvPr/>
        </p:nvSpPr>
        <p:spPr>
          <a:xfrm>
            <a:off x="-76200" y="3332423"/>
            <a:ext cx="2686050" cy="646331"/>
          </a:xfrm>
          <a:prstGeom prst="rect">
            <a:avLst/>
          </a:prstGeom>
          <a:noFill/>
          <a:ln>
            <a:noFill/>
          </a:ln>
        </p:spPr>
        <p:txBody>
          <a:bodyPr anchorCtr="0" anchor="ctr" bIns="45700" lIns="91425" spcFirstLastPara="1" rIns="91425" wrap="square" tIns="45700">
            <a:spAutoFit/>
          </a:bodyPr>
          <a:lstStyle/>
          <a:p>
            <a:pPr indent="228600" lvl="0" marL="0" marR="0" rtl="0" algn="just">
              <a:lnSpc>
                <a:spcPct val="100000"/>
              </a:lnSpc>
              <a:spcBef>
                <a:spcPts val="0"/>
              </a:spcBef>
              <a:spcAft>
                <a:spcPts val="0"/>
              </a:spcAft>
              <a:buClr>
                <a:srgbClr val="002060"/>
              </a:buClr>
              <a:buSzPts val="3600"/>
              <a:buFont typeface="Arial"/>
              <a:buNone/>
            </a:pPr>
            <a:r>
              <a:rPr b="0" i="0" lang="en-GB" sz="3600" u="none" cap="none" strike="noStrike">
                <a:solidFill>
                  <a:srgbClr val="002060"/>
                </a:solidFill>
                <a:latin typeface="Arial"/>
                <a:ea typeface="Arial"/>
                <a:cs typeface="Arial"/>
                <a:sym typeface="Arial"/>
              </a:rPr>
              <a:t>L  </a:t>
            </a:r>
            <a:r>
              <a:rPr b="0" i="0" lang="en-GB" sz="3600" u="none" cap="none" strike="noStrike">
                <a:solidFill>
                  <a:srgbClr val="002060"/>
                </a:solidFill>
                <a:latin typeface="Calibri"/>
                <a:ea typeface="Calibri"/>
                <a:cs typeface="Calibri"/>
                <a:sym typeface="Calibri"/>
              </a:rPr>
              <a:t>[</a:t>
            </a:r>
            <a:r>
              <a:rPr b="0" i="1" lang="en-GB" sz="3600" u="none" cap="none" strike="noStrike">
                <a:solidFill>
                  <a:srgbClr val="002060"/>
                </a:solidFill>
                <a:latin typeface="Arial"/>
                <a:ea typeface="Arial"/>
                <a:cs typeface="Arial"/>
                <a:sym typeface="Arial"/>
              </a:rPr>
              <a:t>f(t)</a:t>
            </a:r>
            <a:r>
              <a:rPr b="0" i="0" lang="en-GB" sz="3600" u="none" cap="none" strike="noStrike">
                <a:solidFill>
                  <a:srgbClr val="002060"/>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567" name="Google Shape;567;p22"/>
          <p:cNvSpPr/>
          <p:nvPr/>
        </p:nvSpPr>
        <p:spPr>
          <a:xfrm>
            <a:off x="149473" y="4312061"/>
            <a:ext cx="11339142" cy="120032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The transforms of other </a:t>
            </a:r>
            <a:r>
              <a:rPr b="1" i="1" lang="en-GB" sz="3600" u="none" cap="none" strike="noStrike">
                <a:solidFill>
                  <a:srgbClr val="002060"/>
                </a:solidFill>
                <a:latin typeface="Times New Roman"/>
                <a:ea typeface="Times New Roman"/>
                <a:cs typeface="Times New Roman"/>
                <a:sym typeface="Times New Roman"/>
              </a:rPr>
              <a:t>causal functions</a:t>
            </a:r>
            <a:r>
              <a:rPr b="0" i="0" lang="en-GB" sz="3600" u="none" cap="none" strike="noStrike">
                <a:solidFill>
                  <a:srgbClr val="002060"/>
                </a:solidFill>
                <a:latin typeface="Times New Roman"/>
                <a:ea typeface="Times New Roman"/>
                <a:cs typeface="Times New Roman"/>
                <a:sym typeface="Times New Roman"/>
              </a:rPr>
              <a:t> may be similarly obtained. </a:t>
            </a:r>
            <a:endParaRPr b="0" i="0" sz="1800" u="none" cap="none" strike="noStrike">
              <a:solidFill>
                <a:schemeClr val="dk1"/>
              </a:solidFill>
              <a:latin typeface="Times New Roman"/>
              <a:ea typeface="Times New Roman"/>
              <a:cs typeface="Times New Roman"/>
              <a:sym typeface="Times New Roman"/>
            </a:endParaRPr>
          </a:p>
        </p:txBody>
      </p:sp>
      <p:sp>
        <p:nvSpPr>
          <p:cNvPr id="568" name="Google Shape;568;p22"/>
          <p:cNvSpPr/>
          <p:nvPr/>
        </p:nvSpPr>
        <p:spPr>
          <a:xfrm>
            <a:off x="10292862" y="827063"/>
            <a:ext cx="1608133" cy="646331"/>
          </a:xfrm>
          <a:prstGeom prst="rect">
            <a:avLst/>
          </a:prstGeom>
          <a:noFill/>
          <a:ln>
            <a:noFill/>
          </a:ln>
        </p:spPr>
        <p:txBody>
          <a:bodyPr anchorCtr="0" anchor="t" bIns="45700" lIns="91425" spcFirstLastPara="1" rIns="91425" wrap="square" tIns="45700">
            <a:spAutoFit/>
          </a:bodyPr>
          <a:lstStyle/>
          <a:p>
            <a:pPr indent="228600" lvl="0" marL="0" marR="0" rtl="0" algn="just">
              <a:spcBef>
                <a:spcPts val="0"/>
              </a:spcBef>
              <a:spcAft>
                <a:spcPts val="0"/>
              </a:spcAft>
              <a:buNone/>
            </a:pPr>
            <a:r>
              <a:rPr lang="en-GB" sz="3600">
                <a:solidFill>
                  <a:srgbClr val="002060"/>
                </a:solidFill>
                <a:latin typeface="Arial"/>
                <a:ea typeface="Arial"/>
                <a:cs typeface="Arial"/>
                <a:sym typeface="Arial"/>
              </a:rPr>
              <a:t>+……</a:t>
            </a:r>
            <a:endParaRPr sz="1100">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23"/>
          <p:cNvSpPr txBox="1"/>
          <p:nvPr>
            <p:ph type="title"/>
          </p:nvPr>
        </p:nvSpPr>
        <p:spPr>
          <a:xfrm>
            <a:off x="429715" y="457199"/>
            <a:ext cx="10924085" cy="5517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2800"/>
              <a:buFont typeface="Times New Roman"/>
              <a:buNone/>
            </a:pPr>
            <a:r>
              <a:rPr lang="en-GB" sz="2800"/>
              <a:t>Laplace transforms for common causal functions</a:t>
            </a:r>
            <a:endParaRPr sz="2800"/>
          </a:p>
        </p:txBody>
      </p:sp>
      <p:pic>
        <p:nvPicPr>
          <p:cNvPr id="574" name="Google Shape;574;p23"/>
          <p:cNvPicPr preferRelativeResize="0"/>
          <p:nvPr/>
        </p:nvPicPr>
        <p:blipFill rotWithShape="1">
          <a:blip r:embed="rId3">
            <a:alphaModFix/>
          </a:blip>
          <a:srcRect b="0" l="0" r="0" t="0"/>
          <a:stretch/>
        </p:blipFill>
        <p:spPr>
          <a:xfrm>
            <a:off x="4180384" y="2956568"/>
            <a:ext cx="381000" cy="1104900"/>
          </a:xfrm>
          <a:prstGeom prst="rect">
            <a:avLst/>
          </a:prstGeom>
          <a:noFill/>
          <a:ln>
            <a:noFill/>
          </a:ln>
        </p:spPr>
      </p:pic>
      <p:pic>
        <p:nvPicPr>
          <p:cNvPr id="575" name="Google Shape;575;p23"/>
          <p:cNvPicPr preferRelativeResize="0"/>
          <p:nvPr/>
        </p:nvPicPr>
        <p:blipFill rotWithShape="1">
          <a:blip r:embed="rId4">
            <a:alphaModFix/>
          </a:blip>
          <a:srcRect b="0" l="0" r="0" t="0"/>
          <a:stretch/>
        </p:blipFill>
        <p:spPr>
          <a:xfrm>
            <a:off x="4219843" y="5090608"/>
            <a:ext cx="571500" cy="1028700"/>
          </a:xfrm>
          <a:prstGeom prst="rect">
            <a:avLst/>
          </a:prstGeom>
          <a:noFill/>
          <a:ln>
            <a:noFill/>
          </a:ln>
        </p:spPr>
      </p:pic>
      <p:grpSp>
        <p:nvGrpSpPr>
          <p:cNvPr id="576" name="Google Shape;576;p23"/>
          <p:cNvGrpSpPr/>
          <p:nvPr/>
        </p:nvGrpSpPr>
        <p:grpSpPr>
          <a:xfrm>
            <a:off x="260838" y="2978167"/>
            <a:ext cx="3813175" cy="1644650"/>
            <a:chOff x="1418" y="6113"/>
            <a:chExt cx="2400" cy="1035"/>
          </a:xfrm>
        </p:grpSpPr>
        <p:grpSp>
          <p:nvGrpSpPr>
            <p:cNvPr id="577" name="Google Shape;577;p23"/>
            <p:cNvGrpSpPr/>
            <p:nvPr/>
          </p:nvGrpSpPr>
          <p:grpSpPr>
            <a:xfrm>
              <a:off x="1418" y="6113"/>
              <a:ext cx="2400" cy="1035"/>
              <a:chOff x="1418" y="5198"/>
              <a:chExt cx="2400" cy="1035"/>
            </a:xfrm>
          </p:grpSpPr>
          <p:cxnSp>
            <p:nvCxnSpPr>
              <p:cNvPr id="578" name="Google Shape;578;p23"/>
              <p:cNvCxnSpPr/>
              <p:nvPr/>
            </p:nvCxnSpPr>
            <p:spPr>
              <a:xfrm>
                <a:off x="1658" y="5198"/>
                <a:ext cx="0" cy="900"/>
              </a:xfrm>
              <a:prstGeom prst="straightConnector1">
                <a:avLst/>
              </a:prstGeom>
              <a:noFill/>
              <a:ln cap="flat" cmpd="sng" w="31750">
                <a:solidFill>
                  <a:srgbClr val="666699"/>
                </a:solidFill>
                <a:prstDash val="solid"/>
                <a:round/>
                <a:headEnd len="sm" w="sm" type="stealth"/>
                <a:tailEnd len="med" w="med" type="none"/>
              </a:ln>
            </p:spPr>
          </p:cxnSp>
          <p:cxnSp>
            <p:nvCxnSpPr>
              <p:cNvPr id="579" name="Google Shape;579;p23"/>
              <p:cNvCxnSpPr/>
              <p:nvPr/>
            </p:nvCxnSpPr>
            <p:spPr>
              <a:xfrm>
                <a:off x="1418" y="5918"/>
                <a:ext cx="2400" cy="0"/>
              </a:xfrm>
              <a:prstGeom prst="straightConnector1">
                <a:avLst/>
              </a:prstGeom>
              <a:noFill/>
              <a:ln cap="flat" cmpd="sng" w="31750">
                <a:solidFill>
                  <a:srgbClr val="666699"/>
                </a:solidFill>
                <a:prstDash val="solid"/>
                <a:round/>
                <a:headEnd len="med" w="med" type="none"/>
                <a:tailEnd len="sm" w="sm" type="stealth"/>
              </a:ln>
            </p:spPr>
          </p:cxnSp>
          <p:sp>
            <p:nvSpPr>
              <p:cNvPr id="580" name="Google Shape;580;p23"/>
              <p:cNvSpPr txBox="1"/>
              <p:nvPr/>
            </p:nvSpPr>
            <p:spPr>
              <a:xfrm>
                <a:off x="1448" y="5873"/>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0</a:t>
                </a:r>
                <a:endParaRPr sz="1200">
                  <a:solidFill>
                    <a:schemeClr val="dk1"/>
                  </a:solidFill>
                  <a:latin typeface="Times New Roman"/>
                  <a:ea typeface="Times New Roman"/>
                  <a:cs typeface="Times New Roman"/>
                  <a:sym typeface="Times New Roman"/>
                </a:endParaRPr>
              </a:p>
            </p:txBody>
          </p:sp>
          <p:sp>
            <p:nvSpPr>
              <p:cNvPr id="581" name="Google Shape;581;p23"/>
              <p:cNvSpPr txBox="1"/>
              <p:nvPr/>
            </p:nvSpPr>
            <p:spPr>
              <a:xfrm>
                <a:off x="3458" y="5873"/>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 t</a:t>
                </a:r>
                <a:endParaRPr sz="1200">
                  <a:solidFill>
                    <a:schemeClr val="dk1"/>
                  </a:solidFill>
                  <a:latin typeface="Times New Roman"/>
                  <a:ea typeface="Times New Roman"/>
                  <a:cs typeface="Times New Roman"/>
                  <a:sym typeface="Times New Roman"/>
                </a:endParaRPr>
              </a:p>
            </p:txBody>
          </p:sp>
        </p:grpSp>
        <p:cxnSp>
          <p:nvCxnSpPr>
            <p:cNvPr id="582" name="Google Shape;582;p23"/>
            <p:cNvCxnSpPr/>
            <p:nvPr/>
          </p:nvCxnSpPr>
          <p:spPr>
            <a:xfrm>
              <a:off x="1418" y="6818"/>
              <a:ext cx="240" cy="0"/>
            </a:xfrm>
            <a:prstGeom prst="straightConnector1">
              <a:avLst/>
            </a:prstGeom>
            <a:noFill/>
            <a:ln cap="flat" cmpd="sng" w="38100">
              <a:solidFill>
                <a:srgbClr val="C00000"/>
              </a:solidFill>
              <a:prstDash val="solid"/>
              <a:round/>
              <a:headEnd len="med" w="med" type="none"/>
              <a:tailEnd len="med" w="med" type="none"/>
            </a:ln>
          </p:spPr>
        </p:cxnSp>
        <p:cxnSp>
          <p:nvCxnSpPr>
            <p:cNvPr id="583" name="Google Shape;583;p23"/>
            <p:cNvCxnSpPr/>
            <p:nvPr/>
          </p:nvCxnSpPr>
          <p:spPr>
            <a:xfrm rot="10800000">
              <a:off x="1658" y="6278"/>
              <a:ext cx="0" cy="540"/>
            </a:xfrm>
            <a:prstGeom prst="straightConnector1">
              <a:avLst/>
            </a:prstGeom>
            <a:noFill/>
            <a:ln cap="flat" cmpd="sng" w="38100">
              <a:solidFill>
                <a:srgbClr val="C00000"/>
              </a:solidFill>
              <a:prstDash val="solid"/>
              <a:round/>
              <a:headEnd len="med" w="med" type="none"/>
              <a:tailEnd len="med" w="med" type="none"/>
            </a:ln>
          </p:spPr>
        </p:cxnSp>
        <p:cxnSp>
          <p:nvCxnSpPr>
            <p:cNvPr id="584" name="Google Shape;584;p23"/>
            <p:cNvCxnSpPr/>
            <p:nvPr/>
          </p:nvCxnSpPr>
          <p:spPr>
            <a:xfrm>
              <a:off x="1658" y="6278"/>
              <a:ext cx="1800" cy="0"/>
            </a:xfrm>
            <a:prstGeom prst="straightConnector1">
              <a:avLst/>
            </a:prstGeom>
            <a:noFill/>
            <a:ln cap="flat" cmpd="sng" w="38100">
              <a:solidFill>
                <a:srgbClr val="C00000"/>
              </a:solidFill>
              <a:prstDash val="solid"/>
              <a:round/>
              <a:headEnd len="med" w="med" type="none"/>
              <a:tailEnd len="med" w="med" type="none"/>
            </a:ln>
          </p:spPr>
        </p:cxnSp>
      </p:grpSp>
      <p:grpSp>
        <p:nvGrpSpPr>
          <p:cNvPr id="585" name="Google Shape;585;p23"/>
          <p:cNvGrpSpPr/>
          <p:nvPr/>
        </p:nvGrpSpPr>
        <p:grpSpPr>
          <a:xfrm>
            <a:off x="253218" y="4827317"/>
            <a:ext cx="3813175" cy="1644650"/>
            <a:chOff x="1418" y="7373"/>
            <a:chExt cx="2400" cy="1035"/>
          </a:xfrm>
        </p:grpSpPr>
        <p:grpSp>
          <p:nvGrpSpPr>
            <p:cNvPr id="586" name="Google Shape;586;p23"/>
            <p:cNvGrpSpPr/>
            <p:nvPr/>
          </p:nvGrpSpPr>
          <p:grpSpPr>
            <a:xfrm>
              <a:off x="1418" y="7373"/>
              <a:ext cx="2400" cy="1035"/>
              <a:chOff x="1418" y="7373"/>
              <a:chExt cx="2400" cy="1035"/>
            </a:xfrm>
          </p:grpSpPr>
          <p:cxnSp>
            <p:nvCxnSpPr>
              <p:cNvPr id="587" name="Google Shape;587;p23"/>
              <p:cNvCxnSpPr/>
              <p:nvPr/>
            </p:nvCxnSpPr>
            <p:spPr>
              <a:xfrm>
                <a:off x="1658" y="7373"/>
                <a:ext cx="0" cy="900"/>
              </a:xfrm>
              <a:prstGeom prst="straightConnector1">
                <a:avLst/>
              </a:prstGeom>
              <a:noFill/>
              <a:ln cap="flat" cmpd="sng" w="31750">
                <a:solidFill>
                  <a:srgbClr val="666699"/>
                </a:solidFill>
                <a:prstDash val="solid"/>
                <a:round/>
                <a:headEnd len="sm" w="sm" type="stealth"/>
                <a:tailEnd len="med" w="med" type="none"/>
              </a:ln>
            </p:spPr>
          </p:cxnSp>
          <p:cxnSp>
            <p:nvCxnSpPr>
              <p:cNvPr id="588" name="Google Shape;588;p23"/>
              <p:cNvCxnSpPr/>
              <p:nvPr/>
            </p:nvCxnSpPr>
            <p:spPr>
              <a:xfrm>
                <a:off x="1418" y="8093"/>
                <a:ext cx="2400" cy="0"/>
              </a:xfrm>
              <a:prstGeom prst="straightConnector1">
                <a:avLst/>
              </a:prstGeom>
              <a:noFill/>
              <a:ln cap="flat" cmpd="sng" w="31750">
                <a:solidFill>
                  <a:srgbClr val="666699"/>
                </a:solidFill>
                <a:prstDash val="solid"/>
                <a:round/>
                <a:headEnd len="med" w="med" type="none"/>
                <a:tailEnd len="sm" w="sm" type="stealth"/>
              </a:ln>
            </p:spPr>
          </p:cxnSp>
          <p:sp>
            <p:nvSpPr>
              <p:cNvPr id="589" name="Google Shape;589;p23"/>
              <p:cNvSpPr txBox="1"/>
              <p:nvPr/>
            </p:nvSpPr>
            <p:spPr>
              <a:xfrm>
                <a:off x="1448" y="804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0</a:t>
                </a:r>
                <a:endParaRPr sz="1200">
                  <a:solidFill>
                    <a:schemeClr val="dk1"/>
                  </a:solidFill>
                  <a:latin typeface="Times New Roman"/>
                  <a:ea typeface="Times New Roman"/>
                  <a:cs typeface="Times New Roman"/>
                  <a:sym typeface="Times New Roman"/>
                </a:endParaRPr>
              </a:p>
            </p:txBody>
          </p:sp>
          <p:sp>
            <p:nvSpPr>
              <p:cNvPr id="590" name="Google Shape;590;p23"/>
              <p:cNvSpPr txBox="1"/>
              <p:nvPr/>
            </p:nvSpPr>
            <p:spPr>
              <a:xfrm>
                <a:off x="3458" y="804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 t</a:t>
                </a:r>
                <a:endParaRPr sz="1200">
                  <a:solidFill>
                    <a:schemeClr val="dk1"/>
                  </a:solidFill>
                  <a:latin typeface="Times New Roman"/>
                  <a:ea typeface="Times New Roman"/>
                  <a:cs typeface="Times New Roman"/>
                  <a:sym typeface="Times New Roman"/>
                </a:endParaRPr>
              </a:p>
            </p:txBody>
          </p:sp>
          <p:cxnSp>
            <p:nvCxnSpPr>
              <p:cNvPr id="591" name="Google Shape;591;p23"/>
              <p:cNvCxnSpPr/>
              <p:nvPr/>
            </p:nvCxnSpPr>
            <p:spPr>
              <a:xfrm rot="10800000">
                <a:off x="1418" y="8078"/>
                <a:ext cx="240" cy="0"/>
              </a:xfrm>
              <a:prstGeom prst="straightConnector1">
                <a:avLst/>
              </a:prstGeom>
              <a:noFill/>
              <a:ln cap="flat" cmpd="sng" w="38100">
                <a:solidFill>
                  <a:srgbClr val="C00000"/>
                </a:solidFill>
                <a:prstDash val="solid"/>
                <a:round/>
                <a:headEnd len="med" w="med" type="none"/>
                <a:tailEnd len="med" w="med" type="none"/>
              </a:ln>
            </p:spPr>
          </p:cxnSp>
        </p:grpSp>
        <p:cxnSp>
          <p:nvCxnSpPr>
            <p:cNvPr id="592" name="Google Shape;592;p23"/>
            <p:cNvCxnSpPr/>
            <p:nvPr/>
          </p:nvCxnSpPr>
          <p:spPr>
            <a:xfrm flipH="1" rot="10800000">
              <a:off x="1658" y="7538"/>
              <a:ext cx="1920" cy="540"/>
            </a:xfrm>
            <a:prstGeom prst="straightConnector1">
              <a:avLst/>
            </a:prstGeom>
            <a:noFill/>
            <a:ln cap="flat" cmpd="sng" w="38100">
              <a:solidFill>
                <a:srgbClr val="C00000"/>
              </a:solidFill>
              <a:prstDash val="solid"/>
              <a:round/>
              <a:headEnd len="med" w="med" type="none"/>
              <a:tailEnd len="med" w="med" type="none"/>
            </a:ln>
          </p:spPr>
        </p:cxnSp>
      </p:grpSp>
      <p:grpSp>
        <p:nvGrpSpPr>
          <p:cNvPr id="593" name="Google Shape;593;p23"/>
          <p:cNvGrpSpPr/>
          <p:nvPr/>
        </p:nvGrpSpPr>
        <p:grpSpPr>
          <a:xfrm>
            <a:off x="248822" y="910882"/>
            <a:ext cx="3813175" cy="1644650"/>
            <a:chOff x="1418" y="5018"/>
            <a:chExt cx="2400" cy="1035"/>
          </a:xfrm>
        </p:grpSpPr>
        <p:grpSp>
          <p:nvGrpSpPr>
            <p:cNvPr id="594" name="Google Shape;594;p23"/>
            <p:cNvGrpSpPr/>
            <p:nvPr/>
          </p:nvGrpSpPr>
          <p:grpSpPr>
            <a:xfrm>
              <a:off x="1418" y="5018"/>
              <a:ext cx="2400" cy="1035"/>
              <a:chOff x="1418" y="5198"/>
              <a:chExt cx="2400" cy="1035"/>
            </a:xfrm>
          </p:grpSpPr>
          <p:cxnSp>
            <p:nvCxnSpPr>
              <p:cNvPr id="595" name="Google Shape;595;p23"/>
              <p:cNvCxnSpPr/>
              <p:nvPr/>
            </p:nvCxnSpPr>
            <p:spPr>
              <a:xfrm>
                <a:off x="1658" y="5198"/>
                <a:ext cx="0" cy="900"/>
              </a:xfrm>
              <a:prstGeom prst="straightConnector1">
                <a:avLst/>
              </a:prstGeom>
              <a:noFill/>
              <a:ln cap="flat" cmpd="sng" w="38100">
                <a:solidFill>
                  <a:srgbClr val="666699"/>
                </a:solidFill>
                <a:prstDash val="solid"/>
                <a:round/>
                <a:headEnd len="sm" w="sm" type="stealth"/>
                <a:tailEnd len="med" w="med" type="none"/>
              </a:ln>
            </p:spPr>
          </p:cxnSp>
          <p:cxnSp>
            <p:nvCxnSpPr>
              <p:cNvPr id="596" name="Google Shape;596;p23"/>
              <p:cNvCxnSpPr/>
              <p:nvPr/>
            </p:nvCxnSpPr>
            <p:spPr>
              <a:xfrm>
                <a:off x="1418" y="5918"/>
                <a:ext cx="2400" cy="0"/>
              </a:xfrm>
              <a:prstGeom prst="straightConnector1">
                <a:avLst/>
              </a:prstGeom>
              <a:noFill/>
              <a:ln cap="flat" cmpd="sng" w="38100">
                <a:solidFill>
                  <a:srgbClr val="666699"/>
                </a:solidFill>
                <a:prstDash val="solid"/>
                <a:round/>
                <a:headEnd len="med" w="med" type="none"/>
                <a:tailEnd len="sm" w="sm" type="stealth"/>
              </a:ln>
            </p:spPr>
          </p:cxnSp>
          <p:sp>
            <p:nvSpPr>
              <p:cNvPr id="597" name="Google Shape;597;p23"/>
              <p:cNvSpPr txBox="1"/>
              <p:nvPr/>
            </p:nvSpPr>
            <p:spPr>
              <a:xfrm>
                <a:off x="1448" y="5873"/>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0</a:t>
                </a:r>
                <a:endParaRPr sz="1200">
                  <a:solidFill>
                    <a:schemeClr val="dk1"/>
                  </a:solidFill>
                  <a:latin typeface="Times New Roman"/>
                  <a:ea typeface="Times New Roman"/>
                  <a:cs typeface="Times New Roman"/>
                  <a:sym typeface="Times New Roman"/>
                </a:endParaRPr>
              </a:p>
            </p:txBody>
          </p:sp>
          <p:sp>
            <p:nvSpPr>
              <p:cNvPr id="598" name="Google Shape;598;p23"/>
              <p:cNvSpPr txBox="1"/>
              <p:nvPr/>
            </p:nvSpPr>
            <p:spPr>
              <a:xfrm>
                <a:off x="3458" y="5873"/>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 t</a:t>
                </a:r>
                <a:endParaRPr sz="1200">
                  <a:solidFill>
                    <a:schemeClr val="dk1"/>
                  </a:solidFill>
                  <a:latin typeface="Times New Roman"/>
                  <a:ea typeface="Times New Roman"/>
                  <a:cs typeface="Times New Roman"/>
                  <a:sym typeface="Times New Roman"/>
                </a:endParaRPr>
              </a:p>
            </p:txBody>
          </p:sp>
        </p:grpSp>
        <p:cxnSp>
          <p:nvCxnSpPr>
            <p:cNvPr id="599" name="Google Shape;599;p23"/>
            <p:cNvCxnSpPr/>
            <p:nvPr/>
          </p:nvCxnSpPr>
          <p:spPr>
            <a:xfrm rot="10800000">
              <a:off x="1658" y="5198"/>
              <a:ext cx="0" cy="540"/>
            </a:xfrm>
            <a:prstGeom prst="straightConnector1">
              <a:avLst/>
            </a:prstGeom>
            <a:noFill/>
            <a:ln cap="flat" cmpd="sng" w="38100">
              <a:solidFill>
                <a:srgbClr val="C00000"/>
              </a:solidFill>
              <a:prstDash val="solid"/>
              <a:round/>
              <a:headEnd len="med" w="med" type="none"/>
              <a:tailEnd len="med" w="med" type="stealth"/>
            </a:ln>
          </p:spPr>
        </p:cxnSp>
        <p:cxnSp>
          <p:nvCxnSpPr>
            <p:cNvPr id="600" name="Google Shape;600;p23"/>
            <p:cNvCxnSpPr/>
            <p:nvPr/>
          </p:nvCxnSpPr>
          <p:spPr>
            <a:xfrm>
              <a:off x="1418" y="5723"/>
              <a:ext cx="2160" cy="0"/>
            </a:xfrm>
            <a:prstGeom prst="straightConnector1">
              <a:avLst/>
            </a:prstGeom>
            <a:noFill/>
            <a:ln cap="flat" cmpd="sng" w="38100">
              <a:solidFill>
                <a:srgbClr val="C00000"/>
              </a:solidFill>
              <a:prstDash val="solid"/>
              <a:round/>
              <a:headEnd len="med" w="med" type="none"/>
              <a:tailEnd len="med" w="med" type="none"/>
            </a:ln>
          </p:spPr>
        </p:cxnSp>
      </p:grpSp>
      <p:sp>
        <p:nvSpPr>
          <p:cNvPr id="601" name="Google Shape;601;p23"/>
          <p:cNvSpPr/>
          <p:nvPr/>
        </p:nvSpPr>
        <p:spPr>
          <a:xfrm>
            <a:off x="0" y="0"/>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2" name="Google Shape;602;p23"/>
          <p:cNvSpPr/>
          <p:nvPr/>
        </p:nvSpPr>
        <p:spPr>
          <a:xfrm>
            <a:off x="657247" y="2000676"/>
            <a:ext cx="3556482" cy="584775"/>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rPr i="1" lang="en-GB" sz="3200">
                <a:solidFill>
                  <a:srgbClr val="002060"/>
                </a:solidFill>
                <a:latin typeface="Times New Roman"/>
                <a:ea typeface="Times New Roman"/>
                <a:cs typeface="Times New Roman"/>
                <a:sym typeface="Times New Roman"/>
              </a:rPr>
              <a:t>unit impulse  </a:t>
            </a:r>
            <a:r>
              <a:rPr b="0" i="1" lang="en-GB" sz="3200" u="none" cap="none" strike="noStrike">
                <a:solidFill>
                  <a:srgbClr val="002060"/>
                </a:solidFill>
                <a:latin typeface="Noto Sans Symbols"/>
                <a:ea typeface="Noto Sans Symbols"/>
                <a:cs typeface="Noto Sans Symbols"/>
                <a:sym typeface="Noto Sans Symbols"/>
              </a:rPr>
              <a:t>δ</a:t>
            </a:r>
            <a:r>
              <a:rPr b="0" i="1" lang="en-GB" sz="3200" u="none" cap="none" strike="noStrike">
                <a:solidFill>
                  <a:srgbClr val="002060"/>
                </a:solidFill>
                <a:latin typeface="Times New Roman"/>
                <a:ea typeface="Times New Roman"/>
                <a:cs typeface="Times New Roman"/>
                <a:sym typeface="Times New Roman"/>
              </a:rPr>
              <a:t>(t)</a:t>
            </a:r>
            <a:endParaRPr b="0" i="1" sz="3200" u="none" cap="none" strike="noStrike">
              <a:solidFill>
                <a:schemeClr val="dk1"/>
              </a:solidFill>
              <a:latin typeface="Times New Roman"/>
              <a:ea typeface="Times New Roman"/>
              <a:cs typeface="Times New Roman"/>
              <a:sym typeface="Times New Roman"/>
            </a:endParaRPr>
          </a:p>
        </p:txBody>
      </p:sp>
      <p:sp>
        <p:nvSpPr>
          <p:cNvPr id="603" name="Google Shape;603;p23"/>
          <p:cNvSpPr/>
          <p:nvPr/>
        </p:nvSpPr>
        <p:spPr>
          <a:xfrm>
            <a:off x="898910" y="4014596"/>
            <a:ext cx="3185914" cy="584775"/>
          </a:xfrm>
          <a:prstGeom prst="rect">
            <a:avLst/>
          </a:prstGeom>
          <a:noFill/>
          <a:ln>
            <a:noFill/>
          </a:ln>
        </p:spPr>
        <p:txBody>
          <a:bodyPr anchorCtr="0" anchor="ctr" bIns="45700" lIns="91425" spcFirstLastPara="1" rIns="91425" wrap="square" tIns="45700">
            <a:spAutoFit/>
          </a:bodyPr>
          <a:lstStyle/>
          <a:p>
            <a:pPr indent="0" lvl="0" marL="0" marR="0" rtl="0" algn="just">
              <a:spcBef>
                <a:spcPts val="0"/>
              </a:spcBef>
              <a:spcAft>
                <a:spcPts val="0"/>
              </a:spcAft>
              <a:buNone/>
            </a:pPr>
            <a:r>
              <a:rPr b="0" i="1" lang="en-GB" sz="3200" u="none" cap="none" strike="noStrike">
                <a:solidFill>
                  <a:srgbClr val="002060"/>
                </a:solidFill>
                <a:latin typeface="Times New Roman"/>
                <a:ea typeface="Times New Roman"/>
                <a:cs typeface="Times New Roman"/>
                <a:sym typeface="Times New Roman"/>
              </a:rPr>
              <a:t>unit step  </a:t>
            </a:r>
            <a:r>
              <a:rPr i="1" lang="en-GB" sz="3200">
                <a:solidFill>
                  <a:srgbClr val="002060"/>
                </a:solidFill>
                <a:latin typeface="Times New Roman"/>
                <a:ea typeface="Times New Roman"/>
                <a:cs typeface="Times New Roman"/>
                <a:sym typeface="Times New Roman"/>
              </a:rPr>
              <a:t>H(t)</a:t>
            </a:r>
            <a:endParaRPr b="0" i="1" sz="1600" u="none" cap="none" strike="noStrike">
              <a:solidFill>
                <a:schemeClr val="dk1"/>
              </a:solidFill>
              <a:latin typeface="Times New Roman"/>
              <a:ea typeface="Times New Roman"/>
              <a:cs typeface="Times New Roman"/>
              <a:sym typeface="Times New Roman"/>
            </a:endParaRPr>
          </a:p>
        </p:txBody>
      </p:sp>
      <p:sp>
        <p:nvSpPr>
          <p:cNvPr id="604" name="Google Shape;604;p23"/>
          <p:cNvSpPr/>
          <p:nvPr/>
        </p:nvSpPr>
        <p:spPr>
          <a:xfrm>
            <a:off x="1078100" y="5978364"/>
            <a:ext cx="2866048" cy="584775"/>
          </a:xfrm>
          <a:prstGeom prst="rect">
            <a:avLst/>
          </a:prstGeom>
          <a:noFill/>
          <a:ln>
            <a:noFill/>
          </a:ln>
        </p:spPr>
        <p:txBody>
          <a:bodyPr anchorCtr="0" anchor="ctr" bIns="45700" lIns="91425" spcFirstLastPara="1" rIns="91425" wrap="square" tIns="45700">
            <a:spAutoFit/>
          </a:bodyPr>
          <a:lstStyle/>
          <a:p>
            <a:pPr indent="0" lvl="0" marL="0" marR="0" rtl="0" algn="just">
              <a:spcBef>
                <a:spcPts val="0"/>
              </a:spcBef>
              <a:spcAft>
                <a:spcPts val="0"/>
              </a:spcAft>
              <a:buNone/>
            </a:pPr>
            <a:r>
              <a:rPr b="0" i="1" lang="en-GB" sz="3200" u="none" cap="none" strike="noStrike">
                <a:solidFill>
                  <a:srgbClr val="002060"/>
                </a:solidFill>
                <a:latin typeface="Times New Roman"/>
                <a:ea typeface="Times New Roman"/>
                <a:cs typeface="Times New Roman"/>
                <a:sym typeface="Times New Roman"/>
              </a:rPr>
              <a:t>unit ramp  </a:t>
            </a:r>
            <a:r>
              <a:rPr i="1" lang="en-GB" sz="3200">
                <a:solidFill>
                  <a:srgbClr val="002060"/>
                </a:solidFill>
                <a:latin typeface="Times New Roman"/>
                <a:ea typeface="Times New Roman"/>
                <a:cs typeface="Times New Roman"/>
                <a:sym typeface="Times New Roman"/>
              </a:rPr>
              <a:t>t</a:t>
            </a:r>
            <a:endParaRPr b="0" i="1" sz="3200" u="none" cap="none" strike="noStrike">
              <a:solidFill>
                <a:schemeClr val="dk1"/>
              </a:solidFill>
              <a:latin typeface="Times New Roman"/>
              <a:ea typeface="Times New Roman"/>
              <a:cs typeface="Times New Roman"/>
              <a:sym typeface="Times New Roman"/>
            </a:endParaRPr>
          </a:p>
        </p:txBody>
      </p:sp>
      <p:sp>
        <p:nvSpPr>
          <p:cNvPr id="605" name="Google Shape;605;p23"/>
          <p:cNvSpPr/>
          <p:nvPr/>
        </p:nvSpPr>
        <p:spPr>
          <a:xfrm>
            <a:off x="4104826" y="1182617"/>
            <a:ext cx="38985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GB" sz="3200">
                <a:solidFill>
                  <a:srgbClr val="002060"/>
                </a:solidFill>
                <a:latin typeface="Times New Roman"/>
                <a:ea typeface="Times New Roman"/>
                <a:cs typeface="Times New Roman"/>
                <a:sym typeface="Times New Roman"/>
              </a:rPr>
              <a:t>1</a:t>
            </a:r>
            <a:endParaRPr sz="3200">
              <a:solidFill>
                <a:schemeClr val="dk1"/>
              </a:solidFill>
              <a:latin typeface="Calibri"/>
              <a:ea typeface="Calibri"/>
              <a:cs typeface="Calibri"/>
              <a:sym typeface="Calibri"/>
            </a:endParaRPr>
          </a:p>
        </p:txBody>
      </p:sp>
      <p:grpSp>
        <p:nvGrpSpPr>
          <p:cNvPr id="606" name="Google Shape;606;p23"/>
          <p:cNvGrpSpPr/>
          <p:nvPr/>
        </p:nvGrpSpPr>
        <p:grpSpPr>
          <a:xfrm>
            <a:off x="5322878" y="998201"/>
            <a:ext cx="3813175" cy="1644650"/>
            <a:chOff x="1418" y="8483"/>
            <a:chExt cx="2400" cy="1035"/>
          </a:xfrm>
        </p:grpSpPr>
        <p:grpSp>
          <p:nvGrpSpPr>
            <p:cNvPr id="607" name="Google Shape;607;p23"/>
            <p:cNvGrpSpPr/>
            <p:nvPr/>
          </p:nvGrpSpPr>
          <p:grpSpPr>
            <a:xfrm>
              <a:off x="1418" y="8483"/>
              <a:ext cx="2400" cy="1035"/>
              <a:chOff x="1418" y="7373"/>
              <a:chExt cx="2400" cy="1035"/>
            </a:xfrm>
          </p:grpSpPr>
          <p:cxnSp>
            <p:nvCxnSpPr>
              <p:cNvPr id="608" name="Google Shape;608;p23"/>
              <p:cNvCxnSpPr/>
              <p:nvPr/>
            </p:nvCxnSpPr>
            <p:spPr>
              <a:xfrm>
                <a:off x="1658" y="7373"/>
                <a:ext cx="0" cy="900"/>
              </a:xfrm>
              <a:prstGeom prst="straightConnector1">
                <a:avLst/>
              </a:prstGeom>
              <a:noFill/>
              <a:ln cap="flat" cmpd="sng" w="31750">
                <a:solidFill>
                  <a:srgbClr val="666699"/>
                </a:solidFill>
                <a:prstDash val="solid"/>
                <a:round/>
                <a:headEnd len="sm" w="sm" type="stealth"/>
                <a:tailEnd len="med" w="med" type="none"/>
              </a:ln>
            </p:spPr>
          </p:cxnSp>
          <p:cxnSp>
            <p:nvCxnSpPr>
              <p:cNvPr id="609" name="Google Shape;609;p23"/>
              <p:cNvCxnSpPr/>
              <p:nvPr/>
            </p:nvCxnSpPr>
            <p:spPr>
              <a:xfrm>
                <a:off x="1418" y="8093"/>
                <a:ext cx="2400" cy="0"/>
              </a:xfrm>
              <a:prstGeom prst="straightConnector1">
                <a:avLst/>
              </a:prstGeom>
              <a:noFill/>
              <a:ln cap="flat" cmpd="sng" w="31750">
                <a:solidFill>
                  <a:srgbClr val="666699"/>
                </a:solidFill>
                <a:prstDash val="solid"/>
                <a:round/>
                <a:headEnd len="med" w="med" type="none"/>
                <a:tailEnd len="sm" w="sm" type="stealth"/>
              </a:ln>
            </p:spPr>
          </p:cxnSp>
          <p:sp>
            <p:nvSpPr>
              <p:cNvPr id="610" name="Google Shape;610;p23"/>
              <p:cNvSpPr txBox="1"/>
              <p:nvPr/>
            </p:nvSpPr>
            <p:spPr>
              <a:xfrm>
                <a:off x="1448" y="804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0</a:t>
                </a:r>
                <a:endParaRPr sz="1200">
                  <a:solidFill>
                    <a:schemeClr val="dk1"/>
                  </a:solidFill>
                  <a:latin typeface="Times New Roman"/>
                  <a:ea typeface="Times New Roman"/>
                  <a:cs typeface="Times New Roman"/>
                  <a:sym typeface="Times New Roman"/>
                </a:endParaRPr>
              </a:p>
            </p:txBody>
          </p:sp>
          <p:sp>
            <p:nvSpPr>
              <p:cNvPr id="611" name="Google Shape;611;p23"/>
              <p:cNvSpPr txBox="1"/>
              <p:nvPr/>
            </p:nvSpPr>
            <p:spPr>
              <a:xfrm>
                <a:off x="3458" y="804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 t</a:t>
                </a:r>
                <a:endParaRPr sz="1200">
                  <a:solidFill>
                    <a:schemeClr val="dk1"/>
                  </a:solidFill>
                  <a:latin typeface="Times New Roman"/>
                  <a:ea typeface="Times New Roman"/>
                  <a:cs typeface="Times New Roman"/>
                  <a:sym typeface="Times New Roman"/>
                </a:endParaRPr>
              </a:p>
            </p:txBody>
          </p:sp>
          <p:cxnSp>
            <p:nvCxnSpPr>
              <p:cNvPr id="612" name="Google Shape;612;p23"/>
              <p:cNvCxnSpPr/>
              <p:nvPr/>
            </p:nvCxnSpPr>
            <p:spPr>
              <a:xfrm rot="10800000">
                <a:off x="1418" y="8078"/>
                <a:ext cx="240" cy="0"/>
              </a:xfrm>
              <a:prstGeom prst="straightConnector1">
                <a:avLst/>
              </a:prstGeom>
              <a:noFill/>
              <a:ln cap="flat" cmpd="sng" w="38100">
                <a:solidFill>
                  <a:srgbClr val="C00000"/>
                </a:solidFill>
                <a:prstDash val="solid"/>
                <a:round/>
                <a:headEnd len="med" w="med" type="none"/>
                <a:tailEnd len="med" w="med" type="none"/>
              </a:ln>
            </p:spPr>
          </p:cxnSp>
        </p:grpSp>
        <p:cxnSp>
          <p:nvCxnSpPr>
            <p:cNvPr id="613" name="Google Shape;613;p23"/>
            <p:cNvCxnSpPr/>
            <p:nvPr/>
          </p:nvCxnSpPr>
          <p:spPr>
            <a:xfrm>
              <a:off x="1658" y="8618"/>
              <a:ext cx="0" cy="570"/>
            </a:xfrm>
            <a:prstGeom prst="straightConnector1">
              <a:avLst/>
            </a:prstGeom>
            <a:noFill/>
            <a:ln cap="flat" cmpd="sng" w="38100">
              <a:solidFill>
                <a:srgbClr val="C00000"/>
              </a:solidFill>
              <a:prstDash val="solid"/>
              <a:round/>
              <a:headEnd len="med" w="med" type="none"/>
              <a:tailEnd len="med" w="med" type="none"/>
            </a:ln>
          </p:spPr>
        </p:cxnSp>
        <p:sp>
          <p:nvSpPr>
            <p:cNvPr id="614" name="Google Shape;614;p23"/>
            <p:cNvSpPr/>
            <p:nvPr/>
          </p:nvSpPr>
          <p:spPr>
            <a:xfrm>
              <a:off x="1658" y="8618"/>
              <a:ext cx="1920" cy="570"/>
            </a:xfrm>
            <a:custGeom>
              <a:rect b="b" l="l" r="r" t="t"/>
              <a:pathLst>
                <a:path extrusionOk="0" h="570" w="1920">
                  <a:moveTo>
                    <a:pt x="0" y="0"/>
                  </a:moveTo>
                  <a:cubicBezTo>
                    <a:pt x="120" y="135"/>
                    <a:pt x="240" y="270"/>
                    <a:pt x="480" y="360"/>
                  </a:cubicBezTo>
                  <a:cubicBezTo>
                    <a:pt x="720" y="450"/>
                    <a:pt x="1200" y="510"/>
                    <a:pt x="1440" y="540"/>
                  </a:cubicBezTo>
                  <a:cubicBezTo>
                    <a:pt x="1680" y="570"/>
                    <a:pt x="1800" y="555"/>
                    <a:pt x="1920" y="540"/>
                  </a:cubicBezTo>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15" name="Google Shape;615;p23"/>
          <p:cNvGrpSpPr/>
          <p:nvPr/>
        </p:nvGrpSpPr>
        <p:grpSpPr>
          <a:xfrm>
            <a:off x="5431994" y="2676066"/>
            <a:ext cx="3227096" cy="1183259"/>
            <a:chOff x="6702" y="2873"/>
            <a:chExt cx="2400" cy="1064"/>
          </a:xfrm>
        </p:grpSpPr>
        <p:grpSp>
          <p:nvGrpSpPr>
            <p:cNvPr id="616" name="Google Shape;616;p23"/>
            <p:cNvGrpSpPr/>
            <p:nvPr/>
          </p:nvGrpSpPr>
          <p:grpSpPr>
            <a:xfrm>
              <a:off x="6702" y="2902"/>
              <a:ext cx="2400" cy="1035"/>
              <a:chOff x="1418" y="7373"/>
              <a:chExt cx="2400" cy="1035"/>
            </a:xfrm>
          </p:grpSpPr>
          <p:cxnSp>
            <p:nvCxnSpPr>
              <p:cNvPr id="617" name="Google Shape;617;p23"/>
              <p:cNvCxnSpPr/>
              <p:nvPr/>
            </p:nvCxnSpPr>
            <p:spPr>
              <a:xfrm>
                <a:off x="1658" y="7373"/>
                <a:ext cx="0" cy="900"/>
              </a:xfrm>
              <a:prstGeom prst="straightConnector1">
                <a:avLst/>
              </a:prstGeom>
              <a:noFill/>
              <a:ln cap="flat" cmpd="sng" w="31750">
                <a:solidFill>
                  <a:srgbClr val="666699"/>
                </a:solidFill>
                <a:prstDash val="solid"/>
                <a:round/>
                <a:headEnd len="sm" w="sm" type="stealth"/>
                <a:tailEnd len="med" w="med" type="none"/>
              </a:ln>
            </p:spPr>
          </p:cxnSp>
          <p:cxnSp>
            <p:nvCxnSpPr>
              <p:cNvPr id="618" name="Google Shape;618;p23"/>
              <p:cNvCxnSpPr/>
              <p:nvPr/>
            </p:nvCxnSpPr>
            <p:spPr>
              <a:xfrm>
                <a:off x="1418" y="8093"/>
                <a:ext cx="2400" cy="0"/>
              </a:xfrm>
              <a:prstGeom prst="straightConnector1">
                <a:avLst/>
              </a:prstGeom>
              <a:noFill/>
              <a:ln cap="flat" cmpd="sng" w="31750">
                <a:solidFill>
                  <a:srgbClr val="666699"/>
                </a:solidFill>
                <a:prstDash val="solid"/>
                <a:round/>
                <a:headEnd len="med" w="med" type="none"/>
                <a:tailEnd len="sm" w="sm" type="stealth"/>
              </a:ln>
            </p:spPr>
          </p:cxnSp>
          <p:sp>
            <p:nvSpPr>
              <p:cNvPr id="619" name="Google Shape;619;p23"/>
              <p:cNvSpPr txBox="1"/>
              <p:nvPr/>
            </p:nvSpPr>
            <p:spPr>
              <a:xfrm>
                <a:off x="1448" y="804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0</a:t>
                </a:r>
                <a:endParaRPr sz="1200">
                  <a:solidFill>
                    <a:schemeClr val="dk1"/>
                  </a:solidFill>
                  <a:latin typeface="Times New Roman"/>
                  <a:ea typeface="Times New Roman"/>
                  <a:cs typeface="Times New Roman"/>
                  <a:sym typeface="Times New Roman"/>
                </a:endParaRPr>
              </a:p>
            </p:txBody>
          </p:sp>
          <p:sp>
            <p:nvSpPr>
              <p:cNvPr id="620" name="Google Shape;620;p23"/>
              <p:cNvSpPr txBox="1"/>
              <p:nvPr/>
            </p:nvSpPr>
            <p:spPr>
              <a:xfrm>
                <a:off x="3458" y="804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 t</a:t>
                </a:r>
                <a:endParaRPr sz="1200">
                  <a:solidFill>
                    <a:schemeClr val="dk1"/>
                  </a:solidFill>
                  <a:latin typeface="Times New Roman"/>
                  <a:ea typeface="Times New Roman"/>
                  <a:cs typeface="Times New Roman"/>
                  <a:sym typeface="Times New Roman"/>
                </a:endParaRPr>
              </a:p>
            </p:txBody>
          </p:sp>
          <p:cxnSp>
            <p:nvCxnSpPr>
              <p:cNvPr id="621" name="Google Shape;621;p23"/>
              <p:cNvCxnSpPr/>
              <p:nvPr/>
            </p:nvCxnSpPr>
            <p:spPr>
              <a:xfrm rot="10800000">
                <a:off x="1418" y="8078"/>
                <a:ext cx="240" cy="0"/>
              </a:xfrm>
              <a:prstGeom prst="straightConnector1">
                <a:avLst/>
              </a:prstGeom>
              <a:noFill/>
              <a:ln cap="flat" cmpd="sng" w="38100">
                <a:solidFill>
                  <a:srgbClr val="C00000"/>
                </a:solidFill>
                <a:prstDash val="solid"/>
                <a:round/>
                <a:headEnd len="med" w="med" type="none"/>
                <a:tailEnd len="med" w="med" type="none"/>
              </a:ln>
            </p:spPr>
          </p:cxnSp>
        </p:grpSp>
        <p:sp>
          <p:nvSpPr>
            <p:cNvPr id="622" name="Google Shape;622;p23"/>
            <p:cNvSpPr/>
            <p:nvPr/>
          </p:nvSpPr>
          <p:spPr>
            <a:xfrm flipH="1" rot="10800000">
              <a:off x="6927" y="2873"/>
              <a:ext cx="1920" cy="750"/>
            </a:xfrm>
            <a:custGeom>
              <a:rect b="b" l="l" r="r" t="t"/>
              <a:pathLst>
                <a:path extrusionOk="0" h="570" w="1920">
                  <a:moveTo>
                    <a:pt x="0" y="0"/>
                  </a:moveTo>
                  <a:cubicBezTo>
                    <a:pt x="120" y="135"/>
                    <a:pt x="240" y="270"/>
                    <a:pt x="480" y="360"/>
                  </a:cubicBezTo>
                  <a:cubicBezTo>
                    <a:pt x="720" y="450"/>
                    <a:pt x="1200" y="510"/>
                    <a:pt x="1440" y="540"/>
                  </a:cubicBezTo>
                  <a:cubicBezTo>
                    <a:pt x="1680" y="570"/>
                    <a:pt x="1800" y="555"/>
                    <a:pt x="1920" y="540"/>
                  </a:cubicBezTo>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23" name="Google Shape;623;p23"/>
          <p:cNvGrpSpPr/>
          <p:nvPr/>
        </p:nvGrpSpPr>
        <p:grpSpPr>
          <a:xfrm>
            <a:off x="5428517" y="5553420"/>
            <a:ext cx="2669223" cy="1151255"/>
            <a:chOff x="6636" y="5932"/>
            <a:chExt cx="2400" cy="1035"/>
          </a:xfrm>
        </p:grpSpPr>
        <p:grpSp>
          <p:nvGrpSpPr>
            <p:cNvPr id="624" name="Google Shape;624;p23"/>
            <p:cNvGrpSpPr/>
            <p:nvPr/>
          </p:nvGrpSpPr>
          <p:grpSpPr>
            <a:xfrm>
              <a:off x="6636" y="5932"/>
              <a:ext cx="2400" cy="1035"/>
              <a:chOff x="1418" y="7373"/>
              <a:chExt cx="2400" cy="1035"/>
            </a:xfrm>
          </p:grpSpPr>
          <p:cxnSp>
            <p:nvCxnSpPr>
              <p:cNvPr id="625" name="Google Shape;625;p23"/>
              <p:cNvCxnSpPr/>
              <p:nvPr/>
            </p:nvCxnSpPr>
            <p:spPr>
              <a:xfrm>
                <a:off x="1658" y="7373"/>
                <a:ext cx="0" cy="900"/>
              </a:xfrm>
              <a:prstGeom prst="straightConnector1">
                <a:avLst/>
              </a:prstGeom>
              <a:noFill/>
              <a:ln cap="flat" cmpd="sng" w="31750">
                <a:solidFill>
                  <a:srgbClr val="666699"/>
                </a:solidFill>
                <a:prstDash val="solid"/>
                <a:round/>
                <a:headEnd len="sm" w="sm" type="stealth"/>
                <a:tailEnd len="med" w="med" type="none"/>
              </a:ln>
            </p:spPr>
          </p:cxnSp>
          <p:cxnSp>
            <p:nvCxnSpPr>
              <p:cNvPr id="626" name="Google Shape;626;p23"/>
              <p:cNvCxnSpPr/>
              <p:nvPr/>
            </p:nvCxnSpPr>
            <p:spPr>
              <a:xfrm>
                <a:off x="1418" y="8093"/>
                <a:ext cx="2400" cy="0"/>
              </a:xfrm>
              <a:prstGeom prst="straightConnector1">
                <a:avLst/>
              </a:prstGeom>
              <a:noFill/>
              <a:ln cap="flat" cmpd="sng" w="31750">
                <a:solidFill>
                  <a:srgbClr val="666699"/>
                </a:solidFill>
                <a:prstDash val="solid"/>
                <a:round/>
                <a:headEnd len="med" w="med" type="none"/>
                <a:tailEnd len="sm" w="sm" type="stealth"/>
              </a:ln>
            </p:spPr>
          </p:cxnSp>
          <p:sp>
            <p:nvSpPr>
              <p:cNvPr id="627" name="Google Shape;627;p23"/>
              <p:cNvSpPr txBox="1"/>
              <p:nvPr/>
            </p:nvSpPr>
            <p:spPr>
              <a:xfrm>
                <a:off x="1448" y="804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0</a:t>
                </a:r>
                <a:endParaRPr sz="1200">
                  <a:solidFill>
                    <a:schemeClr val="dk1"/>
                  </a:solidFill>
                  <a:latin typeface="Times New Roman"/>
                  <a:ea typeface="Times New Roman"/>
                  <a:cs typeface="Times New Roman"/>
                  <a:sym typeface="Times New Roman"/>
                </a:endParaRPr>
              </a:p>
            </p:txBody>
          </p:sp>
          <p:sp>
            <p:nvSpPr>
              <p:cNvPr id="628" name="Google Shape;628;p23"/>
              <p:cNvSpPr txBox="1"/>
              <p:nvPr/>
            </p:nvSpPr>
            <p:spPr>
              <a:xfrm>
                <a:off x="3458" y="804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 t</a:t>
                </a:r>
                <a:endParaRPr sz="1200">
                  <a:solidFill>
                    <a:schemeClr val="dk1"/>
                  </a:solidFill>
                  <a:latin typeface="Times New Roman"/>
                  <a:ea typeface="Times New Roman"/>
                  <a:cs typeface="Times New Roman"/>
                  <a:sym typeface="Times New Roman"/>
                </a:endParaRPr>
              </a:p>
            </p:txBody>
          </p:sp>
          <p:cxnSp>
            <p:nvCxnSpPr>
              <p:cNvPr id="629" name="Google Shape;629;p23"/>
              <p:cNvCxnSpPr/>
              <p:nvPr/>
            </p:nvCxnSpPr>
            <p:spPr>
              <a:xfrm rot="10800000">
                <a:off x="1418" y="8078"/>
                <a:ext cx="240" cy="0"/>
              </a:xfrm>
              <a:prstGeom prst="straightConnector1">
                <a:avLst/>
              </a:prstGeom>
              <a:noFill/>
              <a:ln cap="flat" cmpd="sng" w="38100">
                <a:solidFill>
                  <a:srgbClr val="C00000"/>
                </a:solidFill>
                <a:prstDash val="solid"/>
                <a:round/>
                <a:headEnd len="med" w="med" type="none"/>
                <a:tailEnd len="med" w="med" type="none"/>
              </a:ln>
            </p:spPr>
          </p:cxnSp>
        </p:grpSp>
        <p:sp>
          <p:nvSpPr>
            <p:cNvPr id="630" name="Google Shape;630;p23"/>
            <p:cNvSpPr/>
            <p:nvPr/>
          </p:nvSpPr>
          <p:spPr>
            <a:xfrm>
              <a:off x="6884" y="6039"/>
              <a:ext cx="2152" cy="591"/>
            </a:xfrm>
            <a:custGeom>
              <a:rect b="b" l="l" r="r" t="t"/>
              <a:pathLst>
                <a:path extrusionOk="0" h="591" w="2152">
                  <a:moveTo>
                    <a:pt x="0" y="569"/>
                  </a:moveTo>
                  <a:cubicBezTo>
                    <a:pt x="30" y="434"/>
                    <a:pt x="60" y="299"/>
                    <a:pt x="120" y="209"/>
                  </a:cubicBezTo>
                  <a:cubicBezTo>
                    <a:pt x="180" y="119"/>
                    <a:pt x="271" y="58"/>
                    <a:pt x="360" y="29"/>
                  </a:cubicBezTo>
                  <a:cubicBezTo>
                    <a:pt x="449" y="0"/>
                    <a:pt x="543" y="0"/>
                    <a:pt x="652" y="36"/>
                  </a:cubicBezTo>
                  <a:cubicBezTo>
                    <a:pt x="761" y="72"/>
                    <a:pt x="862" y="169"/>
                    <a:pt x="1012" y="246"/>
                  </a:cubicBezTo>
                  <a:cubicBezTo>
                    <a:pt x="1162" y="323"/>
                    <a:pt x="1362" y="443"/>
                    <a:pt x="1552" y="501"/>
                  </a:cubicBezTo>
                  <a:cubicBezTo>
                    <a:pt x="1742" y="559"/>
                    <a:pt x="2027" y="572"/>
                    <a:pt x="2152" y="591"/>
                  </a:cubicBezTo>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631" name="Google Shape;631;p23"/>
          <p:cNvGrpSpPr/>
          <p:nvPr/>
        </p:nvGrpSpPr>
        <p:grpSpPr>
          <a:xfrm>
            <a:off x="5478175" y="4131628"/>
            <a:ext cx="2662556" cy="1197405"/>
            <a:chOff x="288" y="222"/>
            <a:chExt cx="2400" cy="1286"/>
          </a:xfrm>
        </p:grpSpPr>
        <p:grpSp>
          <p:nvGrpSpPr>
            <p:cNvPr id="632" name="Google Shape;632;p23"/>
            <p:cNvGrpSpPr/>
            <p:nvPr/>
          </p:nvGrpSpPr>
          <p:grpSpPr>
            <a:xfrm>
              <a:off x="288" y="473"/>
              <a:ext cx="2400" cy="1035"/>
              <a:chOff x="1418" y="7373"/>
              <a:chExt cx="2400" cy="1035"/>
            </a:xfrm>
          </p:grpSpPr>
          <p:cxnSp>
            <p:nvCxnSpPr>
              <p:cNvPr id="633" name="Google Shape;633;p23"/>
              <p:cNvCxnSpPr/>
              <p:nvPr/>
            </p:nvCxnSpPr>
            <p:spPr>
              <a:xfrm>
                <a:off x="1658" y="7373"/>
                <a:ext cx="0" cy="900"/>
              </a:xfrm>
              <a:prstGeom prst="straightConnector1">
                <a:avLst/>
              </a:prstGeom>
              <a:noFill/>
              <a:ln cap="flat" cmpd="sng" w="31750">
                <a:solidFill>
                  <a:srgbClr val="666699"/>
                </a:solidFill>
                <a:prstDash val="solid"/>
                <a:round/>
                <a:headEnd len="sm" w="sm" type="stealth"/>
                <a:tailEnd len="med" w="med" type="none"/>
              </a:ln>
            </p:spPr>
          </p:cxnSp>
          <p:cxnSp>
            <p:nvCxnSpPr>
              <p:cNvPr id="634" name="Google Shape;634;p23"/>
              <p:cNvCxnSpPr/>
              <p:nvPr/>
            </p:nvCxnSpPr>
            <p:spPr>
              <a:xfrm>
                <a:off x="1418" y="8093"/>
                <a:ext cx="2400" cy="0"/>
              </a:xfrm>
              <a:prstGeom prst="straightConnector1">
                <a:avLst/>
              </a:prstGeom>
              <a:noFill/>
              <a:ln cap="flat" cmpd="sng" w="31750">
                <a:solidFill>
                  <a:srgbClr val="666699"/>
                </a:solidFill>
                <a:prstDash val="solid"/>
                <a:round/>
                <a:headEnd len="med" w="med" type="none"/>
                <a:tailEnd len="sm" w="sm" type="stealth"/>
              </a:ln>
            </p:spPr>
          </p:cxnSp>
          <p:sp>
            <p:nvSpPr>
              <p:cNvPr id="635" name="Google Shape;635;p23"/>
              <p:cNvSpPr txBox="1"/>
              <p:nvPr/>
            </p:nvSpPr>
            <p:spPr>
              <a:xfrm>
                <a:off x="1448" y="804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FFFFFF"/>
                    </a:solidFill>
                    <a:latin typeface="Times New Roman"/>
                    <a:ea typeface="Times New Roman"/>
                    <a:cs typeface="Times New Roman"/>
                    <a:sym typeface="Times New Roman"/>
                  </a:rPr>
                  <a:t>0</a:t>
                </a:r>
                <a:endParaRPr sz="1200">
                  <a:solidFill>
                    <a:schemeClr val="dk1"/>
                  </a:solidFill>
                  <a:latin typeface="Times New Roman"/>
                  <a:ea typeface="Times New Roman"/>
                  <a:cs typeface="Times New Roman"/>
                  <a:sym typeface="Times New Roman"/>
                </a:endParaRPr>
              </a:p>
            </p:txBody>
          </p:sp>
          <p:sp>
            <p:nvSpPr>
              <p:cNvPr id="636" name="Google Shape;636;p23"/>
              <p:cNvSpPr txBox="1"/>
              <p:nvPr/>
            </p:nvSpPr>
            <p:spPr>
              <a:xfrm>
                <a:off x="3458" y="804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FFFFFF"/>
                    </a:solidFill>
                    <a:latin typeface="Times New Roman"/>
                    <a:ea typeface="Times New Roman"/>
                    <a:cs typeface="Times New Roman"/>
                    <a:sym typeface="Times New Roman"/>
                  </a:rPr>
                  <a:t> t</a:t>
                </a:r>
                <a:endParaRPr sz="1200">
                  <a:solidFill>
                    <a:schemeClr val="dk1"/>
                  </a:solidFill>
                  <a:latin typeface="Times New Roman"/>
                  <a:ea typeface="Times New Roman"/>
                  <a:cs typeface="Times New Roman"/>
                  <a:sym typeface="Times New Roman"/>
                </a:endParaRPr>
              </a:p>
            </p:txBody>
          </p:sp>
          <p:cxnSp>
            <p:nvCxnSpPr>
              <p:cNvPr id="637" name="Google Shape;637;p23"/>
              <p:cNvCxnSpPr/>
              <p:nvPr/>
            </p:nvCxnSpPr>
            <p:spPr>
              <a:xfrm rot="10800000">
                <a:off x="1418" y="8078"/>
                <a:ext cx="240" cy="0"/>
              </a:xfrm>
              <a:prstGeom prst="straightConnector1">
                <a:avLst/>
              </a:prstGeom>
              <a:noFill/>
              <a:ln cap="flat" cmpd="sng" w="38100">
                <a:solidFill>
                  <a:srgbClr val="C00000"/>
                </a:solidFill>
                <a:prstDash val="solid"/>
                <a:round/>
                <a:headEnd len="med" w="med" type="none"/>
                <a:tailEnd len="med" w="med" type="none"/>
              </a:ln>
            </p:spPr>
          </p:cxnSp>
        </p:grpSp>
        <p:sp>
          <p:nvSpPr>
            <p:cNvPr id="638" name="Google Shape;638;p23"/>
            <p:cNvSpPr/>
            <p:nvPr/>
          </p:nvSpPr>
          <p:spPr>
            <a:xfrm>
              <a:off x="528" y="222"/>
              <a:ext cx="2040" cy="956"/>
            </a:xfrm>
            <a:custGeom>
              <a:rect b="b" l="l" r="r" t="t"/>
              <a:pathLst>
                <a:path extrusionOk="0" h="956" w="2040">
                  <a:moveTo>
                    <a:pt x="0" y="956"/>
                  </a:moveTo>
                  <a:cubicBezTo>
                    <a:pt x="19" y="865"/>
                    <a:pt x="63" y="554"/>
                    <a:pt x="112" y="408"/>
                  </a:cubicBezTo>
                  <a:cubicBezTo>
                    <a:pt x="161" y="262"/>
                    <a:pt x="191" y="137"/>
                    <a:pt x="292" y="78"/>
                  </a:cubicBezTo>
                  <a:cubicBezTo>
                    <a:pt x="393" y="19"/>
                    <a:pt x="509" y="0"/>
                    <a:pt x="720" y="56"/>
                  </a:cubicBezTo>
                  <a:cubicBezTo>
                    <a:pt x="931" y="112"/>
                    <a:pt x="1340" y="326"/>
                    <a:pt x="1560" y="416"/>
                  </a:cubicBezTo>
                  <a:cubicBezTo>
                    <a:pt x="1780" y="506"/>
                    <a:pt x="1910" y="551"/>
                    <a:pt x="2040" y="596"/>
                  </a:cubicBezTo>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39" name="Google Shape;639;p23"/>
          <p:cNvSpPr/>
          <p:nvPr/>
        </p:nvSpPr>
        <p:spPr>
          <a:xfrm>
            <a:off x="6872211" y="2794806"/>
            <a:ext cx="1409700" cy="58477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Times New Roman"/>
              <a:buNone/>
            </a:pPr>
            <a:r>
              <a:rPr b="0" lang="en-GB" sz="3200" u="none" cap="none" strike="noStrike">
                <a:solidFill>
                  <a:srgbClr val="002060"/>
                </a:solidFill>
                <a:latin typeface="Times New Roman"/>
                <a:ea typeface="Times New Roman"/>
                <a:cs typeface="Times New Roman"/>
                <a:sym typeface="Times New Roman"/>
              </a:rPr>
              <a:t>1- e</a:t>
            </a:r>
            <a:r>
              <a:rPr b="0" baseline="30000" lang="en-GB" sz="3200" u="none" cap="none" strike="noStrike">
                <a:solidFill>
                  <a:srgbClr val="002060"/>
                </a:solidFill>
                <a:latin typeface="Times New Roman"/>
                <a:ea typeface="Times New Roman"/>
                <a:cs typeface="Times New Roman"/>
                <a:sym typeface="Times New Roman"/>
              </a:rPr>
              <a:t>-at</a:t>
            </a:r>
            <a:r>
              <a:rPr b="0" lang="en-GB" sz="3200" u="none" cap="none" strike="noStrike">
                <a:solidFill>
                  <a:srgbClr val="002060"/>
                </a:solidFill>
                <a:latin typeface="Times New Roman"/>
                <a:ea typeface="Times New Roman"/>
                <a:cs typeface="Times New Roman"/>
                <a:sym typeface="Times New Roman"/>
              </a:rPr>
              <a:t>	</a:t>
            </a:r>
            <a:endParaRPr b="0" sz="3200" u="none" cap="none" strike="noStrike">
              <a:solidFill>
                <a:schemeClr val="dk1"/>
              </a:solidFill>
              <a:latin typeface="Times New Roman"/>
              <a:ea typeface="Times New Roman"/>
              <a:cs typeface="Times New Roman"/>
              <a:sym typeface="Times New Roman"/>
            </a:endParaRPr>
          </a:p>
        </p:txBody>
      </p:sp>
      <p:pic>
        <p:nvPicPr>
          <p:cNvPr id="640" name="Google Shape;640;p23"/>
          <p:cNvPicPr preferRelativeResize="0"/>
          <p:nvPr/>
        </p:nvPicPr>
        <p:blipFill rotWithShape="1">
          <a:blip r:embed="rId5">
            <a:alphaModFix/>
          </a:blip>
          <a:srcRect b="0" l="0" r="0" t="0"/>
          <a:stretch/>
        </p:blipFill>
        <p:spPr>
          <a:xfrm>
            <a:off x="9339838" y="2484132"/>
            <a:ext cx="1409700" cy="1123950"/>
          </a:xfrm>
          <a:prstGeom prst="rect">
            <a:avLst/>
          </a:prstGeom>
          <a:noFill/>
          <a:ln>
            <a:noFill/>
          </a:ln>
        </p:spPr>
      </p:pic>
      <p:sp>
        <p:nvSpPr>
          <p:cNvPr id="641" name="Google Shape;641;p23"/>
          <p:cNvSpPr/>
          <p:nvPr/>
        </p:nvSpPr>
        <p:spPr>
          <a:xfrm>
            <a:off x="7424395" y="3931954"/>
            <a:ext cx="1532519" cy="58477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200"/>
              <a:buFont typeface="Times New Roman"/>
              <a:buNone/>
            </a:pPr>
            <a:r>
              <a:rPr b="0" i="1" lang="en-GB" sz="3200" u="none" cap="none" strike="noStrike">
                <a:solidFill>
                  <a:srgbClr val="002060"/>
                </a:solidFill>
                <a:latin typeface="Times New Roman"/>
                <a:ea typeface="Times New Roman"/>
                <a:cs typeface="Times New Roman"/>
                <a:sym typeface="Times New Roman"/>
              </a:rPr>
              <a:t>e</a:t>
            </a:r>
            <a:r>
              <a:rPr b="0" baseline="30000" i="1" lang="en-GB" sz="3200" u="none" cap="none" strike="noStrike">
                <a:solidFill>
                  <a:srgbClr val="002060"/>
                </a:solidFill>
                <a:latin typeface="Times New Roman"/>
                <a:ea typeface="Times New Roman"/>
                <a:cs typeface="Times New Roman"/>
                <a:sym typeface="Times New Roman"/>
              </a:rPr>
              <a:t>-a</a:t>
            </a:r>
            <a:r>
              <a:rPr b="0" i="1" lang="en-GB" sz="3200" u="none" cap="none" strike="noStrike">
                <a:solidFill>
                  <a:srgbClr val="002060"/>
                </a:solidFill>
                <a:latin typeface="Times New Roman"/>
                <a:ea typeface="Times New Roman"/>
                <a:cs typeface="Times New Roman"/>
                <a:sym typeface="Times New Roman"/>
              </a:rPr>
              <a:t>-e</a:t>
            </a:r>
            <a:r>
              <a:rPr b="0" baseline="30000" i="1" lang="en-GB" sz="3200" u="none" cap="none" strike="noStrike">
                <a:solidFill>
                  <a:srgbClr val="002060"/>
                </a:solidFill>
                <a:latin typeface="Times New Roman"/>
                <a:ea typeface="Times New Roman"/>
                <a:cs typeface="Times New Roman"/>
                <a:sym typeface="Times New Roman"/>
              </a:rPr>
              <a:t>-bt</a:t>
            </a:r>
            <a:r>
              <a:rPr b="0" i="0" lang="en-GB" sz="3200" u="none" cap="none" strike="noStrike">
                <a:solidFill>
                  <a:srgbClr val="002060"/>
                </a:solidFill>
                <a:latin typeface="Times New Roman"/>
                <a:ea typeface="Times New Roman"/>
                <a:cs typeface="Times New Roman"/>
                <a:sym typeface="Times New Roman"/>
              </a:rPr>
              <a:t> </a:t>
            </a:r>
            <a:endParaRPr b="0" i="0" sz="3200" u="none" cap="none" strike="noStrike">
              <a:solidFill>
                <a:schemeClr val="dk1"/>
              </a:solidFill>
              <a:latin typeface="Times New Roman"/>
              <a:ea typeface="Times New Roman"/>
              <a:cs typeface="Times New Roman"/>
              <a:sym typeface="Times New Roman"/>
            </a:endParaRPr>
          </a:p>
        </p:txBody>
      </p:sp>
      <p:pic>
        <p:nvPicPr>
          <p:cNvPr id="642" name="Google Shape;642;p23"/>
          <p:cNvPicPr preferRelativeResize="0"/>
          <p:nvPr/>
        </p:nvPicPr>
        <p:blipFill rotWithShape="1">
          <a:blip r:embed="rId6">
            <a:alphaModFix/>
          </a:blip>
          <a:srcRect b="0" l="0" r="0" t="0"/>
          <a:stretch/>
        </p:blipFill>
        <p:spPr>
          <a:xfrm>
            <a:off x="8936409" y="4117992"/>
            <a:ext cx="2057400" cy="1009650"/>
          </a:xfrm>
          <a:prstGeom prst="rect">
            <a:avLst/>
          </a:prstGeom>
          <a:noFill/>
          <a:ln>
            <a:noFill/>
          </a:ln>
        </p:spPr>
      </p:pic>
      <p:sp>
        <p:nvSpPr>
          <p:cNvPr id="643" name="Google Shape;643;p23"/>
          <p:cNvSpPr/>
          <p:nvPr/>
        </p:nvSpPr>
        <p:spPr>
          <a:xfrm>
            <a:off x="5644697" y="5003902"/>
            <a:ext cx="277351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2060"/>
                </a:solidFill>
                <a:latin typeface="Arial"/>
                <a:ea typeface="Arial"/>
                <a:cs typeface="Arial"/>
                <a:sym typeface="Arial"/>
              </a:rPr>
              <a:t>double exponential</a:t>
            </a:r>
            <a:endParaRPr sz="2400">
              <a:solidFill>
                <a:schemeClr val="dk1"/>
              </a:solidFill>
              <a:latin typeface="Calibri"/>
              <a:ea typeface="Calibri"/>
              <a:cs typeface="Calibri"/>
              <a:sym typeface="Calibri"/>
            </a:endParaRPr>
          </a:p>
        </p:txBody>
      </p:sp>
      <p:sp>
        <p:nvSpPr>
          <p:cNvPr id="644" name="Google Shape;644;p23"/>
          <p:cNvSpPr/>
          <p:nvPr/>
        </p:nvSpPr>
        <p:spPr>
          <a:xfrm>
            <a:off x="5870673" y="2025055"/>
            <a:ext cx="241123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2060"/>
                </a:solidFill>
                <a:latin typeface="Times New Roman"/>
                <a:ea typeface="Times New Roman"/>
                <a:cs typeface="Times New Roman"/>
                <a:sym typeface="Times New Roman"/>
              </a:rPr>
              <a:t>exponential decay</a:t>
            </a:r>
            <a:endParaRPr sz="2400">
              <a:solidFill>
                <a:schemeClr val="dk1"/>
              </a:solidFill>
              <a:latin typeface="Calibri"/>
              <a:ea typeface="Calibri"/>
              <a:cs typeface="Calibri"/>
              <a:sym typeface="Calibri"/>
            </a:endParaRPr>
          </a:p>
        </p:txBody>
      </p:sp>
      <p:sp>
        <p:nvSpPr>
          <p:cNvPr id="645" name="Google Shape;645;p23"/>
          <p:cNvSpPr/>
          <p:nvPr/>
        </p:nvSpPr>
        <p:spPr>
          <a:xfrm>
            <a:off x="6664632" y="1115345"/>
            <a:ext cx="91242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GB" sz="4800">
                <a:solidFill>
                  <a:srgbClr val="002060"/>
                </a:solidFill>
                <a:latin typeface="Times New Roman"/>
                <a:ea typeface="Times New Roman"/>
                <a:cs typeface="Times New Roman"/>
                <a:sym typeface="Times New Roman"/>
              </a:rPr>
              <a:t>e</a:t>
            </a:r>
            <a:r>
              <a:rPr baseline="30000" i="1" lang="en-GB" sz="4800">
                <a:solidFill>
                  <a:srgbClr val="002060"/>
                </a:solidFill>
                <a:latin typeface="Times New Roman"/>
                <a:ea typeface="Times New Roman"/>
                <a:cs typeface="Times New Roman"/>
                <a:sym typeface="Times New Roman"/>
              </a:rPr>
              <a:t>-at</a:t>
            </a:r>
            <a:endParaRPr sz="1800">
              <a:solidFill>
                <a:schemeClr val="dk1"/>
              </a:solidFill>
              <a:latin typeface="Calibri"/>
              <a:ea typeface="Calibri"/>
              <a:cs typeface="Calibri"/>
              <a:sym typeface="Calibri"/>
            </a:endParaRPr>
          </a:p>
        </p:txBody>
      </p:sp>
      <p:sp>
        <p:nvSpPr>
          <p:cNvPr id="646" name="Google Shape;646;p23"/>
          <p:cNvSpPr/>
          <p:nvPr/>
        </p:nvSpPr>
        <p:spPr>
          <a:xfrm>
            <a:off x="5910840" y="3468643"/>
            <a:ext cx="237757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2060"/>
                </a:solidFill>
                <a:latin typeface="Arial"/>
                <a:ea typeface="Arial"/>
                <a:cs typeface="Arial"/>
                <a:sym typeface="Arial"/>
              </a:rPr>
              <a:t>exponential rise</a:t>
            </a:r>
            <a:endParaRPr sz="2400">
              <a:solidFill>
                <a:schemeClr val="dk1"/>
              </a:solidFill>
              <a:latin typeface="Calibri"/>
              <a:ea typeface="Calibri"/>
              <a:cs typeface="Calibri"/>
              <a:sym typeface="Calibri"/>
            </a:endParaRPr>
          </a:p>
        </p:txBody>
      </p:sp>
      <p:sp>
        <p:nvSpPr>
          <p:cNvPr id="647" name="Google Shape;647;p23"/>
          <p:cNvSpPr/>
          <p:nvPr/>
        </p:nvSpPr>
        <p:spPr>
          <a:xfrm>
            <a:off x="9677580" y="1170832"/>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648" name="Google Shape;648;p23"/>
          <p:cNvPicPr preferRelativeResize="0"/>
          <p:nvPr/>
        </p:nvPicPr>
        <p:blipFill rotWithShape="1">
          <a:blip r:embed="rId7">
            <a:alphaModFix/>
          </a:blip>
          <a:srcRect b="0" l="0" r="0" t="0"/>
          <a:stretch/>
        </p:blipFill>
        <p:spPr>
          <a:xfrm>
            <a:off x="9677580" y="1170832"/>
            <a:ext cx="933450" cy="990600"/>
          </a:xfrm>
          <a:prstGeom prst="rect">
            <a:avLst/>
          </a:prstGeom>
          <a:noFill/>
          <a:ln>
            <a:noFill/>
          </a:ln>
        </p:spPr>
      </p:pic>
      <p:sp>
        <p:nvSpPr>
          <p:cNvPr id="649" name="Google Shape;649;p23"/>
          <p:cNvSpPr/>
          <p:nvPr/>
        </p:nvSpPr>
        <p:spPr>
          <a:xfrm>
            <a:off x="14845034" y="11731690"/>
            <a:ext cx="989373"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GB" sz="3200">
                <a:solidFill>
                  <a:srgbClr val="002060"/>
                </a:solidFill>
                <a:latin typeface="Times New Roman"/>
                <a:ea typeface="Times New Roman"/>
                <a:cs typeface="Times New Roman"/>
                <a:sym typeface="Times New Roman"/>
              </a:rPr>
              <a:t>t .e</a:t>
            </a:r>
            <a:r>
              <a:rPr baseline="30000" i="1" lang="en-GB" sz="3200">
                <a:solidFill>
                  <a:srgbClr val="002060"/>
                </a:solidFill>
                <a:latin typeface="Times New Roman"/>
                <a:ea typeface="Times New Roman"/>
                <a:cs typeface="Times New Roman"/>
                <a:sym typeface="Times New Roman"/>
              </a:rPr>
              <a:t>-at</a:t>
            </a:r>
            <a:endParaRPr sz="3200">
              <a:solidFill>
                <a:schemeClr val="dk1"/>
              </a:solidFill>
              <a:latin typeface="Calibri"/>
              <a:ea typeface="Calibri"/>
              <a:cs typeface="Calibri"/>
              <a:sym typeface="Calibri"/>
            </a:endParaRPr>
          </a:p>
        </p:txBody>
      </p:sp>
      <p:pic>
        <p:nvPicPr>
          <p:cNvPr id="650" name="Google Shape;650;p23"/>
          <p:cNvPicPr preferRelativeResize="0"/>
          <p:nvPr/>
        </p:nvPicPr>
        <p:blipFill rotWithShape="1">
          <a:blip r:embed="rId8">
            <a:alphaModFix/>
          </a:blip>
          <a:srcRect b="0" l="0" r="0" t="0"/>
          <a:stretch/>
        </p:blipFill>
        <p:spPr>
          <a:xfrm>
            <a:off x="8651770" y="5465567"/>
            <a:ext cx="1409700" cy="11239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24"/>
          <p:cNvSpPr txBox="1"/>
          <p:nvPr>
            <p:ph type="title"/>
          </p:nvPr>
        </p:nvSpPr>
        <p:spPr>
          <a:xfrm>
            <a:off x="429715" y="457199"/>
            <a:ext cx="10924085" cy="5517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Times New Roman"/>
              <a:buNone/>
            </a:pPr>
            <a:r>
              <a:rPr lang="en-GB"/>
              <a:t>Laplace Transform of Sinusoids</a:t>
            </a:r>
            <a:endParaRPr/>
          </a:p>
        </p:txBody>
      </p:sp>
      <p:pic>
        <p:nvPicPr>
          <p:cNvPr id="656" name="Google Shape;656;p24"/>
          <p:cNvPicPr preferRelativeResize="0"/>
          <p:nvPr/>
        </p:nvPicPr>
        <p:blipFill rotWithShape="1">
          <a:blip r:embed="rId3">
            <a:alphaModFix/>
          </a:blip>
          <a:srcRect b="0" l="0" r="0" t="0"/>
          <a:stretch/>
        </p:blipFill>
        <p:spPr>
          <a:xfrm>
            <a:off x="5189759" y="1446642"/>
            <a:ext cx="1352550" cy="1085850"/>
          </a:xfrm>
          <a:prstGeom prst="rect">
            <a:avLst/>
          </a:prstGeom>
          <a:noFill/>
          <a:ln>
            <a:noFill/>
          </a:ln>
        </p:spPr>
      </p:pic>
      <p:pic>
        <p:nvPicPr>
          <p:cNvPr id="657" name="Google Shape;657;p24"/>
          <p:cNvPicPr preferRelativeResize="0"/>
          <p:nvPr/>
        </p:nvPicPr>
        <p:blipFill rotWithShape="1">
          <a:blip r:embed="rId4">
            <a:alphaModFix/>
          </a:blip>
          <a:srcRect b="0" l="0" r="0" t="0"/>
          <a:stretch/>
        </p:blipFill>
        <p:spPr>
          <a:xfrm>
            <a:off x="6313821" y="5455179"/>
            <a:ext cx="2432229" cy="1045631"/>
          </a:xfrm>
          <a:prstGeom prst="rect">
            <a:avLst/>
          </a:prstGeom>
          <a:noFill/>
          <a:ln>
            <a:noFill/>
          </a:ln>
        </p:spPr>
      </p:pic>
      <p:pic>
        <p:nvPicPr>
          <p:cNvPr id="658" name="Google Shape;658;p24"/>
          <p:cNvPicPr preferRelativeResize="0"/>
          <p:nvPr/>
        </p:nvPicPr>
        <p:blipFill rotWithShape="1">
          <a:blip r:embed="rId5">
            <a:alphaModFix/>
          </a:blip>
          <a:srcRect b="0" l="0" r="0" t="0"/>
          <a:stretch/>
        </p:blipFill>
        <p:spPr>
          <a:xfrm>
            <a:off x="5232502" y="3164984"/>
            <a:ext cx="1333500" cy="971550"/>
          </a:xfrm>
          <a:prstGeom prst="rect">
            <a:avLst/>
          </a:prstGeom>
          <a:noFill/>
          <a:ln>
            <a:noFill/>
          </a:ln>
        </p:spPr>
      </p:pic>
      <p:grpSp>
        <p:nvGrpSpPr>
          <p:cNvPr id="659" name="Google Shape;659;p24"/>
          <p:cNvGrpSpPr/>
          <p:nvPr/>
        </p:nvGrpSpPr>
        <p:grpSpPr>
          <a:xfrm>
            <a:off x="159434" y="569007"/>
            <a:ext cx="3803650" cy="2101215"/>
            <a:chOff x="288" y="453"/>
            <a:chExt cx="2400" cy="1326"/>
          </a:xfrm>
        </p:grpSpPr>
        <p:grpSp>
          <p:nvGrpSpPr>
            <p:cNvPr id="660" name="Google Shape;660;p24"/>
            <p:cNvGrpSpPr/>
            <p:nvPr/>
          </p:nvGrpSpPr>
          <p:grpSpPr>
            <a:xfrm>
              <a:off x="288" y="453"/>
              <a:ext cx="2400" cy="1035"/>
              <a:chOff x="1418" y="7373"/>
              <a:chExt cx="2400" cy="1035"/>
            </a:xfrm>
          </p:grpSpPr>
          <p:cxnSp>
            <p:nvCxnSpPr>
              <p:cNvPr id="661" name="Google Shape;661;p24"/>
              <p:cNvCxnSpPr/>
              <p:nvPr/>
            </p:nvCxnSpPr>
            <p:spPr>
              <a:xfrm>
                <a:off x="1658" y="7373"/>
                <a:ext cx="0" cy="900"/>
              </a:xfrm>
              <a:prstGeom prst="straightConnector1">
                <a:avLst/>
              </a:prstGeom>
              <a:noFill/>
              <a:ln cap="flat" cmpd="sng" w="31750">
                <a:solidFill>
                  <a:srgbClr val="666699"/>
                </a:solidFill>
                <a:prstDash val="solid"/>
                <a:round/>
                <a:headEnd len="sm" w="sm" type="stealth"/>
                <a:tailEnd len="med" w="med" type="none"/>
              </a:ln>
            </p:spPr>
          </p:cxnSp>
          <p:cxnSp>
            <p:nvCxnSpPr>
              <p:cNvPr id="662" name="Google Shape;662;p24"/>
              <p:cNvCxnSpPr/>
              <p:nvPr/>
            </p:nvCxnSpPr>
            <p:spPr>
              <a:xfrm>
                <a:off x="1418" y="8093"/>
                <a:ext cx="2400" cy="0"/>
              </a:xfrm>
              <a:prstGeom prst="straightConnector1">
                <a:avLst/>
              </a:prstGeom>
              <a:noFill/>
              <a:ln cap="flat" cmpd="sng" w="31750">
                <a:solidFill>
                  <a:srgbClr val="666699"/>
                </a:solidFill>
                <a:prstDash val="solid"/>
                <a:round/>
                <a:headEnd len="med" w="med" type="none"/>
                <a:tailEnd len="sm" w="sm" type="stealth"/>
              </a:ln>
            </p:spPr>
          </p:cxnSp>
          <p:sp>
            <p:nvSpPr>
              <p:cNvPr id="663" name="Google Shape;663;p24"/>
              <p:cNvSpPr txBox="1"/>
              <p:nvPr/>
            </p:nvSpPr>
            <p:spPr>
              <a:xfrm>
                <a:off x="1448" y="804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0</a:t>
                </a:r>
                <a:endParaRPr sz="1200">
                  <a:solidFill>
                    <a:schemeClr val="dk1"/>
                  </a:solidFill>
                  <a:latin typeface="Times New Roman"/>
                  <a:ea typeface="Times New Roman"/>
                  <a:cs typeface="Times New Roman"/>
                  <a:sym typeface="Times New Roman"/>
                </a:endParaRPr>
              </a:p>
            </p:txBody>
          </p:sp>
          <p:sp>
            <p:nvSpPr>
              <p:cNvPr id="664" name="Google Shape;664;p24"/>
              <p:cNvSpPr txBox="1"/>
              <p:nvPr/>
            </p:nvSpPr>
            <p:spPr>
              <a:xfrm>
                <a:off x="3458" y="804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 t</a:t>
                </a:r>
                <a:endParaRPr sz="1200">
                  <a:solidFill>
                    <a:schemeClr val="dk1"/>
                  </a:solidFill>
                  <a:latin typeface="Times New Roman"/>
                  <a:ea typeface="Times New Roman"/>
                  <a:cs typeface="Times New Roman"/>
                  <a:sym typeface="Times New Roman"/>
                </a:endParaRPr>
              </a:p>
            </p:txBody>
          </p:sp>
          <p:cxnSp>
            <p:nvCxnSpPr>
              <p:cNvPr id="665" name="Google Shape;665;p24"/>
              <p:cNvCxnSpPr/>
              <p:nvPr/>
            </p:nvCxnSpPr>
            <p:spPr>
              <a:xfrm rot="10800000">
                <a:off x="1418" y="8078"/>
                <a:ext cx="240" cy="0"/>
              </a:xfrm>
              <a:prstGeom prst="straightConnector1">
                <a:avLst/>
              </a:prstGeom>
              <a:noFill/>
              <a:ln cap="flat" cmpd="sng" w="38100">
                <a:solidFill>
                  <a:srgbClr val="C00000"/>
                </a:solidFill>
                <a:prstDash val="solid"/>
                <a:round/>
                <a:headEnd len="med" w="med" type="none"/>
                <a:tailEnd len="med" w="med" type="none"/>
              </a:ln>
            </p:spPr>
          </p:cxnSp>
        </p:grpSp>
        <p:grpSp>
          <p:nvGrpSpPr>
            <p:cNvPr id="666" name="Google Shape;666;p24"/>
            <p:cNvGrpSpPr/>
            <p:nvPr/>
          </p:nvGrpSpPr>
          <p:grpSpPr>
            <a:xfrm>
              <a:off x="528" y="729"/>
              <a:ext cx="1800" cy="1050"/>
              <a:chOff x="1658" y="14228"/>
              <a:chExt cx="2160" cy="1050"/>
            </a:xfrm>
          </p:grpSpPr>
          <p:sp>
            <p:nvSpPr>
              <p:cNvPr id="667" name="Google Shape;667;p24"/>
              <p:cNvSpPr/>
              <p:nvPr/>
            </p:nvSpPr>
            <p:spPr>
              <a:xfrm>
                <a:off x="1658" y="14228"/>
                <a:ext cx="720" cy="540"/>
              </a:xfrm>
              <a:custGeom>
                <a:rect b="b" l="l" r="r" t="t"/>
                <a:pathLst>
                  <a:path extrusionOk="0" fill="none" h="21600" w="43200">
                    <a:moveTo>
                      <a:pt x="0" y="21477"/>
                    </a:moveTo>
                    <a:cubicBezTo>
                      <a:pt x="68" y="9595"/>
                      <a:pt x="9718" y="0"/>
                      <a:pt x="21600" y="0"/>
                    </a:cubicBezTo>
                    <a:cubicBezTo>
                      <a:pt x="33529" y="0"/>
                      <a:pt x="43200" y="9670"/>
                      <a:pt x="43200" y="21600"/>
                    </a:cubicBezTo>
                  </a:path>
                  <a:path extrusionOk="0" h="21600" w="43200">
                    <a:moveTo>
                      <a:pt x="0" y="21477"/>
                    </a:moveTo>
                    <a:cubicBezTo>
                      <a:pt x="68" y="9595"/>
                      <a:pt x="9718" y="0"/>
                      <a:pt x="21600" y="0"/>
                    </a:cubicBezTo>
                    <a:cubicBezTo>
                      <a:pt x="33529" y="0"/>
                      <a:pt x="43200" y="9670"/>
                      <a:pt x="43200" y="21600"/>
                    </a:cubicBezTo>
                    <a:lnTo>
                      <a:pt x="21600" y="21600"/>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 name="Google Shape;668;p24"/>
              <p:cNvSpPr/>
              <p:nvPr/>
            </p:nvSpPr>
            <p:spPr>
              <a:xfrm flipH="1" rot="10800000">
                <a:off x="2378" y="14738"/>
                <a:ext cx="720" cy="540"/>
              </a:xfrm>
              <a:custGeom>
                <a:rect b="b" l="l" r="r" t="t"/>
                <a:pathLst>
                  <a:path extrusionOk="0" fill="none" h="21600" w="43200">
                    <a:moveTo>
                      <a:pt x="0" y="21477"/>
                    </a:moveTo>
                    <a:cubicBezTo>
                      <a:pt x="68" y="9595"/>
                      <a:pt x="9718" y="0"/>
                      <a:pt x="21600" y="0"/>
                    </a:cubicBezTo>
                    <a:cubicBezTo>
                      <a:pt x="33529" y="0"/>
                      <a:pt x="43200" y="9670"/>
                      <a:pt x="43200" y="21600"/>
                    </a:cubicBezTo>
                  </a:path>
                  <a:path extrusionOk="0" h="21600" w="43200">
                    <a:moveTo>
                      <a:pt x="0" y="21477"/>
                    </a:moveTo>
                    <a:cubicBezTo>
                      <a:pt x="68" y="9595"/>
                      <a:pt x="9718" y="0"/>
                      <a:pt x="21600" y="0"/>
                    </a:cubicBezTo>
                    <a:cubicBezTo>
                      <a:pt x="33529" y="0"/>
                      <a:pt x="43200" y="9670"/>
                      <a:pt x="43200" y="21600"/>
                    </a:cubicBezTo>
                    <a:lnTo>
                      <a:pt x="21600" y="21600"/>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9" name="Google Shape;669;p24"/>
              <p:cNvSpPr/>
              <p:nvPr/>
            </p:nvSpPr>
            <p:spPr>
              <a:xfrm>
                <a:off x="3098" y="14228"/>
                <a:ext cx="720" cy="540"/>
              </a:xfrm>
              <a:custGeom>
                <a:rect b="b" l="l" r="r" t="t"/>
                <a:pathLst>
                  <a:path extrusionOk="0" fill="none" h="21600" w="43200">
                    <a:moveTo>
                      <a:pt x="0" y="21477"/>
                    </a:moveTo>
                    <a:cubicBezTo>
                      <a:pt x="68" y="9595"/>
                      <a:pt x="9718" y="0"/>
                      <a:pt x="21600" y="0"/>
                    </a:cubicBezTo>
                    <a:cubicBezTo>
                      <a:pt x="33529" y="0"/>
                      <a:pt x="43200" y="9670"/>
                      <a:pt x="43200" y="21600"/>
                    </a:cubicBezTo>
                  </a:path>
                  <a:path extrusionOk="0" h="21600" w="43200">
                    <a:moveTo>
                      <a:pt x="0" y="21477"/>
                    </a:moveTo>
                    <a:cubicBezTo>
                      <a:pt x="68" y="9595"/>
                      <a:pt x="9718" y="0"/>
                      <a:pt x="21600" y="0"/>
                    </a:cubicBezTo>
                    <a:cubicBezTo>
                      <a:pt x="33529" y="0"/>
                      <a:pt x="43200" y="9670"/>
                      <a:pt x="43200" y="21600"/>
                    </a:cubicBezTo>
                    <a:lnTo>
                      <a:pt x="21600" y="21600"/>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grpSp>
        <p:nvGrpSpPr>
          <p:cNvPr id="670" name="Google Shape;670;p24"/>
          <p:cNvGrpSpPr/>
          <p:nvPr/>
        </p:nvGrpSpPr>
        <p:grpSpPr>
          <a:xfrm>
            <a:off x="174262" y="4574627"/>
            <a:ext cx="3813175" cy="1972945"/>
            <a:chOff x="288" y="4635"/>
            <a:chExt cx="2400" cy="1242"/>
          </a:xfrm>
        </p:grpSpPr>
        <p:grpSp>
          <p:nvGrpSpPr>
            <p:cNvPr id="671" name="Google Shape;671;p24"/>
            <p:cNvGrpSpPr/>
            <p:nvPr/>
          </p:nvGrpSpPr>
          <p:grpSpPr>
            <a:xfrm>
              <a:off x="288" y="4635"/>
              <a:ext cx="2400" cy="1035"/>
              <a:chOff x="1418" y="7373"/>
              <a:chExt cx="2400" cy="1035"/>
            </a:xfrm>
          </p:grpSpPr>
          <p:cxnSp>
            <p:nvCxnSpPr>
              <p:cNvPr id="672" name="Google Shape;672;p24"/>
              <p:cNvCxnSpPr/>
              <p:nvPr/>
            </p:nvCxnSpPr>
            <p:spPr>
              <a:xfrm>
                <a:off x="1658" y="7373"/>
                <a:ext cx="0" cy="900"/>
              </a:xfrm>
              <a:prstGeom prst="straightConnector1">
                <a:avLst/>
              </a:prstGeom>
              <a:noFill/>
              <a:ln cap="flat" cmpd="sng" w="31750">
                <a:solidFill>
                  <a:srgbClr val="666699"/>
                </a:solidFill>
                <a:prstDash val="solid"/>
                <a:round/>
                <a:headEnd len="sm" w="sm" type="stealth"/>
                <a:tailEnd len="med" w="med" type="none"/>
              </a:ln>
            </p:spPr>
          </p:cxnSp>
          <p:cxnSp>
            <p:nvCxnSpPr>
              <p:cNvPr id="673" name="Google Shape;673;p24"/>
              <p:cNvCxnSpPr/>
              <p:nvPr/>
            </p:nvCxnSpPr>
            <p:spPr>
              <a:xfrm>
                <a:off x="1418" y="8093"/>
                <a:ext cx="2400" cy="0"/>
              </a:xfrm>
              <a:prstGeom prst="straightConnector1">
                <a:avLst/>
              </a:prstGeom>
              <a:noFill/>
              <a:ln cap="flat" cmpd="sng" w="31750">
                <a:solidFill>
                  <a:srgbClr val="666699"/>
                </a:solidFill>
                <a:prstDash val="solid"/>
                <a:round/>
                <a:headEnd len="med" w="med" type="none"/>
                <a:tailEnd len="sm" w="sm" type="stealth"/>
              </a:ln>
            </p:spPr>
          </p:cxnSp>
          <p:sp>
            <p:nvSpPr>
              <p:cNvPr id="674" name="Google Shape;674;p24"/>
              <p:cNvSpPr txBox="1"/>
              <p:nvPr/>
            </p:nvSpPr>
            <p:spPr>
              <a:xfrm>
                <a:off x="1448" y="804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0</a:t>
                </a:r>
                <a:endParaRPr sz="1200">
                  <a:solidFill>
                    <a:schemeClr val="dk1"/>
                  </a:solidFill>
                  <a:latin typeface="Times New Roman"/>
                  <a:ea typeface="Times New Roman"/>
                  <a:cs typeface="Times New Roman"/>
                  <a:sym typeface="Times New Roman"/>
                </a:endParaRPr>
              </a:p>
            </p:txBody>
          </p:sp>
          <p:sp>
            <p:nvSpPr>
              <p:cNvPr id="675" name="Google Shape;675;p24"/>
              <p:cNvSpPr txBox="1"/>
              <p:nvPr/>
            </p:nvSpPr>
            <p:spPr>
              <a:xfrm>
                <a:off x="3458" y="804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 t</a:t>
                </a:r>
                <a:endParaRPr sz="1200">
                  <a:solidFill>
                    <a:schemeClr val="dk1"/>
                  </a:solidFill>
                  <a:latin typeface="Times New Roman"/>
                  <a:ea typeface="Times New Roman"/>
                  <a:cs typeface="Times New Roman"/>
                  <a:sym typeface="Times New Roman"/>
                </a:endParaRPr>
              </a:p>
            </p:txBody>
          </p:sp>
          <p:cxnSp>
            <p:nvCxnSpPr>
              <p:cNvPr id="676" name="Google Shape;676;p24"/>
              <p:cNvCxnSpPr/>
              <p:nvPr/>
            </p:nvCxnSpPr>
            <p:spPr>
              <a:xfrm rot="10800000">
                <a:off x="1418" y="8078"/>
                <a:ext cx="240" cy="0"/>
              </a:xfrm>
              <a:prstGeom prst="straightConnector1">
                <a:avLst/>
              </a:prstGeom>
              <a:noFill/>
              <a:ln cap="flat" cmpd="sng" w="38100">
                <a:solidFill>
                  <a:srgbClr val="C00000"/>
                </a:solidFill>
                <a:prstDash val="solid"/>
                <a:round/>
                <a:headEnd len="med" w="med" type="none"/>
                <a:tailEnd len="med" w="med" type="none"/>
              </a:ln>
            </p:spPr>
          </p:cxnSp>
        </p:grpSp>
        <p:grpSp>
          <p:nvGrpSpPr>
            <p:cNvPr id="677" name="Google Shape;677;p24"/>
            <p:cNvGrpSpPr/>
            <p:nvPr/>
          </p:nvGrpSpPr>
          <p:grpSpPr>
            <a:xfrm>
              <a:off x="528" y="4827"/>
              <a:ext cx="1707" cy="1050"/>
              <a:chOff x="1658" y="2024"/>
              <a:chExt cx="1707" cy="1050"/>
            </a:xfrm>
          </p:grpSpPr>
          <p:sp>
            <p:nvSpPr>
              <p:cNvPr id="678" name="Google Shape;678;p24"/>
              <p:cNvSpPr/>
              <p:nvPr/>
            </p:nvSpPr>
            <p:spPr>
              <a:xfrm>
                <a:off x="1658" y="2025"/>
                <a:ext cx="507" cy="540"/>
              </a:xfrm>
              <a:custGeom>
                <a:rect b="b" l="l" r="r" t="t"/>
                <a:pathLst>
                  <a:path extrusionOk="0" fill="none" h="21600" w="36538">
                    <a:moveTo>
                      <a:pt x="0" y="5998"/>
                    </a:moveTo>
                    <a:cubicBezTo>
                      <a:pt x="4020" y="2148"/>
                      <a:pt x="9371" y="0"/>
                      <a:pt x="14938" y="0"/>
                    </a:cubicBezTo>
                    <a:cubicBezTo>
                      <a:pt x="26867" y="0"/>
                      <a:pt x="36538" y="9670"/>
                      <a:pt x="36538" y="21600"/>
                    </a:cubicBezTo>
                  </a:path>
                  <a:path extrusionOk="0" h="21600" w="36538">
                    <a:moveTo>
                      <a:pt x="0" y="5998"/>
                    </a:moveTo>
                    <a:cubicBezTo>
                      <a:pt x="4020" y="2148"/>
                      <a:pt x="9371" y="0"/>
                      <a:pt x="14938" y="0"/>
                    </a:cubicBezTo>
                    <a:cubicBezTo>
                      <a:pt x="26867" y="0"/>
                      <a:pt x="36538" y="9670"/>
                      <a:pt x="36538" y="21600"/>
                    </a:cubicBezTo>
                    <a:lnTo>
                      <a:pt x="14938" y="21600"/>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9" name="Google Shape;679;p24"/>
              <p:cNvSpPr/>
              <p:nvPr/>
            </p:nvSpPr>
            <p:spPr>
              <a:xfrm flipH="1" rot="10800000">
                <a:off x="2165" y="2534"/>
                <a:ext cx="600" cy="540"/>
              </a:xfrm>
              <a:custGeom>
                <a:rect b="b" l="l" r="r" t="t"/>
                <a:pathLst>
                  <a:path extrusionOk="0" fill="none" h="21600" w="43200">
                    <a:moveTo>
                      <a:pt x="0" y="21477"/>
                    </a:moveTo>
                    <a:cubicBezTo>
                      <a:pt x="68" y="9595"/>
                      <a:pt x="9718" y="0"/>
                      <a:pt x="21600" y="0"/>
                    </a:cubicBezTo>
                    <a:cubicBezTo>
                      <a:pt x="33529" y="0"/>
                      <a:pt x="43200" y="9670"/>
                      <a:pt x="43200" y="21600"/>
                    </a:cubicBezTo>
                  </a:path>
                  <a:path extrusionOk="0" h="21600" w="43200">
                    <a:moveTo>
                      <a:pt x="0" y="21477"/>
                    </a:moveTo>
                    <a:cubicBezTo>
                      <a:pt x="68" y="9595"/>
                      <a:pt x="9718" y="0"/>
                      <a:pt x="21600" y="0"/>
                    </a:cubicBezTo>
                    <a:cubicBezTo>
                      <a:pt x="33529" y="0"/>
                      <a:pt x="43200" y="9670"/>
                      <a:pt x="43200" y="21600"/>
                    </a:cubicBezTo>
                    <a:lnTo>
                      <a:pt x="21600" y="21600"/>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 name="Google Shape;680;p24"/>
              <p:cNvSpPr/>
              <p:nvPr/>
            </p:nvSpPr>
            <p:spPr>
              <a:xfrm>
                <a:off x="2765" y="2024"/>
                <a:ext cx="600" cy="540"/>
              </a:xfrm>
              <a:custGeom>
                <a:rect b="b" l="l" r="r" t="t"/>
                <a:pathLst>
                  <a:path extrusionOk="0" fill="none" h="21600" w="43200">
                    <a:moveTo>
                      <a:pt x="0" y="21477"/>
                    </a:moveTo>
                    <a:cubicBezTo>
                      <a:pt x="68" y="9595"/>
                      <a:pt x="9718" y="0"/>
                      <a:pt x="21600" y="0"/>
                    </a:cubicBezTo>
                    <a:cubicBezTo>
                      <a:pt x="33529" y="0"/>
                      <a:pt x="43200" y="9670"/>
                      <a:pt x="43200" y="21600"/>
                    </a:cubicBezTo>
                  </a:path>
                  <a:path extrusionOk="0" h="21600" w="43200">
                    <a:moveTo>
                      <a:pt x="0" y="21477"/>
                    </a:moveTo>
                    <a:cubicBezTo>
                      <a:pt x="68" y="9595"/>
                      <a:pt x="9718" y="0"/>
                      <a:pt x="21600" y="0"/>
                    </a:cubicBezTo>
                    <a:cubicBezTo>
                      <a:pt x="33529" y="0"/>
                      <a:pt x="43200" y="9670"/>
                      <a:pt x="43200" y="21600"/>
                    </a:cubicBezTo>
                    <a:lnTo>
                      <a:pt x="21600" y="21600"/>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681" name="Google Shape;681;p24"/>
            <p:cNvCxnSpPr/>
            <p:nvPr/>
          </p:nvCxnSpPr>
          <p:spPr>
            <a:xfrm>
              <a:off x="528" y="4992"/>
              <a:ext cx="0" cy="360"/>
            </a:xfrm>
            <a:prstGeom prst="straightConnector1">
              <a:avLst/>
            </a:prstGeom>
            <a:noFill/>
            <a:ln cap="flat" cmpd="sng" w="38100">
              <a:solidFill>
                <a:srgbClr val="C00000"/>
              </a:solidFill>
              <a:prstDash val="solid"/>
              <a:round/>
              <a:headEnd len="med" w="med" type="none"/>
              <a:tailEnd len="med" w="med" type="none"/>
            </a:ln>
          </p:spPr>
        </p:cxnSp>
      </p:grpSp>
      <p:grpSp>
        <p:nvGrpSpPr>
          <p:cNvPr id="682" name="Google Shape;682;p24"/>
          <p:cNvGrpSpPr/>
          <p:nvPr/>
        </p:nvGrpSpPr>
        <p:grpSpPr>
          <a:xfrm>
            <a:off x="175669" y="2578516"/>
            <a:ext cx="3813175" cy="2001520"/>
            <a:chOff x="1418" y="3038"/>
            <a:chExt cx="2400" cy="1260"/>
          </a:xfrm>
        </p:grpSpPr>
        <p:grpSp>
          <p:nvGrpSpPr>
            <p:cNvPr id="683" name="Google Shape;683;p24"/>
            <p:cNvGrpSpPr/>
            <p:nvPr/>
          </p:nvGrpSpPr>
          <p:grpSpPr>
            <a:xfrm>
              <a:off x="1418" y="3038"/>
              <a:ext cx="2400" cy="1035"/>
              <a:chOff x="1418" y="7373"/>
              <a:chExt cx="2400" cy="1035"/>
            </a:xfrm>
          </p:grpSpPr>
          <p:cxnSp>
            <p:nvCxnSpPr>
              <p:cNvPr id="684" name="Google Shape;684;p24"/>
              <p:cNvCxnSpPr/>
              <p:nvPr/>
            </p:nvCxnSpPr>
            <p:spPr>
              <a:xfrm>
                <a:off x="1658" y="7373"/>
                <a:ext cx="0" cy="900"/>
              </a:xfrm>
              <a:prstGeom prst="straightConnector1">
                <a:avLst/>
              </a:prstGeom>
              <a:noFill/>
              <a:ln cap="flat" cmpd="sng" w="31750">
                <a:solidFill>
                  <a:srgbClr val="666699"/>
                </a:solidFill>
                <a:prstDash val="solid"/>
                <a:round/>
                <a:headEnd len="sm" w="sm" type="stealth"/>
                <a:tailEnd len="med" w="med" type="none"/>
              </a:ln>
            </p:spPr>
          </p:cxnSp>
          <p:cxnSp>
            <p:nvCxnSpPr>
              <p:cNvPr id="685" name="Google Shape;685;p24"/>
              <p:cNvCxnSpPr/>
              <p:nvPr/>
            </p:nvCxnSpPr>
            <p:spPr>
              <a:xfrm>
                <a:off x="1418" y="8093"/>
                <a:ext cx="2400" cy="0"/>
              </a:xfrm>
              <a:prstGeom prst="straightConnector1">
                <a:avLst/>
              </a:prstGeom>
              <a:noFill/>
              <a:ln cap="flat" cmpd="sng" w="31750">
                <a:solidFill>
                  <a:srgbClr val="666699"/>
                </a:solidFill>
                <a:prstDash val="solid"/>
                <a:round/>
                <a:headEnd len="med" w="med" type="none"/>
                <a:tailEnd len="sm" w="sm" type="stealth"/>
              </a:ln>
            </p:spPr>
          </p:cxnSp>
          <p:sp>
            <p:nvSpPr>
              <p:cNvPr id="686" name="Google Shape;686;p24"/>
              <p:cNvSpPr txBox="1"/>
              <p:nvPr/>
            </p:nvSpPr>
            <p:spPr>
              <a:xfrm>
                <a:off x="1448" y="804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0</a:t>
                </a:r>
                <a:endParaRPr sz="1200">
                  <a:solidFill>
                    <a:schemeClr val="dk1"/>
                  </a:solidFill>
                  <a:latin typeface="Times New Roman"/>
                  <a:ea typeface="Times New Roman"/>
                  <a:cs typeface="Times New Roman"/>
                  <a:sym typeface="Times New Roman"/>
                </a:endParaRPr>
              </a:p>
            </p:txBody>
          </p:sp>
          <p:sp>
            <p:nvSpPr>
              <p:cNvPr id="687" name="Google Shape;687;p24"/>
              <p:cNvSpPr txBox="1"/>
              <p:nvPr/>
            </p:nvSpPr>
            <p:spPr>
              <a:xfrm>
                <a:off x="3458" y="804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 t</a:t>
                </a:r>
                <a:endParaRPr sz="1200">
                  <a:solidFill>
                    <a:schemeClr val="dk1"/>
                  </a:solidFill>
                  <a:latin typeface="Times New Roman"/>
                  <a:ea typeface="Times New Roman"/>
                  <a:cs typeface="Times New Roman"/>
                  <a:sym typeface="Times New Roman"/>
                </a:endParaRPr>
              </a:p>
            </p:txBody>
          </p:sp>
          <p:cxnSp>
            <p:nvCxnSpPr>
              <p:cNvPr id="688" name="Google Shape;688;p24"/>
              <p:cNvCxnSpPr/>
              <p:nvPr/>
            </p:nvCxnSpPr>
            <p:spPr>
              <a:xfrm rot="10800000">
                <a:off x="1418" y="8078"/>
                <a:ext cx="240" cy="0"/>
              </a:xfrm>
              <a:prstGeom prst="straightConnector1">
                <a:avLst/>
              </a:prstGeom>
              <a:noFill/>
              <a:ln cap="flat" cmpd="sng" w="38100">
                <a:solidFill>
                  <a:srgbClr val="C00000"/>
                </a:solidFill>
                <a:prstDash val="solid"/>
                <a:round/>
                <a:headEnd len="med" w="med" type="none"/>
                <a:tailEnd len="med" w="med" type="none"/>
              </a:ln>
            </p:spPr>
          </p:cxnSp>
        </p:grpSp>
        <p:cxnSp>
          <p:nvCxnSpPr>
            <p:cNvPr id="689" name="Google Shape;689;p24"/>
            <p:cNvCxnSpPr/>
            <p:nvPr/>
          </p:nvCxnSpPr>
          <p:spPr>
            <a:xfrm>
              <a:off x="1658" y="3270"/>
              <a:ext cx="0" cy="488"/>
            </a:xfrm>
            <a:prstGeom prst="straightConnector1">
              <a:avLst/>
            </a:prstGeom>
            <a:noFill/>
            <a:ln cap="flat" cmpd="sng" w="38100">
              <a:solidFill>
                <a:srgbClr val="C00000"/>
              </a:solidFill>
              <a:prstDash val="solid"/>
              <a:round/>
              <a:headEnd len="med" w="med" type="none"/>
              <a:tailEnd len="med" w="med" type="none"/>
            </a:ln>
          </p:spPr>
        </p:cxnSp>
        <p:sp>
          <p:nvSpPr>
            <p:cNvPr id="690" name="Google Shape;690;p24"/>
            <p:cNvSpPr/>
            <p:nvPr/>
          </p:nvSpPr>
          <p:spPr>
            <a:xfrm>
              <a:off x="1658" y="3250"/>
              <a:ext cx="300" cy="540"/>
            </a:xfrm>
            <a:custGeom>
              <a:rect b="b" l="l" r="r" t="t"/>
              <a:pathLst>
                <a:path extrusionOk="0" fill="none" h="21599" w="21600">
                  <a:moveTo>
                    <a:pt x="196" y="-1"/>
                  </a:moveTo>
                  <a:cubicBezTo>
                    <a:pt x="12048" y="107"/>
                    <a:pt x="21600" y="9746"/>
                    <a:pt x="21600" y="21599"/>
                  </a:cubicBezTo>
                </a:path>
                <a:path extrusionOk="0" h="21599" w="21600">
                  <a:moveTo>
                    <a:pt x="196" y="-1"/>
                  </a:moveTo>
                  <a:cubicBezTo>
                    <a:pt x="12048" y="107"/>
                    <a:pt x="21600" y="9746"/>
                    <a:pt x="21600" y="21599"/>
                  </a:cubicBezTo>
                  <a:lnTo>
                    <a:pt x="0" y="21599"/>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1" name="Google Shape;691;p24"/>
            <p:cNvSpPr/>
            <p:nvPr/>
          </p:nvSpPr>
          <p:spPr>
            <a:xfrm flipH="1" rot="10800000">
              <a:off x="1958" y="3758"/>
              <a:ext cx="600" cy="540"/>
            </a:xfrm>
            <a:custGeom>
              <a:rect b="b" l="l" r="r" t="t"/>
              <a:pathLst>
                <a:path extrusionOk="0" fill="none" h="21600" w="43200">
                  <a:moveTo>
                    <a:pt x="0" y="21477"/>
                  </a:moveTo>
                  <a:cubicBezTo>
                    <a:pt x="68" y="9595"/>
                    <a:pt x="9718" y="0"/>
                    <a:pt x="21600" y="0"/>
                  </a:cubicBezTo>
                  <a:cubicBezTo>
                    <a:pt x="33529" y="0"/>
                    <a:pt x="43200" y="9670"/>
                    <a:pt x="43200" y="21600"/>
                  </a:cubicBezTo>
                </a:path>
                <a:path extrusionOk="0" h="21600" w="43200">
                  <a:moveTo>
                    <a:pt x="0" y="21477"/>
                  </a:moveTo>
                  <a:cubicBezTo>
                    <a:pt x="68" y="9595"/>
                    <a:pt x="9718" y="0"/>
                    <a:pt x="21600" y="0"/>
                  </a:cubicBezTo>
                  <a:cubicBezTo>
                    <a:pt x="33529" y="0"/>
                    <a:pt x="43200" y="9670"/>
                    <a:pt x="43200" y="21600"/>
                  </a:cubicBezTo>
                  <a:lnTo>
                    <a:pt x="21600" y="21600"/>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2" name="Google Shape;692;p24"/>
            <p:cNvSpPr/>
            <p:nvPr/>
          </p:nvSpPr>
          <p:spPr>
            <a:xfrm>
              <a:off x="2558" y="3248"/>
              <a:ext cx="600" cy="540"/>
            </a:xfrm>
            <a:custGeom>
              <a:rect b="b" l="l" r="r" t="t"/>
              <a:pathLst>
                <a:path extrusionOk="0" fill="none" h="21600" w="43200">
                  <a:moveTo>
                    <a:pt x="0" y="21477"/>
                  </a:moveTo>
                  <a:cubicBezTo>
                    <a:pt x="68" y="9595"/>
                    <a:pt x="9718" y="0"/>
                    <a:pt x="21600" y="0"/>
                  </a:cubicBezTo>
                  <a:cubicBezTo>
                    <a:pt x="33529" y="0"/>
                    <a:pt x="43200" y="9670"/>
                    <a:pt x="43200" y="21600"/>
                  </a:cubicBezTo>
                </a:path>
                <a:path extrusionOk="0" h="21600" w="43200">
                  <a:moveTo>
                    <a:pt x="0" y="21477"/>
                  </a:moveTo>
                  <a:cubicBezTo>
                    <a:pt x="68" y="9595"/>
                    <a:pt x="9718" y="0"/>
                    <a:pt x="21600" y="0"/>
                  </a:cubicBezTo>
                  <a:cubicBezTo>
                    <a:pt x="33529" y="0"/>
                    <a:pt x="43200" y="9670"/>
                    <a:pt x="43200" y="21600"/>
                  </a:cubicBezTo>
                  <a:lnTo>
                    <a:pt x="21600" y="21600"/>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3" name="Google Shape;693;p24"/>
            <p:cNvSpPr/>
            <p:nvPr/>
          </p:nvSpPr>
          <p:spPr>
            <a:xfrm rot="10800000">
              <a:off x="3158" y="3758"/>
              <a:ext cx="300" cy="540"/>
            </a:xfrm>
            <a:custGeom>
              <a:rect b="b" l="l" r="r" t="t"/>
              <a:pathLst>
                <a:path extrusionOk="0" fill="none" h="21599" w="21600">
                  <a:moveTo>
                    <a:pt x="196" y="-1"/>
                  </a:moveTo>
                  <a:cubicBezTo>
                    <a:pt x="12048" y="107"/>
                    <a:pt x="21600" y="9746"/>
                    <a:pt x="21600" y="21599"/>
                  </a:cubicBezTo>
                </a:path>
                <a:path extrusionOk="0" h="21599" w="21600">
                  <a:moveTo>
                    <a:pt x="196" y="-1"/>
                  </a:moveTo>
                  <a:cubicBezTo>
                    <a:pt x="12048" y="107"/>
                    <a:pt x="21600" y="9746"/>
                    <a:pt x="21600" y="21599"/>
                  </a:cubicBezTo>
                  <a:lnTo>
                    <a:pt x="0" y="21599"/>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94" name="Google Shape;694;p24"/>
          <p:cNvSpPr/>
          <p:nvPr/>
        </p:nvSpPr>
        <p:spPr>
          <a:xfrm>
            <a:off x="0" y="0"/>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5" name="Google Shape;695;p24"/>
          <p:cNvSpPr/>
          <p:nvPr/>
        </p:nvSpPr>
        <p:spPr>
          <a:xfrm>
            <a:off x="3609804" y="1666402"/>
            <a:ext cx="1716482"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New Roman"/>
              <a:buNone/>
            </a:pPr>
            <a:r>
              <a:rPr b="0" i="1" lang="en-GB" sz="3600" u="none" cap="none" strike="noStrike">
                <a:solidFill>
                  <a:srgbClr val="002060"/>
                </a:solidFill>
                <a:latin typeface="Times New Roman"/>
                <a:ea typeface="Times New Roman"/>
                <a:cs typeface="Times New Roman"/>
                <a:sym typeface="Times New Roman"/>
              </a:rPr>
              <a:t>sin </a:t>
            </a:r>
            <a:r>
              <a:rPr b="0" i="1" lang="en-GB" sz="3600" u="none" cap="none" strike="noStrike">
                <a:solidFill>
                  <a:srgbClr val="002060"/>
                </a:solidFill>
                <a:latin typeface="Noto Sans Symbols"/>
                <a:ea typeface="Noto Sans Symbols"/>
                <a:cs typeface="Noto Sans Symbols"/>
                <a:sym typeface="Noto Sans Symbols"/>
              </a:rPr>
              <a:t>ω</a:t>
            </a:r>
            <a:r>
              <a:rPr b="0" i="1" lang="en-GB" sz="3600" u="none" cap="none" strike="noStrike">
                <a:solidFill>
                  <a:srgbClr val="002060"/>
                </a:solidFill>
                <a:latin typeface="Times New Roman"/>
                <a:ea typeface="Times New Roman"/>
                <a:cs typeface="Times New Roman"/>
                <a:sym typeface="Times New Roman"/>
              </a:rPr>
              <a:t> t</a:t>
            </a:r>
            <a:endParaRPr b="0" i="0" sz="1800" u="none" cap="none" strike="noStrike">
              <a:solidFill>
                <a:schemeClr val="dk1"/>
              </a:solidFill>
              <a:latin typeface="Times New Roman"/>
              <a:ea typeface="Times New Roman"/>
              <a:cs typeface="Times New Roman"/>
              <a:sym typeface="Times New Roman"/>
            </a:endParaRPr>
          </a:p>
        </p:txBody>
      </p:sp>
      <p:sp>
        <p:nvSpPr>
          <p:cNvPr id="696" name="Google Shape;696;p24"/>
          <p:cNvSpPr/>
          <p:nvPr/>
        </p:nvSpPr>
        <p:spPr>
          <a:xfrm>
            <a:off x="3791881" y="5668374"/>
            <a:ext cx="2355741" cy="58477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Times New Roman"/>
              <a:buNone/>
            </a:pPr>
            <a:r>
              <a:rPr b="0" i="1" lang="en-GB" sz="3200" u="none" cap="none" strike="noStrike">
                <a:solidFill>
                  <a:srgbClr val="002060"/>
                </a:solidFill>
                <a:latin typeface="Times New Roman"/>
                <a:ea typeface="Times New Roman"/>
                <a:cs typeface="Times New Roman"/>
                <a:sym typeface="Times New Roman"/>
              </a:rPr>
              <a:t>sin (</a:t>
            </a:r>
            <a:r>
              <a:rPr b="0" i="1" lang="en-GB" sz="3200" u="none" cap="none" strike="noStrike">
                <a:solidFill>
                  <a:srgbClr val="002060"/>
                </a:solidFill>
                <a:latin typeface="Noto Sans Symbols"/>
                <a:ea typeface="Noto Sans Symbols"/>
                <a:cs typeface="Noto Sans Symbols"/>
                <a:sym typeface="Noto Sans Symbols"/>
              </a:rPr>
              <a:t>ω</a:t>
            </a:r>
            <a:r>
              <a:rPr b="0" i="1" lang="en-GB" sz="3200" u="none" cap="none" strike="noStrike">
                <a:solidFill>
                  <a:srgbClr val="002060"/>
                </a:solidFill>
                <a:latin typeface="Times New Roman"/>
                <a:ea typeface="Times New Roman"/>
                <a:cs typeface="Times New Roman"/>
                <a:sym typeface="Times New Roman"/>
              </a:rPr>
              <a:t> t +</a:t>
            </a:r>
            <a:r>
              <a:rPr b="0" i="1" lang="en-GB" sz="3200" u="none" cap="none" strike="noStrike">
                <a:solidFill>
                  <a:srgbClr val="002060"/>
                </a:solidFill>
                <a:latin typeface="Noto Sans Symbols"/>
                <a:ea typeface="Noto Sans Symbols"/>
                <a:cs typeface="Noto Sans Symbols"/>
                <a:sym typeface="Noto Sans Symbols"/>
              </a:rPr>
              <a:t>φ</a:t>
            </a:r>
            <a:r>
              <a:rPr b="0" i="1" lang="en-GB" sz="3200" u="none" cap="none" strike="noStrike">
                <a:solidFill>
                  <a:srgbClr val="002060"/>
                </a:solidFill>
                <a:latin typeface="Times New Roman"/>
                <a:ea typeface="Times New Roman"/>
                <a:cs typeface="Times New Roman"/>
                <a:sym typeface="Times New Roman"/>
              </a:rPr>
              <a:t>)</a:t>
            </a:r>
            <a:endParaRPr b="0" i="0" sz="3200" u="none" cap="none" strike="noStrike">
              <a:solidFill>
                <a:schemeClr val="dk1"/>
              </a:solidFill>
              <a:latin typeface="Times New Roman"/>
              <a:ea typeface="Times New Roman"/>
              <a:cs typeface="Times New Roman"/>
              <a:sym typeface="Times New Roman"/>
            </a:endParaRPr>
          </a:p>
        </p:txBody>
      </p:sp>
      <p:sp>
        <p:nvSpPr>
          <p:cNvPr id="697" name="Google Shape;697;p24"/>
          <p:cNvSpPr/>
          <p:nvPr/>
        </p:nvSpPr>
        <p:spPr>
          <a:xfrm>
            <a:off x="3609804" y="3650989"/>
            <a:ext cx="1883934"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New Roman"/>
              <a:buNone/>
            </a:pPr>
            <a:r>
              <a:rPr b="0" i="1" lang="en-GB" sz="3600" u="none" cap="none" strike="noStrike">
                <a:solidFill>
                  <a:srgbClr val="002060"/>
                </a:solidFill>
                <a:latin typeface="Times New Roman"/>
                <a:ea typeface="Times New Roman"/>
                <a:cs typeface="Times New Roman"/>
                <a:sym typeface="Times New Roman"/>
              </a:rPr>
              <a:t>cos </a:t>
            </a:r>
            <a:r>
              <a:rPr b="0" i="1" lang="en-GB" sz="3600" u="none" cap="none" strike="noStrike">
                <a:solidFill>
                  <a:srgbClr val="002060"/>
                </a:solidFill>
                <a:latin typeface="Noto Sans Symbols"/>
                <a:ea typeface="Noto Sans Symbols"/>
                <a:cs typeface="Noto Sans Symbols"/>
                <a:sym typeface="Noto Sans Symbols"/>
              </a:rPr>
              <a:t>ω</a:t>
            </a:r>
            <a:r>
              <a:rPr b="0" i="1" lang="en-GB" sz="3600" u="none" cap="none" strike="noStrike">
                <a:solidFill>
                  <a:srgbClr val="002060"/>
                </a:solidFill>
                <a:latin typeface="Times New Roman"/>
                <a:ea typeface="Times New Roman"/>
                <a:cs typeface="Times New Roman"/>
                <a:sym typeface="Times New Roman"/>
              </a:rPr>
              <a:t> t</a:t>
            </a:r>
            <a:endParaRPr b="0" i="0" sz="1800" u="none" cap="none" strike="noStrike">
              <a:solidFill>
                <a:schemeClr val="dk1"/>
              </a:solidFill>
              <a:latin typeface="Times New Roman"/>
              <a:ea typeface="Times New Roman"/>
              <a:cs typeface="Times New Roman"/>
              <a:sym typeface="Times New Roman"/>
            </a:endParaRPr>
          </a:p>
        </p:txBody>
      </p:sp>
      <p:sp>
        <p:nvSpPr>
          <p:cNvPr id="698" name="Google Shape;698;p24"/>
          <p:cNvSpPr/>
          <p:nvPr/>
        </p:nvSpPr>
        <p:spPr>
          <a:xfrm>
            <a:off x="595763" y="1853162"/>
            <a:ext cx="160813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sine wave</a:t>
            </a:r>
            <a:endParaRPr sz="2800">
              <a:solidFill>
                <a:schemeClr val="dk1"/>
              </a:solidFill>
              <a:latin typeface="Calibri"/>
              <a:ea typeface="Calibri"/>
              <a:cs typeface="Calibri"/>
              <a:sym typeface="Calibri"/>
            </a:endParaRPr>
          </a:p>
        </p:txBody>
      </p:sp>
      <p:sp>
        <p:nvSpPr>
          <p:cNvPr id="699" name="Google Shape;699;p24"/>
          <p:cNvSpPr/>
          <p:nvPr/>
        </p:nvSpPr>
        <p:spPr>
          <a:xfrm>
            <a:off x="1107665" y="4003804"/>
            <a:ext cx="194636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cosine wave</a:t>
            </a:r>
            <a:endParaRPr sz="2800">
              <a:solidFill>
                <a:schemeClr val="dk1"/>
              </a:solidFill>
              <a:latin typeface="Calibri"/>
              <a:ea typeface="Calibri"/>
              <a:cs typeface="Calibri"/>
              <a:sym typeface="Calibri"/>
            </a:endParaRPr>
          </a:p>
        </p:txBody>
      </p:sp>
      <p:grpSp>
        <p:nvGrpSpPr>
          <p:cNvPr id="700" name="Google Shape;700;p24"/>
          <p:cNvGrpSpPr/>
          <p:nvPr/>
        </p:nvGrpSpPr>
        <p:grpSpPr>
          <a:xfrm>
            <a:off x="7221121" y="890969"/>
            <a:ext cx="2966332" cy="1644650"/>
            <a:chOff x="288" y="10230"/>
            <a:chExt cx="1867" cy="1035"/>
          </a:xfrm>
        </p:grpSpPr>
        <p:grpSp>
          <p:nvGrpSpPr>
            <p:cNvPr id="701" name="Google Shape;701;p24"/>
            <p:cNvGrpSpPr/>
            <p:nvPr/>
          </p:nvGrpSpPr>
          <p:grpSpPr>
            <a:xfrm>
              <a:off x="288" y="10230"/>
              <a:ext cx="1867" cy="1035"/>
              <a:chOff x="1418" y="7373"/>
              <a:chExt cx="1867" cy="1035"/>
            </a:xfrm>
          </p:grpSpPr>
          <p:cxnSp>
            <p:nvCxnSpPr>
              <p:cNvPr id="702" name="Google Shape;702;p24"/>
              <p:cNvCxnSpPr/>
              <p:nvPr/>
            </p:nvCxnSpPr>
            <p:spPr>
              <a:xfrm>
                <a:off x="1658" y="7373"/>
                <a:ext cx="0" cy="900"/>
              </a:xfrm>
              <a:prstGeom prst="straightConnector1">
                <a:avLst/>
              </a:prstGeom>
              <a:noFill/>
              <a:ln cap="flat" cmpd="sng" w="31750">
                <a:solidFill>
                  <a:srgbClr val="666699"/>
                </a:solidFill>
                <a:prstDash val="solid"/>
                <a:round/>
                <a:headEnd len="sm" w="sm" type="stealth"/>
                <a:tailEnd len="med" w="med" type="none"/>
              </a:ln>
            </p:spPr>
          </p:cxnSp>
          <p:cxnSp>
            <p:nvCxnSpPr>
              <p:cNvPr id="703" name="Google Shape;703;p24"/>
              <p:cNvCxnSpPr/>
              <p:nvPr/>
            </p:nvCxnSpPr>
            <p:spPr>
              <a:xfrm>
                <a:off x="1418" y="8093"/>
                <a:ext cx="1784" cy="0"/>
              </a:xfrm>
              <a:prstGeom prst="straightConnector1">
                <a:avLst/>
              </a:prstGeom>
              <a:noFill/>
              <a:ln cap="flat" cmpd="sng" w="31750">
                <a:solidFill>
                  <a:srgbClr val="666699"/>
                </a:solidFill>
                <a:prstDash val="solid"/>
                <a:round/>
                <a:headEnd len="med" w="med" type="none"/>
                <a:tailEnd len="sm" w="sm" type="stealth"/>
              </a:ln>
            </p:spPr>
          </p:cxnSp>
          <p:sp>
            <p:nvSpPr>
              <p:cNvPr id="704" name="Google Shape;704;p24"/>
              <p:cNvSpPr txBox="1"/>
              <p:nvPr/>
            </p:nvSpPr>
            <p:spPr>
              <a:xfrm>
                <a:off x="1492" y="7797"/>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0</a:t>
                </a:r>
                <a:endParaRPr sz="1200">
                  <a:solidFill>
                    <a:schemeClr val="dk1"/>
                  </a:solidFill>
                  <a:latin typeface="Times New Roman"/>
                  <a:ea typeface="Times New Roman"/>
                  <a:cs typeface="Times New Roman"/>
                  <a:sym typeface="Times New Roman"/>
                </a:endParaRPr>
              </a:p>
            </p:txBody>
          </p:sp>
          <p:sp>
            <p:nvSpPr>
              <p:cNvPr id="705" name="Google Shape;705;p24"/>
              <p:cNvSpPr txBox="1"/>
              <p:nvPr/>
            </p:nvSpPr>
            <p:spPr>
              <a:xfrm>
                <a:off x="2925" y="804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 t</a:t>
                </a:r>
                <a:endParaRPr sz="1200">
                  <a:solidFill>
                    <a:schemeClr val="dk1"/>
                  </a:solidFill>
                  <a:latin typeface="Times New Roman"/>
                  <a:ea typeface="Times New Roman"/>
                  <a:cs typeface="Times New Roman"/>
                  <a:sym typeface="Times New Roman"/>
                </a:endParaRPr>
              </a:p>
            </p:txBody>
          </p:sp>
          <p:cxnSp>
            <p:nvCxnSpPr>
              <p:cNvPr id="706" name="Google Shape;706;p24"/>
              <p:cNvCxnSpPr/>
              <p:nvPr/>
            </p:nvCxnSpPr>
            <p:spPr>
              <a:xfrm rot="10800000">
                <a:off x="1418" y="8078"/>
                <a:ext cx="240" cy="0"/>
              </a:xfrm>
              <a:prstGeom prst="straightConnector1">
                <a:avLst/>
              </a:prstGeom>
              <a:noFill/>
              <a:ln cap="flat" cmpd="sng" w="38100">
                <a:solidFill>
                  <a:srgbClr val="C00000"/>
                </a:solidFill>
                <a:prstDash val="solid"/>
                <a:round/>
                <a:headEnd len="med" w="med" type="none"/>
                <a:tailEnd len="med" w="med" type="none"/>
              </a:ln>
            </p:spPr>
          </p:cxnSp>
        </p:grpSp>
        <p:grpSp>
          <p:nvGrpSpPr>
            <p:cNvPr id="707" name="Google Shape;707;p24"/>
            <p:cNvGrpSpPr/>
            <p:nvPr/>
          </p:nvGrpSpPr>
          <p:grpSpPr>
            <a:xfrm>
              <a:off x="528" y="10410"/>
              <a:ext cx="1401" cy="540"/>
              <a:chOff x="1658" y="4658"/>
              <a:chExt cx="1401" cy="540"/>
            </a:xfrm>
          </p:grpSpPr>
          <p:cxnSp>
            <p:nvCxnSpPr>
              <p:cNvPr id="708" name="Google Shape;708;p24"/>
              <p:cNvCxnSpPr/>
              <p:nvPr/>
            </p:nvCxnSpPr>
            <p:spPr>
              <a:xfrm rot="10800000">
                <a:off x="1658" y="4658"/>
                <a:ext cx="0" cy="540"/>
              </a:xfrm>
              <a:prstGeom prst="straightConnector1">
                <a:avLst/>
              </a:prstGeom>
              <a:noFill/>
              <a:ln cap="flat" cmpd="sng" w="38100">
                <a:solidFill>
                  <a:srgbClr val="C00000"/>
                </a:solidFill>
                <a:prstDash val="solid"/>
                <a:round/>
                <a:headEnd len="med" w="med" type="none"/>
                <a:tailEnd len="med" w="med" type="none"/>
              </a:ln>
            </p:spPr>
          </p:cxnSp>
          <p:cxnSp>
            <p:nvCxnSpPr>
              <p:cNvPr id="709" name="Google Shape;709;p24"/>
              <p:cNvCxnSpPr/>
              <p:nvPr/>
            </p:nvCxnSpPr>
            <p:spPr>
              <a:xfrm>
                <a:off x="1658" y="4658"/>
                <a:ext cx="480" cy="0"/>
              </a:xfrm>
              <a:prstGeom prst="straightConnector1">
                <a:avLst/>
              </a:prstGeom>
              <a:noFill/>
              <a:ln cap="flat" cmpd="sng" w="38100">
                <a:solidFill>
                  <a:srgbClr val="C00000"/>
                </a:solidFill>
                <a:prstDash val="solid"/>
                <a:round/>
                <a:headEnd len="med" w="med" type="none"/>
                <a:tailEnd len="med" w="med" type="none"/>
              </a:ln>
            </p:spPr>
          </p:cxnSp>
          <p:cxnSp>
            <p:nvCxnSpPr>
              <p:cNvPr id="710" name="Google Shape;710;p24"/>
              <p:cNvCxnSpPr/>
              <p:nvPr/>
            </p:nvCxnSpPr>
            <p:spPr>
              <a:xfrm rot="10800000">
                <a:off x="2138" y="4658"/>
                <a:ext cx="0" cy="540"/>
              </a:xfrm>
              <a:prstGeom prst="straightConnector1">
                <a:avLst/>
              </a:prstGeom>
              <a:noFill/>
              <a:ln cap="flat" cmpd="sng" w="38100">
                <a:solidFill>
                  <a:srgbClr val="C00000"/>
                </a:solidFill>
                <a:prstDash val="solid"/>
                <a:round/>
                <a:headEnd len="med" w="med" type="none"/>
                <a:tailEnd len="med" w="med" type="none"/>
              </a:ln>
            </p:spPr>
          </p:cxnSp>
          <p:cxnSp>
            <p:nvCxnSpPr>
              <p:cNvPr id="711" name="Google Shape;711;p24"/>
              <p:cNvCxnSpPr/>
              <p:nvPr/>
            </p:nvCxnSpPr>
            <p:spPr>
              <a:xfrm>
                <a:off x="2138" y="5183"/>
                <a:ext cx="921" cy="0"/>
              </a:xfrm>
              <a:prstGeom prst="straightConnector1">
                <a:avLst/>
              </a:prstGeom>
              <a:noFill/>
              <a:ln cap="flat" cmpd="sng" w="38100">
                <a:solidFill>
                  <a:srgbClr val="C00000"/>
                </a:solidFill>
                <a:prstDash val="solid"/>
                <a:round/>
                <a:headEnd len="med" w="med" type="none"/>
                <a:tailEnd len="med" w="med" type="none"/>
              </a:ln>
            </p:spPr>
          </p:cxnSp>
        </p:grpSp>
      </p:grpSp>
      <p:sp>
        <p:nvSpPr>
          <p:cNvPr id="712" name="Google Shape;712;p24"/>
          <p:cNvSpPr/>
          <p:nvPr/>
        </p:nvSpPr>
        <p:spPr>
          <a:xfrm>
            <a:off x="7498960" y="2116851"/>
            <a:ext cx="22926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400">
                <a:solidFill>
                  <a:srgbClr val="002060"/>
                </a:solidFill>
                <a:latin typeface="Times New Roman"/>
                <a:ea typeface="Times New Roman"/>
                <a:cs typeface="Times New Roman"/>
                <a:sym typeface="Times New Roman"/>
              </a:rPr>
              <a:t>rectangular pulse</a:t>
            </a:r>
            <a:endParaRPr sz="2400">
              <a:solidFill>
                <a:schemeClr val="dk1"/>
              </a:solidFill>
              <a:latin typeface="Calibri"/>
              <a:ea typeface="Calibri"/>
              <a:cs typeface="Calibri"/>
              <a:sym typeface="Calibri"/>
            </a:endParaRPr>
          </a:p>
        </p:txBody>
      </p:sp>
      <p:sp>
        <p:nvSpPr>
          <p:cNvPr id="713" name="Google Shape;713;p24"/>
          <p:cNvSpPr/>
          <p:nvPr/>
        </p:nvSpPr>
        <p:spPr>
          <a:xfrm>
            <a:off x="10380426" y="1222808"/>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714" name="Google Shape;714;p24"/>
          <p:cNvPicPr preferRelativeResize="0"/>
          <p:nvPr/>
        </p:nvPicPr>
        <p:blipFill rotWithShape="1">
          <a:blip r:embed="rId6">
            <a:alphaModFix/>
          </a:blip>
          <a:srcRect b="0" l="0" r="0" t="0"/>
          <a:stretch/>
        </p:blipFill>
        <p:spPr>
          <a:xfrm>
            <a:off x="10380426" y="1222808"/>
            <a:ext cx="1333500" cy="1085850"/>
          </a:xfrm>
          <a:prstGeom prst="rect">
            <a:avLst/>
          </a:prstGeom>
          <a:noFill/>
          <a:ln>
            <a:noFill/>
          </a:ln>
        </p:spPr>
      </p:pic>
      <p:sp>
        <p:nvSpPr>
          <p:cNvPr id="715" name="Google Shape;715;p24"/>
          <p:cNvSpPr/>
          <p:nvPr/>
        </p:nvSpPr>
        <p:spPr>
          <a:xfrm>
            <a:off x="8354165" y="1622329"/>
            <a:ext cx="35618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GB" sz="2400">
                <a:solidFill>
                  <a:srgbClr val="002060"/>
                </a:solidFill>
                <a:latin typeface="Times New Roman"/>
                <a:ea typeface="Times New Roman"/>
                <a:cs typeface="Times New Roman"/>
                <a:sym typeface="Times New Roman"/>
              </a:rPr>
              <a:t>T</a:t>
            </a:r>
            <a:endParaRPr sz="2400">
              <a:solidFill>
                <a:schemeClr val="dk1"/>
              </a:solidFill>
              <a:latin typeface="Calibri"/>
              <a:ea typeface="Calibri"/>
              <a:cs typeface="Calibri"/>
              <a:sym typeface="Calibri"/>
            </a:endParaRPr>
          </a:p>
        </p:txBody>
      </p:sp>
      <p:pic>
        <p:nvPicPr>
          <p:cNvPr id="716" name="Google Shape;716;p24"/>
          <p:cNvPicPr preferRelativeResize="0"/>
          <p:nvPr/>
        </p:nvPicPr>
        <p:blipFill rotWithShape="1">
          <a:blip r:embed="rId7">
            <a:alphaModFix/>
          </a:blip>
          <a:srcRect b="0" l="0" r="0" t="0"/>
          <a:stretch/>
        </p:blipFill>
        <p:spPr>
          <a:xfrm>
            <a:off x="10693400" y="3181848"/>
            <a:ext cx="781050" cy="1066800"/>
          </a:xfrm>
          <a:prstGeom prst="rect">
            <a:avLst/>
          </a:prstGeom>
          <a:noFill/>
          <a:ln>
            <a:noFill/>
          </a:ln>
        </p:spPr>
      </p:pic>
      <p:grpSp>
        <p:nvGrpSpPr>
          <p:cNvPr id="717" name="Google Shape;717;p24"/>
          <p:cNvGrpSpPr/>
          <p:nvPr/>
        </p:nvGrpSpPr>
        <p:grpSpPr>
          <a:xfrm>
            <a:off x="7245689" y="2561636"/>
            <a:ext cx="3049550" cy="2237250"/>
            <a:chOff x="7245689" y="2482806"/>
            <a:chExt cx="3049550" cy="2237250"/>
          </a:xfrm>
        </p:grpSpPr>
        <p:cxnSp>
          <p:nvCxnSpPr>
            <p:cNvPr id="718" name="Google Shape;718;p24"/>
            <p:cNvCxnSpPr/>
            <p:nvPr/>
          </p:nvCxnSpPr>
          <p:spPr>
            <a:xfrm>
              <a:off x="7245689" y="3684244"/>
              <a:ext cx="2834640" cy="0"/>
            </a:xfrm>
            <a:prstGeom prst="straightConnector1">
              <a:avLst/>
            </a:prstGeom>
            <a:noFill/>
            <a:ln cap="flat" cmpd="sng" w="31750">
              <a:solidFill>
                <a:srgbClr val="666699"/>
              </a:solidFill>
              <a:prstDash val="solid"/>
              <a:round/>
              <a:headEnd len="med" w="med" type="none"/>
              <a:tailEnd len="sm" w="sm" type="stealth"/>
            </a:ln>
          </p:spPr>
        </p:cxnSp>
        <p:sp>
          <p:nvSpPr>
            <p:cNvPr id="719" name="Google Shape;719;p24"/>
            <p:cNvSpPr/>
            <p:nvPr/>
          </p:nvSpPr>
          <p:spPr>
            <a:xfrm>
              <a:off x="9791575" y="2836180"/>
              <a:ext cx="50366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GB" sz="3200">
                  <a:solidFill>
                    <a:srgbClr val="002060"/>
                  </a:solidFill>
                  <a:latin typeface="Times New Roman"/>
                  <a:ea typeface="Times New Roman"/>
                  <a:cs typeface="Times New Roman"/>
                  <a:sym typeface="Times New Roman"/>
                </a:rPr>
                <a:t>t</a:t>
              </a:r>
              <a:r>
                <a:rPr baseline="30000" i="1" lang="en-GB" sz="3200">
                  <a:solidFill>
                    <a:srgbClr val="002060"/>
                  </a:solidFill>
                  <a:latin typeface="Times New Roman"/>
                  <a:ea typeface="Times New Roman"/>
                  <a:cs typeface="Times New Roman"/>
                  <a:sym typeface="Times New Roman"/>
                </a:rPr>
                <a:t> n</a:t>
              </a:r>
              <a:endParaRPr sz="3200">
                <a:solidFill>
                  <a:schemeClr val="dk1"/>
                </a:solidFill>
                <a:latin typeface="Calibri"/>
                <a:ea typeface="Calibri"/>
                <a:cs typeface="Calibri"/>
                <a:sym typeface="Calibri"/>
              </a:endParaRPr>
            </a:p>
          </p:txBody>
        </p:sp>
        <p:cxnSp>
          <p:nvCxnSpPr>
            <p:cNvPr id="720" name="Google Shape;720;p24"/>
            <p:cNvCxnSpPr/>
            <p:nvPr/>
          </p:nvCxnSpPr>
          <p:spPr>
            <a:xfrm>
              <a:off x="7614431" y="2899844"/>
              <a:ext cx="0" cy="1428604"/>
            </a:xfrm>
            <a:prstGeom prst="straightConnector1">
              <a:avLst/>
            </a:prstGeom>
            <a:noFill/>
            <a:ln cap="flat" cmpd="sng" w="31750">
              <a:solidFill>
                <a:srgbClr val="666699"/>
              </a:solidFill>
              <a:prstDash val="solid"/>
              <a:round/>
              <a:headEnd len="sm" w="sm" type="stealth"/>
              <a:tailEnd len="med" w="med" type="none"/>
            </a:ln>
          </p:spPr>
        </p:cxnSp>
        <p:sp>
          <p:nvSpPr>
            <p:cNvPr id="721" name="Google Shape;721;p24"/>
            <p:cNvSpPr txBox="1"/>
            <p:nvPr/>
          </p:nvSpPr>
          <p:spPr>
            <a:xfrm>
              <a:off x="7350903" y="3640636"/>
              <a:ext cx="247912" cy="571442"/>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0</a:t>
              </a:r>
              <a:endParaRPr sz="1200">
                <a:solidFill>
                  <a:schemeClr val="dk1"/>
                </a:solidFill>
                <a:latin typeface="Times New Roman"/>
                <a:ea typeface="Times New Roman"/>
                <a:cs typeface="Times New Roman"/>
                <a:sym typeface="Times New Roman"/>
              </a:endParaRPr>
            </a:p>
          </p:txBody>
        </p:sp>
        <p:sp>
          <p:nvSpPr>
            <p:cNvPr id="722" name="Google Shape;722;p24"/>
            <p:cNvSpPr txBox="1"/>
            <p:nvPr/>
          </p:nvSpPr>
          <p:spPr>
            <a:xfrm flipH="1">
              <a:off x="9730201" y="3651180"/>
              <a:ext cx="243521" cy="571442"/>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 t</a:t>
              </a:r>
              <a:endParaRPr sz="1200">
                <a:solidFill>
                  <a:schemeClr val="dk1"/>
                </a:solidFill>
                <a:latin typeface="Times New Roman"/>
                <a:ea typeface="Times New Roman"/>
                <a:cs typeface="Times New Roman"/>
                <a:sym typeface="Times New Roman"/>
              </a:endParaRPr>
            </a:p>
          </p:txBody>
        </p:sp>
        <p:sp>
          <p:nvSpPr>
            <p:cNvPr id="723" name="Google Shape;723;p24"/>
            <p:cNvSpPr/>
            <p:nvPr/>
          </p:nvSpPr>
          <p:spPr>
            <a:xfrm>
              <a:off x="7644738" y="2482806"/>
              <a:ext cx="2578707" cy="1201700"/>
            </a:xfrm>
            <a:custGeom>
              <a:rect b="b" l="l" r="r" t="t"/>
              <a:pathLst>
                <a:path extrusionOk="0" h="1477" w="1403">
                  <a:moveTo>
                    <a:pt x="0" y="1477"/>
                  </a:moveTo>
                  <a:cubicBezTo>
                    <a:pt x="82" y="1457"/>
                    <a:pt x="307" y="1477"/>
                    <a:pt x="495" y="1357"/>
                  </a:cubicBezTo>
                  <a:cubicBezTo>
                    <a:pt x="683" y="1237"/>
                    <a:pt x="974" y="983"/>
                    <a:pt x="1125" y="757"/>
                  </a:cubicBezTo>
                  <a:cubicBezTo>
                    <a:pt x="1276" y="531"/>
                    <a:pt x="1345" y="158"/>
                    <a:pt x="1403" y="0"/>
                  </a:cubicBezTo>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4" name="Google Shape;724;p24"/>
            <p:cNvSpPr txBox="1"/>
            <p:nvPr/>
          </p:nvSpPr>
          <p:spPr>
            <a:xfrm>
              <a:off x="7749839" y="3818154"/>
              <a:ext cx="2078542" cy="901902"/>
            </a:xfrm>
            <a:prstGeom prst="rect">
              <a:avLst/>
            </a:prstGeom>
            <a:noFill/>
            <a:ln>
              <a:noFill/>
            </a:ln>
          </p:spPr>
          <p:txBody>
            <a:bodyPr anchorCtr="0" anchor="t" bIns="10800" lIns="18000" spcFirstLastPara="1" rIns="18000" wrap="square" tIns="10800">
              <a:noAutofit/>
            </a:bodyPr>
            <a:lstStyle/>
            <a:p>
              <a:pPr indent="0" lvl="0" marL="0" marR="0" rtl="0" algn="ctr">
                <a:spcBef>
                  <a:spcPts val="0"/>
                </a:spcBef>
                <a:spcAft>
                  <a:spcPts val="0"/>
                </a:spcAft>
                <a:buNone/>
              </a:pPr>
              <a:r>
                <a:rPr lang="en-GB" sz="2400">
                  <a:solidFill>
                    <a:schemeClr val="dk1"/>
                  </a:solidFill>
                  <a:latin typeface="Times New Roman"/>
                  <a:ea typeface="Times New Roman"/>
                  <a:cs typeface="Times New Roman"/>
                  <a:sym typeface="Times New Roman"/>
                </a:rPr>
                <a:t>n</a:t>
              </a:r>
              <a:r>
                <a:rPr baseline="30000" lang="en-GB" sz="2400">
                  <a:solidFill>
                    <a:schemeClr val="dk1"/>
                  </a:solidFill>
                  <a:latin typeface="Times New Roman"/>
                  <a:ea typeface="Times New Roman"/>
                  <a:cs typeface="Times New Roman"/>
                  <a:sym typeface="Times New Roman"/>
                </a:rPr>
                <a:t>th</a:t>
              </a:r>
              <a:r>
                <a:rPr lang="en-GB" sz="2400">
                  <a:solidFill>
                    <a:schemeClr val="dk1"/>
                  </a:solidFill>
                  <a:latin typeface="Times New Roman"/>
                  <a:ea typeface="Times New Roman"/>
                  <a:cs typeface="Times New Roman"/>
                  <a:sym typeface="Times New Roman"/>
                </a:rPr>
                <a:t> order ramp </a:t>
              </a:r>
              <a:r>
                <a:rPr lang="en-GB" sz="2400">
                  <a:solidFill>
                    <a:srgbClr val="002060"/>
                  </a:solidFill>
                  <a:latin typeface="Times New Roman"/>
                  <a:ea typeface="Times New Roman"/>
                  <a:cs typeface="Times New Roman"/>
                  <a:sym typeface="Times New Roman"/>
                </a:rPr>
                <a:t>(n &gt; 0)</a:t>
              </a:r>
              <a:endParaRPr sz="2400">
                <a:solidFill>
                  <a:schemeClr val="dk1"/>
                </a:solidFill>
                <a:latin typeface="Times New Roman"/>
                <a:ea typeface="Times New Roman"/>
                <a:cs typeface="Times New Roman"/>
                <a:sym typeface="Times New Roman"/>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25"/>
          <p:cNvSpPr txBox="1"/>
          <p:nvPr>
            <p:ph type="title"/>
          </p:nvPr>
        </p:nvSpPr>
        <p:spPr>
          <a:xfrm>
            <a:off x="542925" y="457174"/>
            <a:ext cx="10924085" cy="5517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Times New Roman"/>
              <a:buNone/>
            </a:pPr>
            <a:r>
              <a:rPr lang="en-GB"/>
              <a:t>Other Laplace Trasforms</a:t>
            </a:r>
            <a:endParaRPr/>
          </a:p>
        </p:txBody>
      </p:sp>
      <p:pic>
        <p:nvPicPr>
          <p:cNvPr id="730" name="Google Shape;730;p25"/>
          <p:cNvPicPr preferRelativeResize="0"/>
          <p:nvPr/>
        </p:nvPicPr>
        <p:blipFill rotWithShape="1">
          <a:blip r:embed="rId3">
            <a:alphaModFix/>
          </a:blip>
          <a:srcRect b="0" l="0" r="0" t="0"/>
          <a:stretch/>
        </p:blipFill>
        <p:spPr>
          <a:xfrm>
            <a:off x="7797133" y="740021"/>
            <a:ext cx="1428750" cy="1085850"/>
          </a:xfrm>
          <a:prstGeom prst="rect">
            <a:avLst/>
          </a:prstGeom>
          <a:noFill/>
          <a:ln>
            <a:noFill/>
          </a:ln>
        </p:spPr>
      </p:pic>
      <p:pic>
        <p:nvPicPr>
          <p:cNvPr id="731" name="Google Shape;731;p25"/>
          <p:cNvPicPr preferRelativeResize="0"/>
          <p:nvPr/>
        </p:nvPicPr>
        <p:blipFill rotWithShape="1">
          <a:blip r:embed="rId4">
            <a:alphaModFix/>
          </a:blip>
          <a:srcRect b="0" l="0" r="0" t="0"/>
          <a:stretch/>
        </p:blipFill>
        <p:spPr>
          <a:xfrm>
            <a:off x="7797133" y="1663212"/>
            <a:ext cx="1428750" cy="1085850"/>
          </a:xfrm>
          <a:prstGeom prst="rect">
            <a:avLst/>
          </a:prstGeom>
          <a:noFill/>
          <a:ln>
            <a:noFill/>
          </a:ln>
        </p:spPr>
      </p:pic>
      <p:pic>
        <p:nvPicPr>
          <p:cNvPr id="732" name="Google Shape;732;p25"/>
          <p:cNvPicPr preferRelativeResize="0"/>
          <p:nvPr/>
        </p:nvPicPr>
        <p:blipFill rotWithShape="1">
          <a:blip r:embed="rId5">
            <a:alphaModFix/>
          </a:blip>
          <a:srcRect b="0" l="0" r="0" t="0"/>
          <a:stretch/>
        </p:blipFill>
        <p:spPr>
          <a:xfrm>
            <a:off x="590550" y="3472230"/>
            <a:ext cx="1162050" cy="1123950"/>
          </a:xfrm>
          <a:prstGeom prst="rect">
            <a:avLst/>
          </a:prstGeom>
          <a:noFill/>
          <a:ln>
            <a:noFill/>
          </a:ln>
        </p:spPr>
      </p:pic>
      <p:pic>
        <p:nvPicPr>
          <p:cNvPr id="733" name="Google Shape;733;p25"/>
          <p:cNvPicPr preferRelativeResize="0"/>
          <p:nvPr/>
        </p:nvPicPr>
        <p:blipFill rotWithShape="1">
          <a:blip r:embed="rId6">
            <a:alphaModFix/>
          </a:blip>
          <a:srcRect b="0" l="0" r="0" t="0"/>
          <a:stretch/>
        </p:blipFill>
        <p:spPr>
          <a:xfrm>
            <a:off x="542925" y="4432707"/>
            <a:ext cx="1276350" cy="1143000"/>
          </a:xfrm>
          <a:prstGeom prst="rect">
            <a:avLst/>
          </a:prstGeom>
          <a:noFill/>
          <a:ln>
            <a:noFill/>
          </a:ln>
        </p:spPr>
      </p:pic>
      <p:pic>
        <p:nvPicPr>
          <p:cNvPr id="734" name="Google Shape;734;p25"/>
          <p:cNvPicPr preferRelativeResize="0"/>
          <p:nvPr/>
        </p:nvPicPr>
        <p:blipFill rotWithShape="1">
          <a:blip r:embed="rId7">
            <a:alphaModFix/>
          </a:blip>
          <a:srcRect b="0" l="0" r="0" t="0"/>
          <a:stretch/>
        </p:blipFill>
        <p:spPr>
          <a:xfrm>
            <a:off x="6705597" y="4220355"/>
            <a:ext cx="4267200" cy="1162050"/>
          </a:xfrm>
          <a:prstGeom prst="rect">
            <a:avLst/>
          </a:prstGeom>
          <a:noFill/>
          <a:ln>
            <a:noFill/>
          </a:ln>
        </p:spPr>
      </p:pic>
      <p:pic>
        <p:nvPicPr>
          <p:cNvPr id="735" name="Google Shape;735;p25"/>
          <p:cNvPicPr preferRelativeResize="0"/>
          <p:nvPr/>
        </p:nvPicPr>
        <p:blipFill rotWithShape="1">
          <a:blip r:embed="rId8">
            <a:alphaModFix/>
          </a:blip>
          <a:srcRect b="0" l="0" r="0" t="0"/>
          <a:stretch/>
        </p:blipFill>
        <p:spPr>
          <a:xfrm>
            <a:off x="396387" y="5449032"/>
            <a:ext cx="1752600" cy="1219200"/>
          </a:xfrm>
          <a:prstGeom prst="rect">
            <a:avLst/>
          </a:prstGeom>
          <a:noFill/>
          <a:ln>
            <a:noFill/>
          </a:ln>
        </p:spPr>
      </p:pic>
      <p:pic>
        <p:nvPicPr>
          <p:cNvPr id="736" name="Google Shape;736;p25"/>
          <p:cNvPicPr preferRelativeResize="0"/>
          <p:nvPr/>
        </p:nvPicPr>
        <p:blipFill rotWithShape="1">
          <a:blip r:embed="rId9">
            <a:alphaModFix/>
          </a:blip>
          <a:srcRect b="0" l="0" r="0" t="0"/>
          <a:stretch/>
        </p:blipFill>
        <p:spPr>
          <a:xfrm>
            <a:off x="8135081" y="5665455"/>
            <a:ext cx="1085850" cy="952500"/>
          </a:xfrm>
          <a:prstGeom prst="rect">
            <a:avLst/>
          </a:prstGeom>
          <a:noFill/>
          <a:ln>
            <a:noFill/>
          </a:ln>
        </p:spPr>
      </p:pic>
      <p:sp>
        <p:nvSpPr>
          <p:cNvPr id="737" name="Google Shape;737;p25"/>
          <p:cNvSpPr/>
          <p:nvPr/>
        </p:nvSpPr>
        <p:spPr>
          <a:xfrm>
            <a:off x="396387" y="934134"/>
            <a:ext cx="6588369"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New Roman"/>
              <a:buNone/>
            </a:pPr>
            <a:r>
              <a:rPr b="0" i="1" lang="en-GB" sz="3600" u="none" cap="none" strike="noStrike">
                <a:solidFill>
                  <a:srgbClr val="002060"/>
                </a:solidFill>
                <a:latin typeface="Times New Roman"/>
                <a:ea typeface="Times New Roman"/>
                <a:cs typeface="Times New Roman"/>
                <a:sym typeface="Times New Roman"/>
              </a:rPr>
              <a:t>sinh at		  </a:t>
            </a:r>
            <a:r>
              <a:rPr b="0" i="0" lang="en-GB" sz="2800" u="none" cap="none" strike="noStrike">
                <a:solidFill>
                  <a:srgbClr val="002060"/>
                </a:solidFill>
                <a:latin typeface="Times New Roman"/>
                <a:ea typeface="Times New Roman"/>
                <a:cs typeface="Times New Roman"/>
                <a:sym typeface="Times New Roman"/>
              </a:rPr>
              <a:t>hyperbolic sine</a:t>
            </a:r>
            <a:endParaRPr b="0" i="0" sz="1800" u="none" cap="none" strike="noStrike">
              <a:solidFill>
                <a:schemeClr val="dk1"/>
              </a:solidFill>
              <a:latin typeface="Times New Roman"/>
              <a:ea typeface="Times New Roman"/>
              <a:cs typeface="Times New Roman"/>
              <a:sym typeface="Times New Roman"/>
            </a:endParaRPr>
          </a:p>
        </p:txBody>
      </p:sp>
      <p:sp>
        <p:nvSpPr>
          <p:cNvPr id="738" name="Google Shape;738;p25"/>
          <p:cNvSpPr/>
          <p:nvPr/>
        </p:nvSpPr>
        <p:spPr>
          <a:xfrm>
            <a:off x="500706" y="1847802"/>
            <a:ext cx="7338647"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New Roman"/>
              <a:buNone/>
            </a:pPr>
            <a:r>
              <a:rPr b="0" i="1" lang="en-GB" sz="3600" u="none" cap="none" strike="noStrike">
                <a:solidFill>
                  <a:srgbClr val="002060"/>
                </a:solidFill>
                <a:latin typeface="Times New Roman"/>
                <a:ea typeface="Times New Roman"/>
                <a:cs typeface="Times New Roman"/>
                <a:sym typeface="Times New Roman"/>
              </a:rPr>
              <a:t>cosh at		 </a:t>
            </a:r>
            <a:r>
              <a:rPr b="0" i="0" lang="en-GB" sz="2800" u="none" cap="none" strike="noStrike">
                <a:solidFill>
                  <a:srgbClr val="002060"/>
                </a:solidFill>
                <a:latin typeface="Times New Roman"/>
                <a:ea typeface="Times New Roman"/>
                <a:cs typeface="Times New Roman"/>
                <a:sym typeface="Times New Roman"/>
              </a:rPr>
              <a:t>hyperbolic cosine</a:t>
            </a:r>
            <a:endParaRPr b="0" i="0" sz="1800" u="none" cap="none" strike="noStrike">
              <a:solidFill>
                <a:schemeClr val="dk1"/>
              </a:solidFill>
              <a:latin typeface="Times New Roman"/>
              <a:ea typeface="Times New Roman"/>
              <a:cs typeface="Times New Roman"/>
              <a:sym typeface="Times New Roman"/>
            </a:endParaRPr>
          </a:p>
        </p:txBody>
      </p:sp>
      <p:sp>
        <p:nvSpPr>
          <p:cNvPr id="739" name="Google Shape;739;p25"/>
          <p:cNvSpPr/>
          <p:nvPr/>
        </p:nvSpPr>
        <p:spPr>
          <a:xfrm>
            <a:off x="581025" y="2724794"/>
            <a:ext cx="9664944"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New Roman"/>
              <a:buNone/>
            </a:pPr>
            <a:r>
              <a:rPr b="0" i="1" lang="en-GB" sz="3600" u="none" cap="none" strike="noStrike">
                <a:solidFill>
                  <a:srgbClr val="002060"/>
                </a:solidFill>
                <a:latin typeface="Times New Roman"/>
                <a:ea typeface="Times New Roman"/>
                <a:cs typeface="Times New Roman"/>
                <a:sym typeface="Times New Roman"/>
              </a:rPr>
              <a:t>a.f</a:t>
            </a:r>
            <a:r>
              <a:rPr b="0" baseline="-25000" i="1" lang="en-GB" sz="3600" u="none" cap="none" strike="noStrike">
                <a:solidFill>
                  <a:srgbClr val="002060"/>
                </a:solidFill>
                <a:latin typeface="Times New Roman"/>
                <a:ea typeface="Times New Roman"/>
                <a:cs typeface="Times New Roman"/>
                <a:sym typeface="Times New Roman"/>
              </a:rPr>
              <a:t>1</a:t>
            </a:r>
            <a:r>
              <a:rPr b="0" i="1" lang="en-GB" sz="3600" u="none" cap="none" strike="noStrike">
                <a:solidFill>
                  <a:srgbClr val="002060"/>
                </a:solidFill>
                <a:latin typeface="Times New Roman"/>
                <a:ea typeface="Times New Roman"/>
                <a:cs typeface="Times New Roman"/>
                <a:sym typeface="Times New Roman"/>
              </a:rPr>
              <a:t>(t)+ b.f</a:t>
            </a:r>
            <a:r>
              <a:rPr b="0" baseline="-25000" i="1" lang="en-GB" sz="3600" u="none" cap="none" strike="noStrike">
                <a:solidFill>
                  <a:srgbClr val="002060"/>
                </a:solidFill>
                <a:latin typeface="Times New Roman"/>
                <a:ea typeface="Times New Roman"/>
                <a:cs typeface="Times New Roman"/>
                <a:sym typeface="Times New Roman"/>
              </a:rPr>
              <a:t>2</a:t>
            </a:r>
            <a:r>
              <a:rPr b="0" i="1" lang="en-GB" sz="3600" u="none" cap="none" strike="noStrike">
                <a:solidFill>
                  <a:srgbClr val="002060"/>
                </a:solidFill>
                <a:latin typeface="Times New Roman"/>
                <a:ea typeface="Times New Roman"/>
                <a:cs typeface="Times New Roman"/>
                <a:sym typeface="Times New Roman"/>
              </a:rPr>
              <a:t>(t)</a:t>
            </a:r>
            <a:r>
              <a:rPr b="0" i="0" lang="en-GB" sz="3600" u="none" cap="none" strike="noStrike">
                <a:solidFill>
                  <a:srgbClr val="002060"/>
                </a:solidFill>
                <a:latin typeface="Times New Roman"/>
                <a:ea typeface="Times New Roman"/>
                <a:cs typeface="Times New Roman"/>
                <a:sym typeface="Times New Roman"/>
              </a:rPr>
              <a:t>	  </a:t>
            </a:r>
            <a:r>
              <a:rPr b="0" lang="en-GB" sz="3200" u="none" cap="none" strike="noStrike">
                <a:solidFill>
                  <a:srgbClr val="002060"/>
                </a:solidFill>
                <a:latin typeface="Times New Roman"/>
                <a:ea typeface="Times New Roman"/>
                <a:cs typeface="Times New Roman"/>
                <a:sym typeface="Times New Roman"/>
              </a:rPr>
              <a:t>addition</a:t>
            </a:r>
            <a:r>
              <a:rPr b="0" i="0" lang="en-GB" sz="3600" u="none" cap="none" strike="noStrike">
                <a:solidFill>
                  <a:srgbClr val="002060"/>
                </a:solidFill>
                <a:latin typeface="Times New Roman"/>
                <a:ea typeface="Times New Roman"/>
                <a:cs typeface="Times New Roman"/>
                <a:sym typeface="Times New Roman"/>
              </a:rPr>
              <a:t>	         	</a:t>
            </a:r>
            <a:r>
              <a:rPr b="0" i="1" lang="en-GB" sz="3600" u="none" cap="none" strike="noStrike">
                <a:solidFill>
                  <a:srgbClr val="002060"/>
                </a:solidFill>
                <a:latin typeface="Times New Roman"/>
                <a:ea typeface="Times New Roman"/>
                <a:cs typeface="Times New Roman"/>
                <a:sym typeface="Times New Roman"/>
              </a:rPr>
              <a:t>a.F</a:t>
            </a:r>
            <a:r>
              <a:rPr b="0" baseline="-25000" i="1" lang="en-GB" sz="3600" u="none" cap="none" strike="noStrike">
                <a:solidFill>
                  <a:srgbClr val="002060"/>
                </a:solidFill>
                <a:latin typeface="Times New Roman"/>
                <a:ea typeface="Times New Roman"/>
                <a:cs typeface="Times New Roman"/>
                <a:sym typeface="Times New Roman"/>
              </a:rPr>
              <a:t>1</a:t>
            </a:r>
            <a:r>
              <a:rPr b="0" i="1" lang="en-GB" sz="3600" u="none" cap="none" strike="noStrike">
                <a:solidFill>
                  <a:srgbClr val="002060"/>
                </a:solidFill>
                <a:latin typeface="Times New Roman"/>
                <a:ea typeface="Times New Roman"/>
                <a:cs typeface="Times New Roman"/>
                <a:sym typeface="Times New Roman"/>
              </a:rPr>
              <a:t>(s)+ b.F</a:t>
            </a:r>
            <a:r>
              <a:rPr b="0" baseline="-25000" i="1" lang="en-GB" sz="3600" u="none" cap="none" strike="noStrike">
                <a:solidFill>
                  <a:srgbClr val="002060"/>
                </a:solidFill>
                <a:latin typeface="Times New Roman"/>
                <a:ea typeface="Times New Roman"/>
                <a:cs typeface="Times New Roman"/>
                <a:sym typeface="Times New Roman"/>
              </a:rPr>
              <a:t>2</a:t>
            </a:r>
            <a:r>
              <a:rPr b="0" i="1" lang="en-GB" sz="3600" u="none" cap="none" strike="noStrike">
                <a:solidFill>
                  <a:srgbClr val="002060"/>
                </a:solidFill>
                <a:latin typeface="Times New Roman"/>
                <a:ea typeface="Times New Roman"/>
                <a:cs typeface="Times New Roman"/>
                <a:sym typeface="Times New Roman"/>
              </a:rPr>
              <a:t>(s)</a:t>
            </a:r>
            <a:endParaRPr b="0" i="0" sz="1100" u="none" cap="none" strike="noStrike">
              <a:solidFill>
                <a:schemeClr val="dk1"/>
              </a:solidFill>
              <a:latin typeface="Times New Roman"/>
              <a:ea typeface="Times New Roman"/>
              <a:cs typeface="Times New Roman"/>
              <a:sym typeface="Times New Roman"/>
            </a:endParaRPr>
          </a:p>
        </p:txBody>
      </p:sp>
      <p:sp>
        <p:nvSpPr>
          <p:cNvPr id="740" name="Google Shape;740;p25"/>
          <p:cNvSpPr/>
          <p:nvPr/>
        </p:nvSpPr>
        <p:spPr>
          <a:xfrm>
            <a:off x="3220916" y="3555389"/>
            <a:ext cx="6814038"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New Roman"/>
              <a:buNone/>
            </a:pPr>
            <a:r>
              <a:rPr b="0" i="1" lang="en-GB" sz="3600" u="none" cap="none" strike="noStrike">
                <a:solidFill>
                  <a:srgbClr val="002060"/>
                </a:solidFill>
                <a:latin typeface="Times New Roman"/>
                <a:ea typeface="Times New Roman"/>
                <a:cs typeface="Times New Roman"/>
                <a:sym typeface="Times New Roman"/>
              </a:rPr>
              <a:t>	</a:t>
            </a:r>
            <a:r>
              <a:rPr b="0" lang="en-GB" sz="3200" u="none" cap="none" strike="noStrike">
                <a:solidFill>
                  <a:srgbClr val="002060"/>
                </a:solidFill>
                <a:latin typeface="Times New Roman"/>
                <a:ea typeface="Times New Roman"/>
                <a:cs typeface="Times New Roman"/>
                <a:sym typeface="Times New Roman"/>
              </a:rPr>
              <a:t>first derivative	s </a:t>
            </a:r>
            <a:r>
              <a:rPr b="0" i="1" lang="en-GB" sz="3600" u="none" cap="none" strike="noStrike">
                <a:solidFill>
                  <a:srgbClr val="002060"/>
                </a:solidFill>
                <a:latin typeface="Times New Roman"/>
                <a:ea typeface="Times New Roman"/>
                <a:cs typeface="Times New Roman"/>
                <a:sym typeface="Times New Roman"/>
              </a:rPr>
              <a:t>	        F(s) – f(0-)</a:t>
            </a:r>
            <a:endParaRPr b="0" i="0" sz="1100" u="none" cap="none" strike="noStrike">
              <a:solidFill>
                <a:schemeClr val="dk1"/>
              </a:solidFill>
              <a:latin typeface="Times New Roman"/>
              <a:ea typeface="Times New Roman"/>
              <a:cs typeface="Times New Roman"/>
              <a:sym typeface="Times New Roman"/>
            </a:endParaRPr>
          </a:p>
        </p:txBody>
      </p:sp>
      <p:sp>
        <p:nvSpPr>
          <p:cNvPr id="741" name="Google Shape;741;p25"/>
          <p:cNvSpPr/>
          <p:nvPr/>
        </p:nvSpPr>
        <p:spPr>
          <a:xfrm>
            <a:off x="3463802" y="4471400"/>
            <a:ext cx="2843213" cy="58477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Times New Roman"/>
              <a:buNone/>
            </a:pPr>
            <a:r>
              <a:rPr b="0" lang="en-GB" sz="3200" u="none" cap="none" strike="noStrike">
                <a:solidFill>
                  <a:srgbClr val="002060"/>
                </a:solidFill>
                <a:latin typeface="Times New Roman"/>
                <a:ea typeface="Times New Roman"/>
                <a:cs typeface="Times New Roman"/>
                <a:sym typeface="Times New Roman"/>
              </a:rPr>
              <a:t>n</a:t>
            </a:r>
            <a:r>
              <a:rPr b="0" baseline="30000" lang="en-GB" sz="3200" u="none" cap="none" strike="noStrike">
                <a:solidFill>
                  <a:srgbClr val="002060"/>
                </a:solidFill>
                <a:latin typeface="Times New Roman"/>
                <a:ea typeface="Times New Roman"/>
                <a:cs typeface="Times New Roman"/>
                <a:sym typeface="Times New Roman"/>
              </a:rPr>
              <a:t>th</a:t>
            </a:r>
            <a:r>
              <a:rPr b="0" lang="en-GB" sz="3200" u="none" cap="none" strike="noStrike">
                <a:solidFill>
                  <a:srgbClr val="002060"/>
                </a:solidFill>
                <a:latin typeface="Times New Roman"/>
                <a:ea typeface="Times New Roman"/>
                <a:cs typeface="Times New Roman"/>
                <a:sym typeface="Times New Roman"/>
              </a:rPr>
              <a:t> derivative</a:t>
            </a:r>
            <a:endParaRPr b="0" sz="1600" u="none" cap="none" strike="noStrike">
              <a:solidFill>
                <a:schemeClr val="dk1"/>
              </a:solidFill>
              <a:latin typeface="Times New Roman"/>
              <a:ea typeface="Times New Roman"/>
              <a:cs typeface="Times New Roman"/>
              <a:sym typeface="Times New Roman"/>
            </a:endParaRPr>
          </a:p>
        </p:txBody>
      </p:sp>
      <p:sp>
        <p:nvSpPr>
          <p:cNvPr id="742" name="Google Shape;742;p25"/>
          <p:cNvSpPr/>
          <p:nvPr/>
        </p:nvSpPr>
        <p:spPr>
          <a:xfrm>
            <a:off x="0" y="6972300"/>
            <a:ext cx="12192000" cy="4572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Arial"/>
              <a:buNone/>
            </a:pPr>
            <a:r>
              <a:rPr b="0" i="1" lang="en-GB" sz="3600" u="none" cap="none" strike="noStrike">
                <a:solidFill>
                  <a:srgbClr val="002060"/>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743" name="Google Shape;743;p25"/>
          <p:cNvSpPr/>
          <p:nvPr/>
        </p:nvSpPr>
        <p:spPr>
          <a:xfrm>
            <a:off x="3483585" y="5736750"/>
            <a:ext cx="3859823" cy="58477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Times New Roman"/>
              <a:buNone/>
            </a:pPr>
            <a:r>
              <a:rPr b="0" lang="en-GB" sz="3200" u="none" cap="none" strike="noStrike">
                <a:solidFill>
                  <a:srgbClr val="002060"/>
                </a:solidFill>
                <a:latin typeface="Times New Roman"/>
                <a:ea typeface="Times New Roman"/>
                <a:cs typeface="Times New Roman"/>
                <a:sym typeface="Times New Roman"/>
              </a:rPr>
              <a:t>definite integral	</a:t>
            </a:r>
            <a:endParaRPr b="0" sz="16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pic>
        <p:nvPicPr>
          <p:cNvPr id="748" name="Google Shape;748;p26"/>
          <p:cNvPicPr preferRelativeResize="0"/>
          <p:nvPr/>
        </p:nvPicPr>
        <p:blipFill rotWithShape="1">
          <a:blip r:embed="rId3">
            <a:alphaModFix/>
          </a:blip>
          <a:srcRect b="0" l="0" r="0" t="0"/>
          <a:stretch/>
        </p:blipFill>
        <p:spPr>
          <a:xfrm>
            <a:off x="5186553" y="717574"/>
            <a:ext cx="1485900" cy="1104900"/>
          </a:xfrm>
          <a:prstGeom prst="rect">
            <a:avLst/>
          </a:prstGeom>
          <a:noFill/>
          <a:ln>
            <a:noFill/>
          </a:ln>
        </p:spPr>
      </p:pic>
      <p:pic>
        <p:nvPicPr>
          <p:cNvPr id="749" name="Google Shape;749;p26"/>
          <p:cNvPicPr preferRelativeResize="0"/>
          <p:nvPr/>
        </p:nvPicPr>
        <p:blipFill rotWithShape="1">
          <a:blip r:embed="rId4">
            <a:alphaModFix/>
          </a:blip>
          <a:srcRect b="0" l="0" r="0" t="0"/>
          <a:stretch/>
        </p:blipFill>
        <p:spPr>
          <a:xfrm>
            <a:off x="5427205" y="1782308"/>
            <a:ext cx="1466850" cy="1257300"/>
          </a:xfrm>
          <a:prstGeom prst="rect">
            <a:avLst/>
          </a:prstGeom>
          <a:noFill/>
          <a:ln>
            <a:noFill/>
          </a:ln>
        </p:spPr>
      </p:pic>
      <p:pic>
        <p:nvPicPr>
          <p:cNvPr id="750" name="Google Shape;750;p26"/>
          <p:cNvPicPr preferRelativeResize="0"/>
          <p:nvPr/>
        </p:nvPicPr>
        <p:blipFill rotWithShape="1">
          <a:blip r:embed="rId5">
            <a:alphaModFix/>
          </a:blip>
          <a:srcRect b="0" l="0" r="0" t="0"/>
          <a:stretch/>
        </p:blipFill>
        <p:spPr>
          <a:xfrm>
            <a:off x="4950067" y="5382749"/>
            <a:ext cx="4060581" cy="1337879"/>
          </a:xfrm>
          <a:prstGeom prst="rect">
            <a:avLst/>
          </a:prstGeom>
          <a:noFill/>
          <a:ln>
            <a:noFill/>
          </a:ln>
        </p:spPr>
      </p:pic>
      <p:sp>
        <p:nvSpPr>
          <p:cNvPr id="751" name="Google Shape;751;p26"/>
          <p:cNvSpPr/>
          <p:nvPr/>
        </p:nvSpPr>
        <p:spPr>
          <a:xfrm>
            <a:off x="900605" y="717574"/>
            <a:ext cx="1321878"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New Roman"/>
              <a:buNone/>
            </a:pPr>
            <a:r>
              <a:rPr b="0" i="1" lang="en-GB" sz="3600" u="none" cap="none" strike="noStrike">
                <a:solidFill>
                  <a:srgbClr val="002060"/>
                </a:solidFill>
                <a:latin typeface="Times New Roman"/>
                <a:ea typeface="Times New Roman"/>
                <a:cs typeface="Times New Roman"/>
                <a:sym typeface="Times New Roman"/>
              </a:rPr>
              <a:t>t . f(t)</a:t>
            </a:r>
            <a:endParaRPr b="0" i="0" sz="1800" u="none" cap="none" strike="noStrike">
              <a:solidFill>
                <a:schemeClr val="dk1"/>
              </a:solidFill>
              <a:latin typeface="Times New Roman"/>
              <a:ea typeface="Times New Roman"/>
              <a:cs typeface="Times New Roman"/>
              <a:sym typeface="Times New Roman"/>
            </a:endParaRPr>
          </a:p>
        </p:txBody>
      </p:sp>
      <p:sp>
        <p:nvSpPr>
          <p:cNvPr id="752" name="Google Shape;752;p26"/>
          <p:cNvSpPr/>
          <p:nvPr/>
        </p:nvSpPr>
        <p:spPr>
          <a:xfrm>
            <a:off x="648357" y="1873122"/>
            <a:ext cx="2157046"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New Roman"/>
              <a:buNone/>
            </a:pPr>
            <a:r>
              <a:rPr b="0" i="1" lang="en-GB" sz="3600" u="none" cap="none" strike="noStrike">
                <a:solidFill>
                  <a:srgbClr val="002060"/>
                </a:solidFill>
                <a:latin typeface="Times New Roman"/>
                <a:ea typeface="Times New Roman"/>
                <a:cs typeface="Times New Roman"/>
                <a:sym typeface="Times New Roman"/>
              </a:rPr>
              <a:t>(-t)</a:t>
            </a:r>
            <a:r>
              <a:rPr b="0" baseline="30000" i="1" lang="en-GB" sz="3600" u="none" cap="none" strike="noStrike">
                <a:solidFill>
                  <a:srgbClr val="002060"/>
                </a:solidFill>
                <a:latin typeface="Times New Roman"/>
                <a:ea typeface="Times New Roman"/>
                <a:cs typeface="Times New Roman"/>
                <a:sym typeface="Times New Roman"/>
              </a:rPr>
              <a:t>n</a:t>
            </a:r>
            <a:r>
              <a:rPr b="0" i="1" lang="en-GB" sz="3600" u="none" cap="none" strike="noStrike">
                <a:solidFill>
                  <a:srgbClr val="002060"/>
                </a:solidFill>
                <a:latin typeface="Times New Roman"/>
                <a:ea typeface="Times New Roman"/>
                <a:cs typeface="Times New Roman"/>
                <a:sym typeface="Times New Roman"/>
              </a:rPr>
              <a:t>.f(t)	</a:t>
            </a:r>
            <a:endParaRPr b="0" i="0" sz="1800" u="none" cap="none" strike="noStrike">
              <a:solidFill>
                <a:schemeClr val="dk1"/>
              </a:solidFill>
              <a:latin typeface="Times New Roman"/>
              <a:ea typeface="Times New Roman"/>
              <a:cs typeface="Times New Roman"/>
              <a:sym typeface="Times New Roman"/>
            </a:endParaRPr>
          </a:p>
        </p:txBody>
      </p:sp>
      <p:sp>
        <p:nvSpPr>
          <p:cNvPr id="753" name="Google Shape;753;p26"/>
          <p:cNvSpPr/>
          <p:nvPr/>
        </p:nvSpPr>
        <p:spPr>
          <a:xfrm>
            <a:off x="633046" y="3028671"/>
            <a:ext cx="5121368" cy="1384995"/>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2060"/>
              </a:buClr>
              <a:buSzPts val="4800"/>
              <a:buFont typeface="Times New Roman"/>
              <a:buNone/>
            </a:pPr>
            <a:r>
              <a:rPr b="0" i="1" lang="en-GB" sz="4800" u="none" cap="none" strike="noStrike">
                <a:solidFill>
                  <a:srgbClr val="002060"/>
                </a:solidFill>
                <a:latin typeface="Times New Roman"/>
                <a:ea typeface="Times New Roman"/>
                <a:cs typeface="Times New Roman"/>
                <a:sym typeface="Times New Roman"/>
              </a:rPr>
              <a:t>e</a:t>
            </a:r>
            <a:r>
              <a:rPr b="0" baseline="30000" i="1" lang="en-GB" sz="4800" u="none" cap="none" strike="noStrike">
                <a:solidFill>
                  <a:srgbClr val="002060"/>
                </a:solidFill>
                <a:latin typeface="Times New Roman"/>
                <a:ea typeface="Times New Roman"/>
                <a:cs typeface="Times New Roman"/>
                <a:sym typeface="Times New Roman"/>
              </a:rPr>
              <a:t>-</a:t>
            </a:r>
            <a:r>
              <a:rPr b="0" baseline="30000" i="1" lang="en-GB" sz="4800" u="none" cap="none" strike="noStrike">
                <a:solidFill>
                  <a:srgbClr val="002060"/>
                </a:solidFill>
                <a:latin typeface="Noto Sans Symbols"/>
                <a:ea typeface="Noto Sans Symbols"/>
                <a:cs typeface="Noto Sans Symbols"/>
                <a:sym typeface="Noto Sans Symbols"/>
              </a:rPr>
              <a:t>α</a:t>
            </a:r>
            <a:r>
              <a:rPr b="0" baseline="30000" i="1" lang="en-GB" sz="4800" u="none" cap="none" strike="noStrike">
                <a:solidFill>
                  <a:srgbClr val="002060"/>
                </a:solidFill>
                <a:latin typeface="Times New Roman"/>
                <a:ea typeface="Times New Roman"/>
                <a:cs typeface="Times New Roman"/>
                <a:sym typeface="Times New Roman"/>
              </a:rPr>
              <a:t> t</a:t>
            </a:r>
            <a:r>
              <a:rPr b="0" i="1" lang="en-GB" sz="4800" u="none" cap="none" strike="noStrike">
                <a:solidFill>
                  <a:srgbClr val="002060"/>
                </a:solidFill>
                <a:latin typeface="Times New Roman"/>
                <a:ea typeface="Times New Roman"/>
                <a:cs typeface="Times New Roman"/>
                <a:sym typeface="Times New Roman"/>
              </a:rPr>
              <a:t>.f(t)</a:t>
            </a:r>
            <a:r>
              <a:rPr b="0" i="0" lang="en-GB" sz="4800" u="none" cap="none" strike="noStrike">
                <a:solidFill>
                  <a:srgbClr val="002060"/>
                </a:solidFill>
                <a:latin typeface="Times New Roman"/>
                <a:ea typeface="Times New Roman"/>
                <a:cs typeface="Times New Roman"/>
                <a:sym typeface="Times New Roman"/>
              </a:rPr>
              <a:t>	</a:t>
            </a:r>
            <a:endParaRPr/>
          </a:p>
          <a:p>
            <a:pPr indent="0" lvl="0" marL="0" marR="0" rtl="0" algn="l">
              <a:spcBef>
                <a:spcPts val="0"/>
              </a:spcBef>
              <a:spcAft>
                <a:spcPts val="0"/>
              </a:spcAft>
              <a:buClr>
                <a:srgbClr val="002060"/>
              </a:buClr>
              <a:buSzPts val="3200"/>
              <a:buFont typeface="Times New Roman"/>
              <a:buNone/>
            </a:pPr>
            <a:r>
              <a:rPr b="0" i="1" lang="en-GB" sz="3200" u="none" cap="none" strike="noStrike">
                <a:solidFill>
                  <a:srgbClr val="002060"/>
                </a:solidFill>
                <a:latin typeface="Times New Roman"/>
                <a:ea typeface="Times New Roman"/>
                <a:cs typeface="Times New Roman"/>
                <a:sym typeface="Times New Roman"/>
              </a:rPr>
              <a:t>exponential multiplier</a:t>
            </a:r>
            <a:r>
              <a:rPr b="0" i="0" lang="en-GB" sz="3600" u="none" cap="none" strike="noStrike">
                <a:solidFill>
                  <a:srgbClr val="002060"/>
                </a:solidFill>
                <a:latin typeface="Times New Roman"/>
                <a:ea typeface="Times New Roman"/>
                <a:cs typeface="Times New Roman"/>
                <a:sym typeface="Times New Roman"/>
              </a:rPr>
              <a:t>	</a:t>
            </a:r>
            <a:endParaRPr b="0" i="0" sz="1100" u="none" cap="none" strike="noStrike">
              <a:solidFill>
                <a:schemeClr val="dk1"/>
              </a:solidFill>
              <a:latin typeface="Times New Roman"/>
              <a:ea typeface="Times New Roman"/>
              <a:cs typeface="Times New Roman"/>
              <a:sym typeface="Times New Roman"/>
            </a:endParaRPr>
          </a:p>
        </p:txBody>
      </p:sp>
      <p:sp>
        <p:nvSpPr>
          <p:cNvPr id="754" name="Google Shape;754;p26"/>
          <p:cNvSpPr/>
          <p:nvPr/>
        </p:nvSpPr>
        <p:spPr>
          <a:xfrm>
            <a:off x="742950" y="5382749"/>
            <a:ext cx="3821723" cy="1138773"/>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Times New Roman"/>
              <a:buNone/>
            </a:pPr>
            <a:r>
              <a:rPr b="0" i="1" lang="en-GB" sz="3600" u="none" cap="none" strike="noStrike">
                <a:solidFill>
                  <a:srgbClr val="002060"/>
                </a:solidFill>
                <a:latin typeface="Times New Roman"/>
                <a:ea typeface="Times New Roman"/>
                <a:cs typeface="Times New Roman"/>
                <a:sym typeface="Times New Roman"/>
              </a:rPr>
              <a:t>periodic function</a:t>
            </a:r>
            <a:endParaRPr/>
          </a:p>
          <a:p>
            <a:pPr indent="0" lvl="0" marL="0" marR="0" rtl="0" algn="ctr">
              <a:spcBef>
                <a:spcPts val="0"/>
              </a:spcBef>
              <a:spcAft>
                <a:spcPts val="0"/>
              </a:spcAft>
              <a:buNone/>
            </a:pPr>
            <a:r>
              <a:rPr lang="en-GB" sz="3200">
                <a:solidFill>
                  <a:srgbClr val="002060"/>
                </a:solidFill>
                <a:latin typeface="Times New Roman"/>
                <a:ea typeface="Times New Roman"/>
                <a:cs typeface="Times New Roman"/>
                <a:sym typeface="Times New Roman"/>
              </a:rPr>
              <a:t>(period T)</a:t>
            </a:r>
            <a:endParaRPr sz="3200">
              <a:solidFill>
                <a:schemeClr val="dk1"/>
              </a:solidFill>
              <a:latin typeface="Times New Roman"/>
              <a:ea typeface="Times New Roman"/>
              <a:cs typeface="Times New Roman"/>
              <a:sym typeface="Times New Roman"/>
            </a:endParaRPr>
          </a:p>
        </p:txBody>
      </p:sp>
      <p:sp>
        <p:nvSpPr>
          <p:cNvPr id="755" name="Google Shape;755;p26"/>
          <p:cNvSpPr/>
          <p:nvPr/>
        </p:nvSpPr>
        <p:spPr>
          <a:xfrm>
            <a:off x="742950" y="4518067"/>
            <a:ext cx="683015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f(t </a:t>
            </a:r>
            <a:r>
              <a:rPr b="1" lang="en-GB" sz="3600">
                <a:solidFill>
                  <a:srgbClr val="002060"/>
                </a:solidFill>
                <a:latin typeface="Times New Roman"/>
                <a:ea typeface="Times New Roman"/>
                <a:cs typeface="Times New Roman"/>
                <a:sym typeface="Times New Roman"/>
              </a:rPr>
              <a:t>–</a:t>
            </a:r>
            <a:r>
              <a:rPr lang="en-GB" sz="3600">
                <a:solidFill>
                  <a:srgbClr val="002060"/>
                </a:solidFill>
                <a:latin typeface="Times New Roman"/>
                <a:ea typeface="Times New Roman"/>
                <a:cs typeface="Times New Roman"/>
                <a:sym typeface="Times New Roman"/>
              </a:rPr>
              <a:t> </a:t>
            </a:r>
            <a:r>
              <a:rPr lang="en-GB" sz="3600">
                <a:solidFill>
                  <a:srgbClr val="002060"/>
                </a:solidFill>
                <a:latin typeface="Noto Sans Symbols"/>
                <a:ea typeface="Noto Sans Symbols"/>
                <a:cs typeface="Noto Sans Symbols"/>
                <a:sym typeface="Noto Sans Symbols"/>
              </a:rPr>
              <a:t>τ</a:t>
            </a:r>
            <a:r>
              <a:rPr lang="en-GB" sz="3600">
                <a:solidFill>
                  <a:srgbClr val="002060"/>
                </a:solidFill>
                <a:latin typeface="Times New Roman"/>
                <a:ea typeface="Times New Roman"/>
                <a:cs typeface="Times New Roman"/>
                <a:sym typeface="Times New Roman"/>
              </a:rPr>
              <a:t>)	  </a:t>
            </a:r>
            <a:r>
              <a:rPr i="1" lang="en-GB" sz="3600">
                <a:solidFill>
                  <a:srgbClr val="002060"/>
                </a:solidFill>
                <a:latin typeface="Times New Roman"/>
                <a:ea typeface="Times New Roman"/>
                <a:cs typeface="Times New Roman"/>
                <a:sym typeface="Times New Roman"/>
              </a:rPr>
              <a:t>shift in time</a:t>
            </a:r>
            <a:r>
              <a:rPr lang="en-GB" sz="3600">
                <a:solidFill>
                  <a:srgbClr val="002060"/>
                </a:solidFill>
                <a:latin typeface="Times New Roman"/>
                <a:ea typeface="Times New Roman"/>
                <a:cs typeface="Times New Roman"/>
                <a:sym typeface="Times New Roman"/>
              </a:rPr>
              <a:t>		e</a:t>
            </a:r>
            <a:r>
              <a:rPr baseline="30000" lang="en-GB" sz="3600">
                <a:solidFill>
                  <a:srgbClr val="002060"/>
                </a:solidFill>
                <a:latin typeface="Times New Roman"/>
                <a:ea typeface="Times New Roman"/>
                <a:cs typeface="Times New Roman"/>
                <a:sym typeface="Times New Roman"/>
              </a:rPr>
              <a:t>-s</a:t>
            </a:r>
            <a:r>
              <a:rPr baseline="30000" lang="en-GB" sz="3600">
                <a:solidFill>
                  <a:srgbClr val="002060"/>
                </a:solidFill>
                <a:latin typeface="Noto Sans Symbols"/>
                <a:ea typeface="Noto Sans Symbols"/>
                <a:cs typeface="Noto Sans Symbols"/>
                <a:sym typeface="Noto Sans Symbols"/>
              </a:rPr>
              <a:t>τ</a:t>
            </a:r>
            <a:r>
              <a:rPr lang="en-GB" sz="3600">
                <a:solidFill>
                  <a:srgbClr val="002060"/>
                </a:solidFill>
                <a:latin typeface="Times New Roman"/>
                <a:ea typeface="Times New Roman"/>
                <a:cs typeface="Times New Roman"/>
                <a:sym typeface="Times New Roman"/>
              </a:rPr>
              <a:t>.F(s)</a:t>
            </a:r>
            <a:endParaRPr sz="1200">
              <a:solidFill>
                <a:schemeClr val="dk1"/>
              </a:solidFill>
              <a:latin typeface="Times New Roman"/>
              <a:ea typeface="Times New Roman"/>
              <a:cs typeface="Times New Roman"/>
              <a:sym typeface="Times New Roman"/>
            </a:endParaRPr>
          </a:p>
        </p:txBody>
      </p:sp>
      <p:sp>
        <p:nvSpPr>
          <p:cNvPr id="756" name="Google Shape;756;p26"/>
          <p:cNvSpPr/>
          <p:nvPr/>
        </p:nvSpPr>
        <p:spPr>
          <a:xfrm>
            <a:off x="5569101" y="3348202"/>
            <a:ext cx="147989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F(s+</a:t>
            </a:r>
            <a:r>
              <a:rPr lang="en-GB" sz="3600">
                <a:solidFill>
                  <a:srgbClr val="002060"/>
                </a:solidFill>
                <a:latin typeface="Noto Sans Symbols"/>
                <a:ea typeface="Noto Sans Symbols"/>
                <a:cs typeface="Noto Sans Symbols"/>
                <a:sym typeface="Noto Sans Symbols"/>
              </a:rPr>
              <a:t>α</a:t>
            </a:r>
            <a:r>
              <a:rPr lang="en-GB" sz="3600">
                <a:solidFill>
                  <a:srgbClr val="002060"/>
                </a:solidFill>
                <a:latin typeface="Times New Roman"/>
                <a:ea typeface="Times New Roman"/>
                <a:cs typeface="Times New Roman"/>
                <a:sym typeface="Times New Roman"/>
              </a:rPr>
              <a:t>)</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27"/>
          <p:cNvSpPr txBox="1"/>
          <p:nvPr>
            <p:ph type="title"/>
          </p:nvPr>
        </p:nvSpPr>
        <p:spPr>
          <a:xfrm>
            <a:off x="429715" y="614859"/>
            <a:ext cx="10924085" cy="5517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Times New Roman"/>
              <a:buNone/>
            </a:pPr>
            <a:r>
              <a:rPr lang="en-GB"/>
              <a:t>Transient Analysis of Circuits using Laplace Transform</a:t>
            </a:r>
            <a:endParaRPr/>
          </a:p>
        </p:txBody>
      </p:sp>
      <p:sp>
        <p:nvSpPr>
          <p:cNvPr id="762" name="Google Shape;762;p27"/>
          <p:cNvSpPr/>
          <p:nvPr/>
        </p:nvSpPr>
        <p:spPr>
          <a:xfrm>
            <a:off x="429715" y="1168733"/>
            <a:ext cx="6860875" cy="517064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GB" sz="3200">
                <a:solidFill>
                  <a:srgbClr val="002060"/>
                </a:solidFill>
                <a:latin typeface="Times New Roman"/>
                <a:ea typeface="Times New Roman"/>
                <a:cs typeface="Times New Roman"/>
                <a:sym typeface="Times New Roman"/>
              </a:rPr>
              <a:t>Electrical Circuits are usually governed by linear differential equations.  </a:t>
            </a:r>
            <a:endParaRPr sz="3200">
              <a:solidFill>
                <a:schemeClr val="dk1"/>
              </a:solidFill>
              <a:latin typeface="Times New Roman"/>
              <a:ea typeface="Times New Roman"/>
              <a:cs typeface="Times New Roman"/>
              <a:sym typeface="Times New Roman"/>
            </a:endParaRPr>
          </a:p>
          <a:p>
            <a:pPr indent="0" lvl="0" marL="0" marR="0" rtl="0" algn="just">
              <a:spcBef>
                <a:spcPts val="600"/>
              </a:spcBef>
              <a:spcAft>
                <a:spcPts val="0"/>
              </a:spcAft>
              <a:buNone/>
            </a:pPr>
            <a:r>
              <a:rPr lang="en-GB" sz="3200">
                <a:solidFill>
                  <a:srgbClr val="002060"/>
                </a:solidFill>
                <a:latin typeface="Times New Roman"/>
                <a:ea typeface="Times New Roman"/>
                <a:cs typeface="Times New Roman"/>
                <a:sym typeface="Times New Roman"/>
              </a:rPr>
              <a:t>Since derivatives and integrals get converted to multiplications and divisions in the s-domain, solution of circuit equations can be converted to solution of algebraic equations.</a:t>
            </a:r>
            <a:endParaRPr sz="3200">
              <a:solidFill>
                <a:schemeClr val="dk1"/>
              </a:solidFill>
              <a:latin typeface="Times New Roman"/>
              <a:ea typeface="Times New Roman"/>
              <a:cs typeface="Times New Roman"/>
              <a:sym typeface="Times New Roman"/>
            </a:endParaRPr>
          </a:p>
          <a:p>
            <a:pPr indent="0" lvl="0" marL="0" marR="0" rtl="0" algn="l">
              <a:spcBef>
                <a:spcPts val="600"/>
              </a:spcBef>
              <a:spcAft>
                <a:spcPts val="0"/>
              </a:spcAft>
              <a:buNone/>
            </a:pPr>
            <a:r>
              <a:rPr lang="en-GB" sz="3200">
                <a:solidFill>
                  <a:srgbClr val="002060"/>
                </a:solidFill>
                <a:latin typeface="Times New Roman"/>
                <a:ea typeface="Times New Roman"/>
                <a:cs typeface="Times New Roman"/>
                <a:sym typeface="Times New Roman"/>
              </a:rPr>
              <a:t>Let us consider representation of the three basic circuit components, R, L and C, in Laplace Transform analysis.</a:t>
            </a:r>
            <a:endParaRPr sz="3200">
              <a:solidFill>
                <a:schemeClr val="dk1"/>
              </a:solidFill>
              <a:latin typeface="Calibri"/>
              <a:ea typeface="Calibri"/>
              <a:cs typeface="Calibri"/>
              <a:sym typeface="Calibri"/>
            </a:endParaRPr>
          </a:p>
        </p:txBody>
      </p:sp>
      <p:sp>
        <p:nvSpPr>
          <p:cNvPr id="763" name="Google Shape;763;p27"/>
          <p:cNvSpPr txBox="1"/>
          <p:nvPr/>
        </p:nvSpPr>
        <p:spPr>
          <a:xfrm>
            <a:off x="7490011" y="3377982"/>
            <a:ext cx="4615366" cy="1130181"/>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
        <p:nvSpPr>
          <p:cNvPr id="764" name="Google Shape;764;p27"/>
          <p:cNvSpPr txBox="1"/>
          <p:nvPr/>
        </p:nvSpPr>
        <p:spPr>
          <a:xfrm>
            <a:off x="9492203" y="4349189"/>
            <a:ext cx="2393669" cy="671722"/>
          </a:xfrm>
          <a:prstGeom prst="rect">
            <a:avLst/>
          </a:prstGeom>
          <a:blipFill rotWithShape="1">
            <a:blip r:embed="rId4">
              <a:alphaModFix/>
            </a:blip>
            <a:stretch>
              <a:fillRect b="-19818" l="0" r="0" t="-89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grpSp>
        <p:nvGrpSpPr>
          <p:cNvPr id="765" name="Google Shape;765;p27"/>
          <p:cNvGrpSpPr/>
          <p:nvPr/>
        </p:nvGrpSpPr>
        <p:grpSpPr>
          <a:xfrm>
            <a:off x="8246112" y="1364826"/>
            <a:ext cx="3446899" cy="1839654"/>
            <a:chOff x="8425731" y="1364826"/>
            <a:chExt cx="3446899" cy="1839654"/>
          </a:xfrm>
        </p:grpSpPr>
        <p:grpSp>
          <p:nvGrpSpPr>
            <p:cNvPr id="766" name="Google Shape;766;p27"/>
            <p:cNvGrpSpPr/>
            <p:nvPr/>
          </p:nvGrpSpPr>
          <p:grpSpPr>
            <a:xfrm>
              <a:off x="8671431" y="1475396"/>
              <a:ext cx="3201199" cy="1729084"/>
              <a:chOff x="4416" y="1801"/>
              <a:chExt cx="3479" cy="1879"/>
            </a:xfrm>
          </p:grpSpPr>
          <p:cxnSp>
            <p:nvCxnSpPr>
              <p:cNvPr id="767" name="Google Shape;767;p27"/>
              <p:cNvCxnSpPr/>
              <p:nvPr/>
            </p:nvCxnSpPr>
            <p:spPr>
              <a:xfrm>
                <a:off x="4518" y="1808"/>
                <a:ext cx="1" cy="298"/>
              </a:xfrm>
              <a:prstGeom prst="straightConnector1">
                <a:avLst/>
              </a:prstGeom>
              <a:noFill/>
              <a:ln cap="flat" cmpd="sng" w="31750">
                <a:solidFill>
                  <a:srgbClr val="002060"/>
                </a:solidFill>
                <a:prstDash val="solid"/>
                <a:round/>
                <a:headEnd len="med" w="med" type="none"/>
                <a:tailEnd len="med" w="med" type="none"/>
              </a:ln>
            </p:spPr>
          </p:cxnSp>
          <p:sp>
            <p:nvSpPr>
              <p:cNvPr id="768" name="Google Shape;768;p27"/>
              <p:cNvSpPr/>
              <p:nvPr/>
            </p:nvSpPr>
            <p:spPr>
              <a:xfrm>
                <a:off x="4416" y="2108"/>
                <a:ext cx="223" cy="583"/>
              </a:xfrm>
              <a:prstGeom prst="rect">
                <a:avLst/>
              </a:prstGeom>
              <a:noFill/>
              <a:ln cap="flat" cmpd="sng" w="31750">
                <a:solidFill>
                  <a:srgbClr val="00206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769" name="Google Shape;769;p27"/>
              <p:cNvCxnSpPr/>
              <p:nvPr/>
            </p:nvCxnSpPr>
            <p:spPr>
              <a:xfrm>
                <a:off x="4518" y="2690"/>
                <a:ext cx="1" cy="298"/>
              </a:xfrm>
              <a:prstGeom prst="straightConnector1">
                <a:avLst/>
              </a:prstGeom>
              <a:noFill/>
              <a:ln cap="flat" cmpd="sng" w="31750">
                <a:solidFill>
                  <a:srgbClr val="002060"/>
                </a:solidFill>
                <a:prstDash val="solid"/>
                <a:round/>
                <a:headEnd len="med" w="med" type="none"/>
                <a:tailEnd len="med" w="med" type="none"/>
              </a:ln>
            </p:spPr>
          </p:cxnSp>
          <p:cxnSp>
            <p:nvCxnSpPr>
              <p:cNvPr id="770" name="Google Shape;770;p27"/>
              <p:cNvCxnSpPr/>
              <p:nvPr/>
            </p:nvCxnSpPr>
            <p:spPr>
              <a:xfrm>
                <a:off x="4501" y="3374"/>
                <a:ext cx="1" cy="298"/>
              </a:xfrm>
              <a:prstGeom prst="straightConnector1">
                <a:avLst/>
              </a:prstGeom>
              <a:noFill/>
              <a:ln cap="flat" cmpd="sng" w="31750">
                <a:solidFill>
                  <a:srgbClr val="002060"/>
                </a:solidFill>
                <a:prstDash val="solid"/>
                <a:round/>
                <a:headEnd len="med" w="med" type="none"/>
                <a:tailEnd len="med" w="med" type="none"/>
              </a:ln>
            </p:spPr>
          </p:cxnSp>
          <p:cxnSp>
            <p:nvCxnSpPr>
              <p:cNvPr id="771" name="Google Shape;771;p27"/>
              <p:cNvCxnSpPr/>
              <p:nvPr/>
            </p:nvCxnSpPr>
            <p:spPr>
              <a:xfrm>
                <a:off x="4527" y="1801"/>
                <a:ext cx="655" cy="1"/>
              </a:xfrm>
              <a:prstGeom prst="straightConnector1">
                <a:avLst/>
              </a:prstGeom>
              <a:noFill/>
              <a:ln cap="flat" cmpd="sng" w="31750">
                <a:solidFill>
                  <a:srgbClr val="002060"/>
                </a:solidFill>
                <a:prstDash val="solid"/>
                <a:round/>
                <a:headEnd len="sm" w="sm" type="none"/>
                <a:tailEnd len="lg" w="lg" type="stealth"/>
              </a:ln>
            </p:spPr>
          </p:cxnSp>
          <p:cxnSp>
            <p:nvCxnSpPr>
              <p:cNvPr id="772" name="Google Shape;772;p27"/>
              <p:cNvCxnSpPr/>
              <p:nvPr/>
            </p:nvCxnSpPr>
            <p:spPr>
              <a:xfrm>
                <a:off x="5178" y="1816"/>
                <a:ext cx="1963" cy="1"/>
              </a:xfrm>
              <a:prstGeom prst="straightConnector1">
                <a:avLst/>
              </a:prstGeom>
              <a:noFill/>
              <a:ln cap="flat" cmpd="sng" w="31750">
                <a:solidFill>
                  <a:srgbClr val="002060"/>
                </a:solidFill>
                <a:prstDash val="solid"/>
                <a:round/>
                <a:headEnd len="med" w="med" type="none"/>
                <a:tailEnd len="med" w="med" type="none"/>
              </a:ln>
            </p:spPr>
          </p:cxnSp>
          <p:cxnSp>
            <p:nvCxnSpPr>
              <p:cNvPr id="773" name="Google Shape;773;p27"/>
              <p:cNvCxnSpPr/>
              <p:nvPr/>
            </p:nvCxnSpPr>
            <p:spPr>
              <a:xfrm>
                <a:off x="5934" y="1825"/>
                <a:ext cx="1" cy="853"/>
              </a:xfrm>
              <a:prstGeom prst="straightConnector1">
                <a:avLst/>
              </a:prstGeom>
              <a:noFill/>
              <a:ln cap="flat" cmpd="sng" w="31750">
                <a:solidFill>
                  <a:srgbClr val="002060"/>
                </a:solidFill>
                <a:prstDash val="solid"/>
                <a:round/>
                <a:headEnd len="med" w="med" type="none"/>
                <a:tailEnd len="med" w="med" type="none"/>
              </a:ln>
            </p:spPr>
          </p:cxnSp>
          <p:cxnSp>
            <p:nvCxnSpPr>
              <p:cNvPr id="774" name="Google Shape;774;p27"/>
              <p:cNvCxnSpPr/>
              <p:nvPr/>
            </p:nvCxnSpPr>
            <p:spPr>
              <a:xfrm>
                <a:off x="5640" y="2689"/>
                <a:ext cx="625" cy="1"/>
              </a:xfrm>
              <a:prstGeom prst="straightConnector1">
                <a:avLst/>
              </a:prstGeom>
              <a:noFill/>
              <a:ln cap="flat" cmpd="sng" w="31750">
                <a:solidFill>
                  <a:srgbClr val="002060"/>
                </a:solidFill>
                <a:prstDash val="solid"/>
                <a:round/>
                <a:headEnd len="med" w="med" type="none"/>
                <a:tailEnd len="med" w="med" type="none"/>
              </a:ln>
            </p:spPr>
          </p:cxnSp>
          <p:cxnSp>
            <p:nvCxnSpPr>
              <p:cNvPr id="775" name="Google Shape;775;p27"/>
              <p:cNvCxnSpPr/>
              <p:nvPr/>
            </p:nvCxnSpPr>
            <p:spPr>
              <a:xfrm>
                <a:off x="5640" y="2833"/>
                <a:ext cx="625" cy="1"/>
              </a:xfrm>
              <a:prstGeom prst="straightConnector1">
                <a:avLst/>
              </a:prstGeom>
              <a:noFill/>
              <a:ln cap="flat" cmpd="sng" w="31750">
                <a:solidFill>
                  <a:srgbClr val="002060"/>
                </a:solidFill>
                <a:prstDash val="solid"/>
                <a:round/>
                <a:headEnd len="med" w="med" type="none"/>
                <a:tailEnd len="med" w="med" type="none"/>
              </a:ln>
            </p:spPr>
          </p:cxnSp>
          <p:cxnSp>
            <p:nvCxnSpPr>
              <p:cNvPr id="776" name="Google Shape;776;p27"/>
              <p:cNvCxnSpPr/>
              <p:nvPr/>
            </p:nvCxnSpPr>
            <p:spPr>
              <a:xfrm>
                <a:off x="5940" y="2824"/>
                <a:ext cx="1" cy="853"/>
              </a:xfrm>
              <a:prstGeom prst="straightConnector1">
                <a:avLst/>
              </a:prstGeom>
              <a:noFill/>
              <a:ln cap="flat" cmpd="sng" w="31750">
                <a:solidFill>
                  <a:srgbClr val="002060"/>
                </a:solidFill>
                <a:prstDash val="solid"/>
                <a:round/>
                <a:headEnd len="med" w="med" type="none"/>
                <a:tailEnd len="med" w="med" type="none"/>
              </a:ln>
            </p:spPr>
          </p:cxnSp>
          <p:cxnSp>
            <p:nvCxnSpPr>
              <p:cNvPr id="777" name="Google Shape;777;p27"/>
              <p:cNvCxnSpPr/>
              <p:nvPr/>
            </p:nvCxnSpPr>
            <p:spPr>
              <a:xfrm flipH="1">
                <a:off x="7104" y="3382"/>
                <a:ext cx="1" cy="295"/>
              </a:xfrm>
              <a:prstGeom prst="straightConnector1">
                <a:avLst/>
              </a:prstGeom>
              <a:noFill/>
              <a:ln cap="flat" cmpd="sng" w="31750">
                <a:solidFill>
                  <a:srgbClr val="002060"/>
                </a:solidFill>
                <a:prstDash val="solid"/>
                <a:round/>
                <a:headEnd len="med" w="med" type="none"/>
                <a:tailEnd len="med" w="med" type="none"/>
              </a:ln>
            </p:spPr>
          </p:cxnSp>
          <p:sp>
            <p:nvSpPr>
              <p:cNvPr id="778" name="Google Shape;778;p27"/>
              <p:cNvSpPr/>
              <p:nvPr/>
            </p:nvSpPr>
            <p:spPr>
              <a:xfrm>
                <a:off x="7008" y="2845"/>
                <a:ext cx="205" cy="529"/>
              </a:xfrm>
              <a:prstGeom prst="rect">
                <a:avLst/>
              </a:prstGeom>
              <a:noFill/>
              <a:ln cap="flat" cmpd="sng" w="31750">
                <a:solidFill>
                  <a:srgbClr val="00206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779" name="Google Shape;779;p27"/>
              <p:cNvCxnSpPr/>
              <p:nvPr/>
            </p:nvCxnSpPr>
            <p:spPr>
              <a:xfrm flipH="1">
                <a:off x="7104" y="2620"/>
                <a:ext cx="1" cy="223"/>
              </a:xfrm>
              <a:prstGeom prst="straightConnector1">
                <a:avLst/>
              </a:prstGeom>
              <a:noFill/>
              <a:ln cap="flat" cmpd="sng" w="31750">
                <a:solidFill>
                  <a:srgbClr val="002060"/>
                </a:solidFill>
                <a:prstDash val="solid"/>
                <a:round/>
                <a:headEnd len="med" w="med" type="none"/>
                <a:tailEnd len="med" w="med" type="none"/>
              </a:ln>
            </p:spPr>
          </p:cxnSp>
          <p:cxnSp>
            <p:nvCxnSpPr>
              <p:cNvPr id="780" name="Google Shape;780;p27"/>
              <p:cNvCxnSpPr/>
              <p:nvPr/>
            </p:nvCxnSpPr>
            <p:spPr>
              <a:xfrm flipH="1">
                <a:off x="7122" y="1822"/>
                <a:ext cx="1" cy="239"/>
              </a:xfrm>
              <a:prstGeom prst="straightConnector1">
                <a:avLst/>
              </a:prstGeom>
              <a:noFill/>
              <a:ln cap="flat" cmpd="sng" w="31750">
                <a:solidFill>
                  <a:srgbClr val="002060"/>
                </a:solidFill>
                <a:prstDash val="solid"/>
                <a:round/>
                <a:headEnd len="med" w="med" type="none"/>
                <a:tailEnd len="med" w="med" type="none"/>
              </a:ln>
            </p:spPr>
          </p:cxnSp>
          <p:cxnSp>
            <p:nvCxnSpPr>
              <p:cNvPr id="781" name="Google Shape;781;p27"/>
              <p:cNvCxnSpPr/>
              <p:nvPr/>
            </p:nvCxnSpPr>
            <p:spPr>
              <a:xfrm>
                <a:off x="4467" y="3679"/>
                <a:ext cx="2633" cy="1"/>
              </a:xfrm>
              <a:prstGeom prst="straightConnector1">
                <a:avLst/>
              </a:prstGeom>
              <a:noFill/>
              <a:ln cap="flat" cmpd="sng" w="31750">
                <a:solidFill>
                  <a:srgbClr val="002060"/>
                </a:solidFill>
                <a:prstDash val="solid"/>
                <a:round/>
                <a:headEnd len="med" w="med" type="none"/>
                <a:tailEnd len="med" w="med" type="none"/>
              </a:ln>
            </p:spPr>
          </p:cxnSp>
          <p:sp>
            <p:nvSpPr>
              <p:cNvPr id="782" name="Google Shape;782;p27"/>
              <p:cNvSpPr/>
              <p:nvPr/>
            </p:nvSpPr>
            <p:spPr>
              <a:xfrm>
                <a:off x="4737" y="2287"/>
                <a:ext cx="492" cy="42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2400">
                    <a:solidFill>
                      <a:srgbClr val="002060"/>
                    </a:solidFill>
                    <a:latin typeface="Times New Roman"/>
                    <a:ea typeface="Times New Roman"/>
                    <a:cs typeface="Times New Roman"/>
                    <a:sym typeface="Times New Roman"/>
                  </a:rPr>
                  <a:t>R</a:t>
                </a:r>
                <a:r>
                  <a:rPr baseline="-25000" lang="en-GB" sz="2400">
                    <a:solidFill>
                      <a:srgbClr val="002060"/>
                    </a:solidFill>
                    <a:latin typeface="Times New Roman"/>
                    <a:ea typeface="Times New Roman"/>
                    <a:cs typeface="Times New Roman"/>
                    <a:sym typeface="Times New Roman"/>
                  </a:rPr>
                  <a:t>1</a:t>
                </a:r>
                <a:endParaRPr sz="1200">
                  <a:solidFill>
                    <a:schemeClr val="dk1"/>
                  </a:solidFill>
                  <a:latin typeface="Times New Roman"/>
                  <a:ea typeface="Times New Roman"/>
                  <a:cs typeface="Times New Roman"/>
                  <a:sym typeface="Times New Roman"/>
                </a:endParaRPr>
              </a:p>
            </p:txBody>
          </p:sp>
          <p:sp>
            <p:nvSpPr>
              <p:cNvPr id="783" name="Google Shape;783;p27"/>
              <p:cNvSpPr/>
              <p:nvPr/>
            </p:nvSpPr>
            <p:spPr>
              <a:xfrm>
                <a:off x="4816" y="2991"/>
                <a:ext cx="492" cy="41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2400">
                    <a:solidFill>
                      <a:srgbClr val="002060"/>
                    </a:solidFill>
                    <a:latin typeface="Times New Roman"/>
                    <a:ea typeface="Times New Roman"/>
                    <a:cs typeface="Times New Roman"/>
                    <a:sym typeface="Times New Roman"/>
                  </a:rPr>
                  <a:t>e(t)</a:t>
                </a:r>
                <a:endParaRPr sz="1200">
                  <a:solidFill>
                    <a:schemeClr val="dk1"/>
                  </a:solidFill>
                  <a:latin typeface="Times New Roman"/>
                  <a:ea typeface="Times New Roman"/>
                  <a:cs typeface="Times New Roman"/>
                  <a:sym typeface="Times New Roman"/>
                </a:endParaRPr>
              </a:p>
            </p:txBody>
          </p:sp>
          <p:sp>
            <p:nvSpPr>
              <p:cNvPr id="784" name="Google Shape;784;p27"/>
              <p:cNvSpPr/>
              <p:nvPr/>
            </p:nvSpPr>
            <p:spPr>
              <a:xfrm>
                <a:off x="6348" y="2528"/>
                <a:ext cx="440" cy="46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2400">
                    <a:solidFill>
                      <a:srgbClr val="002060"/>
                    </a:solidFill>
                    <a:latin typeface="Times New Roman"/>
                    <a:ea typeface="Times New Roman"/>
                    <a:cs typeface="Times New Roman"/>
                    <a:sym typeface="Times New Roman"/>
                  </a:rPr>
                  <a:t>C</a:t>
                </a:r>
                <a:endParaRPr sz="1200">
                  <a:solidFill>
                    <a:schemeClr val="dk1"/>
                  </a:solidFill>
                  <a:latin typeface="Times New Roman"/>
                  <a:ea typeface="Times New Roman"/>
                  <a:cs typeface="Times New Roman"/>
                  <a:sym typeface="Times New Roman"/>
                </a:endParaRPr>
              </a:p>
            </p:txBody>
          </p:sp>
          <p:sp>
            <p:nvSpPr>
              <p:cNvPr id="785" name="Google Shape;785;p27"/>
              <p:cNvSpPr/>
              <p:nvPr/>
            </p:nvSpPr>
            <p:spPr>
              <a:xfrm>
                <a:off x="7362" y="2929"/>
                <a:ext cx="533" cy="52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R</a:t>
                </a:r>
                <a:r>
                  <a:rPr baseline="-25000" lang="en-GB" sz="2800">
                    <a:solidFill>
                      <a:srgbClr val="002060"/>
                    </a:solidFill>
                    <a:latin typeface="Times New Roman"/>
                    <a:ea typeface="Times New Roman"/>
                    <a:cs typeface="Times New Roman"/>
                    <a:sym typeface="Times New Roman"/>
                  </a:rPr>
                  <a:t>2</a:t>
                </a:r>
                <a:r>
                  <a:rPr lang="en-GB" sz="2800">
                    <a:solidFill>
                      <a:srgbClr val="002060"/>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p:txBody>
          </p:sp>
          <p:sp>
            <p:nvSpPr>
              <p:cNvPr id="786" name="Google Shape;786;p27"/>
              <p:cNvSpPr/>
              <p:nvPr/>
            </p:nvSpPr>
            <p:spPr>
              <a:xfrm>
                <a:off x="7362" y="2275"/>
                <a:ext cx="325" cy="41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2400">
                    <a:solidFill>
                      <a:srgbClr val="002060"/>
                    </a:solidFill>
                    <a:latin typeface="Times New Roman"/>
                    <a:ea typeface="Times New Roman"/>
                    <a:cs typeface="Times New Roman"/>
                    <a:sym typeface="Times New Roman"/>
                  </a:rPr>
                  <a:t>L </a:t>
                </a:r>
                <a:endParaRPr sz="1200">
                  <a:solidFill>
                    <a:schemeClr val="dk1"/>
                  </a:solidFill>
                  <a:latin typeface="Times New Roman"/>
                  <a:ea typeface="Times New Roman"/>
                  <a:cs typeface="Times New Roman"/>
                  <a:sym typeface="Times New Roman"/>
                </a:endParaRPr>
              </a:p>
            </p:txBody>
          </p:sp>
          <p:grpSp>
            <p:nvGrpSpPr>
              <p:cNvPr id="787" name="Google Shape;787;p27"/>
              <p:cNvGrpSpPr/>
              <p:nvPr/>
            </p:nvGrpSpPr>
            <p:grpSpPr>
              <a:xfrm>
                <a:off x="7088" y="2061"/>
                <a:ext cx="120" cy="540"/>
                <a:chOff x="6232" y="3219"/>
                <a:chExt cx="92" cy="751"/>
              </a:xfrm>
            </p:grpSpPr>
            <p:sp>
              <p:nvSpPr>
                <p:cNvPr id="788" name="Google Shape;788;p27"/>
                <p:cNvSpPr/>
                <p:nvPr/>
              </p:nvSpPr>
              <p:spPr>
                <a:xfrm>
                  <a:off x="6233" y="3219"/>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9" name="Google Shape;789;p27"/>
                <p:cNvSpPr/>
                <p:nvPr/>
              </p:nvSpPr>
              <p:spPr>
                <a:xfrm>
                  <a:off x="6232" y="3414"/>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0" name="Google Shape;790;p27"/>
                <p:cNvSpPr/>
                <p:nvPr/>
              </p:nvSpPr>
              <p:spPr>
                <a:xfrm>
                  <a:off x="6233" y="3593"/>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1" name="Google Shape;791;p27"/>
                <p:cNvSpPr/>
                <p:nvPr/>
              </p:nvSpPr>
              <p:spPr>
                <a:xfrm>
                  <a:off x="6232" y="3788"/>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sp>
          <p:nvSpPr>
            <p:cNvPr id="792" name="Google Shape;792;p27"/>
            <p:cNvSpPr/>
            <p:nvPr/>
          </p:nvSpPr>
          <p:spPr>
            <a:xfrm>
              <a:off x="8592601" y="2571069"/>
              <a:ext cx="343241" cy="343241"/>
            </a:xfrm>
            <a:prstGeom prst="ellipse">
              <a:avLst/>
            </a:prstGeom>
            <a:noFill/>
            <a:ln cap="flat" cmpd="sng" w="2857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793" name="Google Shape;793;p27"/>
            <p:cNvCxnSpPr/>
            <p:nvPr/>
          </p:nvCxnSpPr>
          <p:spPr>
            <a:xfrm>
              <a:off x="10372787" y="1481540"/>
              <a:ext cx="300468" cy="0"/>
            </a:xfrm>
            <a:prstGeom prst="straightConnector1">
              <a:avLst/>
            </a:prstGeom>
            <a:noFill/>
            <a:ln cap="flat" cmpd="sng" w="31750">
              <a:solidFill>
                <a:srgbClr val="002060"/>
              </a:solidFill>
              <a:prstDash val="solid"/>
              <a:miter lim="800000"/>
              <a:headEnd len="sm" w="sm" type="none"/>
              <a:tailEnd len="lg" w="lg" type="stealth"/>
            </a:ln>
          </p:spPr>
        </p:cxnSp>
        <p:cxnSp>
          <p:nvCxnSpPr>
            <p:cNvPr id="794" name="Google Shape;794;p27"/>
            <p:cNvCxnSpPr/>
            <p:nvPr/>
          </p:nvCxnSpPr>
          <p:spPr>
            <a:xfrm>
              <a:off x="10069474" y="1620056"/>
              <a:ext cx="0" cy="175300"/>
            </a:xfrm>
            <a:prstGeom prst="straightConnector1">
              <a:avLst/>
            </a:prstGeom>
            <a:noFill/>
            <a:ln cap="flat" cmpd="sng" w="28575">
              <a:solidFill>
                <a:srgbClr val="002060"/>
              </a:solidFill>
              <a:prstDash val="solid"/>
              <a:miter lim="800000"/>
              <a:headEnd len="sm" w="sm" type="none"/>
              <a:tailEnd len="lg" w="lg" type="stealth"/>
            </a:ln>
          </p:spPr>
        </p:cxnSp>
        <p:sp>
          <p:nvSpPr>
            <p:cNvPr id="795" name="Google Shape;795;p27"/>
            <p:cNvSpPr/>
            <p:nvPr/>
          </p:nvSpPr>
          <p:spPr>
            <a:xfrm>
              <a:off x="9265847" y="1364826"/>
              <a:ext cx="452713" cy="38925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1" lang="en-GB" sz="2800">
                  <a:solidFill>
                    <a:srgbClr val="002060"/>
                  </a:solidFill>
                  <a:latin typeface="Times New Roman"/>
                  <a:ea typeface="Times New Roman"/>
                  <a:cs typeface="Times New Roman"/>
                  <a:sym typeface="Times New Roman"/>
                </a:rPr>
                <a:t>i</a:t>
              </a:r>
              <a:r>
                <a:rPr baseline="-25000" i="1" lang="en-GB" sz="2800">
                  <a:solidFill>
                    <a:srgbClr val="002060"/>
                  </a:solidFill>
                  <a:latin typeface="Times New Roman"/>
                  <a:ea typeface="Times New Roman"/>
                  <a:cs typeface="Times New Roman"/>
                  <a:sym typeface="Times New Roman"/>
                </a:rPr>
                <a:t>1</a:t>
              </a:r>
              <a:endParaRPr i="1" sz="1400">
                <a:solidFill>
                  <a:schemeClr val="dk1"/>
                </a:solidFill>
                <a:latin typeface="Times New Roman"/>
                <a:ea typeface="Times New Roman"/>
                <a:cs typeface="Times New Roman"/>
                <a:sym typeface="Times New Roman"/>
              </a:endParaRPr>
            </a:p>
          </p:txBody>
        </p:sp>
        <p:sp>
          <p:nvSpPr>
            <p:cNvPr id="796" name="Google Shape;796;p27"/>
            <p:cNvSpPr/>
            <p:nvPr/>
          </p:nvSpPr>
          <p:spPr>
            <a:xfrm>
              <a:off x="10584083" y="1388014"/>
              <a:ext cx="452713" cy="38925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i="1" lang="en-GB" sz="2800">
                  <a:solidFill>
                    <a:srgbClr val="002060"/>
                  </a:solidFill>
                  <a:latin typeface="Times New Roman"/>
                  <a:ea typeface="Times New Roman"/>
                  <a:cs typeface="Times New Roman"/>
                  <a:sym typeface="Times New Roman"/>
                </a:rPr>
                <a:t>i</a:t>
              </a:r>
              <a:r>
                <a:rPr baseline="-25000" i="1" lang="en-GB" sz="2800">
                  <a:solidFill>
                    <a:srgbClr val="002060"/>
                  </a:solidFill>
                  <a:latin typeface="Times New Roman"/>
                  <a:ea typeface="Times New Roman"/>
                  <a:cs typeface="Times New Roman"/>
                  <a:sym typeface="Times New Roman"/>
                </a:rPr>
                <a:t>2</a:t>
              </a:r>
              <a:endParaRPr i="1" sz="1400">
                <a:solidFill>
                  <a:schemeClr val="dk1"/>
                </a:solidFill>
                <a:latin typeface="Times New Roman"/>
                <a:ea typeface="Times New Roman"/>
                <a:cs typeface="Times New Roman"/>
                <a:sym typeface="Times New Roman"/>
              </a:endParaRPr>
            </a:p>
          </p:txBody>
        </p:sp>
        <p:cxnSp>
          <p:nvCxnSpPr>
            <p:cNvPr id="797" name="Google Shape;797;p27"/>
            <p:cNvCxnSpPr/>
            <p:nvPr/>
          </p:nvCxnSpPr>
          <p:spPr>
            <a:xfrm rot="10800000">
              <a:off x="8425731" y="2513399"/>
              <a:ext cx="0" cy="457200"/>
            </a:xfrm>
            <a:prstGeom prst="straightConnector1">
              <a:avLst/>
            </a:prstGeom>
            <a:noFill/>
            <a:ln cap="flat" cmpd="sng" w="28575">
              <a:solidFill>
                <a:srgbClr val="002060"/>
              </a:solidFill>
              <a:prstDash val="solid"/>
              <a:miter lim="800000"/>
              <a:headEnd len="sm" w="sm" type="none"/>
              <a:tailEnd len="lg" w="lg" type="stealth"/>
            </a:ln>
          </p:spPr>
        </p:cxn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28"/>
          <p:cNvSpPr txBox="1"/>
          <p:nvPr>
            <p:ph type="title"/>
          </p:nvPr>
        </p:nvSpPr>
        <p:spPr>
          <a:xfrm>
            <a:off x="429715" y="457199"/>
            <a:ext cx="10924085" cy="5517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Times New Roman"/>
              <a:buNone/>
            </a:pPr>
            <a:r>
              <a:rPr lang="en-GB"/>
              <a:t>(a) Resistive Element  R</a:t>
            </a:r>
            <a:endParaRPr/>
          </a:p>
        </p:txBody>
      </p:sp>
      <p:pic>
        <p:nvPicPr>
          <p:cNvPr id="803" name="Google Shape;803;p28"/>
          <p:cNvPicPr preferRelativeResize="0"/>
          <p:nvPr/>
        </p:nvPicPr>
        <p:blipFill rotWithShape="1">
          <a:blip r:embed="rId3">
            <a:alphaModFix/>
          </a:blip>
          <a:srcRect b="0" l="0" r="0" t="0"/>
          <a:stretch/>
        </p:blipFill>
        <p:spPr>
          <a:xfrm>
            <a:off x="1034302" y="3898948"/>
            <a:ext cx="2311002" cy="1413360"/>
          </a:xfrm>
          <a:prstGeom prst="rect">
            <a:avLst/>
          </a:prstGeom>
          <a:noFill/>
          <a:ln>
            <a:noFill/>
          </a:ln>
        </p:spPr>
      </p:pic>
      <p:pic>
        <p:nvPicPr>
          <p:cNvPr id="804" name="Google Shape;804;p28"/>
          <p:cNvPicPr preferRelativeResize="0"/>
          <p:nvPr/>
        </p:nvPicPr>
        <p:blipFill rotWithShape="1">
          <a:blip r:embed="rId4">
            <a:alphaModFix/>
          </a:blip>
          <a:srcRect b="0" l="0" r="0" t="0"/>
          <a:stretch/>
        </p:blipFill>
        <p:spPr>
          <a:xfrm>
            <a:off x="8214172" y="3898948"/>
            <a:ext cx="2678170" cy="1465706"/>
          </a:xfrm>
          <a:prstGeom prst="rect">
            <a:avLst/>
          </a:prstGeom>
          <a:noFill/>
          <a:ln>
            <a:noFill/>
          </a:ln>
        </p:spPr>
      </p:pic>
      <p:grpSp>
        <p:nvGrpSpPr>
          <p:cNvPr id="805" name="Google Shape;805;p28"/>
          <p:cNvGrpSpPr/>
          <p:nvPr/>
        </p:nvGrpSpPr>
        <p:grpSpPr>
          <a:xfrm>
            <a:off x="838201" y="943518"/>
            <a:ext cx="10237136" cy="2182707"/>
            <a:chOff x="209" y="1356"/>
            <a:chExt cx="14077" cy="2620"/>
          </a:xfrm>
        </p:grpSpPr>
        <p:grpSp>
          <p:nvGrpSpPr>
            <p:cNvPr id="806" name="Google Shape;806;p28"/>
            <p:cNvGrpSpPr/>
            <p:nvPr/>
          </p:nvGrpSpPr>
          <p:grpSpPr>
            <a:xfrm>
              <a:off x="732" y="2105"/>
              <a:ext cx="3139" cy="748"/>
              <a:chOff x="1658" y="2138"/>
              <a:chExt cx="1440" cy="360"/>
            </a:xfrm>
          </p:grpSpPr>
          <p:cxnSp>
            <p:nvCxnSpPr>
              <p:cNvPr id="807" name="Google Shape;807;p28"/>
              <p:cNvCxnSpPr/>
              <p:nvPr/>
            </p:nvCxnSpPr>
            <p:spPr>
              <a:xfrm>
                <a:off x="1658" y="2318"/>
                <a:ext cx="360" cy="0"/>
              </a:xfrm>
              <a:prstGeom prst="straightConnector1">
                <a:avLst/>
              </a:prstGeom>
              <a:noFill/>
              <a:ln cap="flat" cmpd="sng" w="31750">
                <a:solidFill>
                  <a:srgbClr val="C00000"/>
                </a:solidFill>
                <a:prstDash val="solid"/>
                <a:round/>
                <a:headEnd len="med" w="med" type="none"/>
                <a:tailEnd len="med" w="med" type="none"/>
              </a:ln>
            </p:spPr>
          </p:cxnSp>
          <p:grpSp>
            <p:nvGrpSpPr>
              <p:cNvPr id="808" name="Google Shape;808;p28"/>
              <p:cNvGrpSpPr/>
              <p:nvPr/>
            </p:nvGrpSpPr>
            <p:grpSpPr>
              <a:xfrm>
                <a:off x="2018" y="2138"/>
                <a:ext cx="720" cy="360"/>
                <a:chOff x="2018" y="2138"/>
                <a:chExt cx="1200" cy="357"/>
              </a:xfrm>
            </p:grpSpPr>
            <p:cxnSp>
              <p:nvCxnSpPr>
                <p:cNvPr id="809" name="Google Shape;809;p28"/>
                <p:cNvCxnSpPr/>
                <p:nvPr/>
              </p:nvCxnSpPr>
              <p:spPr>
                <a:xfrm flipH="1" rot="10800000">
                  <a:off x="2018" y="2138"/>
                  <a:ext cx="120" cy="180"/>
                </a:xfrm>
                <a:prstGeom prst="straightConnector1">
                  <a:avLst/>
                </a:prstGeom>
                <a:noFill/>
                <a:ln cap="flat" cmpd="sng" w="31750">
                  <a:solidFill>
                    <a:srgbClr val="C00000"/>
                  </a:solidFill>
                  <a:prstDash val="solid"/>
                  <a:round/>
                  <a:headEnd len="med" w="med" type="none"/>
                  <a:tailEnd len="med" w="med" type="none"/>
                </a:ln>
              </p:spPr>
            </p:cxnSp>
            <p:cxnSp>
              <p:nvCxnSpPr>
                <p:cNvPr id="810" name="Google Shape;810;p28"/>
                <p:cNvCxnSpPr/>
                <p:nvPr/>
              </p:nvCxnSpPr>
              <p:spPr>
                <a:xfrm rot="10800000">
                  <a:off x="3098" y="2138"/>
                  <a:ext cx="120" cy="180"/>
                </a:xfrm>
                <a:prstGeom prst="straightConnector1">
                  <a:avLst/>
                </a:prstGeom>
                <a:noFill/>
                <a:ln cap="flat" cmpd="sng" w="31750">
                  <a:solidFill>
                    <a:srgbClr val="C00000"/>
                  </a:solidFill>
                  <a:prstDash val="solid"/>
                  <a:round/>
                  <a:headEnd len="med" w="med" type="none"/>
                  <a:tailEnd len="med" w="med" type="none"/>
                </a:ln>
              </p:spPr>
            </p:cxnSp>
            <p:cxnSp>
              <p:nvCxnSpPr>
                <p:cNvPr id="811" name="Google Shape;811;p28"/>
                <p:cNvCxnSpPr/>
                <p:nvPr/>
              </p:nvCxnSpPr>
              <p:spPr>
                <a:xfrm rot="10800000">
                  <a:off x="2125" y="2138"/>
                  <a:ext cx="238" cy="357"/>
                </a:xfrm>
                <a:prstGeom prst="straightConnector1">
                  <a:avLst/>
                </a:prstGeom>
                <a:noFill/>
                <a:ln cap="flat" cmpd="sng" w="31750">
                  <a:solidFill>
                    <a:srgbClr val="C00000"/>
                  </a:solidFill>
                  <a:prstDash val="solid"/>
                  <a:round/>
                  <a:headEnd len="med" w="med" type="none"/>
                  <a:tailEnd len="med" w="med" type="none"/>
                </a:ln>
              </p:spPr>
            </p:cxnSp>
            <p:cxnSp>
              <p:nvCxnSpPr>
                <p:cNvPr id="812" name="Google Shape;812;p28"/>
                <p:cNvCxnSpPr/>
                <p:nvPr/>
              </p:nvCxnSpPr>
              <p:spPr>
                <a:xfrm flipH="1" rot="10800000">
                  <a:off x="2380" y="2138"/>
                  <a:ext cx="238" cy="357"/>
                </a:xfrm>
                <a:prstGeom prst="straightConnector1">
                  <a:avLst/>
                </a:prstGeom>
                <a:noFill/>
                <a:ln cap="flat" cmpd="sng" w="31750">
                  <a:solidFill>
                    <a:srgbClr val="C00000"/>
                  </a:solidFill>
                  <a:prstDash val="solid"/>
                  <a:round/>
                  <a:headEnd len="med" w="med" type="none"/>
                  <a:tailEnd len="med" w="med" type="none"/>
                </a:ln>
              </p:spPr>
            </p:cxnSp>
            <p:cxnSp>
              <p:nvCxnSpPr>
                <p:cNvPr id="813" name="Google Shape;813;p28"/>
                <p:cNvCxnSpPr/>
                <p:nvPr/>
              </p:nvCxnSpPr>
              <p:spPr>
                <a:xfrm rot="10800000">
                  <a:off x="2605" y="2138"/>
                  <a:ext cx="238" cy="357"/>
                </a:xfrm>
                <a:prstGeom prst="straightConnector1">
                  <a:avLst/>
                </a:prstGeom>
                <a:noFill/>
                <a:ln cap="flat" cmpd="sng" w="31750">
                  <a:solidFill>
                    <a:srgbClr val="C00000"/>
                  </a:solidFill>
                  <a:prstDash val="solid"/>
                  <a:round/>
                  <a:headEnd len="med" w="med" type="none"/>
                  <a:tailEnd len="med" w="med" type="none"/>
                </a:ln>
              </p:spPr>
            </p:cxnSp>
            <p:cxnSp>
              <p:nvCxnSpPr>
                <p:cNvPr id="814" name="Google Shape;814;p28"/>
                <p:cNvCxnSpPr/>
                <p:nvPr/>
              </p:nvCxnSpPr>
              <p:spPr>
                <a:xfrm flipH="1" rot="10800000">
                  <a:off x="2860" y="2138"/>
                  <a:ext cx="238" cy="357"/>
                </a:xfrm>
                <a:prstGeom prst="straightConnector1">
                  <a:avLst/>
                </a:prstGeom>
                <a:noFill/>
                <a:ln cap="flat" cmpd="sng" w="31750">
                  <a:solidFill>
                    <a:srgbClr val="C00000"/>
                  </a:solidFill>
                  <a:prstDash val="solid"/>
                  <a:round/>
                  <a:headEnd len="med" w="med" type="none"/>
                  <a:tailEnd len="med" w="med" type="none"/>
                </a:ln>
              </p:spPr>
            </p:cxnSp>
          </p:grpSp>
          <p:cxnSp>
            <p:nvCxnSpPr>
              <p:cNvPr id="815" name="Google Shape;815;p28"/>
              <p:cNvCxnSpPr/>
              <p:nvPr/>
            </p:nvCxnSpPr>
            <p:spPr>
              <a:xfrm>
                <a:off x="2738" y="2318"/>
                <a:ext cx="360" cy="0"/>
              </a:xfrm>
              <a:prstGeom prst="straightConnector1">
                <a:avLst/>
              </a:prstGeom>
              <a:noFill/>
              <a:ln cap="flat" cmpd="sng" w="31750">
                <a:solidFill>
                  <a:srgbClr val="C00000"/>
                </a:solidFill>
                <a:prstDash val="solid"/>
                <a:round/>
                <a:headEnd len="med" w="med" type="none"/>
                <a:tailEnd len="med" w="med" type="none"/>
              </a:ln>
            </p:spPr>
          </p:cxnSp>
        </p:grpSp>
        <p:sp>
          <p:nvSpPr>
            <p:cNvPr id="816" name="Google Shape;816;p28"/>
            <p:cNvSpPr txBox="1"/>
            <p:nvPr/>
          </p:nvSpPr>
          <p:spPr>
            <a:xfrm>
              <a:off x="209" y="1606"/>
              <a:ext cx="1046" cy="748"/>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i(t)</a:t>
              </a:r>
              <a:endParaRPr sz="3600">
                <a:solidFill>
                  <a:schemeClr val="dk1"/>
                </a:solidFill>
                <a:latin typeface="Times New Roman"/>
                <a:ea typeface="Times New Roman"/>
                <a:cs typeface="Times New Roman"/>
                <a:sym typeface="Times New Roman"/>
              </a:endParaRPr>
            </a:p>
          </p:txBody>
        </p:sp>
        <p:cxnSp>
          <p:nvCxnSpPr>
            <p:cNvPr id="817" name="Google Shape;817;p28"/>
            <p:cNvCxnSpPr/>
            <p:nvPr/>
          </p:nvCxnSpPr>
          <p:spPr>
            <a:xfrm rot="10800000">
              <a:off x="209" y="2479"/>
              <a:ext cx="523" cy="0"/>
            </a:xfrm>
            <a:prstGeom prst="straightConnector1">
              <a:avLst/>
            </a:prstGeom>
            <a:noFill/>
            <a:ln cap="flat" cmpd="sng" w="31750">
              <a:solidFill>
                <a:srgbClr val="C00000"/>
              </a:solidFill>
              <a:prstDash val="solid"/>
              <a:round/>
              <a:headEnd len="med" w="med" type="stealth"/>
              <a:tailEnd len="lg" w="lg" type="none"/>
            </a:ln>
          </p:spPr>
        </p:cxnSp>
        <p:sp>
          <p:nvSpPr>
            <p:cNvPr id="818" name="Google Shape;818;p28"/>
            <p:cNvSpPr txBox="1"/>
            <p:nvPr/>
          </p:nvSpPr>
          <p:spPr>
            <a:xfrm>
              <a:off x="732" y="3227"/>
              <a:ext cx="1047" cy="749"/>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v(t)</a:t>
              </a:r>
              <a:endParaRPr sz="3600">
                <a:solidFill>
                  <a:schemeClr val="dk1"/>
                </a:solidFill>
                <a:latin typeface="Times New Roman"/>
                <a:ea typeface="Times New Roman"/>
                <a:cs typeface="Times New Roman"/>
                <a:sym typeface="Times New Roman"/>
              </a:endParaRPr>
            </a:p>
          </p:txBody>
        </p:sp>
        <p:sp>
          <p:nvSpPr>
            <p:cNvPr id="819" name="Google Shape;819;p28"/>
            <p:cNvSpPr txBox="1"/>
            <p:nvPr/>
          </p:nvSpPr>
          <p:spPr>
            <a:xfrm>
              <a:off x="2040" y="1356"/>
              <a:ext cx="1047" cy="749"/>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R</a:t>
              </a:r>
              <a:endParaRPr sz="3600">
                <a:solidFill>
                  <a:schemeClr val="dk1"/>
                </a:solidFill>
                <a:latin typeface="Times New Roman"/>
                <a:ea typeface="Times New Roman"/>
                <a:cs typeface="Times New Roman"/>
                <a:sym typeface="Times New Roman"/>
              </a:endParaRPr>
            </a:p>
          </p:txBody>
        </p:sp>
        <p:cxnSp>
          <p:nvCxnSpPr>
            <p:cNvPr id="820" name="Google Shape;820;p28"/>
            <p:cNvCxnSpPr/>
            <p:nvPr/>
          </p:nvCxnSpPr>
          <p:spPr>
            <a:xfrm>
              <a:off x="994" y="3103"/>
              <a:ext cx="2354" cy="0"/>
            </a:xfrm>
            <a:prstGeom prst="straightConnector1">
              <a:avLst/>
            </a:prstGeom>
            <a:noFill/>
            <a:ln cap="flat" cmpd="sng" w="28575">
              <a:solidFill>
                <a:srgbClr val="002060"/>
              </a:solidFill>
              <a:prstDash val="solid"/>
              <a:round/>
              <a:headEnd len="lg" w="lg" type="stealth"/>
              <a:tailEnd len="lg" w="lg" type="none"/>
            </a:ln>
          </p:spPr>
        </p:cxnSp>
        <p:grpSp>
          <p:nvGrpSpPr>
            <p:cNvPr id="821" name="Google Shape;821;p28"/>
            <p:cNvGrpSpPr/>
            <p:nvPr/>
          </p:nvGrpSpPr>
          <p:grpSpPr>
            <a:xfrm>
              <a:off x="5970" y="2105"/>
              <a:ext cx="3139" cy="748"/>
              <a:chOff x="1658" y="2138"/>
              <a:chExt cx="1440" cy="360"/>
            </a:xfrm>
          </p:grpSpPr>
          <p:cxnSp>
            <p:nvCxnSpPr>
              <p:cNvPr id="822" name="Google Shape;822;p28"/>
              <p:cNvCxnSpPr/>
              <p:nvPr/>
            </p:nvCxnSpPr>
            <p:spPr>
              <a:xfrm>
                <a:off x="1658" y="2318"/>
                <a:ext cx="360" cy="0"/>
              </a:xfrm>
              <a:prstGeom prst="straightConnector1">
                <a:avLst/>
              </a:prstGeom>
              <a:noFill/>
              <a:ln cap="flat" cmpd="sng" w="31750">
                <a:solidFill>
                  <a:srgbClr val="C00000"/>
                </a:solidFill>
                <a:prstDash val="solid"/>
                <a:round/>
                <a:headEnd len="med" w="med" type="none"/>
                <a:tailEnd len="med" w="med" type="none"/>
              </a:ln>
            </p:spPr>
          </p:cxnSp>
          <p:grpSp>
            <p:nvGrpSpPr>
              <p:cNvPr id="823" name="Google Shape;823;p28"/>
              <p:cNvGrpSpPr/>
              <p:nvPr/>
            </p:nvGrpSpPr>
            <p:grpSpPr>
              <a:xfrm>
                <a:off x="2018" y="2138"/>
                <a:ext cx="720" cy="360"/>
                <a:chOff x="2018" y="2138"/>
                <a:chExt cx="1200" cy="357"/>
              </a:xfrm>
            </p:grpSpPr>
            <p:cxnSp>
              <p:nvCxnSpPr>
                <p:cNvPr id="824" name="Google Shape;824;p28"/>
                <p:cNvCxnSpPr/>
                <p:nvPr/>
              </p:nvCxnSpPr>
              <p:spPr>
                <a:xfrm flipH="1" rot="10800000">
                  <a:off x="2018" y="2138"/>
                  <a:ext cx="120" cy="180"/>
                </a:xfrm>
                <a:prstGeom prst="straightConnector1">
                  <a:avLst/>
                </a:prstGeom>
                <a:noFill/>
                <a:ln cap="flat" cmpd="sng" w="31750">
                  <a:solidFill>
                    <a:srgbClr val="C00000"/>
                  </a:solidFill>
                  <a:prstDash val="solid"/>
                  <a:round/>
                  <a:headEnd len="med" w="med" type="none"/>
                  <a:tailEnd len="med" w="med" type="none"/>
                </a:ln>
              </p:spPr>
            </p:cxnSp>
            <p:cxnSp>
              <p:nvCxnSpPr>
                <p:cNvPr id="825" name="Google Shape;825;p28"/>
                <p:cNvCxnSpPr/>
                <p:nvPr/>
              </p:nvCxnSpPr>
              <p:spPr>
                <a:xfrm rot="10800000">
                  <a:off x="3098" y="2138"/>
                  <a:ext cx="120" cy="180"/>
                </a:xfrm>
                <a:prstGeom prst="straightConnector1">
                  <a:avLst/>
                </a:prstGeom>
                <a:noFill/>
                <a:ln cap="flat" cmpd="sng" w="31750">
                  <a:solidFill>
                    <a:srgbClr val="C00000"/>
                  </a:solidFill>
                  <a:prstDash val="solid"/>
                  <a:round/>
                  <a:headEnd len="med" w="med" type="none"/>
                  <a:tailEnd len="med" w="med" type="none"/>
                </a:ln>
              </p:spPr>
            </p:cxnSp>
            <p:cxnSp>
              <p:nvCxnSpPr>
                <p:cNvPr id="826" name="Google Shape;826;p28"/>
                <p:cNvCxnSpPr/>
                <p:nvPr/>
              </p:nvCxnSpPr>
              <p:spPr>
                <a:xfrm rot="10800000">
                  <a:off x="2125" y="2138"/>
                  <a:ext cx="238" cy="357"/>
                </a:xfrm>
                <a:prstGeom prst="straightConnector1">
                  <a:avLst/>
                </a:prstGeom>
                <a:noFill/>
                <a:ln cap="flat" cmpd="sng" w="31750">
                  <a:solidFill>
                    <a:srgbClr val="C00000"/>
                  </a:solidFill>
                  <a:prstDash val="solid"/>
                  <a:round/>
                  <a:headEnd len="med" w="med" type="none"/>
                  <a:tailEnd len="med" w="med" type="none"/>
                </a:ln>
              </p:spPr>
            </p:cxnSp>
            <p:cxnSp>
              <p:nvCxnSpPr>
                <p:cNvPr id="827" name="Google Shape;827;p28"/>
                <p:cNvCxnSpPr/>
                <p:nvPr/>
              </p:nvCxnSpPr>
              <p:spPr>
                <a:xfrm flipH="1" rot="10800000">
                  <a:off x="2380" y="2138"/>
                  <a:ext cx="238" cy="357"/>
                </a:xfrm>
                <a:prstGeom prst="straightConnector1">
                  <a:avLst/>
                </a:prstGeom>
                <a:noFill/>
                <a:ln cap="flat" cmpd="sng" w="31750">
                  <a:solidFill>
                    <a:srgbClr val="C00000"/>
                  </a:solidFill>
                  <a:prstDash val="solid"/>
                  <a:round/>
                  <a:headEnd len="med" w="med" type="none"/>
                  <a:tailEnd len="med" w="med" type="none"/>
                </a:ln>
              </p:spPr>
            </p:cxnSp>
            <p:cxnSp>
              <p:nvCxnSpPr>
                <p:cNvPr id="828" name="Google Shape;828;p28"/>
                <p:cNvCxnSpPr/>
                <p:nvPr/>
              </p:nvCxnSpPr>
              <p:spPr>
                <a:xfrm rot="10800000">
                  <a:off x="2605" y="2138"/>
                  <a:ext cx="238" cy="357"/>
                </a:xfrm>
                <a:prstGeom prst="straightConnector1">
                  <a:avLst/>
                </a:prstGeom>
                <a:noFill/>
                <a:ln cap="flat" cmpd="sng" w="31750">
                  <a:solidFill>
                    <a:srgbClr val="C00000"/>
                  </a:solidFill>
                  <a:prstDash val="solid"/>
                  <a:round/>
                  <a:headEnd len="med" w="med" type="none"/>
                  <a:tailEnd len="med" w="med" type="none"/>
                </a:ln>
              </p:spPr>
            </p:cxnSp>
            <p:cxnSp>
              <p:nvCxnSpPr>
                <p:cNvPr id="829" name="Google Shape;829;p28"/>
                <p:cNvCxnSpPr/>
                <p:nvPr/>
              </p:nvCxnSpPr>
              <p:spPr>
                <a:xfrm flipH="1" rot="10800000">
                  <a:off x="2860" y="2138"/>
                  <a:ext cx="238" cy="357"/>
                </a:xfrm>
                <a:prstGeom prst="straightConnector1">
                  <a:avLst/>
                </a:prstGeom>
                <a:noFill/>
                <a:ln cap="flat" cmpd="sng" w="31750">
                  <a:solidFill>
                    <a:srgbClr val="C00000"/>
                  </a:solidFill>
                  <a:prstDash val="solid"/>
                  <a:round/>
                  <a:headEnd len="med" w="med" type="none"/>
                  <a:tailEnd len="med" w="med" type="none"/>
                </a:ln>
              </p:spPr>
            </p:cxnSp>
          </p:grpSp>
          <p:cxnSp>
            <p:nvCxnSpPr>
              <p:cNvPr id="830" name="Google Shape;830;p28"/>
              <p:cNvCxnSpPr/>
              <p:nvPr/>
            </p:nvCxnSpPr>
            <p:spPr>
              <a:xfrm>
                <a:off x="2738" y="2318"/>
                <a:ext cx="360" cy="0"/>
              </a:xfrm>
              <a:prstGeom prst="straightConnector1">
                <a:avLst/>
              </a:prstGeom>
              <a:noFill/>
              <a:ln cap="flat" cmpd="sng" w="31750">
                <a:solidFill>
                  <a:srgbClr val="C00000"/>
                </a:solidFill>
                <a:prstDash val="solid"/>
                <a:round/>
                <a:headEnd len="med" w="med" type="none"/>
                <a:tailEnd len="med" w="med" type="none"/>
              </a:ln>
            </p:spPr>
          </p:cxnSp>
        </p:grpSp>
        <p:sp>
          <p:nvSpPr>
            <p:cNvPr id="831" name="Google Shape;831;p28"/>
            <p:cNvSpPr txBox="1"/>
            <p:nvPr/>
          </p:nvSpPr>
          <p:spPr>
            <a:xfrm>
              <a:off x="5447" y="1606"/>
              <a:ext cx="1046" cy="748"/>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I(s)</a:t>
              </a:r>
              <a:endParaRPr sz="3600">
                <a:solidFill>
                  <a:schemeClr val="dk1"/>
                </a:solidFill>
                <a:latin typeface="Times New Roman"/>
                <a:ea typeface="Times New Roman"/>
                <a:cs typeface="Times New Roman"/>
                <a:sym typeface="Times New Roman"/>
              </a:endParaRPr>
            </a:p>
          </p:txBody>
        </p:sp>
        <p:cxnSp>
          <p:nvCxnSpPr>
            <p:cNvPr id="832" name="Google Shape;832;p28"/>
            <p:cNvCxnSpPr/>
            <p:nvPr/>
          </p:nvCxnSpPr>
          <p:spPr>
            <a:xfrm rot="10800000">
              <a:off x="5447" y="2479"/>
              <a:ext cx="523" cy="0"/>
            </a:xfrm>
            <a:prstGeom prst="straightConnector1">
              <a:avLst/>
            </a:prstGeom>
            <a:noFill/>
            <a:ln cap="flat" cmpd="sng" w="31750">
              <a:solidFill>
                <a:srgbClr val="C00000"/>
              </a:solidFill>
              <a:prstDash val="solid"/>
              <a:round/>
              <a:headEnd len="med" w="med" type="stealth"/>
              <a:tailEnd len="lg" w="lg" type="none"/>
            </a:ln>
          </p:spPr>
        </p:cxnSp>
        <p:sp>
          <p:nvSpPr>
            <p:cNvPr id="833" name="Google Shape;833;p28"/>
            <p:cNvSpPr txBox="1"/>
            <p:nvPr/>
          </p:nvSpPr>
          <p:spPr>
            <a:xfrm>
              <a:off x="5970" y="3227"/>
              <a:ext cx="1308" cy="749"/>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V(s)</a:t>
              </a:r>
              <a:endParaRPr sz="3600">
                <a:solidFill>
                  <a:schemeClr val="dk1"/>
                </a:solidFill>
                <a:latin typeface="Times New Roman"/>
                <a:ea typeface="Times New Roman"/>
                <a:cs typeface="Times New Roman"/>
                <a:sym typeface="Times New Roman"/>
              </a:endParaRPr>
            </a:p>
          </p:txBody>
        </p:sp>
        <p:sp>
          <p:nvSpPr>
            <p:cNvPr id="834" name="Google Shape;834;p28"/>
            <p:cNvSpPr txBox="1"/>
            <p:nvPr/>
          </p:nvSpPr>
          <p:spPr>
            <a:xfrm>
              <a:off x="7278" y="1356"/>
              <a:ext cx="1046" cy="749"/>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R</a:t>
              </a:r>
              <a:endParaRPr sz="3600">
                <a:solidFill>
                  <a:schemeClr val="dk1"/>
                </a:solidFill>
                <a:latin typeface="Times New Roman"/>
                <a:ea typeface="Times New Roman"/>
                <a:cs typeface="Times New Roman"/>
                <a:sym typeface="Times New Roman"/>
              </a:endParaRPr>
            </a:p>
          </p:txBody>
        </p:sp>
        <p:cxnSp>
          <p:nvCxnSpPr>
            <p:cNvPr id="835" name="Google Shape;835;p28"/>
            <p:cNvCxnSpPr/>
            <p:nvPr/>
          </p:nvCxnSpPr>
          <p:spPr>
            <a:xfrm>
              <a:off x="6232" y="3103"/>
              <a:ext cx="2354" cy="0"/>
            </a:xfrm>
            <a:prstGeom prst="straightConnector1">
              <a:avLst/>
            </a:prstGeom>
            <a:noFill/>
            <a:ln cap="flat" cmpd="sng" w="28575">
              <a:solidFill>
                <a:srgbClr val="002060"/>
              </a:solidFill>
              <a:prstDash val="solid"/>
              <a:round/>
              <a:headEnd len="lg" w="lg" type="stealth"/>
              <a:tailEnd len="lg" w="lg" type="none"/>
            </a:ln>
          </p:spPr>
        </p:cxnSp>
        <p:grpSp>
          <p:nvGrpSpPr>
            <p:cNvPr id="836" name="Google Shape;836;p28"/>
            <p:cNvGrpSpPr/>
            <p:nvPr/>
          </p:nvGrpSpPr>
          <p:grpSpPr>
            <a:xfrm>
              <a:off x="11147" y="2105"/>
              <a:ext cx="3139" cy="748"/>
              <a:chOff x="1658" y="2138"/>
              <a:chExt cx="1440" cy="360"/>
            </a:xfrm>
          </p:grpSpPr>
          <p:cxnSp>
            <p:nvCxnSpPr>
              <p:cNvPr id="837" name="Google Shape;837;p28"/>
              <p:cNvCxnSpPr/>
              <p:nvPr/>
            </p:nvCxnSpPr>
            <p:spPr>
              <a:xfrm>
                <a:off x="1658" y="2318"/>
                <a:ext cx="360" cy="0"/>
              </a:xfrm>
              <a:prstGeom prst="straightConnector1">
                <a:avLst/>
              </a:prstGeom>
              <a:noFill/>
              <a:ln cap="flat" cmpd="sng" w="31750">
                <a:solidFill>
                  <a:srgbClr val="C00000"/>
                </a:solidFill>
                <a:prstDash val="solid"/>
                <a:round/>
                <a:headEnd len="med" w="med" type="none"/>
                <a:tailEnd len="med" w="med" type="none"/>
              </a:ln>
            </p:spPr>
          </p:cxnSp>
          <p:grpSp>
            <p:nvGrpSpPr>
              <p:cNvPr id="838" name="Google Shape;838;p28"/>
              <p:cNvGrpSpPr/>
              <p:nvPr/>
            </p:nvGrpSpPr>
            <p:grpSpPr>
              <a:xfrm>
                <a:off x="2018" y="2138"/>
                <a:ext cx="720" cy="360"/>
                <a:chOff x="2018" y="2138"/>
                <a:chExt cx="1200" cy="357"/>
              </a:xfrm>
            </p:grpSpPr>
            <p:cxnSp>
              <p:nvCxnSpPr>
                <p:cNvPr id="839" name="Google Shape;839;p28"/>
                <p:cNvCxnSpPr/>
                <p:nvPr/>
              </p:nvCxnSpPr>
              <p:spPr>
                <a:xfrm flipH="1" rot="10800000">
                  <a:off x="2018" y="2138"/>
                  <a:ext cx="120" cy="180"/>
                </a:xfrm>
                <a:prstGeom prst="straightConnector1">
                  <a:avLst/>
                </a:prstGeom>
                <a:noFill/>
                <a:ln cap="flat" cmpd="sng" w="31750">
                  <a:solidFill>
                    <a:srgbClr val="C00000"/>
                  </a:solidFill>
                  <a:prstDash val="solid"/>
                  <a:round/>
                  <a:headEnd len="med" w="med" type="none"/>
                  <a:tailEnd len="med" w="med" type="none"/>
                </a:ln>
              </p:spPr>
            </p:cxnSp>
            <p:cxnSp>
              <p:nvCxnSpPr>
                <p:cNvPr id="840" name="Google Shape;840;p28"/>
                <p:cNvCxnSpPr/>
                <p:nvPr/>
              </p:nvCxnSpPr>
              <p:spPr>
                <a:xfrm rot="10800000">
                  <a:off x="3098" y="2138"/>
                  <a:ext cx="120" cy="180"/>
                </a:xfrm>
                <a:prstGeom prst="straightConnector1">
                  <a:avLst/>
                </a:prstGeom>
                <a:noFill/>
                <a:ln cap="flat" cmpd="sng" w="31750">
                  <a:solidFill>
                    <a:srgbClr val="C00000"/>
                  </a:solidFill>
                  <a:prstDash val="solid"/>
                  <a:round/>
                  <a:headEnd len="med" w="med" type="none"/>
                  <a:tailEnd len="med" w="med" type="none"/>
                </a:ln>
              </p:spPr>
            </p:cxnSp>
            <p:cxnSp>
              <p:nvCxnSpPr>
                <p:cNvPr id="841" name="Google Shape;841;p28"/>
                <p:cNvCxnSpPr/>
                <p:nvPr/>
              </p:nvCxnSpPr>
              <p:spPr>
                <a:xfrm rot="10800000">
                  <a:off x="2125" y="2138"/>
                  <a:ext cx="238" cy="357"/>
                </a:xfrm>
                <a:prstGeom prst="straightConnector1">
                  <a:avLst/>
                </a:prstGeom>
                <a:noFill/>
                <a:ln cap="flat" cmpd="sng" w="31750">
                  <a:solidFill>
                    <a:srgbClr val="C00000"/>
                  </a:solidFill>
                  <a:prstDash val="solid"/>
                  <a:round/>
                  <a:headEnd len="med" w="med" type="none"/>
                  <a:tailEnd len="med" w="med" type="none"/>
                </a:ln>
              </p:spPr>
            </p:cxnSp>
            <p:cxnSp>
              <p:nvCxnSpPr>
                <p:cNvPr id="842" name="Google Shape;842;p28"/>
                <p:cNvCxnSpPr/>
                <p:nvPr/>
              </p:nvCxnSpPr>
              <p:spPr>
                <a:xfrm flipH="1" rot="10800000">
                  <a:off x="2380" y="2138"/>
                  <a:ext cx="238" cy="357"/>
                </a:xfrm>
                <a:prstGeom prst="straightConnector1">
                  <a:avLst/>
                </a:prstGeom>
                <a:noFill/>
                <a:ln cap="flat" cmpd="sng" w="31750">
                  <a:solidFill>
                    <a:srgbClr val="C00000"/>
                  </a:solidFill>
                  <a:prstDash val="solid"/>
                  <a:round/>
                  <a:headEnd len="med" w="med" type="none"/>
                  <a:tailEnd len="med" w="med" type="none"/>
                </a:ln>
              </p:spPr>
            </p:cxnSp>
            <p:cxnSp>
              <p:nvCxnSpPr>
                <p:cNvPr id="843" name="Google Shape;843;p28"/>
                <p:cNvCxnSpPr/>
                <p:nvPr/>
              </p:nvCxnSpPr>
              <p:spPr>
                <a:xfrm rot="10800000">
                  <a:off x="2605" y="2138"/>
                  <a:ext cx="238" cy="357"/>
                </a:xfrm>
                <a:prstGeom prst="straightConnector1">
                  <a:avLst/>
                </a:prstGeom>
                <a:noFill/>
                <a:ln cap="flat" cmpd="sng" w="31750">
                  <a:solidFill>
                    <a:srgbClr val="C00000"/>
                  </a:solidFill>
                  <a:prstDash val="solid"/>
                  <a:round/>
                  <a:headEnd len="med" w="med" type="none"/>
                  <a:tailEnd len="med" w="med" type="none"/>
                </a:ln>
              </p:spPr>
            </p:cxnSp>
            <p:cxnSp>
              <p:nvCxnSpPr>
                <p:cNvPr id="844" name="Google Shape;844;p28"/>
                <p:cNvCxnSpPr/>
                <p:nvPr/>
              </p:nvCxnSpPr>
              <p:spPr>
                <a:xfrm flipH="1" rot="10800000">
                  <a:off x="2860" y="2138"/>
                  <a:ext cx="238" cy="357"/>
                </a:xfrm>
                <a:prstGeom prst="straightConnector1">
                  <a:avLst/>
                </a:prstGeom>
                <a:noFill/>
                <a:ln cap="flat" cmpd="sng" w="31750">
                  <a:solidFill>
                    <a:srgbClr val="C00000"/>
                  </a:solidFill>
                  <a:prstDash val="solid"/>
                  <a:round/>
                  <a:headEnd len="med" w="med" type="none"/>
                  <a:tailEnd len="med" w="med" type="none"/>
                </a:ln>
              </p:spPr>
            </p:cxnSp>
          </p:grpSp>
          <p:cxnSp>
            <p:nvCxnSpPr>
              <p:cNvPr id="845" name="Google Shape;845;p28"/>
              <p:cNvCxnSpPr/>
              <p:nvPr/>
            </p:nvCxnSpPr>
            <p:spPr>
              <a:xfrm>
                <a:off x="2738" y="2318"/>
                <a:ext cx="360" cy="0"/>
              </a:xfrm>
              <a:prstGeom prst="straightConnector1">
                <a:avLst/>
              </a:prstGeom>
              <a:noFill/>
              <a:ln cap="flat" cmpd="sng" w="31750">
                <a:solidFill>
                  <a:srgbClr val="C00000"/>
                </a:solidFill>
                <a:prstDash val="solid"/>
                <a:round/>
                <a:headEnd len="med" w="med" type="none"/>
                <a:tailEnd len="med" w="med" type="none"/>
              </a:ln>
            </p:spPr>
          </p:cxnSp>
        </p:grpSp>
        <p:sp>
          <p:nvSpPr>
            <p:cNvPr id="846" name="Google Shape;846;p28"/>
            <p:cNvSpPr txBox="1"/>
            <p:nvPr/>
          </p:nvSpPr>
          <p:spPr>
            <a:xfrm>
              <a:off x="10624" y="1606"/>
              <a:ext cx="1046" cy="748"/>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I(s)</a:t>
              </a:r>
              <a:endParaRPr sz="3600">
                <a:solidFill>
                  <a:schemeClr val="dk1"/>
                </a:solidFill>
                <a:latin typeface="Times New Roman"/>
                <a:ea typeface="Times New Roman"/>
                <a:cs typeface="Times New Roman"/>
                <a:sym typeface="Times New Roman"/>
              </a:endParaRPr>
            </a:p>
          </p:txBody>
        </p:sp>
        <p:cxnSp>
          <p:nvCxnSpPr>
            <p:cNvPr id="847" name="Google Shape;847;p28"/>
            <p:cNvCxnSpPr/>
            <p:nvPr/>
          </p:nvCxnSpPr>
          <p:spPr>
            <a:xfrm rot="10800000">
              <a:off x="10624" y="2479"/>
              <a:ext cx="523" cy="0"/>
            </a:xfrm>
            <a:prstGeom prst="straightConnector1">
              <a:avLst/>
            </a:prstGeom>
            <a:noFill/>
            <a:ln cap="flat" cmpd="sng" w="31750">
              <a:solidFill>
                <a:srgbClr val="C00000"/>
              </a:solidFill>
              <a:prstDash val="solid"/>
              <a:round/>
              <a:headEnd len="med" w="med" type="stealth"/>
              <a:tailEnd len="lg" w="lg" type="none"/>
            </a:ln>
          </p:spPr>
        </p:cxnSp>
        <p:sp>
          <p:nvSpPr>
            <p:cNvPr id="848" name="Google Shape;848;p28"/>
            <p:cNvSpPr txBox="1"/>
            <p:nvPr/>
          </p:nvSpPr>
          <p:spPr>
            <a:xfrm>
              <a:off x="11147" y="3167"/>
              <a:ext cx="1308" cy="749"/>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V(s)</a:t>
              </a:r>
              <a:endParaRPr sz="3600">
                <a:solidFill>
                  <a:schemeClr val="dk1"/>
                </a:solidFill>
                <a:latin typeface="Times New Roman"/>
                <a:ea typeface="Times New Roman"/>
                <a:cs typeface="Times New Roman"/>
                <a:sym typeface="Times New Roman"/>
              </a:endParaRPr>
            </a:p>
          </p:txBody>
        </p:sp>
        <p:sp>
          <p:nvSpPr>
            <p:cNvPr id="849" name="Google Shape;849;p28"/>
            <p:cNvSpPr txBox="1"/>
            <p:nvPr/>
          </p:nvSpPr>
          <p:spPr>
            <a:xfrm>
              <a:off x="12455" y="1356"/>
              <a:ext cx="1046" cy="749"/>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baseline="30000" lang="en-GB" sz="3600">
                  <a:solidFill>
                    <a:srgbClr val="002060"/>
                  </a:solidFill>
                  <a:latin typeface="Times New Roman"/>
                  <a:ea typeface="Times New Roman"/>
                  <a:cs typeface="Times New Roman"/>
                  <a:sym typeface="Times New Roman"/>
                </a:rPr>
                <a:t>1</a:t>
              </a:r>
              <a:r>
                <a:rPr lang="en-GB" sz="3600">
                  <a:solidFill>
                    <a:srgbClr val="002060"/>
                  </a:solidFill>
                  <a:latin typeface="Times New Roman"/>
                  <a:ea typeface="Times New Roman"/>
                  <a:cs typeface="Times New Roman"/>
                  <a:sym typeface="Times New Roman"/>
                </a:rPr>
                <a:t>/</a:t>
              </a:r>
              <a:r>
                <a:rPr baseline="-25000" lang="en-GB" sz="3600">
                  <a:solidFill>
                    <a:srgbClr val="002060"/>
                  </a:solidFill>
                  <a:latin typeface="Times New Roman"/>
                  <a:ea typeface="Times New Roman"/>
                  <a:cs typeface="Times New Roman"/>
                  <a:sym typeface="Times New Roman"/>
                </a:rPr>
                <a:t>R</a:t>
              </a:r>
              <a:endParaRPr sz="3600">
                <a:solidFill>
                  <a:schemeClr val="dk1"/>
                </a:solidFill>
                <a:latin typeface="Times New Roman"/>
                <a:ea typeface="Times New Roman"/>
                <a:cs typeface="Times New Roman"/>
                <a:sym typeface="Times New Roman"/>
              </a:endParaRPr>
            </a:p>
          </p:txBody>
        </p:sp>
        <p:cxnSp>
          <p:nvCxnSpPr>
            <p:cNvPr id="850" name="Google Shape;850;p28"/>
            <p:cNvCxnSpPr/>
            <p:nvPr/>
          </p:nvCxnSpPr>
          <p:spPr>
            <a:xfrm>
              <a:off x="11408" y="3103"/>
              <a:ext cx="2355" cy="0"/>
            </a:xfrm>
            <a:prstGeom prst="straightConnector1">
              <a:avLst/>
            </a:prstGeom>
            <a:noFill/>
            <a:ln cap="flat" cmpd="sng" w="28575">
              <a:solidFill>
                <a:srgbClr val="002060"/>
              </a:solidFill>
              <a:prstDash val="solid"/>
              <a:round/>
              <a:headEnd len="lg" w="lg" type="stealth"/>
              <a:tailEnd len="lg" w="lg" type="none"/>
            </a:ln>
          </p:spPr>
        </p:cxnSp>
      </p:grpSp>
      <p:sp>
        <p:nvSpPr>
          <p:cNvPr id="851" name="Google Shape;851;p28"/>
          <p:cNvSpPr/>
          <p:nvPr/>
        </p:nvSpPr>
        <p:spPr>
          <a:xfrm>
            <a:off x="3024446" y="1720175"/>
            <a:ext cx="143950" cy="507804"/>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3600">
              <a:solidFill>
                <a:schemeClr val="dk1"/>
              </a:solidFill>
              <a:latin typeface="Calibri"/>
              <a:ea typeface="Calibri"/>
              <a:cs typeface="Calibri"/>
              <a:sym typeface="Calibri"/>
            </a:endParaRPr>
          </a:p>
        </p:txBody>
      </p:sp>
      <p:sp>
        <p:nvSpPr>
          <p:cNvPr id="852" name="Google Shape;852;p28"/>
          <p:cNvSpPr/>
          <p:nvPr/>
        </p:nvSpPr>
        <p:spPr>
          <a:xfrm>
            <a:off x="669688" y="3192575"/>
            <a:ext cx="7742554"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	  </a:t>
            </a:r>
            <a:r>
              <a:rPr b="0" i="1" lang="en-GB" sz="3600" u="none" cap="none" strike="noStrike">
                <a:solidFill>
                  <a:srgbClr val="002060"/>
                </a:solidFill>
                <a:latin typeface="Times New Roman"/>
                <a:ea typeface="Times New Roman"/>
                <a:cs typeface="Times New Roman"/>
                <a:sym typeface="Times New Roman"/>
              </a:rPr>
              <a:t>v(t)  =  R . i(t)</a:t>
            </a:r>
            <a:r>
              <a:rPr b="0" i="0" lang="en-GB" sz="3600" u="none" cap="none" strike="noStrike">
                <a:solidFill>
                  <a:srgbClr val="002060"/>
                </a:solidFill>
                <a:latin typeface="Times New Roman"/>
                <a:ea typeface="Times New Roman"/>
                <a:cs typeface="Times New Roman"/>
                <a:sym typeface="Times New Roman"/>
              </a:rPr>
              <a:t>	</a:t>
            </a:r>
            <a:r>
              <a:rPr b="0" i="1" lang="en-GB" sz="3600" u="none" cap="none" strike="noStrike">
                <a:solidFill>
                  <a:srgbClr val="002060"/>
                </a:solidFill>
                <a:latin typeface="Times New Roman"/>
                <a:ea typeface="Times New Roman"/>
                <a:cs typeface="Times New Roman"/>
                <a:sym typeface="Times New Roman"/>
              </a:rPr>
              <a:t>V(s)  =  R . I(s)</a:t>
            </a:r>
            <a:endParaRPr b="0" i="0" sz="3600" u="none" cap="none" strike="noStrike">
              <a:solidFill>
                <a:schemeClr val="dk1"/>
              </a:solidFill>
              <a:latin typeface="Times New Roman"/>
              <a:ea typeface="Times New Roman"/>
              <a:cs typeface="Times New Roman"/>
              <a:sym typeface="Times New Roman"/>
            </a:endParaRPr>
          </a:p>
        </p:txBody>
      </p:sp>
      <p:sp>
        <p:nvSpPr>
          <p:cNvPr id="853" name="Google Shape;853;p28"/>
          <p:cNvSpPr/>
          <p:nvPr/>
        </p:nvSpPr>
        <p:spPr>
          <a:xfrm>
            <a:off x="9582983" y="3093308"/>
            <a:ext cx="1582900" cy="1200329"/>
          </a:xfrm>
          <a:prstGeom prst="rect">
            <a:avLst/>
          </a:prstGeom>
          <a:noFill/>
          <a:ln>
            <a:noFill/>
          </a:ln>
        </p:spPr>
        <p:txBody>
          <a:bodyPr anchorCtr="0" anchor="ctr" bIns="45700" lIns="91425" spcFirstLastPara="1" rIns="91425" wrap="square" tIns="45700">
            <a:spAutoFit/>
          </a:bodyPr>
          <a:lstStyle/>
          <a:p>
            <a:pPr indent="457200" lvl="0" marL="0" marR="0" rtl="0" algn="just">
              <a:lnSpc>
                <a:spcPct val="100000"/>
              </a:lnSpc>
              <a:spcBef>
                <a:spcPts val="0"/>
              </a:spcBef>
              <a:spcAft>
                <a:spcPts val="0"/>
              </a:spcAft>
              <a:buClr>
                <a:srgbClr val="002060"/>
              </a:buClr>
              <a:buSzPts val="3600"/>
              <a:buFont typeface="Arial"/>
              <a:buNone/>
            </a:pPr>
            <a:r>
              <a:rPr b="0" i="0" lang="en-GB" sz="3600" u="none" cap="none" strike="noStrike">
                <a:solidFill>
                  <a:srgbClr val="002060"/>
                </a:solidFill>
                <a:latin typeface="Arial"/>
                <a:ea typeface="Arial"/>
                <a:cs typeface="Arial"/>
                <a:sym typeface="Arial"/>
              </a:rPr>
              <a:t>		</a:t>
            </a:r>
            <a:endParaRPr b="0" i="0" sz="3600" u="none" cap="none" strike="noStrike">
              <a:solidFill>
                <a:schemeClr val="dk1"/>
              </a:solidFill>
              <a:latin typeface="Arial"/>
              <a:ea typeface="Arial"/>
              <a:cs typeface="Arial"/>
              <a:sym typeface="Arial"/>
            </a:endParaRPr>
          </a:p>
        </p:txBody>
      </p:sp>
      <p:sp>
        <p:nvSpPr>
          <p:cNvPr id="854" name="Google Shape;854;p28"/>
          <p:cNvSpPr/>
          <p:nvPr/>
        </p:nvSpPr>
        <p:spPr>
          <a:xfrm>
            <a:off x="167752" y="5295011"/>
            <a:ext cx="9707584" cy="1200329"/>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Thus the resistor may be represented by an impedance of value R even in the s-domain.</a:t>
            </a:r>
            <a:endParaRPr b="0" i="0" sz="36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29"/>
          <p:cNvSpPr/>
          <p:nvPr/>
        </p:nvSpPr>
        <p:spPr>
          <a:xfrm>
            <a:off x="396705" y="2779171"/>
            <a:ext cx="2912597"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New Roman"/>
              <a:buNone/>
            </a:pPr>
            <a:r>
              <a:rPr b="0" i="1" lang="en-GB" sz="3600" u="none" cap="none" strike="noStrike">
                <a:solidFill>
                  <a:srgbClr val="002060"/>
                </a:solidFill>
                <a:latin typeface="Times New Roman"/>
                <a:ea typeface="Times New Roman"/>
                <a:cs typeface="Times New Roman"/>
                <a:sym typeface="Times New Roman"/>
              </a:rPr>
              <a:t>v(t)  =  L .</a:t>
            </a:r>
            <a:endParaRPr b="0" i="0" sz="1800" u="none" cap="none" strike="noStrike">
              <a:solidFill>
                <a:schemeClr val="dk1"/>
              </a:solidFill>
              <a:latin typeface="Times New Roman"/>
              <a:ea typeface="Times New Roman"/>
              <a:cs typeface="Times New Roman"/>
              <a:sym typeface="Times New Roman"/>
            </a:endParaRPr>
          </a:p>
        </p:txBody>
      </p:sp>
      <p:sp>
        <p:nvSpPr>
          <p:cNvPr id="860" name="Google Shape;860;p29"/>
          <p:cNvSpPr txBox="1"/>
          <p:nvPr>
            <p:ph type="title"/>
          </p:nvPr>
        </p:nvSpPr>
        <p:spPr>
          <a:xfrm>
            <a:off x="429715" y="457199"/>
            <a:ext cx="10924085" cy="5517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Times New Roman"/>
              <a:buNone/>
            </a:pPr>
            <a:r>
              <a:rPr lang="en-GB"/>
              <a:t>(b) Inductive Element  L</a:t>
            </a:r>
            <a:endParaRPr/>
          </a:p>
        </p:txBody>
      </p:sp>
      <p:pic>
        <p:nvPicPr>
          <p:cNvPr id="861" name="Google Shape;861;p29"/>
          <p:cNvPicPr preferRelativeResize="0"/>
          <p:nvPr/>
        </p:nvPicPr>
        <p:blipFill rotWithShape="1">
          <a:blip r:embed="rId3">
            <a:alphaModFix/>
          </a:blip>
          <a:srcRect b="0" l="0" r="0" t="0"/>
          <a:stretch/>
        </p:blipFill>
        <p:spPr>
          <a:xfrm>
            <a:off x="9543887" y="881703"/>
            <a:ext cx="726508" cy="723900"/>
          </a:xfrm>
          <a:prstGeom prst="rect">
            <a:avLst/>
          </a:prstGeom>
          <a:noFill/>
          <a:ln>
            <a:noFill/>
          </a:ln>
        </p:spPr>
      </p:pic>
      <p:pic>
        <p:nvPicPr>
          <p:cNvPr id="862" name="Google Shape;862;p29"/>
          <p:cNvPicPr preferRelativeResize="0"/>
          <p:nvPr/>
        </p:nvPicPr>
        <p:blipFill rotWithShape="1">
          <a:blip r:embed="rId4">
            <a:alphaModFix/>
          </a:blip>
          <a:srcRect b="0" l="0" r="0" t="0"/>
          <a:stretch/>
        </p:blipFill>
        <p:spPr>
          <a:xfrm>
            <a:off x="10244382" y="2692820"/>
            <a:ext cx="800312" cy="937508"/>
          </a:xfrm>
          <a:prstGeom prst="rect">
            <a:avLst/>
          </a:prstGeom>
          <a:noFill/>
          <a:ln>
            <a:noFill/>
          </a:ln>
        </p:spPr>
      </p:pic>
      <p:pic>
        <p:nvPicPr>
          <p:cNvPr id="863" name="Google Shape;863;p29"/>
          <p:cNvPicPr preferRelativeResize="0"/>
          <p:nvPr/>
        </p:nvPicPr>
        <p:blipFill rotWithShape="1">
          <a:blip r:embed="rId5">
            <a:alphaModFix/>
          </a:blip>
          <a:srcRect b="0" l="0" r="0" t="0"/>
          <a:stretch/>
        </p:blipFill>
        <p:spPr>
          <a:xfrm>
            <a:off x="2324909" y="2785976"/>
            <a:ext cx="857250" cy="971550"/>
          </a:xfrm>
          <a:prstGeom prst="rect">
            <a:avLst/>
          </a:prstGeom>
          <a:noFill/>
          <a:ln>
            <a:noFill/>
          </a:ln>
        </p:spPr>
      </p:pic>
      <p:pic>
        <p:nvPicPr>
          <p:cNvPr id="864" name="Google Shape;864;p29"/>
          <p:cNvPicPr preferRelativeResize="0"/>
          <p:nvPr/>
        </p:nvPicPr>
        <p:blipFill rotWithShape="1">
          <a:blip r:embed="rId6">
            <a:alphaModFix/>
          </a:blip>
          <a:srcRect b="0" l="0" r="0" t="0"/>
          <a:stretch/>
        </p:blipFill>
        <p:spPr>
          <a:xfrm>
            <a:off x="432239" y="3737253"/>
            <a:ext cx="3238500" cy="895350"/>
          </a:xfrm>
          <a:prstGeom prst="rect">
            <a:avLst/>
          </a:prstGeom>
          <a:noFill/>
          <a:ln>
            <a:noFill/>
          </a:ln>
        </p:spPr>
      </p:pic>
      <p:pic>
        <p:nvPicPr>
          <p:cNvPr id="865" name="Google Shape;865;p29"/>
          <p:cNvPicPr preferRelativeResize="0"/>
          <p:nvPr/>
        </p:nvPicPr>
        <p:blipFill rotWithShape="1">
          <a:blip r:embed="rId7">
            <a:alphaModFix/>
          </a:blip>
          <a:srcRect b="0" l="0" r="0" t="0"/>
          <a:stretch/>
        </p:blipFill>
        <p:spPr>
          <a:xfrm>
            <a:off x="8206661" y="3689982"/>
            <a:ext cx="3314700" cy="990600"/>
          </a:xfrm>
          <a:prstGeom prst="rect">
            <a:avLst/>
          </a:prstGeom>
          <a:noFill/>
          <a:ln>
            <a:noFill/>
          </a:ln>
        </p:spPr>
      </p:pic>
      <p:sp>
        <p:nvSpPr>
          <p:cNvPr id="866" name="Google Shape;866;p29"/>
          <p:cNvSpPr txBox="1"/>
          <p:nvPr/>
        </p:nvSpPr>
        <p:spPr>
          <a:xfrm>
            <a:off x="4269198" y="2391242"/>
            <a:ext cx="666750" cy="454025"/>
          </a:xfrm>
          <a:prstGeom prst="rect">
            <a:avLst/>
          </a:prstGeom>
          <a:noFill/>
          <a:ln>
            <a:noFill/>
          </a:ln>
        </p:spPr>
        <p:txBody>
          <a:bodyPr anchorCtr="0" anchor="t" bIns="10800" lIns="18000" spcFirstLastPara="1" rIns="18000" wrap="square" tIns="10800">
            <a:noAutofit/>
          </a:bodyPr>
          <a:lstStyle/>
          <a:p>
            <a:pPr indent="0" lvl="0" marL="0" marR="0" rtl="0" algn="l">
              <a:lnSpc>
                <a:spcPct val="100000"/>
              </a:lnSpc>
              <a:spcBef>
                <a:spcPts val="0"/>
              </a:spcBef>
              <a:spcAft>
                <a:spcPts val="0"/>
              </a:spcAft>
              <a:buClr>
                <a:srgbClr val="002060"/>
              </a:buClr>
              <a:buSzPts val="2600"/>
              <a:buFont typeface="Arial"/>
              <a:buNone/>
            </a:pPr>
            <a:r>
              <a:rPr b="0" i="0" lang="en-GB" sz="2600" u="none" cap="none" strike="noStrike">
                <a:solidFill>
                  <a:srgbClr val="002060"/>
                </a:solidFill>
                <a:latin typeface="Arial"/>
                <a:ea typeface="Arial"/>
                <a:cs typeface="Arial"/>
                <a:sym typeface="Arial"/>
              </a:rPr>
              <a:t>V(s)</a:t>
            </a:r>
            <a:endParaRPr b="0" i="0" sz="1800" u="none" cap="none" strike="noStrike">
              <a:solidFill>
                <a:schemeClr val="dk1"/>
              </a:solidFill>
              <a:latin typeface="Arial"/>
              <a:ea typeface="Arial"/>
              <a:cs typeface="Arial"/>
              <a:sym typeface="Arial"/>
            </a:endParaRPr>
          </a:p>
        </p:txBody>
      </p:sp>
      <p:grpSp>
        <p:nvGrpSpPr>
          <p:cNvPr id="867" name="Google Shape;867;p29"/>
          <p:cNvGrpSpPr/>
          <p:nvPr/>
        </p:nvGrpSpPr>
        <p:grpSpPr>
          <a:xfrm>
            <a:off x="505117" y="748275"/>
            <a:ext cx="11059698" cy="2239777"/>
            <a:chOff x="537" y="1273"/>
            <a:chExt cx="15969" cy="2945"/>
          </a:xfrm>
        </p:grpSpPr>
        <p:sp>
          <p:nvSpPr>
            <p:cNvPr id="868" name="Google Shape;868;p29"/>
            <p:cNvSpPr txBox="1"/>
            <p:nvPr/>
          </p:nvSpPr>
          <p:spPr>
            <a:xfrm>
              <a:off x="1282" y="3403"/>
              <a:ext cx="1049" cy="714"/>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200">
                  <a:solidFill>
                    <a:srgbClr val="002060"/>
                  </a:solidFill>
                  <a:latin typeface="Times New Roman"/>
                  <a:ea typeface="Times New Roman"/>
                  <a:cs typeface="Times New Roman"/>
                  <a:sym typeface="Times New Roman"/>
                </a:rPr>
                <a:t>v(t)</a:t>
              </a:r>
              <a:endParaRPr sz="1200">
                <a:solidFill>
                  <a:schemeClr val="dk1"/>
                </a:solidFill>
                <a:latin typeface="Times New Roman"/>
                <a:ea typeface="Times New Roman"/>
                <a:cs typeface="Times New Roman"/>
                <a:sym typeface="Times New Roman"/>
              </a:endParaRPr>
            </a:p>
          </p:txBody>
        </p:sp>
        <p:grpSp>
          <p:nvGrpSpPr>
            <p:cNvPr id="869" name="Google Shape;869;p29"/>
            <p:cNvGrpSpPr/>
            <p:nvPr/>
          </p:nvGrpSpPr>
          <p:grpSpPr>
            <a:xfrm>
              <a:off x="537" y="1707"/>
              <a:ext cx="3692" cy="1666"/>
              <a:chOff x="2138" y="7238"/>
              <a:chExt cx="1770" cy="840"/>
            </a:xfrm>
          </p:grpSpPr>
          <p:sp>
            <p:nvSpPr>
              <p:cNvPr id="870" name="Google Shape;870;p29"/>
              <p:cNvSpPr txBox="1"/>
              <p:nvPr/>
            </p:nvSpPr>
            <p:spPr>
              <a:xfrm>
                <a:off x="2138" y="7358"/>
                <a:ext cx="503"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200">
                    <a:solidFill>
                      <a:srgbClr val="002060"/>
                    </a:solidFill>
                    <a:latin typeface="Times New Roman"/>
                    <a:ea typeface="Times New Roman"/>
                    <a:cs typeface="Times New Roman"/>
                    <a:sym typeface="Times New Roman"/>
                  </a:rPr>
                  <a:t>i(t)</a:t>
                </a:r>
                <a:endParaRPr sz="1200">
                  <a:solidFill>
                    <a:schemeClr val="dk1"/>
                  </a:solidFill>
                  <a:latin typeface="Times New Roman"/>
                  <a:ea typeface="Times New Roman"/>
                  <a:cs typeface="Times New Roman"/>
                  <a:sym typeface="Times New Roman"/>
                </a:endParaRPr>
              </a:p>
            </p:txBody>
          </p:sp>
          <p:sp>
            <p:nvSpPr>
              <p:cNvPr id="871" name="Google Shape;871;p29"/>
              <p:cNvSpPr txBox="1"/>
              <p:nvPr/>
            </p:nvSpPr>
            <p:spPr>
              <a:xfrm>
                <a:off x="3019" y="7238"/>
                <a:ext cx="503"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200">
                    <a:solidFill>
                      <a:srgbClr val="002060"/>
                    </a:solidFill>
                    <a:latin typeface="Times New Roman"/>
                    <a:ea typeface="Times New Roman"/>
                    <a:cs typeface="Times New Roman"/>
                    <a:sym typeface="Times New Roman"/>
                  </a:rPr>
                  <a:t>L</a:t>
                </a:r>
                <a:endParaRPr sz="1200">
                  <a:solidFill>
                    <a:schemeClr val="dk1"/>
                  </a:solidFill>
                  <a:latin typeface="Times New Roman"/>
                  <a:ea typeface="Times New Roman"/>
                  <a:cs typeface="Times New Roman"/>
                  <a:sym typeface="Times New Roman"/>
                </a:endParaRPr>
              </a:p>
            </p:txBody>
          </p:sp>
          <p:cxnSp>
            <p:nvCxnSpPr>
              <p:cNvPr id="872" name="Google Shape;872;p29"/>
              <p:cNvCxnSpPr/>
              <p:nvPr/>
            </p:nvCxnSpPr>
            <p:spPr>
              <a:xfrm>
                <a:off x="2515" y="8078"/>
                <a:ext cx="1133" cy="0"/>
              </a:xfrm>
              <a:prstGeom prst="straightConnector1">
                <a:avLst/>
              </a:prstGeom>
              <a:noFill/>
              <a:ln cap="flat" cmpd="sng" w="31750">
                <a:solidFill>
                  <a:srgbClr val="002060"/>
                </a:solidFill>
                <a:prstDash val="solid"/>
                <a:round/>
                <a:headEnd len="med" w="med" type="stealth"/>
                <a:tailEnd len="med" w="med" type="none"/>
              </a:ln>
            </p:spPr>
          </p:cxnSp>
          <p:grpSp>
            <p:nvGrpSpPr>
              <p:cNvPr id="873" name="Google Shape;873;p29"/>
              <p:cNvGrpSpPr/>
              <p:nvPr/>
            </p:nvGrpSpPr>
            <p:grpSpPr>
              <a:xfrm>
                <a:off x="2138" y="7598"/>
                <a:ext cx="1770" cy="360"/>
                <a:chOff x="2138" y="7598"/>
                <a:chExt cx="1770" cy="360"/>
              </a:xfrm>
            </p:grpSpPr>
            <p:cxnSp>
              <p:nvCxnSpPr>
                <p:cNvPr id="874" name="Google Shape;874;p29"/>
                <p:cNvCxnSpPr/>
                <p:nvPr/>
              </p:nvCxnSpPr>
              <p:spPr>
                <a:xfrm rot="10800000">
                  <a:off x="2138" y="7778"/>
                  <a:ext cx="252" cy="0"/>
                </a:xfrm>
                <a:prstGeom prst="straightConnector1">
                  <a:avLst/>
                </a:prstGeom>
                <a:noFill/>
                <a:ln cap="flat" cmpd="sng" w="31750">
                  <a:solidFill>
                    <a:srgbClr val="C00000"/>
                  </a:solidFill>
                  <a:prstDash val="solid"/>
                  <a:round/>
                  <a:headEnd len="med" w="med" type="stealth"/>
                  <a:tailEnd len="med" w="med" type="none"/>
                </a:ln>
              </p:spPr>
            </p:cxnSp>
            <p:grpSp>
              <p:nvGrpSpPr>
                <p:cNvPr id="875" name="Google Shape;875;p29"/>
                <p:cNvGrpSpPr/>
                <p:nvPr/>
              </p:nvGrpSpPr>
              <p:grpSpPr>
                <a:xfrm>
                  <a:off x="2588" y="7598"/>
                  <a:ext cx="1080" cy="360"/>
                  <a:chOff x="1058" y="8243"/>
                  <a:chExt cx="5828" cy="1005"/>
                </a:xfrm>
              </p:grpSpPr>
              <p:sp>
                <p:nvSpPr>
                  <p:cNvPr id="876" name="Google Shape;876;p29"/>
                  <p:cNvSpPr/>
                  <p:nvPr/>
                </p:nvSpPr>
                <p:spPr>
                  <a:xfrm rot="10800000">
                    <a:off x="1058" y="8688"/>
                    <a:ext cx="1725" cy="470"/>
                  </a:xfrm>
                  <a:custGeom>
                    <a:rect b="b" l="l" r="r" t="t"/>
                    <a:pathLst>
                      <a:path extrusionOk="0" fill="none" h="22566" w="41573">
                        <a:moveTo>
                          <a:pt x="-1" y="13376"/>
                        </a:moveTo>
                        <a:cubicBezTo>
                          <a:pt x="3331" y="5282"/>
                          <a:pt x="11219" y="0"/>
                          <a:pt x="19973" y="0"/>
                        </a:cubicBezTo>
                        <a:cubicBezTo>
                          <a:pt x="31902" y="0"/>
                          <a:pt x="41573" y="9670"/>
                          <a:pt x="41573" y="21600"/>
                        </a:cubicBezTo>
                        <a:cubicBezTo>
                          <a:pt x="41573" y="21922"/>
                          <a:pt x="41565" y="22244"/>
                          <a:pt x="41551" y="22566"/>
                        </a:cubicBezTo>
                      </a:path>
                      <a:path extrusionOk="0" h="22566" w="41573">
                        <a:moveTo>
                          <a:pt x="-1" y="13376"/>
                        </a:moveTo>
                        <a:cubicBezTo>
                          <a:pt x="3331" y="5282"/>
                          <a:pt x="11219" y="0"/>
                          <a:pt x="19973" y="0"/>
                        </a:cubicBezTo>
                        <a:cubicBezTo>
                          <a:pt x="31902" y="0"/>
                          <a:pt x="41573" y="9670"/>
                          <a:pt x="41573" y="21600"/>
                        </a:cubicBezTo>
                        <a:cubicBezTo>
                          <a:pt x="41573" y="21922"/>
                          <a:pt x="41565" y="22244"/>
                          <a:pt x="41551" y="22566"/>
                        </a:cubicBezTo>
                        <a:lnTo>
                          <a:pt x="19973"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877" name="Google Shape;877;p29"/>
                  <p:cNvGrpSpPr/>
                  <p:nvPr/>
                </p:nvGrpSpPr>
                <p:grpSpPr>
                  <a:xfrm>
                    <a:off x="2020" y="8243"/>
                    <a:ext cx="1768" cy="960"/>
                    <a:chOff x="2020" y="8243"/>
                    <a:chExt cx="1768" cy="960"/>
                  </a:xfrm>
                </p:grpSpPr>
                <p:sp>
                  <p:nvSpPr>
                    <p:cNvPr id="878" name="Google Shape;878;p29"/>
                    <p:cNvSpPr/>
                    <p:nvPr/>
                  </p:nvSpPr>
                  <p:spPr>
                    <a:xfrm>
                      <a:off x="2020" y="8243"/>
                      <a:ext cx="842" cy="674"/>
                    </a:xfrm>
                    <a:custGeom>
                      <a:rect b="b" l="l" r="r" t="t"/>
                      <a:pathLst>
                        <a:path extrusionOk="0" fill="none"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extrusionOk="0"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9" name="Google Shape;879;p29"/>
                    <p:cNvSpPr/>
                    <p:nvPr/>
                  </p:nvSpPr>
                  <p:spPr>
                    <a:xfrm rot="10800000">
                      <a:off x="2117" y="8753"/>
                      <a:ext cx="1671" cy="450"/>
                    </a:xfrm>
                    <a:custGeom>
                      <a:rect b="b" l="l" r="r" t="t"/>
                      <a:pathLst>
                        <a:path extrusionOk="0" fill="none" h="21600" w="40269">
                          <a:moveTo>
                            <a:pt x="-1" y="13376"/>
                          </a:moveTo>
                          <a:cubicBezTo>
                            <a:pt x="3331" y="5282"/>
                            <a:pt x="11219" y="0"/>
                            <a:pt x="19973" y="0"/>
                          </a:cubicBezTo>
                          <a:cubicBezTo>
                            <a:pt x="29051" y="0"/>
                            <a:pt x="37161" y="5677"/>
                            <a:pt x="40268" y="14208"/>
                          </a:cubicBezTo>
                        </a:path>
                        <a:path extrusionOk="0" h="21600" w="40269">
                          <a:moveTo>
                            <a:pt x="-1" y="13376"/>
                          </a:moveTo>
                          <a:cubicBezTo>
                            <a:pt x="3331" y="5282"/>
                            <a:pt x="11219" y="0"/>
                            <a:pt x="19973" y="0"/>
                          </a:cubicBezTo>
                          <a:cubicBezTo>
                            <a:pt x="29051" y="0"/>
                            <a:pt x="37161" y="5677"/>
                            <a:pt x="40268" y="14208"/>
                          </a:cubicBezTo>
                          <a:lnTo>
                            <a:pt x="19973"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880" name="Google Shape;880;p29"/>
                  <p:cNvGrpSpPr/>
                  <p:nvPr/>
                </p:nvGrpSpPr>
                <p:grpSpPr>
                  <a:xfrm>
                    <a:off x="3038" y="8258"/>
                    <a:ext cx="1768" cy="960"/>
                    <a:chOff x="2020" y="8243"/>
                    <a:chExt cx="1768" cy="960"/>
                  </a:xfrm>
                </p:grpSpPr>
                <p:sp>
                  <p:nvSpPr>
                    <p:cNvPr id="881" name="Google Shape;881;p29"/>
                    <p:cNvSpPr/>
                    <p:nvPr/>
                  </p:nvSpPr>
                  <p:spPr>
                    <a:xfrm>
                      <a:off x="2020" y="8243"/>
                      <a:ext cx="842" cy="674"/>
                    </a:xfrm>
                    <a:custGeom>
                      <a:rect b="b" l="l" r="r" t="t"/>
                      <a:pathLst>
                        <a:path extrusionOk="0" fill="none"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extrusionOk="0"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2" name="Google Shape;882;p29"/>
                    <p:cNvSpPr/>
                    <p:nvPr/>
                  </p:nvSpPr>
                  <p:spPr>
                    <a:xfrm rot="10800000">
                      <a:off x="2117" y="8753"/>
                      <a:ext cx="1671" cy="450"/>
                    </a:xfrm>
                    <a:custGeom>
                      <a:rect b="b" l="l" r="r" t="t"/>
                      <a:pathLst>
                        <a:path extrusionOk="0" fill="none" h="21600" w="40269">
                          <a:moveTo>
                            <a:pt x="-1" y="13376"/>
                          </a:moveTo>
                          <a:cubicBezTo>
                            <a:pt x="3331" y="5282"/>
                            <a:pt x="11219" y="0"/>
                            <a:pt x="19973" y="0"/>
                          </a:cubicBezTo>
                          <a:cubicBezTo>
                            <a:pt x="29051" y="0"/>
                            <a:pt x="37161" y="5677"/>
                            <a:pt x="40268" y="14208"/>
                          </a:cubicBezTo>
                        </a:path>
                        <a:path extrusionOk="0" h="21600" w="40269">
                          <a:moveTo>
                            <a:pt x="-1" y="13376"/>
                          </a:moveTo>
                          <a:cubicBezTo>
                            <a:pt x="3331" y="5282"/>
                            <a:pt x="11219" y="0"/>
                            <a:pt x="19973" y="0"/>
                          </a:cubicBezTo>
                          <a:cubicBezTo>
                            <a:pt x="29051" y="0"/>
                            <a:pt x="37161" y="5677"/>
                            <a:pt x="40268" y="14208"/>
                          </a:cubicBezTo>
                          <a:lnTo>
                            <a:pt x="19973"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883" name="Google Shape;883;p29"/>
                  <p:cNvGrpSpPr/>
                  <p:nvPr/>
                </p:nvGrpSpPr>
                <p:grpSpPr>
                  <a:xfrm>
                    <a:off x="4043" y="8273"/>
                    <a:ext cx="1768" cy="960"/>
                    <a:chOff x="2020" y="8243"/>
                    <a:chExt cx="1768" cy="960"/>
                  </a:xfrm>
                </p:grpSpPr>
                <p:sp>
                  <p:nvSpPr>
                    <p:cNvPr id="884" name="Google Shape;884;p29"/>
                    <p:cNvSpPr/>
                    <p:nvPr/>
                  </p:nvSpPr>
                  <p:spPr>
                    <a:xfrm>
                      <a:off x="2020" y="8243"/>
                      <a:ext cx="842" cy="674"/>
                    </a:xfrm>
                    <a:custGeom>
                      <a:rect b="b" l="l" r="r" t="t"/>
                      <a:pathLst>
                        <a:path extrusionOk="0" fill="none"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extrusionOk="0"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5" name="Google Shape;885;p29"/>
                    <p:cNvSpPr/>
                    <p:nvPr/>
                  </p:nvSpPr>
                  <p:spPr>
                    <a:xfrm rot="10800000">
                      <a:off x="2117" y="8753"/>
                      <a:ext cx="1671" cy="450"/>
                    </a:xfrm>
                    <a:custGeom>
                      <a:rect b="b" l="l" r="r" t="t"/>
                      <a:pathLst>
                        <a:path extrusionOk="0" fill="none" h="21600" w="40269">
                          <a:moveTo>
                            <a:pt x="-1" y="13376"/>
                          </a:moveTo>
                          <a:cubicBezTo>
                            <a:pt x="3331" y="5282"/>
                            <a:pt x="11219" y="0"/>
                            <a:pt x="19973" y="0"/>
                          </a:cubicBezTo>
                          <a:cubicBezTo>
                            <a:pt x="29051" y="0"/>
                            <a:pt x="37161" y="5677"/>
                            <a:pt x="40268" y="14208"/>
                          </a:cubicBezTo>
                        </a:path>
                        <a:path extrusionOk="0" h="21600" w="40269">
                          <a:moveTo>
                            <a:pt x="-1" y="13376"/>
                          </a:moveTo>
                          <a:cubicBezTo>
                            <a:pt x="3331" y="5282"/>
                            <a:pt x="11219" y="0"/>
                            <a:pt x="19973" y="0"/>
                          </a:cubicBezTo>
                          <a:cubicBezTo>
                            <a:pt x="29051" y="0"/>
                            <a:pt x="37161" y="5677"/>
                            <a:pt x="40268" y="14208"/>
                          </a:cubicBezTo>
                          <a:lnTo>
                            <a:pt x="19973"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86" name="Google Shape;886;p29"/>
                  <p:cNvSpPr/>
                  <p:nvPr/>
                </p:nvSpPr>
                <p:spPr>
                  <a:xfrm>
                    <a:off x="5050" y="8288"/>
                    <a:ext cx="842" cy="674"/>
                  </a:xfrm>
                  <a:custGeom>
                    <a:rect b="b" l="l" r="r" t="t"/>
                    <a:pathLst>
                      <a:path extrusionOk="0" fill="none"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extrusionOk="0"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7" name="Google Shape;887;p29"/>
                  <p:cNvSpPr/>
                  <p:nvPr/>
                </p:nvSpPr>
                <p:spPr>
                  <a:xfrm rot="10800000">
                    <a:off x="5147" y="8789"/>
                    <a:ext cx="1739" cy="459"/>
                  </a:xfrm>
                  <a:custGeom>
                    <a:rect b="b" l="l" r="r" t="t"/>
                    <a:pathLst>
                      <a:path extrusionOk="0" fill="none" h="22008" w="41896">
                        <a:moveTo>
                          <a:pt x="3" y="22008"/>
                        </a:moveTo>
                        <a:cubicBezTo>
                          <a:pt x="1" y="21872"/>
                          <a:pt x="0" y="21736"/>
                          <a:pt x="0" y="21600"/>
                        </a:cubicBezTo>
                        <a:cubicBezTo>
                          <a:pt x="0" y="9670"/>
                          <a:pt x="9670" y="0"/>
                          <a:pt x="21600" y="0"/>
                        </a:cubicBezTo>
                        <a:cubicBezTo>
                          <a:pt x="30678" y="0"/>
                          <a:pt x="38788" y="5677"/>
                          <a:pt x="41895" y="14208"/>
                        </a:cubicBezTo>
                      </a:path>
                      <a:path extrusionOk="0" h="22008" w="41896">
                        <a:moveTo>
                          <a:pt x="3" y="22008"/>
                        </a:moveTo>
                        <a:cubicBezTo>
                          <a:pt x="1" y="21872"/>
                          <a:pt x="0" y="21736"/>
                          <a:pt x="0" y="21600"/>
                        </a:cubicBezTo>
                        <a:cubicBezTo>
                          <a:pt x="0" y="9670"/>
                          <a:pt x="9670" y="0"/>
                          <a:pt x="21600" y="0"/>
                        </a:cubicBezTo>
                        <a:cubicBezTo>
                          <a:pt x="30678" y="0"/>
                          <a:pt x="38788" y="5677"/>
                          <a:pt x="41895" y="14208"/>
                        </a:cubicBezTo>
                        <a:lnTo>
                          <a:pt x="21600"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888" name="Google Shape;888;p29"/>
                <p:cNvCxnSpPr/>
                <p:nvPr/>
              </p:nvCxnSpPr>
              <p:spPr>
                <a:xfrm>
                  <a:off x="2363" y="7778"/>
                  <a:ext cx="240" cy="0"/>
                </a:xfrm>
                <a:prstGeom prst="straightConnector1">
                  <a:avLst/>
                </a:prstGeom>
                <a:noFill/>
                <a:ln cap="flat" cmpd="sng" w="31750">
                  <a:solidFill>
                    <a:srgbClr val="C00000"/>
                  </a:solidFill>
                  <a:prstDash val="solid"/>
                  <a:round/>
                  <a:headEnd len="med" w="med" type="none"/>
                  <a:tailEnd len="med" w="med" type="none"/>
                </a:ln>
              </p:spPr>
            </p:cxnSp>
            <p:cxnSp>
              <p:nvCxnSpPr>
                <p:cNvPr id="889" name="Google Shape;889;p29"/>
                <p:cNvCxnSpPr/>
                <p:nvPr/>
              </p:nvCxnSpPr>
              <p:spPr>
                <a:xfrm>
                  <a:off x="3668" y="7778"/>
                  <a:ext cx="240" cy="0"/>
                </a:xfrm>
                <a:prstGeom prst="straightConnector1">
                  <a:avLst/>
                </a:prstGeom>
                <a:noFill/>
                <a:ln cap="flat" cmpd="sng" w="31750">
                  <a:solidFill>
                    <a:srgbClr val="C00000"/>
                  </a:solidFill>
                  <a:prstDash val="solid"/>
                  <a:round/>
                  <a:headEnd len="med" w="med" type="none"/>
                  <a:tailEnd len="med" w="med" type="none"/>
                </a:ln>
              </p:spPr>
            </p:cxnSp>
          </p:grpSp>
        </p:grpSp>
        <p:sp>
          <p:nvSpPr>
            <p:cNvPr id="890" name="Google Shape;890;p29"/>
            <p:cNvSpPr txBox="1"/>
            <p:nvPr/>
          </p:nvSpPr>
          <p:spPr>
            <a:xfrm>
              <a:off x="5495" y="1945"/>
              <a:ext cx="1049" cy="714"/>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I(s)</a:t>
              </a:r>
              <a:endParaRPr sz="1200">
                <a:solidFill>
                  <a:schemeClr val="dk1"/>
                </a:solidFill>
                <a:latin typeface="Times New Roman"/>
                <a:ea typeface="Times New Roman"/>
                <a:cs typeface="Times New Roman"/>
                <a:sym typeface="Times New Roman"/>
              </a:endParaRPr>
            </a:p>
          </p:txBody>
        </p:sp>
        <p:sp>
          <p:nvSpPr>
            <p:cNvPr id="891" name="Google Shape;891;p29"/>
            <p:cNvSpPr txBox="1"/>
            <p:nvPr/>
          </p:nvSpPr>
          <p:spPr>
            <a:xfrm>
              <a:off x="6959" y="1707"/>
              <a:ext cx="1049" cy="714"/>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200">
                  <a:solidFill>
                    <a:srgbClr val="002060"/>
                  </a:solidFill>
                  <a:latin typeface="Times New Roman"/>
                  <a:ea typeface="Times New Roman"/>
                  <a:cs typeface="Times New Roman"/>
                  <a:sym typeface="Times New Roman"/>
                </a:rPr>
                <a:t>L s</a:t>
              </a:r>
              <a:endParaRPr sz="1200">
                <a:solidFill>
                  <a:schemeClr val="dk1"/>
                </a:solidFill>
                <a:latin typeface="Times New Roman"/>
                <a:ea typeface="Times New Roman"/>
                <a:cs typeface="Times New Roman"/>
                <a:sym typeface="Times New Roman"/>
              </a:endParaRPr>
            </a:p>
          </p:txBody>
        </p:sp>
        <p:cxnSp>
          <p:nvCxnSpPr>
            <p:cNvPr id="892" name="Google Shape;892;p29"/>
            <p:cNvCxnSpPr/>
            <p:nvPr/>
          </p:nvCxnSpPr>
          <p:spPr>
            <a:xfrm>
              <a:off x="6018" y="3373"/>
              <a:ext cx="3743" cy="0"/>
            </a:xfrm>
            <a:prstGeom prst="straightConnector1">
              <a:avLst/>
            </a:prstGeom>
            <a:noFill/>
            <a:ln cap="flat" cmpd="sng" w="31750">
              <a:solidFill>
                <a:srgbClr val="002060"/>
              </a:solidFill>
              <a:prstDash val="solid"/>
              <a:round/>
              <a:headEnd len="med" w="med" type="stealth"/>
              <a:tailEnd len="med" w="med" type="none"/>
            </a:ln>
          </p:spPr>
        </p:cxnSp>
        <p:cxnSp>
          <p:nvCxnSpPr>
            <p:cNvPr id="893" name="Google Shape;893;p29"/>
            <p:cNvCxnSpPr/>
            <p:nvPr/>
          </p:nvCxnSpPr>
          <p:spPr>
            <a:xfrm>
              <a:off x="5724" y="2778"/>
              <a:ext cx="501" cy="0"/>
            </a:xfrm>
            <a:prstGeom prst="straightConnector1">
              <a:avLst/>
            </a:prstGeom>
            <a:noFill/>
            <a:ln cap="flat" cmpd="sng" w="31750">
              <a:solidFill>
                <a:srgbClr val="C00000"/>
              </a:solidFill>
              <a:prstDash val="solid"/>
              <a:round/>
              <a:headEnd len="med" w="med" type="none"/>
              <a:tailEnd len="med" w="med" type="none"/>
            </a:ln>
          </p:spPr>
        </p:cxnSp>
        <p:grpSp>
          <p:nvGrpSpPr>
            <p:cNvPr id="894" name="Google Shape;894;p29"/>
            <p:cNvGrpSpPr/>
            <p:nvPr/>
          </p:nvGrpSpPr>
          <p:grpSpPr>
            <a:xfrm>
              <a:off x="5255" y="2421"/>
              <a:ext cx="4944" cy="714"/>
              <a:chOff x="4778" y="7598"/>
              <a:chExt cx="2370" cy="360"/>
            </a:xfrm>
          </p:grpSpPr>
          <p:cxnSp>
            <p:nvCxnSpPr>
              <p:cNvPr id="895" name="Google Shape;895;p29"/>
              <p:cNvCxnSpPr/>
              <p:nvPr/>
            </p:nvCxnSpPr>
            <p:spPr>
              <a:xfrm rot="10800000">
                <a:off x="4778" y="7778"/>
                <a:ext cx="252" cy="0"/>
              </a:xfrm>
              <a:prstGeom prst="straightConnector1">
                <a:avLst/>
              </a:prstGeom>
              <a:noFill/>
              <a:ln cap="flat" cmpd="sng" w="31750">
                <a:solidFill>
                  <a:srgbClr val="C00000"/>
                </a:solidFill>
                <a:prstDash val="solid"/>
                <a:round/>
                <a:headEnd len="med" w="med" type="stealth"/>
                <a:tailEnd len="med" w="med" type="none"/>
              </a:ln>
            </p:spPr>
          </p:cxnSp>
          <p:grpSp>
            <p:nvGrpSpPr>
              <p:cNvPr id="896" name="Google Shape;896;p29"/>
              <p:cNvGrpSpPr/>
              <p:nvPr/>
            </p:nvGrpSpPr>
            <p:grpSpPr>
              <a:xfrm>
                <a:off x="5228" y="7598"/>
                <a:ext cx="1080" cy="360"/>
                <a:chOff x="1058" y="8243"/>
                <a:chExt cx="5828" cy="1005"/>
              </a:xfrm>
            </p:grpSpPr>
            <p:sp>
              <p:nvSpPr>
                <p:cNvPr id="897" name="Google Shape;897;p29"/>
                <p:cNvSpPr/>
                <p:nvPr/>
              </p:nvSpPr>
              <p:spPr>
                <a:xfrm rot="10800000">
                  <a:off x="1058" y="8688"/>
                  <a:ext cx="1725" cy="470"/>
                </a:xfrm>
                <a:custGeom>
                  <a:rect b="b" l="l" r="r" t="t"/>
                  <a:pathLst>
                    <a:path extrusionOk="0" fill="none" h="22566" w="41573">
                      <a:moveTo>
                        <a:pt x="-1" y="13376"/>
                      </a:moveTo>
                      <a:cubicBezTo>
                        <a:pt x="3331" y="5282"/>
                        <a:pt x="11219" y="0"/>
                        <a:pt x="19973" y="0"/>
                      </a:cubicBezTo>
                      <a:cubicBezTo>
                        <a:pt x="31902" y="0"/>
                        <a:pt x="41573" y="9670"/>
                        <a:pt x="41573" y="21600"/>
                      </a:cubicBezTo>
                      <a:cubicBezTo>
                        <a:pt x="41573" y="21922"/>
                        <a:pt x="41565" y="22244"/>
                        <a:pt x="41551" y="22566"/>
                      </a:cubicBezTo>
                    </a:path>
                    <a:path extrusionOk="0" h="22566" w="41573">
                      <a:moveTo>
                        <a:pt x="-1" y="13376"/>
                      </a:moveTo>
                      <a:cubicBezTo>
                        <a:pt x="3331" y="5282"/>
                        <a:pt x="11219" y="0"/>
                        <a:pt x="19973" y="0"/>
                      </a:cubicBezTo>
                      <a:cubicBezTo>
                        <a:pt x="31902" y="0"/>
                        <a:pt x="41573" y="9670"/>
                        <a:pt x="41573" y="21600"/>
                      </a:cubicBezTo>
                      <a:cubicBezTo>
                        <a:pt x="41573" y="21922"/>
                        <a:pt x="41565" y="22244"/>
                        <a:pt x="41551" y="22566"/>
                      </a:cubicBezTo>
                      <a:lnTo>
                        <a:pt x="19973"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898" name="Google Shape;898;p29"/>
                <p:cNvGrpSpPr/>
                <p:nvPr/>
              </p:nvGrpSpPr>
              <p:grpSpPr>
                <a:xfrm>
                  <a:off x="2020" y="8243"/>
                  <a:ext cx="1768" cy="960"/>
                  <a:chOff x="2020" y="8243"/>
                  <a:chExt cx="1768" cy="960"/>
                </a:xfrm>
              </p:grpSpPr>
              <p:sp>
                <p:nvSpPr>
                  <p:cNvPr id="899" name="Google Shape;899;p29"/>
                  <p:cNvSpPr/>
                  <p:nvPr/>
                </p:nvSpPr>
                <p:spPr>
                  <a:xfrm>
                    <a:off x="2020" y="8243"/>
                    <a:ext cx="842" cy="674"/>
                  </a:xfrm>
                  <a:custGeom>
                    <a:rect b="b" l="l" r="r" t="t"/>
                    <a:pathLst>
                      <a:path extrusionOk="0" fill="none"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extrusionOk="0"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0" name="Google Shape;900;p29"/>
                  <p:cNvSpPr/>
                  <p:nvPr/>
                </p:nvSpPr>
                <p:spPr>
                  <a:xfrm rot="10800000">
                    <a:off x="2117" y="8753"/>
                    <a:ext cx="1671" cy="450"/>
                  </a:xfrm>
                  <a:custGeom>
                    <a:rect b="b" l="l" r="r" t="t"/>
                    <a:pathLst>
                      <a:path extrusionOk="0" fill="none" h="21600" w="40269">
                        <a:moveTo>
                          <a:pt x="-1" y="13376"/>
                        </a:moveTo>
                        <a:cubicBezTo>
                          <a:pt x="3331" y="5282"/>
                          <a:pt x="11219" y="0"/>
                          <a:pt x="19973" y="0"/>
                        </a:cubicBezTo>
                        <a:cubicBezTo>
                          <a:pt x="29051" y="0"/>
                          <a:pt x="37161" y="5677"/>
                          <a:pt x="40268" y="14208"/>
                        </a:cubicBezTo>
                      </a:path>
                      <a:path extrusionOk="0" h="21600" w="40269">
                        <a:moveTo>
                          <a:pt x="-1" y="13376"/>
                        </a:moveTo>
                        <a:cubicBezTo>
                          <a:pt x="3331" y="5282"/>
                          <a:pt x="11219" y="0"/>
                          <a:pt x="19973" y="0"/>
                        </a:cubicBezTo>
                        <a:cubicBezTo>
                          <a:pt x="29051" y="0"/>
                          <a:pt x="37161" y="5677"/>
                          <a:pt x="40268" y="14208"/>
                        </a:cubicBezTo>
                        <a:lnTo>
                          <a:pt x="19973"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01" name="Google Shape;901;p29"/>
                <p:cNvGrpSpPr/>
                <p:nvPr/>
              </p:nvGrpSpPr>
              <p:grpSpPr>
                <a:xfrm>
                  <a:off x="3038" y="8258"/>
                  <a:ext cx="1768" cy="960"/>
                  <a:chOff x="2020" y="8243"/>
                  <a:chExt cx="1768" cy="960"/>
                </a:xfrm>
              </p:grpSpPr>
              <p:sp>
                <p:nvSpPr>
                  <p:cNvPr id="902" name="Google Shape;902;p29"/>
                  <p:cNvSpPr/>
                  <p:nvPr/>
                </p:nvSpPr>
                <p:spPr>
                  <a:xfrm>
                    <a:off x="2020" y="8243"/>
                    <a:ext cx="842" cy="674"/>
                  </a:xfrm>
                  <a:custGeom>
                    <a:rect b="b" l="l" r="r" t="t"/>
                    <a:pathLst>
                      <a:path extrusionOk="0" fill="none"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extrusionOk="0"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3" name="Google Shape;903;p29"/>
                  <p:cNvSpPr/>
                  <p:nvPr/>
                </p:nvSpPr>
                <p:spPr>
                  <a:xfrm rot="10800000">
                    <a:off x="2117" y="8753"/>
                    <a:ext cx="1671" cy="450"/>
                  </a:xfrm>
                  <a:custGeom>
                    <a:rect b="b" l="l" r="r" t="t"/>
                    <a:pathLst>
                      <a:path extrusionOk="0" fill="none" h="21600" w="40269">
                        <a:moveTo>
                          <a:pt x="-1" y="13376"/>
                        </a:moveTo>
                        <a:cubicBezTo>
                          <a:pt x="3331" y="5282"/>
                          <a:pt x="11219" y="0"/>
                          <a:pt x="19973" y="0"/>
                        </a:cubicBezTo>
                        <a:cubicBezTo>
                          <a:pt x="29051" y="0"/>
                          <a:pt x="37161" y="5677"/>
                          <a:pt x="40268" y="14208"/>
                        </a:cubicBezTo>
                      </a:path>
                      <a:path extrusionOk="0" h="21600" w="40269">
                        <a:moveTo>
                          <a:pt x="-1" y="13376"/>
                        </a:moveTo>
                        <a:cubicBezTo>
                          <a:pt x="3331" y="5282"/>
                          <a:pt x="11219" y="0"/>
                          <a:pt x="19973" y="0"/>
                        </a:cubicBezTo>
                        <a:cubicBezTo>
                          <a:pt x="29051" y="0"/>
                          <a:pt x="37161" y="5677"/>
                          <a:pt x="40268" y="14208"/>
                        </a:cubicBezTo>
                        <a:lnTo>
                          <a:pt x="19973"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04" name="Google Shape;904;p29"/>
                <p:cNvGrpSpPr/>
                <p:nvPr/>
              </p:nvGrpSpPr>
              <p:grpSpPr>
                <a:xfrm>
                  <a:off x="4043" y="8273"/>
                  <a:ext cx="1768" cy="960"/>
                  <a:chOff x="2020" y="8243"/>
                  <a:chExt cx="1768" cy="960"/>
                </a:xfrm>
              </p:grpSpPr>
              <p:sp>
                <p:nvSpPr>
                  <p:cNvPr id="905" name="Google Shape;905;p29"/>
                  <p:cNvSpPr/>
                  <p:nvPr/>
                </p:nvSpPr>
                <p:spPr>
                  <a:xfrm>
                    <a:off x="2020" y="8243"/>
                    <a:ext cx="842" cy="674"/>
                  </a:xfrm>
                  <a:custGeom>
                    <a:rect b="b" l="l" r="r" t="t"/>
                    <a:pathLst>
                      <a:path extrusionOk="0" fill="none"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extrusionOk="0"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6" name="Google Shape;906;p29"/>
                  <p:cNvSpPr/>
                  <p:nvPr/>
                </p:nvSpPr>
                <p:spPr>
                  <a:xfrm rot="10800000">
                    <a:off x="2117" y="8753"/>
                    <a:ext cx="1671" cy="450"/>
                  </a:xfrm>
                  <a:custGeom>
                    <a:rect b="b" l="l" r="r" t="t"/>
                    <a:pathLst>
                      <a:path extrusionOk="0" fill="none" h="21600" w="40269">
                        <a:moveTo>
                          <a:pt x="-1" y="13376"/>
                        </a:moveTo>
                        <a:cubicBezTo>
                          <a:pt x="3331" y="5282"/>
                          <a:pt x="11219" y="0"/>
                          <a:pt x="19973" y="0"/>
                        </a:cubicBezTo>
                        <a:cubicBezTo>
                          <a:pt x="29051" y="0"/>
                          <a:pt x="37161" y="5677"/>
                          <a:pt x="40268" y="14208"/>
                        </a:cubicBezTo>
                      </a:path>
                      <a:path extrusionOk="0" h="21600" w="40269">
                        <a:moveTo>
                          <a:pt x="-1" y="13376"/>
                        </a:moveTo>
                        <a:cubicBezTo>
                          <a:pt x="3331" y="5282"/>
                          <a:pt x="11219" y="0"/>
                          <a:pt x="19973" y="0"/>
                        </a:cubicBezTo>
                        <a:cubicBezTo>
                          <a:pt x="29051" y="0"/>
                          <a:pt x="37161" y="5677"/>
                          <a:pt x="40268" y="14208"/>
                        </a:cubicBezTo>
                        <a:lnTo>
                          <a:pt x="19973"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07" name="Google Shape;907;p29"/>
                <p:cNvSpPr/>
                <p:nvPr/>
              </p:nvSpPr>
              <p:spPr>
                <a:xfrm>
                  <a:off x="5050" y="8288"/>
                  <a:ext cx="842" cy="674"/>
                </a:xfrm>
                <a:custGeom>
                  <a:rect b="b" l="l" r="r" t="t"/>
                  <a:pathLst>
                    <a:path extrusionOk="0" fill="none"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extrusionOk="0"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8" name="Google Shape;908;p29"/>
                <p:cNvSpPr/>
                <p:nvPr/>
              </p:nvSpPr>
              <p:spPr>
                <a:xfrm rot="10800000">
                  <a:off x="5147" y="8789"/>
                  <a:ext cx="1739" cy="459"/>
                </a:xfrm>
                <a:custGeom>
                  <a:rect b="b" l="l" r="r" t="t"/>
                  <a:pathLst>
                    <a:path extrusionOk="0" fill="none" h="22008" w="41896">
                      <a:moveTo>
                        <a:pt x="3" y="22008"/>
                      </a:moveTo>
                      <a:cubicBezTo>
                        <a:pt x="1" y="21872"/>
                        <a:pt x="0" y="21736"/>
                        <a:pt x="0" y="21600"/>
                      </a:cubicBezTo>
                      <a:cubicBezTo>
                        <a:pt x="0" y="9670"/>
                        <a:pt x="9670" y="0"/>
                        <a:pt x="21600" y="0"/>
                      </a:cubicBezTo>
                      <a:cubicBezTo>
                        <a:pt x="30678" y="0"/>
                        <a:pt x="38788" y="5677"/>
                        <a:pt x="41895" y="14208"/>
                      </a:cubicBezTo>
                    </a:path>
                    <a:path extrusionOk="0" h="22008" w="41896">
                      <a:moveTo>
                        <a:pt x="3" y="22008"/>
                      </a:moveTo>
                      <a:cubicBezTo>
                        <a:pt x="1" y="21872"/>
                        <a:pt x="0" y="21736"/>
                        <a:pt x="0" y="21600"/>
                      </a:cubicBezTo>
                      <a:cubicBezTo>
                        <a:pt x="0" y="9670"/>
                        <a:pt x="9670" y="0"/>
                        <a:pt x="21600" y="0"/>
                      </a:cubicBezTo>
                      <a:cubicBezTo>
                        <a:pt x="30678" y="0"/>
                        <a:pt x="38788" y="5677"/>
                        <a:pt x="41895" y="14208"/>
                      </a:cubicBezTo>
                      <a:lnTo>
                        <a:pt x="21600"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909" name="Google Shape;909;p29"/>
              <p:cNvCxnSpPr/>
              <p:nvPr/>
            </p:nvCxnSpPr>
            <p:spPr>
              <a:xfrm>
                <a:off x="6308" y="7778"/>
                <a:ext cx="240" cy="0"/>
              </a:xfrm>
              <a:prstGeom prst="straightConnector1">
                <a:avLst/>
              </a:prstGeom>
              <a:noFill/>
              <a:ln cap="flat" cmpd="sng" w="31750">
                <a:solidFill>
                  <a:srgbClr val="C00000"/>
                </a:solidFill>
                <a:prstDash val="solid"/>
                <a:round/>
                <a:headEnd len="med" w="med" type="none"/>
                <a:tailEnd len="med" w="med" type="none"/>
              </a:ln>
            </p:spPr>
          </p:cxnSp>
          <p:sp>
            <p:nvSpPr>
              <p:cNvPr id="910" name="Google Shape;910;p29"/>
              <p:cNvSpPr/>
              <p:nvPr/>
            </p:nvSpPr>
            <p:spPr>
              <a:xfrm>
                <a:off x="6548" y="7598"/>
                <a:ext cx="360" cy="360"/>
              </a:xfrm>
              <a:prstGeom prst="ellipse">
                <a:avLst/>
              </a:pr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911" name="Google Shape;911;p29"/>
              <p:cNvCxnSpPr/>
              <p:nvPr/>
            </p:nvCxnSpPr>
            <p:spPr>
              <a:xfrm>
                <a:off x="6908" y="7778"/>
                <a:ext cx="240" cy="0"/>
              </a:xfrm>
              <a:prstGeom prst="straightConnector1">
                <a:avLst/>
              </a:prstGeom>
              <a:noFill/>
              <a:ln cap="flat" cmpd="sng" w="31750">
                <a:solidFill>
                  <a:srgbClr val="C00000"/>
                </a:solidFill>
                <a:prstDash val="solid"/>
                <a:round/>
                <a:headEnd len="med" w="med" type="none"/>
                <a:tailEnd len="med" w="med" type="none"/>
              </a:ln>
            </p:spPr>
          </p:cxnSp>
        </p:grpSp>
        <p:sp>
          <p:nvSpPr>
            <p:cNvPr id="912" name="Google Shape;912;p29"/>
            <p:cNvSpPr txBox="1"/>
            <p:nvPr/>
          </p:nvSpPr>
          <p:spPr>
            <a:xfrm>
              <a:off x="8540" y="1588"/>
              <a:ext cx="1769" cy="714"/>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L</a:t>
              </a:r>
              <a:r>
                <a:rPr lang="en-GB" sz="1400">
                  <a:solidFill>
                    <a:srgbClr val="002060"/>
                  </a:solidFill>
                  <a:latin typeface="Times New Roman"/>
                  <a:ea typeface="Times New Roman"/>
                  <a:cs typeface="Times New Roman"/>
                  <a:sym typeface="Times New Roman"/>
                </a:rPr>
                <a:t> </a:t>
              </a:r>
              <a:r>
                <a:rPr lang="en-GB" sz="2800">
                  <a:solidFill>
                    <a:srgbClr val="002060"/>
                  </a:solidFill>
                  <a:latin typeface="Times New Roman"/>
                  <a:ea typeface="Times New Roman"/>
                  <a:cs typeface="Times New Roman"/>
                  <a:sym typeface="Times New Roman"/>
                </a:rPr>
                <a:t>.i(0</a:t>
              </a:r>
              <a:r>
                <a:rPr baseline="30000" lang="en-GB" sz="2800">
                  <a:solidFill>
                    <a:srgbClr val="002060"/>
                  </a:solidFill>
                  <a:latin typeface="Times New Roman"/>
                  <a:ea typeface="Times New Roman"/>
                  <a:cs typeface="Times New Roman"/>
                  <a:sym typeface="Times New Roman"/>
                </a:rPr>
                <a:t>-</a:t>
              </a:r>
              <a:r>
                <a:rPr lang="en-GB" sz="2800">
                  <a:solidFill>
                    <a:srgbClr val="002060"/>
                  </a:solidFill>
                  <a:latin typeface="Times New Roman"/>
                  <a:ea typeface="Times New Roman"/>
                  <a:cs typeface="Times New Roman"/>
                  <a:sym typeface="Times New Roman"/>
                </a:rPr>
                <a:t>)</a:t>
              </a:r>
              <a:endParaRPr sz="1200">
                <a:solidFill>
                  <a:schemeClr val="dk1"/>
                </a:solidFill>
                <a:latin typeface="Times New Roman"/>
                <a:ea typeface="Times New Roman"/>
                <a:cs typeface="Times New Roman"/>
                <a:sym typeface="Times New Roman"/>
              </a:endParaRPr>
            </a:p>
          </p:txBody>
        </p:sp>
        <p:sp>
          <p:nvSpPr>
            <p:cNvPr id="913" name="Google Shape;913;p29"/>
            <p:cNvSpPr txBox="1"/>
            <p:nvPr/>
          </p:nvSpPr>
          <p:spPr>
            <a:xfrm>
              <a:off x="8603" y="2147"/>
              <a:ext cx="1752" cy="714"/>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b="1" lang="en-GB" sz="2800">
                  <a:solidFill>
                    <a:srgbClr val="002060"/>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p:txBody>
        </p:sp>
        <p:sp>
          <p:nvSpPr>
            <p:cNvPr id="914" name="Google Shape;914;p29"/>
            <p:cNvSpPr txBox="1"/>
            <p:nvPr/>
          </p:nvSpPr>
          <p:spPr>
            <a:xfrm>
              <a:off x="11500" y="1987"/>
              <a:ext cx="1049" cy="714"/>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200">
                  <a:solidFill>
                    <a:srgbClr val="002060"/>
                  </a:solidFill>
                  <a:latin typeface="Times New Roman"/>
                  <a:ea typeface="Times New Roman"/>
                  <a:cs typeface="Times New Roman"/>
                  <a:sym typeface="Times New Roman"/>
                </a:rPr>
                <a:t>I(s)</a:t>
              </a:r>
              <a:endParaRPr sz="1200">
                <a:solidFill>
                  <a:schemeClr val="dk1"/>
                </a:solidFill>
                <a:latin typeface="Times New Roman"/>
                <a:ea typeface="Times New Roman"/>
                <a:cs typeface="Times New Roman"/>
                <a:sym typeface="Times New Roman"/>
              </a:endParaRPr>
            </a:p>
          </p:txBody>
        </p:sp>
        <p:sp>
          <p:nvSpPr>
            <p:cNvPr id="915" name="Google Shape;915;p29"/>
            <p:cNvSpPr txBox="1"/>
            <p:nvPr/>
          </p:nvSpPr>
          <p:spPr>
            <a:xfrm>
              <a:off x="12543" y="1392"/>
              <a:ext cx="1051" cy="714"/>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700">
                  <a:solidFill>
                    <a:srgbClr val="002060"/>
                  </a:solidFill>
                  <a:latin typeface="Times New Roman"/>
                  <a:ea typeface="Times New Roman"/>
                  <a:cs typeface="Times New Roman"/>
                  <a:sym typeface="Times New Roman"/>
                </a:rPr>
                <a:t>V(s)</a:t>
              </a:r>
              <a:endParaRPr sz="1200">
                <a:solidFill>
                  <a:schemeClr val="dk1"/>
                </a:solidFill>
                <a:latin typeface="Times New Roman"/>
                <a:ea typeface="Times New Roman"/>
                <a:cs typeface="Times New Roman"/>
                <a:sym typeface="Times New Roman"/>
              </a:endParaRPr>
            </a:p>
          </p:txBody>
        </p:sp>
        <p:sp>
          <p:nvSpPr>
            <p:cNvPr id="916" name="Google Shape;916;p29"/>
            <p:cNvSpPr txBox="1"/>
            <p:nvPr/>
          </p:nvSpPr>
          <p:spPr>
            <a:xfrm>
              <a:off x="13753" y="1273"/>
              <a:ext cx="1051" cy="119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cxnSp>
          <p:nvCxnSpPr>
            <p:cNvPr id="917" name="Google Shape;917;p29"/>
            <p:cNvCxnSpPr/>
            <p:nvPr/>
          </p:nvCxnSpPr>
          <p:spPr>
            <a:xfrm>
              <a:off x="12806" y="1273"/>
              <a:ext cx="2361" cy="0"/>
            </a:xfrm>
            <a:prstGeom prst="straightConnector1">
              <a:avLst/>
            </a:prstGeom>
            <a:noFill/>
            <a:ln cap="flat" cmpd="sng" w="31750">
              <a:solidFill>
                <a:srgbClr val="002060"/>
              </a:solidFill>
              <a:prstDash val="solid"/>
              <a:round/>
              <a:headEnd len="med" w="med" type="stealth"/>
              <a:tailEnd len="med" w="med" type="none"/>
            </a:ln>
          </p:spPr>
        </p:cxnSp>
        <p:cxnSp>
          <p:nvCxnSpPr>
            <p:cNvPr id="918" name="Google Shape;918;p29"/>
            <p:cNvCxnSpPr/>
            <p:nvPr/>
          </p:nvCxnSpPr>
          <p:spPr>
            <a:xfrm rot="10800000">
              <a:off x="11500" y="2820"/>
              <a:ext cx="526" cy="0"/>
            </a:xfrm>
            <a:prstGeom prst="straightConnector1">
              <a:avLst/>
            </a:prstGeom>
            <a:noFill/>
            <a:ln cap="flat" cmpd="sng" w="31750">
              <a:solidFill>
                <a:srgbClr val="C00000"/>
              </a:solidFill>
              <a:prstDash val="solid"/>
              <a:round/>
              <a:headEnd len="med" w="med" type="stealth"/>
              <a:tailEnd len="med" w="med" type="none"/>
            </a:ln>
          </p:spPr>
        </p:cxnSp>
        <p:grpSp>
          <p:nvGrpSpPr>
            <p:cNvPr id="919" name="Google Shape;919;p29"/>
            <p:cNvGrpSpPr/>
            <p:nvPr/>
          </p:nvGrpSpPr>
          <p:grpSpPr>
            <a:xfrm>
              <a:off x="13002" y="2463"/>
              <a:ext cx="2253" cy="714"/>
              <a:chOff x="1058" y="8243"/>
              <a:chExt cx="5828" cy="1005"/>
            </a:xfrm>
          </p:grpSpPr>
          <p:sp>
            <p:nvSpPr>
              <p:cNvPr id="920" name="Google Shape;920;p29"/>
              <p:cNvSpPr/>
              <p:nvPr/>
            </p:nvSpPr>
            <p:spPr>
              <a:xfrm rot="10800000">
                <a:off x="1058" y="8688"/>
                <a:ext cx="1725" cy="470"/>
              </a:xfrm>
              <a:custGeom>
                <a:rect b="b" l="l" r="r" t="t"/>
                <a:pathLst>
                  <a:path extrusionOk="0" fill="none" h="22566" w="41573">
                    <a:moveTo>
                      <a:pt x="-1" y="13376"/>
                    </a:moveTo>
                    <a:cubicBezTo>
                      <a:pt x="3331" y="5282"/>
                      <a:pt x="11219" y="0"/>
                      <a:pt x="19973" y="0"/>
                    </a:cubicBezTo>
                    <a:cubicBezTo>
                      <a:pt x="31902" y="0"/>
                      <a:pt x="41573" y="9670"/>
                      <a:pt x="41573" y="21600"/>
                    </a:cubicBezTo>
                    <a:cubicBezTo>
                      <a:pt x="41573" y="21922"/>
                      <a:pt x="41565" y="22244"/>
                      <a:pt x="41551" y="22566"/>
                    </a:cubicBezTo>
                  </a:path>
                  <a:path extrusionOk="0" h="22566" w="41573">
                    <a:moveTo>
                      <a:pt x="-1" y="13376"/>
                    </a:moveTo>
                    <a:cubicBezTo>
                      <a:pt x="3331" y="5282"/>
                      <a:pt x="11219" y="0"/>
                      <a:pt x="19973" y="0"/>
                    </a:cubicBezTo>
                    <a:cubicBezTo>
                      <a:pt x="31902" y="0"/>
                      <a:pt x="41573" y="9670"/>
                      <a:pt x="41573" y="21600"/>
                    </a:cubicBezTo>
                    <a:cubicBezTo>
                      <a:pt x="41573" y="21922"/>
                      <a:pt x="41565" y="22244"/>
                      <a:pt x="41551" y="22566"/>
                    </a:cubicBezTo>
                    <a:lnTo>
                      <a:pt x="19973"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21" name="Google Shape;921;p29"/>
              <p:cNvGrpSpPr/>
              <p:nvPr/>
            </p:nvGrpSpPr>
            <p:grpSpPr>
              <a:xfrm>
                <a:off x="2020" y="8243"/>
                <a:ext cx="1768" cy="960"/>
                <a:chOff x="2020" y="8243"/>
                <a:chExt cx="1768" cy="960"/>
              </a:xfrm>
            </p:grpSpPr>
            <p:sp>
              <p:nvSpPr>
                <p:cNvPr id="922" name="Google Shape;922;p29"/>
                <p:cNvSpPr/>
                <p:nvPr/>
              </p:nvSpPr>
              <p:spPr>
                <a:xfrm>
                  <a:off x="2020" y="8243"/>
                  <a:ext cx="842" cy="674"/>
                </a:xfrm>
                <a:custGeom>
                  <a:rect b="b" l="l" r="r" t="t"/>
                  <a:pathLst>
                    <a:path extrusionOk="0" fill="none"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extrusionOk="0"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3" name="Google Shape;923;p29"/>
                <p:cNvSpPr/>
                <p:nvPr/>
              </p:nvSpPr>
              <p:spPr>
                <a:xfrm rot="10800000">
                  <a:off x="2117" y="8753"/>
                  <a:ext cx="1671" cy="450"/>
                </a:xfrm>
                <a:custGeom>
                  <a:rect b="b" l="l" r="r" t="t"/>
                  <a:pathLst>
                    <a:path extrusionOk="0" fill="none" h="21600" w="40269">
                      <a:moveTo>
                        <a:pt x="-1" y="13376"/>
                      </a:moveTo>
                      <a:cubicBezTo>
                        <a:pt x="3331" y="5282"/>
                        <a:pt x="11219" y="0"/>
                        <a:pt x="19973" y="0"/>
                      </a:cubicBezTo>
                      <a:cubicBezTo>
                        <a:pt x="29051" y="0"/>
                        <a:pt x="37161" y="5677"/>
                        <a:pt x="40268" y="14208"/>
                      </a:cubicBezTo>
                    </a:path>
                    <a:path extrusionOk="0" h="21600" w="40269">
                      <a:moveTo>
                        <a:pt x="-1" y="13376"/>
                      </a:moveTo>
                      <a:cubicBezTo>
                        <a:pt x="3331" y="5282"/>
                        <a:pt x="11219" y="0"/>
                        <a:pt x="19973" y="0"/>
                      </a:cubicBezTo>
                      <a:cubicBezTo>
                        <a:pt x="29051" y="0"/>
                        <a:pt x="37161" y="5677"/>
                        <a:pt x="40268" y="14208"/>
                      </a:cubicBezTo>
                      <a:lnTo>
                        <a:pt x="19973"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24" name="Google Shape;924;p29"/>
              <p:cNvGrpSpPr/>
              <p:nvPr/>
            </p:nvGrpSpPr>
            <p:grpSpPr>
              <a:xfrm>
                <a:off x="3038" y="8258"/>
                <a:ext cx="1768" cy="960"/>
                <a:chOff x="2020" y="8243"/>
                <a:chExt cx="1768" cy="960"/>
              </a:xfrm>
            </p:grpSpPr>
            <p:sp>
              <p:nvSpPr>
                <p:cNvPr id="925" name="Google Shape;925;p29"/>
                <p:cNvSpPr/>
                <p:nvPr/>
              </p:nvSpPr>
              <p:spPr>
                <a:xfrm>
                  <a:off x="2020" y="8243"/>
                  <a:ext cx="842" cy="674"/>
                </a:xfrm>
                <a:custGeom>
                  <a:rect b="b" l="l" r="r" t="t"/>
                  <a:pathLst>
                    <a:path extrusionOk="0" fill="none"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extrusionOk="0"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6" name="Google Shape;926;p29"/>
                <p:cNvSpPr/>
                <p:nvPr/>
              </p:nvSpPr>
              <p:spPr>
                <a:xfrm rot="10800000">
                  <a:off x="2117" y="8753"/>
                  <a:ext cx="1671" cy="450"/>
                </a:xfrm>
                <a:custGeom>
                  <a:rect b="b" l="l" r="r" t="t"/>
                  <a:pathLst>
                    <a:path extrusionOk="0" fill="none" h="21600" w="40269">
                      <a:moveTo>
                        <a:pt x="-1" y="13376"/>
                      </a:moveTo>
                      <a:cubicBezTo>
                        <a:pt x="3331" y="5282"/>
                        <a:pt x="11219" y="0"/>
                        <a:pt x="19973" y="0"/>
                      </a:cubicBezTo>
                      <a:cubicBezTo>
                        <a:pt x="29051" y="0"/>
                        <a:pt x="37161" y="5677"/>
                        <a:pt x="40268" y="14208"/>
                      </a:cubicBezTo>
                    </a:path>
                    <a:path extrusionOk="0" h="21600" w="40269">
                      <a:moveTo>
                        <a:pt x="-1" y="13376"/>
                      </a:moveTo>
                      <a:cubicBezTo>
                        <a:pt x="3331" y="5282"/>
                        <a:pt x="11219" y="0"/>
                        <a:pt x="19973" y="0"/>
                      </a:cubicBezTo>
                      <a:cubicBezTo>
                        <a:pt x="29051" y="0"/>
                        <a:pt x="37161" y="5677"/>
                        <a:pt x="40268" y="14208"/>
                      </a:cubicBezTo>
                      <a:lnTo>
                        <a:pt x="19973"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grpSp>
            <p:nvGrpSpPr>
              <p:cNvPr id="927" name="Google Shape;927;p29"/>
              <p:cNvGrpSpPr/>
              <p:nvPr/>
            </p:nvGrpSpPr>
            <p:grpSpPr>
              <a:xfrm>
                <a:off x="4043" y="8273"/>
                <a:ext cx="1768" cy="960"/>
                <a:chOff x="2020" y="8243"/>
                <a:chExt cx="1768" cy="960"/>
              </a:xfrm>
            </p:grpSpPr>
            <p:sp>
              <p:nvSpPr>
                <p:cNvPr id="928" name="Google Shape;928;p29"/>
                <p:cNvSpPr/>
                <p:nvPr/>
              </p:nvSpPr>
              <p:spPr>
                <a:xfrm>
                  <a:off x="2020" y="8243"/>
                  <a:ext cx="842" cy="674"/>
                </a:xfrm>
                <a:custGeom>
                  <a:rect b="b" l="l" r="r" t="t"/>
                  <a:pathLst>
                    <a:path extrusionOk="0" fill="none"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extrusionOk="0"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9" name="Google Shape;929;p29"/>
                <p:cNvSpPr/>
                <p:nvPr/>
              </p:nvSpPr>
              <p:spPr>
                <a:xfrm rot="10800000">
                  <a:off x="2117" y="8753"/>
                  <a:ext cx="1671" cy="450"/>
                </a:xfrm>
                <a:custGeom>
                  <a:rect b="b" l="l" r="r" t="t"/>
                  <a:pathLst>
                    <a:path extrusionOk="0" fill="none" h="21600" w="40269">
                      <a:moveTo>
                        <a:pt x="-1" y="13376"/>
                      </a:moveTo>
                      <a:cubicBezTo>
                        <a:pt x="3331" y="5282"/>
                        <a:pt x="11219" y="0"/>
                        <a:pt x="19973" y="0"/>
                      </a:cubicBezTo>
                      <a:cubicBezTo>
                        <a:pt x="29051" y="0"/>
                        <a:pt x="37161" y="5677"/>
                        <a:pt x="40268" y="14208"/>
                      </a:cubicBezTo>
                    </a:path>
                    <a:path extrusionOk="0" h="21600" w="40269">
                      <a:moveTo>
                        <a:pt x="-1" y="13376"/>
                      </a:moveTo>
                      <a:cubicBezTo>
                        <a:pt x="3331" y="5282"/>
                        <a:pt x="11219" y="0"/>
                        <a:pt x="19973" y="0"/>
                      </a:cubicBezTo>
                      <a:cubicBezTo>
                        <a:pt x="29051" y="0"/>
                        <a:pt x="37161" y="5677"/>
                        <a:pt x="40268" y="14208"/>
                      </a:cubicBezTo>
                      <a:lnTo>
                        <a:pt x="19973"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30" name="Google Shape;930;p29"/>
              <p:cNvSpPr/>
              <p:nvPr/>
            </p:nvSpPr>
            <p:spPr>
              <a:xfrm>
                <a:off x="5050" y="8288"/>
                <a:ext cx="842" cy="674"/>
              </a:xfrm>
              <a:custGeom>
                <a:rect b="b" l="l" r="r" t="t"/>
                <a:pathLst>
                  <a:path extrusionOk="0" fill="none"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path>
                  <a:path extrusionOk="0" h="34987" w="43200">
                    <a:moveTo>
                      <a:pt x="4648" y="34987"/>
                    </a:moveTo>
                    <a:cubicBezTo>
                      <a:pt x="1637" y="31174"/>
                      <a:pt x="0" y="26458"/>
                      <a:pt x="0" y="21600"/>
                    </a:cubicBezTo>
                    <a:cubicBezTo>
                      <a:pt x="0" y="9670"/>
                      <a:pt x="9670" y="0"/>
                      <a:pt x="21600" y="0"/>
                    </a:cubicBezTo>
                    <a:cubicBezTo>
                      <a:pt x="33529" y="0"/>
                      <a:pt x="43200" y="9670"/>
                      <a:pt x="43200" y="21600"/>
                    </a:cubicBezTo>
                    <a:cubicBezTo>
                      <a:pt x="43200" y="26139"/>
                      <a:pt x="41770" y="30562"/>
                      <a:pt x="39113" y="34243"/>
                    </a:cubicBezTo>
                    <a:lnTo>
                      <a:pt x="21600"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1" name="Google Shape;931;p29"/>
              <p:cNvSpPr/>
              <p:nvPr/>
            </p:nvSpPr>
            <p:spPr>
              <a:xfrm rot="10800000">
                <a:off x="5147" y="8789"/>
                <a:ext cx="1739" cy="459"/>
              </a:xfrm>
              <a:custGeom>
                <a:rect b="b" l="l" r="r" t="t"/>
                <a:pathLst>
                  <a:path extrusionOk="0" fill="none" h="22008" w="41896">
                    <a:moveTo>
                      <a:pt x="3" y="22008"/>
                    </a:moveTo>
                    <a:cubicBezTo>
                      <a:pt x="1" y="21872"/>
                      <a:pt x="0" y="21736"/>
                      <a:pt x="0" y="21600"/>
                    </a:cubicBezTo>
                    <a:cubicBezTo>
                      <a:pt x="0" y="9670"/>
                      <a:pt x="9670" y="0"/>
                      <a:pt x="21600" y="0"/>
                    </a:cubicBezTo>
                    <a:cubicBezTo>
                      <a:pt x="30678" y="0"/>
                      <a:pt x="38788" y="5677"/>
                      <a:pt x="41895" y="14208"/>
                    </a:cubicBezTo>
                  </a:path>
                  <a:path extrusionOk="0" h="22008" w="41896">
                    <a:moveTo>
                      <a:pt x="3" y="22008"/>
                    </a:moveTo>
                    <a:cubicBezTo>
                      <a:pt x="1" y="21872"/>
                      <a:pt x="0" y="21736"/>
                      <a:pt x="0" y="21600"/>
                    </a:cubicBezTo>
                    <a:cubicBezTo>
                      <a:pt x="0" y="9670"/>
                      <a:pt x="9670" y="0"/>
                      <a:pt x="21600" y="0"/>
                    </a:cubicBezTo>
                    <a:cubicBezTo>
                      <a:pt x="30678" y="0"/>
                      <a:pt x="38788" y="5677"/>
                      <a:pt x="41895" y="14208"/>
                    </a:cubicBezTo>
                    <a:lnTo>
                      <a:pt x="21600"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932" name="Google Shape;932;p29"/>
            <p:cNvCxnSpPr/>
            <p:nvPr/>
          </p:nvCxnSpPr>
          <p:spPr>
            <a:xfrm>
              <a:off x="12001" y="2820"/>
              <a:ext cx="1032" cy="0"/>
            </a:xfrm>
            <a:prstGeom prst="straightConnector1">
              <a:avLst/>
            </a:prstGeom>
            <a:noFill/>
            <a:ln cap="flat" cmpd="sng" w="31750">
              <a:solidFill>
                <a:srgbClr val="C00000"/>
              </a:solidFill>
              <a:prstDash val="solid"/>
              <a:round/>
              <a:headEnd len="med" w="med" type="none"/>
              <a:tailEnd len="med" w="med" type="none"/>
            </a:ln>
          </p:spPr>
        </p:cxnSp>
        <p:cxnSp>
          <p:nvCxnSpPr>
            <p:cNvPr id="933" name="Google Shape;933;p29"/>
            <p:cNvCxnSpPr/>
            <p:nvPr/>
          </p:nvCxnSpPr>
          <p:spPr>
            <a:xfrm>
              <a:off x="15255" y="2820"/>
              <a:ext cx="1251" cy="0"/>
            </a:xfrm>
            <a:prstGeom prst="straightConnector1">
              <a:avLst/>
            </a:prstGeom>
            <a:noFill/>
            <a:ln cap="flat" cmpd="sng" w="31750">
              <a:solidFill>
                <a:srgbClr val="C00000"/>
              </a:solidFill>
              <a:prstDash val="solid"/>
              <a:round/>
              <a:headEnd len="med" w="med" type="none"/>
              <a:tailEnd len="med" w="med" type="none"/>
            </a:ln>
          </p:spPr>
        </p:cxnSp>
        <p:cxnSp>
          <p:nvCxnSpPr>
            <p:cNvPr id="934" name="Google Shape;934;p29"/>
            <p:cNvCxnSpPr/>
            <p:nvPr/>
          </p:nvCxnSpPr>
          <p:spPr>
            <a:xfrm>
              <a:off x="12720" y="3861"/>
              <a:ext cx="979" cy="0"/>
            </a:xfrm>
            <a:prstGeom prst="straightConnector1">
              <a:avLst/>
            </a:prstGeom>
            <a:noFill/>
            <a:ln cap="flat" cmpd="sng" w="31750">
              <a:solidFill>
                <a:srgbClr val="C00000"/>
              </a:solidFill>
              <a:prstDash val="solid"/>
              <a:round/>
              <a:headEnd len="med" w="med" type="none"/>
              <a:tailEnd len="med" w="med" type="none"/>
            </a:ln>
          </p:spPr>
        </p:cxnSp>
        <p:cxnSp>
          <p:nvCxnSpPr>
            <p:cNvPr id="935" name="Google Shape;935;p29"/>
            <p:cNvCxnSpPr/>
            <p:nvPr/>
          </p:nvCxnSpPr>
          <p:spPr>
            <a:xfrm>
              <a:off x="14481" y="3861"/>
              <a:ext cx="1274" cy="0"/>
            </a:xfrm>
            <a:prstGeom prst="straightConnector1">
              <a:avLst/>
            </a:prstGeom>
            <a:noFill/>
            <a:ln cap="flat" cmpd="sng" w="31750">
              <a:solidFill>
                <a:srgbClr val="C00000"/>
              </a:solidFill>
              <a:prstDash val="solid"/>
              <a:round/>
              <a:headEnd len="med" w="med" type="none"/>
              <a:tailEnd len="med" w="med" type="none"/>
            </a:ln>
          </p:spPr>
        </p:cxnSp>
        <p:sp>
          <p:nvSpPr>
            <p:cNvPr id="936" name="Google Shape;936;p29"/>
            <p:cNvSpPr/>
            <p:nvPr/>
          </p:nvSpPr>
          <p:spPr>
            <a:xfrm>
              <a:off x="13750" y="3504"/>
              <a:ext cx="751" cy="714"/>
            </a:xfrm>
            <a:prstGeom prst="ellipse">
              <a:avLst/>
            </a:pr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937" name="Google Shape;937;p29"/>
            <p:cNvCxnSpPr/>
            <p:nvPr/>
          </p:nvCxnSpPr>
          <p:spPr>
            <a:xfrm rot="10800000">
              <a:off x="15755" y="2790"/>
              <a:ext cx="0" cy="1071"/>
            </a:xfrm>
            <a:prstGeom prst="straightConnector1">
              <a:avLst/>
            </a:prstGeom>
            <a:noFill/>
            <a:ln cap="flat" cmpd="sng" w="31750">
              <a:solidFill>
                <a:srgbClr val="C00000"/>
              </a:solidFill>
              <a:prstDash val="solid"/>
              <a:round/>
              <a:headEnd len="med" w="med" type="none"/>
              <a:tailEnd len="med" w="med" type="none"/>
            </a:ln>
          </p:spPr>
        </p:cxnSp>
        <p:cxnSp>
          <p:nvCxnSpPr>
            <p:cNvPr id="938" name="Google Shape;938;p29"/>
            <p:cNvCxnSpPr/>
            <p:nvPr/>
          </p:nvCxnSpPr>
          <p:spPr>
            <a:xfrm rot="10800000">
              <a:off x="12720" y="2790"/>
              <a:ext cx="0" cy="1071"/>
            </a:xfrm>
            <a:prstGeom prst="straightConnector1">
              <a:avLst/>
            </a:prstGeom>
            <a:noFill/>
            <a:ln cap="flat" cmpd="sng" w="31750">
              <a:solidFill>
                <a:srgbClr val="C00000"/>
              </a:solidFill>
              <a:prstDash val="solid"/>
              <a:round/>
              <a:headEnd len="med" w="med" type="none"/>
              <a:tailEnd len="med" w="med" type="none"/>
            </a:ln>
          </p:spPr>
        </p:cxnSp>
        <p:cxnSp>
          <p:nvCxnSpPr>
            <p:cNvPr id="939" name="Google Shape;939;p29"/>
            <p:cNvCxnSpPr/>
            <p:nvPr/>
          </p:nvCxnSpPr>
          <p:spPr>
            <a:xfrm>
              <a:off x="13776" y="3865"/>
              <a:ext cx="698" cy="0"/>
            </a:xfrm>
            <a:prstGeom prst="straightConnector1">
              <a:avLst/>
            </a:prstGeom>
            <a:noFill/>
            <a:ln cap="flat" cmpd="sng" w="31750">
              <a:solidFill>
                <a:srgbClr val="C00000"/>
              </a:solidFill>
              <a:prstDash val="solid"/>
              <a:round/>
              <a:headEnd len="med" w="med" type="none"/>
              <a:tailEnd len="med" w="med" type="stealth"/>
            </a:ln>
          </p:spPr>
        </p:cxnSp>
      </p:grpSp>
      <p:sp>
        <p:nvSpPr>
          <p:cNvPr id="940" name="Google Shape;940;p29"/>
          <p:cNvSpPr txBox="1"/>
          <p:nvPr/>
        </p:nvSpPr>
        <p:spPr>
          <a:xfrm>
            <a:off x="9176385" y="2678430"/>
            <a:ext cx="702310" cy="802640"/>
          </a:xfrm>
          <a:prstGeom prst="rect">
            <a:avLst/>
          </a:prstGeom>
          <a:noFill/>
          <a:ln>
            <a:noFill/>
          </a:ln>
        </p:spPr>
        <p:txBody>
          <a:bodyPr anchorCtr="0" anchor="t" bIns="10800" lIns="18000" spcFirstLastPara="1" rIns="18000" wrap="square" tIns="10800">
            <a:spAutoFit/>
          </a:bodyPr>
          <a:lstStyle/>
          <a:p>
            <a:pPr indent="0" lvl="0" marL="0" marR="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
        <p:nvSpPr>
          <p:cNvPr id="941" name="Google Shape;941;p29"/>
          <p:cNvSpPr/>
          <p:nvPr/>
        </p:nvSpPr>
        <p:spPr>
          <a:xfrm>
            <a:off x="0" y="0"/>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2" name="Google Shape;942;p29"/>
          <p:cNvSpPr/>
          <p:nvPr/>
        </p:nvSpPr>
        <p:spPr>
          <a:xfrm>
            <a:off x="0" y="457200"/>
            <a:ext cx="0" cy="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3" name="Google Shape;943;p29"/>
          <p:cNvSpPr/>
          <p:nvPr/>
        </p:nvSpPr>
        <p:spPr>
          <a:xfrm>
            <a:off x="3620011" y="2806443"/>
            <a:ext cx="4296365"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	</a:t>
            </a:r>
            <a:r>
              <a:rPr b="0" i="1" lang="en-GB" sz="3400" u="none" cap="none" strike="noStrike">
                <a:solidFill>
                  <a:srgbClr val="002060"/>
                </a:solidFill>
                <a:latin typeface="Times New Roman"/>
                <a:ea typeface="Times New Roman"/>
                <a:cs typeface="Times New Roman"/>
                <a:sym typeface="Times New Roman"/>
              </a:rPr>
              <a:t>V(s)= Ls. I(s) – L.i(0</a:t>
            </a:r>
            <a:r>
              <a:rPr b="0" baseline="30000" i="1" lang="en-GB" sz="3400" u="none" cap="none" strike="noStrike">
                <a:solidFill>
                  <a:srgbClr val="002060"/>
                </a:solidFill>
                <a:latin typeface="Times New Roman"/>
                <a:ea typeface="Times New Roman"/>
                <a:cs typeface="Times New Roman"/>
                <a:sym typeface="Times New Roman"/>
              </a:rPr>
              <a:t> -</a:t>
            </a:r>
            <a:r>
              <a:rPr b="0" i="1" lang="en-GB" sz="3400" u="none" cap="none" strike="noStrike">
                <a:solidFill>
                  <a:srgbClr val="002060"/>
                </a:solidFill>
                <a:latin typeface="Times New Roman"/>
                <a:ea typeface="Times New Roman"/>
                <a:cs typeface="Times New Roman"/>
                <a:sym typeface="Times New Roman"/>
              </a:rPr>
              <a:t>)</a:t>
            </a:r>
            <a:endParaRPr b="0" i="0" sz="1100" u="none" cap="none" strike="noStrike">
              <a:solidFill>
                <a:schemeClr val="dk1"/>
              </a:solidFill>
              <a:latin typeface="Times New Roman"/>
              <a:ea typeface="Times New Roman"/>
              <a:cs typeface="Times New Roman"/>
              <a:sym typeface="Times New Roman"/>
            </a:endParaRPr>
          </a:p>
        </p:txBody>
      </p:sp>
      <p:sp>
        <p:nvSpPr>
          <p:cNvPr id="944" name="Google Shape;944;p29"/>
          <p:cNvSpPr/>
          <p:nvPr/>
        </p:nvSpPr>
        <p:spPr>
          <a:xfrm>
            <a:off x="135695" y="4610244"/>
            <a:ext cx="11264998" cy="2062103"/>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Thus inductor may be represented by an impedance of value </a:t>
            </a:r>
            <a:r>
              <a:rPr b="0" i="1" lang="en-GB" sz="3200" u="none" cap="none" strike="noStrike">
                <a:solidFill>
                  <a:srgbClr val="002060"/>
                </a:solidFill>
                <a:latin typeface="Times New Roman"/>
                <a:ea typeface="Times New Roman"/>
                <a:cs typeface="Times New Roman"/>
                <a:sym typeface="Times New Roman"/>
              </a:rPr>
              <a:t>Ls</a:t>
            </a:r>
            <a:r>
              <a:rPr b="0" i="0" lang="en-GB" sz="3200" u="none" cap="none" strike="noStrike">
                <a:solidFill>
                  <a:srgbClr val="002060"/>
                </a:solidFill>
                <a:latin typeface="Times New Roman"/>
                <a:ea typeface="Times New Roman"/>
                <a:cs typeface="Times New Roman"/>
                <a:sym typeface="Times New Roman"/>
              </a:rPr>
              <a:t> and either a series voltage source or a parallel current source.  </a:t>
            </a:r>
            <a:endParaRPr/>
          </a:p>
          <a:p>
            <a:pPr indent="0" lvl="0" marL="0" marR="0" rtl="0" algn="l">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These sources represent the initial energy stored in the         inductor at time t = 0.  Thus the initial current </a:t>
            </a:r>
            <a:r>
              <a:rPr b="0" i="1" lang="en-GB" sz="3200" u="none" cap="none" strike="noStrike">
                <a:solidFill>
                  <a:srgbClr val="002060"/>
                </a:solidFill>
                <a:latin typeface="Times New Roman"/>
                <a:ea typeface="Times New Roman"/>
                <a:cs typeface="Times New Roman"/>
                <a:sym typeface="Times New Roman"/>
              </a:rPr>
              <a:t>i(0</a:t>
            </a:r>
            <a:r>
              <a:rPr b="0" baseline="30000" i="1" lang="en-GB" sz="3200" u="none" cap="none" strike="noStrike">
                <a:solidFill>
                  <a:srgbClr val="002060"/>
                </a:solidFill>
                <a:latin typeface="Times New Roman"/>
                <a:ea typeface="Times New Roman"/>
                <a:cs typeface="Times New Roman"/>
                <a:sym typeface="Times New Roman"/>
              </a:rPr>
              <a:t>-</a:t>
            </a:r>
            <a:r>
              <a:rPr b="0" i="1" lang="en-GB" sz="3200" u="none" cap="none" strike="noStrike">
                <a:solidFill>
                  <a:srgbClr val="002060"/>
                </a:solidFill>
                <a:latin typeface="Times New Roman"/>
                <a:ea typeface="Times New Roman"/>
                <a:cs typeface="Times New Roman"/>
                <a:sym typeface="Times New Roman"/>
              </a:rPr>
              <a:t>)</a:t>
            </a:r>
            <a:r>
              <a:rPr b="0" i="0" lang="en-GB" sz="3200" u="none" cap="none" strike="noStrike">
                <a:solidFill>
                  <a:srgbClr val="002060"/>
                </a:solidFill>
                <a:latin typeface="Times New Roman"/>
                <a:ea typeface="Times New Roman"/>
                <a:cs typeface="Times New Roman"/>
                <a:sym typeface="Times New Roman"/>
              </a:rPr>
              <a:t> appears.</a:t>
            </a:r>
            <a:r>
              <a:rPr b="0" i="0" lang="en-GB" sz="11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30"/>
          <p:cNvSpPr/>
          <p:nvPr/>
        </p:nvSpPr>
        <p:spPr>
          <a:xfrm>
            <a:off x="257175" y="4669879"/>
            <a:ext cx="9613656" cy="1946238"/>
          </a:xfrm>
          <a:prstGeom prst="rect">
            <a:avLst/>
          </a:prstGeom>
          <a:noFill/>
          <a:ln>
            <a:noFill/>
          </a:ln>
        </p:spPr>
        <p:txBody>
          <a:bodyPr anchorCtr="0" anchor="ctr" bIns="45700" lIns="91425" spcFirstLastPara="1" rIns="91425" wrap="square" tIns="45700">
            <a:spAutoFit/>
          </a:bodyPr>
          <a:lstStyle/>
          <a:p>
            <a:pPr indent="0" lvl="0" marL="0" marR="0" rtl="0" algn="l">
              <a:lnSpc>
                <a:spcPct val="130000"/>
              </a:lnSpc>
              <a:spcBef>
                <a:spcPts val="0"/>
              </a:spcBef>
              <a:spcAft>
                <a:spcPts val="0"/>
              </a:spcAft>
              <a:buNone/>
            </a:pPr>
            <a:r>
              <a:rPr lang="en-GB" sz="3200">
                <a:solidFill>
                  <a:srgbClr val="002060"/>
                </a:solidFill>
                <a:latin typeface="Arial"/>
                <a:ea typeface="Arial"/>
                <a:cs typeface="Arial"/>
                <a:sym typeface="Arial"/>
              </a:rPr>
              <a:t>Capacitor may be represented by an impedance of value </a:t>
            </a:r>
            <a:r>
              <a:rPr lang="en-GB" sz="1800">
                <a:solidFill>
                  <a:schemeClr val="dk1"/>
                </a:solidFill>
                <a:latin typeface="Arial"/>
                <a:ea typeface="Arial"/>
                <a:cs typeface="Arial"/>
                <a:sym typeface="Arial"/>
              </a:rPr>
              <a:t>          </a:t>
            </a:r>
            <a:r>
              <a:rPr b="0" i="0" lang="en-GB" sz="3200" u="none" cap="none" strike="noStrike">
                <a:solidFill>
                  <a:srgbClr val="002060"/>
                </a:solidFill>
                <a:latin typeface="Arial"/>
                <a:ea typeface="Arial"/>
                <a:cs typeface="Arial"/>
                <a:sym typeface="Arial"/>
              </a:rPr>
              <a:t>and either a series voltage source or a parallel current source.</a:t>
            </a:r>
            <a:r>
              <a:rPr b="0" i="0" lang="en-GB"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950" name="Google Shape;950;p30"/>
          <p:cNvSpPr txBox="1"/>
          <p:nvPr>
            <p:ph type="title"/>
          </p:nvPr>
        </p:nvSpPr>
        <p:spPr>
          <a:xfrm>
            <a:off x="429715" y="457199"/>
            <a:ext cx="10924085" cy="5517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Times New Roman"/>
              <a:buNone/>
            </a:pPr>
            <a:r>
              <a:rPr lang="en-GB"/>
              <a:t>(c) Capacitive Element  C</a:t>
            </a:r>
            <a:endParaRPr/>
          </a:p>
        </p:txBody>
      </p:sp>
      <p:pic>
        <p:nvPicPr>
          <p:cNvPr id="951" name="Google Shape;951;p30"/>
          <p:cNvPicPr preferRelativeResize="0"/>
          <p:nvPr/>
        </p:nvPicPr>
        <p:blipFill rotWithShape="1">
          <a:blip r:embed="rId3">
            <a:alphaModFix/>
          </a:blip>
          <a:srcRect b="0" l="0" r="0" t="0"/>
          <a:stretch/>
        </p:blipFill>
        <p:spPr>
          <a:xfrm>
            <a:off x="226703" y="2858416"/>
            <a:ext cx="3962400" cy="1066800"/>
          </a:xfrm>
          <a:prstGeom prst="rect">
            <a:avLst/>
          </a:prstGeom>
          <a:noFill/>
          <a:ln>
            <a:noFill/>
          </a:ln>
        </p:spPr>
      </p:pic>
      <p:pic>
        <p:nvPicPr>
          <p:cNvPr id="952" name="Google Shape;952;p30"/>
          <p:cNvPicPr preferRelativeResize="0"/>
          <p:nvPr/>
        </p:nvPicPr>
        <p:blipFill rotWithShape="1">
          <a:blip r:embed="rId4">
            <a:alphaModFix/>
          </a:blip>
          <a:srcRect b="0" l="0" r="0" t="0"/>
          <a:stretch/>
        </p:blipFill>
        <p:spPr>
          <a:xfrm>
            <a:off x="7967253" y="3026990"/>
            <a:ext cx="3676650" cy="1066800"/>
          </a:xfrm>
          <a:prstGeom prst="rect">
            <a:avLst/>
          </a:prstGeom>
          <a:noFill/>
          <a:ln>
            <a:noFill/>
          </a:ln>
        </p:spPr>
      </p:pic>
      <p:pic>
        <p:nvPicPr>
          <p:cNvPr id="953" name="Google Shape;953;p30"/>
          <p:cNvPicPr preferRelativeResize="0"/>
          <p:nvPr/>
        </p:nvPicPr>
        <p:blipFill rotWithShape="1">
          <a:blip r:embed="rId5">
            <a:alphaModFix/>
          </a:blip>
          <a:srcRect b="0" l="0" r="0" t="0"/>
          <a:stretch/>
        </p:blipFill>
        <p:spPr>
          <a:xfrm>
            <a:off x="2368062" y="3950377"/>
            <a:ext cx="895350" cy="933450"/>
          </a:xfrm>
          <a:prstGeom prst="rect">
            <a:avLst/>
          </a:prstGeom>
          <a:noFill/>
          <a:ln>
            <a:noFill/>
          </a:ln>
        </p:spPr>
      </p:pic>
      <p:pic>
        <p:nvPicPr>
          <p:cNvPr id="954" name="Google Shape;954;p30"/>
          <p:cNvPicPr preferRelativeResize="0"/>
          <p:nvPr/>
        </p:nvPicPr>
        <p:blipFill rotWithShape="1">
          <a:blip r:embed="rId6">
            <a:alphaModFix/>
          </a:blip>
          <a:srcRect b="0" l="0" r="0" t="0"/>
          <a:stretch/>
        </p:blipFill>
        <p:spPr>
          <a:xfrm>
            <a:off x="1466850" y="5252146"/>
            <a:ext cx="514350" cy="876300"/>
          </a:xfrm>
          <a:prstGeom prst="rect">
            <a:avLst/>
          </a:prstGeom>
          <a:noFill/>
          <a:ln>
            <a:noFill/>
          </a:ln>
        </p:spPr>
      </p:pic>
      <p:sp>
        <p:nvSpPr>
          <p:cNvPr id="955" name="Google Shape;955;p30"/>
          <p:cNvSpPr/>
          <p:nvPr/>
        </p:nvSpPr>
        <p:spPr>
          <a:xfrm>
            <a:off x="0" y="0"/>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6" name="Google Shape;956;p30"/>
          <p:cNvSpPr/>
          <p:nvPr/>
        </p:nvSpPr>
        <p:spPr>
          <a:xfrm>
            <a:off x="0" y="1524000"/>
            <a:ext cx="12192000" cy="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Arial"/>
              <a:buNone/>
            </a:pPr>
            <a:r>
              <a:rPr b="0" i="0" lang="en-GB" sz="3600" u="none" cap="none" strike="noStrike">
                <a:solidFill>
                  <a:srgbClr val="002060"/>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957" name="Google Shape;957;p30"/>
          <p:cNvSpPr/>
          <p:nvPr/>
        </p:nvSpPr>
        <p:spPr>
          <a:xfrm>
            <a:off x="375871" y="3943052"/>
            <a:ext cx="2696308" cy="64633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Times New Roman"/>
              <a:buNone/>
            </a:pPr>
            <a:r>
              <a:rPr b="0" i="1" lang="en-GB" sz="3600" u="none" cap="none" strike="noStrike">
                <a:solidFill>
                  <a:srgbClr val="002060"/>
                </a:solidFill>
                <a:latin typeface="Times New Roman"/>
                <a:ea typeface="Times New Roman"/>
                <a:cs typeface="Times New Roman"/>
                <a:sym typeface="Times New Roman"/>
              </a:rPr>
              <a:t>	i(t)  =  C .</a:t>
            </a:r>
            <a:endParaRPr b="0" i="0" sz="1800" u="none" cap="none" strike="noStrike">
              <a:solidFill>
                <a:schemeClr val="dk1"/>
              </a:solidFill>
              <a:latin typeface="Times New Roman"/>
              <a:ea typeface="Times New Roman"/>
              <a:cs typeface="Times New Roman"/>
              <a:sym typeface="Times New Roman"/>
            </a:endParaRPr>
          </a:p>
        </p:txBody>
      </p:sp>
      <p:sp>
        <p:nvSpPr>
          <p:cNvPr id="958" name="Google Shape;958;p30"/>
          <p:cNvSpPr/>
          <p:nvPr/>
        </p:nvSpPr>
        <p:spPr>
          <a:xfrm>
            <a:off x="3983280" y="3943052"/>
            <a:ext cx="4618891" cy="64633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	</a:t>
            </a:r>
            <a:r>
              <a:rPr b="0" i="1" lang="en-GB" sz="3400" u="none" cap="none" strike="noStrike">
                <a:solidFill>
                  <a:srgbClr val="002060"/>
                </a:solidFill>
                <a:latin typeface="Times New Roman"/>
                <a:ea typeface="Times New Roman"/>
                <a:cs typeface="Times New Roman"/>
                <a:sym typeface="Times New Roman"/>
              </a:rPr>
              <a:t>I(s) = Cs.V(s) – C.v(0</a:t>
            </a:r>
            <a:r>
              <a:rPr b="0" baseline="30000" i="1" lang="en-GB" sz="3400" u="none" cap="none" strike="noStrike">
                <a:solidFill>
                  <a:srgbClr val="002060"/>
                </a:solidFill>
                <a:latin typeface="Times New Roman"/>
                <a:ea typeface="Times New Roman"/>
                <a:cs typeface="Times New Roman"/>
                <a:sym typeface="Times New Roman"/>
              </a:rPr>
              <a:t> -</a:t>
            </a:r>
            <a:r>
              <a:rPr b="0" i="1" lang="en-GB" sz="3400" u="none" cap="none" strike="noStrike">
                <a:solidFill>
                  <a:srgbClr val="002060"/>
                </a:solidFill>
                <a:latin typeface="Times New Roman"/>
                <a:ea typeface="Times New Roman"/>
                <a:cs typeface="Times New Roman"/>
                <a:sym typeface="Times New Roman"/>
              </a:rPr>
              <a:t>)</a:t>
            </a:r>
            <a:endParaRPr b="0" i="0" sz="3200" u="none" cap="none" strike="noStrike">
              <a:solidFill>
                <a:srgbClr val="002060"/>
              </a:solidFill>
              <a:latin typeface="Times New Roman"/>
              <a:ea typeface="Times New Roman"/>
              <a:cs typeface="Times New Roman"/>
              <a:sym typeface="Times New Roman"/>
            </a:endParaRPr>
          </a:p>
        </p:txBody>
      </p:sp>
      <p:sp>
        <p:nvSpPr>
          <p:cNvPr id="959" name="Google Shape;959;p30"/>
          <p:cNvSpPr/>
          <p:nvPr/>
        </p:nvSpPr>
        <p:spPr>
          <a:xfrm>
            <a:off x="6170674" y="1872538"/>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960" name="Google Shape;960;p30"/>
          <p:cNvPicPr preferRelativeResize="0"/>
          <p:nvPr/>
        </p:nvPicPr>
        <p:blipFill rotWithShape="1">
          <a:blip r:embed="rId7">
            <a:alphaModFix/>
          </a:blip>
          <a:srcRect b="0" l="0" r="0" t="0"/>
          <a:stretch/>
        </p:blipFill>
        <p:spPr>
          <a:xfrm>
            <a:off x="6170674" y="2077496"/>
            <a:ext cx="819150" cy="857250"/>
          </a:xfrm>
          <a:prstGeom prst="rect">
            <a:avLst/>
          </a:prstGeom>
          <a:noFill/>
          <a:ln>
            <a:noFill/>
          </a:ln>
        </p:spPr>
      </p:pic>
      <p:sp>
        <p:nvSpPr>
          <p:cNvPr id="961" name="Google Shape;961;p30"/>
          <p:cNvSpPr/>
          <p:nvPr/>
        </p:nvSpPr>
        <p:spPr>
          <a:xfrm>
            <a:off x="5533225" y="728806"/>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962" name="Google Shape;962;p30"/>
          <p:cNvGrpSpPr/>
          <p:nvPr/>
        </p:nvGrpSpPr>
        <p:grpSpPr>
          <a:xfrm>
            <a:off x="792041" y="568551"/>
            <a:ext cx="10344150" cy="2548890"/>
            <a:chOff x="792041" y="568551"/>
            <a:chExt cx="10344150" cy="2548890"/>
          </a:xfrm>
        </p:grpSpPr>
        <p:grpSp>
          <p:nvGrpSpPr>
            <p:cNvPr id="963" name="Google Shape;963;p30"/>
            <p:cNvGrpSpPr/>
            <p:nvPr/>
          </p:nvGrpSpPr>
          <p:grpSpPr>
            <a:xfrm>
              <a:off x="792041" y="568551"/>
              <a:ext cx="10344150" cy="2548890"/>
              <a:chOff x="27" y="515"/>
              <a:chExt cx="16290" cy="4014"/>
            </a:xfrm>
          </p:grpSpPr>
          <p:sp>
            <p:nvSpPr>
              <p:cNvPr id="964" name="Google Shape;964;p30"/>
              <p:cNvSpPr txBox="1"/>
              <p:nvPr/>
            </p:nvSpPr>
            <p:spPr>
              <a:xfrm>
                <a:off x="12436" y="795"/>
                <a:ext cx="1099" cy="739"/>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700">
                    <a:solidFill>
                      <a:srgbClr val="002060"/>
                    </a:solidFill>
                    <a:latin typeface="Times New Roman"/>
                    <a:ea typeface="Times New Roman"/>
                    <a:cs typeface="Times New Roman"/>
                    <a:sym typeface="Times New Roman"/>
                  </a:rPr>
                  <a:t>V(s)</a:t>
                </a:r>
                <a:endParaRPr sz="1200">
                  <a:solidFill>
                    <a:schemeClr val="dk1"/>
                  </a:solidFill>
                  <a:latin typeface="Times New Roman"/>
                  <a:ea typeface="Times New Roman"/>
                  <a:cs typeface="Times New Roman"/>
                  <a:sym typeface="Times New Roman"/>
                </a:endParaRPr>
              </a:p>
            </p:txBody>
          </p:sp>
          <p:grpSp>
            <p:nvGrpSpPr>
              <p:cNvPr id="965" name="Google Shape;965;p30"/>
              <p:cNvGrpSpPr/>
              <p:nvPr/>
            </p:nvGrpSpPr>
            <p:grpSpPr>
              <a:xfrm>
                <a:off x="27" y="515"/>
                <a:ext cx="16290" cy="4014"/>
                <a:chOff x="27" y="-205"/>
                <a:chExt cx="16290" cy="4014"/>
              </a:xfrm>
            </p:grpSpPr>
            <p:grpSp>
              <p:nvGrpSpPr>
                <p:cNvPr id="966" name="Google Shape;966;p30"/>
                <p:cNvGrpSpPr/>
                <p:nvPr/>
              </p:nvGrpSpPr>
              <p:grpSpPr>
                <a:xfrm>
                  <a:off x="27" y="603"/>
                  <a:ext cx="3665" cy="2586"/>
                  <a:chOff x="2138" y="12085"/>
                  <a:chExt cx="1680" cy="1260"/>
                </a:xfrm>
              </p:grpSpPr>
              <p:sp>
                <p:nvSpPr>
                  <p:cNvPr id="967" name="Google Shape;967;p30"/>
                  <p:cNvSpPr txBox="1"/>
                  <p:nvPr/>
                </p:nvSpPr>
                <p:spPr>
                  <a:xfrm>
                    <a:off x="2138" y="12205"/>
                    <a:ext cx="503"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200">
                        <a:solidFill>
                          <a:srgbClr val="002060"/>
                        </a:solidFill>
                        <a:latin typeface="Times New Roman"/>
                        <a:ea typeface="Times New Roman"/>
                        <a:cs typeface="Times New Roman"/>
                        <a:sym typeface="Times New Roman"/>
                      </a:rPr>
                      <a:t>i(t)</a:t>
                    </a:r>
                    <a:endParaRPr sz="1200">
                      <a:solidFill>
                        <a:schemeClr val="dk1"/>
                      </a:solidFill>
                      <a:latin typeface="Times New Roman"/>
                      <a:ea typeface="Times New Roman"/>
                      <a:cs typeface="Times New Roman"/>
                      <a:sym typeface="Times New Roman"/>
                    </a:endParaRPr>
                  </a:p>
                </p:txBody>
              </p:sp>
              <p:sp>
                <p:nvSpPr>
                  <p:cNvPr id="968" name="Google Shape;968;p30"/>
                  <p:cNvSpPr txBox="1"/>
                  <p:nvPr/>
                </p:nvSpPr>
                <p:spPr>
                  <a:xfrm>
                    <a:off x="2390" y="12985"/>
                    <a:ext cx="503"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200">
                        <a:solidFill>
                          <a:srgbClr val="002060"/>
                        </a:solidFill>
                        <a:latin typeface="Times New Roman"/>
                        <a:ea typeface="Times New Roman"/>
                        <a:cs typeface="Times New Roman"/>
                        <a:sym typeface="Times New Roman"/>
                      </a:rPr>
                      <a:t>v(t)</a:t>
                    </a:r>
                    <a:endParaRPr sz="1200">
                      <a:solidFill>
                        <a:schemeClr val="dk1"/>
                      </a:solidFill>
                      <a:latin typeface="Times New Roman"/>
                      <a:ea typeface="Times New Roman"/>
                      <a:cs typeface="Times New Roman"/>
                      <a:sym typeface="Times New Roman"/>
                    </a:endParaRPr>
                  </a:p>
                </p:txBody>
              </p:sp>
              <p:sp>
                <p:nvSpPr>
                  <p:cNvPr id="969" name="Google Shape;969;p30"/>
                  <p:cNvSpPr txBox="1"/>
                  <p:nvPr/>
                </p:nvSpPr>
                <p:spPr>
                  <a:xfrm>
                    <a:off x="3019" y="12085"/>
                    <a:ext cx="503"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200">
                        <a:solidFill>
                          <a:srgbClr val="002060"/>
                        </a:solidFill>
                        <a:latin typeface="Times New Roman"/>
                        <a:ea typeface="Times New Roman"/>
                        <a:cs typeface="Times New Roman"/>
                        <a:sym typeface="Times New Roman"/>
                      </a:rPr>
                      <a:t>C</a:t>
                    </a:r>
                    <a:endParaRPr sz="1200">
                      <a:solidFill>
                        <a:schemeClr val="dk1"/>
                      </a:solidFill>
                      <a:latin typeface="Times New Roman"/>
                      <a:ea typeface="Times New Roman"/>
                      <a:cs typeface="Times New Roman"/>
                      <a:sym typeface="Times New Roman"/>
                    </a:endParaRPr>
                  </a:p>
                </p:txBody>
              </p:sp>
              <p:cxnSp>
                <p:nvCxnSpPr>
                  <p:cNvPr id="970" name="Google Shape;970;p30"/>
                  <p:cNvCxnSpPr/>
                  <p:nvPr/>
                </p:nvCxnSpPr>
                <p:spPr>
                  <a:xfrm>
                    <a:off x="2515" y="12925"/>
                    <a:ext cx="1133" cy="0"/>
                  </a:xfrm>
                  <a:prstGeom prst="straightConnector1">
                    <a:avLst/>
                  </a:prstGeom>
                  <a:noFill/>
                  <a:ln cap="flat" cmpd="sng" w="31750">
                    <a:solidFill>
                      <a:srgbClr val="002060"/>
                    </a:solidFill>
                    <a:prstDash val="solid"/>
                    <a:round/>
                    <a:headEnd len="med" w="med" type="stealth"/>
                    <a:tailEnd len="med" w="med" type="none"/>
                  </a:ln>
                </p:spPr>
              </p:cxnSp>
              <p:cxnSp>
                <p:nvCxnSpPr>
                  <p:cNvPr id="971" name="Google Shape;971;p30"/>
                  <p:cNvCxnSpPr/>
                  <p:nvPr/>
                </p:nvCxnSpPr>
                <p:spPr>
                  <a:xfrm rot="10800000">
                    <a:off x="2138" y="12625"/>
                    <a:ext cx="252" cy="0"/>
                  </a:xfrm>
                  <a:prstGeom prst="straightConnector1">
                    <a:avLst/>
                  </a:prstGeom>
                  <a:noFill/>
                  <a:ln cap="flat" cmpd="sng" w="31750">
                    <a:solidFill>
                      <a:srgbClr val="C00000"/>
                    </a:solidFill>
                    <a:prstDash val="solid"/>
                    <a:round/>
                    <a:headEnd len="med" w="med" type="stealth"/>
                    <a:tailEnd len="med" w="med" type="none"/>
                  </a:ln>
                </p:spPr>
              </p:cxnSp>
              <p:cxnSp>
                <p:nvCxnSpPr>
                  <p:cNvPr id="972" name="Google Shape;972;p30"/>
                  <p:cNvCxnSpPr/>
                  <p:nvPr/>
                </p:nvCxnSpPr>
                <p:spPr>
                  <a:xfrm>
                    <a:off x="2363" y="12625"/>
                    <a:ext cx="240" cy="0"/>
                  </a:xfrm>
                  <a:prstGeom prst="straightConnector1">
                    <a:avLst/>
                  </a:prstGeom>
                  <a:noFill/>
                  <a:ln cap="flat" cmpd="sng" w="31750">
                    <a:solidFill>
                      <a:srgbClr val="C00000"/>
                    </a:solidFill>
                    <a:prstDash val="solid"/>
                    <a:round/>
                    <a:headEnd len="med" w="med" type="none"/>
                    <a:tailEnd len="med" w="med" type="none"/>
                  </a:ln>
                </p:spPr>
              </p:cxnSp>
              <p:cxnSp>
                <p:nvCxnSpPr>
                  <p:cNvPr id="973" name="Google Shape;973;p30"/>
                  <p:cNvCxnSpPr/>
                  <p:nvPr/>
                </p:nvCxnSpPr>
                <p:spPr>
                  <a:xfrm>
                    <a:off x="3578" y="12625"/>
                    <a:ext cx="240" cy="0"/>
                  </a:xfrm>
                  <a:prstGeom prst="straightConnector1">
                    <a:avLst/>
                  </a:prstGeom>
                  <a:noFill/>
                  <a:ln cap="flat" cmpd="sng" w="31750">
                    <a:solidFill>
                      <a:srgbClr val="C00000"/>
                    </a:solidFill>
                    <a:prstDash val="solid"/>
                    <a:round/>
                    <a:headEnd len="med" w="med" type="none"/>
                    <a:tailEnd len="med" w="med" type="none"/>
                  </a:ln>
                </p:spPr>
              </p:cxnSp>
              <p:grpSp>
                <p:nvGrpSpPr>
                  <p:cNvPr id="974" name="Google Shape;974;p30"/>
                  <p:cNvGrpSpPr/>
                  <p:nvPr/>
                </p:nvGrpSpPr>
                <p:grpSpPr>
                  <a:xfrm>
                    <a:off x="2586" y="12436"/>
                    <a:ext cx="992" cy="371"/>
                    <a:chOff x="6218" y="1416"/>
                    <a:chExt cx="1320" cy="371"/>
                  </a:xfrm>
                </p:grpSpPr>
                <p:cxnSp>
                  <p:nvCxnSpPr>
                    <p:cNvPr id="975" name="Google Shape;975;p30"/>
                    <p:cNvCxnSpPr/>
                    <p:nvPr/>
                  </p:nvCxnSpPr>
                  <p:spPr>
                    <a:xfrm>
                      <a:off x="6218" y="1607"/>
                      <a:ext cx="600" cy="0"/>
                    </a:xfrm>
                    <a:prstGeom prst="straightConnector1">
                      <a:avLst/>
                    </a:prstGeom>
                    <a:noFill/>
                    <a:ln cap="flat" cmpd="sng" w="31750">
                      <a:solidFill>
                        <a:srgbClr val="C00000"/>
                      </a:solidFill>
                      <a:prstDash val="solid"/>
                      <a:round/>
                      <a:headEnd len="med" w="med" type="none"/>
                      <a:tailEnd len="med" w="med" type="none"/>
                    </a:ln>
                  </p:spPr>
                </p:cxnSp>
                <p:cxnSp>
                  <p:nvCxnSpPr>
                    <p:cNvPr id="976" name="Google Shape;976;p30"/>
                    <p:cNvCxnSpPr/>
                    <p:nvPr/>
                  </p:nvCxnSpPr>
                  <p:spPr>
                    <a:xfrm>
                      <a:off x="6938" y="1607"/>
                      <a:ext cx="600" cy="0"/>
                    </a:xfrm>
                    <a:prstGeom prst="straightConnector1">
                      <a:avLst/>
                    </a:prstGeom>
                    <a:noFill/>
                    <a:ln cap="flat" cmpd="sng" w="31750">
                      <a:solidFill>
                        <a:srgbClr val="C00000"/>
                      </a:solidFill>
                      <a:prstDash val="solid"/>
                      <a:round/>
                      <a:headEnd len="med" w="med" type="none"/>
                      <a:tailEnd len="med" w="med" type="none"/>
                    </a:ln>
                  </p:spPr>
                </p:cxnSp>
                <p:cxnSp>
                  <p:nvCxnSpPr>
                    <p:cNvPr id="977" name="Google Shape;977;p30"/>
                    <p:cNvCxnSpPr/>
                    <p:nvPr/>
                  </p:nvCxnSpPr>
                  <p:spPr>
                    <a:xfrm>
                      <a:off x="6818" y="1427"/>
                      <a:ext cx="0" cy="360"/>
                    </a:xfrm>
                    <a:prstGeom prst="straightConnector1">
                      <a:avLst/>
                    </a:prstGeom>
                    <a:noFill/>
                    <a:ln cap="flat" cmpd="sng" w="31750">
                      <a:solidFill>
                        <a:srgbClr val="C00000"/>
                      </a:solidFill>
                      <a:prstDash val="solid"/>
                      <a:round/>
                      <a:headEnd len="med" w="med" type="none"/>
                      <a:tailEnd len="med" w="med" type="none"/>
                    </a:ln>
                  </p:spPr>
                </p:cxnSp>
                <p:cxnSp>
                  <p:nvCxnSpPr>
                    <p:cNvPr id="978" name="Google Shape;978;p30"/>
                    <p:cNvCxnSpPr/>
                    <p:nvPr/>
                  </p:nvCxnSpPr>
                  <p:spPr>
                    <a:xfrm>
                      <a:off x="6938" y="1416"/>
                      <a:ext cx="0" cy="360"/>
                    </a:xfrm>
                    <a:prstGeom prst="straightConnector1">
                      <a:avLst/>
                    </a:prstGeom>
                    <a:noFill/>
                    <a:ln cap="flat" cmpd="sng" w="31750">
                      <a:solidFill>
                        <a:srgbClr val="C00000"/>
                      </a:solidFill>
                      <a:prstDash val="solid"/>
                      <a:round/>
                      <a:headEnd len="med" w="med" type="none"/>
                      <a:tailEnd len="med" w="med" type="none"/>
                    </a:ln>
                  </p:spPr>
                </p:cxnSp>
              </p:grpSp>
            </p:grpSp>
            <p:grpSp>
              <p:nvGrpSpPr>
                <p:cNvPr id="979" name="Google Shape;979;p30"/>
                <p:cNvGrpSpPr/>
                <p:nvPr/>
              </p:nvGrpSpPr>
              <p:grpSpPr>
                <a:xfrm>
                  <a:off x="5291" y="-205"/>
                  <a:ext cx="4869" cy="3422"/>
                  <a:chOff x="4778" y="11678"/>
                  <a:chExt cx="2235" cy="1667"/>
                </a:xfrm>
              </p:grpSpPr>
              <p:sp>
                <p:nvSpPr>
                  <p:cNvPr id="980" name="Google Shape;980;p30"/>
                  <p:cNvSpPr txBox="1"/>
                  <p:nvPr/>
                </p:nvSpPr>
                <p:spPr>
                  <a:xfrm>
                    <a:off x="4893" y="12205"/>
                    <a:ext cx="503"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200">
                        <a:solidFill>
                          <a:srgbClr val="002060"/>
                        </a:solidFill>
                        <a:latin typeface="Times New Roman"/>
                        <a:ea typeface="Times New Roman"/>
                        <a:cs typeface="Times New Roman"/>
                        <a:sym typeface="Times New Roman"/>
                      </a:rPr>
                      <a:t>I(s)</a:t>
                    </a:r>
                    <a:endParaRPr sz="1200">
                      <a:solidFill>
                        <a:schemeClr val="dk1"/>
                      </a:solidFill>
                      <a:latin typeface="Times New Roman"/>
                      <a:ea typeface="Times New Roman"/>
                      <a:cs typeface="Times New Roman"/>
                      <a:sym typeface="Times New Roman"/>
                    </a:endParaRPr>
                  </a:p>
                </p:txBody>
              </p:sp>
              <p:sp>
                <p:nvSpPr>
                  <p:cNvPr id="981" name="Google Shape;981;p30"/>
                  <p:cNvSpPr txBox="1"/>
                  <p:nvPr/>
                </p:nvSpPr>
                <p:spPr>
                  <a:xfrm>
                    <a:off x="5018" y="12985"/>
                    <a:ext cx="503"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V(s)</a:t>
                    </a:r>
                    <a:endParaRPr sz="1200">
                      <a:solidFill>
                        <a:schemeClr val="dk1"/>
                      </a:solidFill>
                      <a:latin typeface="Times New Roman"/>
                      <a:ea typeface="Times New Roman"/>
                      <a:cs typeface="Times New Roman"/>
                      <a:sym typeface="Times New Roman"/>
                    </a:endParaRPr>
                  </a:p>
                </p:txBody>
              </p:sp>
              <p:cxnSp>
                <p:nvCxnSpPr>
                  <p:cNvPr id="982" name="Google Shape;982;p30"/>
                  <p:cNvCxnSpPr/>
                  <p:nvPr/>
                </p:nvCxnSpPr>
                <p:spPr>
                  <a:xfrm>
                    <a:off x="5144" y="12925"/>
                    <a:ext cx="1794" cy="0"/>
                  </a:xfrm>
                  <a:prstGeom prst="straightConnector1">
                    <a:avLst/>
                  </a:prstGeom>
                  <a:noFill/>
                  <a:ln cap="flat" cmpd="sng" w="31750">
                    <a:solidFill>
                      <a:srgbClr val="002060"/>
                    </a:solidFill>
                    <a:prstDash val="solid"/>
                    <a:round/>
                    <a:headEnd len="med" w="med" type="stealth"/>
                    <a:tailEnd len="med" w="med" type="none"/>
                  </a:ln>
                </p:spPr>
              </p:cxnSp>
              <p:sp>
                <p:nvSpPr>
                  <p:cNvPr id="983" name="Google Shape;983;p30"/>
                  <p:cNvSpPr txBox="1"/>
                  <p:nvPr/>
                </p:nvSpPr>
                <p:spPr>
                  <a:xfrm>
                    <a:off x="5498" y="11815"/>
                    <a:ext cx="416" cy="654"/>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cxnSp>
                <p:nvCxnSpPr>
                  <p:cNvPr id="984" name="Google Shape;984;p30"/>
                  <p:cNvCxnSpPr/>
                  <p:nvPr/>
                </p:nvCxnSpPr>
                <p:spPr>
                  <a:xfrm>
                    <a:off x="5003" y="12625"/>
                    <a:ext cx="240" cy="0"/>
                  </a:xfrm>
                  <a:prstGeom prst="straightConnector1">
                    <a:avLst/>
                  </a:prstGeom>
                  <a:noFill/>
                  <a:ln cap="flat" cmpd="sng" w="31750">
                    <a:solidFill>
                      <a:srgbClr val="C00000"/>
                    </a:solidFill>
                    <a:prstDash val="solid"/>
                    <a:round/>
                    <a:headEnd len="med" w="med" type="none"/>
                    <a:tailEnd len="med" w="med" type="none"/>
                  </a:ln>
                </p:spPr>
              </p:cxnSp>
              <p:cxnSp>
                <p:nvCxnSpPr>
                  <p:cNvPr id="985" name="Google Shape;985;p30"/>
                  <p:cNvCxnSpPr/>
                  <p:nvPr/>
                </p:nvCxnSpPr>
                <p:spPr>
                  <a:xfrm rot="10800000">
                    <a:off x="4778" y="12625"/>
                    <a:ext cx="252" cy="0"/>
                  </a:xfrm>
                  <a:prstGeom prst="straightConnector1">
                    <a:avLst/>
                  </a:prstGeom>
                  <a:noFill/>
                  <a:ln cap="flat" cmpd="sng" w="31750">
                    <a:solidFill>
                      <a:srgbClr val="C00000"/>
                    </a:solidFill>
                    <a:prstDash val="solid"/>
                    <a:round/>
                    <a:headEnd len="med" w="med" type="stealth"/>
                    <a:tailEnd len="med" w="med" type="none"/>
                  </a:ln>
                </p:spPr>
              </p:cxnSp>
              <p:cxnSp>
                <p:nvCxnSpPr>
                  <p:cNvPr id="986" name="Google Shape;986;p30"/>
                  <p:cNvCxnSpPr/>
                  <p:nvPr/>
                </p:nvCxnSpPr>
                <p:spPr>
                  <a:xfrm>
                    <a:off x="6098" y="12625"/>
                    <a:ext cx="240" cy="0"/>
                  </a:xfrm>
                  <a:prstGeom prst="straightConnector1">
                    <a:avLst/>
                  </a:prstGeom>
                  <a:noFill/>
                  <a:ln cap="flat" cmpd="sng" w="31750">
                    <a:solidFill>
                      <a:srgbClr val="C00000"/>
                    </a:solidFill>
                    <a:prstDash val="solid"/>
                    <a:round/>
                    <a:headEnd len="med" w="med" type="none"/>
                    <a:tailEnd len="med" w="med" type="none"/>
                  </a:ln>
                </p:spPr>
              </p:cxnSp>
              <p:sp>
                <p:nvSpPr>
                  <p:cNvPr id="987" name="Google Shape;987;p30"/>
                  <p:cNvSpPr/>
                  <p:nvPr/>
                </p:nvSpPr>
                <p:spPr>
                  <a:xfrm>
                    <a:off x="6338" y="12445"/>
                    <a:ext cx="360" cy="360"/>
                  </a:xfrm>
                  <a:prstGeom prst="ellipse">
                    <a:avLst/>
                  </a:pr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988" name="Google Shape;988;p30"/>
                  <p:cNvCxnSpPr/>
                  <p:nvPr/>
                </p:nvCxnSpPr>
                <p:spPr>
                  <a:xfrm>
                    <a:off x="6698" y="12625"/>
                    <a:ext cx="240" cy="0"/>
                  </a:xfrm>
                  <a:prstGeom prst="straightConnector1">
                    <a:avLst/>
                  </a:prstGeom>
                  <a:noFill/>
                  <a:ln cap="flat" cmpd="sng" w="31750">
                    <a:solidFill>
                      <a:srgbClr val="C00000"/>
                    </a:solidFill>
                    <a:prstDash val="solid"/>
                    <a:round/>
                    <a:headEnd len="med" w="med" type="none"/>
                    <a:tailEnd len="med" w="med" type="none"/>
                  </a:ln>
                </p:spPr>
              </p:cxnSp>
              <p:sp>
                <p:nvSpPr>
                  <p:cNvPr id="989" name="Google Shape;989;p30"/>
                  <p:cNvSpPr txBox="1"/>
                  <p:nvPr/>
                </p:nvSpPr>
                <p:spPr>
                  <a:xfrm>
                    <a:off x="6173" y="12248"/>
                    <a:ext cx="84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b="1" lang="en-GB" sz="2800">
                        <a:solidFill>
                          <a:srgbClr val="002060"/>
                        </a:solidFill>
                        <a:latin typeface="Times New Roman"/>
                        <a:ea typeface="Times New Roman"/>
                        <a:cs typeface="Times New Roman"/>
                        <a:sym typeface="Times New Roman"/>
                      </a:rPr>
                      <a:t>+      </a:t>
                    </a:r>
                    <a:r>
                      <a:rPr b="1" lang="en-GB" sz="2800">
                        <a:solidFill>
                          <a:srgbClr val="002060"/>
                        </a:solidFill>
                        <a:latin typeface="Noto Sans Symbols"/>
                        <a:ea typeface="Noto Sans Symbols"/>
                        <a:cs typeface="Noto Sans Symbols"/>
                        <a:sym typeface="Noto Sans Symbols"/>
                      </a:rPr>
                      <a:t>−</a:t>
                    </a:r>
                    <a:endParaRPr sz="1200">
                      <a:solidFill>
                        <a:schemeClr val="dk1"/>
                      </a:solidFill>
                      <a:latin typeface="Times New Roman"/>
                      <a:ea typeface="Times New Roman"/>
                      <a:cs typeface="Times New Roman"/>
                      <a:sym typeface="Times New Roman"/>
                    </a:endParaRPr>
                  </a:p>
                </p:txBody>
              </p:sp>
              <p:sp>
                <p:nvSpPr>
                  <p:cNvPr id="990" name="Google Shape;990;p30"/>
                  <p:cNvSpPr txBox="1"/>
                  <p:nvPr/>
                </p:nvSpPr>
                <p:spPr>
                  <a:xfrm>
                    <a:off x="6194" y="11678"/>
                    <a:ext cx="695" cy="694"/>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t/>
                    </a:r>
                    <a:endParaRPr sz="1200">
                      <a:solidFill>
                        <a:srgbClr val="FFFFFF"/>
                      </a:solidFill>
                      <a:latin typeface="Times New Roman"/>
                      <a:ea typeface="Times New Roman"/>
                      <a:cs typeface="Times New Roman"/>
                      <a:sym typeface="Times New Roman"/>
                    </a:endParaRPr>
                  </a:p>
                </p:txBody>
              </p:sp>
              <p:grpSp>
                <p:nvGrpSpPr>
                  <p:cNvPr id="991" name="Google Shape;991;p30"/>
                  <p:cNvGrpSpPr/>
                  <p:nvPr/>
                </p:nvGrpSpPr>
                <p:grpSpPr>
                  <a:xfrm>
                    <a:off x="5226" y="12445"/>
                    <a:ext cx="992" cy="360"/>
                    <a:chOff x="6218" y="1425"/>
                    <a:chExt cx="1320" cy="360"/>
                  </a:xfrm>
                </p:grpSpPr>
                <p:cxnSp>
                  <p:nvCxnSpPr>
                    <p:cNvPr id="992" name="Google Shape;992;p30"/>
                    <p:cNvCxnSpPr/>
                    <p:nvPr/>
                  </p:nvCxnSpPr>
                  <p:spPr>
                    <a:xfrm>
                      <a:off x="6218" y="1605"/>
                      <a:ext cx="600" cy="0"/>
                    </a:xfrm>
                    <a:prstGeom prst="straightConnector1">
                      <a:avLst/>
                    </a:prstGeom>
                    <a:noFill/>
                    <a:ln cap="flat" cmpd="sng" w="31750">
                      <a:solidFill>
                        <a:srgbClr val="C00000"/>
                      </a:solidFill>
                      <a:prstDash val="solid"/>
                      <a:round/>
                      <a:headEnd len="med" w="med" type="none"/>
                      <a:tailEnd len="med" w="med" type="none"/>
                    </a:ln>
                  </p:spPr>
                </p:cxnSp>
                <p:cxnSp>
                  <p:nvCxnSpPr>
                    <p:cNvPr id="993" name="Google Shape;993;p30"/>
                    <p:cNvCxnSpPr/>
                    <p:nvPr/>
                  </p:nvCxnSpPr>
                  <p:spPr>
                    <a:xfrm>
                      <a:off x="6938" y="1605"/>
                      <a:ext cx="600" cy="0"/>
                    </a:xfrm>
                    <a:prstGeom prst="straightConnector1">
                      <a:avLst/>
                    </a:prstGeom>
                    <a:noFill/>
                    <a:ln cap="flat" cmpd="sng" w="31750">
                      <a:solidFill>
                        <a:srgbClr val="C00000"/>
                      </a:solidFill>
                      <a:prstDash val="solid"/>
                      <a:round/>
                      <a:headEnd len="med" w="med" type="none"/>
                      <a:tailEnd len="med" w="med" type="none"/>
                    </a:ln>
                  </p:spPr>
                </p:cxnSp>
                <p:cxnSp>
                  <p:nvCxnSpPr>
                    <p:cNvPr id="994" name="Google Shape;994;p30"/>
                    <p:cNvCxnSpPr/>
                    <p:nvPr/>
                  </p:nvCxnSpPr>
                  <p:spPr>
                    <a:xfrm>
                      <a:off x="6818" y="1425"/>
                      <a:ext cx="0" cy="360"/>
                    </a:xfrm>
                    <a:prstGeom prst="straightConnector1">
                      <a:avLst/>
                    </a:prstGeom>
                    <a:noFill/>
                    <a:ln cap="flat" cmpd="sng" w="31750">
                      <a:solidFill>
                        <a:srgbClr val="C00000"/>
                      </a:solidFill>
                      <a:prstDash val="solid"/>
                      <a:round/>
                      <a:headEnd len="med" w="med" type="none"/>
                      <a:tailEnd len="med" w="med" type="none"/>
                    </a:ln>
                  </p:spPr>
                </p:cxnSp>
                <p:cxnSp>
                  <p:nvCxnSpPr>
                    <p:cNvPr id="995" name="Google Shape;995;p30"/>
                    <p:cNvCxnSpPr/>
                    <p:nvPr/>
                  </p:nvCxnSpPr>
                  <p:spPr>
                    <a:xfrm>
                      <a:off x="6938" y="1425"/>
                      <a:ext cx="0" cy="360"/>
                    </a:xfrm>
                    <a:prstGeom prst="straightConnector1">
                      <a:avLst/>
                    </a:prstGeom>
                    <a:noFill/>
                    <a:ln cap="flat" cmpd="sng" w="31750">
                      <a:solidFill>
                        <a:srgbClr val="C00000"/>
                      </a:solidFill>
                      <a:prstDash val="solid"/>
                      <a:round/>
                      <a:headEnd len="med" w="med" type="none"/>
                      <a:tailEnd len="med" w="med" type="none"/>
                    </a:ln>
                  </p:spPr>
                </p:cxnSp>
              </p:grpSp>
            </p:grpSp>
            <p:sp>
              <p:nvSpPr>
                <p:cNvPr id="996" name="Google Shape;996;p30"/>
                <p:cNvSpPr txBox="1"/>
                <p:nvPr/>
              </p:nvSpPr>
              <p:spPr>
                <a:xfrm>
                  <a:off x="14174" y="823"/>
                  <a:ext cx="1096" cy="739"/>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200">
                      <a:solidFill>
                        <a:srgbClr val="002060"/>
                      </a:solidFill>
                      <a:latin typeface="Times New Roman"/>
                      <a:ea typeface="Times New Roman"/>
                      <a:cs typeface="Times New Roman"/>
                      <a:sym typeface="Times New Roman"/>
                    </a:rPr>
                    <a:t>C s</a:t>
                  </a:r>
                  <a:endParaRPr sz="1200">
                    <a:solidFill>
                      <a:schemeClr val="dk1"/>
                    </a:solidFill>
                    <a:latin typeface="Times New Roman"/>
                    <a:ea typeface="Times New Roman"/>
                    <a:cs typeface="Times New Roman"/>
                    <a:sym typeface="Times New Roman"/>
                  </a:endParaRPr>
                </a:p>
              </p:txBody>
            </p:sp>
            <p:sp>
              <p:nvSpPr>
                <p:cNvPr id="997" name="Google Shape;997;p30"/>
                <p:cNvSpPr txBox="1"/>
                <p:nvPr/>
              </p:nvSpPr>
              <p:spPr>
                <a:xfrm>
                  <a:off x="11346" y="796"/>
                  <a:ext cx="1097" cy="739"/>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200">
                      <a:solidFill>
                        <a:srgbClr val="002060"/>
                      </a:solidFill>
                      <a:latin typeface="Times New Roman"/>
                      <a:ea typeface="Times New Roman"/>
                      <a:cs typeface="Times New Roman"/>
                      <a:sym typeface="Times New Roman"/>
                    </a:rPr>
                    <a:t>I(s)</a:t>
                  </a:r>
                  <a:endParaRPr sz="1200">
                    <a:solidFill>
                      <a:schemeClr val="dk1"/>
                    </a:solidFill>
                    <a:latin typeface="Times New Roman"/>
                    <a:ea typeface="Times New Roman"/>
                    <a:cs typeface="Times New Roman"/>
                    <a:sym typeface="Times New Roman"/>
                  </a:endParaRPr>
                </a:p>
              </p:txBody>
            </p:sp>
            <p:cxnSp>
              <p:nvCxnSpPr>
                <p:cNvPr id="998" name="Google Shape;998;p30"/>
                <p:cNvCxnSpPr/>
                <p:nvPr/>
              </p:nvCxnSpPr>
              <p:spPr>
                <a:xfrm>
                  <a:off x="12711" y="875"/>
                  <a:ext cx="2468" cy="0"/>
                </a:xfrm>
                <a:prstGeom prst="straightConnector1">
                  <a:avLst/>
                </a:prstGeom>
                <a:noFill/>
                <a:ln cap="flat" cmpd="sng" w="31750">
                  <a:solidFill>
                    <a:srgbClr val="002060"/>
                  </a:solidFill>
                  <a:prstDash val="solid"/>
                  <a:round/>
                  <a:headEnd len="med" w="med" type="stealth"/>
                  <a:tailEnd len="med" w="med" type="none"/>
                </a:ln>
              </p:spPr>
            </p:cxnSp>
            <p:cxnSp>
              <p:nvCxnSpPr>
                <p:cNvPr id="999" name="Google Shape;999;p30"/>
                <p:cNvCxnSpPr/>
                <p:nvPr/>
              </p:nvCxnSpPr>
              <p:spPr>
                <a:xfrm rot="10800000">
                  <a:off x="11346" y="1658"/>
                  <a:ext cx="549" cy="0"/>
                </a:xfrm>
                <a:prstGeom prst="straightConnector1">
                  <a:avLst/>
                </a:prstGeom>
                <a:noFill/>
                <a:ln cap="flat" cmpd="sng" w="31750">
                  <a:solidFill>
                    <a:srgbClr val="C00000"/>
                  </a:solidFill>
                  <a:prstDash val="solid"/>
                  <a:round/>
                  <a:headEnd len="med" w="med" type="stealth"/>
                  <a:tailEnd len="med" w="med" type="none"/>
                </a:ln>
              </p:spPr>
            </p:cxnSp>
            <p:cxnSp>
              <p:nvCxnSpPr>
                <p:cNvPr id="1000" name="Google Shape;1000;p30"/>
                <p:cNvCxnSpPr/>
                <p:nvPr/>
              </p:nvCxnSpPr>
              <p:spPr>
                <a:xfrm>
                  <a:off x="11869" y="1658"/>
                  <a:ext cx="1079" cy="0"/>
                </a:xfrm>
                <a:prstGeom prst="straightConnector1">
                  <a:avLst/>
                </a:prstGeom>
                <a:noFill/>
                <a:ln cap="flat" cmpd="sng" w="31750">
                  <a:solidFill>
                    <a:srgbClr val="C00000"/>
                  </a:solidFill>
                  <a:prstDash val="solid"/>
                  <a:round/>
                  <a:headEnd len="med" w="med" type="none"/>
                  <a:tailEnd len="med" w="med" type="none"/>
                </a:ln>
              </p:spPr>
            </p:cxnSp>
            <p:cxnSp>
              <p:nvCxnSpPr>
                <p:cNvPr id="1001" name="Google Shape;1001;p30"/>
                <p:cNvCxnSpPr/>
                <p:nvPr/>
              </p:nvCxnSpPr>
              <p:spPr>
                <a:xfrm>
                  <a:off x="15009" y="1658"/>
                  <a:ext cx="1308" cy="0"/>
                </a:xfrm>
                <a:prstGeom prst="straightConnector1">
                  <a:avLst/>
                </a:prstGeom>
                <a:noFill/>
                <a:ln cap="flat" cmpd="sng" w="31750">
                  <a:solidFill>
                    <a:srgbClr val="C00000"/>
                  </a:solidFill>
                  <a:prstDash val="solid"/>
                  <a:round/>
                  <a:headEnd len="med" w="med" type="none"/>
                  <a:tailEnd len="med" w="med" type="none"/>
                </a:ln>
              </p:spPr>
            </p:cxnSp>
            <p:cxnSp>
              <p:nvCxnSpPr>
                <p:cNvPr id="1002" name="Google Shape;1002;p30"/>
                <p:cNvCxnSpPr/>
                <p:nvPr/>
              </p:nvCxnSpPr>
              <p:spPr>
                <a:xfrm>
                  <a:off x="12741" y="2735"/>
                  <a:ext cx="914" cy="0"/>
                </a:xfrm>
                <a:prstGeom prst="straightConnector1">
                  <a:avLst/>
                </a:prstGeom>
                <a:noFill/>
                <a:ln cap="flat" cmpd="sng" w="31750">
                  <a:solidFill>
                    <a:srgbClr val="C00000"/>
                  </a:solidFill>
                  <a:prstDash val="solid"/>
                  <a:round/>
                  <a:headEnd len="med" w="med" type="none"/>
                  <a:tailEnd len="med" w="med" type="none"/>
                </a:ln>
              </p:spPr>
            </p:cxnSp>
            <p:cxnSp>
              <p:nvCxnSpPr>
                <p:cNvPr id="1003" name="Google Shape;1003;p30"/>
                <p:cNvCxnSpPr/>
                <p:nvPr/>
              </p:nvCxnSpPr>
              <p:spPr>
                <a:xfrm>
                  <a:off x="14747" y="2735"/>
                  <a:ext cx="1047" cy="0"/>
                </a:xfrm>
                <a:prstGeom prst="straightConnector1">
                  <a:avLst/>
                </a:prstGeom>
                <a:noFill/>
                <a:ln cap="flat" cmpd="sng" w="31750">
                  <a:solidFill>
                    <a:srgbClr val="C00000"/>
                  </a:solidFill>
                  <a:prstDash val="solid"/>
                  <a:round/>
                  <a:headEnd len="med" w="med" type="none"/>
                  <a:tailEnd len="med" w="med" type="none"/>
                </a:ln>
              </p:spPr>
            </p:cxnSp>
            <p:sp>
              <p:nvSpPr>
                <p:cNvPr id="1004" name="Google Shape;1004;p30"/>
                <p:cNvSpPr txBox="1"/>
                <p:nvPr/>
              </p:nvSpPr>
              <p:spPr>
                <a:xfrm>
                  <a:off x="13454" y="3070"/>
                  <a:ext cx="1849" cy="739"/>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C.v(0</a:t>
                  </a:r>
                  <a:r>
                    <a:rPr baseline="30000" lang="en-GB" sz="2800">
                      <a:solidFill>
                        <a:srgbClr val="002060"/>
                      </a:solidFill>
                      <a:latin typeface="Times New Roman"/>
                      <a:ea typeface="Times New Roman"/>
                      <a:cs typeface="Times New Roman"/>
                      <a:sym typeface="Times New Roman"/>
                    </a:rPr>
                    <a:t>-</a:t>
                  </a:r>
                  <a:r>
                    <a:rPr lang="en-GB" sz="2800">
                      <a:solidFill>
                        <a:srgbClr val="002060"/>
                      </a:solidFill>
                      <a:latin typeface="Times New Roman"/>
                      <a:ea typeface="Times New Roman"/>
                      <a:cs typeface="Times New Roman"/>
                      <a:sym typeface="Times New Roman"/>
                    </a:rPr>
                    <a:t>)</a:t>
                  </a:r>
                  <a:endParaRPr sz="1200">
                    <a:solidFill>
                      <a:schemeClr val="dk1"/>
                    </a:solidFill>
                    <a:latin typeface="Times New Roman"/>
                    <a:ea typeface="Times New Roman"/>
                    <a:cs typeface="Times New Roman"/>
                    <a:sym typeface="Times New Roman"/>
                  </a:endParaRPr>
                </a:p>
              </p:txBody>
            </p:sp>
            <p:sp>
              <p:nvSpPr>
                <p:cNvPr id="1005" name="Google Shape;1005;p30"/>
                <p:cNvSpPr/>
                <p:nvPr/>
              </p:nvSpPr>
              <p:spPr>
                <a:xfrm>
                  <a:off x="13641" y="2216"/>
                  <a:ext cx="1046" cy="983"/>
                </a:xfrm>
                <a:prstGeom prst="ellipse">
                  <a:avLst/>
                </a:pr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006" name="Google Shape;1006;p30"/>
                <p:cNvCxnSpPr/>
                <p:nvPr/>
              </p:nvCxnSpPr>
              <p:spPr>
                <a:xfrm rot="10800000">
                  <a:off x="15794" y="1627"/>
                  <a:ext cx="0" cy="1108"/>
                </a:xfrm>
                <a:prstGeom prst="straightConnector1">
                  <a:avLst/>
                </a:prstGeom>
                <a:noFill/>
                <a:ln cap="flat" cmpd="sng" w="31750">
                  <a:solidFill>
                    <a:srgbClr val="C00000"/>
                  </a:solidFill>
                  <a:prstDash val="solid"/>
                  <a:round/>
                  <a:headEnd len="med" w="med" type="none"/>
                  <a:tailEnd len="med" w="med" type="none"/>
                </a:ln>
              </p:spPr>
            </p:cxnSp>
            <p:cxnSp>
              <p:nvCxnSpPr>
                <p:cNvPr id="1007" name="Google Shape;1007;p30"/>
                <p:cNvCxnSpPr/>
                <p:nvPr/>
              </p:nvCxnSpPr>
              <p:spPr>
                <a:xfrm rot="10800000">
                  <a:off x="12741" y="1627"/>
                  <a:ext cx="0" cy="1108"/>
                </a:xfrm>
                <a:prstGeom prst="straightConnector1">
                  <a:avLst/>
                </a:prstGeom>
                <a:noFill/>
                <a:ln cap="flat" cmpd="sng" w="31750">
                  <a:solidFill>
                    <a:srgbClr val="C00000"/>
                  </a:solidFill>
                  <a:prstDash val="solid"/>
                  <a:round/>
                  <a:headEnd len="med" w="med" type="none"/>
                  <a:tailEnd len="med" w="med" type="none"/>
                </a:ln>
              </p:spPr>
            </p:cxnSp>
            <p:cxnSp>
              <p:nvCxnSpPr>
                <p:cNvPr id="1008" name="Google Shape;1008;p30"/>
                <p:cNvCxnSpPr/>
                <p:nvPr/>
              </p:nvCxnSpPr>
              <p:spPr>
                <a:xfrm rot="10800000">
                  <a:off x="13731" y="2721"/>
                  <a:ext cx="759" cy="0"/>
                </a:xfrm>
                <a:prstGeom prst="straightConnector1">
                  <a:avLst/>
                </a:prstGeom>
                <a:noFill/>
                <a:ln cap="flat" cmpd="sng" w="31750">
                  <a:solidFill>
                    <a:srgbClr val="C00000"/>
                  </a:solidFill>
                  <a:prstDash val="solid"/>
                  <a:round/>
                  <a:headEnd len="med" w="med" type="none"/>
                  <a:tailEnd len="med" w="med" type="stealth"/>
                </a:ln>
              </p:spPr>
            </p:cxnSp>
            <p:grpSp>
              <p:nvGrpSpPr>
                <p:cNvPr id="1009" name="Google Shape;1009;p30"/>
                <p:cNvGrpSpPr/>
                <p:nvPr/>
              </p:nvGrpSpPr>
              <p:grpSpPr>
                <a:xfrm>
                  <a:off x="12916" y="1269"/>
                  <a:ext cx="2163" cy="720"/>
                  <a:chOff x="6218" y="2905"/>
                  <a:chExt cx="1320" cy="720"/>
                </a:xfrm>
              </p:grpSpPr>
              <p:cxnSp>
                <p:nvCxnSpPr>
                  <p:cNvPr id="1010" name="Google Shape;1010;p30"/>
                  <p:cNvCxnSpPr/>
                  <p:nvPr/>
                </p:nvCxnSpPr>
                <p:spPr>
                  <a:xfrm>
                    <a:off x="6218" y="3307"/>
                    <a:ext cx="600" cy="0"/>
                  </a:xfrm>
                  <a:prstGeom prst="straightConnector1">
                    <a:avLst/>
                  </a:prstGeom>
                  <a:noFill/>
                  <a:ln cap="flat" cmpd="sng" w="31750">
                    <a:solidFill>
                      <a:srgbClr val="C00000"/>
                    </a:solidFill>
                    <a:prstDash val="solid"/>
                    <a:round/>
                    <a:headEnd len="med" w="med" type="none"/>
                    <a:tailEnd len="med" w="med" type="none"/>
                  </a:ln>
                </p:spPr>
              </p:cxnSp>
              <p:cxnSp>
                <p:nvCxnSpPr>
                  <p:cNvPr id="1011" name="Google Shape;1011;p30"/>
                  <p:cNvCxnSpPr/>
                  <p:nvPr/>
                </p:nvCxnSpPr>
                <p:spPr>
                  <a:xfrm>
                    <a:off x="6938" y="3307"/>
                    <a:ext cx="600" cy="0"/>
                  </a:xfrm>
                  <a:prstGeom prst="straightConnector1">
                    <a:avLst/>
                  </a:prstGeom>
                  <a:noFill/>
                  <a:ln cap="flat" cmpd="sng" w="31750">
                    <a:solidFill>
                      <a:srgbClr val="C00000"/>
                    </a:solidFill>
                    <a:prstDash val="solid"/>
                    <a:round/>
                    <a:headEnd len="med" w="med" type="none"/>
                    <a:tailEnd len="med" w="med" type="none"/>
                  </a:ln>
                </p:spPr>
              </p:cxnSp>
              <p:cxnSp>
                <p:nvCxnSpPr>
                  <p:cNvPr id="1012" name="Google Shape;1012;p30"/>
                  <p:cNvCxnSpPr/>
                  <p:nvPr/>
                </p:nvCxnSpPr>
                <p:spPr>
                  <a:xfrm>
                    <a:off x="6818" y="2905"/>
                    <a:ext cx="0" cy="720"/>
                  </a:xfrm>
                  <a:prstGeom prst="straightConnector1">
                    <a:avLst/>
                  </a:prstGeom>
                  <a:noFill/>
                  <a:ln cap="flat" cmpd="sng" w="31750">
                    <a:solidFill>
                      <a:srgbClr val="C00000"/>
                    </a:solidFill>
                    <a:prstDash val="solid"/>
                    <a:round/>
                    <a:headEnd len="med" w="med" type="none"/>
                    <a:tailEnd len="med" w="med" type="none"/>
                  </a:ln>
                </p:spPr>
              </p:cxnSp>
              <p:cxnSp>
                <p:nvCxnSpPr>
                  <p:cNvPr id="1013" name="Google Shape;1013;p30"/>
                  <p:cNvCxnSpPr/>
                  <p:nvPr/>
                </p:nvCxnSpPr>
                <p:spPr>
                  <a:xfrm>
                    <a:off x="6938" y="2905"/>
                    <a:ext cx="0" cy="720"/>
                  </a:xfrm>
                  <a:prstGeom prst="straightConnector1">
                    <a:avLst/>
                  </a:prstGeom>
                  <a:noFill/>
                  <a:ln cap="flat" cmpd="sng" w="31750">
                    <a:solidFill>
                      <a:srgbClr val="C00000"/>
                    </a:solidFill>
                    <a:prstDash val="solid"/>
                    <a:round/>
                    <a:headEnd len="med" w="med" type="none"/>
                    <a:tailEnd len="med" w="med" type="none"/>
                  </a:ln>
                </p:spPr>
              </p:cxnSp>
            </p:grpSp>
          </p:grpSp>
        </p:grpSp>
        <p:pic>
          <p:nvPicPr>
            <p:cNvPr id="1014" name="Google Shape;1014;p30"/>
            <p:cNvPicPr preferRelativeResize="0"/>
            <p:nvPr/>
          </p:nvPicPr>
          <p:blipFill rotWithShape="1">
            <a:blip r:embed="rId8">
              <a:alphaModFix/>
            </a:blip>
            <a:srcRect b="0" l="0" r="0" t="0"/>
            <a:stretch/>
          </p:blipFill>
          <p:spPr>
            <a:xfrm>
              <a:off x="5533225" y="917998"/>
              <a:ext cx="495300" cy="838200"/>
            </a:xfrm>
            <a:prstGeom prst="rect">
              <a:avLst/>
            </a:prstGeom>
            <a:noFill/>
            <a:ln>
              <a:noFill/>
            </a:ln>
          </p:spPr>
        </p:pic>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31"/>
          <p:cNvSpPr txBox="1"/>
          <p:nvPr>
            <p:ph type="title"/>
          </p:nvPr>
        </p:nvSpPr>
        <p:spPr>
          <a:xfrm>
            <a:off x="429715" y="574429"/>
            <a:ext cx="10924085" cy="5517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Times New Roman"/>
              <a:buNone/>
            </a:pPr>
            <a:r>
              <a:rPr lang="en-GB"/>
              <a:t>Transient Analysis</a:t>
            </a:r>
            <a:endParaRPr/>
          </a:p>
        </p:txBody>
      </p:sp>
      <p:sp>
        <p:nvSpPr>
          <p:cNvPr id="1020" name="Google Shape;1020;p31"/>
          <p:cNvSpPr/>
          <p:nvPr/>
        </p:nvSpPr>
        <p:spPr>
          <a:xfrm>
            <a:off x="703385" y="1289539"/>
            <a:ext cx="10924085" cy="364715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GB" sz="3600">
                <a:solidFill>
                  <a:srgbClr val="002060"/>
                </a:solidFill>
                <a:latin typeface="Times New Roman"/>
                <a:ea typeface="Times New Roman"/>
                <a:cs typeface="Times New Roman"/>
                <a:sym typeface="Times New Roman"/>
              </a:rPr>
              <a:t>Using these circuits, and the transforms of source voltages and/or currents, the system transients could be obtained.  </a:t>
            </a:r>
            <a:endParaRPr sz="3600">
              <a:solidFill>
                <a:schemeClr val="dk1"/>
              </a:solidFill>
              <a:latin typeface="Times New Roman"/>
              <a:ea typeface="Times New Roman"/>
              <a:cs typeface="Times New Roman"/>
              <a:sym typeface="Times New Roman"/>
            </a:endParaRPr>
          </a:p>
          <a:p>
            <a:pPr indent="0" lvl="0" marL="0" marR="0" rtl="0" algn="l">
              <a:spcBef>
                <a:spcPts val="1800"/>
              </a:spcBef>
              <a:spcAft>
                <a:spcPts val="0"/>
              </a:spcAft>
              <a:buNone/>
            </a:pPr>
            <a:r>
              <a:rPr lang="en-GB" sz="3600">
                <a:solidFill>
                  <a:srgbClr val="002060"/>
                </a:solidFill>
                <a:latin typeface="Times New Roman"/>
                <a:ea typeface="Times New Roman"/>
                <a:cs typeface="Times New Roman"/>
                <a:sym typeface="Times New Roman"/>
              </a:rPr>
              <a:t>You would by now have realised that this method is much less tedious than the solution of the differential equations to find the transient solutions and then substituting the initial and final conditions applicable.</a:t>
            </a:r>
            <a:endParaRPr sz="36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32"/>
          <p:cNvSpPr txBox="1"/>
          <p:nvPr>
            <p:ph type="title"/>
          </p:nvPr>
        </p:nvSpPr>
        <p:spPr>
          <a:xfrm>
            <a:off x="494665" y="456661"/>
            <a:ext cx="10924085" cy="55179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3200"/>
              <a:buFont typeface="Times New Roman"/>
              <a:buNone/>
            </a:pPr>
            <a:r>
              <a:rPr i="1" lang="en-GB"/>
              <a:t>Example 1</a:t>
            </a:r>
            <a:endParaRPr/>
          </a:p>
        </p:txBody>
      </p:sp>
      <p:sp>
        <p:nvSpPr>
          <p:cNvPr id="1026" name="Google Shape;1026;p32"/>
          <p:cNvSpPr txBox="1"/>
          <p:nvPr/>
        </p:nvSpPr>
        <p:spPr>
          <a:xfrm>
            <a:off x="5140325" y="5058422"/>
            <a:ext cx="4979929" cy="923925"/>
          </a:xfrm>
          <a:prstGeom prst="rect">
            <a:avLst/>
          </a:prstGeom>
          <a:noFill/>
          <a:ln>
            <a:noFill/>
          </a:ln>
        </p:spPr>
        <p:txBody>
          <a:bodyPr anchorCtr="0" anchor="t" bIns="10800" lIns="18000" spcFirstLastPara="1" rIns="18000" wrap="square" tIns="10800">
            <a:noAutofit/>
          </a:bodyPr>
          <a:lstStyle/>
          <a:p>
            <a:pPr indent="0" lvl="0" marL="0" marR="0" rtl="0" algn="l">
              <a:lnSpc>
                <a:spcPct val="100000"/>
              </a:lnSpc>
              <a:spcBef>
                <a:spcPts val="0"/>
              </a:spcBef>
              <a:spcAft>
                <a:spcPts val="0"/>
              </a:spcAft>
              <a:buClr>
                <a:srgbClr val="002060"/>
              </a:buClr>
              <a:buSzPts val="2800"/>
              <a:buFont typeface="Times New Roman"/>
              <a:buNone/>
            </a:pPr>
            <a:r>
              <a:rPr b="0" i="0" lang="en-GB" sz="2800" u="none" cap="none" strike="noStrike">
                <a:solidFill>
                  <a:srgbClr val="002060"/>
                </a:solidFill>
                <a:latin typeface="Times New Roman"/>
                <a:ea typeface="Times New Roman"/>
                <a:cs typeface="Times New Roman"/>
                <a:sym typeface="Times New Roman"/>
              </a:rPr>
              <a:t>f(t) = E sin </a:t>
            </a:r>
            <a:r>
              <a:rPr b="0" i="0" lang="en-GB" sz="2800" u="none" cap="none" strike="noStrike">
                <a:solidFill>
                  <a:srgbClr val="002060"/>
                </a:solidFill>
                <a:latin typeface="Noto Sans Symbols"/>
                <a:ea typeface="Noto Sans Symbols"/>
                <a:cs typeface="Noto Sans Symbols"/>
                <a:sym typeface="Noto Sans Symbols"/>
              </a:rPr>
              <a:t>ω</a:t>
            </a:r>
            <a:r>
              <a:rPr b="0" i="0" lang="en-GB" sz="2800" u="none" cap="none" strike="noStrike">
                <a:solidFill>
                  <a:srgbClr val="002060"/>
                </a:solidFill>
                <a:latin typeface="Times New Roman"/>
                <a:ea typeface="Times New Roman"/>
                <a:cs typeface="Times New Roman"/>
                <a:sym typeface="Times New Roman"/>
              </a:rPr>
              <a:t>t	for  0 &lt; t &lt; T/2</a:t>
            </a:r>
            <a:endParaRPr b="0" i="0" sz="11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2060"/>
              </a:buClr>
              <a:buSzPts val="2800"/>
              <a:buFont typeface="Times New Roman"/>
              <a:buNone/>
            </a:pPr>
            <a:r>
              <a:rPr b="0" i="0" lang="en-GB" sz="2800" u="none" cap="none" strike="noStrike">
                <a:solidFill>
                  <a:srgbClr val="002060"/>
                </a:solidFill>
                <a:latin typeface="Times New Roman"/>
                <a:ea typeface="Times New Roman"/>
                <a:cs typeface="Times New Roman"/>
                <a:sym typeface="Times New Roman"/>
              </a:rPr>
              <a:t>f(t) = 0 	elsewhere</a:t>
            </a:r>
            <a:endParaRPr b="0" i="0" sz="1800" u="none" cap="none" strike="noStrike">
              <a:solidFill>
                <a:schemeClr val="dk1"/>
              </a:solidFill>
              <a:latin typeface="Times New Roman"/>
              <a:ea typeface="Times New Roman"/>
              <a:cs typeface="Times New Roman"/>
              <a:sym typeface="Times New Roman"/>
            </a:endParaRPr>
          </a:p>
        </p:txBody>
      </p:sp>
      <p:grpSp>
        <p:nvGrpSpPr>
          <p:cNvPr id="1027" name="Google Shape;1027;p32"/>
          <p:cNvGrpSpPr/>
          <p:nvPr/>
        </p:nvGrpSpPr>
        <p:grpSpPr>
          <a:xfrm>
            <a:off x="494665" y="4218888"/>
            <a:ext cx="4669790" cy="2399665"/>
            <a:chOff x="6698" y="4628"/>
            <a:chExt cx="3240" cy="1665"/>
          </a:xfrm>
        </p:grpSpPr>
        <p:cxnSp>
          <p:nvCxnSpPr>
            <p:cNvPr id="1028" name="Google Shape;1028;p32"/>
            <p:cNvCxnSpPr/>
            <p:nvPr/>
          </p:nvCxnSpPr>
          <p:spPr>
            <a:xfrm>
              <a:off x="7538" y="4673"/>
              <a:ext cx="0" cy="1620"/>
            </a:xfrm>
            <a:prstGeom prst="straightConnector1">
              <a:avLst/>
            </a:prstGeom>
            <a:noFill/>
            <a:ln cap="flat" cmpd="sng" w="31750">
              <a:solidFill>
                <a:srgbClr val="808080"/>
              </a:solidFill>
              <a:prstDash val="solid"/>
              <a:round/>
              <a:headEnd len="med" w="med" type="stealth"/>
              <a:tailEnd len="med" w="med" type="none"/>
            </a:ln>
          </p:spPr>
        </p:cxnSp>
        <p:sp>
          <p:nvSpPr>
            <p:cNvPr id="1029" name="Google Shape;1029;p32"/>
            <p:cNvSpPr txBox="1"/>
            <p:nvPr/>
          </p:nvSpPr>
          <p:spPr>
            <a:xfrm>
              <a:off x="9578" y="5753"/>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cxnSp>
          <p:nvCxnSpPr>
            <p:cNvPr id="1030" name="Google Shape;1030;p32"/>
            <p:cNvCxnSpPr/>
            <p:nvPr/>
          </p:nvCxnSpPr>
          <p:spPr>
            <a:xfrm>
              <a:off x="6698" y="5753"/>
              <a:ext cx="3120" cy="0"/>
            </a:xfrm>
            <a:prstGeom prst="straightConnector1">
              <a:avLst/>
            </a:prstGeom>
            <a:noFill/>
            <a:ln cap="flat" cmpd="sng" w="31750">
              <a:solidFill>
                <a:srgbClr val="808080"/>
              </a:solidFill>
              <a:prstDash val="solid"/>
              <a:round/>
              <a:headEnd len="med" w="med" type="none"/>
              <a:tailEnd len="med" w="med" type="stealth"/>
            </a:ln>
          </p:spPr>
        </p:cxnSp>
        <p:sp>
          <p:nvSpPr>
            <p:cNvPr id="1031" name="Google Shape;1031;p32"/>
            <p:cNvSpPr txBox="1"/>
            <p:nvPr/>
          </p:nvSpPr>
          <p:spPr>
            <a:xfrm>
              <a:off x="7343" y="5753"/>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0</a:t>
              </a:r>
              <a:endParaRPr sz="1200">
                <a:solidFill>
                  <a:schemeClr val="dk1"/>
                </a:solidFill>
                <a:latin typeface="Times New Roman"/>
                <a:ea typeface="Times New Roman"/>
                <a:cs typeface="Times New Roman"/>
                <a:sym typeface="Times New Roman"/>
              </a:endParaRPr>
            </a:p>
          </p:txBody>
        </p:sp>
        <p:sp>
          <p:nvSpPr>
            <p:cNvPr id="1032" name="Google Shape;1032;p32"/>
            <p:cNvSpPr txBox="1"/>
            <p:nvPr/>
          </p:nvSpPr>
          <p:spPr>
            <a:xfrm>
              <a:off x="7658" y="4628"/>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f(t)</a:t>
              </a:r>
              <a:endParaRPr sz="1200">
                <a:solidFill>
                  <a:schemeClr val="dk1"/>
                </a:solidFill>
                <a:latin typeface="Times New Roman"/>
                <a:ea typeface="Times New Roman"/>
                <a:cs typeface="Times New Roman"/>
                <a:sym typeface="Times New Roman"/>
              </a:endParaRPr>
            </a:p>
          </p:txBody>
        </p:sp>
        <p:cxnSp>
          <p:nvCxnSpPr>
            <p:cNvPr id="1033" name="Google Shape;1033;p32"/>
            <p:cNvCxnSpPr/>
            <p:nvPr/>
          </p:nvCxnSpPr>
          <p:spPr>
            <a:xfrm>
              <a:off x="6818" y="5738"/>
              <a:ext cx="720" cy="0"/>
            </a:xfrm>
            <a:prstGeom prst="straightConnector1">
              <a:avLst/>
            </a:prstGeom>
            <a:noFill/>
            <a:ln cap="flat" cmpd="sng" w="38100">
              <a:solidFill>
                <a:srgbClr val="C00000"/>
              </a:solidFill>
              <a:prstDash val="solid"/>
              <a:round/>
              <a:headEnd len="med" w="med" type="none"/>
              <a:tailEnd len="med" w="med" type="none"/>
            </a:ln>
          </p:spPr>
        </p:cxnSp>
        <p:sp>
          <p:nvSpPr>
            <p:cNvPr id="1034" name="Google Shape;1034;p32"/>
            <p:cNvSpPr txBox="1"/>
            <p:nvPr/>
          </p:nvSpPr>
          <p:spPr>
            <a:xfrm>
              <a:off x="8378" y="5753"/>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T/2</a:t>
              </a:r>
              <a:endParaRPr sz="1200">
                <a:solidFill>
                  <a:schemeClr val="dk1"/>
                </a:solidFill>
                <a:latin typeface="Times New Roman"/>
                <a:ea typeface="Times New Roman"/>
                <a:cs typeface="Times New Roman"/>
                <a:sym typeface="Times New Roman"/>
              </a:endParaRPr>
            </a:p>
          </p:txBody>
        </p:sp>
        <p:sp>
          <p:nvSpPr>
            <p:cNvPr id="1035" name="Google Shape;1035;p32"/>
            <p:cNvSpPr txBox="1"/>
            <p:nvPr/>
          </p:nvSpPr>
          <p:spPr>
            <a:xfrm>
              <a:off x="7298" y="4853"/>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E</a:t>
              </a:r>
              <a:endParaRPr sz="1200">
                <a:solidFill>
                  <a:schemeClr val="dk1"/>
                </a:solidFill>
                <a:latin typeface="Times New Roman"/>
                <a:ea typeface="Times New Roman"/>
                <a:cs typeface="Times New Roman"/>
                <a:sym typeface="Times New Roman"/>
              </a:endParaRPr>
            </a:p>
          </p:txBody>
        </p:sp>
        <p:cxnSp>
          <p:nvCxnSpPr>
            <p:cNvPr id="1036" name="Google Shape;1036;p32"/>
            <p:cNvCxnSpPr/>
            <p:nvPr/>
          </p:nvCxnSpPr>
          <p:spPr>
            <a:xfrm rot="10800000">
              <a:off x="7538" y="5018"/>
              <a:ext cx="480" cy="0"/>
            </a:xfrm>
            <a:prstGeom prst="straightConnector1">
              <a:avLst/>
            </a:prstGeom>
            <a:noFill/>
            <a:ln cap="flat" cmpd="sng" w="31750">
              <a:solidFill>
                <a:srgbClr val="002060"/>
              </a:solidFill>
              <a:prstDash val="dash"/>
              <a:round/>
              <a:headEnd len="med" w="med" type="none"/>
              <a:tailEnd len="med" w="med" type="none"/>
            </a:ln>
          </p:spPr>
        </p:cxnSp>
        <p:sp>
          <p:nvSpPr>
            <p:cNvPr id="1037" name="Google Shape;1037;p32"/>
            <p:cNvSpPr/>
            <p:nvPr/>
          </p:nvSpPr>
          <p:spPr>
            <a:xfrm>
              <a:off x="7552" y="5018"/>
              <a:ext cx="961" cy="720"/>
            </a:xfrm>
            <a:custGeom>
              <a:rect b="b" l="l" r="r" t="t"/>
              <a:pathLst>
                <a:path extrusionOk="0" fill="none" h="21600" w="43200">
                  <a:moveTo>
                    <a:pt x="0" y="21600"/>
                  </a:moveTo>
                  <a:cubicBezTo>
                    <a:pt x="0" y="9670"/>
                    <a:pt x="9670" y="0"/>
                    <a:pt x="21600" y="0"/>
                  </a:cubicBezTo>
                  <a:cubicBezTo>
                    <a:pt x="33529" y="0"/>
                    <a:pt x="43200" y="9670"/>
                    <a:pt x="43200" y="21599"/>
                  </a:cubicBezTo>
                </a:path>
                <a:path extrusionOk="0" h="21600" w="43200">
                  <a:moveTo>
                    <a:pt x="0" y="21600"/>
                  </a:moveTo>
                  <a:cubicBezTo>
                    <a:pt x="0" y="9670"/>
                    <a:pt x="9670" y="0"/>
                    <a:pt x="21600" y="0"/>
                  </a:cubicBezTo>
                  <a:cubicBezTo>
                    <a:pt x="33529" y="0"/>
                    <a:pt x="43200" y="9670"/>
                    <a:pt x="43200" y="21599"/>
                  </a:cubicBezTo>
                  <a:lnTo>
                    <a:pt x="21600" y="21600"/>
                  </a:lnTo>
                  <a:close/>
                </a:path>
              </a:pathLst>
            </a:custGeom>
            <a:noFill/>
            <a:ln cap="flat" cmpd="sng" w="3810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038" name="Google Shape;1038;p32"/>
            <p:cNvCxnSpPr/>
            <p:nvPr/>
          </p:nvCxnSpPr>
          <p:spPr>
            <a:xfrm>
              <a:off x="8498" y="5738"/>
              <a:ext cx="1080" cy="0"/>
            </a:xfrm>
            <a:prstGeom prst="straightConnector1">
              <a:avLst/>
            </a:prstGeom>
            <a:noFill/>
            <a:ln cap="flat" cmpd="sng" w="38100">
              <a:solidFill>
                <a:srgbClr val="C00000"/>
              </a:solidFill>
              <a:prstDash val="solid"/>
              <a:round/>
              <a:headEnd len="med" w="med" type="none"/>
              <a:tailEnd len="med" w="med" type="none"/>
            </a:ln>
          </p:spPr>
        </p:cxnSp>
      </p:grpSp>
      <p:grpSp>
        <p:nvGrpSpPr>
          <p:cNvPr id="1039" name="Google Shape;1039;p32"/>
          <p:cNvGrpSpPr/>
          <p:nvPr/>
        </p:nvGrpSpPr>
        <p:grpSpPr>
          <a:xfrm>
            <a:off x="470535" y="1657985"/>
            <a:ext cx="4669790" cy="2356485"/>
            <a:chOff x="528" y="2325"/>
            <a:chExt cx="3240" cy="1635"/>
          </a:xfrm>
        </p:grpSpPr>
        <p:cxnSp>
          <p:nvCxnSpPr>
            <p:cNvPr id="1040" name="Google Shape;1040;p32"/>
            <p:cNvCxnSpPr/>
            <p:nvPr/>
          </p:nvCxnSpPr>
          <p:spPr>
            <a:xfrm>
              <a:off x="528" y="3396"/>
              <a:ext cx="3120" cy="0"/>
            </a:xfrm>
            <a:prstGeom prst="straightConnector1">
              <a:avLst/>
            </a:prstGeom>
            <a:noFill/>
            <a:ln cap="flat" cmpd="sng" w="31750">
              <a:solidFill>
                <a:srgbClr val="808080"/>
              </a:solidFill>
              <a:prstDash val="solid"/>
              <a:round/>
              <a:headEnd len="med" w="med" type="none"/>
              <a:tailEnd len="med" w="med" type="stealth"/>
            </a:ln>
          </p:spPr>
        </p:cxnSp>
        <p:grpSp>
          <p:nvGrpSpPr>
            <p:cNvPr id="1041" name="Google Shape;1041;p32"/>
            <p:cNvGrpSpPr/>
            <p:nvPr/>
          </p:nvGrpSpPr>
          <p:grpSpPr>
            <a:xfrm>
              <a:off x="648" y="2325"/>
              <a:ext cx="3120" cy="1635"/>
              <a:chOff x="1778" y="4643"/>
              <a:chExt cx="3120" cy="1635"/>
            </a:xfrm>
          </p:grpSpPr>
          <p:cxnSp>
            <p:nvCxnSpPr>
              <p:cNvPr id="1042" name="Google Shape;1042;p32"/>
              <p:cNvCxnSpPr/>
              <p:nvPr/>
            </p:nvCxnSpPr>
            <p:spPr>
              <a:xfrm>
                <a:off x="2498" y="4658"/>
                <a:ext cx="0" cy="1620"/>
              </a:xfrm>
              <a:prstGeom prst="straightConnector1">
                <a:avLst/>
              </a:prstGeom>
              <a:noFill/>
              <a:ln cap="flat" cmpd="sng" w="31750">
                <a:solidFill>
                  <a:srgbClr val="808080"/>
                </a:solidFill>
                <a:prstDash val="solid"/>
                <a:round/>
                <a:headEnd len="med" w="med" type="stealth"/>
                <a:tailEnd len="med" w="med" type="none"/>
              </a:ln>
            </p:spPr>
          </p:cxnSp>
          <p:sp>
            <p:nvSpPr>
              <p:cNvPr id="1043" name="Google Shape;1043;p32"/>
              <p:cNvSpPr txBox="1"/>
              <p:nvPr/>
            </p:nvSpPr>
            <p:spPr>
              <a:xfrm>
                <a:off x="4538" y="573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sp>
            <p:nvSpPr>
              <p:cNvPr id="1044" name="Google Shape;1044;p32"/>
              <p:cNvSpPr txBox="1"/>
              <p:nvPr/>
            </p:nvSpPr>
            <p:spPr>
              <a:xfrm>
                <a:off x="2303" y="573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0</a:t>
                </a:r>
                <a:endParaRPr sz="1200">
                  <a:solidFill>
                    <a:schemeClr val="dk1"/>
                  </a:solidFill>
                  <a:latin typeface="Times New Roman"/>
                  <a:ea typeface="Times New Roman"/>
                  <a:cs typeface="Times New Roman"/>
                  <a:sym typeface="Times New Roman"/>
                </a:endParaRPr>
              </a:p>
            </p:txBody>
          </p:sp>
          <p:sp>
            <p:nvSpPr>
              <p:cNvPr id="1045" name="Google Shape;1045;p32"/>
              <p:cNvSpPr txBox="1"/>
              <p:nvPr/>
            </p:nvSpPr>
            <p:spPr>
              <a:xfrm>
                <a:off x="2618" y="4643"/>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200">
                    <a:solidFill>
                      <a:srgbClr val="002060"/>
                    </a:solidFill>
                    <a:latin typeface="Times New Roman"/>
                    <a:ea typeface="Times New Roman"/>
                    <a:cs typeface="Times New Roman"/>
                    <a:sym typeface="Times New Roman"/>
                  </a:rPr>
                  <a:t>f(t)</a:t>
                </a:r>
                <a:endParaRPr sz="1200">
                  <a:solidFill>
                    <a:schemeClr val="dk1"/>
                  </a:solidFill>
                  <a:latin typeface="Times New Roman"/>
                  <a:ea typeface="Times New Roman"/>
                  <a:cs typeface="Times New Roman"/>
                  <a:sym typeface="Times New Roman"/>
                </a:endParaRPr>
              </a:p>
            </p:txBody>
          </p:sp>
          <p:cxnSp>
            <p:nvCxnSpPr>
              <p:cNvPr id="1046" name="Google Shape;1046;p32"/>
              <p:cNvCxnSpPr/>
              <p:nvPr/>
            </p:nvCxnSpPr>
            <p:spPr>
              <a:xfrm>
                <a:off x="1778" y="5723"/>
                <a:ext cx="720" cy="0"/>
              </a:xfrm>
              <a:prstGeom prst="straightConnector1">
                <a:avLst/>
              </a:prstGeom>
              <a:noFill/>
              <a:ln cap="flat" cmpd="sng" w="38100">
                <a:solidFill>
                  <a:srgbClr val="C00000"/>
                </a:solidFill>
                <a:prstDash val="solid"/>
                <a:round/>
                <a:headEnd len="med" w="med" type="none"/>
                <a:tailEnd len="med" w="med" type="none"/>
              </a:ln>
            </p:spPr>
          </p:cxnSp>
          <p:cxnSp>
            <p:nvCxnSpPr>
              <p:cNvPr id="1047" name="Google Shape;1047;p32"/>
              <p:cNvCxnSpPr/>
              <p:nvPr/>
            </p:nvCxnSpPr>
            <p:spPr>
              <a:xfrm flipH="1" rot="10800000">
                <a:off x="2498" y="5018"/>
                <a:ext cx="480" cy="720"/>
              </a:xfrm>
              <a:prstGeom prst="straightConnector1">
                <a:avLst/>
              </a:prstGeom>
              <a:noFill/>
              <a:ln cap="flat" cmpd="sng" w="38100">
                <a:solidFill>
                  <a:srgbClr val="C00000"/>
                </a:solidFill>
                <a:prstDash val="solid"/>
                <a:round/>
                <a:headEnd len="med" w="med" type="none"/>
                <a:tailEnd len="med" w="med" type="none"/>
              </a:ln>
            </p:spPr>
          </p:cxnSp>
          <p:cxnSp>
            <p:nvCxnSpPr>
              <p:cNvPr id="1048" name="Google Shape;1048;p32"/>
              <p:cNvCxnSpPr/>
              <p:nvPr/>
            </p:nvCxnSpPr>
            <p:spPr>
              <a:xfrm>
                <a:off x="2978" y="5018"/>
                <a:ext cx="0" cy="1080"/>
              </a:xfrm>
              <a:prstGeom prst="straightConnector1">
                <a:avLst/>
              </a:prstGeom>
              <a:noFill/>
              <a:ln cap="flat" cmpd="sng" w="38100">
                <a:solidFill>
                  <a:srgbClr val="C00000"/>
                </a:solidFill>
                <a:prstDash val="solid"/>
                <a:round/>
                <a:headEnd len="med" w="med" type="none"/>
                <a:tailEnd len="med" w="med" type="none"/>
              </a:ln>
            </p:spPr>
          </p:cxnSp>
          <p:cxnSp>
            <p:nvCxnSpPr>
              <p:cNvPr id="1049" name="Google Shape;1049;p32"/>
              <p:cNvCxnSpPr/>
              <p:nvPr/>
            </p:nvCxnSpPr>
            <p:spPr>
              <a:xfrm>
                <a:off x="2978" y="6098"/>
                <a:ext cx="480" cy="0"/>
              </a:xfrm>
              <a:prstGeom prst="straightConnector1">
                <a:avLst/>
              </a:prstGeom>
              <a:noFill/>
              <a:ln cap="flat" cmpd="sng" w="31750">
                <a:solidFill>
                  <a:srgbClr val="C00000"/>
                </a:solidFill>
                <a:prstDash val="solid"/>
                <a:round/>
                <a:headEnd len="med" w="med" type="none"/>
                <a:tailEnd len="med" w="med" type="none"/>
              </a:ln>
            </p:spPr>
          </p:cxnSp>
          <p:cxnSp>
            <p:nvCxnSpPr>
              <p:cNvPr id="1050" name="Google Shape;1050;p32"/>
              <p:cNvCxnSpPr/>
              <p:nvPr/>
            </p:nvCxnSpPr>
            <p:spPr>
              <a:xfrm rot="10800000">
                <a:off x="3458" y="5723"/>
                <a:ext cx="0" cy="375"/>
              </a:xfrm>
              <a:prstGeom prst="straightConnector1">
                <a:avLst/>
              </a:prstGeom>
              <a:noFill/>
              <a:ln cap="flat" cmpd="sng" w="31750">
                <a:solidFill>
                  <a:srgbClr val="C00000"/>
                </a:solidFill>
                <a:prstDash val="solid"/>
                <a:round/>
                <a:headEnd len="med" w="med" type="none"/>
                <a:tailEnd len="med" w="med" type="none"/>
              </a:ln>
            </p:spPr>
          </p:cxnSp>
          <p:cxnSp>
            <p:nvCxnSpPr>
              <p:cNvPr id="1051" name="Google Shape;1051;p32"/>
              <p:cNvCxnSpPr/>
              <p:nvPr/>
            </p:nvCxnSpPr>
            <p:spPr>
              <a:xfrm>
                <a:off x="3458" y="5723"/>
                <a:ext cx="1080" cy="0"/>
              </a:xfrm>
              <a:prstGeom prst="straightConnector1">
                <a:avLst/>
              </a:prstGeom>
              <a:noFill/>
              <a:ln cap="flat" cmpd="sng" w="38100">
                <a:solidFill>
                  <a:srgbClr val="C00000"/>
                </a:solidFill>
                <a:prstDash val="solid"/>
                <a:round/>
                <a:headEnd len="med" w="med" type="none"/>
                <a:tailEnd len="med" w="med" type="none"/>
              </a:ln>
            </p:spPr>
          </p:cxnSp>
          <p:sp>
            <p:nvSpPr>
              <p:cNvPr id="1052" name="Google Shape;1052;p32"/>
              <p:cNvSpPr txBox="1"/>
              <p:nvPr/>
            </p:nvSpPr>
            <p:spPr>
              <a:xfrm>
                <a:off x="2978" y="573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sp>
            <p:nvSpPr>
              <p:cNvPr id="1053" name="Google Shape;1053;p32"/>
              <p:cNvSpPr txBox="1"/>
              <p:nvPr/>
            </p:nvSpPr>
            <p:spPr>
              <a:xfrm>
                <a:off x="3458" y="573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2T</a:t>
                </a:r>
                <a:endParaRPr sz="1200">
                  <a:solidFill>
                    <a:schemeClr val="dk1"/>
                  </a:solidFill>
                  <a:latin typeface="Times New Roman"/>
                  <a:ea typeface="Times New Roman"/>
                  <a:cs typeface="Times New Roman"/>
                  <a:sym typeface="Times New Roman"/>
                </a:endParaRPr>
              </a:p>
            </p:txBody>
          </p:sp>
          <p:sp>
            <p:nvSpPr>
              <p:cNvPr id="1054" name="Google Shape;1054;p32"/>
              <p:cNvSpPr txBox="1"/>
              <p:nvPr/>
            </p:nvSpPr>
            <p:spPr>
              <a:xfrm>
                <a:off x="2168" y="483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2E</a:t>
                </a:r>
                <a:endParaRPr sz="1200">
                  <a:solidFill>
                    <a:schemeClr val="dk1"/>
                  </a:solidFill>
                  <a:latin typeface="Times New Roman"/>
                  <a:ea typeface="Times New Roman"/>
                  <a:cs typeface="Times New Roman"/>
                  <a:sym typeface="Times New Roman"/>
                </a:endParaRPr>
              </a:p>
            </p:txBody>
          </p:sp>
          <p:cxnSp>
            <p:nvCxnSpPr>
              <p:cNvPr id="1055" name="Google Shape;1055;p32"/>
              <p:cNvCxnSpPr/>
              <p:nvPr/>
            </p:nvCxnSpPr>
            <p:spPr>
              <a:xfrm rot="10800000">
                <a:off x="2498" y="6098"/>
                <a:ext cx="480" cy="0"/>
              </a:xfrm>
              <a:prstGeom prst="straightConnector1">
                <a:avLst/>
              </a:prstGeom>
              <a:noFill/>
              <a:ln cap="flat" cmpd="sng" w="31750">
                <a:solidFill>
                  <a:srgbClr val="002060"/>
                </a:solidFill>
                <a:prstDash val="dash"/>
                <a:round/>
                <a:headEnd len="med" w="med" type="none"/>
                <a:tailEnd len="med" w="med" type="none"/>
              </a:ln>
            </p:spPr>
          </p:cxnSp>
          <p:cxnSp>
            <p:nvCxnSpPr>
              <p:cNvPr id="1056" name="Google Shape;1056;p32"/>
              <p:cNvCxnSpPr/>
              <p:nvPr/>
            </p:nvCxnSpPr>
            <p:spPr>
              <a:xfrm rot="10800000">
                <a:off x="2498" y="5018"/>
                <a:ext cx="480" cy="0"/>
              </a:xfrm>
              <a:prstGeom prst="straightConnector1">
                <a:avLst/>
              </a:prstGeom>
              <a:noFill/>
              <a:ln cap="flat" cmpd="sng" w="31750">
                <a:solidFill>
                  <a:srgbClr val="002060"/>
                </a:solidFill>
                <a:prstDash val="dash"/>
                <a:round/>
                <a:headEnd len="med" w="med" type="none"/>
                <a:tailEnd len="med" w="med" type="none"/>
              </a:ln>
            </p:spPr>
          </p:cxnSp>
          <p:sp>
            <p:nvSpPr>
              <p:cNvPr id="1057" name="Google Shape;1057;p32"/>
              <p:cNvSpPr txBox="1"/>
              <p:nvPr/>
            </p:nvSpPr>
            <p:spPr>
              <a:xfrm>
                <a:off x="2258" y="591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E</a:t>
                </a:r>
                <a:endParaRPr sz="1200">
                  <a:solidFill>
                    <a:schemeClr val="dk1"/>
                  </a:solidFill>
                  <a:latin typeface="Times New Roman"/>
                  <a:ea typeface="Times New Roman"/>
                  <a:cs typeface="Times New Roman"/>
                  <a:sym typeface="Times New Roman"/>
                </a:endParaRPr>
              </a:p>
            </p:txBody>
          </p:sp>
        </p:grpSp>
      </p:grpSp>
      <p:sp>
        <p:nvSpPr>
          <p:cNvPr id="1058" name="Google Shape;1058;p32"/>
          <p:cNvSpPr/>
          <p:nvPr/>
        </p:nvSpPr>
        <p:spPr>
          <a:xfrm>
            <a:off x="186135" y="948866"/>
            <a:ext cx="10572125" cy="64633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Find the Laplace transform of the following waveforms.</a:t>
            </a:r>
            <a:endParaRPr b="0" i="0" sz="3600" u="none" cap="none" strike="noStrike">
              <a:solidFill>
                <a:schemeClr val="dk1"/>
              </a:solidFill>
              <a:latin typeface="Times New Roman"/>
              <a:ea typeface="Times New Roman"/>
              <a:cs typeface="Times New Roman"/>
              <a:sym typeface="Times New Roman"/>
            </a:endParaRPr>
          </a:p>
        </p:txBody>
      </p:sp>
      <p:sp>
        <p:nvSpPr>
          <p:cNvPr id="1059" name="Google Shape;1059;p32"/>
          <p:cNvSpPr/>
          <p:nvPr/>
        </p:nvSpPr>
        <p:spPr>
          <a:xfrm>
            <a:off x="109167" y="2249390"/>
            <a:ext cx="1053188" cy="64633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Arial"/>
              <a:buNone/>
            </a:pPr>
            <a:r>
              <a:rPr b="0" i="0" lang="en-GB" sz="3600" u="none" cap="none" strike="noStrike">
                <a:solidFill>
                  <a:srgbClr val="002060"/>
                </a:solidFill>
                <a:latin typeface="Arial"/>
                <a:ea typeface="Arial"/>
                <a:cs typeface="Arial"/>
                <a:sym typeface="Arial"/>
              </a:rPr>
              <a:t>(a)	</a:t>
            </a:r>
            <a:endParaRPr b="0" i="0" sz="1100" u="none" cap="none" strike="noStrike">
              <a:solidFill>
                <a:schemeClr val="dk1"/>
              </a:solidFill>
              <a:latin typeface="Arial"/>
              <a:ea typeface="Arial"/>
              <a:cs typeface="Arial"/>
              <a:sym typeface="Arial"/>
            </a:endParaRPr>
          </a:p>
        </p:txBody>
      </p:sp>
      <p:sp>
        <p:nvSpPr>
          <p:cNvPr id="1060" name="Google Shape;1060;p32"/>
          <p:cNvSpPr/>
          <p:nvPr/>
        </p:nvSpPr>
        <p:spPr>
          <a:xfrm>
            <a:off x="152400" y="609600"/>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1" name="Google Shape;1061;p32"/>
          <p:cNvSpPr/>
          <p:nvPr/>
        </p:nvSpPr>
        <p:spPr>
          <a:xfrm>
            <a:off x="127136" y="4950643"/>
            <a:ext cx="1053188" cy="64633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Arial"/>
              <a:buNone/>
            </a:pPr>
            <a:r>
              <a:rPr b="0" i="0" lang="en-GB" sz="3600" u="none" cap="none" strike="noStrike">
                <a:solidFill>
                  <a:srgbClr val="002060"/>
                </a:solidFill>
                <a:latin typeface="Arial"/>
                <a:ea typeface="Arial"/>
                <a:cs typeface="Arial"/>
                <a:sym typeface="Arial"/>
              </a:rPr>
              <a:t>(b)</a:t>
            </a:r>
            <a:r>
              <a:rPr b="0" i="0" lang="en-GB"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1062" name="Google Shape;1062;p32"/>
          <p:cNvSpPr txBox="1"/>
          <p:nvPr/>
        </p:nvSpPr>
        <p:spPr>
          <a:xfrm>
            <a:off x="5164455" y="1912782"/>
            <a:ext cx="4979929" cy="1697517"/>
          </a:xfrm>
          <a:prstGeom prst="rect">
            <a:avLst/>
          </a:prstGeom>
          <a:blipFill rotWithShape="1">
            <a:blip r:embed="rId3">
              <a:alphaModFix/>
            </a:blip>
            <a:stretch>
              <a:fillRect b="-14028" l="-3915" r="0" t="-143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33"/>
          <p:cNvSpPr txBox="1"/>
          <p:nvPr>
            <p:ph type="title"/>
          </p:nvPr>
        </p:nvSpPr>
        <p:spPr>
          <a:xfrm>
            <a:off x="429715" y="457199"/>
            <a:ext cx="10924085" cy="55179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3200"/>
              <a:buFont typeface="Times New Roman"/>
              <a:buNone/>
            </a:pPr>
            <a:r>
              <a:rPr i="1" lang="en-GB"/>
              <a:t>Solution</a:t>
            </a:r>
            <a:endParaRPr/>
          </a:p>
        </p:txBody>
      </p:sp>
      <p:pic>
        <p:nvPicPr>
          <p:cNvPr id="1068" name="Google Shape;1068;p33"/>
          <p:cNvPicPr preferRelativeResize="0"/>
          <p:nvPr/>
        </p:nvPicPr>
        <p:blipFill rotWithShape="1">
          <a:blip r:embed="rId3">
            <a:alphaModFix/>
          </a:blip>
          <a:srcRect b="0" l="0" r="0" t="0"/>
          <a:stretch/>
        </p:blipFill>
        <p:spPr>
          <a:xfrm>
            <a:off x="1847850" y="1278591"/>
            <a:ext cx="2438400" cy="1123950"/>
          </a:xfrm>
          <a:prstGeom prst="rect">
            <a:avLst/>
          </a:prstGeom>
          <a:noFill/>
          <a:ln>
            <a:noFill/>
          </a:ln>
        </p:spPr>
      </p:pic>
      <p:pic>
        <p:nvPicPr>
          <p:cNvPr id="1069" name="Google Shape;1069;p33"/>
          <p:cNvPicPr preferRelativeResize="0"/>
          <p:nvPr/>
        </p:nvPicPr>
        <p:blipFill rotWithShape="1">
          <a:blip r:embed="rId4">
            <a:alphaModFix/>
          </a:blip>
          <a:srcRect b="0" l="0" r="0" t="0"/>
          <a:stretch/>
        </p:blipFill>
        <p:spPr>
          <a:xfrm>
            <a:off x="4286250" y="1211916"/>
            <a:ext cx="6515100" cy="1257300"/>
          </a:xfrm>
          <a:prstGeom prst="rect">
            <a:avLst/>
          </a:prstGeom>
          <a:noFill/>
          <a:ln>
            <a:noFill/>
          </a:ln>
        </p:spPr>
      </p:pic>
      <p:pic>
        <p:nvPicPr>
          <p:cNvPr id="1070" name="Google Shape;1070;p33"/>
          <p:cNvPicPr preferRelativeResize="0"/>
          <p:nvPr/>
        </p:nvPicPr>
        <p:blipFill rotWithShape="1">
          <a:blip r:embed="rId5">
            <a:alphaModFix/>
          </a:blip>
          <a:srcRect b="0" l="0" r="0" t="0"/>
          <a:stretch/>
        </p:blipFill>
        <p:spPr>
          <a:xfrm>
            <a:off x="340388" y="2332671"/>
            <a:ext cx="5755612" cy="1156926"/>
          </a:xfrm>
          <a:prstGeom prst="rect">
            <a:avLst/>
          </a:prstGeom>
          <a:noFill/>
          <a:ln>
            <a:noFill/>
          </a:ln>
        </p:spPr>
      </p:pic>
      <p:pic>
        <p:nvPicPr>
          <p:cNvPr id="1071" name="Google Shape;1071;p33"/>
          <p:cNvPicPr preferRelativeResize="0"/>
          <p:nvPr/>
        </p:nvPicPr>
        <p:blipFill rotWithShape="1">
          <a:blip r:embed="rId6">
            <a:alphaModFix/>
          </a:blip>
          <a:srcRect b="0" l="0" r="0" t="0"/>
          <a:stretch/>
        </p:blipFill>
        <p:spPr>
          <a:xfrm>
            <a:off x="6551348" y="2332671"/>
            <a:ext cx="5604403" cy="1203780"/>
          </a:xfrm>
          <a:prstGeom prst="rect">
            <a:avLst/>
          </a:prstGeom>
          <a:noFill/>
          <a:ln>
            <a:noFill/>
          </a:ln>
        </p:spPr>
      </p:pic>
      <p:pic>
        <p:nvPicPr>
          <p:cNvPr id="1072" name="Google Shape;1072;p33"/>
          <p:cNvPicPr preferRelativeResize="0"/>
          <p:nvPr/>
        </p:nvPicPr>
        <p:blipFill rotWithShape="1">
          <a:blip r:embed="rId7">
            <a:alphaModFix/>
          </a:blip>
          <a:srcRect b="0" l="0" r="0" t="0"/>
          <a:stretch/>
        </p:blipFill>
        <p:spPr>
          <a:xfrm>
            <a:off x="311712" y="3569492"/>
            <a:ext cx="7924800" cy="1352550"/>
          </a:xfrm>
          <a:prstGeom prst="rect">
            <a:avLst/>
          </a:prstGeom>
          <a:noFill/>
          <a:ln>
            <a:noFill/>
          </a:ln>
        </p:spPr>
      </p:pic>
      <p:pic>
        <p:nvPicPr>
          <p:cNvPr id="1073" name="Google Shape;1073;p33"/>
          <p:cNvPicPr preferRelativeResize="0"/>
          <p:nvPr/>
        </p:nvPicPr>
        <p:blipFill rotWithShape="1">
          <a:blip r:embed="rId8">
            <a:alphaModFix/>
          </a:blip>
          <a:srcRect b="0" l="0" r="0" t="0"/>
          <a:stretch/>
        </p:blipFill>
        <p:spPr>
          <a:xfrm>
            <a:off x="311712" y="5001937"/>
            <a:ext cx="7467600" cy="1409700"/>
          </a:xfrm>
          <a:prstGeom prst="rect">
            <a:avLst/>
          </a:prstGeom>
          <a:noFill/>
          <a:ln>
            <a:noFill/>
          </a:ln>
        </p:spPr>
      </p:pic>
      <p:sp>
        <p:nvSpPr>
          <p:cNvPr id="1074" name="Google Shape;1074;p33"/>
          <p:cNvSpPr/>
          <p:nvPr/>
        </p:nvSpPr>
        <p:spPr>
          <a:xfrm>
            <a:off x="340388" y="885938"/>
            <a:ext cx="5181600" cy="58477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(a) using first principles</a:t>
            </a:r>
            <a:endParaRPr b="0" i="0" sz="3200" u="none" cap="none" strike="noStrike">
              <a:solidFill>
                <a:schemeClr val="dk1"/>
              </a:solidFill>
              <a:latin typeface="Times New Roman"/>
              <a:ea typeface="Times New Roman"/>
              <a:cs typeface="Times New Roman"/>
              <a:sym typeface="Times New Roman"/>
            </a:endParaRPr>
          </a:p>
        </p:txBody>
      </p:sp>
      <p:sp>
        <p:nvSpPr>
          <p:cNvPr id="1075" name="Google Shape;1075;p33"/>
          <p:cNvSpPr/>
          <p:nvPr/>
        </p:nvSpPr>
        <p:spPr>
          <a:xfrm>
            <a:off x="6049246" y="2590616"/>
            <a:ext cx="538351" cy="58477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Arial"/>
              <a:buNone/>
            </a:pPr>
            <a:r>
              <a:rPr b="0" i="0" lang="en-GB" sz="3200" u="none" cap="none" strike="noStrike">
                <a:solidFill>
                  <a:srgbClr val="002060"/>
                </a:solidFill>
                <a:latin typeface="Arial"/>
                <a:ea typeface="Arial"/>
                <a:cs typeface="Arial"/>
                <a:sym typeface="Arial"/>
              </a:rPr>
              <a:t>=</a:t>
            </a:r>
            <a:endParaRPr b="0" i="0" sz="1600" u="none" cap="none" strike="noStrike">
              <a:solidFill>
                <a:schemeClr val="dk1"/>
              </a:solidFill>
              <a:latin typeface="Arial"/>
              <a:ea typeface="Arial"/>
              <a:cs typeface="Arial"/>
              <a:sym typeface="Arial"/>
            </a:endParaRPr>
          </a:p>
        </p:txBody>
      </p:sp>
      <p:sp>
        <p:nvSpPr>
          <p:cNvPr id="1076" name="Google Shape;1076;p33"/>
          <p:cNvSpPr/>
          <p:nvPr/>
        </p:nvSpPr>
        <p:spPr>
          <a:xfrm>
            <a:off x="612112" y="1510066"/>
            <a:ext cx="1419748" cy="5847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GB" sz="3200">
                <a:solidFill>
                  <a:srgbClr val="002060"/>
                </a:solidFill>
                <a:latin typeface="Times New Roman"/>
                <a:ea typeface="Times New Roman"/>
                <a:cs typeface="Times New Roman"/>
                <a:sym typeface="Times New Roman"/>
              </a:rPr>
              <a:t>L [f(t)] </a:t>
            </a:r>
            <a:endParaRPr sz="3200">
              <a:solidFill>
                <a:srgbClr val="000000"/>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34"/>
          <p:cNvSpPr/>
          <p:nvPr/>
        </p:nvSpPr>
        <p:spPr>
          <a:xfrm>
            <a:off x="214857" y="645134"/>
            <a:ext cx="11762285" cy="6001643"/>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Using splitting up into known forms (ramp, step, etc)</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(this is not always possible)</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2060"/>
              </a:buClr>
              <a:buSzPts val="2400"/>
              <a:buFont typeface="Times New Roman"/>
              <a:buNone/>
            </a:pPr>
            <a:r>
              <a:rPr b="0" i="0" lang="en-GB" sz="2400" u="none" cap="none" strike="noStrike">
                <a:solidFill>
                  <a:srgbClr val="002060"/>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chemeClr val="dk1"/>
              </a:buClr>
              <a:buSzPts val="3200"/>
              <a:buFont typeface="Arial"/>
              <a:buNone/>
            </a:pPr>
            <a:r>
              <a:t/>
            </a:r>
            <a:endParaRPr b="0" i="0" sz="3200" u="none" cap="none" strike="noStrike">
              <a:solidFill>
                <a:srgbClr val="00206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3200"/>
              <a:buFont typeface="Arial"/>
              <a:buNone/>
            </a:pPr>
            <a:r>
              <a:t/>
            </a:r>
            <a:endParaRPr sz="3200">
              <a:solidFill>
                <a:srgbClr val="00206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3200"/>
              <a:buFont typeface="Arial"/>
              <a:buNone/>
            </a:pPr>
            <a:r>
              <a:t/>
            </a:r>
            <a:endParaRPr b="0" i="0" sz="3200" u="none" cap="none" strike="noStrike">
              <a:solidFill>
                <a:srgbClr val="00206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3200"/>
              <a:buFont typeface="Arial"/>
              <a:buNone/>
            </a:pPr>
            <a:r>
              <a:t/>
            </a:r>
            <a:endParaRPr sz="3200">
              <a:solidFill>
                <a:srgbClr val="00206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Part of ramp from t = 0 to T can be considered as the addition of a positive ramp at t=0, a negative ramp at     t = T and a negative step of magnitude 2E at time t = T.</a:t>
            </a:r>
            <a:r>
              <a:rPr b="0" i="0" lang="en-GB" sz="3200" u="none" cap="none" strike="noStrike">
                <a:solidFill>
                  <a:schemeClr val="dk1"/>
                </a:solidFill>
                <a:latin typeface="Times New Roman"/>
                <a:ea typeface="Times New Roman"/>
                <a:cs typeface="Times New Roman"/>
                <a:sym typeface="Times New Roman"/>
              </a:rPr>
              <a:t> </a:t>
            </a:r>
            <a:endParaRPr b="0" i="0" sz="3200" u="none" cap="none" strike="noStrike">
              <a:solidFill>
                <a:srgbClr val="002060"/>
              </a:solidFill>
              <a:latin typeface="Times New Roman"/>
              <a:ea typeface="Times New Roman"/>
              <a:cs typeface="Times New Roman"/>
              <a:sym typeface="Times New Roman"/>
            </a:endParaRPr>
          </a:p>
        </p:txBody>
      </p:sp>
      <p:sp>
        <p:nvSpPr>
          <p:cNvPr id="1082" name="Google Shape;1082;p34"/>
          <p:cNvSpPr txBox="1"/>
          <p:nvPr>
            <p:ph type="title"/>
          </p:nvPr>
        </p:nvSpPr>
        <p:spPr>
          <a:xfrm>
            <a:off x="429715" y="394135"/>
            <a:ext cx="10924085" cy="5517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Times New Roman"/>
              <a:buNone/>
            </a:pPr>
            <a:r>
              <a:rPr lang="en-GB"/>
              <a:t>Alternate solution</a:t>
            </a:r>
            <a:endParaRPr/>
          </a:p>
        </p:txBody>
      </p:sp>
      <p:grpSp>
        <p:nvGrpSpPr>
          <p:cNvPr id="1083" name="Google Shape;1083;p34"/>
          <p:cNvGrpSpPr/>
          <p:nvPr/>
        </p:nvGrpSpPr>
        <p:grpSpPr>
          <a:xfrm>
            <a:off x="523499" y="1330497"/>
            <a:ext cx="9968865" cy="3728085"/>
            <a:chOff x="528" y="2803"/>
            <a:chExt cx="7220" cy="2700"/>
          </a:xfrm>
        </p:grpSpPr>
        <p:grpSp>
          <p:nvGrpSpPr>
            <p:cNvPr id="1084" name="Google Shape;1084;p34"/>
            <p:cNvGrpSpPr/>
            <p:nvPr/>
          </p:nvGrpSpPr>
          <p:grpSpPr>
            <a:xfrm>
              <a:off x="528" y="3264"/>
              <a:ext cx="3240" cy="1635"/>
              <a:chOff x="1658" y="11618"/>
              <a:chExt cx="3240" cy="1635"/>
            </a:xfrm>
          </p:grpSpPr>
          <p:cxnSp>
            <p:nvCxnSpPr>
              <p:cNvPr id="1085" name="Google Shape;1085;p34"/>
              <p:cNvCxnSpPr/>
              <p:nvPr/>
            </p:nvCxnSpPr>
            <p:spPr>
              <a:xfrm>
                <a:off x="1658" y="12718"/>
                <a:ext cx="3120" cy="0"/>
              </a:xfrm>
              <a:prstGeom prst="straightConnector1">
                <a:avLst/>
              </a:prstGeom>
              <a:noFill/>
              <a:ln cap="flat" cmpd="sng" w="31750">
                <a:solidFill>
                  <a:srgbClr val="808080"/>
                </a:solidFill>
                <a:prstDash val="solid"/>
                <a:round/>
                <a:headEnd len="med" w="med" type="none"/>
                <a:tailEnd len="med" w="med" type="stealth"/>
              </a:ln>
            </p:spPr>
          </p:cxnSp>
          <p:grpSp>
            <p:nvGrpSpPr>
              <p:cNvPr id="1086" name="Google Shape;1086;p34"/>
              <p:cNvGrpSpPr/>
              <p:nvPr/>
            </p:nvGrpSpPr>
            <p:grpSpPr>
              <a:xfrm>
                <a:off x="1778" y="11618"/>
                <a:ext cx="3120" cy="1635"/>
                <a:chOff x="1778" y="4643"/>
                <a:chExt cx="3120" cy="1635"/>
              </a:xfrm>
            </p:grpSpPr>
            <p:cxnSp>
              <p:nvCxnSpPr>
                <p:cNvPr id="1087" name="Google Shape;1087;p34"/>
                <p:cNvCxnSpPr/>
                <p:nvPr/>
              </p:nvCxnSpPr>
              <p:spPr>
                <a:xfrm>
                  <a:off x="2498" y="4658"/>
                  <a:ext cx="0" cy="1620"/>
                </a:xfrm>
                <a:prstGeom prst="straightConnector1">
                  <a:avLst/>
                </a:prstGeom>
                <a:noFill/>
                <a:ln cap="flat" cmpd="sng" w="31750">
                  <a:solidFill>
                    <a:srgbClr val="808080"/>
                  </a:solidFill>
                  <a:prstDash val="solid"/>
                  <a:round/>
                  <a:headEnd len="med" w="med" type="stealth"/>
                  <a:tailEnd len="med" w="med" type="none"/>
                </a:ln>
              </p:spPr>
            </p:cxnSp>
            <p:sp>
              <p:nvSpPr>
                <p:cNvPr id="1088" name="Google Shape;1088;p34"/>
                <p:cNvSpPr txBox="1"/>
                <p:nvPr/>
              </p:nvSpPr>
              <p:spPr>
                <a:xfrm>
                  <a:off x="4538" y="573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sp>
              <p:nvSpPr>
                <p:cNvPr id="1089" name="Google Shape;1089;p34"/>
                <p:cNvSpPr txBox="1"/>
                <p:nvPr/>
              </p:nvSpPr>
              <p:spPr>
                <a:xfrm>
                  <a:off x="2303" y="573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0</a:t>
                  </a:r>
                  <a:endParaRPr sz="1200">
                    <a:solidFill>
                      <a:schemeClr val="dk1"/>
                    </a:solidFill>
                    <a:latin typeface="Times New Roman"/>
                    <a:ea typeface="Times New Roman"/>
                    <a:cs typeface="Times New Roman"/>
                    <a:sym typeface="Times New Roman"/>
                  </a:endParaRPr>
                </a:p>
              </p:txBody>
            </p:sp>
            <p:sp>
              <p:nvSpPr>
                <p:cNvPr id="1090" name="Google Shape;1090;p34"/>
                <p:cNvSpPr txBox="1"/>
                <p:nvPr/>
              </p:nvSpPr>
              <p:spPr>
                <a:xfrm>
                  <a:off x="2618" y="4643"/>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f(t)</a:t>
                  </a:r>
                  <a:endParaRPr sz="1200">
                    <a:solidFill>
                      <a:schemeClr val="dk1"/>
                    </a:solidFill>
                    <a:latin typeface="Times New Roman"/>
                    <a:ea typeface="Times New Roman"/>
                    <a:cs typeface="Times New Roman"/>
                    <a:sym typeface="Times New Roman"/>
                  </a:endParaRPr>
                </a:p>
              </p:txBody>
            </p:sp>
            <p:cxnSp>
              <p:nvCxnSpPr>
                <p:cNvPr id="1091" name="Google Shape;1091;p34"/>
                <p:cNvCxnSpPr/>
                <p:nvPr/>
              </p:nvCxnSpPr>
              <p:spPr>
                <a:xfrm>
                  <a:off x="1778" y="5723"/>
                  <a:ext cx="720" cy="0"/>
                </a:xfrm>
                <a:prstGeom prst="straightConnector1">
                  <a:avLst/>
                </a:prstGeom>
                <a:noFill/>
                <a:ln cap="flat" cmpd="sng" w="31750">
                  <a:solidFill>
                    <a:srgbClr val="C00000"/>
                  </a:solidFill>
                  <a:prstDash val="solid"/>
                  <a:round/>
                  <a:headEnd len="med" w="med" type="none"/>
                  <a:tailEnd len="med" w="med" type="none"/>
                </a:ln>
              </p:spPr>
            </p:cxnSp>
            <p:cxnSp>
              <p:nvCxnSpPr>
                <p:cNvPr id="1092" name="Google Shape;1092;p34"/>
                <p:cNvCxnSpPr/>
                <p:nvPr/>
              </p:nvCxnSpPr>
              <p:spPr>
                <a:xfrm flipH="1" rot="10800000">
                  <a:off x="2498" y="5018"/>
                  <a:ext cx="480" cy="720"/>
                </a:xfrm>
                <a:prstGeom prst="straightConnector1">
                  <a:avLst/>
                </a:prstGeom>
                <a:noFill/>
                <a:ln cap="flat" cmpd="sng" w="31750">
                  <a:solidFill>
                    <a:srgbClr val="C00000"/>
                  </a:solidFill>
                  <a:prstDash val="solid"/>
                  <a:round/>
                  <a:headEnd len="med" w="med" type="none"/>
                  <a:tailEnd len="med" w="med" type="none"/>
                </a:ln>
              </p:spPr>
            </p:cxnSp>
            <p:cxnSp>
              <p:nvCxnSpPr>
                <p:cNvPr id="1093" name="Google Shape;1093;p34"/>
                <p:cNvCxnSpPr/>
                <p:nvPr/>
              </p:nvCxnSpPr>
              <p:spPr>
                <a:xfrm>
                  <a:off x="2978" y="5018"/>
                  <a:ext cx="0" cy="1080"/>
                </a:xfrm>
                <a:prstGeom prst="straightConnector1">
                  <a:avLst/>
                </a:prstGeom>
                <a:noFill/>
                <a:ln cap="flat" cmpd="sng" w="31750">
                  <a:solidFill>
                    <a:srgbClr val="C00000"/>
                  </a:solidFill>
                  <a:prstDash val="solid"/>
                  <a:round/>
                  <a:headEnd len="med" w="med" type="none"/>
                  <a:tailEnd len="med" w="med" type="none"/>
                </a:ln>
              </p:spPr>
            </p:cxnSp>
            <p:cxnSp>
              <p:nvCxnSpPr>
                <p:cNvPr id="1094" name="Google Shape;1094;p34"/>
                <p:cNvCxnSpPr/>
                <p:nvPr/>
              </p:nvCxnSpPr>
              <p:spPr>
                <a:xfrm>
                  <a:off x="2978" y="6098"/>
                  <a:ext cx="480" cy="0"/>
                </a:xfrm>
                <a:prstGeom prst="straightConnector1">
                  <a:avLst/>
                </a:prstGeom>
                <a:noFill/>
                <a:ln cap="flat" cmpd="sng" w="31750">
                  <a:solidFill>
                    <a:srgbClr val="C00000"/>
                  </a:solidFill>
                  <a:prstDash val="solid"/>
                  <a:round/>
                  <a:headEnd len="med" w="med" type="none"/>
                  <a:tailEnd len="med" w="med" type="none"/>
                </a:ln>
              </p:spPr>
            </p:cxnSp>
            <p:cxnSp>
              <p:nvCxnSpPr>
                <p:cNvPr id="1095" name="Google Shape;1095;p34"/>
                <p:cNvCxnSpPr/>
                <p:nvPr/>
              </p:nvCxnSpPr>
              <p:spPr>
                <a:xfrm rot="10800000">
                  <a:off x="3458" y="5723"/>
                  <a:ext cx="0" cy="375"/>
                </a:xfrm>
                <a:prstGeom prst="straightConnector1">
                  <a:avLst/>
                </a:prstGeom>
                <a:noFill/>
                <a:ln cap="flat" cmpd="sng" w="31750">
                  <a:solidFill>
                    <a:srgbClr val="C00000"/>
                  </a:solidFill>
                  <a:prstDash val="solid"/>
                  <a:round/>
                  <a:headEnd len="med" w="med" type="none"/>
                  <a:tailEnd len="med" w="med" type="none"/>
                </a:ln>
              </p:spPr>
            </p:cxnSp>
            <p:cxnSp>
              <p:nvCxnSpPr>
                <p:cNvPr id="1096" name="Google Shape;1096;p34"/>
                <p:cNvCxnSpPr/>
                <p:nvPr/>
              </p:nvCxnSpPr>
              <p:spPr>
                <a:xfrm>
                  <a:off x="3458" y="5723"/>
                  <a:ext cx="1080" cy="0"/>
                </a:xfrm>
                <a:prstGeom prst="straightConnector1">
                  <a:avLst/>
                </a:prstGeom>
                <a:noFill/>
                <a:ln cap="flat" cmpd="sng" w="31750">
                  <a:solidFill>
                    <a:srgbClr val="C00000"/>
                  </a:solidFill>
                  <a:prstDash val="solid"/>
                  <a:round/>
                  <a:headEnd len="med" w="med" type="none"/>
                  <a:tailEnd len="med" w="med" type="none"/>
                </a:ln>
              </p:spPr>
            </p:cxnSp>
            <p:sp>
              <p:nvSpPr>
                <p:cNvPr id="1097" name="Google Shape;1097;p34"/>
                <p:cNvSpPr txBox="1"/>
                <p:nvPr/>
              </p:nvSpPr>
              <p:spPr>
                <a:xfrm>
                  <a:off x="2978" y="573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sp>
              <p:nvSpPr>
                <p:cNvPr id="1098" name="Google Shape;1098;p34"/>
                <p:cNvSpPr txBox="1"/>
                <p:nvPr/>
              </p:nvSpPr>
              <p:spPr>
                <a:xfrm>
                  <a:off x="3458" y="573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2T</a:t>
                  </a:r>
                  <a:endParaRPr sz="1200">
                    <a:solidFill>
                      <a:schemeClr val="dk1"/>
                    </a:solidFill>
                    <a:latin typeface="Times New Roman"/>
                    <a:ea typeface="Times New Roman"/>
                    <a:cs typeface="Times New Roman"/>
                    <a:sym typeface="Times New Roman"/>
                  </a:endParaRPr>
                </a:p>
              </p:txBody>
            </p:sp>
            <p:sp>
              <p:nvSpPr>
                <p:cNvPr id="1099" name="Google Shape;1099;p34"/>
                <p:cNvSpPr txBox="1"/>
                <p:nvPr/>
              </p:nvSpPr>
              <p:spPr>
                <a:xfrm>
                  <a:off x="2168" y="483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2E</a:t>
                  </a:r>
                  <a:endParaRPr sz="1200">
                    <a:solidFill>
                      <a:schemeClr val="dk1"/>
                    </a:solidFill>
                    <a:latin typeface="Times New Roman"/>
                    <a:ea typeface="Times New Roman"/>
                    <a:cs typeface="Times New Roman"/>
                    <a:sym typeface="Times New Roman"/>
                  </a:endParaRPr>
                </a:p>
              </p:txBody>
            </p:sp>
            <p:cxnSp>
              <p:nvCxnSpPr>
                <p:cNvPr id="1100" name="Google Shape;1100;p34"/>
                <p:cNvCxnSpPr/>
                <p:nvPr/>
              </p:nvCxnSpPr>
              <p:spPr>
                <a:xfrm rot="10800000">
                  <a:off x="2498" y="6098"/>
                  <a:ext cx="480" cy="0"/>
                </a:xfrm>
                <a:prstGeom prst="straightConnector1">
                  <a:avLst/>
                </a:prstGeom>
                <a:noFill/>
                <a:ln cap="flat" cmpd="sng" w="31750">
                  <a:solidFill>
                    <a:srgbClr val="002060"/>
                  </a:solidFill>
                  <a:prstDash val="dash"/>
                  <a:round/>
                  <a:headEnd len="med" w="med" type="none"/>
                  <a:tailEnd len="med" w="med" type="none"/>
                </a:ln>
              </p:spPr>
            </p:cxnSp>
            <p:cxnSp>
              <p:nvCxnSpPr>
                <p:cNvPr id="1101" name="Google Shape;1101;p34"/>
                <p:cNvCxnSpPr/>
                <p:nvPr/>
              </p:nvCxnSpPr>
              <p:spPr>
                <a:xfrm rot="10800000">
                  <a:off x="2498" y="5018"/>
                  <a:ext cx="480" cy="0"/>
                </a:xfrm>
                <a:prstGeom prst="straightConnector1">
                  <a:avLst/>
                </a:prstGeom>
                <a:noFill/>
                <a:ln cap="flat" cmpd="sng" w="31750">
                  <a:solidFill>
                    <a:srgbClr val="002060"/>
                  </a:solidFill>
                  <a:prstDash val="dash"/>
                  <a:round/>
                  <a:headEnd len="med" w="med" type="none"/>
                  <a:tailEnd len="med" w="med" type="none"/>
                </a:ln>
              </p:spPr>
            </p:cxnSp>
            <p:sp>
              <p:nvSpPr>
                <p:cNvPr id="1102" name="Google Shape;1102;p34"/>
                <p:cNvSpPr txBox="1"/>
                <p:nvPr/>
              </p:nvSpPr>
              <p:spPr>
                <a:xfrm>
                  <a:off x="2258" y="591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E</a:t>
                  </a:r>
                  <a:endParaRPr sz="1200">
                    <a:solidFill>
                      <a:schemeClr val="dk1"/>
                    </a:solidFill>
                    <a:latin typeface="Times New Roman"/>
                    <a:ea typeface="Times New Roman"/>
                    <a:cs typeface="Times New Roman"/>
                    <a:sym typeface="Times New Roman"/>
                  </a:endParaRPr>
                </a:p>
              </p:txBody>
            </p:sp>
          </p:grpSp>
        </p:grpSp>
        <p:grpSp>
          <p:nvGrpSpPr>
            <p:cNvPr id="1103" name="Google Shape;1103;p34"/>
            <p:cNvGrpSpPr/>
            <p:nvPr/>
          </p:nvGrpSpPr>
          <p:grpSpPr>
            <a:xfrm>
              <a:off x="4508" y="2803"/>
              <a:ext cx="3240" cy="2700"/>
              <a:chOff x="5978" y="11138"/>
              <a:chExt cx="3240" cy="2700"/>
            </a:xfrm>
          </p:grpSpPr>
          <p:cxnSp>
            <p:nvCxnSpPr>
              <p:cNvPr id="1104" name="Google Shape;1104;p34"/>
              <p:cNvCxnSpPr/>
              <p:nvPr/>
            </p:nvCxnSpPr>
            <p:spPr>
              <a:xfrm>
                <a:off x="5978" y="12718"/>
                <a:ext cx="3120" cy="0"/>
              </a:xfrm>
              <a:prstGeom prst="straightConnector1">
                <a:avLst/>
              </a:prstGeom>
              <a:noFill/>
              <a:ln cap="flat" cmpd="sng" w="31750">
                <a:solidFill>
                  <a:srgbClr val="808080"/>
                </a:solidFill>
                <a:prstDash val="solid"/>
                <a:round/>
                <a:headEnd len="med" w="med" type="none"/>
                <a:tailEnd len="med" w="med" type="stealth"/>
              </a:ln>
            </p:spPr>
          </p:cxnSp>
          <p:cxnSp>
            <p:nvCxnSpPr>
              <p:cNvPr id="1105" name="Google Shape;1105;p34"/>
              <p:cNvCxnSpPr/>
              <p:nvPr/>
            </p:nvCxnSpPr>
            <p:spPr>
              <a:xfrm>
                <a:off x="6818" y="11633"/>
                <a:ext cx="0" cy="2025"/>
              </a:xfrm>
              <a:prstGeom prst="straightConnector1">
                <a:avLst/>
              </a:prstGeom>
              <a:noFill/>
              <a:ln cap="flat" cmpd="sng" w="31750">
                <a:solidFill>
                  <a:srgbClr val="808080"/>
                </a:solidFill>
                <a:prstDash val="solid"/>
                <a:round/>
                <a:headEnd len="med" w="med" type="stealth"/>
                <a:tailEnd len="med" w="med" type="none"/>
              </a:ln>
            </p:spPr>
          </p:cxnSp>
          <p:sp>
            <p:nvSpPr>
              <p:cNvPr id="1106" name="Google Shape;1106;p34"/>
              <p:cNvSpPr txBox="1"/>
              <p:nvPr/>
            </p:nvSpPr>
            <p:spPr>
              <a:xfrm>
                <a:off x="8858" y="12713"/>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sp>
            <p:nvSpPr>
              <p:cNvPr id="1107" name="Google Shape;1107;p34"/>
              <p:cNvSpPr txBox="1"/>
              <p:nvPr/>
            </p:nvSpPr>
            <p:spPr>
              <a:xfrm>
                <a:off x="6623" y="12713"/>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0</a:t>
                </a:r>
                <a:endParaRPr sz="1200">
                  <a:solidFill>
                    <a:schemeClr val="dk1"/>
                  </a:solidFill>
                  <a:latin typeface="Times New Roman"/>
                  <a:ea typeface="Times New Roman"/>
                  <a:cs typeface="Times New Roman"/>
                  <a:sym typeface="Times New Roman"/>
                </a:endParaRPr>
              </a:p>
            </p:txBody>
          </p:sp>
          <p:sp>
            <p:nvSpPr>
              <p:cNvPr id="1108" name="Google Shape;1108;p34"/>
              <p:cNvSpPr txBox="1"/>
              <p:nvPr/>
            </p:nvSpPr>
            <p:spPr>
              <a:xfrm>
                <a:off x="6938" y="11618"/>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f(t)</a:t>
                </a:r>
                <a:endParaRPr sz="1200">
                  <a:solidFill>
                    <a:schemeClr val="dk1"/>
                  </a:solidFill>
                  <a:latin typeface="Times New Roman"/>
                  <a:ea typeface="Times New Roman"/>
                  <a:cs typeface="Times New Roman"/>
                  <a:sym typeface="Times New Roman"/>
                </a:endParaRPr>
              </a:p>
            </p:txBody>
          </p:sp>
          <p:cxnSp>
            <p:nvCxnSpPr>
              <p:cNvPr id="1109" name="Google Shape;1109;p34"/>
              <p:cNvCxnSpPr/>
              <p:nvPr/>
            </p:nvCxnSpPr>
            <p:spPr>
              <a:xfrm>
                <a:off x="6098" y="12698"/>
                <a:ext cx="720" cy="0"/>
              </a:xfrm>
              <a:prstGeom prst="straightConnector1">
                <a:avLst/>
              </a:prstGeom>
              <a:noFill/>
              <a:ln cap="flat" cmpd="sng" w="31750">
                <a:solidFill>
                  <a:srgbClr val="C00000"/>
                </a:solidFill>
                <a:prstDash val="solid"/>
                <a:round/>
                <a:headEnd len="med" w="med" type="none"/>
                <a:tailEnd len="med" w="med" type="none"/>
              </a:ln>
            </p:spPr>
          </p:cxnSp>
          <p:cxnSp>
            <p:nvCxnSpPr>
              <p:cNvPr id="1110" name="Google Shape;1110;p34"/>
              <p:cNvCxnSpPr/>
              <p:nvPr/>
            </p:nvCxnSpPr>
            <p:spPr>
              <a:xfrm flipH="1" rot="10800000">
                <a:off x="6818" y="11993"/>
                <a:ext cx="480" cy="720"/>
              </a:xfrm>
              <a:prstGeom prst="straightConnector1">
                <a:avLst/>
              </a:prstGeom>
              <a:noFill/>
              <a:ln cap="flat" cmpd="sng" w="31750">
                <a:solidFill>
                  <a:srgbClr val="C00000"/>
                </a:solidFill>
                <a:prstDash val="solid"/>
                <a:round/>
                <a:headEnd len="med" w="med" type="none"/>
                <a:tailEnd len="med" w="med" type="none"/>
              </a:ln>
            </p:spPr>
          </p:cxnSp>
          <p:cxnSp>
            <p:nvCxnSpPr>
              <p:cNvPr id="1111" name="Google Shape;1111;p34"/>
              <p:cNvCxnSpPr/>
              <p:nvPr/>
            </p:nvCxnSpPr>
            <p:spPr>
              <a:xfrm>
                <a:off x="7298" y="13073"/>
                <a:ext cx="480" cy="0"/>
              </a:xfrm>
              <a:prstGeom prst="straightConnector1">
                <a:avLst/>
              </a:prstGeom>
              <a:noFill/>
              <a:ln cap="flat" cmpd="sng" w="31750">
                <a:solidFill>
                  <a:srgbClr val="C00000"/>
                </a:solidFill>
                <a:prstDash val="solid"/>
                <a:round/>
                <a:headEnd len="med" w="med" type="none"/>
                <a:tailEnd len="med" w="med" type="none"/>
              </a:ln>
            </p:spPr>
          </p:cxnSp>
          <p:cxnSp>
            <p:nvCxnSpPr>
              <p:cNvPr id="1112" name="Google Shape;1112;p34"/>
              <p:cNvCxnSpPr/>
              <p:nvPr/>
            </p:nvCxnSpPr>
            <p:spPr>
              <a:xfrm rot="10800000">
                <a:off x="7778" y="12323"/>
                <a:ext cx="0" cy="375"/>
              </a:xfrm>
              <a:prstGeom prst="straightConnector1">
                <a:avLst/>
              </a:prstGeom>
              <a:noFill/>
              <a:ln cap="flat" cmpd="sng" w="31750">
                <a:solidFill>
                  <a:srgbClr val="C00000"/>
                </a:solidFill>
                <a:prstDash val="dash"/>
                <a:round/>
                <a:headEnd len="med" w="med" type="none"/>
                <a:tailEnd len="med" w="med" type="none"/>
              </a:ln>
            </p:spPr>
          </p:cxnSp>
          <p:sp>
            <p:nvSpPr>
              <p:cNvPr id="1113" name="Google Shape;1113;p34"/>
              <p:cNvSpPr txBox="1"/>
              <p:nvPr/>
            </p:nvSpPr>
            <p:spPr>
              <a:xfrm>
                <a:off x="7298" y="12713"/>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sp>
            <p:nvSpPr>
              <p:cNvPr id="1114" name="Google Shape;1114;p34"/>
              <p:cNvSpPr txBox="1"/>
              <p:nvPr/>
            </p:nvSpPr>
            <p:spPr>
              <a:xfrm>
                <a:off x="7778" y="12713"/>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2T</a:t>
                </a:r>
                <a:endParaRPr sz="1200">
                  <a:solidFill>
                    <a:schemeClr val="dk1"/>
                  </a:solidFill>
                  <a:latin typeface="Times New Roman"/>
                  <a:ea typeface="Times New Roman"/>
                  <a:cs typeface="Times New Roman"/>
                  <a:sym typeface="Times New Roman"/>
                </a:endParaRPr>
              </a:p>
            </p:txBody>
          </p:sp>
          <p:sp>
            <p:nvSpPr>
              <p:cNvPr id="1115" name="Google Shape;1115;p34"/>
              <p:cNvSpPr txBox="1"/>
              <p:nvPr/>
            </p:nvSpPr>
            <p:spPr>
              <a:xfrm>
                <a:off x="6488" y="11813"/>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2E</a:t>
                </a:r>
                <a:endParaRPr sz="1200">
                  <a:solidFill>
                    <a:schemeClr val="dk1"/>
                  </a:solidFill>
                  <a:latin typeface="Times New Roman"/>
                  <a:ea typeface="Times New Roman"/>
                  <a:cs typeface="Times New Roman"/>
                  <a:sym typeface="Times New Roman"/>
                </a:endParaRPr>
              </a:p>
            </p:txBody>
          </p:sp>
          <p:cxnSp>
            <p:nvCxnSpPr>
              <p:cNvPr id="1116" name="Google Shape;1116;p34"/>
              <p:cNvCxnSpPr/>
              <p:nvPr/>
            </p:nvCxnSpPr>
            <p:spPr>
              <a:xfrm rot="10800000">
                <a:off x="6818" y="13073"/>
                <a:ext cx="480" cy="0"/>
              </a:xfrm>
              <a:prstGeom prst="straightConnector1">
                <a:avLst/>
              </a:prstGeom>
              <a:noFill/>
              <a:ln cap="flat" cmpd="sng" w="31750">
                <a:solidFill>
                  <a:srgbClr val="002060"/>
                </a:solidFill>
                <a:prstDash val="dash"/>
                <a:round/>
                <a:headEnd len="med" w="med" type="none"/>
                <a:tailEnd len="med" w="med" type="none"/>
              </a:ln>
            </p:spPr>
          </p:cxnSp>
          <p:cxnSp>
            <p:nvCxnSpPr>
              <p:cNvPr id="1117" name="Google Shape;1117;p34"/>
              <p:cNvCxnSpPr/>
              <p:nvPr/>
            </p:nvCxnSpPr>
            <p:spPr>
              <a:xfrm rot="10800000">
                <a:off x="6818" y="11993"/>
                <a:ext cx="480" cy="0"/>
              </a:xfrm>
              <a:prstGeom prst="straightConnector1">
                <a:avLst/>
              </a:prstGeom>
              <a:noFill/>
              <a:ln cap="flat" cmpd="sng" w="31750">
                <a:solidFill>
                  <a:srgbClr val="002060"/>
                </a:solidFill>
                <a:prstDash val="dash"/>
                <a:round/>
                <a:headEnd len="med" w="med" type="none"/>
                <a:tailEnd len="med" w="med" type="none"/>
              </a:ln>
            </p:spPr>
          </p:cxnSp>
          <p:sp>
            <p:nvSpPr>
              <p:cNvPr id="1118" name="Google Shape;1118;p34"/>
              <p:cNvSpPr txBox="1"/>
              <p:nvPr/>
            </p:nvSpPr>
            <p:spPr>
              <a:xfrm>
                <a:off x="6578" y="12893"/>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E</a:t>
                </a:r>
                <a:endParaRPr sz="1200">
                  <a:solidFill>
                    <a:schemeClr val="dk1"/>
                  </a:solidFill>
                  <a:latin typeface="Times New Roman"/>
                  <a:ea typeface="Times New Roman"/>
                  <a:cs typeface="Times New Roman"/>
                  <a:sym typeface="Times New Roman"/>
                </a:endParaRPr>
              </a:p>
            </p:txBody>
          </p:sp>
          <p:cxnSp>
            <p:nvCxnSpPr>
              <p:cNvPr id="1119" name="Google Shape;1119;p34"/>
              <p:cNvCxnSpPr/>
              <p:nvPr/>
            </p:nvCxnSpPr>
            <p:spPr>
              <a:xfrm rot="10800000">
                <a:off x="7268" y="12698"/>
                <a:ext cx="0" cy="375"/>
              </a:xfrm>
              <a:prstGeom prst="straightConnector1">
                <a:avLst/>
              </a:prstGeom>
              <a:noFill/>
              <a:ln cap="flat" cmpd="sng" w="31750">
                <a:solidFill>
                  <a:srgbClr val="C00000"/>
                </a:solidFill>
                <a:prstDash val="solid"/>
                <a:round/>
                <a:headEnd len="med" w="med" type="none"/>
                <a:tailEnd len="med" w="med" type="none"/>
              </a:ln>
            </p:spPr>
          </p:cxnSp>
          <p:cxnSp>
            <p:nvCxnSpPr>
              <p:cNvPr id="1120" name="Google Shape;1120;p34"/>
              <p:cNvCxnSpPr/>
              <p:nvPr/>
            </p:nvCxnSpPr>
            <p:spPr>
              <a:xfrm flipH="1" rot="10800000">
                <a:off x="7298" y="11138"/>
                <a:ext cx="590" cy="885"/>
              </a:xfrm>
              <a:prstGeom prst="straightConnector1">
                <a:avLst/>
              </a:prstGeom>
              <a:noFill/>
              <a:ln cap="flat" cmpd="sng" w="31750">
                <a:solidFill>
                  <a:srgbClr val="C00000"/>
                </a:solidFill>
                <a:prstDash val="dash"/>
                <a:round/>
                <a:headEnd len="med" w="med" type="none"/>
                <a:tailEnd len="med" w="med" type="none"/>
              </a:ln>
            </p:spPr>
          </p:cxnSp>
          <p:cxnSp>
            <p:nvCxnSpPr>
              <p:cNvPr id="1121" name="Google Shape;1121;p34"/>
              <p:cNvCxnSpPr/>
              <p:nvPr/>
            </p:nvCxnSpPr>
            <p:spPr>
              <a:xfrm>
                <a:off x="7268" y="12698"/>
                <a:ext cx="760" cy="1140"/>
              </a:xfrm>
              <a:prstGeom prst="straightConnector1">
                <a:avLst/>
              </a:prstGeom>
              <a:noFill/>
              <a:ln cap="flat" cmpd="sng" w="31750">
                <a:solidFill>
                  <a:srgbClr val="C00000"/>
                </a:solidFill>
                <a:prstDash val="dash"/>
                <a:round/>
                <a:headEnd len="med" w="med" type="none"/>
                <a:tailEnd len="med" w="med" type="none"/>
              </a:ln>
            </p:spPr>
          </p:cxnSp>
          <p:cxnSp>
            <p:nvCxnSpPr>
              <p:cNvPr id="1122" name="Google Shape;1122;p34"/>
              <p:cNvCxnSpPr/>
              <p:nvPr/>
            </p:nvCxnSpPr>
            <p:spPr>
              <a:xfrm>
                <a:off x="7778" y="12323"/>
                <a:ext cx="1200" cy="0"/>
              </a:xfrm>
              <a:prstGeom prst="straightConnector1">
                <a:avLst/>
              </a:prstGeom>
              <a:noFill/>
              <a:ln cap="flat" cmpd="sng" w="31750">
                <a:solidFill>
                  <a:srgbClr val="C00000"/>
                </a:solidFill>
                <a:prstDash val="dash"/>
                <a:round/>
                <a:headEnd len="med" w="med" type="none"/>
                <a:tailEnd len="med" w="med" type="none"/>
              </a:ln>
            </p:spPr>
          </p:cxnSp>
          <p:cxnSp>
            <p:nvCxnSpPr>
              <p:cNvPr id="1123" name="Google Shape;1123;p34"/>
              <p:cNvCxnSpPr/>
              <p:nvPr/>
            </p:nvCxnSpPr>
            <p:spPr>
              <a:xfrm>
                <a:off x="7778" y="13073"/>
                <a:ext cx="1200" cy="0"/>
              </a:xfrm>
              <a:prstGeom prst="straightConnector1">
                <a:avLst/>
              </a:prstGeom>
              <a:noFill/>
              <a:ln cap="flat" cmpd="sng" w="31750">
                <a:solidFill>
                  <a:srgbClr val="C00000"/>
                </a:solidFill>
                <a:prstDash val="dash"/>
                <a:round/>
                <a:headEnd len="med" w="med" type="none"/>
                <a:tailEnd len="med" w="med" type="none"/>
              </a:ln>
            </p:spPr>
          </p:cxnSp>
          <p:cxnSp>
            <p:nvCxnSpPr>
              <p:cNvPr id="1124" name="Google Shape;1124;p34"/>
              <p:cNvCxnSpPr/>
              <p:nvPr/>
            </p:nvCxnSpPr>
            <p:spPr>
              <a:xfrm>
                <a:off x="7283" y="13463"/>
                <a:ext cx="1680" cy="0"/>
              </a:xfrm>
              <a:prstGeom prst="straightConnector1">
                <a:avLst/>
              </a:prstGeom>
              <a:noFill/>
              <a:ln cap="flat" cmpd="sng" w="31750">
                <a:solidFill>
                  <a:srgbClr val="C00000"/>
                </a:solidFill>
                <a:prstDash val="dash"/>
                <a:round/>
                <a:headEnd len="med" w="med" type="none"/>
                <a:tailEnd len="med" w="med" type="none"/>
              </a:ln>
            </p:spPr>
          </p:cxnSp>
          <p:cxnSp>
            <p:nvCxnSpPr>
              <p:cNvPr id="1125" name="Google Shape;1125;p34"/>
              <p:cNvCxnSpPr/>
              <p:nvPr/>
            </p:nvCxnSpPr>
            <p:spPr>
              <a:xfrm rot="10800000">
                <a:off x="7268" y="13103"/>
                <a:ext cx="0" cy="375"/>
              </a:xfrm>
              <a:prstGeom prst="straightConnector1">
                <a:avLst/>
              </a:prstGeom>
              <a:noFill/>
              <a:ln cap="flat" cmpd="sng" w="31750">
                <a:solidFill>
                  <a:srgbClr val="C00000"/>
                </a:solidFill>
                <a:prstDash val="dash"/>
                <a:round/>
                <a:headEnd len="med" w="med" type="none"/>
                <a:tailEnd len="med" w="med" type="none"/>
              </a:ln>
            </p:spPr>
          </p:cxnSp>
        </p:grpSp>
      </p:grpSp>
      <p:sp>
        <p:nvSpPr>
          <p:cNvPr id="1126" name="Google Shape;1126;p34"/>
          <p:cNvSpPr/>
          <p:nvPr/>
        </p:nvSpPr>
        <p:spPr>
          <a:xfrm>
            <a:off x="5302945" y="3081187"/>
            <a:ext cx="43794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a:t>
            </a:r>
            <a:endParaRPr sz="36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pic>
        <p:nvPicPr>
          <p:cNvPr id="1131" name="Google Shape;1131;p35"/>
          <p:cNvPicPr preferRelativeResize="0"/>
          <p:nvPr/>
        </p:nvPicPr>
        <p:blipFill rotWithShape="1">
          <a:blip r:embed="rId3">
            <a:alphaModFix/>
          </a:blip>
          <a:srcRect b="0" l="0" r="0" t="0"/>
          <a:stretch/>
        </p:blipFill>
        <p:spPr>
          <a:xfrm>
            <a:off x="1214804" y="3402701"/>
            <a:ext cx="10801350" cy="1333500"/>
          </a:xfrm>
          <a:prstGeom prst="rect">
            <a:avLst/>
          </a:prstGeom>
          <a:noFill/>
          <a:ln>
            <a:noFill/>
          </a:ln>
        </p:spPr>
      </p:pic>
      <p:pic>
        <p:nvPicPr>
          <p:cNvPr id="1132" name="Google Shape;1132;p35"/>
          <p:cNvPicPr preferRelativeResize="0"/>
          <p:nvPr/>
        </p:nvPicPr>
        <p:blipFill rotWithShape="1">
          <a:blip r:embed="rId4">
            <a:alphaModFix/>
          </a:blip>
          <a:srcRect b="0" l="0" r="0" t="0"/>
          <a:stretch/>
        </p:blipFill>
        <p:spPr>
          <a:xfrm>
            <a:off x="1214804" y="4662301"/>
            <a:ext cx="6803781" cy="1279040"/>
          </a:xfrm>
          <a:prstGeom prst="rect">
            <a:avLst/>
          </a:prstGeom>
          <a:noFill/>
          <a:ln>
            <a:noFill/>
          </a:ln>
        </p:spPr>
      </p:pic>
      <p:sp>
        <p:nvSpPr>
          <p:cNvPr id="1133" name="Google Shape;1133;p35"/>
          <p:cNvSpPr/>
          <p:nvPr/>
        </p:nvSpPr>
        <p:spPr>
          <a:xfrm>
            <a:off x="152400" y="581019"/>
            <a:ext cx="11887200" cy="255454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Remaining part of waveform can  be considered to be made up             of a negative step waveform of magnitude E at t = T, and a positive step also of magnitude E at t = 2T.</a:t>
            </a:r>
            <a:endParaRPr b="0" i="0" sz="32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Superposition of these waveforms gives the resultant  waveform.</a:t>
            </a:r>
            <a:endParaRPr b="0" i="0" sz="32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These have Laplace transforms which will add up as follows.	</a:t>
            </a:r>
            <a:endParaRPr b="0" i="0" sz="3200" u="none" cap="none" strike="noStrike">
              <a:solidFill>
                <a:schemeClr val="dk1"/>
              </a:solidFill>
              <a:latin typeface="Times New Roman"/>
              <a:ea typeface="Times New Roman"/>
              <a:cs typeface="Times New Roman"/>
              <a:sym typeface="Times New Roman"/>
            </a:endParaRPr>
          </a:p>
        </p:txBody>
      </p:sp>
      <p:sp>
        <p:nvSpPr>
          <p:cNvPr id="1134" name="Google Shape;1134;p35"/>
          <p:cNvSpPr/>
          <p:nvPr/>
        </p:nvSpPr>
        <p:spPr>
          <a:xfrm>
            <a:off x="5846802" y="4174106"/>
            <a:ext cx="1107996" cy="58477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 	</a:t>
            </a:r>
            <a:endParaRPr b="0" i="0" sz="3200" u="none" cap="none" strike="noStrike">
              <a:solidFill>
                <a:schemeClr val="dk1"/>
              </a:solidFill>
              <a:latin typeface="Times New Roman"/>
              <a:ea typeface="Times New Roman"/>
              <a:cs typeface="Times New Roman"/>
              <a:sym typeface="Times New Roman"/>
            </a:endParaRPr>
          </a:p>
        </p:txBody>
      </p:sp>
      <p:sp>
        <p:nvSpPr>
          <p:cNvPr id="1135" name="Google Shape;1135;p35"/>
          <p:cNvSpPr/>
          <p:nvPr/>
        </p:nvSpPr>
        <p:spPr>
          <a:xfrm>
            <a:off x="152400" y="5913163"/>
            <a:ext cx="8983550" cy="58477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Identical to result obtained  from the normal method.</a:t>
            </a:r>
            <a:r>
              <a:rPr b="0" i="0" lang="en-GB" sz="3200" u="none" cap="none" strike="noStrike">
                <a:solidFill>
                  <a:schemeClr val="dk1"/>
                </a:solidFill>
                <a:latin typeface="Times New Roman"/>
                <a:ea typeface="Times New Roman"/>
                <a:cs typeface="Times New Roman"/>
                <a:sym typeface="Times New Roman"/>
              </a:rPr>
              <a:t> </a:t>
            </a:r>
            <a:endParaRPr/>
          </a:p>
        </p:txBody>
      </p:sp>
      <p:sp>
        <p:nvSpPr>
          <p:cNvPr id="1136" name="Google Shape;1136;p35"/>
          <p:cNvSpPr/>
          <p:nvPr/>
        </p:nvSpPr>
        <p:spPr>
          <a:xfrm>
            <a:off x="129461" y="3807841"/>
            <a:ext cx="120257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rgbClr val="002060"/>
                </a:solidFill>
                <a:latin typeface="Arial"/>
                <a:ea typeface="Arial"/>
                <a:cs typeface="Arial"/>
                <a:sym typeface="Arial"/>
              </a:rPr>
              <a:t>L </a:t>
            </a:r>
            <a:r>
              <a:rPr lang="en-GB" sz="2800">
                <a:solidFill>
                  <a:srgbClr val="002060"/>
                </a:solidFill>
                <a:latin typeface="Times New Roman"/>
                <a:ea typeface="Times New Roman"/>
                <a:cs typeface="Times New Roman"/>
                <a:sym typeface="Times New Roman"/>
              </a:rPr>
              <a:t>[f(t)]</a:t>
            </a:r>
            <a:endParaRPr sz="2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pic>
        <p:nvPicPr>
          <p:cNvPr id="1141" name="Google Shape;1141;p36"/>
          <p:cNvPicPr preferRelativeResize="0"/>
          <p:nvPr/>
        </p:nvPicPr>
        <p:blipFill rotWithShape="1">
          <a:blip r:embed="rId3">
            <a:alphaModFix/>
          </a:blip>
          <a:srcRect b="0" l="0" r="0" t="0"/>
          <a:stretch/>
        </p:blipFill>
        <p:spPr>
          <a:xfrm>
            <a:off x="1937047" y="5466350"/>
            <a:ext cx="4438650" cy="1333500"/>
          </a:xfrm>
          <a:prstGeom prst="rect">
            <a:avLst/>
          </a:prstGeom>
          <a:noFill/>
          <a:ln>
            <a:noFill/>
          </a:ln>
        </p:spPr>
      </p:pic>
      <p:pic>
        <p:nvPicPr>
          <p:cNvPr id="1142" name="Google Shape;1142;p36"/>
          <p:cNvPicPr preferRelativeResize="0"/>
          <p:nvPr/>
        </p:nvPicPr>
        <p:blipFill rotWithShape="1">
          <a:blip r:embed="rId4">
            <a:alphaModFix/>
          </a:blip>
          <a:srcRect b="0" l="0" r="0" t="0"/>
          <a:stretch/>
        </p:blipFill>
        <p:spPr>
          <a:xfrm>
            <a:off x="6672063" y="5495951"/>
            <a:ext cx="3352800" cy="1276350"/>
          </a:xfrm>
          <a:prstGeom prst="rect">
            <a:avLst/>
          </a:prstGeom>
          <a:noFill/>
          <a:ln>
            <a:noFill/>
          </a:ln>
        </p:spPr>
      </p:pic>
      <p:grpSp>
        <p:nvGrpSpPr>
          <p:cNvPr id="1143" name="Google Shape;1143;p36"/>
          <p:cNvGrpSpPr/>
          <p:nvPr/>
        </p:nvGrpSpPr>
        <p:grpSpPr>
          <a:xfrm>
            <a:off x="678955" y="596900"/>
            <a:ext cx="9782810" cy="2832100"/>
            <a:chOff x="888" y="512"/>
            <a:chExt cx="8280" cy="2397"/>
          </a:xfrm>
        </p:grpSpPr>
        <p:cxnSp>
          <p:nvCxnSpPr>
            <p:cNvPr id="1144" name="Google Shape;1144;p36"/>
            <p:cNvCxnSpPr/>
            <p:nvPr/>
          </p:nvCxnSpPr>
          <p:spPr>
            <a:xfrm>
              <a:off x="5208" y="557"/>
              <a:ext cx="0" cy="1620"/>
            </a:xfrm>
            <a:prstGeom prst="straightConnector1">
              <a:avLst/>
            </a:prstGeom>
            <a:noFill/>
            <a:ln cap="flat" cmpd="sng" w="31750">
              <a:solidFill>
                <a:srgbClr val="808080"/>
              </a:solidFill>
              <a:prstDash val="solid"/>
              <a:round/>
              <a:headEnd len="med" w="med" type="stealth"/>
              <a:tailEnd len="med" w="med" type="none"/>
            </a:ln>
          </p:spPr>
        </p:cxnSp>
        <p:sp>
          <p:nvSpPr>
            <p:cNvPr id="1145" name="Google Shape;1145;p36"/>
            <p:cNvSpPr txBox="1"/>
            <p:nvPr/>
          </p:nvSpPr>
          <p:spPr>
            <a:xfrm>
              <a:off x="8808" y="2096"/>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cxnSp>
          <p:nvCxnSpPr>
            <p:cNvPr id="1146" name="Google Shape;1146;p36"/>
            <p:cNvCxnSpPr/>
            <p:nvPr/>
          </p:nvCxnSpPr>
          <p:spPr>
            <a:xfrm>
              <a:off x="4368" y="2096"/>
              <a:ext cx="4800" cy="0"/>
            </a:xfrm>
            <a:prstGeom prst="straightConnector1">
              <a:avLst/>
            </a:prstGeom>
            <a:noFill/>
            <a:ln cap="flat" cmpd="sng" w="31750">
              <a:solidFill>
                <a:srgbClr val="808080"/>
              </a:solidFill>
              <a:prstDash val="solid"/>
              <a:round/>
              <a:headEnd len="med" w="med" type="none"/>
              <a:tailEnd len="med" w="med" type="stealth"/>
            </a:ln>
          </p:spPr>
        </p:cxnSp>
        <p:sp>
          <p:nvSpPr>
            <p:cNvPr id="1147" name="Google Shape;1147;p36"/>
            <p:cNvSpPr txBox="1"/>
            <p:nvPr/>
          </p:nvSpPr>
          <p:spPr>
            <a:xfrm>
              <a:off x="5013" y="2096"/>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0</a:t>
              </a:r>
              <a:endParaRPr sz="1200">
                <a:solidFill>
                  <a:schemeClr val="dk1"/>
                </a:solidFill>
                <a:latin typeface="Times New Roman"/>
                <a:ea typeface="Times New Roman"/>
                <a:cs typeface="Times New Roman"/>
                <a:sym typeface="Times New Roman"/>
              </a:endParaRPr>
            </a:p>
          </p:txBody>
        </p:sp>
        <p:sp>
          <p:nvSpPr>
            <p:cNvPr id="1148" name="Google Shape;1148;p36"/>
            <p:cNvSpPr txBox="1"/>
            <p:nvPr/>
          </p:nvSpPr>
          <p:spPr>
            <a:xfrm>
              <a:off x="5328" y="512"/>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f(t)</a:t>
              </a:r>
              <a:endParaRPr sz="1200">
                <a:solidFill>
                  <a:schemeClr val="dk1"/>
                </a:solidFill>
                <a:latin typeface="Times New Roman"/>
                <a:ea typeface="Times New Roman"/>
                <a:cs typeface="Times New Roman"/>
                <a:sym typeface="Times New Roman"/>
              </a:endParaRPr>
            </a:p>
          </p:txBody>
        </p:sp>
        <p:cxnSp>
          <p:nvCxnSpPr>
            <p:cNvPr id="1149" name="Google Shape;1149;p36"/>
            <p:cNvCxnSpPr/>
            <p:nvPr/>
          </p:nvCxnSpPr>
          <p:spPr>
            <a:xfrm>
              <a:off x="4488" y="2081"/>
              <a:ext cx="720" cy="0"/>
            </a:xfrm>
            <a:prstGeom prst="straightConnector1">
              <a:avLst/>
            </a:prstGeom>
            <a:noFill/>
            <a:ln cap="flat" cmpd="sng" w="31750">
              <a:solidFill>
                <a:srgbClr val="C00000"/>
              </a:solidFill>
              <a:prstDash val="solid"/>
              <a:round/>
              <a:headEnd len="med" w="med" type="none"/>
              <a:tailEnd len="med" w="med" type="none"/>
            </a:ln>
          </p:spPr>
        </p:cxnSp>
        <p:sp>
          <p:nvSpPr>
            <p:cNvPr id="1150" name="Google Shape;1150;p36"/>
            <p:cNvSpPr txBox="1"/>
            <p:nvPr/>
          </p:nvSpPr>
          <p:spPr>
            <a:xfrm>
              <a:off x="6048" y="2096"/>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T/2</a:t>
              </a:r>
              <a:endParaRPr sz="1200">
                <a:solidFill>
                  <a:schemeClr val="dk1"/>
                </a:solidFill>
                <a:latin typeface="Times New Roman"/>
                <a:ea typeface="Times New Roman"/>
                <a:cs typeface="Times New Roman"/>
                <a:sym typeface="Times New Roman"/>
              </a:endParaRPr>
            </a:p>
          </p:txBody>
        </p:sp>
        <p:sp>
          <p:nvSpPr>
            <p:cNvPr id="1151" name="Google Shape;1151;p36"/>
            <p:cNvSpPr txBox="1"/>
            <p:nvPr/>
          </p:nvSpPr>
          <p:spPr>
            <a:xfrm>
              <a:off x="4968" y="1289"/>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E</a:t>
              </a:r>
              <a:endParaRPr sz="1200">
                <a:solidFill>
                  <a:schemeClr val="dk1"/>
                </a:solidFill>
                <a:latin typeface="Times New Roman"/>
                <a:ea typeface="Times New Roman"/>
                <a:cs typeface="Times New Roman"/>
                <a:sym typeface="Times New Roman"/>
              </a:endParaRPr>
            </a:p>
          </p:txBody>
        </p:sp>
        <p:cxnSp>
          <p:nvCxnSpPr>
            <p:cNvPr id="1152" name="Google Shape;1152;p36"/>
            <p:cNvCxnSpPr/>
            <p:nvPr/>
          </p:nvCxnSpPr>
          <p:spPr>
            <a:xfrm rot="10800000">
              <a:off x="5208" y="1454"/>
              <a:ext cx="480" cy="0"/>
            </a:xfrm>
            <a:prstGeom prst="straightConnector1">
              <a:avLst/>
            </a:prstGeom>
            <a:noFill/>
            <a:ln cap="flat" cmpd="sng" w="31750">
              <a:solidFill>
                <a:srgbClr val="002060"/>
              </a:solidFill>
              <a:prstDash val="dash"/>
              <a:round/>
              <a:headEnd len="med" w="med" type="none"/>
              <a:tailEnd len="med" w="med" type="none"/>
            </a:ln>
          </p:spPr>
        </p:cxnSp>
        <p:sp>
          <p:nvSpPr>
            <p:cNvPr id="1153" name="Google Shape;1153;p36"/>
            <p:cNvSpPr/>
            <p:nvPr/>
          </p:nvSpPr>
          <p:spPr>
            <a:xfrm>
              <a:off x="5222" y="1469"/>
              <a:ext cx="961" cy="720"/>
            </a:xfrm>
            <a:custGeom>
              <a:rect b="b" l="l" r="r" t="t"/>
              <a:pathLst>
                <a:path extrusionOk="0" fill="none" h="21600" w="43200">
                  <a:moveTo>
                    <a:pt x="0" y="21600"/>
                  </a:moveTo>
                  <a:cubicBezTo>
                    <a:pt x="0" y="9670"/>
                    <a:pt x="9670" y="0"/>
                    <a:pt x="21600" y="0"/>
                  </a:cubicBezTo>
                  <a:cubicBezTo>
                    <a:pt x="33529" y="0"/>
                    <a:pt x="43200" y="9670"/>
                    <a:pt x="43200" y="21599"/>
                  </a:cubicBezTo>
                </a:path>
                <a:path extrusionOk="0" h="21600" w="43200">
                  <a:moveTo>
                    <a:pt x="0" y="21600"/>
                  </a:moveTo>
                  <a:cubicBezTo>
                    <a:pt x="0" y="9670"/>
                    <a:pt x="9670" y="0"/>
                    <a:pt x="21600" y="0"/>
                  </a:cubicBezTo>
                  <a:cubicBezTo>
                    <a:pt x="33529" y="0"/>
                    <a:pt x="43200" y="9670"/>
                    <a:pt x="43200" y="21599"/>
                  </a:cubicBezTo>
                  <a:lnTo>
                    <a:pt x="21600"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154" name="Google Shape;1154;p36"/>
            <p:cNvGrpSpPr/>
            <p:nvPr/>
          </p:nvGrpSpPr>
          <p:grpSpPr>
            <a:xfrm>
              <a:off x="888" y="512"/>
              <a:ext cx="3240" cy="1665"/>
              <a:chOff x="6698" y="4628"/>
              <a:chExt cx="3240" cy="1665"/>
            </a:xfrm>
          </p:grpSpPr>
          <p:cxnSp>
            <p:nvCxnSpPr>
              <p:cNvPr id="1155" name="Google Shape;1155;p36"/>
              <p:cNvCxnSpPr/>
              <p:nvPr/>
            </p:nvCxnSpPr>
            <p:spPr>
              <a:xfrm>
                <a:off x="7538" y="4673"/>
                <a:ext cx="0" cy="1620"/>
              </a:xfrm>
              <a:prstGeom prst="straightConnector1">
                <a:avLst/>
              </a:prstGeom>
              <a:noFill/>
              <a:ln cap="flat" cmpd="sng" w="31750">
                <a:solidFill>
                  <a:srgbClr val="808080"/>
                </a:solidFill>
                <a:prstDash val="solid"/>
                <a:round/>
                <a:headEnd len="med" w="med" type="stealth"/>
                <a:tailEnd len="med" w="med" type="none"/>
              </a:ln>
            </p:spPr>
          </p:cxnSp>
          <p:sp>
            <p:nvSpPr>
              <p:cNvPr id="1156" name="Google Shape;1156;p36"/>
              <p:cNvSpPr txBox="1"/>
              <p:nvPr/>
            </p:nvSpPr>
            <p:spPr>
              <a:xfrm>
                <a:off x="9578" y="5753"/>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t</a:t>
                </a:r>
                <a:endParaRPr sz="1200">
                  <a:solidFill>
                    <a:schemeClr val="dk1"/>
                  </a:solidFill>
                  <a:latin typeface="Times New Roman"/>
                  <a:ea typeface="Times New Roman"/>
                  <a:cs typeface="Times New Roman"/>
                  <a:sym typeface="Times New Roman"/>
                </a:endParaRPr>
              </a:p>
            </p:txBody>
          </p:sp>
          <p:cxnSp>
            <p:nvCxnSpPr>
              <p:cNvPr id="1157" name="Google Shape;1157;p36"/>
              <p:cNvCxnSpPr/>
              <p:nvPr/>
            </p:nvCxnSpPr>
            <p:spPr>
              <a:xfrm>
                <a:off x="6698" y="5753"/>
                <a:ext cx="3120" cy="0"/>
              </a:xfrm>
              <a:prstGeom prst="straightConnector1">
                <a:avLst/>
              </a:prstGeom>
              <a:noFill/>
              <a:ln cap="flat" cmpd="sng" w="31750">
                <a:solidFill>
                  <a:srgbClr val="808080"/>
                </a:solidFill>
                <a:prstDash val="solid"/>
                <a:round/>
                <a:headEnd len="med" w="med" type="none"/>
                <a:tailEnd len="med" w="med" type="stealth"/>
              </a:ln>
            </p:spPr>
          </p:cxnSp>
          <p:sp>
            <p:nvSpPr>
              <p:cNvPr id="1158" name="Google Shape;1158;p36"/>
              <p:cNvSpPr txBox="1"/>
              <p:nvPr/>
            </p:nvSpPr>
            <p:spPr>
              <a:xfrm>
                <a:off x="7343" y="5753"/>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0</a:t>
                </a:r>
                <a:endParaRPr sz="1200">
                  <a:solidFill>
                    <a:schemeClr val="dk1"/>
                  </a:solidFill>
                  <a:latin typeface="Times New Roman"/>
                  <a:ea typeface="Times New Roman"/>
                  <a:cs typeface="Times New Roman"/>
                  <a:sym typeface="Times New Roman"/>
                </a:endParaRPr>
              </a:p>
            </p:txBody>
          </p:sp>
          <p:sp>
            <p:nvSpPr>
              <p:cNvPr id="1159" name="Google Shape;1159;p36"/>
              <p:cNvSpPr txBox="1"/>
              <p:nvPr/>
            </p:nvSpPr>
            <p:spPr>
              <a:xfrm>
                <a:off x="7658" y="4628"/>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f(t)</a:t>
                </a:r>
                <a:endParaRPr sz="1200">
                  <a:solidFill>
                    <a:schemeClr val="dk1"/>
                  </a:solidFill>
                  <a:latin typeface="Times New Roman"/>
                  <a:ea typeface="Times New Roman"/>
                  <a:cs typeface="Times New Roman"/>
                  <a:sym typeface="Times New Roman"/>
                </a:endParaRPr>
              </a:p>
            </p:txBody>
          </p:sp>
          <p:cxnSp>
            <p:nvCxnSpPr>
              <p:cNvPr id="1160" name="Google Shape;1160;p36"/>
              <p:cNvCxnSpPr/>
              <p:nvPr/>
            </p:nvCxnSpPr>
            <p:spPr>
              <a:xfrm>
                <a:off x="6818" y="5738"/>
                <a:ext cx="720" cy="0"/>
              </a:xfrm>
              <a:prstGeom prst="straightConnector1">
                <a:avLst/>
              </a:prstGeom>
              <a:noFill/>
              <a:ln cap="flat" cmpd="sng" w="31750">
                <a:solidFill>
                  <a:srgbClr val="C00000"/>
                </a:solidFill>
                <a:prstDash val="solid"/>
                <a:round/>
                <a:headEnd len="med" w="med" type="none"/>
                <a:tailEnd len="med" w="med" type="none"/>
              </a:ln>
            </p:spPr>
          </p:cxnSp>
          <p:sp>
            <p:nvSpPr>
              <p:cNvPr id="1161" name="Google Shape;1161;p36"/>
              <p:cNvSpPr txBox="1"/>
              <p:nvPr/>
            </p:nvSpPr>
            <p:spPr>
              <a:xfrm>
                <a:off x="8378" y="5753"/>
                <a:ext cx="48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T/2</a:t>
                </a:r>
                <a:endParaRPr sz="1200">
                  <a:solidFill>
                    <a:schemeClr val="dk1"/>
                  </a:solidFill>
                  <a:latin typeface="Times New Roman"/>
                  <a:ea typeface="Times New Roman"/>
                  <a:cs typeface="Times New Roman"/>
                  <a:sym typeface="Times New Roman"/>
                </a:endParaRPr>
              </a:p>
            </p:txBody>
          </p:sp>
          <p:sp>
            <p:nvSpPr>
              <p:cNvPr id="1162" name="Google Shape;1162;p36"/>
              <p:cNvSpPr txBox="1"/>
              <p:nvPr/>
            </p:nvSpPr>
            <p:spPr>
              <a:xfrm>
                <a:off x="7298" y="4853"/>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E</a:t>
                </a:r>
                <a:endParaRPr sz="1200">
                  <a:solidFill>
                    <a:schemeClr val="dk1"/>
                  </a:solidFill>
                  <a:latin typeface="Times New Roman"/>
                  <a:ea typeface="Times New Roman"/>
                  <a:cs typeface="Times New Roman"/>
                  <a:sym typeface="Times New Roman"/>
                </a:endParaRPr>
              </a:p>
            </p:txBody>
          </p:sp>
          <p:cxnSp>
            <p:nvCxnSpPr>
              <p:cNvPr id="1163" name="Google Shape;1163;p36"/>
              <p:cNvCxnSpPr/>
              <p:nvPr/>
            </p:nvCxnSpPr>
            <p:spPr>
              <a:xfrm rot="10800000">
                <a:off x="7538" y="5018"/>
                <a:ext cx="480" cy="0"/>
              </a:xfrm>
              <a:prstGeom prst="straightConnector1">
                <a:avLst/>
              </a:prstGeom>
              <a:noFill/>
              <a:ln cap="flat" cmpd="sng" w="31750">
                <a:solidFill>
                  <a:srgbClr val="002060"/>
                </a:solidFill>
                <a:prstDash val="dash"/>
                <a:round/>
                <a:headEnd len="med" w="med" type="none"/>
                <a:tailEnd len="med" w="med" type="none"/>
              </a:ln>
            </p:spPr>
          </p:cxnSp>
          <p:sp>
            <p:nvSpPr>
              <p:cNvPr id="1164" name="Google Shape;1164;p36"/>
              <p:cNvSpPr/>
              <p:nvPr/>
            </p:nvSpPr>
            <p:spPr>
              <a:xfrm>
                <a:off x="7552" y="5018"/>
                <a:ext cx="961" cy="720"/>
              </a:xfrm>
              <a:custGeom>
                <a:rect b="b" l="l" r="r" t="t"/>
                <a:pathLst>
                  <a:path extrusionOk="0" fill="none" h="21600" w="43200">
                    <a:moveTo>
                      <a:pt x="0" y="21600"/>
                    </a:moveTo>
                    <a:cubicBezTo>
                      <a:pt x="0" y="9670"/>
                      <a:pt x="9670" y="0"/>
                      <a:pt x="21600" y="0"/>
                    </a:cubicBezTo>
                    <a:cubicBezTo>
                      <a:pt x="33529" y="0"/>
                      <a:pt x="43200" y="9670"/>
                      <a:pt x="43200" y="21599"/>
                    </a:cubicBezTo>
                  </a:path>
                  <a:path extrusionOk="0" h="21600" w="43200">
                    <a:moveTo>
                      <a:pt x="0" y="21600"/>
                    </a:moveTo>
                    <a:cubicBezTo>
                      <a:pt x="0" y="9670"/>
                      <a:pt x="9670" y="0"/>
                      <a:pt x="21600" y="0"/>
                    </a:cubicBezTo>
                    <a:cubicBezTo>
                      <a:pt x="33529" y="0"/>
                      <a:pt x="43200" y="9670"/>
                      <a:pt x="43200" y="21599"/>
                    </a:cubicBezTo>
                    <a:lnTo>
                      <a:pt x="21600" y="21600"/>
                    </a:lnTo>
                    <a:close/>
                  </a:path>
                </a:pathLst>
              </a:custGeom>
              <a:noFill/>
              <a:ln cap="flat" cmpd="sng" w="31750">
                <a:solidFill>
                  <a:srgbClr val="C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165" name="Google Shape;1165;p36"/>
              <p:cNvCxnSpPr/>
              <p:nvPr/>
            </p:nvCxnSpPr>
            <p:spPr>
              <a:xfrm>
                <a:off x="8498" y="5738"/>
                <a:ext cx="1080" cy="0"/>
              </a:xfrm>
              <a:prstGeom prst="straightConnector1">
                <a:avLst/>
              </a:prstGeom>
              <a:noFill/>
              <a:ln cap="flat" cmpd="sng" w="31750">
                <a:solidFill>
                  <a:srgbClr val="C00000"/>
                </a:solidFill>
                <a:prstDash val="solid"/>
                <a:round/>
                <a:headEnd len="med" w="med" type="none"/>
                <a:tailEnd len="med" w="med" type="none"/>
              </a:ln>
            </p:spPr>
          </p:cxnSp>
        </p:grpSp>
        <p:sp>
          <p:nvSpPr>
            <p:cNvPr id="1166" name="Google Shape;1166;p36"/>
            <p:cNvSpPr/>
            <p:nvPr/>
          </p:nvSpPr>
          <p:spPr>
            <a:xfrm flipH="1" rot="10800000">
              <a:off x="6182" y="2096"/>
              <a:ext cx="961" cy="720"/>
            </a:xfrm>
            <a:custGeom>
              <a:rect b="b" l="l" r="r" t="t"/>
              <a:pathLst>
                <a:path extrusionOk="0" fill="none" h="21600" w="43200">
                  <a:moveTo>
                    <a:pt x="0" y="21600"/>
                  </a:moveTo>
                  <a:cubicBezTo>
                    <a:pt x="0" y="9670"/>
                    <a:pt x="9670" y="0"/>
                    <a:pt x="21600" y="0"/>
                  </a:cubicBezTo>
                  <a:cubicBezTo>
                    <a:pt x="33529" y="0"/>
                    <a:pt x="43200" y="9670"/>
                    <a:pt x="43200" y="21599"/>
                  </a:cubicBezTo>
                </a:path>
                <a:path extrusionOk="0" h="21600" w="43200">
                  <a:moveTo>
                    <a:pt x="0" y="21600"/>
                  </a:moveTo>
                  <a:cubicBezTo>
                    <a:pt x="0" y="9670"/>
                    <a:pt x="9670" y="0"/>
                    <a:pt x="21600" y="0"/>
                  </a:cubicBezTo>
                  <a:cubicBezTo>
                    <a:pt x="33529" y="0"/>
                    <a:pt x="43200" y="9670"/>
                    <a:pt x="43200" y="21599"/>
                  </a:cubicBezTo>
                  <a:lnTo>
                    <a:pt x="21600" y="21600"/>
                  </a:lnTo>
                  <a:close/>
                </a:path>
              </a:pathLst>
            </a:custGeom>
            <a:noFill/>
            <a:ln cap="flat" cmpd="sng" w="31750">
              <a:solidFill>
                <a:srgbClr val="C00000"/>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7" name="Google Shape;1167;p36"/>
            <p:cNvSpPr/>
            <p:nvPr/>
          </p:nvSpPr>
          <p:spPr>
            <a:xfrm>
              <a:off x="7142" y="1469"/>
              <a:ext cx="961" cy="720"/>
            </a:xfrm>
            <a:custGeom>
              <a:rect b="b" l="l" r="r" t="t"/>
              <a:pathLst>
                <a:path extrusionOk="0" fill="none" h="21600" w="43200">
                  <a:moveTo>
                    <a:pt x="0" y="21600"/>
                  </a:moveTo>
                  <a:cubicBezTo>
                    <a:pt x="0" y="9670"/>
                    <a:pt x="9670" y="0"/>
                    <a:pt x="21600" y="0"/>
                  </a:cubicBezTo>
                  <a:cubicBezTo>
                    <a:pt x="33529" y="0"/>
                    <a:pt x="43200" y="9670"/>
                    <a:pt x="43200" y="21599"/>
                  </a:cubicBezTo>
                </a:path>
                <a:path extrusionOk="0" h="21600" w="43200">
                  <a:moveTo>
                    <a:pt x="0" y="21600"/>
                  </a:moveTo>
                  <a:cubicBezTo>
                    <a:pt x="0" y="9670"/>
                    <a:pt x="9670" y="0"/>
                    <a:pt x="21600" y="0"/>
                  </a:cubicBezTo>
                  <a:cubicBezTo>
                    <a:pt x="33529" y="0"/>
                    <a:pt x="43200" y="9670"/>
                    <a:pt x="43200" y="21599"/>
                  </a:cubicBezTo>
                  <a:lnTo>
                    <a:pt x="21600" y="21600"/>
                  </a:lnTo>
                  <a:close/>
                </a:path>
              </a:pathLst>
            </a:custGeom>
            <a:noFill/>
            <a:ln cap="flat" cmpd="sng" w="31750">
              <a:solidFill>
                <a:srgbClr val="C00000"/>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8" name="Google Shape;1168;p36"/>
            <p:cNvSpPr/>
            <p:nvPr/>
          </p:nvSpPr>
          <p:spPr>
            <a:xfrm flipH="1" rot="10800000">
              <a:off x="8102" y="2096"/>
              <a:ext cx="961" cy="720"/>
            </a:xfrm>
            <a:custGeom>
              <a:rect b="b" l="l" r="r" t="t"/>
              <a:pathLst>
                <a:path extrusionOk="0" fill="none" h="21600" w="43200">
                  <a:moveTo>
                    <a:pt x="0" y="21600"/>
                  </a:moveTo>
                  <a:cubicBezTo>
                    <a:pt x="0" y="9670"/>
                    <a:pt x="9670" y="0"/>
                    <a:pt x="21600" y="0"/>
                  </a:cubicBezTo>
                  <a:cubicBezTo>
                    <a:pt x="33529" y="0"/>
                    <a:pt x="43200" y="9670"/>
                    <a:pt x="43200" y="21599"/>
                  </a:cubicBezTo>
                </a:path>
                <a:path extrusionOk="0" h="21600" w="43200">
                  <a:moveTo>
                    <a:pt x="0" y="21600"/>
                  </a:moveTo>
                  <a:cubicBezTo>
                    <a:pt x="0" y="9670"/>
                    <a:pt x="9670" y="0"/>
                    <a:pt x="21600" y="0"/>
                  </a:cubicBezTo>
                  <a:cubicBezTo>
                    <a:pt x="33529" y="0"/>
                    <a:pt x="43200" y="9670"/>
                    <a:pt x="43200" y="21599"/>
                  </a:cubicBezTo>
                  <a:lnTo>
                    <a:pt x="21600" y="21600"/>
                  </a:lnTo>
                  <a:close/>
                </a:path>
              </a:pathLst>
            </a:custGeom>
            <a:noFill/>
            <a:ln cap="flat" cmpd="sng" w="31750">
              <a:solidFill>
                <a:srgbClr val="C00000"/>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169" name="Google Shape;1169;p36"/>
            <p:cNvGrpSpPr/>
            <p:nvPr/>
          </p:nvGrpSpPr>
          <p:grpSpPr>
            <a:xfrm flipH="1" rot="10800000">
              <a:off x="6168" y="1469"/>
              <a:ext cx="2881" cy="1440"/>
              <a:chOff x="7552" y="4223"/>
              <a:chExt cx="2881" cy="1440"/>
            </a:xfrm>
          </p:grpSpPr>
          <p:sp>
            <p:nvSpPr>
              <p:cNvPr id="1170" name="Google Shape;1170;p36"/>
              <p:cNvSpPr/>
              <p:nvPr/>
            </p:nvSpPr>
            <p:spPr>
              <a:xfrm flipH="1" rot="10800000">
                <a:off x="7552" y="4943"/>
                <a:ext cx="961" cy="720"/>
              </a:xfrm>
              <a:custGeom>
                <a:rect b="b" l="l" r="r" t="t"/>
                <a:pathLst>
                  <a:path extrusionOk="0" fill="none" h="21600" w="43200">
                    <a:moveTo>
                      <a:pt x="0" y="21600"/>
                    </a:moveTo>
                    <a:cubicBezTo>
                      <a:pt x="0" y="9670"/>
                      <a:pt x="9670" y="0"/>
                      <a:pt x="21600" y="0"/>
                    </a:cubicBezTo>
                    <a:cubicBezTo>
                      <a:pt x="33529" y="0"/>
                      <a:pt x="43200" y="9670"/>
                      <a:pt x="43200" y="21599"/>
                    </a:cubicBezTo>
                  </a:path>
                  <a:path extrusionOk="0" h="21600" w="43200">
                    <a:moveTo>
                      <a:pt x="0" y="21600"/>
                    </a:moveTo>
                    <a:cubicBezTo>
                      <a:pt x="0" y="9670"/>
                      <a:pt x="9670" y="0"/>
                      <a:pt x="21600" y="0"/>
                    </a:cubicBezTo>
                    <a:cubicBezTo>
                      <a:pt x="33529" y="0"/>
                      <a:pt x="43200" y="9670"/>
                      <a:pt x="43200" y="21599"/>
                    </a:cubicBezTo>
                    <a:lnTo>
                      <a:pt x="21600" y="21600"/>
                    </a:lnTo>
                    <a:close/>
                  </a:path>
                </a:pathLst>
              </a:custGeom>
              <a:noFill/>
              <a:ln cap="flat" cmpd="sng" w="31750">
                <a:solidFill>
                  <a:srgbClr val="00B0F0"/>
                </a:solidFill>
                <a:prstDash val="lg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1" name="Google Shape;1171;p36"/>
              <p:cNvSpPr/>
              <p:nvPr/>
            </p:nvSpPr>
            <p:spPr>
              <a:xfrm>
                <a:off x="8512" y="4223"/>
                <a:ext cx="961" cy="720"/>
              </a:xfrm>
              <a:custGeom>
                <a:rect b="b" l="l" r="r" t="t"/>
                <a:pathLst>
                  <a:path extrusionOk="0" fill="none" h="21600" w="43200">
                    <a:moveTo>
                      <a:pt x="0" y="21600"/>
                    </a:moveTo>
                    <a:cubicBezTo>
                      <a:pt x="0" y="9670"/>
                      <a:pt x="9670" y="0"/>
                      <a:pt x="21600" y="0"/>
                    </a:cubicBezTo>
                    <a:cubicBezTo>
                      <a:pt x="33529" y="0"/>
                      <a:pt x="43200" y="9670"/>
                      <a:pt x="43200" y="21599"/>
                    </a:cubicBezTo>
                  </a:path>
                  <a:path extrusionOk="0" h="21600" w="43200">
                    <a:moveTo>
                      <a:pt x="0" y="21600"/>
                    </a:moveTo>
                    <a:cubicBezTo>
                      <a:pt x="0" y="9670"/>
                      <a:pt x="9670" y="0"/>
                      <a:pt x="21600" y="0"/>
                    </a:cubicBezTo>
                    <a:cubicBezTo>
                      <a:pt x="33529" y="0"/>
                      <a:pt x="43200" y="9670"/>
                      <a:pt x="43200" y="21599"/>
                    </a:cubicBezTo>
                    <a:lnTo>
                      <a:pt x="21600" y="21600"/>
                    </a:lnTo>
                    <a:close/>
                  </a:path>
                </a:pathLst>
              </a:custGeom>
              <a:noFill/>
              <a:ln cap="flat" cmpd="sng" w="31750">
                <a:solidFill>
                  <a:srgbClr val="00B0F0"/>
                </a:solidFill>
                <a:prstDash val="lg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2" name="Google Shape;1172;p36"/>
              <p:cNvSpPr/>
              <p:nvPr/>
            </p:nvSpPr>
            <p:spPr>
              <a:xfrm flipH="1" rot="10800000">
                <a:off x="9472" y="4943"/>
                <a:ext cx="961" cy="720"/>
              </a:xfrm>
              <a:custGeom>
                <a:rect b="b" l="l" r="r" t="t"/>
                <a:pathLst>
                  <a:path extrusionOk="0" fill="none" h="21600" w="43200">
                    <a:moveTo>
                      <a:pt x="0" y="21600"/>
                    </a:moveTo>
                    <a:cubicBezTo>
                      <a:pt x="0" y="9670"/>
                      <a:pt x="9670" y="0"/>
                      <a:pt x="21600" y="0"/>
                    </a:cubicBezTo>
                    <a:cubicBezTo>
                      <a:pt x="33529" y="0"/>
                      <a:pt x="43200" y="9670"/>
                      <a:pt x="43200" y="21599"/>
                    </a:cubicBezTo>
                  </a:path>
                  <a:path extrusionOk="0" h="21600" w="43200">
                    <a:moveTo>
                      <a:pt x="0" y="21600"/>
                    </a:moveTo>
                    <a:cubicBezTo>
                      <a:pt x="0" y="9670"/>
                      <a:pt x="9670" y="0"/>
                      <a:pt x="21600" y="0"/>
                    </a:cubicBezTo>
                    <a:cubicBezTo>
                      <a:pt x="33529" y="0"/>
                      <a:pt x="43200" y="9670"/>
                      <a:pt x="43200" y="21599"/>
                    </a:cubicBezTo>
                    <a:lnTo>
                      <a:pt x="21600" y="21600"/>
                    </a:lnTo>
                    <a:close/>
                  </a:path>
                </a:pathLst>
              </a:custGeom>
              <a:noFill/>
              <a:ln cap="flat" cmpd="sng" w="31750">
                <a:solidFill>
                  <a:srgbClr val="00B0F0"/>
                </a:solidFill>
                <a:prstDash val="lg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1173" name="Google Shape;1173;p36"/>
            <p:cNvCxnSpPr/>
            <p:nvPr/>
          </p:nvCxnSpPr>
          <p:spPr>
            <a:xfrm rot="10800000">
              <a:off x="4488" y="2111"/>
              <a:ext cx="1680" cy="0"/>
            </a:xfrm>
            <a:prstGeom prst="straightConnector1">
              <a:avLst/>
            </a:prstGeom>
            <a:noFill/>
            <a:ln cap="flat" cmpd="sng" w="31750">
              <a:solidFill>
                <a:srgbClr val="00B0F0"/>
              </a:solidFill>
              <a:prstDash val="lgDash"/>
              <a:round/>
              <a:headEnd len="med" w="med" type="none"/>
              <a:tailEnd len="med" w="med" type="none"/>
            </a:ln>
          </p:spPr>
        </p:cxnSp>
      </p:grpSp>
      <p:sp>
        <p:nvSpPr>
          <p:cNvPr id="1174" name="Google Shape;1174;p36"/>
          <p:cNvSpPr/>
          <p:nvPr/>
        </p:nvSpPr>
        <p:spPr>
          <a:xfrm>
            <a:off x="0" y="0"/>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5" name="Google Shape;1175;p36"/>
          <p:cNvSpPr/>
          <p:nvPr/>
        </p:nvSpPr>
        <p:spPr>
          <a:xfrm>
            <a:off x="293105" y="3367603"/>
            <a:ext cx="11406524" cy="2062103"/>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Consider working this problem by splitting waveform.</a:t>
            </a:r>
            <a:endParaRPr b="0" i="0" sz="32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Can be considered as been built up of a causal sine wave starting at t = 0, and a negative of sine wave starting at T/2.</a:t>
            </a:r>
            <a:endParaRPr b="0" i="0" sz="32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Thus the  transform of the waveform is given by</a:t>
            </a:r>
            <a:endParaRPr b="0" i="0" sz="3200" u="none" cap="none" strike="noStrike">
              <a:solidFill>
                <a:schemeClr val="dk1"/>
              </a:solidFill>
              <a:latin typeface="Times New Roman"/>
              <a:ea typeface="Times New Roman"/>
              <a:cs typeface="Times New Roman"/>
              <a:sym typeface="Times New Roman"/>
            </a:endParaRPr>
          </a:p>
        </p:txBody>
      </p:sp>
      <p:sp>
        <p:nvSpPr>
          <p:cNvPr id="1176" name="Google Shape;1176;p36"/>
          <p:cNvSpPr/>
          <p:nvPr/>
        </p:nvSpPr>
        <p:spPr>
          <a:xfrm>
            <a:off x="6173217" y="5894937"/>
            <a:ext cx="974394" cy="58477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Arial"/>
              <a:buNone/>
            </a:pPr>
            <a:r>
              <a:rPr b="0" i="0" lang="en-GB" sz="3200" u="none" cap="none" strike="noStrike">
                <a:solidFill>
                  <a:srgbClr val="002060"/>
                </a:solidFill>
                <a:latin typeface="Arial"/>
                <a:ea typeface="Arial"/>
                <a:cs typeface="Arial"/>
                <a:sym typeface="Arial"/>
              </a:rPr>
              <a:t> = </a:t>
            </a:r>
            <a:endParaRPr b="0" i="0" sz="1600" u="none" cap="none" strike="noStrike">
              <a:solidFill>
                <a:schemeClr val="dk1"/>
              </a:solidFill>
              <a:latin typeface="Arial"/>
              <a:ea typeface="Arial"/>
              <a:cs typeface="Arial"/>
              <a:sym typeface="Arial"/>
            </a:endParaRPr>
          </a:p>
        </p:txBody>
      </p:sp>
      <p:sp>
        <p:nvSpPr>
          <p:cNvPr id="1177" name="Google Shape;1177;p36"/>
          <p:cNvSpPr/>
          <p:nvPr/>
        </p:nvSpPr>
        <p:spPr>
          <a:xfrm>
            <a:off x="182662" y="5833381"/>
            <a:ext cx="189667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3600">
                <a:solidFill>
                  <a:srgbClr val="002060"/>
                </a:solidFill>
                <a:latin typeface="Arial"/>
                <a:ea typeface="Arial"/>
                <a:cs typeface="Arial"/>
                <a:sym typeface="Arial"/>
              </a:rPr>
              <a:t>L</a:t>
            </a:r>
            <a:r>
              <a:rPr lang="en-GB" sz="3600">
                <a:solidFill>
                  <a:srgbClr val="002060"/>
                </a:solidFill>
                <a:latin typeface="Calibri"/>
                <a:ea typeface="Calibri"/>
                <a:cs typeface="Calibri"/>
                <a:sym typeface="Calibri"/>
              </a:rPr>
              <a:t> [f(t)] = </a:t>
            </a:r>
            <a:endParaRPr sz="1800">
              <a:solidFill>
                <a:schemeClr val="dk1"/>
              </a:solidFill>
              <a:latin typeface="Calibri"/>
              <a:ea typeface="Calibri"/>
              <a:cs typeface="Calibri"/>
              <a:sym typeface="Calibri"/>
            </a:endParaRPr>
          </a:p>
        </p:txBody>
      </p:sp>
      <p:sp>
        <p:nvSpPr>
          <p:cNvPr id="1178" name="Google Shape;1178;p36"/>
          <p:cNvSpPr/>
          <p:nvPr/>
        </p:nvSpPr>
        <p:spPr>
          <a:xfrm>
            <a:off x="317318" y="504381"/>
            <a:ext cx="723275"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GB" sz="3600">
                <a:solidFill>
                  <a:srgbClr val="002060"/>
                </a:solidFill>
                <a:latin typeface="Times New Roman"/>
                <a:ea typeface="Times New Roman"/>
                <a:cs typeface="Times New Roman"/>
                <a:sym typeface="Times New Roman"/>
              </a:rPr>
              <a:t>(b)</a:t>
            </a:r>
            <a:endParaRPr sz="1100">
              <a:solidFill>
                <a:srgbClr val="000000"/>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37"/>
          <p:cNvSpPr txBox="1"/>
          <p:nvPr>
            <p:ph type="title"/>
          </p:nvPr>
        </p:nvSpPr>
        <p:spPr>
          <a:xfrm>
            <a:off x="429715" y="457199"/>
            <a:ext cx="10924085" cy="55179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3200"/>
              <a:buFont typeface="Times New Roman"/>
              <a:buNone/>
            </a:pPr>
            <a:r>
              <a:rPr i="1" lang="en-GB"/>
              <a:t>Example 2</a:t>
            </a:r>
            <a:endParaRPr/>
          </a:p>
        </p:txBody>
      </p:sp>
      <p:sp>
        <p:nvSpPr>
          <p:cNvPr id="1184" name="Google Shape;1184;p37"/>
          <p:cNvSpPr/>
          <p:nvPr/>
        </p:nvSpPr>
        <p:spPr>
          <a:xfrm>
            <a:off x="77109" y="845595"/>
            <a:ext cx="8229593" cy="452431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Determine the transient voltage appearing  across capacitor when switch is closed at time t = 0.</a:t>
            </a:r>
            <a:endParaRPr b="0" i="0" sz="3200" u="none" cap="none" strike="noStrike">
              <a:solidFill>
                <a:schemeClr val="dk1"/>
              </a:solidFill>
              <a:latin typeface="Times New Roman"/>
              <a:ea typeface="Times New Roman"/>
              <a:cs typeface="Times New Roman"/>
              <a:sym typeface="Times New Roman"/>
            </a:endParaRPr>
          </a:p>
          <a:p>
            <a:pPr indent="457200" lvl="0" marL="0" marR="0" rtl="0" algn="l">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Capacitor C is initially uncharged.</a:t>
            </a:r>
            <a:endParaRPr b="0" i="0" sz="3200" u="none" cap="none" strike="noStrike">
              <a:solidFill>
                <a:schemeClr val="dk1"/>
              </a:solidFill>
              <a:latin typeface="Times New Roman"/>
              <a:ea typeface="Times New Roman"/>
              <a:cs typeface="Times New Roman"/>
              <a:sym typeface="Times New Roman"/>
            </a:endParaRPr>
          </a:p>
          <a:p>
            <a:pPr indent="457200" lvl="0" marL="0" marR="0" rtl="0" algn="l">
              <a:lnSpc>
                <a:spcPct val="100000"/>
              </a:lnSpc>
              <a:spcBef>
                <a:spcPts val="0"/>
              </a:spcBef>
              <a:spcAft>
                <a:spcPts val="0"/>
              </a:spcAft>
              <a:buClr>
                <a:srgbClr val="C00000"/>
              </a:buClr>
              <a:buSzPts val="3200"/>
              <a:buFont typeface="Times New Roman"/>
              <a:buNone/>
            </a:pPr>
            <a:r>
              <a:rPr b="1" i="1" lang="en-GB" sz="3200" u="none" cap="none" strike="noStrike">
                <a:solidFill>
                  <a:srgbClr val="C00000"/>
                </a:solidFill>
                <a:latin typeface="Times New Roman"/>
                <a:ea typeface="Times New Roman"/>
                <a:cs typeface="Times New Roman"/>
                <a:sym typeface="Times New Roman"/>
              </a:rPr>
              <a:t>Solution</a:t>
            </a:r>
            <a:endParaRPr b="1" i="0" sz="3200" u="none" cap="none" strike="noStrike">
              <a:solidFill>
                <a:srgbClr val="C00000"/>
              </a:solidFill>
              <a:latin typeface="Times New Roman"/>
              <a:ea typeface="Times New Roman"/>
              <a:cs typeface="Times New Roman"/>
              <a:sym typeface="Times New Roman"/>
            </a:endParaRPr>
          </a:p>
          <a:p>
            <a:pPr indent="457200" lvl="0" marL="0" marR="0" rtl="0" algn="l">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Transformed circuit  is  shown.  Capacitor has not been associated with a source as there is no initial charge  (or voltage) on the capacitor.</a:t>
            </a:r>
            <a:endParaRPr b="0" i="0" sz="3200" u="none" cap="none" strike="noStrike">
              <a:solidFill>
                <a:schemeClr val="dk1"/>
              </a:solidFill>
              <a:latin typeface="Times New Roman"/>
              <a:ea typeface="Times New Roman"/>
              <a:cs typeface="Times New Roman"/>
              <a:sym typeface="Times New Roman"/>
            </a:endParaRPr>
          </a:p>
          <a:p>
            <a:pPr indent="457200" lvl="0" marL="0" marR="0" rtl="0" algn="l">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Using potential divider action</a:t>
            </a:r>
            <a:endParaRPr b="0" i="0" sz="3200" u="none" cap="none" strike="noStrike">
              <a:solidFill>
                <a:schemeClr val="dk1"/>
              </a:solidFill>
              <a:latin typeface="Times New Roman"/>
              <a:ea typeface="Times New Roman"/>
              <a:cs typeface="Times New Roman"/>
              <a:sym typeface="Times New Roman"/>
            </a:endParaRPr>
          </a:p>
          <a:p>
            <a:pPr indent="457200" lvl="0" marL="0" marR="0" rtl="0" algn="l">
              <a:lnSpc>
                <a:spcPct val="100000"/>
              </a:lnSpc>
              <a:spcBef>
                <a:spcPts val="0"/>
              </a:spcBef>
              <a:spcAft>
                <a:spcPts val="0"/>
              </a:spcAft>
              <a:buClr>
                <a:schemeClr val="dk1"/>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p:txBody>
      </p:sp>
      <p:pic>
        <p:nvPicPr>
          <p:cNvPr id="1185" name="Google Shape;1185;p37"/>
          <p:cNvPicPr preferRelativeResize="0"/>
          <p:nvPr/>
        </p:nvPicPr>
        <p:blipFill rotWithShape="1">
          <a:blip r:embed="rId3">
            <a:alphaModFix/>
          </a:blip>
          <a:srcRect b="0" l="0" r="0" t="0"/>
          <a:stretch/>
        </p:blipFill>
        <p:spPr>
          <a:xfrm>
            <a:off x="609599" y="4697229"/>
            <a:ext cx="5824371" cy="1703571"/>
          </a:xfrm>
          <a:prstGeom prst="rect">
            <a:avLst/>
          </a:prstGeom>
          <a:noFill/>
          <a:ln>
            <a:noFill/>
          </a:ln>
        </p:spPr>
      </p:pic>
      <p:sp>
        <p:nvSpPr>
          <p:cNvPr id="1186" name="Google Shape;1186;p37"/>
          <p:cNvSpPr/>
          <p:nvPr/>
        </p:nvSpPr>
        <p:spPr>
          <a:xfrm>
            <a:off x="7666964" y="3875847"/>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187" name="Google Shape;1187;p37"/>
          <p:cNvGrpSpPr/>
          <p:nvPr/>
        </p:nvGrpSpPr>
        <p:grpSpPr>
          <a:xfrm>
            <a:off x="7756264" y="421623"/>
            <a:ext cx="4348112" cy="4779629"/>
            <a:chOff x="7756264" y="421623"/>
            <a:chExt cx="4348112" cy="4779629"/>
          </a:xfrm>
        </p:grpSpPr>
        <p:grpSp>
          <p:nvGrpSpPr>
            <p:cNvPr id="1188" name="Google Shape;1188;p37"/>
            <p:cNvGrpSpPr/>
            <p:nvPr/>
          </p:nvGrpSpPr>
          <p:grpSpPr>
            <a:xfrm>
              <a:off x="7756264" y="421623"/>
              <a:ext cx="4348112" cy="4779629"/>
              <a:chOff x="6698" y="7433"/>
              <a:chExt cx="4073" cy="4336"/>
            </a:xfrm>
          </p:grpSpPr>
          <p:sp>
            <p:nvSpPr>
              <p:cNvPr id="1189" name="Google Shape;1189;p37"/>
              <p:cNvSpPr/>
              <p:nvPr/>
            </p:nvSpPr>
            <p:spPr>
              <a:xfrm>
                <a:off x="7658" y="8513"/>
                <a:ext cx="480" cy="480"/>
              </a:xfrm>
              <a:prstGeom prst="ellipse">
                <a:avLst/>
              </a:pr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190" name="Google Shape;1190;p37"/>
              <p:cNvCxnSpPr/>
              <p:nvPr/>
            </p:nvCxnSpPr>
            <p:spPr>
              <a:xfrm rot="10800000">
                <a:off x="7898" y="7973"/>
                <a:ext cx="0" cy="540"/>
              </a:xfrm>
              <a:prstGeom prst="straightConnector1">
                <a:avLst/>
              </a:prstGeom>
              <a:noFill/>
              <a:ln cap="flat" cmpd="sng" w="31750">
                <a:solidFill>
                  <a:srgbClr val="002060"/>
                </a:solidFill>
                <a:prstDash val="solid"/>
                <a:round/>
                <a:headEnd len="med" w="med" type="none"/>
                <a:tailEnd len="med" w="med" type="none"/>
              </a:ln>
            </p:spPr>
          </p:cxnSp>
          <p:cxnSp>
            <p:nvCxnSpPr>
              <p:cNvPr id="1191" name="Google Shape;1191;p37"/>
              <p:cNvCxnSpPr/>
              <p:nvPr/>
            </p:nvCxnSpPr>
            <p:spPr>
              <a:xfrm rot="10800000">
                <a:off x="7898" y="8963"/>
                <a:ext cx="0" cy="615"/>
              </a:xfrm>
              <a:prstGeom prst="straightConnector1">
                <a:avLst/>
              </a:prstGeom>
              <a:noFill/>
              <a:ln cap="flat" cmpd="sng" w="31750">
                <a:solidFill>
                  <a:srgbClr val="002060"/>
                </a:solidFill>
                <a:prstDash val="solid"/>
                <a:round/>
                <a:headEnd len="med" w="med" type="none"/>
                <a:tailEnd len="med" w="med" type="none"/>
              </a:ln>
            </p:spPr>
          </p:cxnSp>
          <p:cxnSp>
            <p:nvCxnSpPr>
              <p:cNvPr id="1192" name="Google Shape;1192;p37"/>
              <p:cNvCxnSpPr/>
              <p:nvPr/>
            </p:nvCxnSpPr>
            <p:spPr>
              <a:xfrm>
                <a:off x="7898" y="7973"/>
                <a:ext cx="360" cy="0"/>
              </a:xfrm>
              <a:prstGeom prst="straightConnector1">
                <a:avLst/>
              </a:prstGeom>
              <a:noFill/>
              <a:ln cap="flat" cmpd="sng" w="31750">
                <a:solidFill>
                  <a:srgbClr val="002060"/>
                </a:solidFill>
                <a:prstDash val="solid"/>
                <a:round/>
                <a:headEnd len="med" w="med" type="none"/>
                <a:tailEnd len="med" w="med" type="none"/>
              </a:ln>
            </p:spPr>
          </p:cxnSp>
          <p:cxnSp>
            <p:nvCxnSpPr>
              <p:cNvPr id="1193" name="Google Shape;1193;p37"/>
              <p:cNvCxnSpPr/>
              <p:nvPr/>
            </p:nvCxnSpPr>
            <p:spPr>
              <a:xfrm flipH="1" rot="10800000">
                <a:off x="8258" y="7733"/>
                <a:ext cx="240" cy="240"/>
              </a:xfrm>
              <a:prstGeom prst="straightConnector1">
                <a:avLst/>
              </a:prstGeom>
              <a:noFill/>
              <a:ln cap="flat" cmpd="sng" w="31750">
                <a:solidFill>
                  <a:srgbClr val="002060"/>
                </a:solidFill>
                <a:prstDash val="solid"/>
                <a:round/>
                <a:headEnd len="med" w="med" type="none"/>
                <a:tailEnd len="med" w="med" type="oval"/>
              </a:ln>
            </p:spPr>
          </p:cxnSp>
          <p:grpSp>
            <p:nvGrpSpPr>
              <p:cNvPr id="1194" name="Google Shape;1194;p37"/>
              <p:cNvGrpSpPr/>
              <p:nvPr/>
            </p:nvGrpSpPr>
            <p:grpSpPr>
              <a:xfrm>
                <a:off x="8498" y="7799"/>
                <a:ext cx="1440" cy="361"/>
                <a:chOff x="1658" y="2144"/>
                <a:chExt cx="1440" cy="361"/>
              </a:xfrm>
            </p:grpSpPr>
            <p:cxnSp>
              <p:nvCxnSpPr>
                <p:cNvPr id="1195" name="Google Shape;1195;p37"/>
                <p:cNvCxnSpPr/>
                <p:nvPr/>
              </p:nvCxnSpPr>
              <p:spPr>
                <a:xfrm>
                  <a:off x="1658" y="2318"/>
                  <a:ext cx="360" cy="0"/>
                </a:xfrm>
                <a:prstGeom prst="straightConnector1">
                  <a:avLst/>
                </a:prstGeom>
                <a:noFill/>
                <a:ln cap="flat" cmpd="sng" w="31750">
                  <a:solidFill>
                    <a:srgbClr val="002060"/>
                  </a:solidFill>
                  <a:prstDash val="solid"/>
                  <a:round/>
                  <a:headEnd len="med" w="med" type="none"/>
                  <a:tailEnd len="med" w="med" type="none"/>
                </a:ln>
              </p:spPr>
            </p:cxnSp>
            <p:grpSp>
              <p:nvGrpSpPr>
                <p:cNvPr id="1196" name="Google Shape;1196;p37"/>
                <p:cNvGrpSpPr/>
                <p:nvPr/>
              </p:nvGrpSpPr>
              <p:grpSpPr>
                <a:xfrm>
                  <a:off x="2018" y="2144"/>
                  <a:ext cx="720" cy="361"/>
                  <a:chOff x="2018" y="2138"/>
                  <a:chExt cx="1200" cy="357"/>
                </a:xfrm>
              </p:grpSpPr>
              <p:cxnSp>
                <p:nvCxnSpPr>
                  <p:cNvPr id="1197" name="Google Shape;1197;p37"/>
                  <p:cNvCxnSpPr/>
                  <p:nvPr/>
                </p:nvCxnSpPr>
                <p:spPr>
                  <a:xfrm flipH="1" rot="10800000">
                    <a:off x="2018" y="2138"/>
                    <a:ext cx="120" cy="180"/>
                  </a:xfrm>
                  <a:prstGeom prst="straightConnector1">
                    <a:avLst/>
                  </a:prstGeom>
                  <a:noFill/>
                  <a:ln cap="flat" cmpd="sng" w="31750">
                    <a:solidFill>
                      <a:srgbClr val="002060"/>
                    </a:solidFill>
                    <a:prstDash val="solid"/>
                    <a:round/>
                    <a:headEnd len="med" w="med" type="none"/>
                    <a:tailEnd len="med" w="med" type="none"/>
                  </a:ln>
                </p:spPr>
              </p:cxnSp>
              <p:cxnSp>
                <p:nvCxnSpPr>
                  <p:cNvPr id="1198" name="Google Shape;1198;p37"/>
                  <p:cNvCxnSpPr/>
                  <p:nvPr/>
                </p:nvCxnSpPr>
                <p:spPr>
                  <a:xfrm rot="10800000">
                    <a:off x="3098" y="2138"/>
                    <a:ext cx="120" cy="180"/>
                  </a:xfrm>
                  <a:prstGeom prst="straightConnector1">
                    <a:avLst/>
                  </a:prstGeom>
                  <a:noFill/>
                  <a:ln cap="flat" cmpd="sng" w="31750">
                    <a:solidFill>
                      <a:srgbClr val="002060"/>
                    </a:solidFill>
                    <a:prstDash val="solid"/>
                    <a:round/>
                    <a:headEnd len="med" w="med" type="none"/>
                    <a:tailEnd len="med" w="med" type="none"/>
                  </a:ln>
                </p:spPr>
              </p:cxnSp>
              <p:cxnSp>
                <p:nvCxnSpPr>
                  <p:cNvPr id="1199" name="Google Shape;1199;p37"/>
                  <p:cNvCxnSpPr/>
                  <p:nvPr/>
                </p:nvCxnSpPr>
                <p:spPr>
                  <a:xfrm rot="10800000">
                    <a:off x="2125" y="2138"/>
                    <a:ext cx="238" cy="357"/>
                  </a:xfrm>
                  <a:prstGeom prst="straightConnector1">
                    <a:avLst/>
                  </a:prstGeom>
                  <a:noFill/>
                  <a:ln cap="flat" cmpd="sng" w="31750">
                    <a:solidFill>
                      <a:srgbClr val="002060"/>
                    </a:solidFill>
                    <a:prstDash val="solid"/>
                    <a:round/>
                    <a:headEnd len="med" w="med" type="none"/>
                    <a:tailEnd len="med" w="med" type="none"/>
                  </a:ln>
                </p:spPr>
              </p:cxnSp>
              <p:cxnSp>
                <p:nvCxnSpPr>
                  <p:cNvPr id="1200" name="Google Shape;1200;p37"/>
                  <p:cNvCxnSpPr/>
                  <p:nvPr/>
                </p:nvCxnSpPr>
                <p:spPr>
                  <a:xfrm flipH="1" rot="10800000">
                    <a:off x="2380" y="2138"/>
                    <a:ext cx="238" cy="357"/>
                  </a:xfrm>
                  <a:prstGeom prst="straightConnector1">
                    <a:avLst/>
                  </a:prstGeom>
                  <a:noFill/>
                  <a:ln cap="flat" cmpd="sng" w="31750">
                    <a:solidFill>
                      <a:srgbClr val="002060"/>
                    </a:solidFill>
                    <a:prstDash val="solid"/>
                    <a:round/>
                    <a:headEnd len="med" w="med" type="none"/>
                    <a:tailEnd len="med" w="med" type="none"/>
                  </a:ln>
                </p:spPr>
              </p:cxnSp>
              <p:cxnSp>
                <p:nvCxnSpPr>
                  <p:cNvPr id="1201" name="Google Shape;1201;p37"/>
                  <p:cNvCxnSpPr/>
                  <p:nvPr/>
                </p:nvCxnSpPr>
                <p:spPr>
                  <a:xfrm rot="10800000">
                    <a:off x="2605" y="2138"/>
                    <a:ext cx="238" cy="357"/>
                  </a:xfrm>
                  <a:prstGeom prst="straightConnector1">
                    <a:avLst/>
                  </a:prstGeom>
                  <a:noFill/>
                  <a:ln cap="flat" cmpd="sng" w="31750">
                    <a:solidFill>
                      <a:srgbClr val="002060"/>
                    </a:solidFill>
                    <a:prstDash val="solid"/>
                    <a:round/>
                    <a:headEnd len="med" w="med" type="none"/>
                    <a:tailEnd len="med" w="med" type="none"/>
                  </a:ln>
                </p:spPr>
              </p:cxnSp>
              <p:cxnSp>
                <p:nvCxnSpPr>
                  <p:cNvPr id="1202" name="Google Shape;1202;p37"/>
                  <p:cNvCxnSpPr/>
                  <p:nvPr/>
                </p:nvCxnSpPr>
                <p:spPr>
                  <a:xfrm flipH="1" rot="10800000">
                    <a:off x="2860" y="2138"/>
                    <a:ext cx="238" cy="357"/>
                  </a:xfrm>
                  <a:prstGeom prst="straightConnector1">
                    <a:avLst/>
                  </a:prstGeom>
                  <a:noFill/>
                  <a:ln cap="flat" cmpd="sng" w="31750">
                    <a:solidFill>
                      <a:srgbClr val="002060"/>
                    </a:solidFill>
                    <a:prstDash val="solid"/>
                    <a:round/>
                    <a:headEnd len="med" w="med" type="none"/>
                    <a:tailEnd len="med" w="med" type="none"/>
                  </a:ln>
                </p:spPr>
              </p:cxnSp>
            </p:grpSp>
            <p:cxnSp>
              <p:nvCxnSpPr>
                <p:cNvPr id="1203" name="Google Shape;1203;p37"/>
                <p:cNvCxnSpPr/>
                <p:nvPr/>
              </p:nvCxnSpPr>
              <p:spPr>
                <a:xfrm>
                  <a:off x="2738" y="2318"/>
                  <a:ext cx="360" cy="0"/>
                </a:xfrm>
                <a:prstGeom prst="straightConnector1">
                  <a:avLst/>
                </a:prstGeom>
                <a:noFill/>
                <a:ln cap="flat" cmpd="sng" w="31750">
                  <a:solidFill>
                    <a:srgbClr val="002060"/>
                  </a:solidFill>
                  <a:prstDash val="solid"/>
                  <a:round/>
                  <a:headEnd len="med" w="med" type="none"/>
                  <a:tailEnd len="med" w="med" type="none"/>
                </a:ln>
              </p:spPr>
            </p:cxnSp>
          </p:grpSp>
          <p:grpSp>
            <p:nvGrpSpPr>
              <p:cNvPr id="1204" name="Google Shape;1204;p37"/>
              <p:cNvGrpSpPr/>
              <p:nvPr/>
            </p:nvGrpSpPr>
            <p:grpSpPr>
              <a:xfrm rot="-5400000">
                <a:off x="9121" y="8611"/>
                <a:ext cx="1619" cy="369"/>
                <a:chOff x="6218" y="2705"/>
                <a:chExt cx="1320" cy="369"/>
              </a:xfrm>
            </p:grpSpPr>
            <p:cxnSp>
              <p:nvCxnSpPr>
                <p:cNvPr id="1205" name="Google Shape;1205;p37"/>
                <p:cNvCxnSpPr/>
                <p:nvPr/>
              </p:nvCxnSpPr>
              <p:spPr>
                <a:xfrm>
                  <a:off x="6218" y="2882"/>
                  <a:ext cx="600" cy="0"/>
                </a:xfrm>
                <a:prstGeom prst="straightConnector1">
                  <a:avLst/>
                </a:prstGeom>
                <a:noFill/>
                <a:ln cap="flat" cmpd="sng" w="31750">
                  <a:solidFill>
                    <a:srgbClr val="002060"/>
                  </a:solidFill>
                  <a:prstDash val="solid"/>
                  <a:round/>
                  <a:headEnd len="med" w="med" type="none"/>
                  <a:tailEnd len="med" w="med" type="none"/>
                </a:ln>
              </p:spPr>
            </p:cxnSp>
            <p:cxnSp>
              <p:nvCxnSpPr>
                <p:cNvPr id="1206" name="Google Shape;1206;p37"/>
                <p:cNvCxnSpPr/>
                <p:nvPr/>
              </p:nvCxnSpPr>
              <p:spPr>
                <a:xfrm>
                  <a:off x="6938" y="2894"/>
                  <a:ext cx="600" cy="0"/>
                </a:xfrm>
                <a:prstGeom prst="straightConnector1">
                  <a:avLst/>
                </a:prstGeom>
                <a:noFill/>
                <a:ln cap="flat" cmpd="sng" w="31750">
                  <a:solidFill>
                    <a:srgbClr val="002060"/>
                  </a:solidFill>
                  <a:prstDash val="solid"/>
                  <a:round/>
                  <a:headEnd len="med" w="med" type="none"/>
                  <a:tailEnd len="med" w="med" type="none"/>
                </a:ln>
              </p:spPr>
            </p:cxnSp>
            <p:cxnSp>
              <p:nvCxnSpPr>
                <p:cNvPr id="1207" name="Google Shape;1207;p37"/>
                <p:cNvCxnSpPr/>
                <p:nvPr/>
              </p:nvCxnSpPr>
              <p:spPr>
                <a:xfrm>
                  <a:off x="6818" y="2705"/>
                  <a:ext cx="0" cy="360"/>
                </a:xfrm>
                <a:prstGeom prst="straightConnector1">
                  <a:avLst/>
                </a:prstGeom>
                <a:noFill/>
                <a:ln cap="flat" cmpd="sng" w="31750">
                  <a:solidFill>
                    <a:srgbClr val="002060"/>
                  </a:solidFill>
                  <a:prstDash val="solid"/>
                  <a:round/>
                  <a:headEnd len="med" w="med" type="none"/>
                  <a:tailEnd len="med" w="med" type="none"/>
                </a:ln>
              </p:spPr>
            </p:cxnSp>
            <p:cxnSp>
              <p:nvCxnSpPr>
                <p:cNvPr id="1208" name="Google Shape;1208;p37"/>
                <p:cNvCxnSpPr/>
                <p:nvPr/>
              </p:nvCxnSpPr>
              <p:spPr>
                <a:xfrm>
                  <a:off x="6938" y="2714"/>
                  <a:ext cx="0" cy="360"/>
                </a:xfrm>
                <a:prstGeom prst="straightConnector1">
                  <a:avLst/>
                </a:prstGeom>
                <a:noFill/>
                <a:ln cap="flat" cmpd="sng" w="31750">
                  <a:solidFill>
                    <a:srgbClr val="002060"/>
                  </a:solidFill>
                  <a:prstDash val="solid"/>
                  <a:round/>
                  <a:headEnd len="med" w="med" type="none"/>
                  <a:tailEnd len="med" w="med" type="none"/>
                </a:ln>
              </p:spPr>
            </p:cxnSp>
          </p:grpSp>
          <p:sp>
            <p:nvSpPr>
              <p:cNvPr id="1209" name="Google Shape;1209;p37"/>
              <p:cNvSpPr txBox="1"/>
              <p:nvPr/>
            </p:nvSpPr>
            <p:spPr>
              <a:xfrm>
                <a:off x="9098" y="7433"/>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R</a:t>
                </a:r>
                <a:endParaRPr sz="1200">
                  <a:solidFill>
                    <a:schemeClr val="dk1"/>
                  </a:solidFill>
                  <a:latin typeface="Times New Roman"/>
                  <a:ea typeface="Times New Roman"/>
                  <a:cs typeface="Times New Roman"/>
                  <a:sym typeface="Times New Roman"/>
                </a:endParaRPr>
              </a:p>
            </p:txBody>
          </p:sp>
          <p:cxnSp>
            <p:nvCxnSpPr>
              <p:cNvPr id="1210" name="Google Shape;1210;p37"/>
              <p:cNvCxnSpPr/>
              <p:nvPr/>
            </p:nvCxnSpPr>
            <p:spPr>
              <a:xfrm flipH="1">
                <a:off x="10172" y="8505"/>
                <a:ext cx="22" cy="763"/>
              </a:xfrm>
              <a:prstGeom prst="straightConnector1">
                <a:avLst/>
              </a:prstGeom>
              <a:noFill/>
              <a:ln cap="flat" cmpd="sng" w="31750">
                <a:solidFill>
                  <a:srgbClr val="002060"/>
                </a:solidFill>
                <a:prstDash val="solid"/>
                <a:round/>
                <a:headEnd len="med" w="med" type="stealth"/>
                <a:tailEnd len="med" w="med" type="none"/>
              </a:ln>
            </p:spPr>
          </p:cxnSp>
          <p:sp>
            <p:nvSpPr>
              <p:cNvPr id="1211" name="Google Shape;1211;p37"/>
              <p:cNvSpPr txBox="1"/>
              <p:nvPr/>
            </p:nvSpPr>
            <p:spPr>
              <a:xfrm>
                <a:off x="9958" y="7913"/>
                <a:ext cx="694" cy="54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400">
                    <a:solidFill>
                      <a:srgbClr val="002060"/>
                    </a:solidFill>
                    <a:latin typeface="Times New Roman"/>
                    <a:ea typeface="Times New Roman"/>
                    <a:cs typeface="Times New Roman"/>
                    <a:sym typeface="Times New Roman"/>
                  </a:rPr>
                  <a:t>v</a:t>
                </a:r>
                <a:r>
                  <a:rPr baseline="-25000" lang="en-GB" sz="3400">
                    <a:solidFill>
                      <a:srgbClr val="002060"/>
                    </a:solidFill>
                    <a:latin typeface="Times New Roman"/>
                    <a:ea typeface="Times New Roman"/>
                    <a:cs typeface="Times New Roman"/>
                    <a:sym typeface="Times New Roman"/>
                  </a:rPr>
                  <a:t>out</a:t>
                </a:r>
                <a:endParaRPr sz="1200">
                  <a:solidFill>
                    <a:schemeClr val="dk1"/>
                  </a:solidFill>
                  <a:latin typeface="Times New Roman"/>
                  <a:ea typeface="Times New Roman"/>
                  <a:cs typeface="Times New Roman"/>
                  <a:sym typeface="Times New Roman"/>
                </a:endParaRPr>
              </a:p>
            </p:txBody>
          </p:sp>
          <p:sp>
            <p:nvSpPr>
              <p:cNvPr id="1212" name="Google Shape;1212;p37"/>
              <p:cNvSpPr txBox="1"/>
              <p:nvPr/>
            </p:nvSpPr>
            <p:spPr>
              <a:xfrm>
                <a:off x="7059" y="8921"/>
                <a:ext cx="1440" cy="54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 A sin ωt</a:t>
                </a:r>
                <a:endParaRPr sz="1200">
                  <a:solidFill>
                    <a:schemeClr val="dk1"/>
                  </a:solidFill>
                  <a:latin typeface="Times New Roman"/>
                  <a:ea typeface="Times New Roman"/>
                  <a:cs typeface="Times New Roman"/>
                  <a:sym typeface="Times New Roman"/>
                </a:endParaRPr>
              </a:p>
            </p:txBody>
          </p:sp>
          <p:sp>
            <p:nvSpPr>
              <p:cNvPr id="1213" name="Google Shape;1213;p37"/>
              <p:cNvSpPr txBox="1"/>
              <p:nvPr/>
            </p:nvSpPr>
            <p:spPr>
              <a:xfrm>
                <a:off x="9367" y="8590"/>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C</a:t>
                </a:r>
                <a:endParaRPr sz="1200">
                  <a:solidFill>
                    <a:schemeClr val="dk1"/>
                  </a:solidFill>
                  <a:latin typeface="Times New Roman"/>
                  <a:ea typeface="Times New Roman"/>
                  <a:cs typeface="Times New Roman"/>
                  <a:sym typeface="Times New Roman"/>
                </a:endParaRPr>
              </a:p>
            </p:txBody>
          </p:sp>
          <p:cxnSp>
            <p:nvCxnSpPr>
              <p:cNvPr id="1214" name="Google Shape;1214;p37"/>
              <p:cNvCxnSpPr/>
              <p:nvPr/>
            </p:nvCxnSpPr>
            <p:spPr>
              <a:xfrm>
                <a:off x="7898" y="9578"/>
                <a:ext cx="2040" cy="0"/>
              </a:xfrm>
              <a:prstGeom prst="straightConnector1">
                <a:avLst/>
              </a:prstGeom>
              <a:noFill/>
              <a:ln cap="flat" cmpd="sng" w="31750">
                <a:solidFill>
                  <a:srgbClr val="002060"/>
                </a:solidFill>
                <a:prstDash val="solid"/>
                <a:round/>
                <a:headEnd len="med" w="med" type="none"/>
                <a:tailEnd len="med" w="med" type="none"/>
              </a:ln>
            </p:spPr>
          </p:cxnSp>
          <p:sp>
            <p:nvSpPr>
              <p:cNvPr id="1215" name="Google Shape;1215;p37"/>
              <p:cNvSpPr/>
              <p:nvPr/>
            </p:nvSpPr>
            <p:spPr>
              <a:xfrm>
                <a:off x="7658" y="10673"/>
                <a:ext cx="480" cy="480"/>
              </a:xfrm>
              <a:prstGeom prst="ellipse">
                <a:avLst/>
              </a:pr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216" name="Google Shape;1216;p37"/>
              <p:cNvCxnSpPr/>
              <p:nvPr/>
            </p:nvCxnSpPr>
            <p:spPr>
              <a:xfrm rot="10800000">
                <a:off x="7898" y="10133"/>
                <a:ext cx="0" cy="540"/>
              </a:xfrm>
              <a:prstGeom prst="straightConnector1">
                <a:avLst/>
              </a:prstGeom>
              <a:noFill/>
              <a:ln cap="flat" cmpd="sng" w="31750">
                <a:solidFill>
                  <a:srgbClr val="002060"/>
                </a:solidFill>
                <a:prstDash val="solid"/>
                <a:round/>
                <a:headEnd len="med" w="med" type="none"/>
                <a:tailEnd len="med" w="med" type="none"/>
              </a:ln>
            </p:spPr>
          </p:cxnSp>
          <p:cxnSp>
            <p:nvCxnSpPr>
              <p:cNvPr id="1217" name="Google Shape;1217;p37"/>
              <p:cNvCxnSpPr/>
              <p:nvPr/>
            </p:nvCxnSpPr>
            <p:spPr>
              <a:xfrm rot="10800000">
                <a:off x="7898" y="11123"/>
                <a:ext cx="0" cy="615"/>
              </a:xfrm>
              <a:prstGeom prst="straightConnector1">
                <a:avLst/>
              </a:prstGeom>
              <a:noFill/>
              <a:ln cap="flat" cmpd="sng" w="31750">
                <a:solidFill>
                  <a:srgbClr val="002060"/>
                </a:solidFill>
                <a:prstDash val="solid"/>
                <a:round/>
                <a:headEnd len="med" w="med" type="none"/>
                <a:tailEnd len="med" w="med" type="none"/>
              </a:ln>
            </p:spPr>
          </p:cxnSp>
          <p:cxnSp>
            <p:nvCxnSpPr>
              <p:cNvPr id="1218" name="Google Shape;1218;p37"/>
              <p:cNvCxnSpPr/>
              <p:nvPr/>
            </p:nvCxnSpPr>
            <p:spPr>
              <a:xfrm>
                <a:off x="7898" y="10133"/>
                <a:ext cx="600" cy="0"/>
              </a:xfrm>
              <a:prstGeom prst="straightConnector1">
                <a:avLst/>
              </a:prstGeom>
              <a:noFill/>
              <a:ln cap="flat" cmpd="sng" w="31750">
                <a:solidFill>
                  <a:srgbClr val="002060"/>
                </a:solidFill>
                <a:prstDash val="solid"/>
                <a:round/>
                <a:headEnd len="med" w="med" type="none"/>
                <a:tailEnd len="med" w="med" type="none"/>
              </a:ln>
            </p:spPr>
          </p:cxnSp>
          <p:grpSp>
            <p:nvGrpSpPr>
              <p:cNvPr id="1219" name="Google Shape;1219;p37"/>
              <p:cNvGrpSpPr/>
              <p:nvPr/>
            </p:nvGrpSpPr>
            <p:grpSpPr>
              <a:xfrm>
                <a:off x="8498" y="9959"/>
                <a:ext cx="1305" cy="361"/>
                <a:chOff x="1658" y="2144"/>
                <a:chExt cx="1305" cy="361"/>
              </a:xfrm>
            </p:grpSpPr>
            <p:cxnSp>
              <p:nvCxnSpPr>
                <p:cNvPr id="1220" name="Google Shape;1220;p37"/>
                <p:cNvCxnSpPr/>
                <p:nvPr/>
              </p:nvCxnSpPr>
              <p:spPr>
                <a:xfrm>
                  <a:off x="1658" y="2318"/>
                  <a:ext cx="214" cy="0"/>
                </a:xfrm>
                <a:prstGeom prst="straightConnector1">
                  <a:avLst/>
                </a:prstGeom>
                <a:noFill/>
                <a:ln cap="flat" cmpd="sng" w="31750">
                  <a:solidFill>
                    <a:srgbClr val="002060"/>
                  </a:solidFill>
                  <a:prstDash val="solid"/>
                  <a:round/>
                  <a:headEnd len="med" w="med" type="none"/>
                  <a:tailEnd len="med" w="med" type="none"/>
                </a:ln>
              </p:spPr>
            </p:cxnSp>
            <p:grpSp>
              <p:nvGrpSpPr>
                <p:cNvPr id="1221" name="Google Shape;1221;p37"/>
                <p:cNvGrpSpPr/>
                <p:nvPr/>
              </p:nvGrpSpPr>
              <p:grpSpPr>
                <a:xfrm>
                  <a:off x="1883" y="2144"/>
                  <a:ext cx="720" cy="361"/>
                  <a:chOff x="1793" y="2138"/>
                  <a:chExt cx="1200" cy="357"/>
                </a:xfrm>
              </p:grpSpPr>
              <p:cxnSp>
                <p:nvCxnSpPr>
                  <p:cNvPr id="1222" name="Google Shape;1222;p37"/>
                  <p:cNvCxnSpPr/>
                  <p:nvPr/>
                </p:nvCxnSpPr>
                <p:spPr>
                  <a:xfrm flipH="1" rot="10800000">
                    <a:off x="1793" y="2138"/>
                    <a:ext cx="120" cy="180"/>
                  </a:xfrm>
                  <a:prstGeom prst="straightConnector1">
                    <a:avLst/>
                  </a:prstGeom>
                  <a:noFill/>
                  <a:ln cap="flat" cmpd="sng" w="31750">
                    <a:solidFill>
                      <a:srgbClr val="002060"/>
                    </a:solidFill>
                    <a:prstDash val="solid"/>
                    <a:round/>
                    <a:headEnd len="med" w="med" type="none"/>
                    <a:tailEnd len="med" w="med" type="none"/>
                  </a:ln>
                </p:spPr>
              </p:cxnSp>
              <p:cxnSp>
                <p:nvCxnSpPr>
                  <p:cNvPr id="1223" name="Google Shape;1223;p37"/>
                  <p:cNvCxnSpPr/>
                  <p:nvPr/>
                </p:nvCxnSpPr>
                <p:spPr>
                  <a:xfrm rot="10800000">
                    <a:off x="2873" y="2138"/>
                    <a:ext cx="120" cy="180"/>
                  </a:xfrm>
                  <a:prstGeom prst="straightConnector1">
                    <a:avLst/>
                  </a:prstGeom>
                  <a:noFill/>
                  <a:ln cap="flat" cmpd="sng" w="31750">
                    <a:solidFill>
                      <a:srgbClr val="002060"/>
                    </a:solidFill>
                    <a:prstDash val="solid"/>
                    <a:round/>
                    <a:headEnd len="med" w="med" type="none"/>
                    <a:tailEnd len="med" w="med" type="none"/>
                  </a:ln>
                </p:spPr>
              </p:cxnSp>
              <p:cxnSp>
                <p:nvCxnSpPr>
                  <p:cNvPr id="1224" name="Google Shape;1224;p37"/>
                  <p:cNvCxnSpPr/>
                  <p:nvPr/>
                </p:nvCxnSpPr>
                <p:spPr>
                  <a:xfrm rot="10800000">
                    <a:off x="1900" y="2138"/>
                    <a:ext cx="238" cy="357"/>
                  </a:xfrm>
                  <a:prstGeom prst="straightConnector1">
                    <a:avLst/>
                  </a:prstGeom>
                  <a:noFill/>
                  <a:ln cap="flat" cmpd="sng" w="31750">
                    <a:solidFill>
                      <a:srgbClr val="002060"/>
                    </a:solidFill>
                    <a:prstDash val="solid"/>
                    <a:round/>
                    <a:headEnd len="med" w="med" type="none"/>
                    <a:tailEnd len="med" w="med" type="none"/>
                  </a:ln>
                </p:spPr>
              </p:cxnSp>
              <p:cxnSp>
                <p:nvCxnSpPr>
                  <p:cNvPr id="1225" name="Google Shape;1225;p37"/>
                  <p:cNvCxnSpPr/>
                  <p:nvPr/>
                </p:nvCxnSpPr>
                <p:spPr>
                  <a:xfrm flipH="1" rot="10800000">
                    <a:off x="2155" y="2138"/>
                    <a:ext cx="238" cy="357"/>
                  </a:xfrm>
                  <a:prstGeom prst="straightConnector1">
                    <a:avLst/>
                  </a:prstGeom>
                  <a:noFill/>
                  <a:ln cap="flat" cmpd="sng" w="31750">
                    <a:solidFill>
                      <a:srgbClr val="002060"/>
                    </a:solidFill>
                    <a:prstDash val="solid"/>
                    <a:round/>
                    <a:headEnd len="med" w="med" type="none"/>
                    <a:tailEnd len="med" w="med" type="none"/>
                  </a:ln>
                </p:spPr>
              </p:cxnSp>
              <p:cxnSp>
                <p:nvCxnSpPr>
                  <p:cNvPr id="1226" name="Google Shape;1226;p37"/>
                  <p:cNvCxnSpPr/>
                  <p:nvPr/>
                </p:nvCxnSpPr>
                <p:spPr>
                  <a:xfrm rot="10800000">
                    <a:off x="2380" y="2138"/>
                    <a:ext cx="238" cy="357"/>
                  </a:xfrm>
                  <a:prstGeom prst="straightConnector1">
                    <a:avLst/>
                  </a:prstGeom>
                  <a:noFill/>
                  <a:ln cap="flat" cmpd="sng" w="31750">
                    <a:solidFill>
                      <a:srgbClr val="002060"/>
                    </a:solidFill>
                    <a:prstDash val="solid"/>
                    <a:round/>
                    <a:headEnd len="med" w="med" type="none"/>
                    <a:tailEnd len="med" w="med" type="none"/>
                  </a:ln>
                </p:spPr>
              </p:cxnSp>
              <p:cxnSp>
                <p:nvCxnSpPr>
                  <p:cNvPr id="1227" name="Google Shape;1227;p37"/>
                  <p:cNvCxnSpPr/>
                  <p:nvPr/>
                </p:nvCxnSpPr>
                <p:spPr>
                  <a:xfrm flipH="1" rot="10800000">
                    <a:off x="2635" y="2138"/>
                    <a:ext cx="238" cy="357"/>
                  </a:xfrm>
                  <a:prstGeom prst="straightConnector1">
                    <a:avLst/>
                  </a:prstGeom>
                  <a:noFill/>
                  <a:ln cap="flat" cmpd="sng" w="31750">
                    <a:solidFill>
                      <a:srgbClr val="002060"/>
                    </a:solidFill>
                    <a:prstDash val="solid"/>
                    <a:round/>
                    <a:headEnd len="med" w="med" type="none"/>
                    <a:tailEnd len="med" w="med" type="none"/>
                  </a:ln>
                </p:spPr>
              </p:cxnSp>
            </p:grpSp>
            <p:cxnSp>
              <p:nvCxnSpPr>
                <p:cNvPr id="1228" name="Google Shape;1228;p37"/>
                <p:cNvCxnSpPr/>
                <p:nvPr/>
              </p:nvCxnSpPr>
              <p:spPr>
                <a:xfrm>
                  <a:off x="2603" y="2318"/>
                  <a:ext cx="360" cy="0"/>
                </a:xfrm>
                <a:prstGeom prst="straightConnector1">
                  <a:avLst/>
                </a:prstGeom>
                <a:noFill/>
                <a:ln cap="flat" cmpd="sng" w="31750">
                  <a:solidFill>
                    <a:srgbClr val="002060"/>
                  </a:solidFill>
                  <a:prstDash val="solid"/>
                  <a:round/>
                  <a:headEnd len="med" w="med" type="none"/>
                  <a:tailEnd len="med" w="med" type="none"/>
                </a:ln>
              </p:spPr>
            </p:cxnSp>
          </p:grpSp>
          <p:grpSp>
            <p:nvGrpSpPr>
              <p:cNvPr id="1229" name="Google Shape;1229;p37"/>
              <p:cNvGrpSpPr/>
              <p:nvPr/>
            </p:nvGrpSpPr>
            <p:grpSpPr>
              <a:xfrm rot="-5400000">
                <a:off x="8959" y="10769"/>
                <a:ext cx="1619" cy="381"/>
                <a:chOff x="6218" y="2533"/>
                <a:chExt cx="1320" cy="381"/>
              </a:xfrm>
            </p:grpSpPr>
            <p:cxnSp>
              <p:nvCxnSpPr>
                <p:cNvPr id="1230" name="Google Shape;1230;p37"/>
                <p:cNvCxnSpPr/>
                <p:nvPr/>
              </p:nvCxnSpPr>
              <p:spPr>
                <a:xfrm>
                  <a:off x="6218" y="2742"/>
                  <a:ext cx="600" cy="0"/>
                </a:xfrm>
                <a:prstGeom prst="straightConnector1">
                  <a:avLst/>
                </a:prstGeom>
                <a:noFill/>
                <a:ln cap="flat" cmpd="sng" w="31750">
                  <a:solidFill>
                    <a:srgbClr val="002060"/>
                  </a:solidFill>
                  <a:prstDash val="solid"/>
                  <a:round/>
                  <a:headEnd len="med" w="med" type="none"/>
                  <a:tailEnd len="med" w="med" type="none"/>
                </a:ln>
              </p:spPr>
            </p:cxnSp>
            <p:cxnSp>
              <p:nvCxnSpPr>
                <p:cNvPr id="1231" name="Google Shape;1231;p37"/>
                <p:cNvCxnSpPr/>
                <p:nvPr/>
              </p:nvCxnSpPr>
              <p:spPr>
                <a:xfrm>
                  <a:off x="6938" y="2734"/>
                  <a:ext cx="600" cy="0"/>
                </a:xfrm>
                <a:prstGeom prst="straightConnector1">
                  <a:avLst/>
                </a:prstGeom>
                <a:noFill/>
                <a:ln cap="flat" cmpd="sng" w="31750">
                  <a:solidFill>
                    <a:srgbClr val="002060"/>
                  </a:solidFill>
                  <a:prstDash val="solid"/>
                  <a:round/>
                  <a:headEnd len="med" w="med" type="none"/>
                  <a:tailEnd len="med" w="med" type="none"/>
                </a:ln>
              </p:spPr>
            </p:cxnSp>
            <p:cxnSp>
              <p:nvCxnSpPr>
                <p:cNvPr id="1232" name="Google Shape;1232;p37"/>
                <p:cNvCxnSpPr/>
                <p:nvPr/>
              </p:nvCxnSpPr>
              <p:spPr>
                <a:xfrm>
                  <a:off x="6818" y="2533"/>
                  <a:ext cx="0" cy="360"/>
                </a:xfrm>
                <a:prstGeom prst="straightConnector1">
                  <a:avLst/>
                </a:prstGeom>
                <a:noFill/>
                <a:ln cap="flat" cmpd="sng" w="31750">
                  <a:solidFill>
                    <a:srgbClr val="002060"/>
                  </a:solidFill>
                  <a:prstDash val="solid"/>
                  <a:round/>
                  <a:headEnd len="med" w="med" type="none"/>
                  <a:tailEnd len="med" w="med" type="none"/>
                </a:ln>
              </p:spPr>
            </p:cxnSp>
            <p:cxnSp>
              <p:nvCxnSpPr>
                <p:cNvPr id="1233" name="Google Shape;1233;p37"/>
                <p:cNvCxnSpPr/>
                <p:nvPr/>
              </p:nvCxnSpPr>
              <p:spPr>
                <a:xfrm>
                  <a:off x="6938" y="2554"/>
                  <a:ext cx="0" cy="360"/>
                </a:xfrm>
                <a:prstGeom prst="straightConnector1">
                  <a:avLst/>
                </a:prstGeom>
                <a:noFill/>
                <a:ln cap="flat" cmpd="sng" w="31750">
                  <a:solidFill>
                    <a:srgbClr val="002060"/>
                  </a:solidFill>
                  <a:prstDash val="solid"/>
                  <a:round/>
                  <a:headEnd len="med" w="med" type="none"/>
                  <a:tailEnd len="med" w="med" type="none"/>
                </a:ln>
              </p:spPr>
            </p:cxnSp>
          </p:grpSp>
          <p:cxnSp>
            <p:nvCxnSpPr>
              <p:cNvPr id="1234" name="Google Shape;1234;p37"/>
              <p:cNvCxnSpPr/>
              <p:nvPr/>
            </p:nvCxnSpPr>
            <p:spPr>
              <a:xfrm>
                <a:off x="7898" y="11738"/>
                <a:ext cx="1884" cy="0"/>
              </a:xfrm>
              <a:prstGeom prst="straightConnector1">
                <a:avLst/>
              </a:prstGeom>
              <a:noFill/>
              <a:ln cap="flat" cmpd="sng" w="31750">
                <a:solidFill>
                  <a:srgbClr val="002060"/>
                </a:solidFill>
                <a:prstDash val="solid"/>
                <a:round/>
                <a:headEnd len="med" w="med" type="none"/>
                <a:tailEnd len="med" w="med" type="none"/>
              </a:ln>
            </p:spPr>
          </p:cxnSp>
          <p:sp>
            <p:nvSpPr>
              <p:cNvPr id="1235" name="Google Shape;1235;p37"/>
              <p:cNvSpPr txBox="1"/>
              <p:nvPr/>
            </p:nvSpPr>
            <p:spPr>
              <a:xfrm>
                <a:off x="9098" y="9593"/>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R</a:t>
                </a:r>
                <a:endParaRPr sz="1200">
                  <a:solidFill>
                    <a:schemeClr val="dk1"/>
                  </a:solidFill>
                  <a:latin typeface="Times New Roman"/>
                  <a:ea typeface="Times New Roman"/>
                  <a:cs typeface="Times New Roman"/>
                  <a:sym typeface="Times New Roman"/>
                </a:endParaRPr>
              </a:p>
            </p:txBody>
          </p:sp>
          <p:cxnSp>
            <p:nvCxnSpPr>
              <p:cNvPr id="1236" name="Google Shape;1236;p37"/>
              <p:cNvCxnSpPr/>
              <p:nvPr/>
            </p:nvCxnSpPr>
            <p:spPr>
              <a:xfrm>
                <a:off x="10298" y="10591"/>
                <a:ext cx="0" cy="720"/>
              </a:xfrm>
              <a:prstGeom prst="straightConnector1">
                <a:avLst/>
              </a:prstGeom>
              <a:noFill/>
              <a:ln cap="flat" cmpd="sng" w="31750">
                <a:solidFill>
                  <a:srgbClr val="002060"/>
                </a:solidFill>
                <a:prstDash val="solid"/>
                <a:round/>
                <a:headEnd len="med" w="med" type="stealth"/>
                <a:tailEnd len="med" w="med" type="none"/>
              </a:ln>
            </p:spPr>
          </p:cxnSp>
          <p:sp>
            <p:nvSpPr>
              <p:cNvPr id="1237" name="Google Shape;1237;p37"/>
              <p:cNvSpPr txBox="1"/>
              <p:nvPr/>
            </p:nvSpPr>
            <p:spPr>
              <a:xfrm>
                <a:off x="6698" y="10673"/>
                <a:ext cx="956" cy="714"/>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
            <p:nvSpPr>
              <p:cNvPr id="1238" name="Google Shape;1238;p37"/>
              <p:cNvSpPr txBox="1"/>
              <p:nvPr/>
            </p:nvSpPr>
            <p:spPr>
              <a:xfrm>
                <a:off x="9875" y="10112"/>
                <a:ext cx="896" cy="54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V</a:t>
                </a:r>
                <a:r>
                  <a:rPr baseline="-25000" lang="en-GB" sz="2800">
                    <a:solidFill>
                      <a:srgbClr val="002060"/>
                    </a:solidFill>
                    <a:latin typeface="Times New Roman"/>
                    <a:ea typeface="Times New Roman"/>
                    <a:cs typeface="Times New Roman"/>
                    <a:sym typeface="Times New Roman"/>
                  </a:rPr>
                  <a:t>out</a:t>
                </a:r>
                <a:r>
                  <a:rPr lang="en-GB" sz="2800">
                    <a:solidFill>
                      <a:srgbClr val="002060"/>
                    </a:solidFill>
                    <a:latin typeface="Times New Roman"/>
                    <a:ea typeface="Times New Roman"/>
                    <a:cs typeface="Times New Roman"/>
                    <a:sym typeface="Times New Roman"/>
                  </a:rPr>
                  <a:t>(s)</a:t>
                </a:r>
                <a:endParaRPr sz="1200">
                  <a:solidFill>
                    <a:schemeClr val="dk1"/>
                  </a:solidFill>
                  <a:latin typeface="Times New Roman"/>
                  <a:ea typeface="Times New Roman"/>
                  <a:cs typeface="Times New Roman"/>
                  <a:sym typeface="Times New Roman"/>
                </a:endParaRPr>
              </a:p>
            </p:txBody>
          </p:sp>
        </p:grpSp>
        <p:pic>
          <p:nvPicPr>
            <p:cNvPr id="1239" name="Google Shape;1239;p37"/>
            <p:cNvPicPr preferRelativeResize="0"/>
            <p:nvPr/>
          </p:nvPicPr>
          <p:blipFill rotWithShape="1">
            <a:blip r:embed="rId4">
              <a:alphaModFix/>
            </a:blip>
            <a:srcRect b="0" l="0" r="0" t="0"/>
            <a:stretch/>
          </p:blipFill>
          <p:spPr>
            <a:xfrm>
              <a:off x="7760969" y="4147680"/>
              <a:ext cx="1276350" cy="971550"/>
            </a:xfrm>
            <a:prstGeom prst="rect">
              <a:avLst/>
            </a:prstGeom>
            <a:noFill/>
            <a:ln>
              <a:noFill/>
            </a:ln>
          </p:spPr>
        </p:pic>
        <p:sp>
          <p:nvSpPr>
            <p:cNvPr id="1240" name="Google Shape;1240;p37"/>
            <p:cNvSpPr txBox="1"/>
            <p:nvPr/>
          </p:nvSpPr>
          <p:spPr>
            <a:xfrm>
              <a:off x="10260870" y="3801479"/>
              <a:ext cx="536762" cy="901914"/>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GB" sz="1800">
                  <a:latin typeface="Calibri"/>
                  <a:ea typeface="Calibri"/>
                  <a:cs typeface="Calibri"/>
                  <a:sym typeface="Calibri"/>
                </a:rPr>
                <a:t> </a:t>
              </a:r>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4" name="Shape 1244"/>
        <p:cNvGrpSpPr/>
        <p:nvPr/>
      </p:nvGrpSpPr>
      <p:grpSpPr>
        <a:xfrm>
          <a:off x="0" y="0"/>
          <a:ext cx="0" cy="0"/>
          <a:chOff x="0" y="0"/>
          <a:chExt cx="0" cy="0"/>
        </a:xfrm>
      </p:grpSpPr>
      <p:pic>
        <p:nvPicPr>
          <p:cNvPr id="1245" name="Google Shape;1245;p38"/>
          <p:cNvPicPr preferRelativeResize="0"/>
          <p:nvPr/>
        </p:nvPicPr>
        <p:blipFill rotWithShape="1">
          <a:blip r:embed="rId3">
            <a:alphaModFix/>
          </a:blip>
          <a:srcRect b="0" l="0" r="0" t="0"/>
          <a:stretch/>
        </p:blipFill>
        <p:spPr>
          <a:xfrm>
            <a:off x="57150" y="714374"/>
            <a:ext cx="8667750" cy="1371600"/>
          </a:xfrm>
          <a:prstGeom prst="rect">
            <a:avLst/>
          </a:prstGeom>
          <a:noFill/>
          <a:ln>
            <a:noFill/>
          </a:ln>
        </p:spPr>
      </p:pic>
      <p:pic>
        <p:nvPicPr>
          <p:cNvPr id="1246" name="Google Shape;1246;p38"/>
          <p:cNvPicPr preferRelativeResize="0"/>
          <p:nvPr/>
        </p:nvPicPr>
        <p:blipFill rotWithShape="1">
          <a:blip r:embed="rId4">
            <a:alphaModFix/>
          </a:blip>
          <a:srcRect b="0" l="0" r="0" t="0"/>
          <a:stretch/>
        </p:blipFill>
        <p:spPr>
          <a:xfrm>
            <a:off x="11339879" y="962024"/>
            <a:ext cx="609600" cy="876300"/>
          </a:xfrm>
          <a:prstGeom prst="rect">
            <a:avLst/>
          </a:prstGeom>
          <a:noFill/>
          <a:ln>
            <a:noFill/>
          </a:ln>
        </p:spPr>
      </p:pic>
      <p:pic>
        <p:nvPicPr>
          <p:cNvPr id="1247" name="Google Shape;1247;p38"/>
          <p:cNvPicPr preferRelativeResize="0"/>
          <p:nvPr/>
        </p:nvPicPr>
        <p:blipFill rotWithShape="1">
          <a:blip r:embed="rId5">
            <a:alphaModFix/>
          </a:blip>
          <a:srcRect b="0" l="0" r="0" t="0"/>
          <a:stretch/>
        </p:blipFill>
        <p:spPr>
          <a:xfrm>
            <a:off x="304800" y="2940248"/>
            <a:ext cx="6877050" cy="1428750"/>
          </a:xfrm>
          <a:prstGeom prst="rect">
            <a:avLst/>
          </a:prstGeom>
          <a:noFill/>
          <a:ln>
            <a:noFill/>
          </a:ln>
        </p:spPr>
      </p:pic>
      <p:pic>
        <p:nvPicPr>
          <p:cNvPr id="1248" name="Google Shape;1248;p38"/>
          <p:cNvPicPr preferRelativeResize="0"/>
          <p:nvPr/>
        </p:nvPicPr>
        <p:blipFill rotWithShape="1">
          <a:blip r:embed="rId6">
            <a:alphaModFix/>
          </a:blip>
          <a:srcRect b="0" l="0" r="0" t="0"/>
          <a:stretch/>
        </p:blipFill>
        <p:spPr>
          <a:xfrm>
            <a:off x="304800" y="5189707"/>
            <a:ext cx="8420100" cy="1390650"/>
          </a:xfrm>
          <a:prstGeom prst="rect">
            <a:avLst/>
          </a:prstGeom>
          <a:noFill/>
          <a:ln>
            <a:noFill/>
          </a:ln>
        </p:spPr>
      </p:pic>
      <p:sp>
        <p:nvSpPr>
          <p:cNvPr id="1249" name="Google Shape;1249;p38"/>
          <p:cNvSpPr/>
          <p:nvPr/>
        </p:nvSpPr>
        <p:spPr>
          <a:xfrm>
            <a:off x="0" y="0"/>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50" name="Google Shape;1250;p38"/>
          <p:cNvSpPr/>
          <p:nvPr/>
        </p:nvSpPr>
        <p:spPr>
          <a:xfrm>
            <a:off x="8724900" y="902773"/>
            <a:ext cx="3212122"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Arial"/>
              <a:buNone/>
            </a:pPr>
            <a:r>
              <a:rPr b="0" i="0" lang="en-GB" sz="3600" u="none" cap="none" strike="noStrike">
                <a:solidFill>
                  <a:srgbClr val="002060"/>
                </a:solidFill>
                <a:latin typeface="Arial"/>
                <a:ea typeface="Arial"/>
                <a:cs typeface="Arial"/>
                <a:sym typeface="Arial"/>
              </a:rPr>
              <a:t>,   </a:t>
            </a:r>
            <a:r>
              <a:rPr b="0" i="0" lang="en-GB" sz="3600" u="none" cap="none" strike="noStrike">
                <a:solidFill>
                  <a:srgbClr val="002060"/>
                </a:solidFill>
                <a:latin typeface="Times New Roman"/>
                <a:ea typeface="Times New Roman"/>
                <a:cs typeface="Times New Roman"/>
                <a:sym typeface="Times New Roman"/>
              </a:rPr>
              <a:t>where</a:t>
            </a:r>
            <a:r>
              <a:rPr b="0" i="0" lang="en-GB" sz="3600" u="none" cap="none" strike="noStrike">
                <a:solidFill>
                  <a:srgbClr val="002060"/>
                </a:solidFill>
                <a:latin typeface="Arial"/>
                <a:ea typeface="Arial"/>
                <a:cs typeface="Arial"/>
                <a:sym typeface="Arial"/>
              </a:rPr>
              <a:t>  </a:t>
            </a:r>
            <a:r>
              <a:rPr b="0" i="0" lang="en-GB" sz="3600" u="none" cap="none" strike="noStrike">
                <a:solidFill>
                  <a:srgbClr val="002060"/>
                </a:solidFill>
                <a:latin typeface="Noto Sans Symbols"/>
                <a:ea typeface="Noto Sans Symbols"/>
                <a:cs typeface="Noto Sans Symbols"/>
                <a:sym typeface="Noto Sans Symbols"/>
              </a:rPr>
              <a:t>α</a:t>
            </a:r>
            <a:r>
              <a:rPr b="0" i="0" lang="en-GB" sz="3600" u="none" cap="none" strike="noStrike">
                <a:solidFill>
                  <a:srgbClr val="002060"/>
                </a:solidFill>
                <a:latin typeface="Calibri"/>
                <a:ea typeface="Calibri"/>
                <a:cs typeface="Calibri"/>
                <a:sym typeface="Calibri"/>
              </a:rPr>
              <a:t> = </a:t>
            </a:r>
            <a:endParaRPr b="0" i="0" sz="1800" u="none" cap="none" strike="noStrike">
              <a:solidFill>
                <a:schemeClr val="dk1"/>
              </a:solidFill>
              <a:latin typeface="Arial"/>
              <a:ea typeface="Arial"/>
              <a:cs typeface="Arial"/>
              <a:sym typeface="Arial"/>
            </a:endParaRPr>
          </a:p>
        </p:txBody>
      </p:sp>
      <p:sp>
        <p:nvSpPr>
          <p:cNvPr id="1251" name="Google Shape;1251;p38"/>
          <p:cNvSpPr/>
          <p:nvPr/>
        </p:nvSpPr>
        <p:spPr>
          <a:xfrm>
            <a:off x="85725" y="2238426"/>
            <a:ext cx="11254154" cy="64633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This can be split into partial fractions as follows.</a:t>
            </a:r>
            <a:endParaRPr b="0" i="0" sz="1100" u="none" cap="none" strike="noStrike">
              <a:solidFill>
                <a:schemeClr val="dk1"/>
              </a:solidFill>
              <a:latin typeface="Times New Roman"/>
              <a:ea typeface="Times New Roman"/>
              <a:cs typeface="Times New Roman"/>
              <a:sym typeface="Times New Roman"/>
            </a:endParaRPr>
          </a:p>
        </p:txBody>
      </p:sp>
      <p:sp>
        <p:nvSpPr>
          <p:cNvPr id="1252" name="Google Shape;1252;p38"/>
          <p:cNvSpPr/>
          <p:nvPr/>
        </p:nvSpPr>
        <p:spPr>
          <a:xfrm>
            <a:off x="0" y="4473819"/>
            <a:ext cx="12027877" cy="64633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Using the tables, the inverse transform is then given  as</a:t>
            </a:r>
            <a:endParaRPr b="0" i="0" sz="1100" u="none" cap="none" strike="noStrike">
              <a:solidFill>
                <a:schemeClr val="dk1"/>
              </a:solidFill>
              <a:latin typeface="Times New Roman"/>
              <a:ea typeface="Times New Roman"/>
              <a:cs typeface="Times New Roman"/>
              <a:sym typeface="Times New Roman"/>
            </a:endParaRPr>
          </a:p>
        </p:txBody>
      </p:sp>
      <p:sp>
        <p:nvSpPr>
          <p:cNvPr id="1253" name="Google Shape;1253;p38"/>
          <p:cNvSpPr/>
          <p:nvPr/>
        </p:nvSpPr>
        <p:spPr>
          <a:xfrm>
            <a:off x="0" y="6438900"/>
            <a:ext cx="12192000" cy="457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C00000"/>
              </a:buClr>
              <a:buSzPts val="3600"/>
              <a:buFont typeface="Arial"/>
              <a:buNone/>
            </a:pPr>
            <a:br>
              <a:rPr b="1" i="1" lang="en-GB" sz="3600" u="none" cap="none" strike="noStrike">
                <a:solidFill>
                  <a:srgbClr val="C00000"/>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39"/>
          <p:cNvSpPr txBox="1"/>
          <p:nvPr>
            <p:ph type="title"/>
          </p:nvPr>
        </p:nvSpPr>
        <p:spPr>
          <a:xfrm>
            <a:off x="364458" y="784449"/>
            <a:ext cx="3504157" cy="62525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3200"/>
              <a:buFont typeface="Times New Roman"/>
              <a:buNone/>
            </a:pPr>
            <a:r>
              <a:rPr lang="en-GB"/>
              <a:t>Example 3</a:t>
            </a:r>
            <a:endParaRPr/>
          </a:p>
        </p:txBody>
      </p:sp>
      <p:grpSp>
        <p:nvGrpSpPr>
          <p:cNvPr id="1259" name="Google Shape;1259;p39"/>
          <p:cNvGrpSpPr/>
          <p:nvPr/>
        </p:nvGrpSpPr>
        <p:grpSpPr>
          <a:xfrm>
            <a:off x="6782712" y="538435"/>
            <a:ext cx="5378938" cy="3252636"/>
            <a:chOff x="6782712" y="538435"/>
            <a:chExt cx="5378938" cy="3252636"/>
          </a:xfrm>
        </p:grpSpPr>
        <p:grpSp>
          <p:nvGrpSpPr>
            <p:cNvPr id="1260" name="Google Shape;1260;p39"/>
            <p:cNvGrpSpPr/>
            <p:nvPr/>
          </p:nvGrpSpPr>
          <p:grpSpPr>
            <a:xfrm>
              <a:off x="6782712" y="538435"/>
              <a:ext cx="4900039" cy="3252636"/>
              <a:chOff x="6382" y="2867"/>
              <a:chExt cx="3556" cy="2331"/>
            </a:xfrm>
          </p:grpSpPr>
          <p:sp>
            <p:nvSpPr>
              <p:cNvPr id="1261" name="Google Shape;1261;p39"/>
              <p:cNvSpPr/>
              <p:nvPr/>
            </p:nvSpPr>
            <p:spPr>
              <a:xfrm>
                <a:off x="6382" y="3938"/>
                <a:ext cx="600" cy="60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262" name="Google Shape;1262;p39"/>
              <p:cNvCxnSpPr/>
              <p:nvPr/>
            </p:nvCxnSpPr>
            <p:spPr>
              <a:xfrm>
                <a:off x="7058" y="3953"/>
                <a:ext cx="0" cy="540"/>
              </a:xfrm>
              <a:prstGeom prst="straightConnector1">
                <a:avLst/>
              </a:prstGeom>
              <a:noFill/>
              <a:ln cap="flat" cmpd="sng" w="28575">
                <a:solidFill>
                  <a:srgbClr val="002060"/>
                </a:solidFill>
                <a:prstDash val="solid"/>
                <a:round/>
                <a:headEnd len="med" w="med" type="stealth"/>
                <a:tailEnd len="med" w="med" type="none"/>
              </a:ln>
            </p:spPr>
          </p:cxnSp>
          <p:cxnSp>
            <p:nvCxnSpPr>
              <p:cNvPr id="1263" name="Google Shape;1263;p39"/>
              <p:cNvCxnSpPr/>
              <p:nvPr/>
            </p:nvCxnSpPr>
            <p:spPr>
              <a:xfrm>
                <a:off x="6682" y="3398"/>
                <a:ext cx="0" cy="540"/>
              </a:xfrm>
              <a:prstGeom prst="straightConnector1">
                <a:avLst/>
              </a:prstGeom>
              <a:noFill/>
              <a:ln cap="flat" cmpd="sng" w="28575">
                <a:solidFill>
                  <a:srgbClr val="002060"/>
                </a:solidFill>
                <a:prstDash val="solid"/>
                <a:round/>
                <a:headEnd len="med" w="med" type="none"/>
                <a:tailEnd len="med" w="med" type="none"/>
              </a:ln>
            </p:spPr>
          </p:cxnSp>
          <p:cxnSp>
            <p:nvCxnSpPr>
              <p:cNvPr id="1264" name="Google Shape;1264;p39"/>
              <p:cNvCxnSpPr/>
              <p:nvPr/>
            </p:nvCxnSpPr>
            <p:spPr>
              <a:xfrm>
                <a:off x="6682" y="4538"/>
                <a:ext cx="0" cy="660"/>
              </a:xfrm>
              <a:prstGeom prst="straightConnector1">
                <a:avLst/>
              </a:prstGeom>
              <a:noFill/>
              <a:ln cap="flat" cmpd="sng" w="28575">
                <a:solidFill>
                  <a:srgbClr val="002060"/>
                </a:solidFill>
                <a:prstDash val="solid"/>
                <a:round/>
                <a:headEnd len="med" w="med" type="none"/>
                <a:tailEnd len="med" w="med" type="none"/>
              </a:ln>
            </p:spPr>
          </p:cxnSp>
          <p:grpSp>
            <p:nvGrpSpPr>
              <p:cNvPr id="1265" name="Google Shape;1265;p39"/>
              <p:cNvGrpSpPr/>
              <p:nvPr/>
            </p:nvGrpSpPr>
            <p:grpSpPr>
              <a:xfrm>
                <a:off x="6427" y="4133"/>
                <a:ext cx="480" cy="180"/>
                <a:chOff x="2138" y="4118"/>
                <a:chExt cx="480" cy="180"/>
              </a:xfrm>
            </p:grpSpPr>
            <p:cxnSp>
              <p:nvCxnSpPr>
                <p:cNvPr id="1266" name="Google Shape;1266;p39"/>
                <p:cNvCxnSpPr/>
                <p:nvPr/>
              </p:nvCxnSpPr>
              <p:spPr>
                <a:xfrm>
                  <a:off x="2138" y="4298"/>
                  <a:ext cx="240" cy="0"/>
                </a:xfrm>
                <a:prstGeom prst="straightConnector1">
                  <a:avLst/>
                </a:prstGeom>
                <a:noFill/>
                <a:ln cap="flat" cmpd="sng" w="28575">
                  <a:solidFill>
                    <a:srgbClr val="002060"/>
                  </a:solidFill>
                  <a:prstDash val="solid"/>
                  <a:round/>
                  <a:headEnd len="med" w="med" type="none"/>
                  <a:tailEnd len="med" w="med" type="none"/>
                </a:ln>
              </p:spPr>
            </p:cxnSp>
            <p:cxnSp>
              <p:nvCxnSpPr>
                <p:cNvPr id="1267" name="Google Shape;1267;p39"/>
                <p:cNvCxnSpPr/>
                <p:nvPr/>
              </p:nvCxnSpPr>
              <p:spPr>
                <a:xfrm rot="10800000">
                  <a:off x="2378" y="4118"/>
                  <a:ext cx="0" cy="180"/>
                </a:xfrm>
                <a:prstGeom prst="straightConnector1">
                  <a:avLst/>
                </a:prstGeom>
                <a:noFill/>
                <a:ln cap="flat" cmpd="sng" w="28575">
                  <a:solidFill>
                    <a:srgbClr val="002060"/>
                  </a:solidFill>
                  <a:prstDash val="solid"/>
                  <a:round/>
                  <a:headEnd len="med" w="med" type="none"/>
                  <a:tailEnd len="med" w="med" type="none"/>
                </a:ln>
              </p:spPr>
            </p:cxnSp>
            <p:cxnSp>
              <p:nvCxnSpPr>
                <p:cNvPr id="1268" name="Google Shape;1268;p39"/>
                <p:cNvCxnSpPr/>
                <p:nvPr/>
              </p:nvCxnSpPr>
              <p:spPr>
                <a:xfrm>
                  <a:off x="2378" y="4118"/>
                  <a:ext cx="240" cy="0"/>
                </a:xfrm>
                <a:prstGeom prst="straightConnector1">
                  <a:avLst/>
                </a:prstGeom>
                <a:noFill/>
                <a:ln cap="flat" cmpd="sng" w="28575">
                  <a:solidFill>
                    <a:srgbClr val="002060"/>
                  </a:solidFill>
                  <a:prstDash val="solid"/>
                  <a:round/>
                  <a:headEnd len="med" w="med" type="none"/>
                  <a:tailEnd len="med" w="med" type="none"/>
                </a:ln>
              </p:spPr>
            </p:cxnSp>
          </p:grpSp>
          <p:grpSp>
            <p:nvGrpSpPr>
              <p:cNvPr id="1269" name="Google Shape;1269;p39"/>
              <p:cNvGrpSpPr/>
              <p:nvPr/>
            </p:nvGrpSpPr>
            <p:grpSpPr>
              <a:xfrm>
                <a:off x="7070" y="3203"/>
                <a:ext cx="1532" cy="417"/>
                <a:chOff x="6218" y="1958"/>
                <a:chExt cx="1320" cy="360"/>
              </a:xfrm>
            </p:grpSpPr>
            <p:cxnSp>
              <p:nvCxnSpPr>
                <p:cNvPr id="1270" name="Google Shape;1270;p39"/>
                <p:cNvCxnSpPr/>
                <p:nvPr/>
              </p:nvCxnSpPr>
              <p:spPr>
                <a:xfrm>
                  <a:off x="6218" y="2138"/>
                  <a:ext cx="600" cy="0"/>
                </a:xfrm>
                <a:prstGeom prst="straightConnector1">
                  <a:avLst/>
                </a:prstGeom>
                <a:noFill/>
                <a:ln cap="flat" cmpd="sng" w="28575">
                  <a:solidFill>
                    <a:srgbClr val="002060"/>
                  </a:solidFill>
                  <a:prstDash val="solid"/>
                  <a:round/>
                  <a:headEnd len="med" w="med" type="none"/>
                  <a:tailEnd len="med" w="med" type="none"/>
                </a:ln>
              </p:spPr>
            </p:cxnSp>
            <p:cxnSp>
              <p:nvCxnSpPr>
                <p:cNvPr id="1271" name="Google Shape;1271;p39"/>
                <p:cNvCxnSpPr/>
                <p:nvPr/>
              </p:nvCxnSpPr>
              <p:spPr>
                <a:xfrm>
                  <a:off x="6938" y="2138"/>
                  <a:ext cx="600" cy="0"/>
                </a:xfrm>
                <a:prstGeom prst="straightConnector1">
                  <a:avLst/>
                </a:prstGeom>
                <a:noFill/>
                <a:ln cap="flat" cmpd="sng" w="28575">
                  <a:solidFill>
                    <a:srgbClr val="002060"/>
                  </a:solidFill>
                  <a:prstDash val="solid"/>
                  <a:round/>
                  <a:headEnd len="med" w="med" type="none"/>
                  <a:tailEnd len="med" w="med" type="none"/>
                </a:ln>
              </p:spPr>
            </p:cxnSp>
            <p:cxnSp>
              <p:nvCxnSpPr>
                <p:cNvPr id="1272" name="Google Shape;1272;p39"/>
                <p:cNvCxnSpPr/>
                <p:nvPr/>
              </p:nvCxnSpPr>
              <p:spPr>
                <a:xfrm>
                  <a:off x="6818" y="1958"/>
                  <a:ext cx="0" cy="360"/>
                </a:xfrm>
                <a:prstGeom prst="straightConnector1">
                  <a:avLst/>
                </a:prstGeom>
                <a:noFill/>
                <a:ln cap="flat" cmpd="sng" w="28575">
                  <a:solidFill>
                    <a:srgbClr val="002060"/>
                  </a:solidFill>
                  <a:prstDash val="solid"/>
                  <a:round/>
                  <a:headEnd len="med" w="med" type="none"/>
                  <a:tailEnd len="med" w="med" type="none"/>
                </a:ln>
              </p:spPr>
            </p:cxnSp>
            <p:cxnSp>
              <p:nvCxnSpPr>
                <p:cNvPr id="1273" name="Google Shape;1273;p39"/>
                <p:cNvCxnSpPr/>
                <p:nvPr/>
              </p:nvCxnSpPr>
              <p:spPr>
                <a:xfrm>
                  <a:off x="6938" y="1958"/>
                  <a:ext cx="0" cy="360"/>
                </a:xfrm>
                <a:prstGeom prst="straightConnector1">
                  <a:avLst/>
                </a:prstGeom>
                <a:noFill/>
                <a:ln cap="flat" cmpd="sng" w="28575">
                  <a:solidFill>
                    <a:srgbClr val="002060"/>
                  </a:solidFill>
                  <a:prstDash val="solid"/>
                  <a:round/>
                  <a:headEnd len="med" w="med" type="none"/>
                  <a:tailEnd len="med" w="med" type="none"/>
                </a:ln>
              </p:spPr>
            </p:cxnSp>
          </p:grpSp>
          <p:cxnSp>
            <p:nvCxnSpPr>
              <p:cNvPr id="1274" name="Google Shape;1274;p39"/>
              <p:cNvCxnSpPr/>
              <p:nvPr/>
            </p:nvCxnSpPr>
            <p:spPr>
              <a:xfrm>
                <a:off x="6682" y="3398"/>
                <a:ext cx="406" cy="0"/>
              </a:xfrm>
              <a:prstGeom prst="straightConnector1">
                <a:avLst/>
              </a:prstGeom>
              <a:noFill/>
              <a:ln cap="flat" cmpd="sng" w="28575">
                <a:solidFill>
                  <a:srgbClr val="002060"/>
                </a:solidFill>
                <a:prstDash val="solid"/>
                <a:round/>
                <a:headEnd len="med" w="med" type="none"/>
                <a:tailEnd len="lg" w="lg" type="stealth"/>
              </a:ln>
            </p:spPr>
          </p:cxnSp>
          <p:sp>
            <p:nvSpPr>
              <p:cNvPr id="1275" name="Google Shape;1275;p39"/>
              <p:cNvSpPr/>
              <p:nvPr/>
            </p:nvSpPr>
            <p:spPr>
              <a:xfrm>
                <a:off x="8587" y="3158"/>
                <a:ext cx="480" cy="480"/>
              </a:xfrm>
              <a:prstGeom prst="ellipse">
                <a:avLst/>
              </a:pr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276" name="Google Shape;1276;p39"/>
              <p:cNvCxnSpPr/>
              <p:nvPr/>
            </p:nvCxnSpPr>
            <p:spPr>
              <a:xfrm>
                <a:off x="9082" y="3398"/>
                <a:ext cx="720" cy="0"/>
              </a:xfrm>
              <a:prstGeom prst="straightConnector1">
                <a:avLst/>
              </a:prstGeom>
              <a:noFill/>
              <a:ln cap="flat" cmpd="sng" w="28575">
                <a:solidFill>
                  <a:srgbClr val="002060"/>
                </a:solidFill>
                <a:prstDash val="solid"/>
                <a:round/>
                <a:headEnd len="med" w="med" type="none"/>
                <a:tailEnd len="med" w="med" type="none"/>
              </a:ln>
            </p:spPr>
          </p:cxnSp>
          <p:grpSp>
            <p:nvGrpSpPr>
              <p:cNvPr id="1277" name="Google Shape;1277;p39"/>
              <p:cNvGrpSpPr/>
              <p:nvPr/>
            </p:nvGrpSpPr>
            <p:grpSpPr>
              <a:xfrm>
                <a:off x="9802" y="3731"/>
                <a:ext cx="136" cy="1107"/>
                <a:chOff x="6232" y="3219"/>
                <a:chExt cx="92" cy="751"/>
              </a:xfrm>
            </p:grpSpPr>
            <p:sp>
              <p:nvSpPr>
                <p:cNvPr id="1278" name="Google Shape;1278;p39"/>
                <p:cNvSpPr/>
                <p:nvPr/>
              </p:nvSpPr>
              <p:spPr>
                <a:xfrm>
                  <a:off x="6233" y="3219"/>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9" name="Google Shape;1279;p39"/>
                <p:cNvSpPr/>
                <p:nvPr/>
              </p:nvSpPr>
              <p:spPr>
                <a:xfrm>
                  <a:off x="6232" y="3414"/>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0" name="Google Shape;1280;p39"/>
                <p:cNvSpPr/>
                <p:nvPr/>
              </p:nvSpPr>
              <p:spPr>
                <a:xfrm>
                  <a:off x="6233" y="3593"/>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1" name="Google Shape;1281;p39"/>
                <p:cNvSpPr/>
                <p:nvPr/>
              </p:nvSpPr>
              <p:spPr>
                <a:xfrm>
                  <a:off x="6232" y="3788"/>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2857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1282" name="Google Shape;1282;p39"/>
              <p:cNvCxnSpPr/>
              <p:nvPr/>
            </p:nvCxnSpPr>
            <p:spPr>
              <a:xfrm>
                <a:off x="9802" y="3383"/>
                <a:ext cx="0" cy="360"/>
              </a:xfrm>
              <a:prstGeom prst="straightConnector1">
                <a:avLst/>
              </a:prstGeom>
              <a:noFill/>
              <a:ln cap="flat" cmpd="sng" w="28575">
                <a:solidFill>
                  <a:srgbClr val="002060"/>
                </a:solidFill>
                <a:prstDash val="solid"/>
                <a:round/>
                <a:headEnd len="med" w="med" type="none"/>
                <a:tailEnd len="med" w="med" type="none"/>
              </a:ln>
            </p:spPr>
          </p:cxnSp>
          <p:cxnSp>
            <p:nvCxnSpPr>
              <p:cNvPr id="1283" name="Google Shape;1283;p39"/>
              <p:cNvCxnSpPr/>
              <p:nvPr/>
            </p:nvCxnSpPr>
            <p:spPr>
              <a:xfrm>
                <a:off x="9802" y="4838"/>
                <a:ext cx="0" cy="360"/>
              </a:xfrm>
              <a:prstGeom prst="straightConnector1">
                <a:avLst/>
              </a:prstGeom>
              <a:noFill/>
              <a:ln cap="flat" cmpd="sng" w="28575">
                <a:solidFill>
                  <a:srgbClr val="002060"/>
                </a:solidFill>
                <a:prstDash val="solid"/>
                <a:round/>
                <a:headEnd len="med" w="med" type="none"/>
                <a:tailEnd len="med" w="med" type="none"/>
              </a:ln>
            </p:spPr>
          </p:cxnSp>
          <p:cxnSp>
            <p:nvCxnSpPr>
              <p:cNvPr id="1284" name="Google Shape;1284;p39"/>
              <p:cNvCxnSpPr/>
              <p:nvPr/>
            </p:nvCxnSpPr>
            <p:spPr>
              <a:xfrm>
                <a:off x="6682" y="5198"/>
                <a:ext cx="3120" cy="0"/>
              </a:xfrm>
              <a:prstGeom prst="straightConnector1">
                <a:avLst/>
              </a:prstGeom>
              <a:noFill/>
              <a:ln cap="flat" cmpd="sng" w="28575">
                <a:solidFill>
                  <a:srgbClr val="002060"/>
                </a:solidFill>
                <a:prstDash val="solid"/>
                <a:round/>
                <a:headEnd len="med" w="med" type="none"/>
                <a:tailEnd len="med" w="med" type="none"/>
              </a:ln>
            </p:spPr>
          </p:cxnSp>
          <p:sp>
            <p:nvSpPr>
              <p:cNvPr id="1285" name="Google Shape;1285;p39"/>
              <p:cNvSpPr txBox="1"/>
              <p:nvPr/>
            </p:nvSpPr>
            <p:spPr>
              <a:xfrm>
                <a:off x="6861" y="2968"/>
                <a:ext cx="491"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I(s)</a:t>
                </a:r>
                <a:endParaRPr sz="1200">
                  <a:solidFill>
                    <a:schemeClr val="dk1"/>
                  </a:solidFill>
                  <a:latin typeface="Times New Roman"/>
                  <a:ea typeface="Times New Roman"/>
                  <a:cs typeface="Times New Roman"/>
                  <a:sym typeface="Times New Roman"/>
                </a:endParaRPr>
              </a:p>
            </p:txBody>
          </p:sp>
          <p:cxnSp>
            <p:nvCxnSpPr>
              <p:cNvPr id="1286" name="Google Shape;1286;p39"/>
              <p:cNvCxnSpPr/>
              <p:nvPr/>
            </p:nvCxnSpPr>
            <p:spPr>
              <a:xfrm>
                <a:off x="9514" y="3863"/>
                <a:ext cx="0" cy="917"/>
              </a:xfrm>
              <a:prstGeom prst="straightConnector1">
                <a:avLst/>
              </a:prstGeom>
              <a:noFill/>
              <a:ln cap="flat" cmpd="sng" w="28575">
                <a:solidFill>
                  <a:srgbClr val="002060"/>
                </a:solidFill>
                <a:prstDash val="solid"/>
                <a:round/>
                <a:headEnd len="med" w="med" type="stealth"/>
                <a:tailEnd len="med" w="med" type="none"/>
              </a:ln>
            </p:spPr>
          </p:cxnSp>
          <p:sp>
            <p:nvSpPr>
              <p:cNvPr id="1287" name="Google Shape;1287;p39"/>
              <p:cNvSpPr txBox="1"/>
              <p:nvPr/>
            </p:nvSpPr>
            <p:spPr>
              <a:xfrm>
                <a:off x="9387" y="3519"/>
                <a:ext cx="423"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V</a:t>
                </a:r>
                <a:endParaRPr sz="1200">
                  <a:solidFill>
                    <a:schemeClr val="dk1"/>
                  </a:solidFill>
                  <a:latin typeface="Times New Roman"/>
                  <a:ea typeface="Times New Roman"/>
                  <a:cs typeface="Times New Roman"/>
                  <a:sym typeface="Times New Roman"/>
                </a:endParaRPr>
              </a:p>
            </p:txBody>
          </p:sp>
          <p:cxnSp>
            <p:nvCxnSpPr>
              <p:cNvPr id="1288" name="Google Shape;1288;p39"/>
              <p:cNvCxnSpPr/>
              <p:nvPr/>
            </p:nvCxnSpPr>
            <p:spPr>
              <a:xfrm>
                <a:off x="8618" y="3038"/>
                <a:ext cx="360" cy="0"/>
              </a:xfrm>
              <a:prstGeom prst="straightConnector1">
                <a:avLst/>
              </a:prstGeom>
              <a:noFill/>
              <a:ln cap="flat" cmpd="sng" w="28575">
                <a:solidFill>
                  <a:srgbClr val="002060"/>
                </a:solidFill>
                <a:prstDash val="solid"/>
                <a:round/>
                <a:headEnd len="med" w="med" type="stealth"/>
                <a:tailEnd len="med" w="med" type="none"/>
              </a:ln>
            </p:spPr>
          </p:cxnSp>
          <p:sp>
            <p:nvSpPr>
              <p:cNvPr id="1289" name="Google Shape;1289;p39"/>
              <p:cNvSpPr txBox="1"/>
              <p:nvPr/>
            </p:nvSpPr>
            <p:spPr>
              <a:xfrm>
                <a:off x="8267" y="2867"/>
                <a:ext cx="408" cy="516"/>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chemeClr val="dk1"/>
                    </a:solidFill>
                    <a:latin typeface="Times New Roman"/>
                    <a:ea typeface="Times New Roman"/>
                    <a:cs typeface="Times New Roman"/>
                    <a:sym typeface="Times New Roman"/>
                  </a:rPr>
                  <a:t>V</a:t>
                </a:r>
                <a:r>
                  <a:rPr baseline="-25000" lang="en-GB" sz="3600">
                    <a:solidFill>
                      <a:schemeClr val="dk1"/>
                    </a:solidFill>
                    <a:latin typeface="Times New Roman"/>
                    <a:ea typeface="Times New Roman"/>
                    <a:cs typeface="Times New Roman"/>
                    <a:sym typeface="Times New Roman"/>
                  </a:rPr>
                  <a:t>0</a:t>
                </a:r>
                <a:endParaRPr sz="1200">
                  <a:solidFill>
                    <a:schemeClr val="dk1"/>
                  </a:solidFill>
                  <a:latin typeface="Times New Roman"/>
                  <a:ea typeface="Times New Roman"/>
                  <a:cs typeface="Times New Roman"/>
                  <a:sym typeface="Times New Roman"/>
                </a:endParaRPr>
              </a:p>
            </p:txBody>
          </p:sp>
          <p:sp>
            <p:nvSpPr>
              <p:cNvPr id="1290" name="Google Shape;1290;p39"/>
              <p:cNvSpPr txBox="1"/>
              <p:nvPr/>
            </p:nvSpPr>
            <p:spPr>
              <a:xfrm>
                <a:off x="7955" y="3434"/>
                <a:ext cx="421" cy="484"/>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chemeClr val="dk1"/>
                    </a:solidFill>
                    <a:latin typeface="Times New Roman"/>
                    <a:ea typeface="Times New Roman"/>
                    <a:cs typeface="Times New Roman"/>
                    <a:sym typeface="Times New Roman"/>
                  </a:rPr>
                  <a:t>C</a:t>
                </a:r>
                <a:endParaRPr sz="1200">
                  <a:solidFill>
                    <a:schemeClr val="dk1"/>
                  </a:solidFill>
                  <a:latin typeface="Times New Roman"/>
                  <a:ea typeface="Times New Roman"/>
                  <a:cs typeface="Times New Roman"/>
                  <a:sym typeface="Times New Roman"/>
                </a:endParaRPr>
              </a:p>
            </p:txBody>
          </p:sp>
          <p:sp>
            <p:nvSpPr>
              <p:cNvPr id="1291" name="Google Shape;1291;p39"/>
              <p:cNvSpPr txBox="1"/>
              <p:nvPr/>
            </p:nvSpPr>
            <p:spPr>
              <a:xfrm>
                <a:off x="7142" y="3938"/>
                <a:ext cx="279" cy="544"/>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chemeClr val="dk1"/>
                    </a:solidFill>
                    <a:latin typeface="Times New Roman"/>
                    <a:ea typeface="Times New Roman"/>
                    <a:cs typeface="Times New Roman"/>
                    <a:sym typeface="Times New Roman"/>
                  </a:rPr>
                  <a:t>E</a:t>
                </a:r>
                <a:endParaRPr sz="1200">
                  <a:solidFill>
                    <a:schemeClr val="dk1"/>
                  </a:solidFill>
                  <a:latin typeface="Times New Roman"/>
                  <a:ea typeface="Times New Roman"/>
                  <a:cs typeface="Times New Roman"/>
                  <a:sym typeface="Times New Roman"/>
                </a:endParaRPr>
              </a:p>
            </p:txBody>
          </p:sp>
        </p:grpSp>
        <p:sp>
          <p:nvSpPr>
            <p:cNvPr id="1292" name="Google Shape;1292;p39"/>
            <p:cNvSpPr txBox="1"/>
            <p:nvPr/>
          </p:nvSpPr>
          <p:spPr>
            <a:xfrm>
              <a:off x="11737787" y="2181462"/>
              <a:ext cx="423863" cy="773113"/>
            </a:xfrm>
            <a:prstGeom prst="rect">
              <a:avLst/>
            </a:prstGeom>
            <a:noFill/>
            <a:ln>
              <a:noFill/>
            </a:ln>
          </p:spPr>
          <p:txBody>
            <a:bodyPr anchorCtr="0" anchor="t" bIns="10800" lIns="18000" spcFirstLastPara="1" rIns="18000" wrap="square" tIns="10800">
              <a:noAutofit/>
            </a:bodyPr>
            <a:lstStyle/>
            <a:p>
              <a:pPr indent="0" lvl="0" marL="0" marR="0" rtl="0" algn="l">
                <a:lnSpc>
                  <a:spcPct val="100000"/>
                </a:lnSpc>
                <a:spcBef>
                  <a:spcPts val="0"/>
                </a:spcBef>
                <a:spcAft>
                  <a:spcPts val="0"/>
                </a:spcAft>
                <a:buClr>
                  <a:schemeClr val="dk1"/>
                </a:buClr>
                <a:buSzPts val="3600"/>
                <a:buFont typeface="Times New Roman"/>
                <a:buNone/>
              </a:pPr>
              <a:r>
                <a:rPr b="0" i="0" lang="en-GB" sz="3600" u="none" cap="none" strike="noStrike">
                  <a:solidFill>
                    <a:schemeClr val="dk1"/>
                  </a:solidFill>
                  <a:latin typeface="Times New Roman"/>
                  <a:ea typeface="Times New Roman"/>
                  <a:cs typeface="Times New Roman"/>
                  <a:sym typeface="Times New Roman"/>
                </a:rPr>
                <a:t>L</a:t>
              </a:r>
              <a:endParaRPr b="0" i="0" sz="1800" u="none" cap="none" strike="noStrike">
                <a:solidFill>
                  <a:schemeClr val="dk1"/>
                </a:solidFill>
                <a:latin typeface="Times New Roman"/>
                <a:ea typeface="Times New Roman"/>
                <a:cs typeface="Times New Roman"/>
                <a:sym typeface="Times New Roman"/>
              </a:endParaRPr>
            </a:p>
          </p:txBody>
        </p:sp>
      </p:grpSp>
      <p:sp>
        <p:nvSpPr>
          <p:cNvPr id="1293" name="Google Shape;1293;p39"/>
          <p:cNvSpPr/>
          <p:nvPr/>
        </p:nvSpPr>
        <p:spPr>
          <a:xfrm>
            <a:off x="152400" y="152400"/>
            <a:ext cx="12192000" cy="45720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4" name="Google Shape;1294;p39"/>
          <p:cNvSpPr/>
          <p:nvPr/>
        </p:nvSpPr>
        <p:spPr>
          <a:xfrm>
            <a:off x="394970" y="1448224"/>
            <a:ext cx="6242367" cy="230832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In the series LC circuit shown, initially the capacitor is charged to a voltage V</a:t>
            </a:r>
            <a:r>
              <a:rPr b="0" baseline="-25000" i="0" lang="en-GB" sz="3600" u="none" cap="none" strike="noStrike">
                <a:solidFill>
                  <a:srgbClr val="002060"/>
                </a:solidFill>
                <a:latin typeface="Times New Roman"/>
                <a:ea typeface="Times New Roman"/>
                <a:cs typeface="Times New Roman"/>
                <a:sym typeface="Times New Roman"/>
              </a:rPr>
              <a:t>o</a:t>
            </a:r>
            <a:r>
              <a:rPr b="0" i="0" lang="en-GB" sz="3600" u="none" cap="none" strike="noStrike">
                <a:solidFill>
                  <a:srgbClr val="002060"/>
                </a:solidFill>
                <a:latin typeface="Times New Roman"/>
                <a:ea typeface="Times New Roman"/>
                <a:cs typeface="Times New Roman"/>
                <a:sym typeface="Times New Roman"/>
              </a:rPr>
              <a:t> and inductor does not carry any current.  </a:t>
            </a:r>
            <a:endParaRPr b="0" i="0" sz="1100" u="none" cap="none" strike="noStrike">
              <a:solidFill>
                <a:schemeClr val="dk1"/>
              </a:solidFill>
              <a:latin typeface="Times New Roman"/>
              <a:ea typeface="Times New Roman"/>
              <a:cs typeface="Times New Roman"/>
              <a:sym typeface="Times New Roman"/>
            </a:endParaRPr>
          </a:p>
        </p:txBody>
      </p:sp>
      <p:sp>
        <p:nvSpPr>
          <p:cNvPr id="1295" name="Google Shape;1295;p39"/>
          <p:cNvSpPr/>
          <p:nvPr/>
        </p:nvSpPr>
        <p:spPr>
          <a:xfrm>
            <a:off x="364458" y="3861888"/>
            <a:ext cx="9830449" cy="230832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At time t = 0, a step voltage of magnitude E is applied to the series combination.  </a:t>
            </a:r>
            <a:endParaRPr b="0" i="0" sz="3600" u="none" cap="none" strike="noStrike">
              <a:solidFill>
                <a:srgbClr val="00206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Determine the (a) the Laplace Transform circuit and (b) the transient voltage across L.</a:t>
            </a:r>
            <a:r>
              <a:rPr b="0" i="0" lang="en-GB" sz="11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p40"/>
          <p:cNvSpPr txBox="1"/>
          <p:nvPr>
            <p:ph type="title"/>
          </p:nvPr>
        </p:nvSpPr>
        <p:spPr>
          <a:xfrm>
            <a:off x="429715" y="457199"/>
            <a:ext cx="10924085" cy="5517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Times New Roman"/>
              <a:buNone/>
            </a:pPr>
            <a:r>
              <a:rPr lang="en-GB"/>
              <a:t>Solution</a:t>
            </a:r>
            <a:endParaRPr/>
          </a:p>
        </p:txBody>
      </p:sp>
      <p:sp>
        <p:nvSpPr>
          <p:cNvPr id="1301" name="Google Shape;1301;p40"/>
          <p:cNvSpPr/>
          <p:nvPr/>
        </p:nvSpPr>
        <p:spPr>
          <a:xfrm>
            <a:off x="429715" y="3014155"/>
            <a:ext cx="11340254" cy="3647152"/>
          </a:xfrm>
          <a:prstGeom prst="rect">
            <a:avLst/>
          </a:prstGeom>
          <a:noFill/>
          <a:ln>
            <a:noFill/>
          </a:ln>
        </p:spPr>
        <p:txBody>
          <a:bodyPr anchorCtr="0" anchor="t" bIns="45700" lIns="91425" spcFirstLastPara="1" rIns="91425" wrap="square" tIns="45700">
            <a:spAutoFit/>
          </a:bodyPr>
          <a:lstStyle/>
          <a:p>
            <a:pPr indent="0" lvl="0" marL="0" marR="45085" rtl="0" algn="just">
              <a:spcBef>
                <a:spcPts val="0"/>
              </a:spcBef>
              <a:spcAft>
                <a:spcPts val="0"/>
              </a:spcAft>
              <a:buNone/>
            </a:pPr>
            <a:r>
              <a:rPr lang="en-GB" sz="3600">
                <a:solidFill>
                  <a:srgbClr val="002060"/>
                </a:solidFill>
                <a:latin typeface="Times New Roman"/>
                <a:ea typeface="Times New Roman"/>
                <a:cs typeface="Times New Roman"/>
                <a:sym typeface="Times New Roman"/>
              </a:rPr>
              <a:t>Circuit is first transformed to Laplace domain. </a:t>
            </a:r>
            <a:endParaRPr sz="3600">
              <a:solidFill>
                <a:schemeClr val="dk1"/>
              </a:solidFill>
              <a:latin typeface="Times New Roman"/>
              <a:ea typeface="Times New Roman"/>
              <a:cs typeface="Times New Roman"/>
              <a:sym typeface="Times New Roman"/>
            </a:endParaRPr>
          </a:p>
          <a:p>
            <a:pPr indent="0" lvl="0" marL="0" marR="45085" rtl="0" algn="just">
              <a:spcBef>
                <a:spcPts val="600"/>
              </a:spcBef>
              <a:spcAft>
                <a:spcPts val="0"/>
              </a:spcAft>
              <a:buNone/>
            </a:pPr>
            <a:r>
              <a:rPr lang="en-GB" sz="3600">
                <a:solidFill>
                  <a:srgbClr val="002060"/>
                </a:solidFill>
                <a:latin typeface="Times New Roman"/>
                <a:ea typeface="Times New Roman"/>
                <a:cs typeface="Times New Roman"/>
                <a:sym typeface="Times New Roman"/>
              </a:rPr>
              <a:t>Voltage-source form is selected for the capacitance as the circuit is a series circuit,</a:t>
            </a:r>
            <a:endParaRPr/>
          </a:p>
          <a:p>
            <a:pPr indent="0" lvl="0" marL="0" marR="45085" rtl="0" algn="just">
              <a:spcBef>
                <a:spcPts val="600"/>
              </a:spcBef>
              <a:spcAft>
                <a:spcPts val="0"/>
              </a:spcAft>
              <a:buNone/>
            </a:pPr>
            <a:r>
              <a:rPr lang="en-GB" sz="3600">
                <a:solidFill>
                  <a:srgbClr val="002060"/>
                </a:solidFill>
                <a:latin typeface="Times New Roman"/>
                <a:ea typeface="Times New Roman"/>
                <a:cs typeface="Times New Roman"/>
                <a:sym typeface="Times New Roman"/>
              </a:rPr>
              <a:t>That form makes calculations easier.  </a:t>
            </a:r>
            <a:endParaRPr sz="3600">
              <a:solidFill>
                <a:schemeClr val="dk1"/>
              </a:solidFill>
              <a:latin typeface="Times New Roman"/>
              <a:ea typeface="Times New Roman"/>
              <a:cs typeface="Times New Roman"/>
              <a:sym typeface="Times New Roman"/>
            </a:endParaRPr>
          </a:p>
          <a:p>
            <a:pPr indent="0" lvl="0" marL="0" marR="0" rtl="0" algn="l">
              <a:spcBef>
                <a:spcPts val="600"/>
              </a:spcBef>
              <a:spcAft>
                <a:spcPts val="0"/>
              </a:spcAft>
              <a:buNone/>
            </a:pPr>
            <a:r>
              <a:rPr lang="en-GB" sz="3600">
                <a:solidFill>
                  <a:srgbClr val="002060"/>
                </a:solidFill>
                <a:latin typeface="Times New Roman"/>
                <a:ea typeface="Times New Roman"/>
                <a:cs typeface="Times New Roman"/>
                <a:sym typeface="Times New Roman"/>
              </a:rPr>
              <a:t>Since there is no initial current in the inductor,                    no source is associated with the inductor.</a:t>
            </a:r>
            <a:endParaRPr sz="3600">
              <a:solidFill>
                <a:schemeClr val="dk1"/>
              </a:solidFill>
              <a:latin typeface="Calibri"/>
              <a:ea typeface="Calibri"/>
              <a:cs typeface="Calibri"/>
              <a:sym typeface="Calibri"/>
            </a:endParaRPr>
          </a:p>
        </p:txBody>
      </p:sp>
      <p:sp>
        <p:nvSpPr>
          <p:cNvPr id="1302" name="Google Shape;1302;p40"/>
          <p:cNvSpPr txBox="1"/>
          <p:nvPr/>
        </p:nvSpPr>
        <p:spPr>
          <a:xfrm>
            <a:off x="5824220" y="2808922"/>
            <a:ext cx="543560" cy="1240155"/>
          </a:xfrm>
          <a:prstGeom prst="rect">
            <a:avLst/>
          </a:prstGeom>
          <a:noFill/>
          <a:ln>
            <a:noFill/>
          </a:ln>
        </p:spPr>
        <p:txBody>
          <a:bodyPr anchorCtr="0" anchor="t" bIns="10800" lIns="18000" spcFirstLastPara="1" rIns="18000" wrap="square" tIns="10800">
            <a:spAutoFit/>
          </a:bodyPr>
          <a:lstStyle/>
          <a:p>
            <a:pPr indent="0" lvl="0" marL="0" marR="0" rtl="0" algn="l">
              <a:spcBef>
                <a:spcPts val="0"/>
              </a:spcBef>
              <a:spcAft>
                <a:spcPts val="0"/>
              </a:spcAft>
              <a:buNone/>
            </a:pPr>
            <a:r>
              <a:t/>
            </a:r>
            <a:endParaRPr sz="3600">
              <a:solidFill>
                <a:schemeClr val="dk1"/>
              </a:solidFill>
              <a:latin typeface="Times New Roman"/>
              <a:ea typeface="Times New Roman"/>
              <a:cs typeface="Times New Roman"/>
              <a:sym typeface="Times New Roman"/>
            </a:endParaRPr>
          </a:p>
        </p:txBody>
      </p:sp>
      <p:sp>
        <p:nvSpPr>
          <p:cNvPr id="1303" name="Google Shape;1303;p40"/>
          <p:cNvSpPr/>
          <p:nvPr/>
        </p:nvSpPr>
        <p:spPr>
          <a:xfrm>
            <a:off x="7971753" y="94820"/>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4" name="Google Shape;1304;p40"/>
          <p:cNvSpPr/>
          <p:nvPr/>
        </p:nvSpPr>
        <p:spPr>
          <a:xfrm>
            <a:off x="0" y="0"/>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305" name="Google Shape;1305;p40"/>
          <p:cNvGrpSpPr/>
          <p:nvPr/>
        </p:nvGrpSpPr>
        <p:grpSpPr>
          <a:xfrm>
            <a:off x="825210" y="94820"/>
            <a:ext cx="10551944" cy="2919334"/>
            <a:chOff x="825210" y="94820"/>
            <a:chExt cx="10551944" cy="2919334"/>
          </a:xfrm>
        </p:grpSpPr>
        <p:grpSp>
          <p:nvGrpSpPr>
            <p:cNvPr id="1306" name="Google Shape;1306;p40"/>
            <p:cNvGrpSpPr/>
            <p:nvPr/>
          </p:nvGrpSpPr>
          <p:grpSpPr>
            <a:xfrm>
              <a:off x="825210" y="457199"/>
              <a:ext cx="10551944" cy="2556955"/>
              <a:chOff x="1402" y="54076"/>
              <a:chExt cx="12950163" cy="3764094"/>
            </a:xfrm>
          </p:grpSpPr>
          <p:grpSp>
            <p:nvGrpSpPr>
              <p:cNvPr id="1307" name="Google Shape;1307;p40"/>
              <p:cNvGrpSpPr/>
              <p:nvPr/>
            </p:nvGrpSpPr>
            <p:grpSpPr>
              <a:xfrm>
                <a:off x="1402" y="91188"/>
                <a:ext cx="5956794" cy="3726982"/>
                <a:chOff x="1858" y="2910"/>
                <a:chExt cx="4240" cy="2288"/>
              </a:xfrm>
            </p:grpSpPr>
            <p:sp>
              <p:nvSpPr>
                <p:cNvPr id="1308" name="Google Shape;1308;p40"/>
                <p:cNvSpPr/>
                <p:nvPr/>
              </p:nvSpPr>
              <p:spPr>
                <a:xfrm>
                  <a:off x="2138" y="3938"/>
                  <a:ext cx="600" cy="600"/>
                </a:xfrm>
                <a:prstGeom prst="ellipse">
                  <a:avLst/>
                </a:pr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309" name="Google Shape;1309;p40"/>
                <p:cNvCxnSpPr/>
                <p:nvPr/>
              </p:nvCxnSpPr>
              <p:spPr>
                <a:xfrm>
                  <a:off x="2048" y="3956"/>
                  <a:ext cx="0" cy="540"/>
                </a:xfrm>
                <a:prstGeom prst="straightConnector1">
                  <a:avLst/>
                </a:prstGeom>
                <a:noFill/>
                <a:ln cap="flat" cmpd="sng" w="31750">
                  <a:solidFill>
                    <a:srgbClr val="002060"/>
                  </a:solidFill>
                  <a:prstDash val="solid"/>
                  <a:round/>
                  <a:headEnd len="sm" w="sm" type="stealth"/>
                  <a:tailEnd len="med" w="med" type="none"/>
                </a:ln>
              </p:spPr>
            </p:cxnSp>
            <p:cxnSp>
              <p:nvCxnSpPr>
                <p:cNvPr id="1310" name="Google Shape;1310;p40"/>
                <p:cNvCxnSpPr/>
                <p:nvPr/>
              </p:nvCxnSpPr>
              <p:spPr>
                <a:xfrm>
                  <a:off x="2438" y="3398"/>
                  <a:ext cx="0" cy="540"/>
                </a:xfrm>
                <a:prstGeom prst="straightConnector1">
                  <a:avLst/>
                </a:prstGeom>
                <a:noFill/>
                <a:ln cap="flat" cmpd="sng" w="31750">
                  <a:solidFill>
                    <a:srgbClr val="002060"/>
                  </a:solidFill>
                  <a:prstDash val="solid"/>
                  <a:round/>
                  <a:headEnd len="med" w="med" type="none"/>
                  <a:tailEnd len="med" w="med" type="none"/>
                </a:ln>
              </p:spPr>
            </p:cxnSp>
            <p:cxnSp>
              <p:nvCxnSpPr>
                <p:cNvPr id="1311" name="Google Shape;1311;p40"/>
                <p:cNvCxnSpPr/>
                <p:nvPr/>
              </p:nvCxnSpPr>
              <p:spPr>
                <a:xfrm>
                  <a:off x="2438" y="4538"/>
                  <a:ext cx="0" cy="660"/>
                </a:xfrm>
                <a:prstGeom prst="straightConnector1">
                  <a:avLst/>
                </a:prstGeom>
                <a:noFill/>
                <a:ln cap="flat" cmpd="sng" w="31750">
                  <a:solidFill>
                    <a:srgbClr val="002060"/>
                  </a:solidFill>
                  <a:prstDash val="solid"/>
                  <a:round/>
                  <a:headEnd len="med" w="med" type="none"/>
                  <a:tailEnd len="med" w="med" type="none"/>
                </a:ln>
              </p:spPr>
            </p:cxnSp>
            <p:grpSp>
              <p:nvGrpSpPr>
                <p:cNvPr id="1312" name="Google Shape;1312;p40"/>
                <p:cNvGrpSpPr/>
                <p:nvPr/>
              </p:nvGrpSpPr>
              <p:grpSpPr>
                <a:xfrm>
                  <a:off x="2183" y="4133"/>
                  <a:ext cx="480" cy="180"/>
                  <a:chOff x="2138" y="4118"/>
                  <a:chExt cx="480" cy="180"/>
                </a:xfrm>
              </p:grpSpPr>
              <p:cxnSp>
                <p:nvCxnSpPr>
                  <p:cNvPr id="1313" name="Google Shape;1313;p40"/>
                  <p:cNvCxnSpPr/>
                  <p:nvPr/>
                </p:nvCxnSpPr>
                <p:spPr>
                  <a:xfrm>
                    <a:off x="2138" y="4298"/>
                    <a:ext cx="240" cy="0"/>
                  </a:xfrm>
                  <a:prstGeom prst="straightConnector1">
                    <a:avLst/>
                  </a:prstGeom>
                  <a:noFill/>
                  <a:ln cap="flat" cmpd="sng" w="31750">
                    <a:solidFill>
                      <a:srgbClr val="002060"/>
                    </a:solidFill>
                    <a:prstDash val="solid"/>
                    <a:round/>
                    <a:headEnd len="med" w="med" type="none"/>
                    <a:tailEnd len="med" w="med" type="none"/>
                  </a:ln>
                </p:spPr>
              </p:cxnSp>
              <p:cxnSp>
                <p:nvCxnSpPr>
                  <p:cNvPr id="1314" name="Google Shape;1314;p40"/>
                  <p:cNvCxnSpPr/>
                  <p:nvPr/>
                </p:nvCxnSpPr>
                <p:spPr>
                  <a:xfrm rot="10800000">
                    <a:off x="2378" y="4118"/>
                    <a:ext cx="0" cy="180"/>
                  </a:xfrm>
                  <a:prstGeom prst="straightConnector1">
                    <a:avLst/>
                  </a:prstGeom>
                  <a:noFill/>
                  <a:ln cap="flat" cmpd="sng" w="31750">
                    <a:solidFill>
                      <a:srgbClr val="002060"/>
                    </a:solidFill>
                    <a:prstDash val="solid"/>
                    <a:round/>
                    <a:headEnd len="med" w="med" type="none"/>
                    <a:tailEnd len="med" w="med" type="none"/>
                  </a:ln>
                </p:spPr>
              </p:cxnSp>
              <p:cxnSp>
                <p:nvCxnSpPr>
                  <p:cNvPr id="1315" name="Google Shape;1315;p40"/>
                  <p:cNvCxnSpPr/>
                  <p:nvPr/>
                </p:nvCxnSpPr>
                <p:spPr>
                  <a:xfrm>
                    <a:off x="2378" y="4118"/>
                    <a:ext cx="240" cy="0"/>
                  </a:xfrm>
                  <a:prstGeom prst="straightConnector1">
                    <a:avLst/>
                  </a:prstGeom>
                  <a:noFill/>
                  <a:ln cap="flat" cmpd="sng" w="31750">
                    <a:solidFill>
                      <a:srgbClr val="002060"/>
                    </a:solidFill>
                    <a:prstDash val="solid"/>
                    <a:round/>
                    <a:headEnd len="med" w="med" type="none"/>
                    <a:tailEnd len="med" w="med" type="none"/>
                  </a:ln>
                </p:spPr>
              </p:cxnSp>
            </p:grpSp>
            <p:grpSp>
              <p:nvGrpSpPr>
                <p:cNvPr id="1316" name="Google Shape;1316;p40"/>
                <p:cNvGrpSpPr/>
                <p:nvPr/>
              </p:nvGrpSpPr>
              <p:grpSpPr>
                <a:xfrm>
                  <a:off x="2821" y="3216"/>
                  <a:ext cx="1531" cy="360"/>
                  <a:chOff x="6218" y="2281"/>
                  <a:chExt cx="1320" cy="360"/>
                </a:xfrm>
              </p:grpSpPr>
              <p:cxnSp>
                <p:nvCxnSpPr>
                  <p:cNvPr id="1317" name="Google Shape;1317;p40"/>
                  <p:cNvCxnSpPr/>
                  <p:nvPr/>
                </p:nvCxnSpPr>
                <p:spPr>
                  <a:xfrm>
                    <a:off x="6218" y="2461"/>
                    <a:ext cx="600" cy="0"/>
                  </a:xfrm>
                  <a:prstGeom prst="straightConnector1">
                    <a:avLst/>
                  </a:prstGeom>
                  <a:noFill/>
                  <a:ln cap="flat" cmpd="sng" w="31750">
                    <a:solidFill>
                      <a:srgbClr val="002060"/>
                    </a:solidFill>
                    <a:prstDash val="solid"/>
                    <a:round/>
                    <a:headEnd len="med" w="med" type="none"/>
                    <a:tailEnd len="med" w="med" type="none"/>
                  </a:ln>
                </p:spPr>
              </p:cxnSp>
              <p:cxnSp>
                <p:nvCxnSpPr>
                  <p:cNvPr id="1318" name="Google Shape;1318;p40"/>
                  <p:cNvCxnSpPr/>
                  <p:nvPr/>
                </p:nvCxnSpPr>
                <p:spPr>
                  <a:xfrm>
                    <a:off x="6938" y="2461"/>
                    <a:ext cx="600" cy="0"/>
                  </a:xfrm>
                  <a:prstGeom prst="straightConnector1">
                    <a:avLst/>
                  </a:prstGeom>
                  <a:noFill/>
                  <a:ln cap="flat" cmpd="sng" w="31750">
                    <a:solidFill>
                      <a:srgbClr val="002060"/>
                    </a:solidFill>
                    <a:prstDash val="solid"/>
                    <a:round/>
                    <a:headEnd len="med" w="med" type="none"/>
                    <a:tailEnd len="med" w="med" type="none"/>
                  </a:ln>
                </p:spPr>
              </p:cxnSp>
              <p:cxnSp>
                <p:nvCxnSpPr>
                  <p:cNvPr id="1319" name="Google Shape;1319;p40"/>
                  <p:cNvCxnSpPr/>
                  <p:nvPr/>
                </p:nvCxnSpPr>
                <p:spPr>
                  <a:xfrm>
                    <a:off x="6818" y="2281"/>
                    <a:ext cx="0" cy="360"/>
                  </a:xfrm>
                  <a:prstGeom prst="straightConnector1">
                    <a:avLst/>
                  </a:prstGeom>
                  <a:noFill/>
                  <a:ln cap="flat" cmpd="sng" w="31750">
                    <a:solidFill>
                      <a:srgbClr val="002060"/>
                    </a:solidFill>
                    <a:prstDash val="solid"/>
                    <a:round/>
                    <a:headEnd len="med" w="med" type="none"/>
                    <a:tailEnd len="med" w="med" type="none"/>
                  </a:ln>
                </p:spPr>
              </p:cxnSp>
              <p:cxnSp>
                <p:nvCxnSpPr>
                  <p:cNvPr id="1320" name="Google Shape;1320;p40"/>
                  <p:cNvCxnSpPr/>
                  <p:nvPr/>
                </p:nvCxnSpPr>
                <p:spPr>
                  <a:xfrm>
                    <a:off x="6938" y="2281"/>
                    <a:ext cx="0" cy="360"/>
                  </a:xfrm>
                  <a:prstGeom prst="straightConnector1">
                    <a:avLst/>
                  </a:prstGeom>
                  <a:noFill/>
                  <a:ln cap="flat" cmpd="sng" w="31750">
                    <a:solidFill>
                      <a:srgbClr val="002060"/>
                    </a:solidFill>
                    <a:prstDash val="solid"/>
                    <a:round/>
                    <a:headEnd len="med" w="med" type="none"/>
                    <a:tailEnd len="med" w="med" type="none"/>
                  </a:ln>
                </p:spPr>
              </p:cxnSp>
            </p:grpSp>
            <p:cxnSp>
              <p:nvCxnSpPr>
                <p:cNvPr id="1321" name="Google Shape;1321;p40"/>
                <p:cNvCxnSpPr/>
                <p:nvPr/>
              </p:nvCxnSpPr>
              <p:spPr>
                <a:xfrm>
                  <a:off x="2438" y="3398"/>
                  <a:ext cx="411" cy="0"/>
                </a:xfrm>
                <a:prstGeom prst="straightConnector1">
                  <a:avLst/>
                </a:prstGeom>
                <a:noFill/>
                <a:ln cap="flat" cmpd="sng" w="31750">
                  <a:solidFill>
                    <a:srgbClr val="002060"/>
                  </a:solidFill>
                  <a:prstDash val="solid"/>
                  <a:round/>
                  <a:headEnd len="med" w="med" type="none"/>
                  <a:tailEnd len="med" w="med" type="stealth"/>
                </a:ln>
              </p:spPr>
            </p:cxnSp>
            <p:cxnSp>
              <p:nvCxnSpPr>
                <p:cNvPr id="1322" name="Google Shape;1322;p40"/>
                <p:cNvCxnSpPr/>
                <p:nvPr/>
              </p:nvCxnSpPr>
              <p:spPr>
                <a:xfrm>
                  <a:off x="4298" y="3405"/>
                  <a:ext cx="1260" cy="0"/>
                </a:xfrm>
                <a:prstGeom prst="straightConnector1">
                  <a:avLst/>
                </a:prstGeom>
                <a:noFill/>
                <a:ln cap="flat" cmpd="sng" w="31750">
                  <a:solidFill>
                    <a:srgbClr val="002060"/>
                  </a:solidFill>
                  <a:prstDash val="solid"/>
                  <a:round/>
                  <a:headEnd len="med" w="med" type="none"/>
                  <a:tailEnd len="med" w="med" type="none"/>
                </a:ln>
              </p:spPr>
            </p:cxnSp>
            <p:grpSp>
              <p:nvGrpSpPr>
                <p:cNvPr id="1323" name="Google Shape;1323;p40"/>
                <p:cNvGrpSpPr/>
                <p:nvPr/>
              </p:nvGrpSpPr>
              <p:grpSpPr>
                <a:xfrm>
                  <a:off x="5558" y="3727"/>
                  <a:ext cx="136" cy="1106"/>
                  <a:chOff x="6232" y="3219"/>
                  <a:chExt cx="92" cy="751"/>
                </a:xfrm>
              </p:grpSpPr>
              <p:sp>
                <p:nvSpPr>
                  <p:cNvPr id="1324" name="Google Shape;1324;p40"/>
                  <p:cNvSpPr/>
                  <p:nvPr/>
                </p:nvSpPr>
                <p:spPr>
                  <a:xfrm>
                    <a:off x="6233" y="3219"/>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5" name="Google Shape;1325;p40"/>
                  <p:cNvSpPr/>
                  <p:nvPr/>
                </p:nvSpPr>
                <p:spPr>
                  <a:xfrm>
                    <a:off x="6232" y="3414"/>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6" name="Google Shape;1326;p40"/>
                  <p:cNvSpPr/>
                  <p:nvPr/>
                </p:nvSpPr>
                <p:spPr>
                  <a:xfrm>
                    <a:off x="6233" y="3593"/>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7" name="Google Shape;1327;p40"/>
                  <p:cNvSpPr/>
                  <p:nvPr/>
                </p:nvSpPr>
                <p:spPr>
                  <a:xfrm>
                    <a:off x="6232" y="3788"/>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1328" name="Google Shape;1328;p40"/>
                <p:cNvCxnSpPr/>
                <p:nvPr/>
              </p:nvCxnSpPr>
              <p:spPr>
                <a:xfrm>
                  <a:off x="5558" y="3383"/>
                  <a:ext cx="0" cy="360"/>
                </a:xfrm>
                <a:prstGeom prst="straightConnector1">
                  <a:avLst/>
                </a:prstGeom>
                <a:noFill/>
                <a:ln cap="flat" cmpd="sng" w="31750">
                  <a:solidFill>
                    <a:srgbClr val="002060"/>
                  </a:solidFill>
                  <a:prstDash val="solid"/>
                  <a:round/>
                  <a:headEnd len="med" w="med" type="none"/>
                  <a:tailEnd len="med" w="med" type="none"/>
                </a:ln>
              </p:spPr>
            </p:cxnSp>
            <p:cxnSp>
              <p:nvCxnSpPr>
                <p:cNvPr id="1329" name="Google Shape;1329;p40"/>
                <p:cNvCxnSpPr/>
                <p:nvPr/>
              </p:nvCxnSpPr>
              <p:spPr>
                <a:xfrm>
                  <a:off x="5558" y="4838"/>
                  <a:ext cx="0" cy="360"/>
                </a:xfrm>
                <a:prstGeom prst="straightConnector1">
                  <a:avLst/>
                </a:prstGeom>
                <a:noFill/>
                <a:ln cap="flat" cmpd="sng" w="31750">
                  <a:solidFill>
                    <a:srgbClr val="002060"/>
                  </a:solidFill>
                  <a:prstDash val="solid"/>
                  <a:round/>
                  <a:headEnd len="med" w="med" type="none"/>
                  <a:tailEnd len="med" w="med" type="none"/>
                </a:ln>
              </p:spPr>
            </p:cxnSp>
            <p:cxnSp>
              <p:nvCxnSpPr>
                <p:cNvPr id="1330" name="Google Shape;1330;p40"/>
                <p:cNvCxnSpPr/>
                <p:nvPr/>
              </p:nvCxnSpPr>
              <p:spPr>
                <a:xfrm>
                  <a:off x="2438" y="5198"/>
                  <a:ext cx="3120" cy="0"/>
                </a:xfrm>
                <a:prstGeom prst="straightConnector1">
                  <a:avLst/>
                </a:prstGeom>
                <a:noFill/>
                <a:ln cap="flat" cmpd="sng" w="31750">
                  <a:solidFill>
                    <a:srgbClr val="002060"/>
                  </a:solidFill>
                  <a:prstDash val="solid"/>
                  <a:round/>
                  <a:headEnd len="med" w="med" type="none"/>
                  <a:tailEnd len="med" w="med" type="none"/>
                </a:ln>
              </p:spPr>
            </p:cxnSp>
            <p:sp>
              <p:nvSpPr>
                <p:cNvPr id="1331" name="Google Shape;1331;p40"/>
                <p:cNvSpPr txBox="1"/>
                <p:nvPr/>
              </p:nvSpPr>
              <p:spPr>
                <a:xfrm>
                  <a:off x="2647" y="3437"/>
                  <a:ext cx="681" cy="511"/>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i(t)</a:t>
                  </a:r>
                  <a:endParaRPr sz="1200">
                    <a:solidFill>
                      <a:schemeClr val="dk1"/>
                    </a:solidFill>
                    <a:latin typeface="Times New Roman"/>
                    <a:ea typeface="Times New Roman"/>
                    <a:cs typeface="Times New Roman"/>
                    <a:sym typeface="Times New Roman"/>
                  </a:endParaRPr>
                </a:p>
              </p:txBody>
            </p:sp>
            <p:cxnSp>
              <p:nvCxnSpPr>
                <p:cNvPr id="1332" name="Google Shape;1332;p40"/>
                <p:cNvCxnSpPr/>
                <p:nvPr/>
              </p:nvCxnSpPr>
              <p:spPr>
                <a:xfrm>
                  <a:off x="5334" y="3758"/>
                  <a:ext cx="0" cy="1080"/>
                </a:xfrm>
                <a:prstGeom prst="straightConnector1">
                  <a:avLst/>
                </a:prstGeom>
                <a:noFill/>
                <a:ln cap="flat" cmpd="sng" w="31750">
                  <a:solidFill>
                    <a:srgbClr val="002060"/>
                  </a:solidFill>
                  <a:prstDash val="solid"/>
                  <a:round/>
                  <a:headEnd len="med" w="med" type="stealth"/>
                  <a:tailEnd len="med" w="med" type="none"/>
                </a:ln>
              </p:spPr>
            </p:cxnSp>
            <p:sp>
              <p:nvSpPr>
                <p:cNvPr id="1333" name="Google Shape;1333;p40"/>
                <p:cNvSpPr txBox="1"/>
                <p:nvPr/>
              </p:nvSpPr>
              <p:spPr>
                <a:xfrm>
                  <a:off x="4604" y="3938"/>
                  <a:ext cx="850" cy="51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v(t)</a:t>
                  </a:r>
                  <a:endParaRPr sz="1200">
                    <a:solidFill>
                      <a:schemeClr val="dk1"/>
                    </a:solidFill>
                    <a:latin typeface="Times New Roman"/>
                    <a:ea typeface="Times New Roman"/>
                    <a:cs typeface="Times New Roman"/>
                    <a:sym typeface="Times New Roman"/>
                  </a:endParaRPr>
                </a:p>
              </p:txBody>
            </p:sp>
            <p:sp>
              <p:nvSpPr>
                <p:cNvPr id="1334" name="Google Shape;1334;p40"/>
                <p:cNvSpPr txBox="1"/>
                <p:nvPr/>
              </p:nvSpPr>
              <p:spPr>
                <a:xfrm>
                  <a:off x="1858" y="3521"/>
                  <a:ext cx="881" cy="533"/>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E.H</a:t>
                  </a:r>
                  <a:endParaRPr sz="1200">
                    <a:solidFill>
                      <a:schemeClr val="dk1"/>
                    </a:solidFill>
                    <a:latin typeface="Times New Roman"/>
                    <a:ea typeface="Times New Roman"/>
                    <a:cs typeface="Times New Roman"/>
                    <a:sym typeface="Times New Roman"/>
                  </a:endParaRPr>
                </a:p>
              </p:txBody>
            </p:sp>
            <p:sp>
              <p:nvSpPr>
                <p:cNvPr id="1335" name="Google Shape;1335;p40"/>
                <p:cNvSpPr txBox="1"/>
                <p:nvPr/>
              </p:nvSpPr>
              <p:spPr>
                <a:xfrm>
                  <a:off x="3743" y="2910"/>
                  <a:ext cx="420" cy="339"/>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C</a:t>
                  </a:r>
                  <a:endParaRPr sz="1200">
                    <a:solidFill>
                      <a:schemeClr val="dk1"/>
                    </a:solidFill>
                    <a:latin typeface="Times New Roman"/>
                    <a:ea typeface="Times New Roman"/>
                    <a:cs typeface="Times New Roman"/>
                    <a:sym typeface="Times New Roman"/>
                  </a:endParaRPr>
                </a:p>
              </p:txBody>
            </p:sp>
            <p:sp>
              <p:nvSpPr>
                <p:cNvPr id="1336" name="Google Shape;1336;p40"/>
                <p:cNvSpPr txBox="1"/>
                <p:nvPr/>
              </p:nvSpPr>
              <p:spPr>
                <a:xfrm>
                  <a:off x="3278" y="3398"/>
                  <a:ext cx="890" cy="485"/>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b="1" lang="en-GB" sz="3600">
                      <a:solidFill>
                        <a:srgbClr val="002060"/>
                      </a:solidFill>
                      <a:latin typeface="Times New Roman"/>
                      <a:ea typeface="Times New Roman"/>
                      <a:cs typeface="Times New Roman"/>
                      <a:sym typeface="Times New Roman"/>
                    </a:rPr>
                    <a:t>+   −</a:t>
                  </a:r>
                  <a:endParaRPr sz="1200">
                    <a:solidFill>
                      <a:schemeClr val="dk1"/>
                    </a:solidFill>
                    <a:latin typeface="Times New Roman"/>
                    <a:ea typeface="Times New Roman"/>
                    <a:cs typeface="Times New Roman"/>
                    <a:sym typeface="Times New Roman"/>
                  </a:endParaRPr>
                </a:p>
              </p:txBody>
            </p:sp>
            <p:sp>
              <p:nvSpPr>
                <p:cNvPr id="1337" name="Google Shape;1337;p40"/>
                <p:cNvSpPr txBox="1"/>
                <p:nvPr/>
              </p:nvSpPr>
              <p:spPr>
                <a:xfrm>
                  <a:off x="3458" y="3668"/>
                  <a:ext cx="504" cy="432"/>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V</a:t>
                  </a:r>
                  <a:r>
                    <a:rPr baseline="-25000" lang="en-GB" sz="3600">
                      <a:solidFill>
                        <a:srgbClr val="002060"/>
                      </a:solidFill>
                      <a:latin typeface="Times New Roman"/>
                      <a:ea typeface="Times New Roman"/>
                      <a:cs typeface="Times New Roman"/>
                      <a:sym typeface="Times New Roman"/>
                    </a:rPr>
                    <a:t>0</a:t>
                  </a:r>
                  <a:endParaRPr sz="1200">
                    <a:solidFill>
                      <a:schemeClr val="dk1"/>
                    </a:solidFill>
                    <a:latin typeface="Times New Roman"/>
                    <a:ea typeface="Times New Roman"/>
                    <a:cs typeface="Times New Roman"/>
                    <a:sym typeface="Times New Roman"/>
                  </a:endParaRPr>
                </a:p>
              </p:txBody>
            </p:sp>
            <p:sp>
              <p:nvSpPr>
                <p:cNvPr id="1338" name="Google Shape;1338;p40"/>
                <p:cNvSpPr txBox="1"/>
                <p:nvPr/>
              </p:nvSpPr>
              <p:spPr>
                <a:xfrm>
                  <a:off x="5738" y="4118"/>
                  <a:ext cx="36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L </a:t>
                  </a:r>
                  <a:endParaRPr sz="1200">
                    <a:solidFill>
                      <a:schemeClr val="dk1"/>
                    </a:solidFill>
                    <a:latin typeface="Times New Roman"/>
                    <a:ea typeface="Times New Roman"/>
                    <a:cs typeface="Times New Roman"/>
                    <a:sym typeface="Times New Roman"/>
                  </a:endParaRPr>
                </a:p>
              </p:txBody>
            </p:sp>
          </p:grpSp>
          <p:grpSp>
            <p:nvGrpSpPr>
              <p:cNvPr id="1339" name="Google Shape;1339;p40"/>
              <p:cNvGrpSpPr/>
              <p:nvPr/>
            </p:nvGrpSpPr>
            <p:grpSpPr>
              <a:xfrm>
                <a:off x="6523461" y="54076"/>
                <a:ext cx="6428104" cy="3731162"/>
                <a:chOff x="10658" y="2601"/>
                <a:chExt cx="4276" cy="2484"/>
              </a:xfrm>
            </p:grpSpPr>
            <p:sp>
              <p:nvSpPr>
                <p:cNvPr id="1340" name="Google Shape;1340;p40"/>
                <p:cNvSpPr txBox="1"/>
                <p:nvPr/>
              </p:nvSpPr>
              <p:spPr>
                <a:xfrm>
                  <a:off x="14334" y="4065"/>
                  <a:ext cx="600" cy="360"/>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L s</a:t>
                  </a:r>
                  <a:endParaRPr sz="1200">
                    <a:solidFill>
                      <a:schemeClr val="dk1"/>
                    </a:solidFill>
                    <a:latin typeface="Times New Roman"/>
                    <a:ea typeface="Times New Roman"/>
                    <a:cs typeface="Times New Roman"/>
                    <a:sym typeface="Times New Roman"/>
                  </a:endParaRPr>
                </a:p>
              </p:txBody>
            </p:sp>
            <p:grpSp>
              <p:nvGrpSpPr>
                <p:cNvPr id="1341" name="Google Shape;1341;p40"/>
                <p:cNvGrpSpPr/>
                <p:nvPr/>
              </p:nvGrpSpPr>
              <p:grpSpPr>
                <a:xfrm>
                  <a:off x="10658" y="2601"/>
                  <a:ext cx="3556" cy="2484"/>
                  <a:chOff x="6382" y="2714"/>
                  <a:chExt cx="3556" cy="2484"/>
                </a:xfrm>
              </p:grpSpPr>
              <p:sp>
                <p:nvSpPr>
                  <p:cNvPr id="1342" name="Google Shape;1342;p40"/>
                  <p:cNvSpPr/>
                  <p:nvPr/>
                </p:nvSpPr>
                <p:spPr>
                  <a:xfrm>
                    <a:off x="6382" y="3938"/>
                    <a:ext cx="600" cy="600"/>
                  </a:xfrm>
                  <a:prstGeom prst="ellipse">
                    <a:avLst/>
                  </a:pr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343" name="Google Shape;1343;p40"/>
                  <p:cNvCxnSpPr/>
                  <p:nvPr/>
                </p:nvCxnSpPr>
                <p:spPr>
                  <a:xfrm>
                    <a:off x="7058" y="3953"/>
                    <a:ext cx="0" cy="540"/>
                  </a:xfrm>
                  <a:prstGeom prst="straightConnector1">
                    <a:avLst/>
                  </a:prstGeom>
                  <a:noFill/>
                  <a:ln cap="flat" cmpd="sng" w="31750">
                    <a:solidFill>
                      <a:srgbClr val="002060"/>
                    </a:solidFill>
                    <a:prstDash val="solid"/>
                    <a:round/>
                    <a:headEnd len="med" w="med" type="stealth"/>
                    <a:tailEnd len="med" w="med" type="none"/>
                  </a:ln>
                </p:spPr>
              </p:cxnSp>
              <p:cxnSp>
                <p:nvCxnSpPr>
                  <p:cNvPr id="1344" name="Google Shape;1344;p40"/>
                  <p:cNvCxnSpPr/>
                  <p:nvPr/>
                </p:nvCxnSpPr>
                <p:spPr>
                  <a:xfrm>
                    <a:off x="6682" y="3398"/>
                    <a:ext cx="0" cy="540"/>
                  </a:xfrm>
                  <a:prstGeom prst="straightConnector1">
                    <a:avLst/>
                  </a:prstGeom>
                  <a:noFill/>
                  <a:ln cap="flat" cmpd="sng" w="31750">
                    <a:solidFill>
                      <a:srgbClr val="002060"/>
                    </a:solidFill>
                    <a:prstDash val="solid"/>
                    <a:round/>
                    <a:headEnd len="med" w="med" type="none"/>
                    <a:tailEnd len="med" w="med" type="none"/>
                  </a:ln>
                </p:spPr>
              </p:cxnSp>
              <p:cxnSp>
                <p:nvCxnSpPr>
                  <p:cNvPr id="1345" name="Google Shape;1345;p40"/>
                  <p:cNvCxnSpPr/>
                  <p:nvPr/>
                </p:nvCxnSpPr>
                <p:spPr>
                  <a:xfrm>
                    <a:off x="6682" y="4538"/>
                    <a:ext cx="0" cy="660"/>
                  </a:xfrm>
                  <a:prstGeom prst="straightConnector1">
                    <a:avLst/>
                  </a:prstGeom>
                  <a:noFill/>
                  <a:ln cap="flat" cmpd="sng" w="31750">
                    <a:solidFill>
                      <a:srgbClr val="002060"/>
                    </a:solidFill>
                    <a:prstDash val="solid"/>
                    <a:round/>
                    <a:headEnd len="med" w="med" type="none"/>
                    <a:tailEnd len="med" w="med" type="none"/>
                  </a:ln>
                </p:spPr>
              </p:cxnSp>
              <p:grpSp>
                <p:nvGrpSpPr>
                  <p:cNvPr id="1346" name="Google Shape;1346;p40"/>
                  <p:cNvGrpSpPr/>
                  <p:nvPr/>
                </p:nvGrpSpPr>
                <p:grpSpPr>
                  <a:xfrm>
                    <a:off x="6427" y="4133"/>
                    <a:ext cx="480" cy="180"/>
                    <a:chOff x="2138" y="4118"/>
                    <a:chExt cx="480" cy="180"/>
                  </a:xfrm>
                </p:grpSpPr>
                <p:cxnSp>
                  <p:nvCxnSpPr>
                    <p:cNvPr id="1347" name="Google Shape;1347;p40"/>
                    <p:cNvCxnSpPr/>
                    <p:nvPr/>
                  </p:nvCxnSpPr>
                  <p:spPr>
                    <a:xfrm>
                      <a:off x="2138" y="4298"/>
                      <a:ext cx="240" cy="0"/>
                    </a:xfrm>
                    <a:prstGeom prst="straightConnector1">
                      <a:avLst/>
                    </a:prstGeom>
                    <a:noFill/>
                    <a:ln cap="flat" cmpd="sng" w="31750">
                      <a:solidFill>
                        <a:srgbClr val="002060"/>
                      </a:solidFill>
                      <a:prstDash val="solid"/>
                      <a:round/>
                      <a:headEnd len="med" w="med" type="none"/>
                      <a:tailEnd len="med" w="med" type="none"/>
                    </a:ln>
                  </p:spPr>
                </p:cxnSp>
                <p:cxnSp>
                  <p:nvCxnSpPr>
                    <p:cNvPr id="1348" name="Google Shape;1348;p40"/>
                    <p:cNvCxnSpPr/>
                    <p:nvPr/>
                  </p:nvCxnSpPr>
                  <p:spPr>
                    <a:xfrm rot="10800000">
                      <a:off x="2378" y="4118"/>
                      <a:ext cx="0" cy="180"/>
                    </a:xfrm>
                    <a:prstGeom prst="straightConnector1">
                      <a:avLst/>
                    </a:prstGeom>
                    <a:noFill/>
                    <a:ln cap="flat" cmpd="sng" w="31750">
                      <a:solidFill>
                        <a:srgbClr val="002060"/>
                      </a:solidFill>
                      <a:prstDash val="solid"/>
                      <a:round/>
                      <a:headEnd len="med" w="med" type="none"/>
                      <a:tailEnd len="med" w="med" type="none"/>
                    </a:ln>
                  </p:spPr>
                </p:cxnSp>
                <p:cxnSp>
                  <p:nvCxnSpPr>
                    <p:cNvPr id="1349" name="Google Shape;1349;p40"/>
                    <p:cNvCxnSpPr/>
                    <p:nvPr/>
                  </p:nvCxnSpPr>
                  <p:spPr>
                    <a:xfrm>
                      <a:off x="2378" y="4118"/>
                      <a:ext cx="240" cy="0"/>
                    </a:xfrm>
                    <a:prstGeom prst="straightConnector1">
                      <a:avLst/>
                    </a:prstGeom>
                    <a:noFill/>
                    <a:ln cap="flat" cmpd="sng" w="31750">
                      <a:solidFill>
                        <a:srgbClr val="002060"/>
                      </a:solidFill>
                      <a:prstDash val="solid"/>
                      <a:round/>
                      <a:headEnd len="med" w="med" type="none"/>
                      <a:tailEnd len="med" w="med" type="none"/>
                    </a:ln>
                  </p:spPr>
                </p:cxnSp>
              </p:grpSp>
              <p:grpSp>
                <p:nvGrpSpPr>
                  <p:cNvPr id="1350" name="Google Shape;1350;p40"/>
                  <p:cNvGrpSpPr/>
                  <p:nvPr/>
                </p:nvGrpSpPr>
                <p:grpSpPr>
                  <a:xfrm>
                    <a:off x="7065" y="3216"/>
                    <a:ext cx="1531" cy="360"/>
                    <a:chOff x="6218" y="2281"/>
                    <a:chExt cx="1320" cy="360"/>
                  </a:xfrm>
                </p:grpSpPr>
                <p:cxnSp>
                  <p:nvCxnSpPr>
                    <p:cNvPr id="1351" name="Google Shape;1351;p40"/>
                    <p:cNvCxnSpPr/>
                    <p:nvPr/>
                  </p:nvCxnSpPr>
                  <p:spPr>
                    <a:xfrm>
                      <a:off x="6218" y="2455"/>
                      <a:ext cx="600" cy="0"/>
                    </a:xfrm>
                    <a:prstGeom prst="straightConnector1">
                      <a:avLst/>
                    </a:prstGeom>
                    <a:noFill/>
                    <a:ln cap="flat" cmpd="sng" w="31750">
                      <a:solidFill>
                        <a:srgbClr val="002060"/>
                      </a:solidFill>
                      <a:prstDash val="solid"/>
                      <a:round/>
                      <a:headEnd len="med" w="med" type="none"/>
                      <a:tailEnd len="med" w="med" type="none"/>
                    </a:ln>
                  </p:spPr>
                </p:cxnSp>
                <p:cxnSp>
                  <p:nvCxnSpPr>
                    <p:cNvPr id="1352" name="Google Shape;1352;p40"/>
                    <p:cNvCxnSpPr/>
                    <p:nvPr/>
                  </p:nvCxnSpPr>
                  <p:spPr>
                    <a:xfrm>
                      <a:off x="6938" y="2461"/>
                      <a:ext cx="600" cy="0"/>
                    </a:xfrm>
                    <a:prstGeom prst="straightConnector1">
                      <a:avLst/>
                    </a:prstGeom>
                    <a:noFill/>
                    <a:ln cap="flat" cmpd="sng" w="31750">
                      <a:solidFill>
                        <a:srgbClr val="002060"/>
                      </a:solidFill>
                      <a:prstDash val="solid"/>
                      <a:round/>
                      <a:headEnd len="med" w="med" type="none"/>
                      <a:tailEnd len="med" w="med" type="none"/>
                    </a:ln>
                  </p:spPr>
                </p:cxnSp>
                <p:cxnSp>
                  <p:nvCxnSpPr>
                    <p:cNvPr id="1353" name="Google Shape;1353;p40"/>
                    <p:cNvCxnSpPr/>
                    <p:nvPr/>
                  </p:nvCxnSpPr>
                  <p:spPr>
                    <a:xfrm>
                      <a:off x="6818" y="2281"/>
                      <a:ext cx="0" cy="360"/>
                    </a:xfrm>
                    <a:prstGeom prst="straightConnector1">
                      <a:avLst/>
                    </a:prstGeom>
                    <a:noFill/>
                    <a:ln cap="flat" cmpd="sng" w="31750">
                      <a:solidFill>
                        <a:srgbClr val="002060"/>
                      </a:solidFill>
                      <a:prstDash val="solid"/>
                      <a:round/>
                      <a:headEnd len="med" w="med" type="none"/>
                      <a:tailEnd len="med" w="med" type="none"/>
                    </a:ln>
                  </p:spPr>
                </p:cxnSp>
                <p:cxnSp>
                  <p:nvCxnSpPr>
                    <p:cNvPr id="1354" name="Google Shape;1354;p40"/>
                    <p:cNvCxnSpPr/>
                    <p:nvPr/>
                  </p:nvCxnSpPr>
                  <p:spPr>
                    <a:xfrm>
                      <a:off x="6938" y="2281"/>
                      <a:ext cx="0" cy="360"/>
                    </a:xfrm>
                    <a:prstGeom prst="straightConnector1">
                      <a:avLst/>
                    </a:prstGeom>
                    <a:noFill/>
                    <a:ln cap="flat" cmpd="sng" w="31750">
                      <a:solidFill>
                        <a:srgbClr val="002060"/>
                      </a:solidFill>
                      <a:prstDash val="solid"/>
                      <a:round/>
                      <a:headEnd len="med" w="med" type="none"/>
                      <a:tailEnd len="med" w="med" type="none"/>
                    </a:ln>
                  </p:spPr>
                </p:cxnSp>
              </p:grpSp>
              <p:cxnSp>
                <p:nvCxnSpPr>
                  <p:cNvPr id="1355" name="Google Shape;1355;p40"/>
                  <p:cNvCxnSpPr/>
                  <p:nvPr/>
                </p:nvCxnSpPr>
                <p:spPr>
                  <a:xfrm flipH="1" rot="10800000">
                    <a:off x="6682" y="3403"/>
                    <a:ext cx="445" cy="19"/>
                  </a:xfrm>
                  <a:prstGeom prst="straightConnector1">
                    <a:avLst/>
                  </a:prstGeom>
                  <a:noFill/>
                  <a:ln cap="flat" cmpd="sng" w="31750">
                    <a:solidFill>
                      <a:srgbClr val="002060"/>
                    </a:solidFill>
                    <a:prstDash val="solid"/>
                    <a:round/>
                    <a:headEnd len="med" w="med" type="none"/>
                    <a:tailEnd len="med" w="med" type="stealth"/>
                  </a:ln>
                </p:spPr>
              </p:cxnSp>
              <p:sp>
                <p:nvSpPr>
                  <p:cNvPr id="1356" name="Google Shape;1356;p40"/>
                  <p:cNvSpPr/>
                  <p:nvPr/>
                </p:nvSpPr>
                <p:spPr>
                  <a:xfrm>
                    <a:off x="8587" y="3158"/>
                    <a:ext cx="480" cy="480"/>
                  </a:xfrm>
                  <a:prstGeom prst="ellipse">
                    <a:avLst/>
                  </a:pr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357" name="Google Shape;1357;p40"/>
                  <p:cNvCxnSpPr/>
                  <p:nvPr/>
                </p:nvCxnSpPr>
                <p:spPr>
                  <a:xfrm>
                    <a:off x="9082" y="3398"/>
                    <a:ext cx="720" cy="0"/>
                  </a:xfrm>
                  <a:prstGeom prst="straightConnector1">
                    <a:avLst/>
                  </a:prstGeom>
                  <a:noFill/>
                  <a:ln cap="flat" cmpd="sng" w="31750">
                    <a:solidFill>
                      <a:srgbClr val="002060"/>
                    </a:solidFill>
                    <a:prstDash val="solid"/>
                    <a:round/>
                    <a:headEnd len="med" w="med" type="none"/>
                    <a:tailEnd len="med" w="med" type="none"/>
                  </a:ln>
                </p:spPr>
              </p:cxnSp>
              <p:grpSp>
                <p:nvGrpSpPr>
                  <p:cNvPr id="1358" name="Google Shape;1358;p40"/>
                  <p:cNvGrpSpPr/>
                  <p:nvPr/>
                </p:nvGrpSpPr>
                <p:grpSpPr>
                  <a:xfrm>
                    <a:off x="9802" y="3727"/>
                    <a:ext cx="136" cy="1106"/>
                    <a:chOff x="6232" y="3219"/>
                    <a:chExt cx="92" cy="751"/>
                  </a:xfrm>
                </p:grpSpPr>
                <p:sp>
                  <p:nvSpPr>
                    <p:cNvPr id="1359" name="Google Shape;1359;p40"/>
                    <p:cNvSpPr/>
                    <p:nvPr/>
                  </p:nvSpPr>
                  <p:spPr>
                    <a:xfrm>
                      <a:off x="6233" y="3219"/>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0" name="Google Shape;1360;p40"/>
                    <p:cNvSpPr/>
                    <p:nvPr/>
                  </p:nvSpPr>
                  <p:spPr>
                    <a:xfrm>
                      <a:off x="6232" y="3414"/>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1" name="Google Shape;1361;p40"/>
                    <p:cNvSpPr/>
                    <p:nvPr/>
                  </p:nvSpPr>
                  <p:spPr>
                    <a:xfrm>
                      <a:off x="6233" y="3593"/>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2" name="Google Shape;1362;p40"/>
                    <p:cNvSpPr/>
                    <p:nvPr/>
                  </p:nvSpPr>
                  <p:spPr>
                    <a:xfrm>
                      <a:off x="6232" y="3788"/>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1363" name="Google Shape;1363;p40"/>
                  <p:cNvCxnSpPr/>
                  <p:nvPr/>
                </p:nvCxnSpPr>
                <p:spPr>
                  <a:xfrm>
                    <a:off x="9802" y="3383"/>
                    <a:ext cx="0" cy="360"/>
                  </a:xfrm>
                  <a:prstGeom prst="straightConnector1">
                    <a:avLst/>
                  </a:prstGeom>
                  <a:noFill/>
                  <a:ln cap="flat" cmpd="sng" w="31750">
                    <a:solidFill>
                      <a:srgbClr val="002060"/>
                    </a:solidFill>
                    <a:prstDash val="solid"/>
                    <a:round/>
                    <a:headEnd len="med" w="med" type="none"/>
                    <a:tailEnd len="med" w="med" type="none"/>
                  </a:ln>
                </p:spPr>
              </p:cxnSp>
              <p:cxnSp>
                <p:nvCxnSpPr>
                  <p:cNvPr id="1364" name="Google Shape;1364;p40"/>
                  <p:cNvCxnSpPr/>
                  <p:nvPr/>
                </p:nvCxnSpPr>
                <p:spPr>
                  <a:xfrm>
                    <a:off x="9802" y="4838"/>
                    <a:ext cx="0" cy="360"/>
                  </a:xfrm>
                  <a:prstGeom prst="straightConnector1">
                    <a:avLst/>
                  </a:prstGeom>
                  <a:noFill/>
                  <a:ln cap="flat" cmpd="sng" w="31750">
                    <a:solidFill>
                      <a:srgbClr val="002060"/>
                    </a:solidFill>
                    <a:prstDash val="solid"/>
                    <a:round/>
                    <a:headEnd len="med" w="med" type="none"/>
                    <a:tailEnd len="med" w="med" type="none"/>
                  </a:ln>
                </p:spPr>
              </p:cxnSp>
              <p:cxnSp>
                <p:nvCxnSpPr>
                  <p:cNvPr id="1365" name="Google Shape;1365;p40"/>
                  <p:cNvCxnSpPr/>
                  <p:nvPr/>
                </p:nvCxnSpPr>
                <p:spPr>
                  <a:xfrm>
                    <a:off x="6682" y="5198"/>
                    <a:ext cx="3120" cy="0"/>
                  </a:xfrm>
                  <a:prstGeom prst="straightConnector1">
                    <a:avLst/>
                  </a:prstGeom>
                  <a:noFill/>
                  <a:ln cap="flat" cmpd="sng" w="31750">
                    <a:solidFill>
                      <a:srgbClr val="002060"/>
                    </a:solidFill>
                    <a:prstDash val="solid"/>
                    <a:round/>
                    <a:headEnd len="med" w="med" type="none"/>
                    <a:tailEnd len="med" w="med" type="none"/>
                  </a:ln>
                </p:spPr>
              </p:cxnSp>
              <p:sp>
                <p:nvSpPr>
                  <p:cNvPr id="1366" name="Google Shape;1366;p40"/>
                  <p:cNvSpPr txBox="1"/>
                  <p:nvPr/>
                </p:nvSpPr>
                <p:spPr>
                  <a:xfrm>
                    <a:off x="6811" y="2924"/>
                    <a:ext cx="632" cy="341"/>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I(s)</a:t>
                    </a:r>
                    <a:endParaRPr sz="1200">
                      <a:solidFill>
                        <a:schemeClr val="dk1"/>
                      </a:solidFill>
                      <a:latin typeface="Times New Roman"/>
                      <a:ea typeface="Times New Roman"/>
                      <a:cs typeface="Times New Roman"/>
                      <a:sym typeface="Times New Roman"/>
                    </a:endParaRPr>
                  </a:p>
                </p:txBody>
              </p:sp>
              <p:cxnSp>
                <p:nvCxnSpPr>
                  <p:cNvPr id="1367" name="Google Shape;1367;p40"/>
                  <p:cNvCxnSpPr/>
                  <p:nvPr/>
                </p:nvCxnSpPr>
                <p:spPr>
                  <a:xfrm>
                    <a:off x="9578" y="3758"/>
                    <a:ext cx="0" cy="1080"/>
                  </a:xfrm>
                  <a:prstGeom prst="straightConnector1">
                    <a:avLst/>
                  </a:prstGeom>
                  <a:noFill/>
                  <a:ln cap="flat" cmpd="sng" w="31750">
                    <a:solidFill>
                      <a:srgbClr val="002060"/>
                    </a:solidFill>
                    <a:prstDash val="solid"/>
                    <a:round/>
                    <a:headEnd len="med" w="med" type="stealth"/>
                    <a:tailEnd len="med" w="med" type="none"/>
                  </a:ln>
                </p:spPr>
              </p:cxnSp>
              <p:sp>
                <p:nvSpPr>
                  <p:cNvPr id="1368" name="Google Shape;1368;p40"/>
                  <p:cNvSpPr txBox="1"/>
                  <p:nvPr/>
                </p:nvSpPr>
                <p:spPr>
                  <a:xfrm>
                    <a:off x="8848" y="3938"/>
                    <a:ext cx="720" cy="437"/>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V(s)</a:t>
                    </a:r>
                    <a:endParaRPr sz="1200">
                      <a:solidFill>
                        <a:schemeClr val="dk1"/>
                      </a:solidFill>
                      <a:latin typeface="Times New Roman"/>
                      <a:ea typeface="Times New Roman"/>
                      <a:cs typeface="Times New Roman"/>
                      <a:sym typeface="Times New Roman"/>
                    </a:endParaRPr>
                  </a:p>
                </p:txBody>
              </p:sp>
              <p:cxnSp>
                <p:nvCxnSpPr>
                  <p:cNvPr id="1369" name="Google Shape;1369;p40"/>
                  <p:cNvCxnSpPr/>
                  <p:nvPr/>
                </p:nvCxnSpPr>
                <p:spPr>
                  <a:xfrm>
                    <a:off x="8618" y="3038"/>
                    <a:ext cx="360" cy="0"/>
                  </a:xfrm>
                  <a:prstGeom prst="straightConnector1">
                    <a:avLst/>
                  </a:prstGeom>
                  <a:noFill/>
                  <a:ln cap="flat" cmpd="sng" w="31750">
                    <a:solidFill>
                      <a:srgbClr val="002060"/>
                    </a:solidFill>
                    <a:prstDash val="solid"/>
                    <a:round/>
                    <a:headEnd len="med" w="med" type="stealth"/>
                    <a:tailEnd len="med" w="med" type="none"/>
                  </a:ln>
                </p:spPr>
              </p:cxnSp>
              <p:sp>
                <p:nvSpPr>
                  <p:cNvPr id="1370" name="Google Shape;1370;p40"/>
                  <p:cNvSpPr txBox="1"/>
                  <p:nvPr/>
                </p:nvSpPr>
                <p:spPr>
                  <a:xfrm>
                    <a:off x="9078" y="2714"/>
                    <a:ext cx="401" cy="679"/>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t/>
                    </a:r>
                    <a:endParaRPr sz="3600">
                      <a:solidFill>
                        <a:schemeClr val="dk1"/>
                      </a:solidFill>
                      <a:latin typeface="Times New Roman"/>
                      <a:ea typeface="Times New Roman"/>
                      <a:cs typeface="Times New Roman"/>
                      <a:sym typeface="Times New Roman"/>
                    </a:endParaRPr>
                  </a:p>
                </p:txBody>
              </p:sp>
            </p:grpSp>
          </p:grpSp>
        </p:grpSp>
        <p:pic>
          <p:nvPicPr>
            <p:cNvPr id="1371" name="Google Shape;1371;p40"/>
            <p:cNvPicPr preferRelativeResize="0"/>
            <p:nvPr/>
          </p:nvPicPr>
          <p:blipFill rotWithShape="1">
            <a:blip r:embed="rId3">
              <a:alphaModFix/>
            </a:blip>
            <a:srcRect b="0" l="0" r="0" t="0"/>
            <a:stretch/>
          </p:blipFill>
          <p:spPr>
            <a:xfrm>
              <a:off x="7125085" y="1556667"/>
              <a:ext cx="543001" cy="1238423"/>
            </a:xfrm>
            <a:prstGeom prst="rect">
              <a:avLst/>
            </a:prstGeom>
            <a:noFill/>
            <a:ln>
              <a:noFill/>
            </a:ln>
          </p:spPr>
        </p:pic>
        <p:pic>
          <p:nvPicPr>
            <p:cNvPr id="1372" name="Google Shape;1372;p40"/>
            <p:cNvPicPr preferRelativeResize="0"/>
            <p:nvPr/>
          </p:nvPicPr>
          <p:blipFill rotWithShape="1">
            <a:blip r:embed="rId4">
              <a:alphaModFix/>
            </a:blip>
            <a:srcRect b="0" l="0" r="0" t="0"/>
            <a:stretch/>
          </p:blipFill>
          <p:spPr>
            <a:xfrm>
              <a:off x="7971753" y="94820"/>
              <a:ext cx="571500" cy="952500"/>
            </a:xfrm>
            <a:prstGeom prst="rect">
              <a:avLst/>
            </a:prstGeom>
            <a:noFill/>
            <a:ln>
              <a:noFill/>
            </a:ln>
          </p:spPr>
        </p:pic>
        <p:pic>
          <p:nvPicPr>
            <p:cNvPr id="1373" name="Google Shape;1373;p40"/>
            <p:cNvPicPr preferRelativeResize="0"/>
            <p:nvPr/>
          </p:nvPicPr>
          <p:blipFill rotWithShape="1">
            <a:blip r:embed="rId5">
              <a:alphaModFix/>
            </a:blip>
            <a:srcRect b="0" l="0" r="0" t="0"/>
            <a:stretch/>
          </p:blipFill>
          <p:spPr>
            <a:xfrm>
              <a:off x="9471672" y="165141"/>
              <a:ext cx="533400" cy="1009650"/>
            </a:xfrm>
            <a:prstGeom prst="rect">
              <a:avLst/>
            </a:prstGeom>
            <a:noFill/>
            <a:ln>
              <a:noFill/>
            </a:ln>
          </p:spPr>
        </p:pic>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7" name="Shape 1377"/>
        <p:cNvGrpSpPr/>
        <p:nvPr/>
      </p:nvGrpSpPr>
      <p:grpSpPr>
        <a:xfrm>
          <a:off x="0" y="0"/>
          <a:ext cx="0" cy="0"/>
          <a:chOff x="0" y="0"/>
          <a:chExt cx="0" cy="0"/>
        </a:xfrm>
      </p:grpSpPr>
      <p:pic>
        <p:nvPicPr>
          <p:cNvPr id="1378" name="Google Shape;1378;p41"/>
          <p:cNvPicPr preferRelativeResize="0"/>
          <p:nvPr/>
        </p:nvPicPr>
        <p:blipFill rotWithShape="1">
          <a:blip r:embed="rId3">
            <a:alphaModFix/>
          </a:blip>
          <a:srcRect b="0" l="0" r="0" t="0"/>
          <a:stretch/>
        </p:blipFill>
        <p:spPr>
          <a:xfrm>
            <a:off x="356227" y="641813"/>
            <a:ext cx="2457450" cy="1981200"/>
          </a:xfrm>
          <a:prstGeom prst="rect">
            <a:avLst/>
          </a:prstGeom>
          <a:noFill/>
          <a:ln>
            <a:noFill/>
          </a:ln>
        </p:spPr>
      </p:pic>
      <p:pic>
        <p:nvPicPr>
          <p:cNvPr id="1379" name="Google Shape;1379;p41"/>
          <p:cNvPicPr preferRelativeResize="0"/>
          <p:nvPr/>
        </p:nvPicPr>
        <p:blipFill rotWithShape="1">
          <a:blip r:embed="rId4">
            <a:alphaModFix/>
          </a:blip>
          <a:srcRect b="0" l="0" r="0" t="0"/>
          <a:stretch/>
        </p:blipFill>
        <p:spPr>
          <a:xfrm>
            <a:off x="304800" y="2561898"/>
            <a:ext cx="4419600" cy="1905000"/>
          </a:xfrm>
          <a:prstGeom prst="rect">
            <a:avLst/>
          </a:prstGeom>
          <a:noFill/>
          <a:ln>
            <a:noFill/>
          </a:ln>
        </p:spPr>
      </p:pic>
      <p:pic>
        <p:nvPicPr>
          <p:cNvPr id="1380" name="Google Shape;1380;p41"/>
          <p:cNvPicPr preferRelativeResize="0"/>
          <p:nvPr/>
        </p:nvPicPr>
        <p:blipFill rotWithShape="1">
          <a:blip r:embed="rId5">
            <a:alphaModFix/>
          </a:blip>
          <a:srcRect b="0" l="0" r="0" t="0"/>
          <a:stretch/>
        </p:blipFill>
        <p:spPr>
          <a:xfrm>
            <a:off x="4724400" y="3000048"/>
            <a:ext cx="5581650" cy="1466850"/>
          </a:xfrm>
          <a:prstGeom prst="rect">
            <a:avLst/>
          </a:prstGeom>
          <a:noFill/>
          <a:ln>
            <a:noFill/>
          </a:ln>
        </p:spPr>
      </p:pic>
      <p:pic>
        <p:nvPicPr>
          <p:cNvPr id="1381" name="Google Shape;1381;p41"/>
          <p:cNvPicPr preferRelativeResize="0"/>
          <p:nvPr/>
        </p:nvPicPr>
        <p:blipFill rotWithShape="1">
          <a:blip r:embed="rId6">
            <a:alphaModFix/>
          </a:blip>
          <a:srcRect b="0" l="0" r="0" t="0"/>
          <a:stretch/>
        </p:blipFill>
        <p:spPr>
          <a:xfrm>
            <a:off x="1323975" y="4400550"/>
            <a:ext cx="1466850" cy="952500"/>
          </a:xfrm>
          <a:prstGeom prst="rect">
            <a:avLst/>
          </a:prstGeom>
          <a:noFill/>
          <a:ln>
            <a:noFill/>
          </a:ln>
        </p:spPr>
      </p:pic>
      <p:pic>
        <p:nvPicPr>
          <p:cNvPr id="1382" name="Google Shape;1382;p41"/>
          <p:cNvPicPr preferRelativeResize="0"/>
          <p:nvPr/>
        </p:nvPicPr>
        <p:blipFill rotWithShape="1">
          <a:blip r:embed="rId7">
            <a:alphaModFix/>
          </a:blip>
          <a:srcRect b="0" l="0" r="0" t="0"/>
          <a:stretch/>
        </p:blipFill>
        <p:spPr>
          <a:xfrm>
            <a:off x="3416544" y="4419600"/>
            <a:ext cx="4210050" cy="1162050"/>
          </a:xfrm>
          <a:prstGeom prst="rect">
            <a:avLst/>
          </a:prstGeom>
          <a:noFill/>
          <a:ln>
            <a:noFill/>
          </a:ln>
        </p:spPr>
      </p:pic>
      <p:pic>
        <p:nvPicPr>
          <p:cNvPr id="1383" name="Google Shape;1383;p41"/>
          <p:cNvPicPr preferRelativeResize="0"/>
          <p:nvPr/>
        </p:nvPicPr>
        <p:blipFill rotWithShape="1">
          <a:blip r:embed="rId8">
            <a:alphaModFix/>
          </a:blip>
          <a:srcRect b="0" l="0" r="0" t="0"/>
          <a:stretch/>
        </p:blipFill>
        <p:spPr>
          <a:xfrm>
            <a:off x="492369" y="5250570"/>
            <a:ext cx="5029200" cy="1276350"/>
          </a:xfrm>
          <a:prstGeom prst="rect">
            <a:avLst/>
          </a:prstGeom>
          <a:noFill/>
          <a:ln>
            <a:noFill/>
          </a:ln>
        </p:spPr>
      </p:pic>
      <p:sp>
        <p:nvSpPr>
          <p:cNvPr id="1384" name="Google Shape;1384;p41"/>
          <p:cNvSpPr/>
          <p:nvPr/>
        </p:nvSpPr>
        <p:spPr>
          <a:xfrm>
            <a:off x="0" y="0"/>
            <a:ext cx="12192000" cy="4572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Arial"/>
              <a:buNone/>
            </a:pPr>
            <a:r>
              <a:rPr b="0" i="0" lang="en-GB" sz="3600" u="none" cap="none" strike="noStrike">
                <a:solidFill>
                  <a:srgbClr val="002060"/>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1385" name="Google Shape;1385;p41"/>
          <p:cNvSpPr/>
          <p:nvPr/>
        </p:nvSpPr>
        <p:spPr>
          <a:xfrm>
            <a:off x="333375" y="4448174"/>
            <a:ext cx="1289538" cy="64770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Let </a:t>
            </a:r>
            <a:endParaRPr b="0" i="0" sz="1800" u="none" cap="none" strike="noStrike">
              <a:solidFill>
                <a:schemeClr val="dk1"/>
              </a:solidFill>
              <a:latin typeface="Times New Roman"/>
              <a:ea typeface="Times New Roman"/>
              <a:cs typeface="Times New Roman"/>
              <a:sym typeface="Times New Roman"/>
            </a:endParaRPr>
          </a:p>
        </p:txBody>
      </p:sp>
      <p:sp>
        <p:nvSpPr>
          <p:cNvPr id="1386" name="Google Shape;1386;p41"/>
          <p:cNvSpPr/>
          <p:nvPr/>
        </p:nvSpPr>
        <p:spPr>
          <a:xfrm>
            <a:off x="5029200" y="6915151"/>
            <a:ext cx="492369"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Arial"/>
              <a:buNone/>
            </a:pPr>
            <a:r>
              <a:rPr b="0" i="0" lang="en-GB" sz="3600" u="none" cap="none" strike="noStrike">
                <a:solidFill>
                  <a:srgbClr val="002060"/>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grpSp>
        <p:nvGrpSpPr>
          <p:cNvPr id="1387" name="Google Shape;1387;p41"/>
          <p:cNvGrpSpPr/>
          <p:nvPr/>
        </p:nvGrpSpPr>
        <p:grpSpPr>
          <a:xfrm>
            <a:off x="6059557" y="5262"/>
            <a:ext cx="5799068" cy="2801417"/>
            <a:chOff x="6059557" y="5262"/>
            <a:chExt cx="5799068" cy="2801417"/>
          </a:xfrm>
        </p:grpSpPr>
        <p:grpSp>
          <p:nvGrpSpPr>
            <p:cNvPr id="1388" name="Google Shape;1388;p41"/>
            <p:cNvGrpSpPr/>
            <p:nvPr/>
          </p:nvGrpSpPr>
          <p:grpSpPr>
            <a:xfrm>
              <a:off x="6620931" y="272094"/>
              <a:ext cx="5237694" cy="2534585"/>
              <a:chOff x="10658" y="2601"/>
              <a:chExt cx="4276" cy="2484"/>
            </a:xfrm>
          </p:grpSpPr>
          <p:sp>
            <p:nvSpPr>
              <p:cNvPr id="1389" name="Google Shape;1389;p41"/>
              <p:cNvSpPr txBox="1"/>
              <p:nvPr/>
            </p:nvSpPr>
            <p:spPr>
              <a:xfrm>
                <a:off x="14334" y="4065"/>
                <a:ext cx="600" cy="448"/>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200">
                    <a:solidFill>
                      <a:srgbClr val="002060"/>
                    </a:solidFill>
                    <a:latin typeface="Times New Roman"/>
                    <a:ea typeface="Times New Roman"/>
                    <a:cs typeface="Times New Roman"/>
                    <a:sym typeface="Times New Roman"/>
                  </a:rPr>
                  <a:t>L s</a:t>
                </a:r>
                <a:endParaRPr sz="1100">
                  <a:solidFill>
                    <a:schemeClr val="dk1"/>
                  </a:solidFill>
                  <a:latin typeface="Times New Roman"/>
                  <a:ea typeface="Times New Roman"/>
                  <a:cs typeface="Times New Roman"/>
                  <a:sym typeface="Times New Roman"/>
                </a:endParaRPr>
              </a:p>
            </p:txBody>
          </p:sp>
          <p:grpSp>
            <p:nvGrpSpPr>
              <p:cNvPr id="1390" name="Google Shape;1390;p41"/>
              <p:cNvGrpSpPr/>
              <p:nvPr/>
            </p:nvGrpSpPr>
            <p:grpSpPr>
              <a:xfrm>
                <a:off x="10658" y="2601"/>
                <a:ext cx="3556" cy="2484"/>
                <a:chOff x="6382" y="2714"/>
                <a:chExt cx="3556" cy="2484"/>
              </a:xfrm>
            </p:grpSpPr>
            <p:sp>
              <p:nvSpPr>
                <p:cNvPr id="1391" name="Google Shape;1391;p41"/>
                <p:cNvSpPr/>
                <p:nvPr/>
              </p:nvSpPr>
              <p:spPr>
                <a:xfrm>
                  <a:off x="6382" y="3938"/>
                  <a:ext cx="600" cy="600"/>
                </a:xfrm>
                <a:prstGeom prst="ellipse">
                  <a:avLst/>
                </a:pr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392" name="Google Shape;1392;p41"/>
                <p:cNvCxnSpPr/>
                <p:nvPr/>
              </p:nvCxnSpPr>
              <p:spPr>
                <a:xfrm>
                  <a:off x="7058" y="3953"/>
                  <a:ext cx="0" cy="540"/>
                </a:xfrm>
                <a:prstGeom prst="straightConnector1">
                  <a:avLst/>
                </a:prstGeom>
                <a:noFill/>
                <a:ln cap="flat" cmpd="sng" w="31750">
                  <a:solidFill>
                    <a:srgbClr val="002060"/>
                  </a:solidFill>
                  <a:prstDash val="solid"/>
                  <a:round/>
                  <a:headEnd len="med" w="med" type="stealth"/>
                  <a:tailEnd len="med" w="med" type="none"/>
                </a:ln>
              </p:spPr>
            </p:cxnSp>
            <p:cxnSp>
              <p:nvCxnSpPr>
                <p:cNvPr id="1393" name="Google Shape;1393;p41"/>
                <p:cNvCxnSpPr/>
                <p:nvPr/>
              </p:nvCxnSpPr>
              <p:spPr>
                <a:xfrm>
                  <a:off x="6682" y="3398"/>
                  <a:ext cx="0" cy="540"/>
                </a:xfrm>
                <a:prstGeom prst="straightConnector1">
                  <a:avLst/>
                </a:prstGeom>
                <a:noFill/>
                <a:ln cap="flat" cmpd="sng" w="31750">
                  <a:solidFill>
                    <a:srgbClr val="002060"/>
                  </a:solidFill>
                  <a:prstDash val="solid"/>
                  <a:round/>
                  <a:headEnd len="med" w="med" type="none"/>
                  <a:tailEnd len="med" w="med" type="none"/>
                </a:ln>
              </p:spPr>
            </p:cxnSp>
            <p:cxnSp>
              <p:nvCxnSpPr>
                <p:cNvPr id="1394" name="Google Shape;1394;p41"/>
                <p:cNvCxnSpPr/>
                <p:nvPr/>
              </p:nvCxnSpPr>
              <p:spPr>
                <a:xfrm>
                  <a:off x="6682" y="4538"/>
                  <a:ext cx="0" cy="660"/>
                </a:xfrm>
                <a:prstGeom prst="straightConnector1">
                  <a:avLst/>
                </a:prstGeom>
                <a:noFill/>
                <a:ln cap="flat" cmpd="sng" w="31750">
                  <a:solidFill>
                    <a:srgbClr val="002060"/>
                  </a:solidFill>
                  <a:prstDash val="solid"/>
                  <a:round/>
                  <a:headEnd len="med" w="med" type="none"/>
                  <a:tailEnd len="med" w="med" type="none"/>
                </a:ln>
              </p:spPr>
            </p:cxnSp>
            <p:grpSp>
              <p:nvGrpSpPr>
                <p:cNvPr id="1395" name="Google Shape;1395;p41"/>
                <p:cNvGrpSpPr/>
                <p:nvPr/>
              </p:nvGrpSpPr>
              <p:grpSpPr>
                <a:xfrm>
                  <a:off x="6427" y="4133"/>
                  <a:ext cx="480" cy="180"/>
                  <a:chOff x="2138" y="4118"/>
                  <a:chExt cx="480" cy="180"/>
                </a:xfrm>
              </p:grpSpPr>
              <p:cxnSp>
                <p:nvCxnSpPr>
                  <p:cNvPr id="1396" name="Google Shape;1396;p41"/>
                  <p:cNvCxnSpPr/>
                  <p:nvPr/>
                </p:nvCxnSpPr>
                <p:spPr>
                  <a:xfrm>
                    <a:off x="2138" y="4298"/>
                    <a:ext cx="240" cy="0"/>
                  </a:xfrm>
                  <a:prstGeom prst="straightConnector1">
                    <a:avLst/>
                  </a:prstGeom>
                  <a:noFill/>
                  <a:ln cap="flat" cmpd="sng" w="31750">
                    <a:solidFill>
                      <a:srgbClr val="002060"/>
                    </a:solidFill>
                    <a:prstDash val="solid"/>
                    <a:round/>
                    <a:headEnd len="med" w="med" type="none"/>
                    <a:tailEnd len="med" w="med" type="none"/>
                  </a:ln>
                </p:spPr>
              </p:cxnSp>
              <p:cxnSp>
                <p:nvCxnSpPr>
                  <p:cNvPr id="1397" name="Google Shape;1397;p41"/>
                  <p:cNvCxnSpPr/>
                  <p:nvPr/>
                </p:nvCxnSpPr>
                <p:spPr>
                  <a:xfrm rot="10800000">
                    <a:off x="2378" y="4118"/>
                    <a:ext cx="0" cy="180"/>
                  </a:xfrm>
                  <a:prstGeom prst="straightConnector1">
                    <a:avLst/>
                  </a:prstGeom>
                  <a:noFill/>
                  <a:ln cap="flat" cmpd="sng" w="31750">
                    <a:solidFill>
                      <a:srgbClr val="002060"/>
                    </a:solidFill>
                    <a:prstDash val="solid"/>
                    <a:round/>
                    <a:headEnd len="med" w="med" type="none"/>
                    <a:tailEnd len="med" w="med" type="none"/>
                  </a:ln>
                </p:spPr>
              </p:cxnSp>
              <p:cxnSp>
                <p:nvCxnSpPr>
                  <p:cNvPr id="1398" name="Google Shape;1398;p41"/>
                  <p:cNvCxnSpPr/>
                  <p:nvPr/>
                </p:nvCxnSpPr>
                <p:spPr>
                  <a:xfrm>
                    <a:off x="2378" y="4118"/>
                    <a:ext cx="240" cy="0"/>
                  </a:xfrm>
                  <a:prstGeom prst="straightConnector1">
                    <a:avLst/>
                  </a:prstGeom>
                  <a:noFill/>
                  <a:ln cap="flat" cmpd="sng" w="31750">
                    <a:solidFill>
                      <a:srgbClr val="002060"/>
                    </a:solidFill>
                    <a:prstDash val="solid"/>
                    <a:round/>
                    <a:headEnd len="med" w="med" type="none"/>
                    <a:tailEnd len="med" w="med" type="none"/>
                  </a:ln>
                </p:spPr>
              </p:cxnSp>
            </p:grpSp>
            <p:grpSp>
              <p:nvGrpSpPr>
                <p:cNvPr id="1399" name="Google Shape;1399;p41"/>
                <p:cNvGrpSpPr/>
                <p:nvPr/>
              </p:nvGrpSpPr>
              <p:grpSpPr>
                <a:xfrm>
                  <a:off x="7065" y="3216"/>
                  <a:ext cx="1531" cy="360"/>
                  <a:chOff x="6218" y="2281"/>
                  <a:chExt cx="1320" cy="360"/>
                </a:xfrm>
              </p:grpSpPr>
              <p:cxnSp>
                <p:nvCxnSpPr>
                  <p:cNvPr id="1400" name="Google Shape;1400;p41"/>
                  <p:cNvCxnSpPr/>
                  <p:nvPr/>
                </p:nvCxnSpPr>
                <p:spPr>
                  <a:xfrm>
                    <a:off x="6218" y="2455"/>
                    <a:ext cx="600" cy="0"/>
                  </a:xfrm>
                  <a:prstGeom prst="straightConnector1">
                    <a:avLst/>
                  </a:prstGeom>
                  <a:noFill/>
                  <a:ln cap="flat" cmpd="sng" w="31750">
                    <a:solidFill>
                      <a:srgbClr val="002060"/>
                    </a:solidFill>
                    <a:prstDash val="solid"/>
                    <a:round/>
                    <a:headEnd len="med" w="med" type="none"/>
                    <a:tailEnd len="med" w="med" type="none"/>
                  </a:ln>
                </p:spPr>
              </p:cxnSp>
              <p:cxnSp>
                <p:nvCxnSpPr>
                  <p:cNvPr id="1401" name="Google Shape;1401;p41"/>
                  <p:cNvCxnSpPr/>
                  <p:nvPr/>
                </p:nvCxnSpPr>
                <p:spPr>
                  <a:xfrm>
                    <a:off x="6938" y="2461"/>
                    <a:ext cx="600" cy="0"/>
                  </a:xfrm>
                  <a:prstGeom prst="straightConnector1">
                    <a:avLst/>
                  </a:prstGeom>
                  <a:noFill/>
                  <a:ln cap="flat" cmpd="sng" w="31750">
                    <a:solidFill>
                      <a:srgbClr val="002060"/>
                    </a:solidFill>
                    <a:prstDash val="solid"/>
                    <a:round/>
                    <a:headEnd len="med" w="med" type="none"/>
                    <a:tailEnd len="med" w="med" type="none"/>
                  </a:ln>
                </p:spPr>
              </p:cxnSp>
              <p:cxnSp>
                <p:nvCxnSpPr>
                  <p:cNvPr id="1402" name="Google Shape;1402;p41"/>
                  <p:cNvCxnSpPr/>
                  <p:nvPr/>
                </p:nvCxnSpPr>
                <p:spPr>
                  <a:xfrm>
                    <a:off x="6818" y="2281"/>
                    <a:ext cx="0" cy="360"/>
                  </a:xfrm>
                  <a:prstGeom prst="straightConnector1">
                    <a:avLst/>
                  </a:prstGeom>
                  <a:noFill/>
                  <a:ln cap="flat" cmpd="sng" w="31750">
                    <a:solidFill>
                      <a:srgbClr val="002060"/>
                    </a:solidFill>
                    <a:prstDash val="solid"/>
                    <a:round/>
                    <a:headEnd len="med" w="med" type="none"/>
                    <a:tailEnd len="med" w="med" type="none"/>
                  </a:ln>
                </p:spPr>
              </p:cxnSp>
              <p:cxnSp>
                <p:nvCxnSpPr>
                  <p:cNvPr id="1403" name="Google Shape;1403;p41"/>
                  <p:cNvCxnSpPr/>
                  <p:nvPr/>
                </p:nvCxnSpPr>
                <p:spPr>
                  <a:xfrm>
                    <a:off x="6938" y="2281"/>
                    <a:ext cx="0" cy="360"/>
                  </a:xfrm>
                  <a:prstGeom prst="straightConnector1">
                    <a:avLst/>
                  </a:prstGeom>
                  <a:noFill/>
                  <a:ln cap="flat" cmpd="sng" w="31750">
                    <a:solidFill>
                      <a:srgbClr val="002060"/>
                    </a:solidFill>
                    <a:prstDash val="solid"/>
                    <a:round/>
                    <a:headEnd len="med" w="med" type="none"/>
                    <a:tailEnd len="med" w="med" type="none"/>
                  </a:ln>
                </p:spPr>
              </p:cxnSp>
            </p:grpSp>
            <p:cxnSp>
              <p:nvCxnSpPr>
                <p:cNvPr id="1404" name="Google Shape;1404;p41"/>
                <p:cNvCxnSpPr/>
                <p:nvPr/>
              </p:nvCxnSpPr>
              <p:spPr>
                <a:xfrm flipH="1" rot="10800000">
                  <a:off x="6682" y="3403"/>
                  <a:ext cx="445" cy="19"/>
                </a:xfrm>
                <a:prstGeom prst="straightConnector1">
                  <a:avLst/>
                </a:prstGeom>
                <a:noFill/>
                <a:ln cap="flat" cmpd="sng" w="31750">
                  <a:solidFill>
                    <a:srgbClr val="002060"/>
                  </a:solidFill>
                  <a:prstDash val="solid"/>
                  <a:round/>
                  <a:headEnd len="med" w="med" type="none"/>
                  <a:tailEnd len="med" w="med" type="stealth"/>
                </a:ln>
              </p:spPr>
            </p:cxnSp>
            <p:sp>
              <p:nvSpPr>
                <p:cNvPr id="1405" name="Google Shape;1405;p41"/>
                <p:cNvSpPr/>
                <p:nvPr/>
              </p:nvSpPr>
              <p:spPr>
                <a:xfrm>
                  <a:off x="8587" y="3158"/>
                  <a:ext cx="480" cy="480"/>
                </a:xfrm>
                <a:prstGeom prst="ellipse">
                  <a:avLst/>
                </a:pr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406" name="Google Shape;1406;p41"/>
                <p:cNvCxnSpPr/>
                <p:nvPr/>
              </p:nvCxnSpPr>
              <p:spPr>
                <a:xfrm>
                  <a:off x="9082" y="3398"/>
                  <a:ext cx="720" cy="0"/>
                </a:xfrm>
                <a:prstGeom prst="straightConnector1">
                  <a:avLst/>
                </a:prstGeom>
                <a:noFill/>
                <a:ln cap="flat" cmpd="sng" w="31750">
                  <a:solidFill>
                    <a:srgbClr val="002060"/>
                  </a:solidFill>
                  <a:prstDash val="solid"/>
                  <a:round/>
                  <a:headEnd len="med" w="med" type="none"/>
                  <a:tailEnd len="med" w="med" type="none"/>
                </a:ln>
              </p:spPr>
            </p:cxnSp>
            <p:grpSp>
              <p:nvGrpSpPr>
                <p:cNvPr id="1407" name="Google Shape;1407;p41"/>
                <p:cNvGrpSpPr/>
                <p:nvPr/>
              </p:nvGrpSpPr>
              <p:grpSpPr>
                <a:xfrm>
                  <a:off x="9802" y="3727"/>
                  <a:ext cx="136" cy="1106"/>
                  <a:chOff x="6232" y="3219"/>
                  <a:chExt cx="92" cy="751"/>
                </a:xfrm>
              </p:grpSpPr>
              <p:sp>
                <p:nvSpPr>
                  <p:cNvPr id="1408" name="Google Shape;1408;p41"/>
                  <p:cNvSpPr/>
                  <p:nvPr/>
                </p:nvSpPr>
                <p:spPr>
                  <a:xfrm>
                    <a:off x="6233" y="3219"/>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9" name="Google Shape;1409;p41"/>
                  <p:cNvSpPr/>
                  <p:nvPr/>
                </p:nvSpPr>
                <p:spPr>
                  <a:xfrm>
                    <a:off x="6232" y="3414"/>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0" name="Google Shape;1410;p41"/>
                  <p:cNvSpPr/>
                  <p:nvPr/>
                </p:nvSpPr>
                <p:spPr>
                  <a:xfrm>
                    <a:off x="6233" y="3593"/>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1" name="Google Shape;1411;p41"/>
                  <p:cNvSpPr/>
                  <p:nvPr/>
                </p:nvSpPr>
                <p:spPr>
                  <a:xfrm>
                    <a:off x="6232" y="3788"/>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cxnSp>
              <p:nvCxnSpPr>
                <p:cNvPr id="1412" name="Google Shape;1412;p41"/>
                <p:cNvCxnSpPr/>
                <p:nvPr/>
              </p:nvCxnSpPr>
              <p:spPr>
                <a:xfrm>
                  <a:off x="9802" y="3383"/>
                  <a:ext cx="0" cy="360"/>
                </a:xfrm>
                <a:prstGeom prst="straightConnector1">
                  <a:avLst/>
                </a:prstGeom>
                <a:noFill/>
                <a:ln cap="flat" cmpd="sng" w="31750">
                  <a:solidFill>
                    <a:srgbClr val="002060"/>
                  </a:solidFill>
                  <a:prstDash val="solid"/>
                  <a:round/>
                  <a:headEnd len="med" w="med" type="none"/>
                  <a:tailEnd len="med" w="med" type="none"/>
                </a:ln>
              </p:spPr>
            </p:cxnSp>
            <p:cxnSp>
              <p:nvCxnSpPr>
                <p:cNvPr id="1413" name="Google Shape;1413;p41"/>
                <p:cNvCxnSpPr/>
                <p:nvPr/>
              </p:nvCxnSpPr>
              <p:spPr>
                <a:xfrm>
                  <a:off x="9802" y="4838"/>
                  <a:ext cx="0" cy="360"/>
                </a:xfrm>
                <a:prstGeom prst="straightConnector1">
                  <a:avLst/>
                </a:prstGeom>
                <a:noFill/>
                <a:ln cap="flat" cmpd="sng" w="31750">
                  <a:solidFill>
                    <a:srgbClr val="002060"/>
                  </a:solidFill>
                  <a:prstDash val="solid"/>
                  <a:round/>
                  <a:headEnd len="med" w="med" type="none"/>
                  <a:tailEnd len="med" w="med" type="none"/>
                </a:ln>
              </p:spPr>
            </p:cxnSp>
            <p:cxnSp>
              <p:nvCxnSpPr>
                <p:cNvPr id="1414" name="Google Shape;1414;p41"/>
                <p:cNvCxnSpPr/>
                <p:nvPr/>
              </p:nvCxnSpPr>
              <p:spPr>
                <a:xfrm>
                  <a:off x="6682" y="5198"/>
                  <a:ext cx="3120" cy="0"/>
                </a:xfrm>
                <a:prstGeom prst="straightConnector1">
                  <a:avLst/>
                </a:prstGeom>
                <a:noFill/>
                <a:ln cap="flat" cmpd="sng" w="31750">
                  <a:solidFill>
                    <a:srgbClr val="002060"/>
                  </a:solidFill>
                  <a:prstDash val="solid"/>
                  <a:round/>
                  <a:headEnd len="med" w="med" type="none"/>
                  <a:tailEnd len="med" w="med" type="none"/>
                </a:ln>
              </p:spPr>
            </p:cxnSp>
            <p:sp>
              <p:nvSpPr>
                <p:cNvPr id="1415" name="Google Shape;1415;p41"/>
                <p:cNvSpPr txBox="1"/>
                <p:nvPr/>
              </p:nvSpPr>
              <p:spPr>
                <a:xfrm>
                  <a:off x="6811" y="2804"/>
                  <a:ext cx="632" cy="461"/>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200">
                      <a:solidFill>
                        <a:srgbClr val="002060"/>
                      </a:solidFill>
                      <a:latin typeface="Times New Roman"/>
                      <a:ea typeface="Times New Roman"/>
                      <a:cs typeface="Times New Roman"/>
                      <a:sym typeface="Times New Roman"/>
                    </a:rPr>
                    <a:t>I(s)</a:t>
                  </a:r>
                  <a:endParaRPr sz="3200">
                    <a:solidFill>
                      <a:schemeClr val="dk1"/>
                    </a:solidFill>
                    <a:latin typeface="Times New Roman"/>
                    <a:ea typeface="Times New Roman"/>
                    <a:cs typeface="Times New Roman"/>
                    <a:sym typeface="Times New Roman"/>
                  </a:endParaRPr>
                </a:p>
              </p:txBody>
            </p:sp>
            <p:cxnSp>
              <p:nvCxnSpPr>
                <p:cNvPr id="1416" name="Google Shape;1416;p41"/>
                <p:cNvCxnSpPr/>
                <p:nvPr/>
              </p:nvCxnSpPr>
              <p:spPr>
                <a:xfrm>
                  <a:off x="9578" y="3758"/>
                  <a:ext cx="0" cy="1080"/>
                </a:xfrm>
                <a:prstGeom prst="straightConnector1">
                  <a:avLst/>
                </a:prstGeom>
                <a:noFill/>
                <a:ln cap="flat" cmpd="sng" w="31750">
                  <a:solidFill>
                    <a:srgbClr val="002060"/>
                  </a:solidFill>
                  <a:prstDash val="solid"/>
                  <a:round/>
                  <a:headEnd len="med" w="med" type="stealth"/>
                  <a:tailEnd len="med" w="med" type="none"/>
                </a:ln>
              </p:spPr>
            </p:cxnSp>
            <p:sp>
              <p:nvSpPr>
                <p:cNvPr id="1417" name="Google Shape;1417;p41"/>
                <p:cNvSpPr txBox="1"/>
                <p:nvPr/>
              </p:nvSpPr>
              <p:spPr>
                <a:xfrm>
                  <a:off x="8859" y="3736"/>
                  <a:ext cx="720" cy="503"/>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rPr lang="en-GB" sz="3200">
                      <a:solidFill>
                        <a:srgbClr val="002060"/>
                      </a:solidFill>
                      <a:latin typeface="Times New Roman"/>
                      <a:ea typeface="Times New Roman"/>
                      <a:cs typeface="Times New Roman"/>
                      <a:sym typeface="Times New Roman"/>
                    </a:rPr>
                    <a:t>V(s)</a:t>
                  </a:r>
                  <a:endParaRPr sz="1100">
                    <a:solidFill>
                      <a:schemeClr val="dk1"/>
                    </a:solidFill>
                    <a:latin typeface="Times New Roman"/>
                    <a:ea typeface="Times New Roman"/>
                    <a:cs typeface="Times New Roman"/>
                    <a:sym typeface="Times New Roman"/>
                  </a:endParaRPr>
                </a:p>
              </p:txBody>
            </p:sp>
            <p:cxnSp>
              <p:nvCxnSpPr>
                <p:cNvPr id="1418" name="Google Shape;1418;p41"/>
                <p:cNvCxnSpPr/>
                <p:nvPr/>
              </p:nvCxnSpPr>
              <p:spPr>
                <a:xfrm>
                  <a:off x="8618" y="3038"/>
                  <a:ext cx="360" cy="0"/>
                </a:xfrm>
                <a:prstGeom prst="straightConnector1">
                  <a:avLst/>
                </a:prstGeom>
                <a:noFill/>
                <a:ln cap="flat" cmpd="sng" w="31750">
                  <a:solidFill>
                    <a:srgbClr val="002060"/>
                  </a:solidFill>
                  <a:prstDash val="solid"/>
                  <a:round/>
                  <a:headEnd len="med" w="med" type="stealth"/>
                  <a:tailEnd len="med" w="med" type="none"/>
                </a:ln>
              </p:spPr>
            </p:cxnSp>
            <p:sp>
              <p:nvSpPr>
                <p:cNvPr id="1419" name="Google Shape;1419;p41"/>
                <p:cNvSpPr txBox="1"/>
                <p:nvPr/>
              </p:nvSpPr>
              <p:spPr>
                <a:xfrm>
                  <a:off x="9078" y="2714"/>
                  <a:ext cx="401" cy="679"/>
                </a:xfrm>
                <a:prstGeom prst="rect">
                  <a:avLst/>
                </a:prstGeom>
                <a:noFill/>
                <a:ln>
                  <a:noFill/>
                </a:ln>
              </p:spPr>
              <p:txBody>
                <a:bodyPr anchorCtr="0" anchor="t" bIns="10800" lIns="18000" spcFirstLastPara="1" rIns="18000" wrap="square" tIns="10800">
                  <a:noAutofit/>
                </a:bodyPr>
                <a:lstStyle/>
                <a:p>
                  <a:pPr indent="0" lvl="0" marL="0" marR="0" rtl="0" algn="l">
                    <a:spcBef>
                      <a:spcPts val="0"/>
                    </a:spcBef>
                    <a:spcAft>
                      <a:spcPts val="0"/>
                    </a:spcAft>
                    <a:buNone/>
                  </a:pPr>
                  <a:r>
                    <a:t/>
                  </a:r>
                  <a:endParaRPr sz="3600">
                    <a:solidFill>
                      <a:schemeClr val="dk1"/>
                    </a:solidFill>
                    <a:latin typeface="Times New Roman"/>
                    <a:ea typeface="Times New Roman"/>
                    <a:cs typeface="Times New Roman"/>
                    <a:sym typeface="Times New Roman"/>
                  </a:endParaRPr>
                </a:p>
              </p:txBody>
            </p:sp>
          </p:grpSp>
        </p:grpSp>
        <p:pic>
          <p:nvPicPr>
            <p:cNvPr id="1420" name="Google Shape;1420;p41"/>
            <p:cNvPicPr preferRelativeResize="0"/>
            <p:nvPr/>
          </p:nvPicPr>
          <p:blipFill rotWithShape="1">
            <a:blip r:embed="rId9">
              <a:alphaModFix/>
            </a:blip>
            <a:srcRect b="0" l="0" r="0" t="0"/>
            <a:stretch/>
          </p:blipFill>
          <p:spPr>
            <a:xfrm>
              <a:off x="6059557" y="1241143"/>
              <a:ext cx="543001" cy="1238423"/>
            </a:xfrm>
            <a:prstGeom prst="rect">
              <a:avLst/>
            </a:prstGeom>
            <a:noFill/>
            <a:ln>
              <a:noFill/>
            </a:ln>
          </p:spPr>
        </p:pic>
        <p:pic>
          <p:nvPicPr>
            <p:cNvPr id="1421" name="Google Shape;1421;p41"/>
            <p:cNvPicPr preferRelativeResize="0"/>
            <p:nvPr/>
          </p:nvPicPr>
          <p:blipFill rotWithShape="1">
            <a:blip r:embed="rId10">
              <a:alphaModFix/>
            </a:blip>
            <a:srcRect b="0" l="0" r="0" t="0"/>
            <a:stretch/>
          </p:blipFill>
          <p:spPr>
            <a:xfrm>
              <a:off x="8135790" y="1130587"/>
              <a:ext cx="571500" cy="952500"/>
            </a:xfrm>
            <a:prstGeom prst="rect">
              <a:avLst/>
            </a:prstGeom>
            <a:noFill/>
            <a:ln>
              <a:noFill/>
            </a:ln>
          </p:spPr>
        </p:pic>
        <p:pic>
          <p:nvPicPr>
            <p:cNvPr id="1422" name="Google Shape;1422;p41"/>
            <p:cNvPicPr preferRelativeResize="0"/>
            <p:nvPr/>
          </p:nvPicPr>
          <p:blipFill rotWithShape="1">
            <a:blip r:embed="rId11">
              <a:alphaModFix/>
            </a:blip>
            <a:srcRect b="0" l="0" r="0" t="0"/>
            <a:stretch/>
          </p:blipFill>
          <p:spPr>
            <a:xfrm>
              <a:off x="8876093" y="5262"/>
              <a:ext cx="533400" cy="1009650"/>
            </a:xfrm>
            <a:prstGeom prst="rect">
              <a:avLst/>
            </a:prstGeom>
            <a:noFill/>
            <a:ln>
              <a:noFill/>
            </a:ln>
          </p:spPr>
        </p:pic>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id="1427" name="Google Shape;1427;p42"/>
          <p:cNvSpPr txBox="1"/>
          <p:nvPr>
            <p:ph type="title"/>
          </p:nvPr>
        </p:nvSpPr>
        <p:spPr>
          <a:xfrm>
            <a:off x="429715" y="457199"/>
            <a:ext cx="10924085" cy="55179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3200"/>
              <a:buFont typeface="Times New Roman"/>
              <a:buNone/>
            </a:pPr>
            <a:r>
              <a:rPr lang="en-GB"/>
              <a:t>Example 4</a:t>
            </a:r>
            <a:endParaRPr/>
          </a:p>
        </p:txBody>
      </p:sp>
      <p:grpSp>
        <p:nvGrpSpPr>
          <p:cNvPr id="1428" name="Google Shape;1428;p42"/>
          <p:cNvGrpSpPr/>
          <p:nvPr/>
        </p:nvGrpSpPr>
        <p:grpSpPr>
          <a:xfrm>
            <a:off x="1141730" y="3399645"/>
            <a:ext cx="8476615" cy="3071495"/>
            <a:chOff x="3048" y="1759"/>
            <a:chExt cx="5335" cy="1933"/>
          </a:xfrm>
        </p:grpSpPr>
        <p:cxnSp>
          <p:nvCxnSpPr>
            <p:cNvPr id="1429" name="Google Shape;1429;p42"/>
            <p:cNvCxnSpPr/>
            <p:nvPr/>
          </p:nvCxnSpPr>
          <p:spPr>
            <a:xfrm>
              <a:off x="4212" y="1825"/>
              <a:ext cx="1" cy="403"/>
            </a:xfrm>
            <a:prstGeom prst="straightConnector1">
              <a:avLst/>
            </a:prstGeom>
            <a:noFill/>
            <a:ln cap="flat" cmpd="sng" w="31750">
              <a:solidFill>
                <a:srgbClr val="002060"/>
              </a:solidFill>
              <a:prstDash val="solid"/>
              <a:round/>
              <a:headEnd len="med" w="med" type="none"/>
              <a:tailEnd len="med" w="med" type="none"/>
            </a:ln>
          </p:spPr>
        </p:cxnSp>
        <p:sp>
          <p:nvSpPr>
            <p:cNvPr id="1430" name="Google Shape;1430;p42"/>
            <p:cNvSpPr/>
            <p:nvPr/>
          </p:nvSpPr>
          <p:spPr>
            <a:xfrm>
              <a:off x="4110" y="2227"/>
              <a:ext cx="223" cy="583"/>
            </a:xfrm>
            <a:prstGeom prst="rect">
              <a:avLst/>
            </a:prstGeom>
            <a:noFill/>
            <a:ln cap="flat" cmpd="sng" w="31750">
              <a:solidFill>
                <a:srgbClr val="00206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cxnSp>
          <p:nvCxnSpPr>
            <p:cNvPr id="1431" name="Google Shape;1431;p42"/>
            <p:cNvCxnSpPr/>
            <p:nvPr/>
          </p:nvCxnSpPr>
          <p:spPr>
            <a:xfrm>
              <a:off x="4212" y="2809"/>
              <a:ext cx="1" cy="385"/>
            </a:xfrm>
            <a:prstGeom prst="straightConnector1">
              <a:avLst/>
            </a:prstGeom>
            <a:noFill/>
            <a:ln cap="flat" cmpd="sng" w="31750">
              <a:solidFill>
                <a:srgbClr val="002060"/>
              </a:solidFill>
              <a:prstDash val="solid"/>
              <a:round/>
              <a:headEnd len="med" w="med" type="none"/>
              <a:tailEnd len="med" w="med" type="none"/>
            </a:ln>
          </p:spPr>
        </p:cxnSp>
        <p:cxnSp>
          <p:nvCxnSpPr>
            <p:cNvPr id="1432" name="Google Shape;1432;p42"/>
            <p:cNvCxnSpPr/>
            <p:nvPr/>
          </p:nvCxnSpPr>
          <p:spPr>
            <a:xfrm>
              <a:off x="4110" y="3301"/>
              <a:ext cx="217" cy="1"/>
            </a:xfrm>
            <a:prstGeom prst="straightConnector1">
              <a:avLst/>
            </a:prstGeom>
            <a:noFill/>
            <a:ln cap="flat" cmpd="sng" w="31750">
              <a:solidFill>
                <a:srgbClr val="002060"/>
              </a:solidFill>
              <a:prstDash val="solid"/>
              <a:round/>
              <a:headEnd len="med" w="med" type="none"/>
              <a:tailEnd len="med" w="med" type="none"/>
            </a:ln>
          </p:spPr>
        </p:cxnSp>
        <p:cxnSp>
          <p:nvCxnSpPr>
            <p:cNvPr id="1433" name="Google Shape;1433;p42"/>
            <p:cNvCxnSpPr/>
            <p:nvPr/>
          </p:nvCxnSpPr>
          <p:spPr>
            <a:xfrm>
              <a:off x="3942" y="3199"/>
              <a:ext cx="625" cy="1"/>
            </a:xfrm>
            <a:prstGeom prst="straightConnector1">
              <a:avLst/>
            </a:prstGeom>
            <a:noFill/>
            <a:ln cap="flat" cmpd="sng" w="31750">
              <a:solidFill>
                <a:srgbClr val="002060"/>
              </a:solidFill>
              <a:prstDash val="solid"/>
              <a:round/>
              <a:headEnd len="med" w="med" type="none"/>
              <a:tailEnd len="med" w="med" type="none"/>
            </a:ln>
          </p:spPr>
        </p:cxnSp>
        <p:cxnSp>
          <p:nvCxnSpPr>
            <p:cNvPr id="1434" name="Google Shape;1434;p42"/>
            <p:cNvCxnSpPr/>
            <p:nvPr/>
          </p:nvCxnSpPr>
          <p:spPr>
            <a:xfrm>
              <a:off x="4212" y="3289"/>
              <a:ext cx="1" cy="403"/>
            </a:xfrm>
            <a:prstGeom prst="straightConnector1">
              <a:avLst/>
            </a:prstGeom>
            <a:noFill/>
            <a:ln cap="flat" cmpd="sng" w="31750">
              <a:solidFill>
                <a:srgbClr val="002060"/>
              </a:solidFill>
              <a:prstDash val="solid"/>
              <a:round/>
              <a:headEnd len="med" w="med" type="none"/>
              <a:tailEnd len="med" w="med" type="none"/>
            </a:ln>
          </p:spPr>
        </p:cxnSp>
        <p:cxnSp>
          <p:nvCxnSpPr>
            <p:cNvPr id="1435" name="Google Shape;1435;p42"/>
            <p:cNvCxnSpPr/>
            <p:nvPr/>
          </p:nvCxnSpPr>
          <p:spPr>
            <a:xfrm>
              <a:off x="4221" y="1801"/>
              <a:ext cx="655" cy="1"/>
            </a:xfrm>
            <a:prstGeom prst="straightConnector1">
              <a:avLst/>
            </a:prstGeom>
            <a:noFill/>
            <a:ln cap="flat" cmpd="sng" w="31750">
              <a:solidFill>
                <a:srgbClr val="002060"/>
              </a:solidFill>
              <a:prstDash val="solid"/>
              <a:round/>
              <a:headEnd len="med" w="med" type="none"/>
              <a:tailEnd len="med" w="med" type="none"/>
            </a:ln>
          </p:spPr>
        </p:cxnSp>
        <p:cxnSp>
          <p:nvCxnSpPr>
            <p:cNvPr id="1436" name="Google Shape;1436;p42"/>
            <p:cNvCxnSpPr/>
            <p:nvPr/>
          </p:nvCxnSpPr>
          <p:spPr>
            <a:xfrm flipH="1">
              <a:off x="4830" y="1759"/>
              <a:ext cx="373" cy="37"/>
            </a:xfrm>
            <a:prstGeom prst="straightConnector1">
              <a:avLst/>
            </a:prstGeom>
            <a:noFill/>
            <a:ln cap="flat" cmpd="sng" w="31750">
              <a:solidFill>
                <a:srgbClr val="002060"/>
              </a:solidFill>
              <a:prstDash val="solid"/>
              <a:round/>
              <a:headEnd len="med" w="med" type="none"/>
              <a:tailEnd len="med" w="med" type="none"/>
            </a:ln>
          </p:spPr>
        </p:cxnSp>
        <p:cxnSp>
          <p:nvCxnSpPr>
            <p:cNvPr id="1437" name="Google Shape;1437;p42"/>
            <p:cNvCxnSpPr/>
            <p:nvPr/>
          </p:nvCxnSpPr>
          <p:spPr>
            <a:xfrm>
              <a:off x="5178" y="1816"/>
              <a:ext cx="1963" cy="1"/>
            </a:xfrm>
            <a:prstGeom prst="straightConnector1">
              <a:avLst/>
            </a:prstGeom>
            <a:noFill/>
            <a:ln cap="flat" cmpd="sng" w="31750">
              <a:solidFill>
                <a:srgbClr val="002060"/>
              </a:solidFill>
              <a:prstDash val="solid"/>
              <a:round/>
              <a:headEnd len="med" w="med" type="none"/>
              <a:tailEnd len="med" w="med" type="none"/>
            </a:ln>
          </p:spPr>
        </p:cxnSp>
        <p:cxnSp>
          <p:nvCxnSpPr>
            <p:cNvPr id="1438" name="Google Shape;1438;p42"/>
            <p:cNvCxnSpPr/>
            <p:nvPr/>
          </p:nvCxnSpPr>
          <p:spPr>
            <a:xfrm>
              <a:off x="5934" y="1825"/>
              <a:ext cx="1" cy="853"/>
            </a:xfrm>
            <a:prstGeom prst="straightConnector1">
              <a:avLst/>
            </a:prstGeom>
            <a:noFill/>
            <a:ln cap="flat" cmpd="sng" w="31750">
              <a:solidFill>
                <a:srgbClr val="002060"/>
              </a:solidFill>
              <a:prstDash val="solid"/>
              <a:round/>
              <a:headEnd len="med" w="med" type="none"/>
              <a:tailEnd len="med" w="med" type="none"/>
            </a:ln>
          </p:spPr>
        </p:cxnSp>
        <p:cxnSp>
          <p:nvCxnSpPr>
            <p:cNvPr id="1439" name="Google Shape;1439;p42"/>
            <p:cNvCxnSpPr/>
            <p:nvPr/>
          </p:nvCxnSpPr>
          <p:spPr>
            <a:xfrm>
              <a:off x="5640" y="2689"/>
              <a:ext cx="625" cy="1"/>
            </a:xfrm>
            <a:prstGeom prst="straightConnector1">
              <a:avLst/>
            </a:prstGeom>
            <a:noFill/>
            <a:ln cap="flat" cmpd="sng" w="31750">
              <a:solidFill>
                <a:srgbClr val="002060"/>
              </a:solidFill>
              <a:prstDash val="solid"/>
              <a:round/>
              <a:headEnd len="med" w="med" type="none"/>
              <a:tailEnd len="med" w="med" type="none"/>
            </a:ln>
          </p:spPr>
        </p:cxnSp>
        <p:cxnSp>
          <p:nvCxnSpPr>
            <p:cNvPr id="1440" name="Google Shape;1440;p42"/>
            <p:cNvCxnSpPr/>
            <p:nvPr/>
          </p:nvCxnSpPr>
          <p:spPr>
            <a:xfrm>
              <a:off x="5640" y="2833"/>
              <a:ext cx="625" cy="1"/>
            </a:xfrm>
            <a:prstGeom prst="straightConnector1">
              <a:avLst/>
            </a:prstGeom>
            <a:noFill/>
            <a:ln cap="flat" cmpd="sng" w="31750">
              <a:solidFill>
                <a:srgbClr val="002060"/>
              </a:solidFill>
              <a:prstDash val="solid"/>
              <a:round/>
              <a:headEnd len="med" w="med" type="none"/>
              <a:tailEnd len="med" w="med" type="none"/>
            </a:ln>
          </p:spPr>
        </p:cxnSp>
        <p:cxnSp>
          <p:nvCxnSpPr>
            <p:cNvPr id="1441" name="Google Shape;1441;p42"/>
            <p:cNvCxnSpPr/>
            <p:nvPr/>
          </p:nvCxnSpPr>
          <p:spPr>
            <a:xfrm>
              <a:off x="5940" y="2824"/>
              <a:ext cx="1" cy="853"/>
            </a:xfrm>
            <a:prstGeom prst="straightConnector1">
              <a:avLst/>
            </a:prstGeom>
            <a:noFill/>
            <a:ln cap="flat" cmpd="sng" w="31750">
              <a:solidFill>
                <a:srgbClr val="002060"/>
              </a:solidFill>
              <a:prstDash val="solid"/>
              <a:round/>
              <a:headEnd len="med" w="med" type="none"/>
              <a:tailEnd len="med" w="med" type="none"/>
            </a:ln>
          </p:spPr>
        </p:cxnSp>
        <p:cxnSp>
          <p:nvCxnSpPr>
            <p:cNvPr id="1442" name="Google Shape;1442;p42"/>
            <p:cNvCxnSpPr/>
            <p:nvPr/>
          </p:nvCxnSpPr>
          <p:spPr>
            <a:xfrm flipH="1">
              <a:off x="7104" y="3382"/>
              <a:ext cx="1" cy="295"/>
            </a:xfrm>
            <a:prstGeom prst="straightConnector1">
              <a:avLst/>
            </a:prstGeom>
            <a:noFill/>
            <a:ln cap="flat" cmpd="sng" w="31750">
              <a:solidFill>
                <a:srgbClr val="002060"/>
              </a:solidFill>
              <a:prstDash val="solid"/>
              <a:round/>
              <a:headEnd len="med" w="med" type="none"/>
              <a:tailEnd len="med" w="med" type="none"/>
            </a:ln>
          </p:spPr>
        </p:cxnSp>
        <p:sp>
          <p:nvSpPr>
            <p:cNvPr id="1443" name="Google Shape;1443;p42"/>
            <p:cNvSpPr/>
            <p:nvPr/>
          </p:nvSpPr>
          <p:spPr>
            <a:xfrm>
              <a:off x="7008" y="2845"/>
              <a:ext cx="205" cy="529"/>
            </a:xfrm>
            <a:prstGeom prst="rect">
              <a:avLst/>
            </a:prstGeom>
            <a:noFill/>
            <a:ln cap="flat" cmpd="sng" w="31750">
              <a:solidFill>
                <a:srgbClr val="00206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cxnSp>
          <p:nvCxnSpPr>
            <p:cNvPr id="1444" name="Google Shape;1444;p42"/>
            <p:cNvCxnSpPr/>
            <p:nvPr/>
          </p:nvCxnSpPr>
          <p:spPr>
            <a:xfrm flipH="1">
              <a:off x="7104" y="2620"/>
              <a:ext cx="1" cy="223"/>
            </a:xfrm>
            <a:prstGeom prst="straightConnector1">
              <a:avLst/>
            </a:prstGeom>
            <a:noFill/>
            <a:ln cap="flat" cmpd="sng" w="31750">
              <a:solidFill>
                <a:srgbClr val="002060"/>
              </a:solidFill>
              <a:prstDash val="solid"/>
              <a:round/>
              <a:headEnd len="med" w="med" type="none"/>
              <a:tailEnd len="med" w="med" type="none"/>
            </a:ln>
          </p:spPr>
        </p:cxnSp>
        <p:cxnSp>
          <p:nvCxnSpPr>
            <p:cNvPr id="1445" name="Google Shape;1445;p42"/>
            <p:cNvCxnSpPr/>
            <p:nvPr/>
          </p:nvCxnSpPr>
          <p:spPr>
            <a:xfrm flipH="1">
              <a:off x="7122" y="1822"/>
              <a:ext cx="1" cy="239"/>
            </a:xfrm>
            <a:prstGeom prst="straightConnector1">
              <a:avLst/>
            </a:prstGeom>
            <a:noFill/>
            <a:ln cap="flat" cmpd="sng" w="31750">
              <a:solidFill>
                <a:srgbClr val="002060"/>
              </a:solidFill>
              <a:prstDash val="solid"/>
              <a:round/>
              <a:headEnd len="med" w="med" type="none"/>
              <a:tailEnd len="med" w="med" type="none"/>
            </a:ln>
          </p:spPr>
        </p:cxnSp>
        <p:cxnSp>
          <p:nvCxnSpPr>
            <p:cNvPr id="1446" name="Google Shape;1446;p42"/>
            <p:cNvCxnSpPr/>
            <p:nvPr/>
          </p:nvCxnSpPr>
          <p:spPr>
            <a:xfrm>
              <a:off x="4212" y="3679"/>
              <a:ext cx="2917" cy="1"/>
            </a:xfrm>
            <a:prstGeom prst="straightConnector1">
              <a:avLst/>
            </a:prstGeom>
            <a:noFill/>
            <a:ln cap="flat" cmpd="sng" w="31750">
              <a:solidFill>
                <a:srgbClr val="002060"/>
              </a:solidFill>
              <a:prstDash val="solid"/>
              <a:round/>
              <a:headEnd len="med" w="med" type="none"/>
              <a:tailEnd len="med" w="med" type="none"/>
            </a:ln>
          </p:spPr>
        </p:cxnSp>
        <p:sp>
          <p:nvSpPr>
            <p:cNvPr id="1447" name="Google Shape;1447;p42"/>
            <p:cNvSpPr/>
            <p:nvPr/>
          </p:nvSpPr>
          <p:spPr>
            <a:xfrm>
              <a:off x="4848" y="1939"/>
              <a:ext cx="187" cy="28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S</a:t>
              </a:r>
              <a:endParaRPr sz="1400">
                <a:solidFill>
                  <a:schemeClr val="dk1"/>
                </a:solidFill>
                <a:latin typeface="Times New Roman"/>
                <a:ea typeface="Times New Roman"/>
                <a:cs typeface="Times New Roman"/>
                <a:sym typeface="Times New Roman"/>
              </a:endParaRPr>
            </a:p>
          </p:txBody>
        </p:sp>
        <p:sp>
          <p:nvSpPr>
            <p:cNvPr id="1448" name="Google Shape;1448;p42"/>
            <p:cNvSpPr/>
            <p:nvPr/>
          </p:nvSpPr>
          <p:spPr>
            <a:xfrm>
              <a:off x="3144" y="2359"/>
              <a:ext cx="1021" cy="28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R</a:t>
              </a:r>
              <a:r>
                <a:rPr baseline="-25000" lang="en-GB" sz="2800">
                  <a:solidFill>
                    <a:srgbClr val="002060"/>
                  </a:solidFill>
                  <a:latin typeface="Times New Roman"/>
                  <a:ea typeface="Times New Roman"/>
                  <a:cs typeface="Times New Roman"/>
                  <a:sym typeface="Times New Roman"/>
                </a:rPr>
                <a:t>1</a:t>
              </a:r>
              <a:r>
                <a:rPr lang="en-GB" sz="2800">
                  <a:solidFill>
                    <a:srgbClr val="002060"/>
                  </a:solidFill>
                  <a:latin typeface="Times New Roman"/>
                  <a:ea typeface="Times New Roman"/>
                  <a:cs typeface="Times New Roman"/>
                  <a:sym typeface="Times New Roman"/>
                </a:rPr>
                <a:t> = 10 </a:t>
              </a:r>
              <a:r>
                <a:rPr lang="en-GB" sz="2800">
                  <a:solidFill>
                    <a:srgbClr val="002060"/>
                  </a:solidFill>
                  <a:latin typeface="Noto Sans Symbols"/>
                  <a:ea typeface="Noto Sans Symbols"/>
                  <a:cs typeface="Noto Sans Symbols"/>
                  <a:sym typeface="Noto Sans Symbols"/>
                </a:rPr>
                <a:t>Ω</a:t>
              </a:r>
              <a:endParaRPr sz="1400">
                <a:solidFill>
                  <a:schemeClr val="dk1"/>
                </a:solidFill>
                <a:latin typeface="Times New Roman"/>
                <a:ea typeface="Times New Roman"/>
                <a:cs typeface="Times New Roman"/>
                <a:sym typeface="Times New Roman"/>
              </a:endParaRPr>
            </a:p>
          </p:txBody>
        </p:sp>
        <p:sp>
          <p:nvSpPr>
            <p:cNvPr id="1449" name="Google Shape;1449;p42"/>
            <p:cNvSpPr/>
            <p:nvPr/>
          </p:nvSpPr>
          <p:spPr>
            <a:xfrm>
              <a:off x="3048" y="3061"/>
              <a:ext cx="1021" cy="28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E = 100 V</a:t>
              </a:r>
              <a:endParaRPr sz="1400">
                <a:solidFill>
                  <a:schemeClr val="dk1"/>
                </a:solidFill>
                <a:latin typeface="Times New Roman"/>
                <a:ea typeface="Times New Roman"/>
                <a:cs typeface="Times New Roman"/>
                <a:sym typeface="Times New Roman"/>
              </a:endParaRPr>
            </a:p>
          </p:txBody>
        </p:sp>
        <p:sp>
          <p:nvSpPr>
            <p:cNvPr id="1450" name="Google Shape;1450;p42"/>
            <p:cNvSpPr/>
            <p:nvPr/>
          </p:nvSpPr>
          <p:spPr>
            <a:xfrm>
              <a:off x="4818" y="2341"/>
              <a:ext cx="1021" cy="28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C = 10 μF</a:t>
              </a:r>
              <a:endParaRPr sz="1400">
                <a:solidFill>
                  <a:schemeClr val="dk1"/>
                </a:solidFill>
                <a:latin typeface="Times New Roman"/>
                <a:ea typeface="Times New Roman"/>
                <a:cs typeface="Times New Roman"/>
                <a:sym typeface="Times New Roman"/>
              </a:endParaRPr>
            </a:p>
          </p:txBody>
        </p:sp>
        <p:sp>
          <p:nvSpPr>
            <p:cNvPr id="1451" name="Google Shape;1451;p42"/>
            <p:cNvSpPr/>
            <p:nvPr/>
          </p:nvSpPr>
          <p:spPr>
            <a:xfrm>
              <a:off x="7278" y="2977"/>
              <a:ext cx="1021" cy="28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3200">
                  <a:solidFill>
                    <a:srgbClr val="002060"/>
                  </a:solidFill>
                  <a:latin typeface="Times New Roman"/>
                  <a:ea typeface="Times New Roman"/>
                  <a:cs typeface="Times New Roman"/>
                  <a:sym typeface="Times New Roman"/>
                </a:rPr>
                <a:t>R</a:t>
              </a:r>
              <a:r>
                <a:rPr baseline="-25000" lang="en-GB" sz="3200">
                  <a:solidFill>
                    <a:srgbClr val="002060"/>
                  </a:solidFill>
                  <a:latin typeface="Times New Roman"/>
                  <a:ea typeface="Times New Roman"/>
                  <a:cs typeface="Times New Roman"/>
                  <a:sym typeface="Times New Roman"/>
                </a:rPr>
                <a:t>2</a:t>
              </a:r>
              <a:r>
                <a:rPr lang="en-GB" sz="3200">
                  <a:solidFill>
                    <a:srgbClr val="002060"/>
                  </a:solidFill>
                  <a:latin typeface="Times New Roman"/>
                  <a:ea typeface="Times New Roman"/>
                  <a:cs typeface="Times New Roman"/>
                  <a:sym typeface="Times New Roman"/>
                </a:rPr>
                <a:t> = 10</a:t>
              </a:r>
              <a:r>
                <a:rPr lang="en-GB" sz="1200">
                  <a:solidFill>
                    <a:srgbClr val="002060"/>
                  </a:solidFill>
                  <a:latin typeface="Times New Roman"/>
                  <a:ea typeface="Times New Roman"/>
                  <a:cs typeface="Times New Roman"/>
                  <a:sym typeface="Times New Roman"/>
                </a:rPr>
                <a:t> </a:t>
              </a:r>
              <a:r>
                <a:rPr lang="en-GB" sz="2800">
                  <a:solidFill>
                    <a:srgbClr val="002060"/>
                  </a:solidFill>
                  <a:latin typeface="Times New Roman"/>
                  <a:ea typeface="Times New Roman"/>
                  <a:cs typeface="Times New Roman"/>
                  <a:sym typeface="Times New Roman"/>
                </a:rPr>
                <a:t>Ω</a:t>
              </a:r>
              <a:endParaRPr sz="1400">
                <a:solidFill>
                  <a:schemeClr val="dk1"/>
                </a:solidFill>
                <a:latin typeface="Times New Roman"/>
                <a:ea typeface="Times New Roman"/>
                <a:cs typeface="Times New Roman"/>
                <a:sym typeface="Times New Roman"/>
              </a:endParaRPr>
            </a:p>
          </p:txBody>
        </p:sp>
        <p:sp>
          <p:nvSpPr>
            <p:cNvPr id="1452" name="Google Shape;1452;p42"/>
            <p:cNvSpPr/>
            <p:nvPr/>
          </p:nvSpPr>
          <p:spPr>
            <a:xfrm>
              <a:off x="7362" y="2275"/>
              <a:ext cx="1021" cy="28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L = 10 mH</a:t>
              </a:r>
              <a:endParaRPr sz="1400">
                <a:solidFill>
                  <a:schemeClr val="dk1"/>
                </a:solidFill>
                <a:latin typeface="Times New Roman"/>
                <a:ea typeface="Times New Roman"/>
                <a:cs typeface="Times New Roman"/>
                <a:sym typeface="Times New Roman"/>
              </a:endParaRPr>
            </a:p>
          </p:txBody>
        </p:sp>
        <p:sp>
          <p:nvSpPr>
            <p:cNvPr id="1453" name="Google Shape;1453;p42"/>
            <p:cNvSpPr/>
            <p:nvPr/>
          </p:nvSpPr>
          <p:spPr>
            <a:xfrm>
              <a:off x="5148" y="1765"/>
              <a:ext cx="103" cy="73"/>
            </a:xfrm>
            <a:prstGeom prst="ellipse">
              <a:avLst/>
            </a:prstGeom>
            <a:solidFill>
              <a:srgbClr val="000000"/>
            </a:solid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nvGrpSpPr>
            <p:cNvPr id="1454" name="Google Shape;1454;p42"/>
            <p:cNvGrpSpPr/>
            <p:nvPr/>
          </p:nvGrpSpPr>
          <p:grpSpPr>
            <a:xfrm>
              <a:off x="7088" y="2061"/>
              <a:ext cx="120" cy="540"/>
              <a:chOff x="6232" y="3219"/>
              <a:chExt cx="92" cy="751"/>
            </a:xfrm>
          </p:grpSpPr>
          <p:sp>
            <p:nvSpPr>
              <p:cNvPr id="1455" name="Google Shape;1455;p42"/>
              <p:cNvSpPr/>
              <p:nvPr/>
            </p:nvSpPr>
            <p:spPr>
              <a:xfrm>
                <a:off x="6233" y="3219"/>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456" name="Google Shape;1456;p42"/>
              <p:cNvSpPr/>
              <p:nvPr/>
            </p:nvSpPr>
            <p:spPr>
              <a:xfrm>
                <a:off x="6232" y="3414"/>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457" name="Google Shape;1457;p42"/>
              <p:cNvSpPr/>
              <p:nvPr/>
            </p:nvSpPr>
            <p:spPr>
              <a:xfrm>
                <a:off x="6233" y="3593"/>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1458" name="Google Shape;1458;p42"/>
              <p:cNvSpPr/>
              <p:nvPr/>
            </p:nvSpPr>
            <p:spPr>
              <a:xfrm>
                <a:off x="6232" y="3788"/>
                <a:ext cx="91" cy="182"/>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grpSp>
      </p:grpSp>
      <p:sp>
        <p:nvSpPr>
          <p:cNvPr id="1459" name="Google Shape;1459;p42"/>
          <p:cNvSpPr/>
          <p:nvPr/>
        </p:nvSpPr>
        <p:spPr>
          <a:xfrm>
            <a:off x="4320540" y="2619375"/>
            <a:ext cx="76200" cy="228600"/>
          </a:xfrm>
          <a:custGeom>
            <a:rect b="b" l="l" r="r" t="t"/>
            <a:pathLst>
              <a:path extrusionOk="0" fill="none" h="21600" w="21600">
                <a:moveTo>
                  <a:pt x="-1" y="0"/>
                </a:moveTo>
                <a:cubicBezTo>
                  <a:pt x="11929" y="0"/>
                  <a:pt x="21600" y="9670"/>
                  <a:pt x="21600" y="21600"/>
                </a:cubicBezTo>
              </a:path>
              <a:path extrusionOk="0" h="21600" w="21600">
                <a:moveTo>
                  <a:pt x="-1" y="0"/>
                </a:moveTo>
                <a:cubicBezTo>
                  <a:pt x="11929" y="0"/>
                  <a:pt x="21600" y="9670"/>
                  <a:pt x="21600" y="21600"/>
                </a:cubicBezTo>
                <a:lnTo>
                  <a:pt x="0" y="21600"/>
                </a:lnTo>
                <a:close/>
              </a:path>
            </a:pathLst>
          </a:custGeom>
          <a:noFill/>
          <a:ln cap="flat" cmpd="sng" w="285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0" name="Google Shape;1460;p42"/>
          <p:cNvSpPr/>
          <p:nvPr/>
        </p:nvSpPr>
        <p:spPr>
          <a:xfrm>
            <a:off x="291852" y="1026464"/>
            <a:ext cx="11608296" cy="120032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Figure shows a circuit which has reached steady state with switch closed. </a:t>
            </a:r>
            <a:endParaRPr b="0" i="0" sz="1100" u="none" cap="none" strike="noStrike">
              <a:solidFill>
                <a:schemeClr val="dk1"/>
              </a:solidFill>
              <a:latin typeface="Times New Roman"/>
              <a:ea typeface="Times New Roman"/>
              <a:cs typeface="Times New Roman"/>
              <a:sym typeface="Times New Roman"/>
            </a:endParaRPr>
          </a:p>
        </p:txBody>
      </p:sp>
      <p:sp>
        <p:nvSpPr>
          <p:cNvPr id="1461" name="Google Shape;1461;p42"/>
          <p:cNvSpPr/>
          <p:nvPr/>
        </p:nvSpPr>
        <p:spPr>
          <a:xfrm>
            <a:off x="372773" y="2089814"/>
            <a:ext cx="11760696" cy="120032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If the switch S is opened at time t=0, obtain an expression for the ensuing current through the inductor.</a:t>
            </a:r>
            <a:endParaRPr b="0" i="0" sz="11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5" name="Shape 1465"/>
        <p:cNvGrpSpPr/>
        <p:nvPr/>
      </p:nvGrpSpPr>
      <p:grpSpPr>
        <a:xfrm>
          <a:off x="0" y="0"/>
          <a:ext cx="0" cy="0"/>
          <a:chOff x="0" y="0"/>
          <a:chExt cx="0" cy="0"/>
        </a:xfrm>
      </p:grpSpPr>
      <p:sp>
        <p:nvSpPr>
          <p:cNvPr id="1466" name="Google Shape;1466;p43"/>
          <p:cNvSpPr txBox="1"/>
          <p:nvPr>
            <p:ph type="title"/>
          </p:nvPr>
        </p:nvSpPr>
        <p:spPr>
          <a:xfrm>
            <a:off x="429715" y="457199"/>
            <a:ext cx="10924085" cy="55179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C00000"/>
              </a:buClr>
              <a:buSzPts val="3200"/>
              <a:buFont typeface="Times New Roman"/>
              <a:buNone/>
            </a:pPr>
            <a:r>
              <a:rPr lang="en-GB"/>
              <a:t>Solution</a:t>
            </a:r>
            <a:endParaRPr/>
          </a:p>
        </p:txBody>
      </p:sp>
      <p:pic>
        <p:nvPicPr>
          <p:cNvPr id="1467" name="Google Shape;1467;p43"/>
          <p:cNvPicPr preferRelativeResize="0"/>
          <p:nvPr/>
        </p:nvPicPr>
        <p:blipFill rotWithShape="1">
          <a:blip r:embed="rId3">
            <a:alphaModFix/>
          </a:blip>
          <a:srcRect b="0" l="0" r="0" t="0"/>
          <a:stretch/>
        </p:blipFill>
        <p:spPr>
          <a:xfrm>
            <a:off x="3733812" y="5113391"/>
            <a:ext cx="571500" cy="895350"/>
          </a:xfrm>
          <a:prstGeom prst="rect">
            <a:avLst/>
          </a:prstGeom>
          <a:noFill/>
          <a:ln>
            <a:noFill/>
          </a:ln>
        </p:spPr>
      </p:pic>
      <p:pic>
        <p:nvPicPr>
          <p:cNvPr id="1468" name="Google Shape;1468;p43"/>
          <p:cNvPicPr preferRelativeResize="0"/>
          <p:nvPr/>
        </p:nvPicPr>
        <p:blipFill rotWithShape="1">
          <a:blip r:embed="rId4">
            <a:alphaModFix/>
          </a:blip>
          <a:srcRect b="0" l="0" r="0" t="0"/>
          <a:stretch/>
        </p:blipFill>
        <p:spPr>
          <a:xfrm>
            <a:off x="5073217" y="4393386"/>
            <a:ext cx="400050" cy="742950"/>
          </a:xfrm>
          <a:prstGeom prst="rect">
            <a:avLst/>
          </a:prstGeom>
          <a:noFill/>
          <a:ln>
            <a:noFill/>
          </a:ln>
        </p:spPr>
      </p:pic>
      <p:grpSp>
        <p:nvGrpSpPr>
          <p:cNvPr id="1469" name="Google Shape;1469;p43"/>
          <p:cNvGrpSpPr/>
          <p:nvPr/>
        </p:nvGrpSpPr>
        <p:grpSpPr>
          <a:xfrm>
            <a:off x="1083945" y="3608051"/>
            <a:ext cx="7227570" cy="2744489"/>
            <a:chOff x="3618" y="1865"/>
            <a:chExt cx="5005" cy="2323"/>
          </a:xfrm>
        </p:grpSpPr>
        <p:cxnSp>
          <p:nvCxnSpPr>
            <p:cNvPr id="1470" name="Google Shape;1470;p43"/>
            <p:cNvCxnSpPr/>
            <p:nvPr/>
          </p:nvCxnSpPr>
          <p:spPr>
            <a:xfrm>
              <a:off x="4452" y="2268"/>
              <a:ext cx="1" cy="294"/>
            </a:xfrm>
            <a:prstGeom prst="straightConnector1">
              <a:avLst/>
            </a:prstGeom>
            <a:noFill/>
            <a:ln cap="flat" cmpd="sng" w="31750">
              <a:solidFill>
                <a:srgbClr val="002060"/>
              </a:solidFill>
              <a:prstDash val="solid"/>
              <a:round/>
              <a:headEnd len="med" w="med" type="none"/>
              <a:tailEnd len="med" w="med" type="none"/>
            </a:ln>
          </p:spPr>
        </p:cxnSp>
        <p:sp>
          <p:nvSpPr>
            <p:cNvPr id="1471" name="Google Shape;1471;p43"/>
            <p:cNvSpPr/>
            <p:nvPr/>
          </p:nvSpPr>
          <p:spPr>
            <a:xfrm>
              <a:off x="4350" y="2562"/>
              <a:ext cx="223" cy="583"/>
            </a:xfrm>
            <a:prstGeom prst="rect">
              <a:avLst/>
            </a:prstGeom>
            <a:noFill/>
            <a:ln cap="flat" cmpd="sng" w="31750">
              <a:solidFill>
                <a:srgbClr val="00206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472" name="Google Shape;1472;p43"/>
            <p:cNvCxnSpPr/>
            <p:nvPr/>
          </p:nvCxnSpPr>
          <p:spPr>
            <a:xfrm>
              <a:off x="4452" y="3132"/>
              <a:ext cx="1" cy="180"/>
            </a:xfrm>
            <a:prstGeom prst="straightConnector1">
              <a:avLst/>
            </a:prstGeom>
            <a:noFill/>
            <a:ln cap="flat" cmpd="sng" w="31750">
              <a:solidFill>
                <a:srgbClr val="002060"/>
              </a:solidFill>
              <a:prstDash val="solid"/>
              <a:round/>
              <a:headEnd len="med" w="med" type="none"/>
              <a:tailEnd len="med" w="med" type="none"/>
            </a:ln>
          </p:spPr>
        </p:cxnSp>
        <p:cxnSp>
          <p:nvCxnSpPr>
            <p:cNvPr id="1473" name="Google Shape;1473;p43"/>
            <p:cNvCxnSpPr/>
            <p:nvPr/>
          </p:nvCxnSpPr>
          <p:spPr>
            <a:xfrm>
              <a:off x="4453" y="3653"/>
              <a:ext cx="0" cy="437"/>
            </a:xfrm>
            <a:prstGeom prst="straightConnector1">
              <a:avLst/>
            </a:prstGeom>
            <a:noFill/>
            <a:ln cap="flat" cmpd="sng" w="31750">
              <a:solidFill>
                <a:srgbClr val="002060"/>
              </a:solidFill>
              <a:prstDash val="solid"/>
              <a:round/>
              <a:headEnd len="med" w="med" type="none"/>
              <a:tailEnd len="med" w="med" type="none"/>
            </a:ln>
          </p:spPr>
        </p:cxnSp>
        <p:cxnSp>
          <p:nvCxnSpPr>
            <p:cNvPr id="1474" name="Google Shape;1474;p43"/>
            <p:cNvCxnSpPr/>
            <p:nvPr/>
          </p:nvCxnSpPr>
          <p:spPr>
            <a:xfrm>
              <a:off x="4461" y="2247"/>
              <a:ext cx="655" cy="1"/>
            </a:xfrm>
            <a:prstGeom prst="straightConnector1">
              <a:avLst/>
            </a:prstGeom>
            <a:noFill/>
            <a:ln cap="flat" cmpd="sng" w="31750">
              <a:solidFill>
                <a:srgbClr val="002060"/>
              </a:solidFill>
              <a:prstDash val="solid"/>
              <a:round/>
              <a:headEnd len="med" w="med" type="none"/>
              <a:tailEnd len="med" w="med" type="none"/>
            </a:ln>
          </p:spPr>
        </p:cxnSp>
        <p:cxnSp>
          <p:nvCxnSpPr>
            <p:cNvPr id="1475" name="Google Shape;1475;p43"/>
            <p:cNvCxnSpPr/>
            <p:nvPr/>
          </p:nvCxnSpPr>
          <p:spPr>
            <a:xfrm flipH="1">
              <a:off x="5070" y="1973"/>
              <a:ext cx="308" cy="281"/>
            </a:xfrm>
            <a:prstGeom prst="straightConnector1">
              <a:avLst/>
            </a:prstGeom>
            <a:noFill/>
            <a:ln cap="flat" cmpd="sng" w="31750">
              <a:solidFill>
                <a:srgbClr val="002060"/>
              </a:solidFill>
              <a:prstDash val="solid"/>
              <a:round/>
              <a:headEnd len="sm" w="sm" type="oval"/>
              <a:tailEnd len="sm" w="sm" type="none"/>
            </a:ln>
          </p:spPr>
        </p:cxnSp>
        <p:cxnSp>
          <p:nvCxnSpPr>
            <p:cNvPr id="1476" name="Google Shape;1476;p43"/>
            <p:cNvCxnSpPr/>
            <p:nvPr/>
          </p:nvCxnSpPr>
          <p:spPr>
            <a:xfrm>
              <a:off x="5418" y="2259"/>
              <a:ext cx="1963" cy="1"/>
            </a:xfrm>
            <a:prstGeom prst="straightConnector1">
              <a:avLst/>
            </a:prstGeom>
            <a:noFill/>
            <a:ln cap="flat" cmpd="sng" w="31750">
              <a:solidFill>
                <a:srgbClr val="002060"/>
              </a:solidFill>
              <a:prstDash val="solid"/>
              <a:round/>
              <a:headEnd len="med" w="med" type="none"/>
              <a:tailEnd len="med" w="med" type="none"/>
            </a:ln>
          </p:spPr>
        </p:cxnSp>
        <p:cxnSp>
          <p:nvCxnSpPr>
            <p:cNvPr id="1477" name="Google Shape;1477;p43"/>
            <p:cNvCxnSpPr/>
            <p:nvPr/>
          </p:nvCxnSpPr>
          <p:spPr>
            <a:xfrm>
              <a:off x="6174" y="2268"/>
              <a:ext cx="1" cy="410"/>
            </a:xfrm>
            <a:prstGeom prst="straightConnector1">
              <a:avLst/>
            </a:prstGeom>
            <a:noFill/>
            <a:ln cap="flat" cmpd="sng" w="31750">
              <a:solidFill>
                <a:srgbClr val="002060"/>
              </a:solidFill>
              <a:prstDash val="solid"/>
              <a:round/>
              <a:headEnd len="med" w="med" type="none"/>
              <a:tailEnd len="med" w="med" type="none"/>
            </a:ln>
          </p:spPr>
        </p:cxnSp>
        <p:cxnSp>
          <p:nvCxnSpPr>
            <p:cNvPr id="1478" name="Google Shape;1478;p43"/>
            <p:cNvCxnSpPr/>
            <p:nvPr/>
          </p:nvCxnSpPr>
          <p:spPr>
            <a:xfrm>
              <a:off x="5880" y="3418"/>
              <a:ext cx="625" cy="1"/>
            </a:xfrm>
            <a:prstGeom prst="straightConnector1">
              <a:avLst/>
            </a:prstGeom>
            <a:noFill/>
            <a:ln cap="flat" cmpd="sng" w="31750">
              <a:solidFill>
                <a:srgbClr val="002060"/>
              </a:solidFill>
              <a:prstDash val="solid"/>
              <a:round/>
              <a:headEnd len="med" w="med" type="none"/>
              <a:tailEnd len="med" w="med" type="none"/>
            </a:ln>
          </p:spPr>
        </p:cxnSp>
        <p:cxnSp>
          <p:nvCxnSpPr>
            <p:cNvPr id="1479" name="Google Shape;1479;p43"/>
            <p:cNvCxnSpPr/>
            <p:nvPr/>
          </p:nvCxnSpPr>
          <p:spPr>
            <a:xfrm>
              <a:off x="5880" y="3562"/>
              <a:ext cx="625" cy="1"/>
            </a:xfrm>
            <a:prstGeom prst="straightConnector1">
              <a:avLst/>
            </a:prstGeom>
            <a:noFill/>
            <a:ln cap="flat" cmpd="sng" w="31750">
              <a:solidFill>
                <a:srgbClr val="002060"/>
              </a:solidFill>
              <a:prstDash val="solid"/>
              <a:round/>
              <a:headEnd len="med" w="med" type="none"/>
              <a:tailEnd len="med" w="med" type="none"/>
            </a:ln>
          </p:spPr>
        </p:cxnSp>
        <p:cxnSp>
          <p:nvCxnSpPr>
            <p:cNvPr id="1480" name="Google Shape;1480;p43"/>
            <p:cNvCxnSpPr/>
            <p:nvPr/>
          </p:nvCxnSpPr>
          <p:spPr>
            <a:xfrm>
              <a:off x="6180" y="3563"/>
              <a:ext cx="1" cy="542"/>
            </a:xfrm>
            <a:prstGeom prst="straightConnector1">
              <a:avLst/>
            </a:prstGeom>
            <a:noFill/>
            <a:ln cap="flat" cmpd="sng" w="31750">
              <a:solidFill>
                <a:srgbClr val="002060"/>
              </a:solidFill>
              <a:prstDash val="solid"/>
              <a:round/>
              <a:headEnd len="med" w="med" type="none"/>
              <a:tailEnd len="med" w="med" type="none"/>
            </a:ln>
          </p:spPr>
        </p:cxnSp>
        <p:cxnSp>
          <p:nvCxnSpPr>
            <p:cNvPr id="1481" name="Google Shape;1481;p43"/>
            <p:cNvCxnSpPr/>
            <p:nvPr/>
          </p:nvCxnSpPr>
          <p:spPr>
            <a:xfrm flipH="1" rot="-5400000">
              <a:off x="7188" y="3859"/>
              <a:ext cx="1" cy="429"/>
            </a:xfrm>
            <a:prstGeom prst="straightConnector1">
              <a:avLst/>
            </a:prstGeom>
            <a:noFill/>
            <a:ln cap="flat" cmpd="sng" w="31750">
              <a:solidFill>
                <a:srgbClr val="002060"/>
              </a:solidFill>
              <a:prstDash val="solid"/>
              <a:round/>
              <a:headEnd len="med" w="med" type="none"/>
              <a:tailEnd len="med" w="med" type="none"/>
            </a:ln>
          </p:spPr>
        </p:cxnSp>
        <p:sp>
          <p:nvSpPr>
            <p:cNvPr id="1482" name="Google Shape;1482;p43"/>
            <p:cNvSpPr/>
            <p:nvPr/>
          </p:nvSpPr>
          <p:spPr>
            <a:xfrm rot="-5400000">
              <a:off x="6605" y="3821"/>
              <a:ext cx="205" cy="529"/>
            </a:xfrm>
            <a:prstGeom prst="rect">
              <a:avLst/>
            </a:prstGeom>
            <a:noFill/>
            <a:ln cap="flat" cmpd="sng" w="31750">
              <a:solidFill>
                <a:srgbClr val="00206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483" name="Google Shape;1483;p43"/>
            <p:cNvCxnSpPr/>
            <p:nvPr/>
          </p:nvCxnSpPr>
          <p:spPr>
            <a:xfrm flipH="1">
              <a:off x="7344" y="3063"/>
              <a:ext cx="1" cy="223"/>
            </a:xfrm>
            <a:prstGeom prst="straightConnector1">
              <a:avLst/>
            </a:prstGeom>
            <a:noFill/>
            <a:ln cap="flat" cmpd="sng" w="31750">
              <a:solidFill>
                <a:srgbClr val="002060"/>
              </a:solidFill>
              <a:prstDash val="solid"/>
              <a:round/>
              <a:headEnd len="med" w="med" type="none"/>
              <a:tailEnd len="med" w="med" type="none"/>
            </a:ln>
          </p:spPr>
        </p:cxnSp>
        <p:cxnSp>
          <p:nvCxnSpPr>
            <p:cNvPr id="1484" name="Google Shape;1484;p43"/>
            <p:cNvCxnSpPr/>
            <p:nvPr/>
          </p:nvCxnSpPr>
          <p:spPr>
            <a:xfrm flipH="1">
              <a:off x="7362" y="2265"/>
              <a:ext cx="1" cy="239"/>
            </a:xfrm>
            <a:prstGeom prst="straightConnector1">
              <a:avLst/>
            </a:prstGeom>
            <a:noFill/>
            <a:ln cap="flat" cmpd="sng" w="31750">
              <a:solidFill>
                <a:srgbClr val="002060"/>
              </a:solidFill>
              <a:prstDash val="solid"/>
              <a:round/>
              <a:headEnd len="med" w="med" type="none"/>
              <a:tailEnd len="med" w="med" type="none"/>
            </a:ln>
          </p:spPr>
        </p:cxnSp>
        <p:cxnSp>
          <p:nvCxnSpPr>
            <p:cNvPr id="1485" name="Google Shape;1485;p43"/>
            <p:cNvCxnSpPr/>
            <p:nvPr/>
          </p:nvCxnSpPr>
          <p:spPr>
            <a:xfrm>
              <a:off x="4452" y="4092"/>
              <a:ext cx="2006" cy="1"/>
            </a:xfrm>
            <a:prstGeom prst="straightConnector1">
              <a:avLst/>
            </a:prstGeom>
            <a:noFill/>
            <a:ln cap="flat" cmpd="sng" w="31750">
              <a:solidFill>
                <a:srgbClr val="002060"/>
              </a:solidFill>
              <a:prstDash val="solid"/>
              <a:round/>
              <a:headEnd len="med" w="med" type="none"/>
              <a:tailEnd len="med" w="med" type="none"/>
            </a:ln>
          </p:spPr>
        </p:cxnSp>
        <p:sp>
          <p:nvSpPr>
            <p:cNvPr id="1486" name="Google Shape;1486;p43"/>
            <p:cNvSpPr/>
            <p:nvPr/>
          </p:nvSpPr>
          <p:spPr>
            <a:xfrm>
              <a:off x="5191" y="2282"/>
              <a:ext cx="187" cy="28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2400">
                  <a:solidFill>
                    <a:srgbClr val="002060"/>
                  </a:solidFill>
                  <a:latin typeface="Times New Roman"/>
                  <a:ea typeface="Times New Roman"/>
                  <a:cs typeface="Times New Roman"/>
                  <a:sym typeface="Times New Roman"/>
                </a:rPr>
                <a:t>S</a:t>
              </a:r>
              <a:endParaRPr sz="1200">
                <a:solidFill>
                  <a:schemeClr val="dk1"/>
                </a:solidFill>
                <a:latin typeface="Times New Roman"/>
                <a:ea typeface="Times New Roman"/>
                <a:cs typeface="Times New Roman"/>
                <a:sym typeface="Times New Roman"/>
              </a:endParaRPr>
            </a:p>
          </p:txBody>
        </p:sp>
        <p:sp>
          <p:nvSpPr>
            <p:cNvPr id="1487" name="Google Shape;1487;p43"/>
            <p:cNvSpPr/>
            <p:nvPr/>
          </p:nvSpPr>
          <p:spPr>
            <a:xfrm>
              <a:off x="4058" y="2742"/>
              <a:ext cx="360" cy="34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2600">
                  <a:solidFill>
                    <a:srgbClr val="002060"/>
                  </a:solidFill>
                  <a:latin typeface="Times New Roman"/>
                  <a:ea typeface="Times New Roman"/>
                  <a:cs typeface="Times New Roman"/>
                  <a:sym typeface="Times New Roman"/>
                </a:rPr>
                <a:t>10 </a:t>
              </a:r>
              <a:endParaRPr sz="1200">
                <a:solidFill>
                  <a:schemeClr val="dk1"/>
                </a:solidFill>
                <a:latin typeface="Times New Roman"/>
                <a:ea typeface="Times New Roman"/>
                <a:cs typeface="Times New Roman"/>
                <a:sym typeface="Times New Roman"/>
              </a:endParaRPr>
            </a:p>
          </p:txBody>
        </p:sp>
        <p:sp>
          <p:nvSpPr>
            <p:cNvPr id="1488" name="Google Shape;1488;p43"/>
            <p:cNvSpPr/>
            <p:nvPr/>
          </p:nvSpPr>
          <p:spPr>
            <a:xfrm>
              <a:off x="3618" y="3282"/>
              <a:ext cx="440" cy="6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200">
                <a:solidFill>
                  <a:srgbClr val="FFFFFF"/>
                </a:solidFill>
                <a:latin typeface="Times New Roman"/>
                <a:ea typeface="Times New Roman"/>
                <a:cs typeface="Times New Roman"/>
                <a:sym typeface="Times New Roman"/>
              </a:endParaRPr>
            </a:p>
          </p:txBody>
        </p:sp>
        <p:sp>
          <p:nvSpPr>
            <p:cNvPr id="1489" name="Google Shape;1489;p43"/>
            <p:cNvSpPr/>
            <p:nvPr/>
          </p:nvSpPr>
          <p:spPr>
            <a:xfrm>
              <a:off x="6608" y="3743"/>
              <a:ext cx="380" cy="31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2400">
                  <a:solidFill>
                    <a:srgbClr val="002060"/>
                  </a:solidFill>
                  <a:latin typeface="Times New Roman"/>
                  <a:ea typeface="Times New Roman"/>
                  <a:cs typeface="Times New Roman"/>
                  <a:sym typeface="Times New Roman"/>
                </a:rPr>
                <a:t>10 </a:t>
              </a:r>
              <a:endParaRPr sz="1200">
                <a:solidFill>
                  <a:schemeClr val="dk1"/>
                </a:solidFill>
                <a:latin typeface="Times New Roman"/>
                <a:ea typeface="Times New Roman"/>
                <a:cs typeface="Times New Roman"/>
                <a:sym typeface="Times New Roman"/>
              </a:endParaRPr>
            </a:p>
          </p:txBody>
        </p:sp>
        <p:sp>
          <p:nvSpPr>
            <p:cNvPr id="1490" name="Google Shape;1490;p43"/>
            <p:cNvSpPr/>
            <p:nvPr/>
          </p:nvSpPr>
          <p:spPr>
            <a:xfrm>
              <a:off x="7602" y="2718"/>
              <a:ext cx="1021" cy="28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2600">
                  <a:solidFill>
                    <a:srgbClr val="002060"/>
                  </a:solidFill>
                  <a:latin typeface="Times New Roman"/>
                  <a:ea typeface="Times New Roman"/>
                  <a:cs typeface="Times New Roman"/>
                  <a:sym typeface="Times New Roman"/>
                </a:rPr>
                <a:t>0.01s</a:t>
              </a:r>
              <a:endParaRPr sz="1200">
                <a:solidFill>
                  <a:schemeClr val="dk1"/>
                </a:solidFill>
                <a:latin typeface="Times New Roman"/>
                <a:ea typeface="Times New Roman"/>
                <a:cs typeface="Times New Roman"/>
                <a:sym typeface="Times New Roman"/>
              </a:endParaRPr>
            </a:p>
          </p:txBody>
        </p:sp>
        <p:sp>
          <p:nvSpPr>
            <p:cNvPr id="1491" name="Google Shape;1491;p43"/>
            <p:cNvSpPr/>
            <p:nvPr/>
          </p:nvSpPr>
          <p:spPr>
            <a:xfrm>
              <a:off x="4268" y="3297"/>
              <a:ext cx="360" cy="360"/>
            </a:xfrm>
            <a:prstGeom prst="ellipse">
              <a:avLst/>
            </a:pr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1492" name="Google Shape;1492;p43"/>
            <p:cNvCxnSpPr/>
            <p:nvPr/>
          </p:nvCxnSpPr>
          <p:spPr>
            <a:xfrm>
              <a:off x="4178" y="3282"/>
              <a:ext cx="0" cy="720"/>
            </a:xfrm>
            <a:prstGeom prst="straightConnector1">
              <a:avLst/>
            </a:prstGeom>
            <a:noFill/>
            <a:ln cap="flat" cmpd="sng" w="31750">
              <a:solidFill>
                <a:srgbClr val="002060"/>
              </a:solidFill>
              <a:prstDash val="solid"/>
              <a:round/>
              <a:headEnd len="med" w="med" type="stealth"/>
              <a:tailEnd len="med" w="med" type="none"/>
            </a:ln>
          </p:spPr>
        </p:cxnSp>
        <p:sp>
          <p:nvSpPr>
            <p:cNvPr id="1493" name="Google Shape;1493;p43"/>
            <p:cNvSpPr/>
            <p:nvPr/>
          </p:nvSpPr>
          <p:spPr>
            <a:xfrm>
              <a:off x="5431" y="3289"/>
              <a:ext cx="427" cy="82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100">
                <a:solidFill>
                  <a:schemeClr val="dk1"/>
                </a:solidFill>
                <a:latin typeface="Times New Roman"/>
                <a:ea typeface="Times New Roman"/>
                <a:cs typeface="Times New Roman"/>
                <a:sym typeface="Times New Roman"/>
              </a:endParaRPr>
            </a:p>
          </p:txBody>
        </p:sp>
        <p:cxnSp>
          <p:nvCxnSpPr>
            <p:cNvPr id="1494" name="Google Shape;1494;p43"/>
            <p:cNvCxnSpPr/>
            <p:nvPr/>
          </p:nvCxnSpPr>
          <p:spPr>
            <a:xfrm>
              <a:off x="6698" y="2258"/>
              <a:ext cx="360" cy="0"/>
            </a:xfrm>
            <a:prstGeom prst="straightConnector1">
              <a:avLst/>
            </a:prstGeom>
            <a:noFill/>
            <a:ln cap="flat" cmpd="sng" w="31750">
              <a:solidFill>
                <a:srgbClr val="002060"/>
              </a:solidFill>
              <a:prstDash val="solid"/>
              <a:round/>
              <a:headEnd len="med" w="med" type="none"/>
              <a:tailEnd len="lg" w="lg" type="triangle"/>
            </a:ln>
          </p:spPr>
        </p:cxnSp>
        <p:sp>
          <p:nvSpPr>
            <p:cNvPr id="1495" name="Google Shape;1495;p43"/>
            <p:cNvSpPr/>
            <p:nvPr/>
          </p:nvSpPr>
          <p:spPr>
            <a:xfrm>
              <a:off x="6656" y="1865"/>
              <a:ext cx="421" cy="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2600">
                  <a:solidFill>
                    <a:srgbClr val="002060"/>
                  </a:solidFill>
                  <a:latin typeface="Times New Roman"/>
                  <a:ea typeface="Times New Roman"/>
                  <a:cs typeface="Times New Roman"/>
                  <a:sym typeface="Times New Roman"/>
                </a:rPr>
                <a:t>I(s)</a:t>
              </a:r>
              <a:endParaRPr sz="1200">
                <a:solidFill>
                  <a:schemeClr val="dk1"/>
                </a:solidFill>
                <a:latin typeface="Times New Roman"/>
                <a:ea typeface="Times New Roman"/>
                <a:cs typeface="Times New Roman"/>
                <a:sym typeface="Times New Roman"/>
              </a:endParaRPr>
            </a:p>
          </p:txBody>
        </p:sp>
        <p:cxnSp>
          <p:nvCxnSpPr>
            <p:cNvPr id="1496" name="Google Shape;1496;p43"/>
            <p:cNvCxnSpPr/>
            <p:nvPr/>
          </p:nvCxnSpPr>
          <p:spPr>
            <a:xfrm>
              <a:off x="6178" y="3042"/>
              <a:ext cx="0" cy="356"/>
            </a:xfrm>
            <a:prstGeom prst="straightConnector1">
              <a:avLst/>
            </a:prstGeom>
            <a:noFill/>
            <a:ln cap="flat" cmpd="sng" w="31750">
              <a:solidFill>
                <a:srgbClr val="002060"/>
              </a:solidFill>
              <a:prstDash val="solid"/>
              <a:round/>
              <a:headEnd len="med" w="med" type="none"/>
              <a:tailEnd len="med" w="med" type="none"/>
            </a:ln>
          </p:spPr>
        </p:cxnSp>
        <p:sp>
          <p:nvSpPr>
            <p:cNvPr id="1497" name="Google Shape;1497;p43"/>
            <p:cNvSpPr/>
            <p:nvPr/>
          </p:nvSpPr>
          <p:spPr>
            <a:xfrm>
              <a:off x="5993" y="2678"/>
              <a:ext cx="360" cy="360"/>
            </a:xfrm>
            <a:prstGeom prst="ellipse">
              <a:avLst/>
            </a:pr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8" name="Google Shape;1498;p43"/>
            <p:cNvSpPr/>
            <p:nvPr/>
          </p:nvSpPr>
          <p:spPr>
            <a:xfrm>
              <a:off x="5975" y="2401"/>
              <a:ext cx="243" cy="3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GB" sz="2800">
                  <a:solidFill>
                    <a:srgbClr val="002060"/>
                  </a:solidFill>
                  <a:latin typeface="Times New Roman"/>
                  <a:ea typeface="Times New Roman"/>
                  <a:cs typeface="Times New Roman"/>
                  <a:sym typeface="Times New Roman"/>
                </a:rPr>
                <a:t>+</a:t>
              </a:r>
              <a:endParaRPr sz="1800">
                <a:solidFill>
                  <a:schemeClr val="dk1"/>
                </a:solidFill>
                <a:latin typeface="Times New Roman"/>
                <a:ea typeface="Times New Roman"/>
                <a:cs typeface="Times New Roman"/>
                <a:sym typeface="Times New Roman"/>
              </a:endParaRPr>
            </a:p>
          </p:txBody>
        </p:sp>
        <p:sp>
          <p:nvSpPr>
            <p:cNvPr id="1499" name="Google Shape;1499;p43"/>
            <p:cNvSpPr/>
            <p:nvPr/>
          </p:nvSpPr>
          <p:spPr>
            <a:xfrm>
              <a:off x="5982" y="3017"/>
              <a:ext cx="187" cy="28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GB" sz="2800">
                  <a:solidFill>
                    <a:srgbClr val="002060"/>
                  </a:solidFill>
                  <a:latin typeface="Noto Sans Symbols"/>
                  <a:ea typeface="Noto Sans Symbols"/>
                  <a:cs typeface="Noto Sans Symbols"/>
                  <a:sym typeface="Noto Sans Symbols"/>
                </a:rPr>
                <a:t>−</a:t>
              </a:r>
              <a:endParaRPr sz="1600">
                <a:solidFill>
                  <a:schemeClr val="dk1"/>
                </a:solidFill>
                <a:latin typeface="Times New Roman"/>
                <a:ea typeface="Times New Roman"/>
                <a:cs typeface="Times New Roman"/>
                <a:sym typeface="Times New Roman"/>
              </a:endParaRPr>
            </a:p>
          </p:txBody>
        </p:sp>
        <p:sp>
          <p:nvSpPr>
            <p:cNvPr id="1500" name="Google Shape;1500;p43"/>
            <p:cNvSpPr/>
            <p:nvPr/>
          </p:nvSpPr>
          <p:spPr>
            <a:xfrm>
              <a:off x="7178" y="3278"/>
              <a:ext cx="360" cy="360"/>
            </a:xfrm>
            <a:prstGeom prst="ellipse">
              <a:avLst/>
            </a:pr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1" name="Google Shape;1501;p43"/>
            <p:cNvSpPr/>
            <p:nvPr/>
          </p:nvSpPr>
          <p:spPr>
            <a:xfrm>
              <a:off x="7201" y="3608"/>
              <a:ext cx="187" cy="28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2800">
                  <a:solidFill>
                    <a:srgbClr val="002060"/>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p:txBody>
        </p:sp>
        <p:sp>
          <p:nvSpPr>
            <p:cNvPr id="1502" name="Google Shape;1502;p43"/>
            <p:cNvSpPr/>
            <p:nvPr/>
          </p:nvSpPr>
          <p:spPr>
            <a:xfrm>
              <a:off x="7188" y="2971"/>
              <a:ext cx="239" cy="33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2800">
                  <a:solidFill>
                    <a:srgbClr val="002060"/>
                  </a:solidFill>
                  <a:latin typeface="Noto Sans Symbols"/>
                  <a:ea typeface="Noto Sans Symbols"/>
                  <a:cs typeface="Noto Sans Symbols"/>
                  <a:sym typeface="Noto Sans Symbols"/>
                </a:rPr>
                <a:t>−</a:t>
              </a:r>
              <a:endParaRPr sz="1600">
                <a:solidFill>
                  <a:schemeClr val="dk1"/>
                </a:solidFill>
                <a:latin typeface="Times New Roman"/>
                <a:ea typeface="Times New Roman"/>
                <a:cs typeface="Times New Roman"/>
                <a:sym typeface="Times New Roman"/>
              </a:endParaRPr>
            </a:p>
          </p:txBody>
        </p:sp>
        <p:cxnSp>
          <p:nvCxnSpPr>
            <p:cNvPr id="1503" name="Google Shape;1503;p43"/>
            <p:cNvCxnSpPr/>
            <p:nvPr/>
          </p:nvCxnSpPr>
          <p:spPr>
            <a:xfrm>
              <a:off x="7373" y="3629"/>
              <a:ext cx="0" cy="459"/>
            </a:xfrm>
            <a:prstGeom prst="straightConnector1">
              <a:avLst/>
            </a:prstGeom>
            <a:noFill/>
            <a:ln cap="flat" cmpd="sng" w="31750">
              <a:solidFill>
                <a:srgbClr val="002060"/>
              </a:solidFill>
              <a:prstDash val="solid"/>
              <a:round/>
              <a:headEnd len="med" w="med" type="none"/>
              <a:tailEnd len="med" w="med" type="none"/>
            </a:ln>
          </p:spPr>
        </p:cxnSp>
        <p:sp>
          <p:nvSpPr>
            <p:cNvPr id="1504" name="Google Shape;1504;p43"/>
            <p:cNvSpPr/>
            <p:nvPr/>
          </p:nvSpPr>
          <p:spPr>
            <a:xfrm>
              <a:off x="7658" y="3379"/>
              <a:ext cx="720" cy="37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2600">
                  <a:solidFill>
                    <a:srgbClr val="002060"/>
                  </a:solidFill>
                  <a:latin typeface="Times New Roman"/>
                  <a:ea typeface="Times New Roman"/>
                  <a:cs typeface="Times New Roman"/>
                  <a:sym typeface="Times New Roman"/>
                </a:rPr>
                <a:t>0.01×5</a:t>
              </a:r>
              <a:endParaRPr sz="1200">
                <a:solidFill>
                  <a:schemeClr val="dk1"/>
                </a:solidFill>
                <a:latin typeface="Times New Roman"/>
                <a:ea typeface="Times New Roman"/>
                <a:cs typeface="Times New Roman"/>
                <a:sym typeface="Times New Roman"/>
              </a:endParaRPr>
            </a:p>
          </p:txBody>
        </p:sp>
        <p:sp>
          <p:nvSpPr>
            <p:cNvPr id="1505" name="Google Shape;1505;p43"/>
            <p:cNvSpPr/>
            <p:nvPr/>
          </p:nvSpPr>
          <p:spPr>
            <a:xfrm>
              <a:off x="7329" y="2504"/>
              <a:ext cx="119" cy="131"/>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6" name="Google Shape;1506;p43"/>
            <p:cNvSpPr/>
            <p:nvPr/>
          </p:nvSpPr>
          <p:spPr>
            <a:xfrm>
              <a:off x="7328" y="2644"/>
              <a:ext cx="119" cy="131"/>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7" name="Google Shape;1507;p43"/>
            <p:cNvSpPr/>
            <p:nvPr/>
          </p:nvSpPr>
          <p:spPr>
            <a:xfrm>
              <a:off x="7329" y="2773"/>
              <a:ext cx="119" cy="131"/>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8" name="Google Shape;1508;p43"/>
            <p:cNvSpPr/>
            <p:nvPr/>
          </p:nvSpPr>
          <p:spPr>
            <a:xfrm>
              <a:off x="7328" y="2913"/>
              <a:ext cx="119" cy="131"/>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509" name="Google Shape;1509;p43"/>
          <p:cNvSpPr/>
          <p:nvPr/>
        </p:nvSpPr>
        <p:spPr>
          <a:xfrm>
            <a:off x="343691" y="936768"/>
            <a:ext cx="11762285" cy="255454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From potential divider action, under steady state conditions, half the supply voltage will drop across R</a:t>
            </a:r>
            <a:r>
              <a:rPr b="0" baseline="-25000" i="0" lang="en-GB" sz="3200" u="none" cap="none" strike="noStrike">
                <a:solidFill>
                  <a:srgbClr val="002060"/>
                </a:solidFill>
                <a:latin typeface="Times New Roman"/>
                <a:ea typeface="Times New Roman"/>
                <a:cs typeface="Times New Roman"/>
                <a:sym typeface="Times New Roman"/>
              </a:rPr>
              <a:t>1</a:t>
            </a:r>
            <a:r>
              <a:rPr b="0" i="0" lang="en-GB" sz="3200" u="none" cap="none" strike="noStrike">
                <a:solidFill>
                  <a:srgbClr val="002060"/>
                </a:solidFill>
                <a:latin typeface="Times New Roman"/>
                <a:ea typeface="Times New Roman"/>
                <a:cs typeface="Times New Roman"/>
                <a:sym typeface="Times New Roman"/>
              </a:rPr>
              <a:t>  and half the voltage across R</a:t>
            </a:r>
            <a:r>
              <a:rPr b="0" baseline="-25000" i="0" lang="en-GB" sz="3200" u="none" cap="none" strike="noStrike">
                <a:solidFill>
                  <a:srgbClr val="002060"/>
                </a:solidFill>
                <a:latin typeface="Times New Roman"/>
                <a:ea typeface="Times New Roman"/>
                <a:cs typeface="Times New Roman"/>
                <a:sym typeface="Times New Roman"/>
              </a:rPr>
              <a:t>2</a:t>
            </a:r>
            <a:r>
              <a:rPr b="0" i="0" lang="en-GB" sz="3200" u="none" cap="none" strike="noStrike">
                <a:solidFill>
                  <a:srgbClr val="002060"/>
                </a:solidFill>
                <a:latin typeface="Times New Roman"/>
                <a:ea typeface="Times New Roman"/>
                <a:cs typeface="Times New Roman"/>
                <a:sym typeface="Times New Roman"/>
              </a:rPr>
              <a:t>.  </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 ∴ voltage across capacitor initially is 100/2 = 50 V, and inductor current is 100/20 = 5 A.</a:t>
            </a:r>
            <a:endParaRPr b="0" i="0" sz="32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2060"/>
              </a:buClr>
              <a:buSzPts val="3200"/>
              <a:buFont typeface="Times New Roman"/>
              <a:buNone/>
            </a:pPr>
            <a:r>
              <a:rPr b="0" i="0" lang="en-GB" sz="3200" u="none" cap="none" strike="noStrike">
                <a:solidFill>
                  <a:srgbClr val="002060"/>
                </a:solidFill>
                <a:latin typeface="Times New Roman"/>
                <a:ea typeface="Times New Roman"/>
                <a:cs typeface="Times New Roman"/>
                <a:sym typeface="Times New Roman"/>
              </a:rPr>
              <a:t>Transform the circuit to Laplace domain.</a:t>
            </a:r>
            <a:endParaRPr b="0" i="0" sz="3200" u="none" cap="none" strike="noStrike">
              <a:solidFill>
                <a:schemeClr val="dk1"/>
              </a:solidFill>
              <a:latin typeface="Times New Roman"/>
              <a:ea typeface="Times New Roman"/>
              <a:cs typeface="Times New Roman"/>
              <a:sym typeface="Times New Roman"/>
            </a:endParaRPr>
          </a:p>
        </p:txBody>
      </p:sp>
      <p:sp>
        <p:nvSpPr>
          <p:cNvPr id="1510" name="Google Shape;1510;p43"/>
          <p:cNvSpPr/>
          <p:nvPr/>
        </p:nvSpPr>
        <p:spPr>
          <a:xfrm>
            <a:off x="0" y="457200"/>
            <a:ext cx="0" cy="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1" name="Google Shape;1511;p43"/>
          <p:cNvSpPr/>
          <p:nvPr/>
        </p:nvSpPr>
        <p:spPr>
          <a:xfrm>
            <a:off x="0" y="1200150"/>
            <a:ext cx="0" cy="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2" name="Google Shape;1512;p43"/>
          <p:cNvSpPr/>
          <p:nvPr/>
        </p:nvSpPr>
        <p:spPr>
          <a:xfrm>
            <a:off x="0" y="2095500"/>
            <a:ext cx="0" cy="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3" name="Google Shape;1513;p43"/>
          <p:cNvSpPr/>
          <p:nvPr/>
        </p:nvSpPr>
        <p:spPr>
          <a:xfrm>
            <a:off x="1289925" y="5295829"/>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514" name="Google Shape;1514;p43"/>
          <p:cNvPicPr preferRelativeResize="0"/>
          <p:nvPr/>
        </p:nvPicPr>
        <p:blipFill rotWithShape="1">
          <a:blip r:embed="rId5">
            <a:alphaModFix/>
          </a:blip>
          <a:srcRect b="0" l="0" r="0" t="0"/>
          <a:stretch/>
        </p:blipFill>
        <p:spPr>
          <a:xfrm>
            <a:off x="1289925" y="5295829"/>
            <a:ext cx="514350" cy="742950"/>
          </a:xfrm>
          <a:prstGeom prst="rect">
            <a:avLst/>
          </a:prstGeom>
          <a:noFill/>
          <a:ln>
            <a:noFill/>
          </a:ln>
        </p:spPr>
      </p:pic>
      <p:sp>
        <p:nvSpPr>
          <p:cNvPr id="1515" name="Google Shape;1515;p43"/>
          <p:cNvSpPr/>
          <p:nvPr/>
        </p:nvSpPr>
        <p:spPr>
          <a:xfrm>
            <a:off x="6224834" y="2873533"/>
            <a:ext cx="490855" cy="732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200">
              <a:solidFill>
                <a:srgbClr val="FFFFFF"/>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9" name="Shape 1519"/>
        <p:cNvGrpSpPr/>
        <p:nvPr/>
      </p:nvGrpSpPr>
      <p:grpSpPr>
        <a:xfrm>
          <a:off x="0" y="0"/>
          <a:ext cx="0" cy="0"/>
          <a:chOff x="0" y="0"/>
          <a:chExt cx="0" cy="0"/>
        </a:xfrm>
      </p:grpSpPr>
      <p:sp>
        <p:nvSpPr>
          <p:cNvPr id="1520" name="Google Shape;1520;p44"/>
          <p:cNvSpPr/>
          <p:nvPr/>
        </p:nvSpPr>
        <p:spPr>
          <a:xfrm>
            <a:off x="187569" y="5413136"/>
            <a:ext cx="10011508" cy="55399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000"/>
              <a:buFont typeface="Times New Roman"/>
              <a:buNone/>
            </a:pPr>
            <a:r>
              <a:rPr b="0" i="0" lang="en-GB" sz="3000" u="none" cap="none" strike="noStrike">
                <a:solidFill>
                  <a:srgbClr val="002060"/>
                </a:solidFill>
                <a:latin typeface="Times New Roman"/>
                <a:ea typeface="Times New Roman"/>
                <a:cs typeface="Times New Roman"/>
                <a:sym typeface="Times New Roman"/>
              </a:rPr>
              <a:t>Find inverse transform from the standard expressions,</a:t>
            </a:r>
            <a:endParaRPr/>
          </a:p>
        </p:txBody>
      </p:sp>
      <p:sp>
        <p:nvSpPr>
          <p:cNvPr id="1521" name="Google Shape;1521;p44"/>
          <p:cNvSpPr/>
          <p:nvPr/>
        </p:nvSpPr>
        <p:spPr>
          <a:xfrm>
            <a:off x="149552" y="551167"/>
            <a:ext cx="7902087" cy="2677656"/>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Times New Roman"/>
              <a:buNone/>
            </a:pPr>
            <a:r>
              <a:rPr b="0" i="0" lang="en-GB" sz="2800" u="none" cap="none" strike="noStrike">
                <a:solidFill>
                  <a:srgbClr val="002060"/>
                </a:solidFill>
                <a:latin typeface="Times New Roman"/>
                <a:ea typeface="Times New Roman"/>
                <a:cs typeface="Times New Roman"/>
                <a:sym typeface="Times New Roman"/>
              </a:rPr>
              <a:t>Note the directions of the two new sources.  </a:t>
            </a:r>
            <a:endParaRPr b="0" i="0"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2060"/>
              </a:buClr>
              <a:buSzPts val="2800"/>
              <a:buFont typeface="Times New Roman"/>
              <a:buNone/>
            </a:pPr>
            <a:r>
              <a:rPr b="0" i="0" lang="en-GB" sz="2800" u="none" cap="none" strike="noStrike">
                <a:solidFill>
                  <a:srgbClr val="002060"/>
                </a:solidFill>
                <a:latin typeface="Times New Roman"/>
                <a:ea typeface="Times New Roman"/>
                <a:cs typeface="Times New Roman"/>
                <a:sym typeface="Times New Roman"/>
              </a:rPr>
              <a:t>These correspond to directions of initial voltage across capacitor and initial current through inductor.</a:t>
            </a:r>
            <a:endParaRPr b="0" i="0"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2060"/>
              </a:buClr>
              <a:buSzPts val="2800"/>
              <a:buFont typeface="Times New Roman"/>
              <a:buNone/>
            </a:pPr>
            <a:r>
              <a:rPr b="0" i="0" lang="en-GB" sz="2800" u="none" cap="none" strike="noStrike">
                <a:solidFill>
                  <a:srgbClr val="002060"/>
                </a:solidFill>
                <a:latin typeface="Times New Roman"/>
                <a:ea typeface="Times New Roman"/>
                <a:cs typeface="Times New Roman"/>
                <a:sym typeface="Times New Roman"/>
              </a:rPr>
              <a:t>Note also that since switch S is now opened at t = 0, only other two branches will become part of circuit.</a:t>
            </a:r>
            <a:endParaRPr b="0" i="0"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800"/>
              <a:buFont typeface="Arial"/>
              <a:buNone/>
            </a:pPr>
            <a:r>
              <a:t/>
            </a:r>
            <a:endParaRPr b="0" i="0" sz="2800" u="none" cap="none" strike="noStrike">
              <a:solidFill>
                <a:srgbClr val="002060"/>
              </a:solidFill>
              <a:latin typeface="Times New Roman"/>
              <a:ea typeface="Times New Roman"/>
              <a:cs typeface="Times New Roman"/>
              <a:sym typeface="Times New Roman"/>
            </a:endParaRPr>
          </a:p>
        </p:txBody>
      </p:sp>
      <p:pic>
        <p:nvPicPr>
          <p:cNvPr id="1522" name="Google Shape;1522;p44"/>
          <p:cNvPicPr preferRelativeResize="0"/>
          <p:nvPr/>
        </p:nvPicPr>
        <p:blipFill rotWithShape="1">
          <a:blip r:embed="rId3">
            <a:alphaModFix/>
          </a:blip>
          <a:srcRect b="0" l="0" r="0" t="0"/>
          <a:stretch/>
        </p:blipFill>
        <p:spPr>
          <a:xfrm>
            <a:off x="2720488" y="2731477"/>
            <a:ext cx="5181600" cy="1714500"/>
          </a:xfrm>
          <a:prstGeom prst="rect">
            <a:avLst/>
          </a:prstGeom>
          <a:noFill/>
          <a:ln>
            <a:noFill/>
          </a:ln>
        </p:spPr>
      </p:pic>
      <p:pic>
        <p:nvPicPr>
          <p:cNvPr id="1523" name="Google Shape;1523;p44"/>
          <p:cNvPicPr preferRelativeResize="0"/>
          <p:nvPr/>
        </p:nvPicPr>
        <p:blipFill rotWithShape="1">
          <a:blip r:embed="rId4">
            <a:alphaModFix/>
          </a:blip>
          <a:srcRect b="0" l="0" r="0" t="0"/>
          <a:stretch/>
        </p:blipFill>
        <p:spPr>
          <a:xfrm>
            <a:off x="8051639" y="3021505"/>
            <a:ext cx="2819400" cy="933450"/>
          </a:xfrm>
          <a:prstGeom prst="rect">
            <a:avLst/>
          </a:prstGeom>
          <a:noFill/>
          <a:ln>
            <a:noFill/>
          </a:ln>
        </p:spPr>
      </p:pic>
      <p:pic>
        <p:nvPicPr>
          <p:cNvPr id="1524" name="Google Shape;1524;p44"/>
          <p:cNvPicPr preferRelativeResize="0"/>
          <p:nvPr/>
        </p:nvPicPr>
        <p:blipFill rotWithShape="1">
          <a:blip r:embed="rId5">
            <a:alphaModFix/>
          </a:blip>
          <a:srcRect b="0" l="0" r="0" t="0"/>
          <a:stretch/>
        </p:blipFill>
        <p:spPr>
          <a:xfrm>
            <a:off x="982594" y="4406412"/>
            <a:ext cx="3105150" cy="971550"/>
          </a:xfrm>
          <a:prstGeom prst="rect">
            <a:avLst/>
          </a:prstGeom>
          <a:noFill/>
          <a:ln>
            <a:noFill/>
          </a:ln>
        </p:spPr>
      </p:pic>
      <p:pic>
        <p:nvPicPr>
          <p:cNvPr id="1525" name="Google Shape;1525;p44"/>
          <p:cNvPicPr preferRelativeResize="0"/>
          <p:nvPr/>
        </p:nvPicPr>
        <p:blipFill rotWithShape="1">
          <a:blip r:embed="rId6">
            <a:alphaModFix/>
          </a:blip>
          <a:srcRect b="0" l="0" r="0" t="0"/>
          <a:stretch/>
        </p:blipFill>
        <p:spPr>
          <a:xfrm>
            <a:off x="4087744" y="4406412"/>
            <a:ext cx="6381750" cy="971550"/>
          </a:xfrm>
          <a:prstGeom prst="rect">
            <a:avLst/>
          </a:prstGeom>
          <a:noFill/>
          <a:ln>
            <a:noFill/>
          </a:ln>
        </p:spPr>
      </p:pic>
      <p:pic>
        <p:nvPicPr>
          <p:cNvPr id="1526" name="Google Shape;1526;p44"/>
          <p:cNvPicPr preferRelativeResize="0"/>
          <p:nvPr/>
        </p:nvPicPr>
        <p:blipFill rotWithShape="1">
          <a:blip r:embed="rId7">
            <a:alphaModFix/>
          </a:blip>
          <a:srcRect b="0" l="0" r="0" t="0"/>
          <a:stretch/>
        </p:blipFill>
        <p:spPr>
          <a:xfrm>
            <a:off x="1336431" y="5983079"/>
            <a:ext cx="7524750" cy="571500"/>
          </a:xfrm>
          <a:prstGeom prst="rect">
            <a:avLst/>
          </a:prstGeom>
          <a:noFill/>
          <a:ln>
            <a:noFill/>
          </a:ln>
        </p:spPr>
      </p:pic>
      <p:sp>
        <p:nvSpPr>
          <p:cNvPr id="1527" name="Google Shape;1527;p44"/>
          <p:cNvSpPr/>
          <p:nvPr/>
        </p:nvSpPr>
        <p:spPr>
          <a:xfrm>
            <a:off x="0" y="2171700"/>
            <a:ext cx="12192000" cy="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Arial"/>
              <a:buNone/>
            </a:pPr>
            <a:r>
              <a:rPr b="0" i="0" lang="en-GB" sz="3600" u="none" cap="none" strike="noStrike">
                <a:solidFill>
                  <a:srgbClr val="002060"/>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1528" name="Google Shape;1528;p44"/>
          <p:cNvSpPr/>
          <p:nvPr/>
        </p:nvSpPr>
        <p:spPr>
          <a:xfrm>
            <a:off x="187569" y="4546902"/>
            <a:ext cx="1009705"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I(s) </a:t>
            </a:r>
            <a:endParaRPr b="0" i="0" sz="1800" u="none" cap="none" strike="noStrike">
              <a:solidFill>
                <a:schemeClr val="dk1"/>
              </a:solidFill>
              <a:latin typeface="Times New Roman"/>
              <a:ea typeface="Times New Roman"/>
              <a:cs typeface="Times New Roman"/>
              <a:sym typeface="Times New Roman"/>
            </a:endParaRPr>
          </a:p>
        </p:txBody>
      </p:sp>
      <p:sp>
        <p:nvSpPr>
          <p:cNvPr id="1529" name="Google Shape;1529;p44"/>
          <p:cNvSpPr/>
          <p:nvPr/>
        </p:nvSpPr>
        <p:spPr>
          <a:xfrm>
            <a:off x="0" y="4533900"/>
            <a:ext cx="12192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0" name="Google Shape;1530;p44"/>
          <p:cNvSpPr/>
          <p:nvPr/>
        </p:nvSpPr>
        <p:spPr>
          <a:xfrm>
            <a:off x="9050215" y="5943106"/>
            <a:ext cx="1148862" cy="64633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Times New Roman"/>
              <a:buNone/>
            </a:pPr>
            <a:r>
              <a:rPr b="0" i="0" lang="en-GB" sz="3600" u="none" cap="none" strike="noStrike">
                <a:solidFill>
                  <a:srgbClr val="002060"/>
                </a:solidFill>
                <a:latin typeface="Times New Roman"/>
                <a:ea typeface="Times New Roman"/>
                <a:cs typeface="Times New Roman"/>
                <a:sym typeface="Times New Roman"/>
              </a:rPr>
              <a:t>  A	</a:t>
            </a:r>
            <a:r>
              <a:rPr b="0" i="0" lang="en-GB" sz="11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Times New Roman"/>
              <a:ea typeface="Times New Roman"/>
              <a:cs typeface="Times New Roman"/>
              <a:sym typeface="Times New Roman"/>
            </a:endParaRPr>
          </a:p>
        </p:txBody>
      </p:sp>
      <p:sp>
        <p:nvSpPr>
          <p:cNvPr id="1531" name="Google Shape;1531;p44"/>
          <p:cNvSpPr/>
          <p:nvPr/>
        </p:nvSpPr>
        <p:spPr>
          <a:xfrm>
            <a:off x="149551" y="3268636"/>
            <a:ext cx="2095445" cy="646331"/>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GB" sz="3600">
                <a:solidFill>
                  <a:srgbClr val="002060"/>
                </a:solidFill>
                <a:latin typeface="Times New Roman"/>
                <a:ea typeface="Times New Roman"/>
                <a:cs typeface="Times New Roman"/>
                <a:sym typeface="Times New Roman"/>
              </a:rPr>
              <a:t>Thus  I(s) </a:t>
            </a:r>
            <a:endParaRPr sz="1800">
              <a:solidFill>
                <a:srgbClr val="000000"/>
              </a:solidFill>
              <a:latin typeface="Times New Roman"/>
              <a:ea typeface="Times New Roman"/>
              <a:cs typeface="Times New Roman"/>
              <a:sym typeface="Times New Roman"/>
            </a:endParaRPr>
          </a:p>
        </p:txBody>
      </p:sp>
      <p:sp>
        <p:nvSpPr>
          <p:cNvPr id="1532" name="Google Shape;1532;p44"/>
          <p:cNvSpPr/>
          <p:nvPr/>
        </p:nvSpPr>
        <p:spPr>
          <a:xfrm>
            <a:off x="215611" y="5996895"/>
            <a:ext cx="112082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3600">
                <a:solidFill>
                  <a:srgbClr val="002060"/>
                </a:solidFill>
                <a:latin typeface="Times New Roman"/>
                <a:ea typeface="Times New Roman"/>
                <a:cs typeface="Times New Roman"/>
                <a:sym typeface="Times New Roman"/>
              </a:rPr>
              <a:t>i(t) =</a:t>
            </a:r>
            <a:endParaRPr sz="1800">
              <a:solidFill>
                <a:srgbClr val="000000"/>
              </a:solidFill>
              <a:latin typeface="Times New Roman"/>
              <a:ea typeface="Times New Roman"/>
              <a:cs typeface="Times New Roman"/>
              <a:sym typeface="Times New Roman"/>
            </a:endParaRPr>
          </a:p>
        </p:txBody>
      </p:sp>
      <p:grpSp>
        <p:nvGrpSpPr>
          <p:cNvPr id="1533" name="Google Shape;1533;p44"/>
          <p:cNvGrpSpPr/>
          <p:nvPr/>
        </p:nvGrpSpPr>
        <p:grpSpPr>
          <a:xfrm>
            <a:off x="8376202" y="821601"/>
            <a:ext cx="3532599" cy="1631938"/>
            <a:chOff x="4058" y="1865"/>
            <a:chExt cx="4114" cy="2323"/>
          </a:xfrm>
        </p:grpSpPr>
        <p:cxnSp>
          <p:nvCxnSpPr>
            <p:cNvPr id="1534" name="Google Shape;1534;p44"/>
            <p:cNvCxnSpPr/>
            <p:nvPr/>
          </p:nvCxnSpPr>
          <p:spPr>
            <a:xfrm>
              <a:off x="4452" y="2268"/>
              <a:ext cx="1" cy="294"/>
            </a:xfrm>
            <a:prstGeom prst="straightConnector1">
              <a:avLst/>
            </a:prstGeom>
            <a:noFill/>
            <a:ln cap="flat" cmpd="sng" w="31750">
              <a:solidFill>
                <a:srgbClr val="002060"/>
              </a:solidFill>
              <a:prstDash val="solid"/>
              <a:round/>
              <a:headEnd len="med" w="med" type="none"/>
              <a:tailEnd len="med" w="med" type="none"/>
            </a:ln>
          </p:spPr>
        </p:cxnSp>
        <p:sp>
          <p:nvSpPr>
            <p:cNvPr id="1535" name="Google Shape;1535;p44"/>
            <p:cNvSpPr/>
            <p:nvPr/>
          </p:nvSpPr>
          <p:spPr>
            <a:xfrm>
              <a:off x="4350" y="2562"/>
              <a:ext cx="223" cy="583"/>
            </a:xfrm>
            <a:prstGeom prst="rect">
              <a:avLst/>
            </a:prstGeom>
            <a:noFill/>
            <a:ln cap="flat" cmpd="sng" w="31750">
              <a:solidFill>
                <a:srgbClr val="00206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p:txBody>
        </p:sp>
        <p:cxnSp>
          <p:nvCxnSpPr>
            <p:cNvPr id="1536" name="Google Shape;1536;p44"/>
            <p:cNvCxnSpPr/>
            <p:nvPr/>
          </p:nvCxnSpPr>
          <p:spPr>
            <a:xfrm>
              <a:off x="4452" y="3132"/>
              <a:ext cx="1" cy="180"/>
            </a:xfrm>
            <a:prstGeom prst="straightConnector1">
              <a:avLst/>
            </a:prstGeom>
            <a:noFill/>
            <a:ln cap="flat" cmpd="sng" w="31750">
              <a:solidFill>
                <a:srgbClr val="002060"/>
              </a:solidFill>
              <a:prstDash val="solid"/>
              <a:round/>
              <a:headEnd len="med" w="med" type="none"/>
              <a:tailEnd len="med" w="med" type="none"/>
            </a:ln>
          </p:spPr>
        </p:cxnSp>
        <p:cxnSp>
          <p:nvCxnSpPr>
            <p:cNvPr id="1537" name="Google Shape;1537;p44"/>
            <p:cNvCxnSpPr/>
            <p:nvPr/>
          </p:nvCxnSpPr>
          <p:spPr>
            <a:xfrm>
              <a:off x="4453" y="3653"/>
              <a:ext cx="0" cy="437"/>
            </a:xfrm>
            <a:prstGeom prst="straightConnector1">
              <a:avLst/>
            </a:prstGeom>
            <a:noFill/>
            <a:ln cap="flat" cmpd="sng" w="31750">
              <a:solidFill>
                <a:srgbClr val="002060"/>
              </a:solidFill>
              <a:prstDash val="solid"/>
              <a:round/>
              <a:headEnd len="med" w="med" type="none"/>
              <a:tailEnd len="med" w="med" type="none"/>
            </a:ln>
          </p:spPr>
        </p:cxnSp>
        <p:cxnSp>
          <p:nvCxnSpPr>
            <p:cNvPr id="1538" name="Google Shape;1538;p44"/>
            <p:cNvCxnSpPr/>
            <p:nvPr/>
          </p:nvCxnSpPr>
          <p:spPr>
            <a:xfrm>
              <a:off x="4461" y="2247"/>
              <a:ext cx="655" cy="1"/>
            </a:xfrm>
            <a:prstGeom prst="straightConnector1">
              <a:avLst/>
            </a:prstGeom>
            <a:noFill/>
            <a:ln cap="flat" cmpd="sng" w="31750">
              <a:solidFill>
                <a:srgbClr val="002060"/>
              </a:solidFill>
              <a:prstDash val="solid"/>
              <a:round/>
              <a:headEnd len="med" w="med" type="none"/>
              <a:tailEnd len="med" w="med" type="none"/>
            </a:ln>
          </p:spPr>
        </p:cxnSp>
        <p:cxnSp>
          <p:nvCxnSpPr>
            <p:cNvPr id="1539" name="Google Shape;1539;p44"/>
            <p:cNvCxnSpPr/>
            <p:nvPr/>
          </p:nvCxnSpPr>
          <p:spPr>
            <a:xfrm flipH="1">
              <a:off x="5070" y="1973"/>
              <a:ext cx="308" cy="281"/>
            </a:xfrm>
            <a:prstGeom prst="straightConnector1">
              <a:avLst/>
            </a:prstGeom>
            <a:noFill/>
            <a:ln cap="flat" cmpd="sng" w="31750">
              <a:solidFill>
                <a:srgbClr val="002060"/>
              </a:solidFill>
              <a:prstDash val="solid"/>
              <a:round/>
              <a:headEnd len="sm" w="sm" type="oval"/>
              <a:tailEnd len="sm" w="sm" type="none"/>
            </a:ln>
          </p:spPr>
        </p:cxnSp>
        <p:cxnSp>
          <p:nvCxnSpPr>
            <p:cNvPr id="1540" name="Google Shape;1540;p44"/>
            <p:cNvCxnSpPr/>
            <p:nvPr/>
          </p:nvCxnSpPr>
          <p:spPr>
            <a:xfrm>
              <a:off x="5418" y="2259"/>
              <a:ext cx="1963" cy="1"/>
            </a:xfrm>
            <a:prstGeom prst="straightConnector1">
              <a:avLst/>
            </a:prstGeom>
            <a:noFill/>
            <a:ln cap="flat" cmpd="sng" w="31750">
              <a:solidFill>
                <a:srgbClr val="002060"/>
              </a:solidFill>
              <a:prstDash val="solid"/>
              <a:round/>
              <a:headEnd len="med" w="med" type="none"/>
              <a:tailEnd len="med" w="med" type="none"/>
            </a:ln>
          </p:spPr>
        </p:cxnSp>
        <p:cxnSp>
          <p:nvCxnSpPr>
            <p:cNvPr id="1541" name="Google Shape;1541;p44"/>
            <p:cNvCxnSpPr/>
            <p:nvPr/>
          </p:nvCxnSpPr>
          <p:spPr>
            <a:xfrm>
              <a:off x="6174" y="2268"/>
              <a:ext cx="1" cy="410"/>
            </a:xfrm>
            <a:prstGeom prst="straightConnector1">
              <a:avLst/>
            </a:prstGeom>
            <a:noFill/>
            <a:ln cap="flat" cmpd="sng" w="31750">
              <a:solidFill>
                <a:srgbClr val="002060"/>
              </a:solidFill>
              <a:prstDash val="solid"/>
              <a:round/>
              <a:headEnd len="med" w="med" type="none"/>
              <a:tailEnd len="med" w="med" type="none"/>
            </a:ln>
          </p:spPr>
        </p:cxnSp>
        <p:cxnSp>
          <p:nvCxnSpPr>
            <p:cNvPr id="1542" name="Google Shape;1542;p44"/>
            <p:cNvCxnSpPr/>
            <p:nvPr/>
          </p:nvCxnSpPr>
          <p:spPr>
            <a:xfrm>
              <a:off x="5880" y="3418"/>
              <a:ext cx="625" cy="1"/>
            </a:xfrm>
            <a:prstGeom prst="straightConnector1">
              <a:avLst/>
            </a:prstGeom>
            <a:noFill/>
            <a:ln cap="flat" cmpd="sng" w="31750">
              <a:solidFill>
                <a:srgbClr val="002060"/>
              </a:solidFill>
              <a:prstDash val="solid"/>
              <a:round/>
              <a:headEnd len="med" w="med" type="none"/>
              <a:tailEnd len="med" w="med" type="none"/>
            </a:ln>
          </p:spPr>
        </p:cxnSp>
        <p:cxnSp>
          <p:nvCxnSpPr>
            <p:cNvPr id="1543" name="Google Shape;1543;p44"/>
            <p:cNvCxnSpPr/>
            <p:nvPr/>
          </p:nvCxnSpPr>
          <p:spPr>
            <a:xfrm>
              <a:off x="5880" y="3562"/>
              <a:ext cx="625" cy="1"/>
            </a:xfrm>
            <a:prstGeom prst="straightConnector1">
              <a:avLst/>
            </a:prstGeom>
            <a:noFill/>
            <a:ln cap="flat" cmpd="sng" w="31750">
              <a:solidFill>
                <a:srgbClr val="002060"/>
              </a:solidFill>
              <a:prstDash val="solid"/>
              <a:round/>
              <a:headEnd len="med" w="med" type="none"/>
              <a:tailEnd len="med" w="med" type="none"/>
            </a:ln>
          </p:spPr>
        </p:cxnSp>
        <p:cxnSp>
          <p:nvCxnSpPr>
            <p:cNvPr id="1544" name="Google Shape;1544;p44"/>
            <p:cNvCxnSpPr/>
            <p:nvPr/>
          </p:nvCxnSpPr>
          <p:spPr>
            <a:xfrm>
              <a:off x="6180" y="3563"/>
              <a:ext cx="1" cy="542"/>
            </a:xfrm>
            <a:prstGeom prst="straightConnector1">
              <a:avLst/>
            </a:prstGeom>
            <a:noFill/>
            <a:ln cap="flat" cmpd="sng" w="31750">
              <a:solidFill>
                <a:srgbClr val="002060"/>
              </a:solidFill>
              <a:prstDash val="solid"/>
              <a:round/>
              <a:headEnd len="med" w="med" type="none"/>
              <a:tailEnd len="med" w="med" type="none"/>
            </a:ln>
          </p:spPr>
        </p:cxnSp>
        <p:cxnSp>
          <p:nvCxnSpPr>
            <p:cNvPr id="1545" name="Google Shape;1545;p44"/>
            <p:cNvCxnSpPr/>
            <p:nvPr/>
          </p:nvCxnSpPr>
          <p:spPr>
            <a:xfrm flipH="1" rot="-5400000">
              <a:off x="7188" y="3859"/>
              <a:ext cx="1" cy="429"/>
            </a:xfrm>
            <a:prstGeom prst="straightConnector1">
              <a:avLst/>
            </a:prstGeom>
            <a:noFill/>
            <a:ln cap="flat" cmpd="sng" w="31750">
              <a:solidFill>
                <a:srgbClr val="002060"/>
              </a:solidFill>
              <a:prstDash val="solid"/>
              <a:round/>
              <a:headEnd len="med" w="med" type="none"/>
              <a:tailEnd len="med" w="med" type="none"/>
            </a:ln>
          </p:spPr>
        </p:cxnSp>
        <p:sp>
          <p:nvSpPr>
            <p:cNvPr id="1546" name="Google Shape;1546;p44"/>
            <p:cNvSpPr/>
            <p:nvPr/>
          </p:nvSpPr>
          <p:spPr>
            <a:xfrm rot="-5400000">
              <a:off x="6605" y="3821"/>
              <a:ext cx="205" cy="529"/>
            </a:xfrm>
            <a:prstGeom prst="rect">
              <a:avLst/>
            </a:prstGeom>
            <a:noFill/>
            <a:ln cap="flat" cmpd="sng" w="31750">
              <a:solidFill>
                <a:srgbClr val="00206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p:txBody>
        </p:sp>
        <p:cxnSp>
          <p:nvCxnSpPr>
            <p:cNvPr id="1547" name="Google Shape;1547;p44"/>
            <p:cNvCxnSpPr/>
            <p:nvPr/>
          </p:nvCxnSpPr>
          <p:spPr>
            <a:xfrm flipH="1">
              <a:off x="7344" y="3063"/>
              <a:ext cx="1" cy="223"/>
            </a:xfrm>
            <a:prstGeom prst="straightConnector1">
              <a:avLst/>
            </a:prstGeom>
            <a:noFill/>
            <a:ln cap="flat" cmpd="sng" w="31750">
              <a:solidFill>
                <a:srgbClr val="002060"/>
              </a:solidFill>
              <a:prstDash val="solid"/>
              <a:round/>
              <a:headEnd len="med" w="med" type="none"/>
              <a:tailEnd len="med" w="med" type="none"/>
            </a:ln>
          </p:spPr>
        </p:cxnSp>
        <p:cxnSp>
          <p:nvCxnSpPr>
            <p:cNvPr id="1548" name="Google Shape;1548;p44"/>
            <p:cNvCxnSpPr/>
            <p:nvPr/>
          </p:nvCxnSpPr>
          <p:spPr>
            <a:xfrm flipH="1">
              <a:off x="7362" y="2265"/>
              <a:ext cx="1" cy="239"/>
            </a:xfrm>
            <a:prstGeom prst="straightConnector1">
              <a:avLst/>
            </a:prstGeom>
            <a:noFill/>
            <a:ln cap="flat" cmpd="sng" w="31750">
              <a:solidFill>
                <a:srgbClr val="002060"/>
              </a:solidFill>
              <a:prstDash val="solid"/>
              <a:round/>
              <a:headEnd len="med" w="med" type="none"/>
              <a:tailEnd len="med" w="med" type="none"/>
            </a:ln>
          </p:spPr>
        </p:cxnSp>
        <p:cxnSp>
          <p:nvCxnSpPr>
            <p:cNvPr id="1549" name="Google Shape;1549;p44"/>
            <p:cNvCxnSpPr/>
            <p:nvPr/>
          </p:nvCxnSpPr>
          <p:spPr>
            <a:xfrm>
              <a:off x="4452" y="4092"/>
              <a:ext cx="2006" cy="1"/>
            </a:xfrm>
            <a:prstGeom prst="straightConnector1">
              <a:avLst/>
            </a:prstGeom>
            <a:noFill/>
            <a:ln cap="flat" cmpd="sng" w="31750">
              <a:solidFill>
                <a:srgbClr val="002060"/>
              </a:solidFill>
              <a:prstDash val="solid"/>
              <a:round/>
              <a:headEnd len="med" w="med" type="none"/>
              <a:tailEnd len="med" w="med" type="none"/>
            </a:ln>
          </p:spPr>
        </p:cxnSp>
        <p:sp>
          <p:nvSpPr>
            <p:cNvPr id="1550" name="Google Shape;1550;p44"/>
            <p:cNvSpPr/>
            <p:nvPr/>
          </p:nvSpPr>
          <p:spPr>
            <a:xfrm>
              <a:off x="5191" y="2282"/>
              <a:ext cx="187" cy="28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400">
                  <a:solidFill>
                    <a:srgbClr val="002060"/>
                  </a:solidFill>
                  <a:latin typeface="Times New Roman"/>
                  <a:ea typeface="Times New Roman"/>
                  <a:cs typeface="Times New Roman"/>
                  <a:sym typeface="Times New Roman"/>
                </a:rPr>
                <a:t>S</a:t>
              </a:r>
              <a:endParaRPr sz="900">
                <a:solidFill>
                  <a:schemeClr val="dk1"/>
                </a:solidFill>
                <a:latin typeface="Times New Roman"/>
                <a:ea typeface="Times New Roman"/>
                <a:cs typeface="Times New Roman"/>
                <a:sym typeface="Times New Roman"/>
              </a:endParaRPr>
            </a:p>
          </p:txBody>
        </p:sp>
        <p:sp>
          <p:nvSpPr>
            <p:cNvPr id="1551" name="Google Shape;1551;p44"/>
            <p:cNvSpPr/>
            <p:nvPr/>
          </p:nvSpPr>
          <p:spPr>
            <a:xfrm>
              <a:off x="4058" y="2742"/>
              <a:ext cx="360" cy="34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600">
                  <a:solidFill>
                    <a:srgbClr val="002060"/>
                  </a:solidFill>
                  <a:latin typeface="Times New Roman"/>
                  <a:ea typeface="Times New Roman"/>
                  <a:cs typeface="Times New Roman"/>
                  <a:sym typeface="Times New Roman"/>
                </a:rPr>
                <a:t>10 </a:t>
              </a:r>
              <a:endParaRPr sz="900">
                <a:solidFill>
                  <a:schemeClr val="dk1"/>
                </a:solidFill>
                <a:latin typeface="Times New Roman"/>
                <a:ea typeface="Times New Roman"/>
                <a:cs typeface="Times New Roman"/>
                <a:sym typeface="Times New Roman"/>
              </a:endParaRPr>
            </a:p>
          </p:txBody>
        </p:sp>
        <p:sp>
          <p:nvSpPr>
            <p:cNvPr id="1552" name="Google Shape;1552;p44"/>
            <p:cNvSpPr/>
            <p:nvPr/>
          </p:nvSpPr>
          <p:spPr>
            <a:xfrm>
              <a:off x="6612" y="3608"/>
              <a:ext cx="380" cy="31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400">
                  <a:solidFill>
                    <a:srgbClr val="002060"/>
                  </a:solidFill>
                  <a:latin typeface="Times New Roman"/>
                  <a:ea typeface="Times New Roman"/>
                  <a:cs typeface="Times New Roman"/>
                  <a:sym typeface="Times New Roman"/>
                </a:rPr>
                <a:t>10 </a:t>
              </a:r>
              <a:endParaRPr sz="900">
                <a:solidFill>
                  <a:schemeClr val="dk1"/>
                </a:solidFill>
                <a:latin typeface="Times New Roman"/>
                <a:ea typeface="Times New Roman"/>
                <a:cs typeface="Times New Roman"/>
                <a:sym typeface="Times New Roman"/>
              </a:endParaRPr>
            </a:p>
          </p:txBody>
        </p:sp>
        <p:sp>
          <p:nvSpPr>
            <p:cNvPr id="1553" name="Google Shape;1553;p44"/>
            <p:cNvSpPr/>
            <p:nvPr/>
          </p:nvSpPr>
          <p:spPr>
            <a:xfrm>
              <a:off x="7512" y="2632"/>
              <a:ext cx="660" cy="37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600">
                  <a:solidFill>
                    <a:srgbClr val="002060"/>
                  </a:solidFill>
                  <a:latin typeface="Times New Roman"/>
                  <a:ea typeface="Times New Roman"/>
                  <a:cs typeface="Times New Roman"/>
                  <a:sym typeface="Times New Roman"/>
                </a:rPr>
                <a:t>0.01s</a:t>
              </a:r>
              <a:endParaRPr sz="900">
                <a:solidFill>
                  <a:schemeClr val="dk1"/>
                </a:solidFill>
                <a:latin typeface="Times New Roman"/>
                <a:ea typeface="Times New Roman"/>
                <a:cs typeface="Times New Roman"/>
                <a:sym typeface="Times New Roman"/>
              </a:endParaRPr>
            </a:p>
          </p:txBody>
        </p:sp>
        <p:sp>
          <p:nvSpPr>
            <p:cNvPr id="1554" name="Google Shape;1554;p44"/>
            <p:cNvSpPr/>
            <p:nvPr/>
          </p:nvSpPr>
          <p:spPr>
            <a:xfrm>
              <a:off x="4268" y="3297"/>
              <a:ext cx="360" cy="360"/>
            </a:xfrm>
            <a:prstGeom prst="ellipse">
              <a:avLst/>
            </a:pr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p:txBody>
        </p:sp>
        <p:cxnSp>
          <p:nvCxnSpPr>
            <p:cNvPr id="1555" name="Google Shape;1555;p44"/>
            <p:cNvCxnSpPr/>
            <p:nvPr/>
          </p:nvCxnSpPr>
          <p:spPr>
            <a:xfrm>
              <a:off x="4178" y="3282"/>
              <a:ext cx="0" cy="720"/>
            </a:xfrm>
            <a:prstGeom prst="straightConnector1">
              <a:avLst/>
            </a:prstGeom>
            <a:noFill/>
            <a:ln cap="flat" cmpd="sng" w="31750">
              <a:solidFill>
                <a:srgbClr val="002060"/>
              </a:solidFill>
              <a:prstDash val="solid"/>
              <a:round/>
              <a:headEnd len="med" w="med" type="stealth"/>
              <a:tailEnd len="med" w="med" type="none"/>
            </a:ln>
          </p:spPr>
        </p:cxnSp>
        <p:cxnSp>
          <p:nvCxnSpPr>
            <p:cNvPr id="1556" name="Google Shape;1556;p44"/>
            <p:cNvCxnSpPr/>
            <p:nvPr/>
          </p:nvCxnSpPr>
          <p:spPr>
            <a:xfrm>
              <a:off x="6698" y="2258"/>
              <a:ext cx="360" cy="0"/>
            </a:xfrm>
            <a:prstGeom prst="straightConnector1">
              <a:avLst/>
            </a:prstGeom>
            <a:noFill/>
            <a:ln cap="flat" cmpd="sng" w="31750">
              <a:solidFill>
                <a:srgbClr val="002060"/>
              </a:solidFill>
              <a:prstDash val="solid"/>
              <a:round/>
              <a:headEnd len="med" w="med" type="none"/>
              <a:tailEnd len="lg" w="lg" type="triangle"/>
            </a:ln>
          </p:spPr>
        </p:cxnSp>
        <p:sp>
          <p:nvSpPr>
            <p:cNvPr id="1557" name="Google Shape;1557;p44"/>
            <p:cNvSpPr/>
            <p:nvPr/>
          </p:nvSpPr>
          <p:spPr>
            <a:xfrm>
              <a:off x="6656" y="1865"/>
              <a:ext cx="421" cy="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600">
                  <a:solidFill>
                    <a:srgbClr val="002060"/>
                  </a:solidFill>
                  <a:latin typeface="Times New Roman"/>
                  <a:ea typeface="Times New Roman"/>
                  <a:cs typeface="Times New Roman"/>
                  <a:sym typeface="Times New Roman"/>
                </a:rPr>
                <a:t>I(s)</a:t>
              </a:r>
              <a:endParaRPr sz="900">
                <a:solidFill>
                  <a:schemeClr val="dk1"/>
                </a:solidFill>
                <a:latin typeface="Times New Roman"/>
                <a:ea typeface="Times New Roman"/>
                <a:cs typeface="Times New Roman"/>
                <a:sym typeface="Times New Roman"/>
              </a:endParaRPr>
            </a:p>
          </p:txBody>
        </p:sp>
        <p:cxnSp>
          <p:nvCxnSpPr>
            <p:cNvPr id="1558" name="Google Shape;1558;p44"/>
            <p:cNvCxnSpPr/>
            <p:nvPr/>
          </p:nvCxnSpPr>
          <p:spPr>
            <a:xfrm>
              <a:off x="6178" y="3042"/>
              <a:ext cx="0" cy="356"/>
            </a:xfrm>
            <a:prstGeom prst="straightConnector1">
              <a:avLst/>
            </a:prstGeom>
            <a:noFill/>
            <a:ln cap="flat" cmpd="sng" w="31750">
              <a:solidFill>
                <a:srgbClr val="002060"/>
              </a:solidFill>
              <a:prstDash val="solid"/>
              <a:round/>
              <a:headEnd len="med" w="med" type="none"/>
              <a:tailEnd len="med" w="med" type="none"/>
            </a:ln>
          </p:spPr>
        </p:cxnSp>
        <p:sp>
          <p:nvSpPr>
            <p:cNvPr id="1559" name="Google Shape;1559;p44"/>
            <p:cNvSpPr/>
            <p:nvPr/>
          </p:nvSpPr>
          <p:spPr>
            <a:xfrm>
              <a:off x="5993" y="2678"/>
              <a:ext cx="360" cy="360"/>
            </a:xfrm>
            <a:prstGeom prst="ellipse">
              <a:avLst/>
            </a:pr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p:txBody>
        </p:sp>
        <p:sp>
          <p:nvSpPr>
            <p:cNvPr id="1560" name="Google Shape;1560;p44"/>
            <p:cNvSpPr/>
            <p:nvPr/>
          </p:nvSpPr>
          <p:spPr>
            <a:xfrm>
              <a:off x="5975" y="2401"/>
              <a:ext cx="243" cy="3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GB" sz="1600">
                  <a:solidFill>
                    <a:srgbClr val="002060"/>
                  </a:solidFill>
                  <a:latin typeface="Times New Roman"/>
                  <a:ea typeface="Times New Roman"/>
                  <a:cs typeface="Times New Roman"/>
                  <a:sym typeface="Times New Roman"/>
                </a:rPr>
                <a:t>+</a:t>
              </a:r>
              <a:endParaRPr sz="1100">
                <a:solidFill>
                  <a:schemeClr val="dk1"/>
                </a:solidFill>
                <a:latin typeface="Times New Roman"/>
                <a:ea typeface="Times New Roman"/>
                <a:cs typeface="Times New Roman"/>
                <a:sym typeface="Times New Roman"/>
              </a:endParaRPr>
            </a:p>
          </p:txBody>
        </p:sp>
        <p:sp>
          <p:nvSpPr>
            <p:cNvPr id="1561" name="Google Shape;1561;p44"/>
            <p:cNvSpPr/>
            <p:nvPr/>
          </p:nvSpPr>
          <p:spPr>
            <a:xfrm>
              <a:off x="5982" y="3017"/>
              <a:ext cx="187" cy="28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GB" sz="1600">
                  <a:solidFill>
                    <a:srgbClr val="002060"/>
                  </a:solidFill>
                  <a:latin typeface="Noto Sans Symbols"/>
                  <a:ea typeface="Noto Sans Symbols"/>
                  <a:cs typeface="Noto Sans Symbols"/>
                  <a:sym typeface="Noto Sans Symbols"/>
                </a:rPr>
                <a:t>−</a:t>
              </a:r>
              <a:endParaRPr sz="1050">
                <a:solidFill>
                  <a:schemeClr val="dk1"/>
                </a:solidFill>
                <a:latin typeface="Times New Roman"/>
                <a:ea typeface="Times New Roman"/>
                <a:cs typeface="Times New Roman"/>
                <a:sym typeface="Times New Roman"/>
              </a:endParaRPr>
            </a:p>
          </p:txBody>
        </p:sp>
        <p:sp>
          <p:nvSpPr>
            <p:cNvPr id="1562" name="Google Shape;1562;p44"/>
            <p:cNvSpPr/>
            <p:nvPr/>
          </p:nvSpPr>
          <p:spPr>
            <a:xfrm>
              <a:off x="7178" y="3278"/>
              <a:ext cx="360" cy="360"/>
            </a:xfrm>
            <a:prstGeom prst="ellipse">
              <a:avLst/>
            </a:pr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p:txBody>
        </p:sp>
        <p:sp>
          <p:nvSpPr>
            <p:cNvPr id="1563" name="Google Shape;1563;p44"/>
            <p:cNvSpPr/>
            <p:nvPr/>
          </p:nvSpPr>
          <p:spPr>
            <a:xfrm>
              <a:off x="7201" y="3608"/>
              <a:ext cx="187" cy="28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600">
                  <a:solidFill>
                    <a:srgbClr val="002060"/>
                  </a:solidFill>
                  <a:latin typeface="Times New Roman"/>
                  <a:ea typeface="Times New Roman"/>
                  <a:cs typeface="Times New Roman"/>
                  <a:sym typeface="Times New Roman"/>
                </a:rPr>
                <a:t>+</a:t>
              </a:r>
              <a:endParaRPr sz="1050">
                <a:solidFill>
                  <a:schemeClr val="dk1"/>
                </a:solidFill>
                <a:latin typeface="Times New Roman"/>
                <a:ea typeface="Times New Roman"/>
                <a:cs typeface="Times New Roman"/>
                <a:sym typeface="Times New Roman"/>
              </a:endParaRPr>
            </a:p>
          </p:txBody>
        </p:sp>
        <p:sp>
          <p:nvSpPr>
            <p:cNvPr id="1564" name="Google Shape;1564;p44"/>
            <p:cNvSpPr/>
            <p:nvPr/>
          </p:nvSpPr>
          <p:spPr>
            <a:xfrm>
              <a:off x="7188" y="2971"/>
              <a:ext cx="239" cy="33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600">
                  <a:solidFill>
                    <a:srgbClr val="002060"/>
                  </a:solidFill>
                  <a:latin typeface="Noto Sans Symbols"/>
                  <a:ea typeface="Noto Sans Symbols"/>
                  <a:cs typeface="Noto Sans Symbols"/>
                  <a:sym typeface="Noto Sans Symbols"/>
                </a:rPr>
                <a:t>−</a:t>
              </a:r>
              <a:endParaRPr sz="1050">
                <a:solidFill>
                  <a:schemeClr val="dk1"/>
                </a:solidFill>
                <a:latin typeface="Times New Roman"/>
                <a:ea typeface="Times New Roman"/>
                <a:cs typeface="Times New Roman"/>
                <a:sym typeface="Times New Roman"/>
              </a:endParaRPr>
            </a:p>
          </p:txBody>
        </p:sp>
        <p:cxnSp>
          <p:nvCxnSpPr>
            <p:cNvPr id="1565" name="Google Shape;1565;p44"/>
            <p:cNvCxnSpPr/>
            <p:nvPr/>
          </p:nvCxnSpPr>
          <p:spPr>
            <a:xfrm>
              <a:off x="7373" y="3629"/>
              <a:ext cx="0" cy="459"/>
            </a:xfrm>
            <a:prstGeom prst="straightConnector1">
              <a:avLst/>
            </a:prstGeom>
            <a:noFill/>
            <a:ln cap="flat" cmpd="sng" w="31750">
              <a:solidFill>
                <a:srgbClr val="002060"/>
              </a:solidFill>
              <a:prstDash val="solid"/>
              <a:round/>
              <a:headEnd len="med" w="med" type="none"/>
              <a:tailEnd len="med" w="med" type="none"/>
            </a:ln>
          </p:spPr>
        </p:cxnSp>
        <p:sp>
          <p:nvSpPr>
            <p:cNvPr id="1566" name="Google Shape;1566;p44"/>
            <p:cNvSpPr/>
            <p:nvPr/>
          </p:nvSpPr>
          <p:spPr>
            <a:xfrm>
              <a:off x="7586" y="3297"/>
              <a:ext cx="526" cy="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GB" sz="1600">
                  <a:solidFill>
                    <a:srgbClr val="002060"/>
                  </a:solidFill>
                  <a:latin typeface="Times New Roman"/>
                  <a:ea typeface="Times New Roman"/>
                  <a:cs typeface="Times New Roman"/>
                  <a:sym typeface="Times New Roman"/>
                </a:rPr>
                <a:t>0.05</a:t>
              </a:r>
              <a:endParaRPr sz="900">
                <a:solidFill>
                  <a:schemeClr val="dk1"/>
                </a:solidFill>
                <a:latin typeface="Times New Roman"/>
                <a:ea typeface="Times New Roman"/>
                <a:cs typeface="Times New Roman"/>
                <a:sym typeface="Times New Roman"/>
              </a:endParaRPr>
            </a:p>
          </p:txBody>
        </p:sp>
        <p:sp>
          <p:nvSpPr>
            <p:cNvPr id="1567" name="Google Shape;1567;p44"/>
            <p:cNvSpPr/>
            <p:nvPr/>
          </p:nvSpPr>
          <p:spPr>
            <a:xfrm>
              <a:off x="7329" y="2504"/>
              <a:ext cx="119" cy="131"/>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p:txBody>
        </p:sp>
        <p:sp>
          <p:nvSpPr>
            <p:cNvPr id="1568" name="Google Shape;1568;p44"/>
            <p:cNvSpPr/>
            <p:nvPr/>
          </p:nvSpPr>
          <p:spPr>
            <a:xfrm>
              <a:off x="7328" y="2644"/>
              <a:ext cx="119" cy="131"/>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p:txBody>
        </p:sp>
        <p:sp>
          <p:nvSpPr>
            <p:cNvPr id="1569" name="Google Shape;1569;p44"/>
            <p:cNvSpPr/>
            <p:nvPr/>
          </p:nvSpPr>
          <p:spPr>
            <a:xfrm>
              <a:off x="7329" y="2773"/>
              <a:ext cx="119" cy="131"/>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p:txBody>
        </p:sp>
        <p:sp>
          <p:nvSpPr>
            <p:cNvPr id="1570" name="Google Shape;1570;p44"/>
            <p:cNvSpPr/>
            <p:nvPr/>
          </p:nvSpPr>
          <p:spPr>
            <a:xfrm>
              <a:off x="7328" y="2913"/>
              <a:ext cx="119" cy="131"/>
            </a:xfrm>
            <a:custGeom>
              <a:rect b="b" l="l" r="r" t="t"/>
              <a:pathLst>
                <a:path extrusionOk="0" fill="none" h="43200" w="21600">
                  <a:moveTo>
                    <a:pt x="-1" y="0"/>
                  </a:moveTo>
                  <a:cubicBezTo>
                    <a:pt x="11929" y="0"/>
                    <a:pt x="21600" y="9670"/>
                    <a:pt x="21600" y="21600"/>
                  </a:cubicBezTo>
                  <a:cubicBezTo>
                    <a:pt x="21600" y="33529"/>
                    <a:pt x="11929" y="43200"/>
                    <a:pt x="0" y="43200"/>
                  </a:cubicBezTo>
                </a:path>
                <a:path extrusionOk="0" h="43200" w="21600">
                  <a:moveTo>
                    <a:pt x="-1" y="0"/>
                  </a:moveTo>
                  <a:cubicBezTo>
                    <a:pt x="11929" y="0"/>
                    <a:pt x="21600" y="9670"/>
                    <a:pt x="21600" y="21600"/>
                  </a:cubicBezTo>
                  <a:cubicBezTo>
                    <a:pt x="21600" y="33529"/>
                    <a:pt x="11929" y="43200"/>
                    <a:pt x="0" y="43200"/>
                  </a:cubicBezTo>
                  <a:lnTo>
                    <a:pt x="0" y="21600"/>
                  </a:lnTo>
                  <a:close/>
                </a:path>
              </a:pathLst>
            </a:custGeom>
            <a:noFill/>
            <a:ln cap="flat" cmpd="sng" w="31750">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p:txBody>
        </p:sp>
      </p:grpSp>
      <p:pic>
        <p:nvPicPr>
          <p:cNvPr id="1571" name="Google Shape;1571;p44"/>
          <p:cNvPicPr preferRelativeResize="0"/>
          <p:nvPr/>
        </p:nvPicPr>
        <p:blipFill rotWithShape="1">
          <a:blip r:embed="rId8">
            <a:alphaModFix/>
          </a:blip>
          <a:srcRect b="0" l="0" r="0" t="0"/>
          <a:stretch/>
        </p:blipFill>
        <p:spPr>
          <a:xfrm>
            <a:off x="10386747" y="1176982"/>
            <a:ext cx="344658" cy="640080"/>
          </a:xfrm>
          <a:prstGeom prst="rect">
            <a:avLst/>
          </a:prstGeom>
          <a:noFill/>
          <a:ln>
            <a:noFill/>
          </a:ln>
        </p:spPr>
      </p:pic>
      <p:pic>
        <p:nvPicPr>
          <p:cNvPr id="1572" name="Google Shape;1572;p44"/>
          <p:cNvPicPr preferRelativeResize="0"/>
          <p:nvPr/>
        </p:nvPicPr>
        <p:blipFill rotWithShape="1">
          <a:blip r:embed="rId9">
            <a:alphaModFix/>
          </a:blip>
          <a:srcRect b="0" l="0" r="0" t="0"/>
          <a:stretch/>
        </p:blipFill>
        <p:spPr>
          <a:xfrm>
            <a:off x="8890489" y="1684940"/>
            <a:ext cx="379827" cy="548640"/>
          </a:xfrm>
          <a:prstGeom prst="rect">
            <a:avLst/>
          </a:prstGeom>
          <a:noFill/>
          <a:ln>
            <a:noFill/>
          </a:ln>
        </p:spPr>
      </p:pic>
      <p:pic>
        <p:nvPicPr>
          <p:cNvPr id="1573" name="Google Shape;1573;p44"/>
          <p:cNvPicPr preferRelativeResize="0"/>
          <p:nvPr/>
        </p:nvPicPr>
        <p:blipFill rotWithShape="1">
          <a:blip r:embed="rId10">
            <a:alphaModFix/>
          </a:blip>
          <a:srcRect b="0" l="0" r="0" t="0"/>
          <a:stretch/>
        </p:blipFill>
        <p:spPr>
          <a:xfrm>
            <a:off x="9517519" y="1645649"/>
            <a:ext cx="457200" cy="71628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7" name="Shape 1577"/>
        <p:cNvGrpSpPr/>
        <p:nvPr/>
      </p:nvGrpSpPr>
      <p:grpSpPr>
        <a:xfrm>
          <a:off x="0" y="0"/>
          <a:ext cx="0" cy="0"/>
          <a:chOff x="0" y="0"/>
          <a:chExt cx="0" cy="0"/>
        </a:xfrm>
      </p:grpSpPr>
      <p:sp>
        <p:nvSpPr>
          <p:cNvPr id="1578" name="Google Shape;1578;p45"/>
          <p:cNvSpPr txBox="1"/>
          <p:nvPr>
            <p:ph type="title"/>
          </p:nvPr>
        </p:nvSpPr>
        <p:spPr>
          <a:xfrm>
            <a:off x="429715" y="634543"/>
            <a:ext cx="10924085" cy="48274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rgbClr val="C00000"/>
              </a:buClr>
              <a:buSzPct val="100000"/>
              <a:buFont typeface="Times New Roman"/>
              <a:buNone/>
            </a:pPr>
            <a:r>
              <a:rPr lang="en-GB"/>
              <a:t>End of Presentation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2020-04-15T07:17:18Z</dcterms:created>
  <dc:creator>Lucas</dc:creator>
</cp:coreProperties>
</file>