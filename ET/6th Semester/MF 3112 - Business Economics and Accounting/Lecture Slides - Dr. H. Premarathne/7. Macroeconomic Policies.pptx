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4"/>
  </p:notesMasterIdLst>
  <p:sldIdLst>
    <p:sldId id="256" r:id="rId2"/>
    <p:sldId id="281" r:id="rId3"/>
    <p:sldId id="320" r:id="rId4"/>
    <p:sldId id="300" r:id="rId5"/>
    <p:sldId id="301" r:id="rId6"/>
    <p:sldId id="302" r:id="rId7"/>
    <p:sldId id="303" r:id="rId8"/>
    <p:sldId id="314" r:id="rId9"/>
    <p:sldId id="304" r:id="rId10"/>
    <p:sldId id="318" r:id="rId11"/>
    <p:sldId id="305" r:id="rId12"/>
    <p:sldId id="306" r:id="rId13"/>
    <p:sldId id="319" r:id="rId14"/>
    <p:sldId id="307" r:id="rId15"/>
    <p:sldId id="315" r:id="rId16"/>
    <p:sldId id="308" r:id="rId17"/>
    <p:sldId id="309" r:id="rId18"/>
    <p:sldId id="310" r:id="rId19"/>
    <p:sldId id="311" r:id="rId20"/>
    <p:sldId id="316" r:id="rId21"/>
    <p:sldId id="312" r:id="rId22"/>
    <p:sldId id="313"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D2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74"/>
  </p:normalViewPr>
  <p:slideViewPr>
    <p:cSldViewPr>
      <p:cViewPr varScale="1">
        <p:scale>
          <a:sx n="83" d="100"/>
          <a:sy n="83" d="100"/>
        </p:scale>
        <p:origin x="1450"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8C6BAF3A-948D-4124-8295-A23E93D7F0DF}" type="datetimeFigureOut">
              <a:rPr lang="en-US"/>
              <a:pPr>
                <a:defRPr/>
              </a:pPr>
              <a:t>11/15/2023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A4DC25C-0C6E-4D9F-9AE3-5534CBF534CE}" type="slidenum">
              <a:rPr lang="en-US"/>
              <a:pPr>
                <a:defRPr/>
              </a:pPr>
              <a:t>‹#›</a:t>
            </a:fld>
            <a:endParaRPr lang="en-US"/>
          </a:p>
        </p:txBody>
      </p:sp>
    </p:spTree>
    <p:extLst>
      <p:ext uri="{BB962C8B-B14F-4D97-AF65-F5344CB8AC3E}">
        <p14:creationId xmlns:p14="http://schemas.microsoft.com/office/powerpoint/2010/main" val="10449657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A4DC25C-0C6E-4D9F-9AE3-5534CBF534CE}" type="slidenum">
              <a:rPr lang="en-US" smtClean="0"/>
              <a:pPr>
                <a:defRPr/>
              </a:pPr>
              <a:t>1</a:t>
            </a:fld>
            <a:endParaRPr lang="en-US"/>
          </a:p>
        </p:txBody>
      </p:sp>
    </p:spTree>
    <p:extLst>
      <p:ext uri="{BB962C8B-B14F-4D97-AF65-F5344CB8AC3E}">
        <p14:creationId xmlns:p14="http://schemas.microsoft.com/office/powerpoint/2010/main" val="704027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639F40-981A-4D77-A16A-2CF04552D579}" type="slidenum">
              <a:rPr lang="en-US" smtClean="0"/>
              <a:pPr/>
              <a:t>3</a:t>
            </a:fld>
            <a:endParaRPr lang="en-US"/>
          </a:p>
        </p:txBody>
      </p:sp>
    </p:spTree>
    <p:extLst>
      <p:ext uri="{BB962C8B-B14F-4D97-AF65-F5344CB8AC3E}">
        <p14:creationId xmlns:p14="http://schemas.microsoft.com/office/powerpoint/2010/main" val="3562390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A4DC25C-0C6E-4D9F-9AE3-5534CBF534CE}" type="slidenum">
              <a:rPr lang="en-US" smtClean="0"/>
              <a:pPr>
                <a:defRPr/>
              </a:pPr>
              <a:t>4</a:t>
            </a:fld>
            <a:endParaRPr lang="en-US"/>
          </a:p>
        </p:txBody>
      </p:sp>
    </p:spTree>
    <p:extLst>
      <p:ext uri="{BB962C8B-B14F-4D97-AF65-F5344CB8AC3E}">
        <p14:creationId xmlns:p14="http://schemas.microsoft.com/office/powerpoint/2010/main" val="35993621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lvl1pPr>
          </a:lstStyle>
          <a:p>
            <a:pPr>
              <a:defRPr/>
            </a:pPr>
            <a:fld id="{E6BE9A81-2A04-3F48-9160-070112B9A73A}" type="datetime1">
              <a:rPr lang="en-US" smtClean="0"/>
              <a:t>11/15/2023</a:t>
            </a:fld>
            <a:endParaRPr lang="en-US"/>
          </a:p>
        </p:txBody>
      </p:sp>
      <p:sp>
        <p:nvSpPr>
          <p:cNvPr id="5" name="Footer Placeholder 18"/>
          <p:cNvSpPr>
            <a:spLocks noGrp="1"/>
          </p:cNvSpPr>
          <p:nvPr>
            <p:ph type="ftr" sz="quarter" idx="11"/>
          </p:nvPr>
        </p:nvSpPr>
        <p:spPr/>
        <p:txBody>
          <a:bodyPr/>
          <a:lstStyle>
            <a:lvl1pPr>
              <a:defRPr/>
            </a:lvl1pPr>
          </a:lstStyle>
          <a:p>
            <a:pPr>
              <a:defRPr/>
            </a:pPr>
            <a:r>
              <a:rPr lang="en-US"/>
              <a:t>Macro/BSc in Mgt/2022</a:t>
            </a:r>
          </a:p>
        </p:txBody>
      </p:sp>
      <p:sp>
        <p:nvSpPr>
          <p:cNvPr id="6" name="Slide Number Placeholder 26"/>
          <p:cNvSpPr>
            <a:spLocks noGrp="1"/>
          </p:cNvSpPr>
          <p:nvPr>
            <p:ph type="sldNum" sz="quarter" idx="12"/>
          </p:nvPr>
        </p:nvSpPr>
        <p:spPr/>
        <p:txBody>
          <a:bodyPr/>
          <a:lstStyle>
            <a:lvl1pPr>
              <a:defRPr/>
            </a:lvl1pPr>
          </a:lstStyle>
          <a:p>
            <a:pPr>
              <a:defRPr/>
            </a:pPr>
            <a:fld id="{F2574C60-82F2-4406-BD93-BCBC0E30F3C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03B88D5-F7DC-594F-8A8D-ABA306EFD8BD}" type="datetime1">
              <a:rPr lang="en-US" smtClean="0"/>
              <a:t>11/15/2023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Macro/BSc in Mgt/2022</a:t>
            </a:r>
          </a:p>
        </p:txBody>
      </p:sp>
      <p:sp>
        <p:nvSpPr>
          <p:cNvPr id="6" name="Slide Number Placeholder 17"/>
          <p:cNvSpPr>
            <a:spLocks noGrp="1"/>
          </p:cNvSpPr>
          <p:nvPr>
            <p:ph type="sldNum" sz="quarter" idx="12"/>
          </p:nvPr>
        </p:nvSpPr>
        <p:spPr/>
        <p:txBody>
          <a:bodyPr/>
          <a:lstStyle>
            <a:lvl1pPr>
              <a:defRPr/>
            </a:lvl1pPr>
          </a:lstStyle>
          <a:p>
            <a:pPr>
              <a:defRPr/>
            </a:pPr>
            <a:fld id="{B0A1BDBB-3588-4E20-99CE-E65281F62D4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972FB8-7455-314B-985E-6D7E18812356}" type="datetime1">
              <a:rPr lang="en-US" smtClean="0"/>
              <a:t>11/15/2023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Macro/BSc in Mgt/2022</a:t>
            </a:r>
          </a:p>
        </p:txBody>
      </p:sp>
      <p:sp>
        <p:nvSpPr>
          <p:cNvPr id="6" name="Slide Number Placeholder 5"/>
          <p:cNvSpPr>
            <a:spLocks noGrp="1"/>
          </p:cNvSpPr>
          <p:nvPr>
            <p:ph type="sldNum" sz="quarter" idx="12"/>
          </p:nvPr>
        </p:nvSpPr>
        <p:spPr/>
        <p:txBody>
          <a:bodyPr/>
          <a:lstStyle>
            <a:lvl1pPr>
              <a:defRPr/>
            </a:lvl1pPr>
          </a:lstStyle>
          <a:p>
            <a:pPr>
              <a:defRPr/>
            </a:pPr>
            <a:fld id="{2F71CACB-26B4-4D9F-B208-C4C52ABEA4A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F6B360CF-C030-1648-8F00-A640EEB17E71}" type="datetime1">
              <a:rPr lang="en-US" smtClean="0"/>
              <a:t>11/15/2023</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Macro/BSc in Mgt/2022</a:t>
            </a:r>
          </a:p>
        </p:txBody>
      </p:sp>
      <p:sp>
        <p:nvSpPr>
          <p:cNvPr id="7" name="Slide Number Placeholder 17"/>
          <p:cNvSpPr>
            <a:spLocks noGrp="1"/>
          </p:cNvSpPr>
          <p:nvPr>
            <p:ph type="sldNum" sz="quarter" idx="12"/>
          </p:nvPr>
        </p:nvSpPr>
        <p:spPr/>
        <p:txBody>
          <a:bodyPr/>
          <a:lstStyle>
            <a:lvl1pPr>
              <a:defRPr/>
            </a:lvl1pPr>
          </a:lstStyle>
          <a:p>
            <a:pPr>
              <a:defRPr/>
            </a:pPr>
            <a:fld id="{651AC916-3ED7-4458-B7D9-4DA05E68758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AA09EBD6-1B02-8745-8C88-B2A66A0E2620}" type="datetime1">
              <a:rPr lang="en-US" smtClean="0"/>
              <a:t>11/15/2023</a:t>
            </a:fld>
            <a:endParaRPr lang="en-US"/>
          </a:p>
        </p:txBody>
      </p:sp>
      <p:sp>
        <p:nvSpPr>
          <p:cNvPr id="8" name="Footer Placeholder 21"/>
          <p:cNvSpPr>
            <a:spLocks noGrp="1"/>
          </p:cNvSpPr>
          <p:nvPr>
            <p:ph type="ftr" sz="quarter" idx="11"/>
          </p:nvPr>
        </p:nvSpPr>
        <p:spPr/>
        <p:txBody>
          <a:bodyPr/>
          <a:lstStyle>
            <a:lvl1pPr>
              <a:defRPr/>
            </a:lvl1pPr>
          </a:lstStyle>
          <a:p>
            <a:pPr>
              <a:defRPr/>
            </a:pPr>
            <a:r>
              <a:rPr lang="en-US"/>
              <a:t>Macro/BSc in Mgt/2022</a:t>
            </a:r>
          </a:p>
        </p:txBody>
      </p:sp>
      <p:sp>
        <p:nvSpPr>
          <p:cNvPr id="9" name="Slide Number Placeholder 17"/>
          <p:cNvSpPr>
            <a:spLocks noGrp="1"/>
          </p:cNvSpPr>
          <p:nvPr>
            <p:ph type="sldNum" sz="quarter" idx="12"/>
          </p:nvPr>
        </p:nvSpPr>
        <p:spPr/>
        <p:txBody>
          <a:bodyPr/>
          <a:lstStyle>
            <a:lvl1pPr>
              <a:defRPr/>
            </a:lvl1pPr>
          </a:lstStyle>
          <a:p>
            <a:pPr>
              <a:defRPr/>
            </a:pPr>
            <a:fld id="{29F03898-40B5-4AF2-B508-22A68341B01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41D1D6AA-5322-C94C-A235-D2A05FD1C688}" type="datetime1">
              <a:rPr lang="en-US" smtClean="0"/>
              <a:t>11/15/2023</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Macro/BSc in Mgt/2022</a:t>
            </a:r>
          </a:p>
        </p:txBody>
      </p:sp>
      <p:sp>
        <p:nvSpPr>
          <p:cNvPr id="5" name="Slide Number Placeholder 17"/>
          <p:cNvSpPr>
            <a:spLocks noGrp="1"/>
          </p:cNvSpPr>
          <p:nvPr>
            <p:ph type="sldNum" sz="quarter" idx="12"/>
          </p:nvPr>
        </p:nvSpPr>
        <p:spPr/>
        <p:txBody>
          <a:bodyPr/>
          <a:lstStyle>
            <a:lvl1pPr>
              <a:defRPr/>
            </a:lvl1pPr>
          </a:lstStyle>
          <a:p>
            <a:pPr>
              <a:defRPr/>
            </a:pPr>
            <a:fld id="{FE2DE8BE-C47F-4AF3-9529-E5F32789A10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57007C89-DE12-7243-A8AC-7D7E142F4040}" type="datetime1">
              <a:rPr lang="en-US" smtClean="0"/>
              <a:t>11/15/2023</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Macro/BSc in Mgt/2022</a:t>
            </a:r>
          </a:p>
        </p:txBody>
      </p:sp>
      <p:sp>
        <p:nvSpPr>
          <p:cNvPr id="4" name="Slide Number Placeholder 17"/>
          <p:cNvSpPr>
            <a:spLocks noGrp="1"/>
          </p:cNvSpPr>
          <p:nvPr>
            <p:ph type="sldNum" sz="quarter" idx="12"/>
          </p:nvPr>
        </p:nvSpPr>
        <p:spPr/>
        <p:txBody>
          <a:bodyPr/>
          <a:lstStyle>
            <a:lvl1pPr>
              <a:defRPr/>
            </a:lvl1pPr>
          </a:lstStyle>
          <a:p>
            <a:pPr>
              <a:defRPr/>
            </a:pPr>
            <a:fld id="{1D44E5F4-8505-4EEE-9031-4A43751085E6}"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276211BD-5B45-4943-868F-D92A96DA7C86}" type="datetime1">
              <a:rPr lang="en-US" smtClean="0"/>
              <a:t>11/15/2023</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Macro/BSc in Mgt/2022</a:t>
            </a:r>
          </a:p>
        </p:txBody>
      </p:sp>
      <p:sp>
        <p:nvSpPr>
          <p:cNvPr id="7" name="Slide Number Placeholder 17"/>
          <p:cNvSpPr>
            <a:spLocks noGrp="1"/>
          </p:cNvSpPr>
          <p:nvPr>
            <p:ph type="sldNum" sz="quarter" idx="12"/>
          </p:nvPr>
        </p:nvSpPr>
        <p:spPr/>
        <p:txBody>
          <a:bodyPr/>
          <a:lstStyle>
            <a:lvl1pPr>
              <a:defRPr/>
            </a:lvl1pPr>
          </a:lstStyle>
          <a:p>
            <a:pPr>
              <a:defRPr/>
            </a:pPr>
            <a:fld id="{7B1C55EF-10BF-422B-858C-B1842E95924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4EAB8118-F274-964A-9E88-93F6DC6F1886}" type="datetime1">
              <a:rPr lang="en-US" smtClean="0"/>
              <a:t>11/15/2023</a:t>
            </a:fld>
            <a:endParaRPr lang="en-US"/>
          </a:p>
        </p:txBody>
      </p:sp>
      <p:sp>
        <p:nvSpPr>
          <p:cNvPr id="10" name="Footer Placeholder 5"/>
          <p:cNvSpPr>
            <a:spLocks noGrp="1"/>
          </p:cNvSpPr>
          <p:nvPr>
            <p:ph type="ftr" sz="quarter" idx="11"/>
          </p:nvPr>
        </p:nvSpPr>
        <p:spPr/>
        <p:txBody>
          <a:bodyPr/>
          <a:lstStyle>
            <a:lvl1pPr>
              <a:defRPr/>
            </a:lvl1pPr>
          </a:lstStyle>
          <a:p>
            <a:pPr>
              <a:defRPr/>
            </a:pPr>
            <a:r>
              <a:rPr lang="en-US"/>
              <a:t>Macro/BSc in Mgt/2022</a:t>
            </a:r>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5BAEAAB2-A9E4-4B12-84C5-C7089B6D4782}"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D58E250-F0F4-8E46-890C-293775BCCFF6}" type="datetime1">
              <a:rPr lang="en-US" smtClean="0"/>
              <a:t>11/15/2023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Macro/BSc in Mgt/2022</a:t>
            </a:r>
          </a:p>
        </p:txBody>
      </p:sp>
      <p:sp>
        <p:nvSpPr>
          <p:cNvPr id="6" name="Slide Number Placeholder 17"/>
          <p:cNvSpPr>
            <a:spLocks noGrp="1"/>
          </p:cNvSpPr>
          <p:nvPr>
            <p:ph type="sldNum" sz="quarter" idx="12"/>
          </p:nvPr>
        </p:nvSpPr>
        <p:spPr/>
        <p:txBody>
          <a:bodyPr/>
          <a:lstStyle>
            <a:lvl1pPr>
              <a:defRPr/>
            </a:lvl1pPr>
          </a:lstStyle>
          <a:p>
            <a:pPr>
              <a:defRPr/>
            </a:pPr>
            <a:fld id="{DC00E978-FDEC-45F4-AE97-BD060039AA7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0264BC42-B6FE-5349-8FA1-27446060D1F5}" type="datetime1">
              <a:rPr lang="en-US" smtClean="0"/>
              <a:t>11/15/2023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Macro/BSc in Mgt/2022</a:t>
            </a:r>
          </a:p>
        </p:txBody>
      </p:sp>
      <p:sp>
        <p:nvSpPr>
          <p:cNvPr id="6" name="Slide Number Placeholder 17"/>
          <p:cNvSpPr>
            <a:spLocks noGrp="1"/>
          </p:cNvSpPr>
          <p:nvPr>
            <p:ph type="sldNum" sz="quarter" idx="12"/>
          </p:nvPr>
        </p:nvSpPr>
        <p:spPr/>
        <p:txBody>
          <a:bodyPr/>
          <a:lstStyle>
            <a:lvl1pPr>
              <a:defRPr/>
            </a:lvl1pPr>
          </a:lstStyle>
          <a:p>
            <a:pPr>
              <a:defRPr/>
            </a:pPr>
            <a:fld id="{6B2CCBDC-4B88-45F1-A4F3-27E05BBFBBF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052"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2053"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A8E00690-636E-6346-A198-1F87CE1908C5}" type="datetime1">
              <a:rPr lang="en-US" smtClean="0"/>
              <a:t>11/15/2023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r>
              <a:rPr lang="en-US"/>
              <a:t>Macro/BSc in Mgt/2022</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fld id="{D6E038AE-778D-4A87-84B8-2CD3889E187A}" type="slidenum">
              <a:rPr lang="en-US"/>
              <a:pPr>
                <a:defRPr/>
              </a:pPr>
              <a:t>‹#›</a:t>
            </a:fld>
            <a:endParaRPr lang="en-US"/>
          </a:p>
        </p:txBody>
      </p:sp>
      <p:grpSp>
        <p:nvGrpSpPr>
          <p:cNvPr id="2057"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709" r:id="rId1"/>
    <p:sldLayoutId id="2147483701" r:id="rId2"/>
    <p:sldLayoutId id="2147483710" r:id="rId3"/>
    <p:sldLayoutId id="2147483702" r:id="rId4"/>
    <p:sldLayoutId id="2147483703" r:id="rId5"/>
    <p:sldLayoutId id="2147483704" r:id="rId6"/>
    <p:sldLayoutId id="2147483705" r:id="rId7"/>
    <p:sldLayoutId id="2147483706" r:id="rId8"/>
    <p:sldLayoutId id="2147483711" r:id="rId9"/>
    <p:sldLayoutId id="2147483707" r:id="rId10"/>
    <p:sldLayoutId id="2147483708" r:id="rId11"/>
  </p:sldLayoutIdLst>
  <p:hf hd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969696"/>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969696"/>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808080"/>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2333" y="2562849"/>
            <a:ext cx="7851648" cy="1828800"/>
          </a:xfrm>
        </p:spPr>
        <p:txBody>
          <a:bodyPr>
            <a:normAutofit/>
          </a:bodyPr>
          <a:lstStyle/>
          <a:p>
            <a:pPr algn="ctr" eaLnBrk="1" fontAlgn="auto" hangingPunct="1">
              <a:spcAft>
                <a:spcPts val="0"/>
              </a:spcAft>
              <a:defRPr/>
            </a:pPr>
            <a:r>
              <a:rPr lang="en-US" sz="4400" dirty="0">
                <a:solidFill>
                  <a:srgbClr val="C00000"/>
                </a:solidFill>
                <a:latin typeface="Arial" pitchFamily="34" charset="0"/>
                <a:cs typeface="Arial" pitchFamily="34" charset="0"/>
              </a:rPr>
              <a:t>MACROECONOMIC</a:t>
            </a:r>
            <a:r>
              <a:rPr lang="en-US" sz="4400" dirty="0">
                <a:solidFill>
                  <a:schemeClr val="bg1"/>
                </a:solidFill>
                <a:latin typeface="Arial" pitchFamily="34" charset="0"/>
                <a:cs typeface="Arial" pitchFamily="34" charset="0"/>
              </a:rPr>
              <a:t> POLICIES</a:t>
            </a:r>
          </a:p>
        </p:txBody>
      </p:sp>
      <p:sp>
        <p:nvSpPr>
          <p:cNvPr id="3" name="TextBox 2"/>
          <p:cNvSpPr txBox="1"/>
          <p:nvPr/>
        </p:nvSpPr>
        <p:spPr>
          <a:xfrm>
            <a:off x="2007358" y="5181600"/>
            <a:ext cx="5181600" cy="461665"/>
          </a:xfrm>
          <a:prstGeom prst="rect">
            <a:avLst/>
          </a:prstGeom>
          <a:noFill/>
        </p:spPr>
        <p:txBody>
          <a:bodyPr wrap="square" rtlCol="0">
            <a:spAutoFit/>
          </a:bodyPr>
          <a:lstStyle/>
          <a:p>
            <a:pPr algn="ctr"/>
            <a:r>
              <a:rPr lang="en-US" sz="2400" dirty="0">
                <a:solidFill>
                  <a:srgbClr val="002060"/>
                </a:solidFill>
                <a:latin typeface="Arial" pitchFamily="34" charset="0"/>
                <a:cs typeface="Arial" pitchFamily="34" charset="0"/>
              </a:rPr>
              <a:t>Dr. </a:t>
            </a:r>
            <a:r>
              <a:rPr lang="en-US" sz="2400" dirty="0" err="1">
                <a:solidFill>
                  <a:srgbClr val="002060"/>
                </a:solidFill>
                <a:latin typeface="Arial" pitchFamily="34" charset="0"/>
                <a:cs typeface="Arial" pitchFamily="34" charset="0"/>
              </a:rPr>
              <a:t>Hemantha</a:t>
            </a:r>
            <a:r>
              <a:rPr lang="en-US" sz="2400" dirty="0">
                <a:solidFill>
                  <a:srgbClr val="002060"/>
                </a:solidFill>
                <a:latin typeface="Arial" pitchFamily="34" charset="0"/>
                <a:cs typeface="Arial" pitchFamily="34" charset="0"/>
              </a:rPr>
              <a:t> </a:t>
            </a:r>
            <a:r>
              <a:rPr lang="en-US" sz="2400" dirty="0" err="1">
                <a:solidFill>
                  <a:srgbClr val="002060"/>
                </a:solidFill>
              </a:rPr>
              <a:t>Premarathne</a:t>
            </a:r>
            <a:endParaRPr lang="en-US" sz="2400" dirty="0">
              <a:solidFill>
                <a:srgbClr val="002060"/>
              </a:solidFill>
              <a:latin typeface="Arial" pitchFamily="34" charset="0"/>
              <a:cs typeface="Arial" pitchFamily="34" charset="0"/>
            </a:endParaRPr>
          </a:p>
        </p:txBody>
      </p:sp>
      <p:sp>
        <p:nvSpPr>
          <p:cNvPr id="4" name="TextBox 3"/>
          <p:cNvSpPr txBox="1"/>
          <p:nvPr/>
        </p:nvSpPr>
        <p:spPr>
          <a:xfrm>
            <a:off x="2235958" y="5717976"/>
            <a:ext cx="4953000" cy="307777"/>
          </a:xfrm>
          <a:prstGeom prst="rect">
            <a:avLst/>
          </a:prstGeom>
          <a:noFill/>
        </p:spPr>
        <p:txBody>
          <a:bodyPr wrap="square" rtlCol="0">
            <a:spAutoFit/>
          </a:bodyPr>
          <a:lstStyle/>
          <a:p>
            <a:r>
              <a:rPr lang="en-US" sz="1400" i="1" dirty="0">
                <a:solidFill>
                  <a:srgbClr val="002060"/>
                </a:solidFill>
                <a:latin typeface="Arial" pitchFamily="34" charset="0"/>
                <a:cs typeface="Arial" pitchFamily="34" charset="0"/>
              </a:rPr>
              <a:t>B.A. Econ &amp; Stat (</a:t>
            </a:r>
            <a:r>
              <a:rPr lang="en-US" sz="1400" i="1" dirty="0" err="1">
                <a:solidFill>
                  <a:srgbClr val="002060"/>
                </a:solidFill>
                <a:latin typeface="Arial" pitchFamily="34" charset="0"/>
                <a:cs typeface="Arial" pitchFamily="34" charset="0"/>
              </a:rPr>
              <a:t>Hons</a:t>
            </a:r>
            <a:r>
              <a:rPr lang="en-US" sz="1400" i="1" dirty="0">
                <a:solidFill>
                  <a:srgbClr val="002060"/>
                </a:solidFill>
                <a:latin typeface="Arial" pitchFamily="34" charset="0"/>
                <a:cs typeface="Arial" pitchFamily="34" charset="0"/>
              </a:rPr>
              <a:t>) </a:t>
            </a:r>
            <a:r>
              <a:rPr lang="en-US" sz="1400" i="1" dirty="0" err="1">
                <a:solidFill>
                  <a:srgbClr val="002060"/>
                </a:solidFill>
                <a:latin typeface="Arial" pitchFamily="34" charset="0"/>
                <a:cs typeface="Arial" pitchFamily="34" charset="0"/>
              </a:rPr>
              <a:t>Pera</a:t>
            </a:r>
            <a:r>
              <a:rPr lang="en-US" sz="1400" i="1" dirty="0">
                <a:solidFill>
                  <a:srgbClr val="002060"/>
                </a:solidFill>
                <a:latin typeface="Arial" pitchFamily="34" charset="0"/>
                <a:cs typeface="Arial" pitchFamily="34" charset="0"/>
              </a:rPr>
              <a:t>, M.A. &amp; Ph.D. (Saga, Japan) </a:t>
            </a:r>
          </a:p>
        </p:txBody>
      </p:sp>
      <p:sp>
        <p:nvSpPr>
          <p:cNvPr id="6" name="Rectangle 5"/>
          <p:cNvSpPr/>
          <p:nvPr/>
        </p:nvSpPr>
        <p:spPr>
          <a:xfrm>
            <a:off x="282460" y="856922"/>
            <a:ext cx="8631393" cy="1631216"/>
          </a:xfrm>
          <a:prstGeom prst="rect">
            <a:avLst/>
          </a:prstGeom>
          <a:noFill/>
        </p:spPr>
        <p:txBody>
          <a:bodyPr wrap="square" lIns="91440" tIns="45720" rIns="91440" bIns="45720">
            <a:spAutoFit/>
          </a:bodyPr>
          <a:lstStyle/>
          <a:p>
            <a:pPr algn="ctr" fontAlgn="auto">
              <a:spcBef>
                <a:spcPts val="0"/>
              </a:spcBef>
              <a:spcAft>
                <a:spcPts val="0"/>
              </a:spcAft>
            </a:pPr>
            <a:r>
              <a:rPr lang="en-US" sz="4000" b="1" cap="all" dirty="0" err="1">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Calibri"/>
              </a:rPr>
              <a:t>MaCROECONOMICS</a:t>
            </a:r>
            <a:endParaRPr lang="en-US" sz="40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Calibri"/>
            </a:endParaRPr>
          </a:p>
          <a:p>
            <a:pPr algn="ctr" fontAlgn="auto">
              <a:spcBef>
                <a:spcPts val="0"/>
              </a:spcBef>
              <a:spcAft>
                <a:spcPts val="0"/>
              </a:spcAft>
            </a:pPr>
            <a:endParaRPr lang="en-US"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Calibri"/>
            </a:endParaRPr>
          </a:p>
          <a:p>
            <a:pPr algn="ctr" fontAlgn="auto">
              <a:spcBef>
                <a:spcPts val="0"/>
              </a:spcBef>
              <a:spcAft>
                <a:spcPts val="0"/>
              </a:spcAft>
            </a:pPr>
            <a:r>
              <a:rPr lang="en-US" sz="2400"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latin typeface="Calibri"/>
              </a:rPr>
              <a:t>LECTURE 08</a:t>
            </a:r>
          </a:p>
          <a:p>
            <a:pPr algn="ctr" fontAlgn="auto">
              <a:spcBef>
                <a:spcPts val="0"/>
              </a:spcBef>
              <a:spcAft>
                <a:spcPts val="0"/>
              </a:spcAft>
            </a:pPr>
            <a:endParaRPr lang="en-US" b="1" cap="all" dirty="0">
              <a:ln w="9000" cmpd="sng">
                <a:solidFill>
                  <a:srgbClr val="8064A2">
                    <a:shade val="50000"/>
                    <a:satMod val="120000"/>
                  </a:srgbClr>
                </a:solidFill>
                <a:prstDash val="solid"/>
              </a:ln>
              <a:solidFill>
                <a:srgbClr val="002060"/>
              </a:solidFill>
              <a:effectLst>
                <a:reflection blurRad="12700" stA="28000" endPos="45000" dist="1000" dir="5400000" sy="-100000" algn="bl" rotWithShape="0"/>
              </a:effectLst>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0A1BDBB-3588-4E20-99CE-E65281F62D40}" type="slidenum">
              <a:rPr lang="en-US" smtClean="0"/>
              <a:pPr>
                <a:defRPr/>
              </a:pPr>
              <a:t>2</a:t>
            </a:fld>
            <a:endParaRPr lang="en-US"/>
          </a:p>
        </p:txBody>
      </p:sp>
      <p:sp>
        <p:nvSpPr>
          <p:cNvPr id="22529" name="Rectangle 1"/>
          <p:cNvSpPr>
            <a:spLocks noChangeArrowheads="1"/>
          </p:cNvSpPr>
          <p:nvPr/>
        </p:nvSpPr>
        <p:spPr bwMode="auto">
          <a:xfrm>
            <a:off x="228600" y="2548840"/>
            <a:ext cx="7733207" cy="168584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457200" marR="0" lvl="1" indent="0" algn="l" defTabSz="914400" rtl="0" eaLnBrk="1" fontAlgn="base" latinLnBrk="0" hangingPunct="1">
              <a:lnSpc>
                <a:spcPct val="150000"/>
              </a:lnSpc>
              <a:spcBef>
                <a:spcPct val="0"/>
              </a:spcBef>
              <a:spcAft>
                <a:spcPct val="0"/>
              </a:spcAft>
              <a:buClrTx/>
              <a:buSzTx/>
              <a:tabLst/>
            </a:pPr>
            <a:r>
              <a:rPr lang="en-GB" sz="2400" dirty="0">
                <a:ea typeface="Times New Roman" pitchFamily="18" charset="0"/>
              </a:rPr>
              <a:t>8</a:t>
            </a:r>
            <a:r>
              <a:rPr kumimoji="0" lang="en-GB"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.1  Macroeconomic</a:t>
            </a:r>
            <a:r>
              <a:rPr kumimoji="0" lang="en-GB" sz="2400" b="0" i="0" u="none" strike="noStrike" cap="none" normalizeH="0" dirty="0">
                <a:ln>
                  <a:noFill/>
                </a:ln>
                <a:solidFill>
                  <a:schemeClr val="tx1"/>
                </a:solidFill>
                <a:effectLst/>
                <a:latin typeface="Arial" pitchFamily="34" charset="0"/>
                <a:ea typeface="Times New Roman" pitchFamily="18" charset="0"/>
                <a:cs typeface="Arial" pitchFamily="34" charset="0"/>
              </a:rPr>
              <a:t> Policies. Meaning &amp; Objectives</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50000"/>
              </a:lnSpc>
              <a:spcBef>
                <a:spcPct val="0"/>
              </a:spcBef>
              <a:spcAft>
                <a:spcPct val="0"/>
              </a:spcAft>
              <a:buClrTx/>
              <a:buSzTx/>
              <a:tabLst/>
            </a:pPr>
            <a:r>
              <a:rPr lang="en-GB" sz="2400" dirty="0">
                <a:ea typeface="Times New Roman" pitchFamily="18" charset="0"/>
              </a:rPr>
              <a:t>8</a:t>
            </a:r>
            <a:r>
              <a:rPr kumimoji="0" lang="en-GB"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.2  Fiscal</a:t>
            </a:r>
            <a:r>
              <a:rPr kumimoji="0" lang="en-GB" sz="2400" b="0" i="0" u="none" strike="noStrike" cap="none" normalizeH="0" dirty="0">
                <a:ln>
                  <a:noFill/>
                </a:ln>
                <a:solidFill>
                  <a:schemeClr val="tx1"/>
                </a:solidFill>
                <a:effectLst/>
                <a:latin typeface="Arial" pitchFamily="34" charset="0"/>
                <a:ea typeface="Times New Roman" pitchFamily="18" charset="0"/>
                <a:cs typeface="Arial" pitchFamily="34" charset="0"/>
              </a:rPr>
              <a:t> Policy</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50000"/>
              </a:lnSpc>
              <a:spcBef>
                <a:spcPct val="0"/>
              </a:spcBef>
              <a:spcAft>
                <a:spcPct val="0"/>
              </a:spcAft>
              <a:buClrTx/>
              <a:buSzTx/>
              <a:tabLst/>
            </a:pPr>
            <a:r>
              <a:rPr lang="en-GB" sz="2400" dirty="0">
                <a:ea typeface="Times New Roman" pitchFamily="18" charset="0"/>
              </a:rPr>
              <a:t>8</a:t>
            </a:r>
            <a:r>
              <a:rPr kumimoji="0" lang="en-GB"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.3  Monetary</a:t>
            </a:r>
            <a:r>
              <a:rPr kumimoji="0" lang="en-GB" sz="2400" b="0" i="0" u="none" strike="noStrike" cap="none" normalizeH="0" dirty="0">
                <a:ln>
                  <a:noFill/>
                </a:ln>
                <a:solidFill>
                  <a:schemeClr val="tx1"/>
                </a:solidFill>
                <a:effectLst/>
                <a:latin typeface="Arial" pitchFamily="34" charset="0"/>
                <a:ea typeface="Times New Roman" pitchFamily="18" charset="0"/>
                <a:cs typeface="Arial" pitchFamily="34" charset="0"/>
              </a:rPr>
              <a:t> Policy</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762000" y="1676400"/>
            <a:ext cx="3581400" cy="461665"/>
          </a:xfrm>
          <a:prstGeom prst="rect">
            <a:avLst/>
          </a:prstGeom>
          <a:noFill/>
        </p:spPr>
        <p:txBody>
          <a:bodyPr wrap="square" rtlCol="0">
            <a:spAutoFit/>
          </a:bodyPr>
          <a:lstStyle/>
          <a:p>
            <a:r>
              <a:rPr lang="en-US" sz="2400" b="1" i="1" dirty="0">
                <a:solidFill>
                  <a:srgbClr val="002060"/>
                </a:solidFill>
              </a:rPr>
              <a:t>Content of the Lecture</a:t>
            </a:r>
          </a:p>
        </p:txBody>
      </p:sp>
      <p:sp>
        <p:nvSpPr>
          <p:cNvPr id="2" name="Footer Placeholder 1"/>
          <p:cNvSpPr>
            <a:spLocks noGrp="1"/>
          </p:cNvSpPr>
          <p:nvPr>
            <p:ph type="ftr" sz="quarter" idx="11"/>
          </p:nvPr>
        </p:nvSpPr>
        <p:spPr/>
        <p:txBody>
          <a:bodyPr/>
          <a:lstStyle/>
          <a:p>
            <a:pPr>
              <a:defRPr/>
            </a:pPr>
            <a:r>
              <a:rPr lang="en-US"/>
              <a:t>Macro/BSc in Mgt/2022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2529"/>
                                        </p:tgtEl>
                                        <p:attrNameLst>
                                          <p:attrName>style.visibility</p:attrName>
                                        </p:attrNameLst>
                                      </p:cBhvr>
                                      <p:to>
                                        <p:strVal val="visible"/>
                                      </p:to>
                                    </p:set>
                                    <p:anim to="" calcmode="lin" valueType="num">
                                      <p:cBhvr>
                                        <p:cTn id="12" dur="1" fill="hold"/>
                                        <p:tgtEl>
                                          <p:spTgt spid="2252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9"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443"/>
            <a:ext cx="8229600" cy="792162"/>
          </a:xfrm>
        </p:spPr>
        <p:txBody>
          <a:bodyPr>
            <a:normAutofit fontScale="90000"/>
          </a:bodyPr>
          <a:lstStyle/>
          <a:p>
            <a:r>
              <a:rPr lang="en-US" sz="3200" b="1" dirty="0" smtClean="0">
                <a:latin typeface="Times New Roman" panose="02020603050405020304" pitchFamily="18" charset="0"/>
                <a:cs typeface="Times New Roman" panose="02020603050405020304" pitchFamily="18" charset="0"/>
              </a:rPr>
              <a:t>Targets, Instruments and goals of </a:t>
            </a:r>
            <a:br>
              <a:rPr lang="en-US" sz="3200" b="1" dirty="0" smtClean="0">
                <a:latin typeface="Times New Roman" panose="02020603050405020304" pitchFamily="18" charset="0"/>
                <a:cs typeface="Times New Roman" panose="02020603050405020304" pitchFamily="18" charset="0"/>
              </a:rPr>
            </a:br>
            <a:r>
              <a:rPr lang="en-US" sz="3200" b="1" dirty="0" smtClean="0">
                <a:latin typeface="Times New Roman" panose="02020603050405020304" pitchFamily="18" charset="0"/>
                <a:cs typeface="Times New Roman" panose="02020603050405020304" pitchFamily="18" charset="0"/>
              </a:rPr>
              <a:t>Macroeconomics policy</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261F55E7-D931-45D6-9168-5E895D7266BA}" type="slidenum">
              <a:rPr lang="en-US" smtClean="0"/>
              <a:pPr/>
              <a:t>3</a:t>
            </a:fld>
            <a:endParaRPr lang="en-US"/>
          </a:p>
        </p:txBody>
      </p:sp>
      <p:sp>
        <p:nvSpPr>
          <p:cNvPr id="5" name="Rounded Rectangle 4"/>
          <p:cNvSpPr/>
          <p:nvPr/>
        </p:nvSpPr>
        <p:spPr>
          <a:xfrm>
            <a:off x="76200" y="1028700"/>
            <a:ext cx="22860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tx1"/>
                </a:solidFill>
              </a:rPr>
              <a:t>Policy target</a:t>
            </a:r>
          </a:p>
        </p:txBody>
      </p:sp>
      <p:sp>
        <p:nvSpPr>
          <p:cNvPr id="6" name="Rounded Rectangle 5"/>
          <p:cNvSpPr/>
          <p:nvPr/>
        </p:nvSpPr>
        <p:spPr>
          <a:xfrm>
            <a:off x="3429000" y="1028700"/>
            <a:ext cx="22860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tx1"/>
                </a:solidFill>
              </a:rPr>
              <a:t>Policy Instrument</a:t>
            </a:r>
          </a:p>
        </p:txBody>
      </p:sp>
      <p:sp>
        <p:nvSpPr>
          <p:cNvPr id="7" name="Rounded Rectangle 6"/>
          <p:cNvSpPr/>
          <p:nvPr/>
        </p:nvSpPr>
        <p:spPr>
          <a:xfrm>
            <a:off x="6781800" y="1052236"/>
            <a:ext cx="22860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tx1"/>
                </a:solidFill>
              </a:rPr>
              <a:t>Policy Goals</a:t>
            </a:r>
          </a:p>
        </p:txBody>
      </p:sp>
      <p:sp>
        <p:nvSpPr>
          <p:cNvPr id="8" name="Right Arrow 7"/>
          <p:cNvSpPr/>
          <p:nvPr/>
        </p:nvSpPr>
        <p:spPr>
          <a:xfrm>
            <a:off x="2514600" y="1143000"/>
            <a:ext cx="7620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5902187" y="1214230"/>
            <a:ext cx="7620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p:cNvGraphicFramePr>
            <a:graphicFrameLocks noGrp="1"/>
          </p:cNvGraphicFramePr>
          <p:nvPr>
            <p:extLst/>
          </p:nvPr>
        </p:nvGraphicFramePr>
        <p:xfrm>
          <a:off x="152399" y="2819400"/>
          <a:ext cx="8839200" cy="3733800"/>
        </p:xfrm>
        <a:graphic>
          <a:graphicData uri="http://schemas.openxmlformats.org/drawingml/2006/table">
            <a:tbl>
              <a:tblPr firstRow="1" bandRow="1">
                <a:tableStyleId>{5940675A-B579-460E-94D1-54222C63F5DA}</a:tableStyleId>
              </a:tblPr>
              <a:tblGrid>
                <a:gridCol w="29464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946400">
                  <a:extLst>
                    <a:ext uri="{9D8B030D-6E8A-4147-A177-3AD203B41FA5}">
                      <a16:colId xmlns:a16="http://schemas.microsoft.com/office/drawing/2014/main" val="20002"/>
                    </a:ext>
                  </a:extLst>
                </a:gridCol>
              </a:tblGrid>
              <a:tr h="3733800">
                <a:tc>
                  <a:txBody>
                    <a:bodyPr/>
                    <a:lstStyle/>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The Exchange rate</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The Monetary Supply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Aggregated Demand</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Real GDP Growth</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Budget Deficit</a:t>
                      </a:r>
                    </a:p>
                    <a:p>
                      <a:pPr marL="285750" indent="-285750">
                        <a:buFont typeface="Arial" panose="020B0604020202020204" pitchFamily="34" charset="0"/>
                        <a:buChar char="•"/>
                      </a:pPr>
                      <a:endParaRPr lang="en-US" dirty="0"/>
                    </a:p>
                  </a:txBody>
                  <a:tcPr/>
                </a:tc>
                <a:tc>
                  <a:txBody>
                    <a:bodyPr/>
                    <a:lstStyle/>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Monitory Policy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Fiscal Policy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Supply Side policy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Exchange Control</a:t>
                      </a:r>
                      <a:endParaRPr lang="en-US" sz="2400" kern="1200" dirty="0">
                        <a:solidFill>
                          <a:schemeClr val="tx1"/>
                        </a:solidFill>
                        <a:latin typeface="+mn-lt"/>
                        <a:ea typeface="+mn-ea"/>
                        <a:cs typeface="+mn-cs"/>
                      </a:endParaRPr>
                    </a:p>
                  </a:txBody>
                  <a:tcPr/>
                </a:tc>
                <a:tc>
                  <a:txBody>
                    <a:bodyPr/>
                    <a:lstStyle/>
                    <a:p>
                      <a:pPr marL="285750" indent="-285750">
                        <a:buFont typeface="Arial" panose="020B0604020202020204" pitchFamily="34" charset="0"/>
                        <a:buChar char="•"/>
                      </a:pPr>
                      <a:r>
                        <a:rPr lang="en-US" sz="2400" dirty="0" smtClean="0"/>
                        <a:t>Stable Prices</a:t>
                      </a:r>
                    </a:p>
                    <a:p>
                      <a:pPr marL="285750" indent="-285750">
                        <a:buFont typeface="Arial" panose="020B0604020202020204" pitchFamily="34" charset="0"/>
                        <a:buChar char="•"/>
                      </a:pPr>
                      <a:r>
                        <a:rPr lang="en-US" sz="2400" dirty="0" smtClean="0"/>
                        <a:t>Full Employment</a:t>
                      </a:r>
                    </a:p>
                    <a:p>
                      <a:pPr marL="285750" indent="-285750">
                        <a:buFont typeface="Arial" panose="020B0604020202020204" pitchFamily="34" charset="0"/>
                        <a:buChar char="•"/>
                      </a:pPr>
                      <a:r>
                        <a:rPr lang="en-US" sz="2400" dirty="0" smtClean="0"/>
                        <a:t>Sustained Growth</a:t>
                      </a:r>
                    </a:p>
                    <a:p>
                      <a:pPr marL="285750" indent="-285750">
                        <a:buFont typeface="Arial" panose="020B0604020202020204" pitchFamily="34" charset="0"/>
                        <a:buChar char="•"/>
                      </a:pPr>
                      <a:r>
                        <a:rPr lang="en-US" sz="2400" dirty="0" smtClean="0"/>
                        <a:t>Rising Living Standards</a:t>
                      </a:r>
                    </a:p>
                    <a:p>
                      <a:pPr marL="285750" indent="-285750">
                        <a:buFont typeface="Arial" panose="020B0604020202020204" pitchFamily="34" charset="0"/>
                        <a:buChar char="•"/>
                      </a:pPr>
                      <a:r>
                        <a:rPr lang="en-US" sz="2400" dirty="0" smtClean="0"/>
                        <a:t>Poverty Alleviation</a:t>
                      </a:r>
                    </a:p>
                    <a:p>
                      <a:pPr marL="285750" indent="-285750">
                        <a:buFont typeface="Arial" panose="020B0604020202020204" pitchFamily="34" charset="0"/>
                        <a:buChar char="•"/>
                      </a:pPr>
                      <a:r>
                        <a:rPr lang="en-US" sz="2400" dirty="0" smtClean="0"/>
                        <a:t>Product Efficiency</a:t>
                      </a:r>
                      <a:endParaRPr lang="en-US" sz="2400" dirty="0"/>
                    </a:p>
                  </a:txBody>
                  <a:tcPr/>
                </a:tc>
                <a:extLst>
                  <a:ext uri="{0D108BD9-81ED-4DB2-BD59-A6C34878D82A}">
                    <a16:rowId xmlns:a16="http://schemas.microsoft.com/office/drawing/2014/main" val="10000"/>
                  </a:ext>
                </a:extLst>
              </a:tr>
            </a:tbl>
          </a:graphicData>
        </a:graphic>
      </p:graphicFrame>
      <p:sp>
        <p:nvSpPr>
          <p:cNvPr id="11" name="Down Arrow 10"/>
          <p:cNvSpPr/>
          <p:nvPr/>
        </p:nvSpPr>
        <p:spPr>
          <a:xfrm>
            <a:off x="838200" y="1974229"/>
            <a:ext cx="609600" cy="61657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2" name="Down Arrow 11"/>
          <p:cNvSpPr/>
          <p:nvPr/>
        </p:nvSpPr>
        <p:spPr>
          <a:xfrm>
            <a:off x="4267199" y="1987481"/>
            <a:ext cx="609600" cy="61657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3" name="Down Arrow 12"/>
          <p:cNvSpPr/>
          <p:nvPr/>
        </p:nvSpPr>
        <p:spPr>
          <a:xfrm>
            <a:off x="7620000" y="2034554"/>
            <a:ext cx="609600" cy="61657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4632389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838200" y="1066800"/>
            <a:ext cx="7848600" cy="1143000"/>
          </a:xfrm>
        </p:spPr>
        <p:txBody>
          <a:bodyPr/>
          <a:lstStyle/>
          <a:p>
            <a:pPr eaLnBrk="1" hangingPunct="1"/>
            <a:r>
              <a:rPr lang="en-US" sz="3200" i="1" u="sng" dirty="0">
                <a:latin typeface="Arial" pitchFamily="34" charset="0"/>
                <a:cs typeface="Arial" pitchFamily="34" charset="0"/>
              </a:rPr>
              <a:t>8.1.1 What is Macroeconomic Policy?</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4</a:t>
            </a:fld>
            <a:endParaRPr lang="en-US"/>
          </a:p>
        </p:txBody>
      </p:sp>
      <p:sp>
        <p:nvSpPr>
          <p:cNvPr id="5" name="Rectangle 4"/>
          <p:cNvSpPr/>
          <p:nvPr/>
        </p:nvSpPr>
        <p:spPr>
          <a:xfrm>
            <a:off x="838200" y="2743200"/>
            <a:ext cx="8077200" cy="1938992"/>
          </a:xfrm>
          <a:prstGeom prst="rect">
            <a:avLst/>
          </a:prstGeom>
        </p:spPr>
        <p:txBody>
          <a:bodyPr wrap="square">
            <a:spAutoFit/>
          </a:bodyPr>
          <a:lstStyle/>
          <a:p>
            <a:pPr algn="just" eaLnBrk="1" hangingPunct="1">
              <a:buClr>
                <a:srgbClr val="C00000"/>
              </a:buClr>
              <a:buFont typeface="Wingdings" pitchFamily="2" charset="2"/>
              <a:buChar char="q"/>
            </a:pPr>
            <a:r>
              <a:rPr lang="en-US" sz="2400" i="1" dirty="0"/>
              <a:t>   </a:t>
            </a:r>
            <a:r>
              <a:rPr lang="en-US" sz="2400" dirty="0"/>
              <a:t>Macroeconomic policy can be defined as </a:t>
            </a:r>
            <a:r>
              <a:rPr lang="en-US" sz="2400" dirty="0">
                <a:solidFill>
                  <a:srgbClr val="7030A0"/>
                </a:solidFill>
              </a:rPr>
              <a:t>“</a:t>
            </a:r>
            <a:r>
              <a:rPr lang="en-US" sz="2400" i="1" dirty="0">
                <a:solidFill>
                  <a:srgbClr val="7030A0"/>
                </a:solidFill>
              </a:rPr>
              <a:t>a program of economic action undertaken by the government to control, regulate and manipulate macroeconomic variables to achieve macroeconomic goals such as economic growth, price stability and employment.” </a:t>
            </a:r>
          </a:p>
        </p:txBody>
      </p:sp>
      <p:sp>
        <p:nvSpPr>
          <p:cNvPr id="7" name="Rectangle 6"/>
          <p:cNvSpPr/>
          <p:nvPr/>
        </p:nvSpPr>
        <p:spPr>
          <a:xfrm>
            <a:off x="0" y="838200"/>
            <a:ext cx="8915400" cy="523220"/>
          </a:xfrm>
          <a:prstGeom prst="rect">
            <a:avLst/>
          </a:prstGeom>
        </p:spPr>
        <p:txBody>
          <a:bodyPr wrap="square">
            <a:spAutoFit/>
          </a:bodyPr>
          <a:lstStyle/>
          <a:p>
            <a:r>
              <a:rPr lang="en-GB" sz="2800" b="1" dirty="0">
                <a:ea typeface="Times New Roman" pitchFamily="18" charset="0"/>
              </a:rPr>
              <a:t>8.1 Macroeconomic Policies. Meaning &amp; Objectives</a:t>
            </a:r>
            <a:endParaRPr lang="en-US" sz="2800" b="1" dirty="0"/>
          </a:p>
        </p:txBody>
      </p:sp>
      <p:sp>
        <p:nvSpPr>
          <p:cNvPr id="2" name="Footer Placeholder 1"/>
          <p:cNvSpPr>
            <a:spLocks noGrp="1"/>
          </p:cNvSpPr>
          <p:nvPr>
            <p:ph type="ftr" sz="quarter" idx="11"/>
          </p:nvPr>
        </p:nvSpPr>
        <p:spPr/>
        <p:txBody>
          <a:bodyPr/>
          <a:lstStyle/>
          <a:p>
            <a:pPr>
              <a:defRPr/>
            </a:pPr>
            <a:r>
              <a:rPr lang="en-US"/>
              <a:t>Macro/BSc in Mgt/2022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170"/>
                                        </p:tgtEl>
                                        <p:attrNameLst>
                                          <p:attrName>style.visibility</p:attrName>
                                        </p:attrNameLst>
                                      </p:cBhvr>
                                      <p:to>
                                        <p:strVal val="visible"/>
                                      </p:to>
                                    </p:set>
                                    <p:anim to="" calcmode="lin" valueType="num">
                                      <p:cBhvr>
                                        <p:cTn id="12" dur="1" fill="hold"/>
                                        <p:tgtEl>
                                          <p:spTgt spid="717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to="" calcmode="lin" valueType="num">
                                      <p:cBhvr>
                                        <p:cTn id="1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27737"/>
            <a:ext cx="8458200" cy="1143000"/>
          </a:xfrm>
        </p:spPr>
        <p:txBody>
          <a:bodyPr/>
          <a:lstStyle/>
          <a:p>
            <a:pPr eaLnBrk="1" hangingPunct="1"/>
            <a:r>
              <a:rPr lang="en-US" sz="3200" i="1" u="sng" dirty="0">
                <a:latin typeface="Arial" pitchFamily="34" charset="0"/>
                <a:cs typeface="Arial" pitchFamily="34" charset="0"/>
              </a:rPr>
              <a:t>8.1.2 Objectives of Macroeconomic Policies</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5</a:t>
            </a:fld>
            <a:endParaRPr lang="en-US"/>
          </a:p>
        </p:txBody>
      </p:sp>
      <p:sp>
        <p:nvSpPr>
          <p:cNvPr id="5" name="Rectangle 4"/>
          <p:cNvSpPr/>
          <p:nvPr/>
        </p:nvSpPr>
        <p:spPr>
          <a:xfrm>
            <a:off x="228600" y="1547575"/>
            <a:ext cx="8077200" cy="523220"/>
          </a:xfrm>
          <a:prstGeom prst="rect">
            <a:avLst/>
          </a:prstGeom>
        </p:spPr>
        <p:txBody>
          <a:bodyPr wrap="square">
            <a:spAutoFit/>
          </a:bodyPr>
          <a:lstStyle/>
          <a:p>
            <a:pPr algn="just" eaLnBrk="1" hangingPunct="1">
              <a:buClr>
                <a:srgbClr val="C00000"/>
              </a:buClr>
              <a:buFont typeface="Wingdings" pitchFamily="2" charset="2"/>
              <a:buChar char="Ø"/>
            </a:pPr>
            <a:r>
              <a:rPr lang="en-US" sz="2800" b="1" i="1" dirty="0">
                <a:solidFill>
                  <a:srgbClr val="7030A0"/>
                </a:solidFill>
              </a:rPr>
              <a:t>  Economic Growth</a:t>
            </a:r>
          </a:p>
        </p:txBody>
      </p:sp>
      <p:sp>
        <p:nvSpPr>
          <p:cNvPr id="7" name="Rectangle 6"/>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
        <p:nvSpPr>
          <p:cNvPr id="6" name="Rectangle 5"/>
          <p:cNvSpPr/>
          <p:nvPr/>
        </p:nvSpPr>
        <p:spPr>
          <a:xfrm>
            <a:off x="609600" y="2286000"/>
            <a:ext cx="8077200" cy="1384995"/>
          </a:xfrm>
          <a:prstGeom prst="rect">
            <a:avLst/>
          </a:prstGeom>
        </p:spPr>
        <p:txBody>
          <a:bodyPr wrap="square">
            <a:spAutoFit/>
          </a:bodyPr>
          <a:lstStyle/>
          <a:p>
            <a:pPr algn="just" eaLnBrk="1" hangingPunct="1">
              <a:buClr>
                <a:srgbClr val="C00000"/>
              </a:buClr>
            </a:pPr>
            <a:r>
              <a:rPr lang="en-US" sz="2800" i="1" dirty="0"/>
              <a:t>-  Achieving and maintaining a high growth rate has been a top priority in the economic agenda in both rich and poor countries. </a:t>
            </a:r>
          </a:p>
        </p:txBody>
      </p:sp>
      <p:sp>
        <p:nvSpPr>
          <p:cNvPr id="8" name="Rectangle 7"/>
          <p:cNvSpPr/>
          <p:nvPr/>
        </p:nvSpPr>
        <p:spPr>
          <a:xfrm>
            <a:off x="647700" y="3844121"/>
            <a:ext cx="8077200" cy="1384995"/>
          </a:xfrm>
          <a:prstGeom prst="rect">
            <a:avLst/>
          </a:prstGeom>
        </p:spPr>
        <p:txBody>
          <a:bodyPr wrap="square">
            <a:spAutoFit/>
          </a:bodyPr>
          <a:lstStyle/>
          <a:p>
            <a:pPr algn="just" eaLnBrk="1" hangingPunct="1">
              <a:buClr>
                <a:srgbClr val="C00000"/>
              </a:buClr>
            </a:pPr>
            <a:r>
              <a:rPr lang="en-US" sz="2800" i="1" dirty="0"/>
              <a:t>-  A reasonable high growth rate (5 – 6 % per year) is viewed as an important economic and political objective of most nations.</a:t>
            </a:r>
          </a:p>
        </p:txBody>
      </p:sp>
      <p:sp>
        <p:nvSpPr>
          <p:cNvPr id="9" name="Rectangle 8"/>
          <p:cNvSpPr/>
          <p:nvPr/>
        </p:nvSpPr>
        <p:spPr>
          <a:xfrm>
            <a:off x="609600" y="5402243"/>
            <a:ext cx="8077200" cy="954107"/>
          </a:xfrm>
          <a:prstGeom prst="rect">
            <a:avLst/>
          </a:prstGeom>
        </p:spPr>
        <p:txBody>
          <a:bodyPr wrap="square">
            <a:spAutoFit/>
          </a:bodyPr>
          <a:lstStyle/>
          <a:p>
            <a:pPr algn="just" eaLnBrk="1" hangingPunct="1">
              <a:buClr>
                <a:srgbClr val="C00000"/>
              </a:buClr>
            </a:pPr>
            <a:r>
              <a:rPr lang="en-US" sz="2800" i="1" dirty="0"/>
              <a:t>-  After the internal war in 2009, Sri Lanka expects 8% annual growth rate. </a:t>
            </a:r>
          </a:p>
        </p:txBody>
      </p:sp>
      <p:sp>
        <p:nvSpPr>
          <p:cNvPr id="2" name="Footer Placeholder 1"/>
          <p:cNvSpPr>
            <a:spLocks noGrp="1"/>
          </p:cNvSpPr>
          <p:nvPr>
            <p:ph type="ftr" sz="quarter" idx="11"/>
          </p:nvPr>
        </p:nvSpPr>
        <p:spPr/>
        <p:txBody>
          <a:bodyPr/>
          <a:lstStyle/>
          <a:p>
            <a:pPr>
              <a:defRPr/>
            </a:pPr>
            <a:r>
              <a:rPr lang="en-US"/>
              <a:t>Macro/BSc in Mgt/2022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170"/>
                                        </p:tgtEl>
                                        <p:attrNameLst>
                                          <p:attrName>style.visibility</p:attrName>
                                        </p:attrNameLst>
                                      </p:cBhvr>
                                      <p:to>
                                        <p:strVal val="visible"/>
                                      </p:to>
                                    </p:set>
                                    <p:anim to="" calcmode="lin" valueType="num">
                                      <p:cBhvr>
                                        <p:cTn id="12" dur="1" fill="hold"/>
                                        <p:tgtEl>
                                          <p:spTgt spid="717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to="" calcmode="lin" valueType="num">
                                      <p:cBhvr>
                                        <p:cTn id="17" dur="1" fill="hold"/>
                                        <p:tgtEl>
                                          <p:spTgt spid="5"/>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to="" calcmode="lin" valueType="num">
                                      <p:cBhvr>
                                        <p:cTn id="27" dur="1" fill="hold"/>
                                        <p:tgtEl>
                                          <p:spTgt spid="8"/>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 to="" calcmode="lin" valueType="num">
                                      <p:cBhvr>
                                        <p:cTn id="32" dur="1" fill="hold"/>
                                        <p:tgtEl>
                                          <p:spTgt spid="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5" grpId="0"/>
      <p:bldP spid="7" grpId="0"/>
      <p:bldP spid="6"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1295400"/>
            <a:ext cx="3733800" cy="1143000"/>
          </a:xfrm>
        </p:spPr>
        <p:txBody>
          <a:bodyPr/>
          <a:lstStyle/>
          <a:p>
            <a:pPr eaLnBrk="1" hangingPunct="1"/>
            <a:r>
              <a:rPr lang="en-US" sz="2400" i="1" u="sng" dirty="0">
                <a:solidFill>
                  <a:srgbClr val="7030A0"/>
                </a:solidFill>
                <a:latin typeface="Arial" pitchFamily="34" charset="0"/>
                <a:cs typeface="Arial" pitchFamily="34" charset="0"/>
              </a:rPr>
              <a:t>GDP Growth Rate in Sri Lanka (2000-2022)</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6</a:t>
            </a:fld>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3569168259"/>
              </p:ext>
            </p:extLst>
          </p:nvPr>
        </p:nvGraphicFramePr>
        <p:xfrm>
          <a:off x="4434954" y="666493"/>
          <a:ext cx="3581400" cy="6004560"/>
        </p:xfrm>
        <a:graphic>
          <a:graphicData uri="http://schemas.openxmlformats.org/drawingml/2006/table">
            <a:tbl>
              <a:tblPr firstRow="1" bandRow="1">
                <a:tableStyleId>{616DA210-FB5B-4158-B5E0-FEB733F419BA}</a:tableStyleId>
              </a:tblPr>
              <a:tblGrid>
                <a:gridCol w="1261629">
                  <a:extLst>
                    <a:ext uri="{9D8B030D-6E8A-4147-A177-3AD203B41FA5}">
                      <a16:colId xmlns:a16="http://schemas.microsoft.com/office/drawing/2014/main" val="20000"/>
                    </a:ext>
                  </a:extLst>
                </a:gridCol>
                <a:gridCol w="2319771">
                  <a:extLst>
                    <a:ext uri="{9D8B030D-6E8A-4147-A177-3AD203B41FA5}">
                      <a16:colId xmlns:a16="http://schemas.microsoft.com/office/drawing/2014/main" val="20001"/>
                    </a:ext>
                  </a:extLst>
                </a:gridCol>
              </a:tblGrid>
              <a:tr h="381001">
                <a:tc>
                  <a:txBody>
                    <a:bodyPr/>
                    <a:lstStyle/>
                    <a:p>
                      <a:pPr algn="ctr"/>
                      <a:r>
                        <a:rPr lang="en-US" sz="1800" dirty="0"/>
                        <a:t>Year</a:t>
                      </a:r>
                    </a:p>
                  </a:txBody>
                  <a:tcPr/>
                </a:tc>
                <a:tc>
                  <a:txBody>
                    <a:bodyPr/>
                    <a:lstStyle/>
                    <a:p>
                      <a:pPr algn="ctr"/>
                      <a:r>
                        <a:rPr lang="en-US" sz="1800" dirty="0"/>
                        <a:t>GDP Growth Rate (%)</a:t>
                      </a:r>
                    </a:p>
                  </a:txBody>
                  <a:tcPr/>
                </a:tc>
                <a:extLst>
                  <a:ext uri="{0D108BD9-81ED-4DB2-BD59-A6C34878D82A}">
                    <a16:rowId xmlns:a16="http://schemas.microsoft.com/office/drawing/2014/main" val="10000"/>
                  </a:ext>
                </a:extLst>
              </a:tr>
              <a:tr h="375385">
                <a:tc>
                  <a:txBody>
                    <a:bodyPr/>
                    <a:lstStyle/>
                    <a:p>
                      <a:pPr algn="ctr"/>
                      <a:r>
                        <a:rPr lang="en-US" sz="2400" dirty="0"/>
                        <a:t>2000</a:t>
                      </a:r>
                    </a:p>
                  </a:txBody>
                  <a:tcPr/>
                </a:tc>
                <a:tc>
                  <a:txBody>
                    <a:bodyPr/>
                    <a:lstStyle/>
                    <a:p>
                      <a:pPr algn="ctr"/>
                      <a:r>
                        <a:rPr lang="en-US" sz="2400" dirty="0"/>
                        <a:t>6.0</a:t>
                      </a:r>
                    </a:p>
                  </a:txBody>
                  <a:tcPr/>
                </a:tc>
                <a:extLst>
                  <a:ext uri="{0D108BD9-81ED-4DB2-BD59-A6C34878D82A}">
                    <a16:rowId xmlns:a16="http://schemas.microsoft.com/office/drawing/2014/main" val="10001"/>
                  </a:ext>
                </a:extLst>
              </a:tr>
              <a:tr h="375385">
                <a:tc>
                  <a:txBody>
                    <a:bodyPr/>
                    <a:lstStyle/>
                    <a:p>
                      <a:pPr algn="ctr"/>
                      <a:r>
                        <a:rPr lang="en-US" sz="2400" dirty="0"/>
                        <a:t>2002</a:t>
                      </a:r>
                    </a:p>
                  </a:txBody>
                  <a:tcPr/>
                </a:tc>
                <a:tc>
                  <a:txBody>
                    <a:bodyPr/>
                    <a:lstStyle/>
                    <a:p>
                      <a:pPr algn="ctr"/>
                      <a:r>
                        <a:rPr lang="en-US" sz="2400" dirty="0"/>
                        <a:t>4.0</a:t>
                      </a:r>
                    </a:p>
                  </a:txBody>
                  <a:tcPr/>
                </a:tc>
                <a:extLst>
                  <a:ext uri="{0D108BD9-81ED-4DB2-BD59-A6C34878D82A}">
                    <a16:rowId xmlns:a16="http://schemas.microsoft.com/office/drawing/2014/main" val="10002"/>
                  </a:ext>
                </a:extLst>
              </a:tr>
              <a:tr h="375385">
                <a:tc>
                  <a:txBody>
                    <a:bodyPr/>
                    <a:lstStyle/>
                    <a:p>
                      <a:pPr algn="ctr"/>
                      <a:r>
                        <a:rPr lang="en-US" sz="2400" dirty="0"/>
                        <a:t>2004</a:t>
                      </a:r>
                    </a:p>
                  </a:txBody>
                  <a:tcPr/>
                </a:tc>
                <a:tc>
                  <a:txBody>
                    <a:bodyPr/>
                    <a:lstStyle/>
                    <a:p>
                      <a:pPr algn="ctr"/>
                      <a:r>
                        <a:rPr lang="en-US" sz="2400" dirty="0"/>
                        <a:t>5.4</a:t>
                      </a:r>
                    </a:p>
                  </a:txBody>
                  <a:tcPr/>
                </a:tc>
                <a:extLst>
                  <a:ext uri="{0D108BD9-81ED-4DB2-BD59-A6C34878D82A}">
                    <a16:rowId xmlns:a16="http://schemas.microsoft.com/office/drawing/2014/main" val="10003"/>
                  </a:ext>
                </a:extLst>
              </a:tr>
              <a:tr h="375385">
                <a:tc>
                  <a:txBody>
                    <a:bodyPr/>
                    <a:lstStyle/>
                    <a:p>
                      <a:pPr algn="ctr"/>
                      <a:r>
                        <a:rPr lang="en-US" sz="2400" dirty="0"/>
                        <a:t>2006</a:t>
                      </a:r>
                    </a:p>
                  </a:txBody>
                  <a:tcPr/>
                </a:tc>
                <a:tc>
                  <a:txBody>
                    <a:bodyPr/>
                    <a:lstStyle/>
                    <a:p>
                      <a:pPr algn="ctr"/>
                      <a:r>
                        <a:rPr lang="en-US" sz="2400" dirty="0"/>
                        <a:t>7.7</a:t>
                      </a:r>
                    </a:p>
                  </a:txBody>
                  <a:tcPr/>
                </a:tc>
                <a:extLst>
                  <a:ext uri="{0D108BD9-81ED-4DB2-BD59-A6C34878D82A}">
                    <a16:rowId xmlns:a16="http://schemas.microsoft.com/office/drawing/2014/main" val="10004"/>
                  </a:ext>
                </a:extLst>
              </a:tr>
              <a:tr h="375385">
                <a:tc>
                  <a:txBody>
                    <a:bodyPr/>
                    <a:lstStyle/>
                    <a:p>
                      <a:pPr algn="ctr"/>
                      <a:r>
                        <a:rPr lang="en-US" sz="2400" dirty="0"/>
                        <a:t>2008</a:t>
                      </a:r>
                    </a:p>
                  </a:txBody>
                  <a:tcPr/>
                </a:tc>
                <a:tc>
                  <a:txBody>
                    <a:bodyPr/>
                    <a:lstStyle/>
                    <a:p>
                      <a:pPr algn="ctr"/>
                      <a:r>
                        <a:rPr lang="en-US" sz="2400" dirty="0"/>
                        <a:t>6.0</a:t>
                      </a:r>
                    </a:p>
                  </a:txBody>
                  <a:tcPr/>
                </a:tc>
                <a:extLst>
                  <a:ext uri="{0D108BD9-81ED-4DB2-BD59-A6C34878D82A}">
                    <a16:rowId xmlns:a16="http://schemas.microsoft.com/office/drawing/2014/main" val="10005"/>
                  </a:ext>
                </a:extLst>
              </a:tr>
              <a:tr h="375385">
                <a:tc>
                  <a:txBody>
                    <a:bodyPr/>
                    <a:lstStyle/>
                    <a:p>
                      <a:pPr algn="ctr"/>
                      <a:r>
                        <a:rPr lang="en-US" sz="2400" dirty="0"/>
                        <a:t>2010</a:t>
                      </a:r>
                    </a:p>
                  </a:txBody>
                  <a:tcPr/>
                </a:tc>
                <a:tc>
                  <a:txBody>
                    <a:bodyPr/>
                    <a:lstStyle/>
                    <a:p>
                      <a:pPr algn="ctr"/>
                      <a:r>
                        <a:rPr lang="en-US" sz="2400" dirty="0"/>
                        <a:t>8.0</a:t>
                      </a:r>
                    </a:p>
                  </a:txBody>
                  <a:tcPr/>
                </a:tc>
                <a:extLst>
                  <a:ext uri="{0D108BD9-81ED-4DB2-BD59-A6C34878D82A}">
                    <a16:rowId xmlns:a16="http://schemas.microsoft.com/office/drawing/2014/main" val="10006"/>
                  </a:ext>
                </a:extLst>
              </a:tr>
              <a:tr h="375385">
                <a:tc>
                  <a:txBody>
                    <a:bodyPr/>
                    <a:lstStyle/>
                    <a:p>
                      <a:pPr algn="ctr"/>
                      <a:r>
                        <a:rPr lang="en-US" sz="2400" dirty="0"/>
                        <a:t>2012</a:t>
                      </a:r>
                    </a:p>
                  </a:txBody>
                  <a:tcPr/>
                </a:tc>
                <a:tc>
                  <a:txBody>
                    <a:bodyPr/>
                    <a:lstStyle/>
                    <a:p>
                      <a:pPr algn="ctr"/>
                      <a:r>
                        <a:rPr lang="en-US" sz="2400" dirty="0"/>
                        <a:t>9.1</a:t>
                      </a:r>
                    </a:p>
                  </a:txBody>
                  <a:tcPr/>
                </a:tc>
                <a:extLst>
                  <a:ext uri="{0D108BD9-81ED-4DB2-BD59-A6C34878D82A}">
                    <a16:rowId xmlns:a16="http://schemas.microsoft.com/office/drawing/2014/main" val="10007"/>
                  </a:ext>
                </a:extLst>
              </a:tr>
              <a:tr h="375385">
                <a:tc>
                  <a:txBody>
                    <a:bodyPr/>
                    <a:lstStyle/>
                    <a:p>
                      <a:pPr algn="ctr"/>
                      <a:r>
                        <a:rPr lang="en-US" sz="2400" dirty="0"/>
                        <a:t>2014</a:t>
                      </a:r>
                    </a:p>
                  </a:txBody>
                  <a:tcPr/>
                </a:tc>
                <a:tc>
                  <a:txBody>
                    <a:bodyPr/>
                    <a:lstStyle/>
                    <a:p>
                      <a:pPr algn="ctr"/>
                      <a:r>
                        <a:rPr lang="en-US" sz="2400" dirty="0"/>
                        <a:t>5.0</a:t>
                      </a:r>
                    </a:p>
                  </a:txBody>
                  <a:tcPr/>
                </a:tc>
                <a:extLst>
                  <a:ext uri="{0D108BD9-81ED-4DB2-BD59-A6C34878D82A}">
                    <a16:rowId xmlns:a16="http://schemas.microsoft.com/office/drawing/2014/main" val="10008"/>
                  </a:ext>
                </a:extLst>
              </a:tr>
              <a:tr h="375385">
                <a:tc>
                  <a:txBody>
                    <a:bodyPr/>
                    <a:lstStyle/>
                    <a:p>
                      <a:pPr algn="ctr"/>
                      <a:r>
                        <a:rPr lang="en-US" sz="2400" dirty="0"/>
                        <a:t>2016</a:t>
                      </a:r>
                    </a:p>
                  </a:txBody>
                  <a:tcPr/>
                </a:tc>
                <a:tc>
                  <a:txBody>
                    <a:bodyPr/>
                    <a:lstStyle/>
                    <a:p>
                      <a:pPr algn="ctr"/>
                      <a:r>
                        <a:rPr lang="en-US" sz="2400" dirty="0"/>
                        <a:t>4.5</a:t>
                      </a:r>
                    </a:p>
                  </a:txBody>
                  <a:tcPr/>
                </a:tc>
                <a:extLst>
                  <a:ext uri="{0D108BD9-81ED-4DB2-BD59-A6C34878D82A}">
                    <a16:rowId xmlns:a16="http://schemas.microsoft.com/office/drawing/2014/main" val="10009"/>
                  </a:ext>
                </a:extLst>
              </a:tr>
              <a:tr h="375385">
                <a:tc>
                  <a:txBody>
                    <a:bodyPr/>
                    <a:lstStyle/>
                    <a:p>
                      <a:pPr algn="ctr"/>
                      <a:r>
                        <a:rPr lang="en-US" sz="2400" dirty="0"/>
                        <a:t>2018</a:t>
                      </a:r>
                    </a:p>
                  </a:txBody>
                  <a:tcPr/>
                </a:tc>
                <a:tc>
                  <a:txBody>
                    <a:bodyPr/>
                    <a:lstStyle/>
                    <a:p>
                      <a:pPr algn="ctr"/>
                      <a:r>
                        <a:rPr lang="en-US" sz="2400" dirty="0"/>
                        <a:t>3.3</a:t>
                      </a:r>
                    </a:p>
                  </a:txBody>
                  <a:tcPr/>
                </a:tc>
                <a:extLst>
                  <a:ext uri="{0D108BD9-81ED-4DB2-BD59-A6C34878D82A}">
                    <a16:rowId xmlns:a16="http://schemas.microsoft.com/office/drawing/2014/main" val="10010"/>
                  </a:ext>
                </a:extLst>
              </a:tr>
              <a:tr h="346510">
                <a:tc>
                  <a:txBody>
                    <a:bodyPr/>
                    <a:lstStyle/>
                    <a:p>
                      <a:pPr algn="ctr"/>
                      <a:r>
                        <a:rPr lang="en-US" sz="2000" dirty="0"/>
                        <a:t>2020</a:t>
                      </a:r>
                    </a:p>
                  </a:txBody>
                  <a:tcPr/>
                </a:tc>
                <a:tc>
                  <a:txBody>
                    <a:bodyPr/>
                    <a:lstStyle/>
                    <a:p>
                      <a:pPr algn="ctr"/>
                      <a:r>
                        <a:rPr lang="en-US" sz="2000" dirty="0"/>
                        <a:t>-3.6</a:t>
                      </a:r>
                    </a:p>
                  </a:txBody>
                  <a:tcPr/>
                </a:tc>
                <a:extLst>
                  <a:ext uri="{0D108BD9-81ED-4DB2-BD59-A6C34878D82A}">
                    <a16:rowId xmlns:a16="http://schemas.microsoft.com/office/drawing/2014/main" val="10011"/>
                  </a:ext>
                </a:extLst>
              </a:tr>
              <a:tr h="346510">
                <a:tc>
                  <a:txBody>
                    <a:bodyPr/>
                    <a:lstStyle/>
                    <a:p>
                      <a:pPr algn="ctr"/>
                      <a:r>
                        <a:rPr lang="en-US" sz="2000" dirty="0"/>
                        <a:t>2021</a:t>
                      </a:r>
                    </a:p>
                  </a:txBody>
                  <a:tcPr/>
                </a:tc>
                <a:tc>
                  <a:txBody>
                    <a:bodyPr/>
                    <a:lstStyle/>
                    <a:p>
                      <a:pPr algn="ctr"/>
                      <a:r>
                        <a:rPr lang="en-US" sz="2000" dirty="0"/>
                        <a:t>3.7</a:t>
                      </a:r>
                    </a:p>
                  </a:txBody>
                  <a:tcPr/>
                </a:tc>
                <a:extLst>
                  <a:ext uri="{0D108BD9-81ED-4DB2-BD59-A6C34878D82A}">
                    <a16:rowId xmlns:a16="http://schemas.microsoft.com/office/drawing/2014/main" val="10012"/>
                  </a:ext>
                </a:extLst>
              </a:tr>
            </a:tbl>
          </a:graphicData>
        </a:graphic>
      </p:graphicFrame>
      <p:sp>
        <p:nvSpPr>
          <p:cNvPr id="2" name="Footer Placeholder 1"/>
          <p:cNvSpPr>
            <a:spLocks noGrp="1"/>
          </p:cNvSpPr>
          <p:nvPr>
            <p:ph type="ftr" sz="quarter" idx="11"/>
          </p:nvPr>
        </p:nvSpPr>
        <p:spPr/>
        <p:txBody>
          <a:bodyPr/>
          <a:lstStyle/>
          <a:p>
            <a:pPr>
              <a:defRPr/>
            </a:pPr>
            <a:r>
              <a:rPr lang="en-US"/>
              <a:t>Macro/BSc in Mgt/2022</a:t>
            </a:r>
          </a:p>
        </p:txBody>
      </p:sp>
      <p:sp>
        <p:nvSpPr>
          <p:cNvPr id="8" name="Rectangle 7"/>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170"/>
                                        </p:tgtEl>
                                        <p:attrNameLst>
                                          <p:attrName>style.visibility</p:attrName>
                                        </p:attrNameLst>
                                      </p:cBhvr>
                                      <p:to>
                                        <p:strVal val="visible"/>
                                      </p:to>
                                    </p:set>
                                    <p:anim to="" calcmode="lin" valueType="num">
                                      <p:cBhvr>
                                        <p:cTn id="12" dur="1" fill="hold"/>
                                        <p:tgtEl>
                                          <p:spTgt spid="717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to="" calcmode="lin" valueType="num">
                                      <p:cBhvr>
                                        <p:cTn id="17"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Macro/BSc in Mgt/2022</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7</a:t>
            </a:fld>
            <a:endParaRPr lang="en-US"/>
          </a:p>
        </p:txBody>
      </p:sp>
      <p:sp>
        <p:nvSpPr>
          <p:cNvPr id="5" name="Rectangle 4"/>
          <p:cNvSpPr/>
          <p:nvPr/>
        </p:nvSpPr>
        <p:spPr>
          <a:xfrm>
            <a:off x="209266" y="642246"/>
            <a:ext cx="8077200" cy="523220"/>
          </a:xfrm>
          <a:prstGeom prst="rect">
            <a:avLst/>
          </a:prstGeom>
        </p:spPr>
        <p:txBody>
          <a:bodyPr wrap="square">
            <a:spAutoFit/>
          </a:bodyPr>
          <a:lstStyle/>
          <a:p>
            <a:pPr algn="just" eaLnBrk="1" hangingPunct="1">
              <a:buClr>
                <a:srgbClr val="C00000"/>
              </a:buClr>
              <a:buFont typeface="Wingdings" pitchFamily="2" charset="2"/>
              <a:buChar char="Ø"/>
            </a:pPr>
            <a:r>
              <a:rPr lang="en-US" sz="2800" b="1" i="1" dirty="0">
                <a:solidFill>
                  <a:srgbClr val="7030A0"/>
                </a:solidFill>
              </a:rPr>
              <a:t>  High Rate of Employment</a:t>
            </a:r>
          </a:p>
        </p:txBody>
      </p:sp>
      <p:sp>
        <p:nvSpPr>
          <p:cNvPr id="6" name="Rectangle 5"/>
          <p:cNvSpPr/>
          <p:nvPr/>
        </p:nvSpPr>
        <p:spPr>
          <a:xfrm>
            <a:off x="609600" y="1276221"/>
            <a:ext cx="8077200" cy="769441"/>
          </a:xfrm>
          <a:prstGeom prst="rect">
            <a:avLst/>
          </a:prstGeom>
        </p:spPr>
        <p:txBody>
          <a:bodyPr wrap="square">
            <a:spAutoFit/>
          </a:bodyPr>
          <a:lstStyle/>
          <a:p>
            <a:pPr algn="just" eaLnBrk="1" hangingPunct="1">
              <a:buClr>
                <a:srgbClr val="C00000"/>
              </a:buClr>
            </a:pPr>
            <a:r>
              <a:rPr lang="en-US" sz="2200" i="1" dirty="0"/>
              <a:t>-  Achieving and maintaining full employment has been one of the major objectives of Keynesian macroeconomic policy. </a:t>
            </a:r>
          </a:p>
        </p:txBody>
      </p:sp>
      <p:sp>
        <p:nvSpPr>
          <p:cNvPr id="8" name="Rectangle 7"/>
          <p:cNvSpPr/>
          <p:nvPr/>
        </p:nvSpPr>
        <p:spPr>
          <a:xfrm>
            <a:off x="609600" y="2156417"/>
            <a:ext cx="8077200" cy="2462213"/>
          </a:xfrm>
          <a:prstGeom prst="rect">
            <a:avLst/>
          </a:prstGeom>
        </p:spPr>
        <p:txBody>
          <a:bodyPr wrap="square">
            <a:spAutoFit/>
          </a:bodyPr>
          <a:lstStyle/>
          <a:p>
            <a:pPr algn="just" eaLnBrk="1" hangingPunct="1">
              <a:buClr>
                <a:srgbClr val="C00000"/>
              </a:buClr>
            </a:pPr>
            <a:r>
              <a:rPr lang="en-US" sz="2200" i="1" dirty="0"/>
              <a:t>-  Generally, we expect high employment rate in parallel with economic growth. However, a high growth rate might not always ensure a high rate of employment. Therefore, during the post-War II period, the economists suggested that the government should own the responsibility of creating additional job opportunities and maintaining high level of employment after the war.</a:t>
            </a:r>
          </a:p>
        </p:txBody>
      </p:sp>
      <p:sp>
        <p:nvSpPr>
          <p:cNvPr id="10" name="Rectangle 9"/>
          <p:cNvSpPr/>
          <p:nvPr/>
        </p:nvSpPr>
        <p:spPr>
          <a:xfrm>
            <a:off x="685800" y="4618630"/>
            <a:ext cx="8077200" cy="1785104"/>
          </a:xfrm>
          <a:prstGeom prst="rect">
            <a:avLst/>
          </a:prstGeom>
        </p:spPr>
        <p:txBody>
          <a:bodyPr wrap="square">
            <a:spAutoFit/>
          </a:bodyPr>
          <a:lstStyle/>
          <a:p>
            <a:pPr algn="just" eaLnBrk="1" hangingPunct="1">
              <a:buClr>
                <a:srgbClr val="C00000"/>
              </a:buClr>
            </a:pPr>
            <a:r>
              <a:rPr lang="en-US" sz="2200" i="1" dirty="0"/>
              <a:t>-  Therefore, employment promotion has been one of the major objective of the macroeconomic policy and of the development plans in developing countries. Creation of employment has been one of the basic aims of all the development policies in Sri Lanka </a:t>
            </a:r>
          </a:p>
        </p:txBody>
      </p:sp>
      <p:sp>
        <p:nvSpPr>
          <p:cNvPr id="11" name="Rectangle 10"/>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to="" calcmode="lin" valueType="num">
                                      <p:cBhvr>
                                        <p:cTn id="22" dur="1" fill="hold"/>
                                        <p:tgtEl>
                                          <p:spTgt spid="8"/>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to="" calcmode="lin" valueType="num">
                                      <p:cBhvr>
                                        <p:cTn id="27"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524000" y="-571500"/>
            <a:ext cx="7848600" cy="1143000"/>
          </a:xfrm>
        </p:spPr>
        <p:txBody>
          <a:bodyPr/>
          <a:lstStyle/>
          <a:p>
            <a:pPr eaLnBrk="1" hangingPunct="1"/>
            <a:r>
              <a:rPr lang="en-US" sz="2400" i="1" u="sng" dirty="0">
                <a:solidFill>
                  <a:srgbClr val="7030A0"/>
                </a:solidFill>
                <a:latin typeface="Arial" pitchFamily="34" charset="0"/>
                <a:cs typeface="Arial" pitchFamily="34" charset="0"/>
              </a:rPr>
              <a:t>Unemployment Rate in Sri Lanka (2000-2021)</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solidFill>
                  <a:srgbClr val="000000">
                    <a:shade val="90000"/>
                  </a:srgbClr>
                </a:solidFill>
              </a:rPr>
              <a:pPr>
                <a:defRPr/>
              </a:pPr>
              <a:t>8</a:t>
            </a:fld>
            <a:endParaRPr lang="en-US">
              <a:solidFill>
                <a:srgbClr val="000000">
                  <a:shade val="90000"/>
                </a:srgbClr>
              </a:solidFill>
            </a:endParaRPr>
          </a:p>
        </p:txBody>
      </p:sp>
      <p:sp>
        <p:nvSpPr>
          <p:cNvPr id="2" name="Footer Placeholder 1"/>
          <p:cNvSpPr>
            <a:spLocks noGrp="1"/>
          </p:cNvSpPr>
          <p:nvPr>
            <p:ph type="ftr" sz="quarter" idx="11"/>
          </p:nvPr>
        </p:nvSpPr>
        <p:spPr/>
        <p:txBody>
          <a:bodyPr/>
          <a:lstStyle/>
          <a:p>
            <a:pPr>
              <a:defRPr/>
            </a:pPr>
            <a:r>
              <a:rPr lang="en-US">
                <a:solidFill>
                  <a:srgbClr val="000000">
                    <a:shade val="90000"/>
                  </a:srgbClr>
                </a:solidFill>
              </a:rPr>
              <a:t>Macro/BSc in Mgt/2022</a:t>
            </a:r>
          </a:p>
        </p:txBody>
      </p:sp>
      <p:sp>
        <p:nvSpPr>
          <p:cNvPr id="8" name="Rectangle 7"/>
          <p:cNvSpPr/>
          <p:nvPr/>
        </p:nvSpPr>
        <p:spPr>
          <a:xfrm>
            <a:off x="0" y="57975"/>
            <a:ext cx="8915400" cy="523220"/>
          </a:xfrm>
          <a:prstGeom prst="rect">
            <a:avLst/>
          </a:prstGeom>
        </p:spPr>
        <p:txBody>
          <a:bodyPr wrap="square">
            <a:spAutoFit/>
          </a:bodyPr>
          <a:lstStyle/>
          <a:p>
            <a:r>
              <a:rPr lang="en-GB" sz="2800" b="1" i="1" dirty="0" err="1">
                <a:solidFill>
                  <a:prstClr val="black"/>
                </a:solidFill>
              </a:rPr>
              <a:t>Cont</a:t>
            </a:r>
            <a:r>
              <a:rPr lang="en-GB" sz="2800" b="1" i="1" dirty="0">
                <a:solidFill>
                  <a:prstClr val="black"/>
                </a:solidFill>
              </a:rPr>
              <a:t>…</a:t>
            </a:r>
            <a:endParaRPr lang="en-US" sz="2800" b="1" i="1" dirty="0">
              <a:solidFill>
                <a:prstClr val="black"/>
              </a:solidFill>
            </a:endParaRPr>
          </a:p>
        </p:txBody>
      </p:sp>
      <p:graphicFrame>
        <p:nvGraphicFramePr>
          <p:cNvPr id="5" name="Table 4">
            <a:extLst>
              <a:ext uri="{FF2B5EF4-FFF2-40B4-BE49-F238E27FC236}">
                <a16:creationId xmlns:a16="http://schemas.microsoft.com/office/drawing/2014/main" id="{9DCA87C2-A9F5-FC30-DAA1-5357A5CBEBF0}"/>
              </a:ext>
            </a:extLst>
          </p:cNvPr>
          <p:cNvGraphicFramePr>
            <a:graphicFrameLocks noGrp="1"/>
          </p:cNvGraphicFramePr>
          <p:nvPr>
            <p:extLst>
              <p:ext uri="{D42A27DB-BD31-4B8C-83A1-F6EECF244321}">
                <p14:modId xmlns:p14="http://schemas.microsoft.com/office/powerpoint/2010/main" val="775549290"/>
              </p:ext>
            </p:extLst>
          </p:nvPr>
        </p:nvGraphicFramePr>
        <p:xfrm>
          <a:off x="3048000" y="765518"/>
          <a:ext cx="3581400" cy="5943600"/>
        </p:xfrm>
        <a:graphic>
          <a:graphicData uri="http://schemas.openxmlformats.org/drawingml/2006/table">
            <a:tbl>
              <a:tblPr firstRow="1" bandRow="1">
                <a:tableStyleId>{616DA210-FB5B-4158-B5E0-FEB733F419BA}</a:tableStyleId>
              </a:tblPr>
              <a:tblGrid>
                <a:gridCol w="1261629">
                  <a:extLst>
                    <a:ext uri="{9D8B030D-6E8A-4147-A177-3AD203B41FA5}">
                      <a16:colId xmlns:a16="http://schemas.microsoft.com/office/drawing/2014/main" val="20000"/>
                    </a:ext>
                  </a:extLst>
                </a:gridCol>
                <a:gridCol w="2319771">
                  <a:extLst>
                    <a:ext uri="{9D8B030D-6E8A-4147-A177-3AD203B41FA5}">
                      <a16:colId xmlns:a16="http://schemas.microsoft.com/office/drawing/2014/main" val="20001"/>
                    </a:ext>
                  </a:extLst>
                </a:gridCol>
              </a:tblGrid>
              <a:tr h="381001">
                <a:tc>
                  <a:txBody>
                    <a:bodyPr/>
                    <a:lstStyle/>
                    <a:p>
                      <a:pPr algn="ctr"/>
                      <a:r>
                        <a:rPr lang="en-US" sz="1800" dirty="0"/>
                        <a:t>Year</a:t>
                      </a:r>
                    </a:p>
                  </a:txBody>
                  <a:tcPr/>
                </a:tc>
                <a:tc>
                  <a:txBody>
                    <a:bodyPr/>
                    <a:lstStyle/>
                    <a:p>
                      <a:pPr algn="ctr"/>
                      <a:r>
                        <a:rPr lang="en-US" sz="1800" baseline="0" dirty="0"/>
                        <a:t>Unemployment </a:t>
                      </a:r>
                      <a:r>
                        <a:rPr lang="en-US" sz="1800" dirty="0"/>
                        <a:t>Rate (% of labor force)</a:t>
                      </a:r>
                    </a:p>
                  </a:txBody>
                  <a:tcPr/>
                </a:tc>
                <a:extLst>
                  <a:ext uri="{0D108BD9-81ED-4DB2-BD59-A6C34878D82A}">
                    <a16:rowId xmlns:a16="http://schemas.microsoft.com/office/drawing/2014/main" val="10000"/>
                  </a:ext>
                </a:extLst>
              </a:tr>
              <a:tr h="375385">
                <a:tc>
                  <a:txBody>
                    <a:bodyPr/>
                    <a:lstStyle/>
                    <a:p>
                      <a:pPr algn="ctr"/>
                      <a:r>
                        <a:rPr lang="en-US" sz="2400" dirty="0"/>
                        <a:t>2000</a:t>
                      </a:r>
                    </a:p>
                  </a:txBody>
                  <a:tcPr/>
                </a:tc>
                <a:tc>
                  <a:txBody>
                    <a:bodyPr/>
                    <a:lstStyle/>
                    <a:p>
                      <a:pPr algn="ctr"/>
                      <a:r>
                        <a:rPr lang="en-US" sz="2400" dirty="0"/>
                        <a:t>7.6</a:t>
                      </a:r>
                    </a:p>
                  </a:txBody>
                  <a:tcPr/>
                </a:tc>
                <a:extLst>
                  <a:ext uri="{0D108BD9-81ED-4DB2-BD59-A6C34878D82A}">
                    <a16:rowId xmlns:a16="http://schemas.microsoft.com/office/drawing/2014/main" val="10001"/>
                  </a:ext>
                </a:extLst>
              </a:tr>
              <a:tr h="375385">
                <a:tc>
                  <a:txBody>
                    <a:bodyPr/>
                    <a:lstStyle/>
                    <a:p>
                      <a:pPr algn="ctr"/>
                      <a:r>
                        <a:rPr lang="en-US" sz="2400" dirty="0"/>
                        <a:t>2010</a:t>
                      </a:r>
                    </a:p>
                  </a:txBody>
                  <a:tcPr/>
                </a:tc>
                <a:tc>
                  <a:txBody>
                    <a:bodyPr/>
                    <a:lstStyle/>
                    <a:p>
                      <a:pPr algn="ctr"/>
                      <a:r>
                        <a:rPr lang="en-US" sz="2400" dirty="0"/>
                        <a:t>4.9</a:t>
                      </a:r>
                    </a:p>
                  </a:txBody>
                  <a:tcPr/>
                </a:tc>
                <a:extLst>
                  <a:ext uri="{0D108BD9-81ED-4DB2-BD59-A6C34878D82A}">
                    <a16:rowId xmlns:a16="http://schemas.microsoft.com/office/drawing/2014/main" val="10002"/>
                  </a:ext>
                </a:extLst>
              </a:tr>
              <a:tr h="375385">
                <a:tc>
                  <a:txBody>
                    <a:bodyPr/>
                    <a:lstStyle/>
                    <a:p>
                      <a:pPr algn="ctr"/>
                      <a:r>
                        <a:rPr lang="en-US" sz="2400" dirty="0"/>
                        <a:t>2012</a:t>
                      </a:r>
                    </a:p>
                  </a:txBody>
                  <a:tcPr/>
                </a:tc>
                <a:tc>
                  <a:txBody>
                    <a:bodyPr/>
                    <a:lstStyle/>
                    <a:p>
                      <a:pPr algn="ctr"/>
                      <a:r>
                        <a:rPr lang="en-US" sz="2400" dirty="0"/>
                        <a:t>4.0</a:t>
                      </a:r>
                    </a:p>
                  </a:txBody>
                  <a:tcPr/>
                </a:tc>
                <a:extLst>
                  <a:ext uri="{0D108BD9-81ED-4DB2-BD59-A6C34878D82A}">
                    <a16:rowId xmlns:a16="http://schemas.microsoft.com/office/drawing/2014/main" val="10003"/>
                  </a:ext>
                </a:extLst>
              </a:tr>
              <a:tr h="375385">
                <a:tc>
                  <a:txBody>
                    <a:bodyPr/>
                    <a:lstStyle/>
                    <a:p>
                      <a:pPr algn="ctr"/>
                      <a:r>
                        <a:rPr lang="en-US" sz="2400" dirty="0"/>
                        <a:t>2014</a:t>
                      </a:r>
                    </a:p>
                  </a:txBody>
                  <a:tcPr/>
                </a:tc>
                <a:tc>
                  <a:txBody>
                    <a:bodyPr/>
                    <a:lstStyle/>
                    <a:p>
                      <a:pPr algn="ctr"/>
                      <a:r>
                        <a:rPr lang="en-US" sz="2400" dirty="0"/>
                        <a:t>4.3</a:t>
                      </a:r>
                    </a:p>
                  </a:txBody>
                  <a:tcPr/>
                </a:tc>
                <a:extLst>
                  <a:ext uri="{0D108BD9-81ED-4DB2-BD59-A6C34878D82A}">
                    <a16:rowId xmlns:a16="http://schemas.microsoft.com/office/drawing/2014/main" val="10004"/>
                  </a:ext>
                </a:extLst>
              </a:tr>
              <a:tr h="375385">
                <a:tc>
                  <a:txBody>
                    <a:bodyPr/>
                    <a:lstStyle/>
                    <a:p>
                      <a:pPr algn="ctr"/>
                      <a:r>
                        <a:rPr lang="en-US" sz="2400" dirty="0"/>
                        <a:t>2015</a:t>
                      </a:r>
                    </a:p>
                  </a:txBody>
                  <a:tcPr/>
                </a:tc>
                <a:tc>
                  <a:txBody>
                    <a:bodyPr/>
                    <a:lstStyle/>
                    <a:p>
                      <a:pPr algn="ctr"/>
                      <a:r>
                        <a:rPr lang="en-US" sz="2400" dirty="0"/>
                        <a:t>4.7</a:t>
                      </a:r>
                    </a:p>
                  </a:txBody>
                  <a:tcPr/>
                </a:tc>
                <a:extLst>
                  <a:ext uri="{0D108BD9-81ED-4DB2-BD59-A6C34878D82A}">
                    <a16:rowId xmlns:a16="http://schemas.microsoft.com/office/drawing/2014/main" val="10005"/>
                  </a:ext>
                </a:extLst>
              </a:tr>
              <a:tr h="375385">
                <a:tc>
                  <a:txBody>
                    <a:bodyPr/>
                    <a:lstStyle/>
                    <a:p>
                      <a:pPr algn="ctr"/>
                      <a:r>
                        <a:rPr lang="en-US" sz="2400" dirty="0"/>
                        <a:t>2016</a:t>
                      </a:r>
                    </a:p>
                  </a:txBody>
                  <a:tcPr/>
                </a:tc>
                <a:tc>
                  <a:txBody>
                    <a:bodyPr/>
                    <a:lstStyle/>
                    <a:p>
                      <a:pPr algn="ctr"/>
                      <a:r>
                        <a:rPr lang="en-US" sz="2400" dirty="0"/>
                        <a:t>4.4</a:t>
                      </a:r>
                    </a:p>
                  </a:txBody>
                  <a:tcPr/>
                </a:tc>
                <a:extLst>
                  <a:ext uri="{0D108BD9-81ED-4DB2-BD59-A6C34878D82A}">
                    <a16:rowId xmlns:a16="http://schemas.microsoft.com/office/drawing/2014/main" val="10006"/>
                  </a:ext>
                </a:extLst>
              </a:tr>
              <a:tr h="375385">
                <a:tc>
                  <a:txBody>
                    <a:bodyPr/>
                    <a:lstStyle/>
                    <a:p>
                      <a:pPr algn="ctr"/>
                      <a:r>
                        <a:rPr lang="en-US" sz="2400" dirty="0"/>
                        <a:t>2017</a:t>
                      </a:r>
                    </a:p>
                  </a:txBody>
                  <a:tcPr/>
                </a:tc>
                <a:tc>
                  <a:txBody>
                    <a:bodyPr/>
                    <a:lstStyle/>
                    <a:p>
                      <a:pPr algn="ctr"/>
                      <a:r>
                        <a:rPr lang="en-US" sz="2400" dirty="0"/>
                        <a:t>4.2</a:t>
                      </a:r>
                    </a:p>
                  </a:txBody>
                  <a:tcPr/>
                </a:tc>
                <a:extLst>
                  <a:ext uri="{0D108BD9-81ED-4DB2-BD59-A6C34878D82A}">
                    <a16:rowId xmlns:a16="http://schemas.microsoft.com/office/drawing/2014/main" val="10007"/>
                  </a:ext>
                </a:extLst>
              </a:tr>
              <a:tr h="375385">
                <a:tc>
                  <a:txBody>
                    <a:bodyPr/>
                    <a:lstStyle/>
                    <a:p>
                      <a:pPr algn="ctr"/>
                      <a:r>
                        <a:rPr lang="en-US" sz="2400" dirty="0"/>
                        <a:t>2018</a:t>
                      </a:r>
                    </a:p>
                  </a:txBody>
                  <a:tcPr/>
                </a:tc>
                <a:tc>
                  <a:txBody>
                    <a:bodyPr/>
                    <a:lstStyle/>
                    <a:p>
                      <a:pPr algn="ctr"/>
                      <a:r>
                        <a:rPr lang="en-US" sz="2400" dirty="0"/>
                        <a:t>4.4</a:t>
                      </a:r>
                    </a:p>
                  </a:txBody>
                  <a:tcPr/>
                </a:tc>
                <a:extLst>
                  <a:ext uri="{0D108BD9-81ED-4DB2-BD59-A6C34878D82A}">
                    <a16:rowId xmlns:a16="http://schemas.microsoft.com/office/drawing/2014/main" val="10008"/>
                  </a:ext>
                </a:extLst>
              </a:tr>
              <a:tr h="375385">
                <a:tc>
                  <a:txBody>
                    <a:bodyPr/>
                    <a:lstStyle/>
                    <a:p>
                      <a:pPr algn="ctr"/>
                      <a:r>
                        <a:rPr lang="en-US" sz="2400" dirty="0"/>
                        <a:t>2019</a:t>
                      </a:r>
                    </a:p>
                  </a:txBody>
                  <a:tcPr/>
                </a:tc>
                <a:tc>
                  <a:txBody>
                    <a:bodyPr/>
                    <a:lstStyle/>
                    <a:p>
                      <a:pPr algn="ctr"/>
                      <a:r>
                        <a:rPr lang="en-US" sz="2400" dirty="0"/>
                        <a:t>4.8</a:t>
                      </a:r>
                    </a:p>
                  </a:txBody>
                  <a:tcPr/>
                </a:tc>
                <a:extLst>
                  <a:ext uri="{0D108BD9-81ED-4DB2-BD59-A6C34878D82A}">
                    <a16:rowId xmlns:a16="http://schemas.microsoft.com/office/drawing/2014/main" val="2381124716"/>
                  </a:ext>
                </a:extLst>
              </a:tr>
              <a:tr h="375385">
                <a:tc>
                  <a:txBody>
                    <a:bodyPr/>
                    <a:lstStyle/>
                    <a:p>
                      <a:pPr algn="ctr"/>
                      <a:r>
                        <a:rPr lang="en-US" sz="2400" dirty="0"/>
                        <a:t>2020</a:t>
                      </a:r>
                    </a:p>
                  </a:txBody>
                  <a:tcPr/>
                </a:tc>
                <a:tc>
                  <a:txBody>
                    <a:bodyPr/>
                    <a:lstStyle/>
                    <a:p>
                      <a:pPr algn="ctr"/>
                      <a:r>
                        <a:rPr lang="en-US" sz="2400" dirty="0"/>
                        <a:t>5.5</a:t>
                      </a:r>
                    </a:p>
                  </a:txBody>
                  <a:tcPr/>
                </a:tc>
                <a:extLst>
                  <a:ext uri="{0D108BD9-81ED-4DB2-BD59-A6C34878D82A}">
                    <a16:rowId xmlns:a16="http://schemas.microsoft.com/office/drawing/2014/main" val="701477020"/>
                  </a:ext>
                </a:extLst>
              </a:tr>
              <a:tr h="375385">
                <a:tc>
                  <a:txBody>
                    <a:bodyPr/>
                    <a:lstStyle/>
                    <a:p>
                      <a:pPr algn="ctr"/>
                      <a:r>
                        <a:rPr lang="en-US" sz="2400" dirty="0"/>
                        <a:t>2021</a:t>
                      </a:r>
                    </a:p>
                  </a:txBody>
                  <a:tcPr/>
                </a:tc>
                <a:tc>
                  <a:txBody>
                    <a:bodyPr/>
                    <a:lstStyle/>
                    <a:p>
                      <a:pPr algn="ctr"/>
                      <a:r>
                        <a:rPr lang="en-US" sz="2400" dirty="0"/>
                        <a:t>5.1</a:t>
                      </a:r>
                    </a:p>
                  </a:txBody>
                  <a:tcPr/>
                </a:tc>
                <a:extLst>
                  <a:ext uri="{0D108BD9-81ED-4DB2-BD59-A6C34878D82A}">
                    <a16:rowId xmlns:a16="http://schemas.microsoft.com/office/drawing/2014/main" val="1431268697"/>
                  </a:ext>
                </a:extLst>
              </a:tr>
            </a:tbl>
          </a:graphicData>
        </a:graphic>
      </p:graphicFrame>
    </p:spTree>
    <p:extLst>
      <p:ext uri="{BB962C8B-B14F-4D97-AF65-F5344CB8AC3E}">
        <p14:creationId xmlns:p14="http://schemas.microsoft.com/office/powerpoint/2010/main" val="253478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170"/>
                                        </p:tgtEl>
                                        <p:attrNameLst>
                                          <p:attrName>style.visibility</p:attrName>
                                        </p:attrNameLst>
                                      </p:cBhvr>
                                      <p:to>
                                        <p:strVal val="visible"/>
                                      </p:to>
                                    </p:set>
                                    <p:anim to="" calcmode="lin" valueType="num">
                                      <p:cBhvr>
                                        <p:cTn id="12" dur="1" fill="hold"/>
                                        <p:tgtEl>
                                          <p:spTgt spid="717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to="" calcmode="lin" valueType="num">
                                      <p:cBhvr>
                                        <p:cTn id="17" dur="1" fill="hold"/>
                                        <p:tgtEl>
                                          <p:spTgt spid="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Macro/BSc in Mgt/2022</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9</a:t>
            </a:fld>
            <a:endParaRPr lang="en-US"/>
          </a:p>
        </p:txBody>
      </p:sp>
      <p:sp>
        <p:nvSpPr>
          <p:cNvPr id="5" name="Rectangle 4"/>
          <p:cNvSpPr/>
          <p:nvPr/>
        </p:nvSpPr>
        <p:spPr>
          <a:xfrm>
            <a:off x="304800" y="859304"/>
            <a:ext cx="8077200" cy="523220"/>
          </a:xfrm>
          <a:prstGeom prst="rect">
            <a:avLst/>
          </a:prstGeom>
        </p:spPr>
        <p:txBody>
          <a:bodyPr wrap="square">
            <a:spAutoFit/>
          </a:bodyPr>
          <a:lstStyle/>
          <a:p>
            <a:pPr algn="just" eaLnBrk="1" hangingPunct="1">
              <a:buClr>
                <a:srgbClr val="C00000"/>
              </a:buClr>
              <a:buFont typeface="Wingdings" pitchFamily="2" charset="2"/>
              <a:buChar char="Ø"/>
            </a:pPr>
            <a:r>
              <a:rPr lang="en-US" sz="2800" b="1" i="1" dirty="0">
                <a:solidFill>
                  <a:srgbClr val="7030A0"/>
                </a:solidFill>
              </a:rPr>
              <a:t>  Price Stabilization</a:t>
            </a:r>
          </a:p>
        </p:txBody>
      </p:sp>
      <p:sp>
        <p:nvSpPr>
          <p:cNvPr id="6" name="Rectangle 5"/>
          <p:cNvSpPr/>
          <p:nvPr/>
        </p:nvSpPr>
        <p:spPr>
          <a:xfrm>
            <a:off x="762000" y="1518896"/>
            <a:ext cx="8077200" cy="2308324"/>
          </a:xfrm>
          <a:prstGeom prst="rect">
            <a:avLst/>
          </a:prstGeom>
        </p:spPr>
        <p:txBody>
          <a:bodyPr wrap="square">
            <a:spAutoFit/>
          </a:bodyPr>
          <a:lstStyle/>
          <a:p>
            <a:pPr algn="just" eaLnBrk="1" hangingPunct="1">
              <a:buClr>
                <a:srgbClr val="C00000"/>
              </a:buClr>
            </a:pPr>
            <a:r>
              <a:rPr lang="en-US" sz="2400" i="1" dirty="0"/>
              <a:t>-  Price stability does not mean maintaining price index at a constant level . A moderate rate of inflation is considered to be desirable. Therefore, from practical point of view, price stabilization objective may mean preventing price rise in excess of its desirable limits, that is, 2-3 % in DCs and 4-5 % in LDCs.</a:t>
            </a:r>
          </a:p>
        </p:txBody>
      </p:sp>
      <p:sp>
        <p:nvSpPr>
          <p:cNvPr id="10" name="Rectangle 9"/>
          <p:cNvSpPr/>
          <p:nvPr/>
        </p:nvSpPr>
        <p:spPr>
          <a:xfrm>
            <a:off x="762000" y="3970416"/>
            <a:ext cx="8077200" cy="830997"/>
          </a:xfrm>
          <a:prstGeom prst="rect">
            <a:avLst/>
          </a:prstGeom>
        </p:spPr>
        <p:txBody>
          <a:bodyPr wrap="square">
            <a:spAutoFit/>
          </a:bodyPr>
          <a:lstStyle/>
          <a:p>
            <a:pPr algn="just" eaLnBrk="1" hangingPunct="1">
              <a:buClr>
                <a:srgbClr val="C00000"/>
              </a:buClr>
            </a:pPr>
            <a:r>
              <a:rPr lang="en-US" sz="2400" i="1" dirty="0"/>
              <a:t>-  Therefore, price stabilization means preventing violent fluctuations  in the price level.</a:t>
            </a:r>
          </a:p>
        </p:txBody>
      </p:sp>
      <p:sp>
        <p:nvSpPr>
          <p:cNvPr id="11" name="Rectangle 10"/>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to="" calcmode="lin" valueType="num">
                                      <p:cBhvr>
                                        <p:cTn id="22"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524000" y="-571500"/>
            <a:ext cx="7848600" cy="1143000"/>
          </a:xfrm>
        </p:spPr>
        <p:txBody>
          <a:bodyPr/>
          <a:lstStyle/>
          <a:p>
            <a:pPr eaLnBrk="1" hangingPunct="1"/>
            <a:r>
              <a:rPr lang="en-US" sz="2400" i="1" u="sng" dirty="0">
                <a:solidFill>
                  <a:srgbClr val="7030A0"/>
                </a:solidFill>
                <a:latin typeface="Arial" pitchFamily="34" charset="0"/>
                <a:cs typeface="Arial" pitchFamily="34" charset="0"/>
              </a:rPr>
              <a:t>Rate of Inflation in Sri Lanka (2000-2021)</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solidFill>
                  <a:srgbClr val="000000">
                    <a:shade val="90000"/>
                  </a:srgbClr>
                </a:solidFill>
              </a:rPr>
              <a:pPr>
                <a:defRPr/>
              </a:pPr>
              <a:t>10</a:t>
            </a:fld>
            <a:endParaRPr lang="en-US">
              <a:solidFill>
                <a:srgbClr val="000000">
                  <a:shade val="90000"/>
                </a:srgbClr>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103585936"/>
              </p:ext>
            </p:extLst>
          </p:nvPr>
        </p:nvGraphicFramePr>
        <p:xfrm>
          <a:off x="2693158" y="894601"/>
          <a:ext cx="3581400" cy="5410201"/>
        </p:xfrm>
        <a:graphic>
          <a:graphicData uri="http://schemas.openxmlformats.org/drawingml/2006/table">
            <a:tbl>
              <a:tblPr firstRow="1" bandRow="1">
                <a:tableStyleId>{616DA210-FB5B-4158-B5E0-FEB733F419BA}</a:tableStyleId>
              </a:tblPr>
              <a:tblGrid>
                <a:gridCol w="1261629">
                  <a:extLst>
                    <a:ext uri="{9D8B030D-6E8A-4147-A177-3AD203B41FA5}">
                      <a16:colId xmlns:a16="http://schemas.microsoft.com/office/drawing/2014/main" val="20000"/>
                    </a:ext>
                  </a:extLst>
                </a:gridCol>
                <a:gridCol w="2319771">
                  <a:extLst>
                    <a:ext uri="{9D8B030D-6E8A-4147-A177-3AD203B41FA5}">
                      <a16:colId xmlns:a16="http://schemas.microsoft.com/office/drawing/2014/main" val="20001"/>
                    </a:ext>
                  </a:extLst>
                </a:gridCol>
              </a:tblGrid>
              <a:tr h="381001">
                <a:tc>
                  <a:txBody>
                    <a:bodyPr/>
                    <a:lstStyle/>
                    <a:p>
                      <a:pPr algn="ctr"/>
                      <a:r>
                        <a:rPr lang="en-US" sz="1800" dirty="0"/>
                        <a:t>Year</a:t>
                      </a:r>
                    </a:p>
                  </a:txBody>
                  <a:tcPr/>
                </a:tc>
                <a:tc>
                  <a:txBody>
                    <a:bodyPr/>
                    <a:lstStyle/>
                    <a:p>
                      <a:pPr algn="ctr"/>
                      <a:r>
                        <a:rPr lang="en-US" sz="1800" baseline="0" dirty="0"/>
                        <a:t>Inflation </a:t>
                      </a:r>
                      <a:r>
                        <a:rPr lang="en-US" sz="1800" dirty="0"/>
                        <a:t>Rate</a:t>
                      </a:r>
                    </a:p>
                  </a:txBody>
                  <a:tcPr/>
                </a:tc>
                <a:extLst>
                  <a:ext uri="{0D108BD9-81ED-4DB2-BD59-A6C34878D82A}">
                    <a16:rowId xmlns:a16="http://schemas.microsoft.com/office/drawing/2014/main" val="10000"/>
                  </a:ext>
                </a:extLst>
              </a:tr>
              <a:tr h="375385">
                <a:tc>
                  <a:txBody>
                    <a:bodyPr/>
                    <a:lstStyle/>
                    <a:p>
                      <a:pPr algn="ctr"/>
                      <a:r>
                        <a:rPr lang="en-US" sz="2400" dirty="0"/>
                        <a:t>2000</a:t>
                      </a:r>
                    </a:p>
                  </a:txBody>
                  <a:tcPr/>
                </a:tc>
                <a:tc>
                  <a:txBody>
                    <a:bodyPr/>
                    <a:lstStyle/>
                    <a:p>
                      <a:pPr algn="ctr"/>
                      <a:r>
                        <a:rPr lang="en-US" sz="2400" dirty="0"/>
                        <a:t>6.7</a:t>
                      </a:r>
                    </a:p>
                  </a:txBody>
                  <a:tcPr/>
                </a:tc>
                <a:extLst>
                  <a:ext uri="{0D108BD9-81ED-4DB2-BD59-A6C34878D82A}">
                    <a16:rowId xmlns:a16="http://schemas.microsoft.com/office/drawing/2014/main" val="10001"/>
                  </a:ext>
                </a:extLst>
              </a:tr>
              <a:tr h="375385">
                <a:tc>
                  <a:txBody>
                    <a:bodyPr/>
                    <a:lstStyle/>
                    <a:p>
                      <a:pPr algn="ctr"/>
                      <a:r>
                        <a:rPr lang="en-US" sz="2400" dirty="0"/>
                        <a:t>2010</a:t>
                      </a:r>
                    </a:p>
                  </a:txBody>
                  <a:tcPr/>
                </a:tc>
                <a:tc>
                  <a:txBody>
                    <a:bodyPr/>
                    <a:lstStyle/>
                    <a:p>
                      <a:pPr algn="ctr"/>
                      <a:r>
                        <a:rPr lang="en-US" sz="2400" dirty="0"/>
                        <a:t>7.3</a:t>
                      </a:r>
                    </a:p>
                  </a:txBody>
                  <a:tcPr/>
                </a:tc>
                <a:extLst>
                  <a:ext uri="{0D108BD9-81ED-4DB2-BD59-A6C34878D82A}">
                    <a16:rowId xmlns:a16="http://schemas.microsoft.com/office/drawing/2014/main" val="10002"/>
                  </a:ext>
                </a:extLst>
              </a:tr>
              <a:tr h="375385">
                <a:tc>
                  <a:txBody>
                    <a:bodyPr/>
                    <a:lstStyle/>
                    <a:p>
                      <a:pPr algn="ctr"/>
                      <a:r>
                        <a:rPr lang="en-US" sz="2400" dirty="0"/>
                        <a:t>2012</a:t>
                      </a:r>
                    </a:p>
                  </a:txBody>
                  <a:tcPr/>
                </a:tc>
                <a:tc>
                  <a:txBody>
                    <a:bodyPr/>
                    <a:lstStyle/>
                    <a:p>
                      <a:pPr algn="ctr"/>
                      <a:r>
                        <a:rPr lang="en-US" sz="2400" dirty="0"/>
                        <a:t>10.8</a:t>
                      </a:r>
                    </a:p>
                  </a:txBody>
                  <a:tcPr/>
                </a:tc>
                <a:extLst>
                  <a:ext uri="{0D108BD9-81ED-4DB2-BD59-A6C34878D82A}">
                    <a16:rowId xmlns:a16="http://schemas.microsoft.com/office/drawing/2014/main" val="10003"/>
                  </a:ext>
                </a:extLst>
              </a:tr>
              <a:tr h="375385">
                <a:tc>
                  <a:txBody>
                    <a:bodyPr/>
                    <a:lstStyle/>
                    <a:p>
                      <a:pPr algn="ctr"/>
                      <a:r>
                        <a:rPr lang="en-US" sz="2400" dirty="0"/>
                        <a:t>2014</a:t>
                      </a:r>
                    </a:p>
                  </a:txBody>
                  <a:tcPr/>
                </a:tc>
                <a:tc>
                  <a:txBody>
                    <a:bodyPr/>
                    <a:lstStyle/>
                    <a:p>
                      <a:pPr algn="ctr"/>
                      <a:r>
                        <a:rPr lang="en-US" sz="2400" dirty="0"/>
                        <a:t>2.9</a:t>
                      </a:r>
                    </a:p>
                  </a:txBody>
                  <a:tcPr/>
                </a:tc>
                <a:extLst>
                  <a:ext uri="{0D108BD9-81ED-4DB2-BD59-A6C34878D82A}">
                    <a16:rowId xmlns:a16="http://schemas.microsoft.com/office/drawing/2014/main" val="10004"/>
                  </a:ext>
                </a:extLst>
              </a:tr>
              <a:tr h="375385">
                <a:tc>
                  <a:txBody>
                    <a:bodyPr/>
                    <a:lstStyle/>
                    <a:p>
                      <a:pPr algn="ctr"/>
                      <a:r>
                        <a:rPr lang="en-US" sz="2400" dirty="0"/>
                        <a:t>2015</a:t>
                      </a:r>
                    </a:p>
                  </a:txBody>
                  <a:tcPr/>
                </a:tc>
                <a:tc>
                  <a:txBody>
                    <a:bodyPr/>
                    <a:lstStyle/>
                    <a:p>
                      <a:pPr algn="ctr"/>
                      <a:r>
                        <a:rPr lang="en-US" sz="2400" dirty="0"/>
                        <a:t>0.6</a:t>
                      </a:r>
                    </a:p>
                  </a:txBody>
                  <a:tcPr/>
                </a:tc>
                <a:extLst>
                  <a:ext uri="{0D108BD9-81ED-4DB2-BD59-A6C34878D82A}">
                    <a16:rowId xmlns:a16="http://schemas.microsoft.com/office/drawing/2014/main" val="10005"/>
                  </a:ext>
                </a:extLst>
              </a:tr>
              <a:tr h="375385">
                <a:tc>
                  <a:txBody>
                    <a:bodyPr/>
                    <a:lstStyle/>
                    <a:p>
                      <a:pPr algn="ctr"/>
                      <a:r>
                        <a:rPr lang="en-US" sz="2400" dirty="0"/>
                        <a:t>2016</a:t>
                      </a:r>
                    </a:p>
                  </a:txBody>
                  <a:tcPr/>
                </a:tc>
                <a:tc>
                  <a:txBody>
                    <a:bodyPr/>
                    <a:lstStyle/>
                    <a:p>
                      <a:pPr algn="ctr"/>
                      <a:r>
                        <a:rPr lang="en-US" sz="2400" dirty="0"/>
                        <a:t>4.8</a:t>
                      </a:r>
                    </a:p>
                  </a:txBody>
                  <a:tcPr/>
                </a:tc>
                <a:extLst>
                  <a:ext uri="{0D108BD9-81ED-4DB2-BD59-A6C34878D82A}">
                    <a16:rowId xmlns:a16="http://schemas.microsoft.com/office/drawing/2014/main" val="10006"/>
                  </a:ext>
                </a:extLst>
              </a:tr>
              <a:tr h="375385">
                <a:tc>
                  <a:txBody>
                    <a:bodyPr/>
                    <a:lstStyle/>
                    <a:p>
                      <a:pPr algn="ctr"/>
                      <a:r>
                        <a:rPr lang="en-US" sz="2400" dirty="0"/>
                        <a:t>2017</a:t>
                      </a:r>
                    </a:p>
                  </a:txBody>
                  <a:tcPr/>
                </a:tc>
                <a:tc>
                  <a:txBody>
                    <a:bodyPr/>
                    <a:lstStyle/>
                    <a:p>
                      <a:pPr algn="ctr"/>
                      <a:r>
                        <a:rPr lang="en-US" sz="2400" dirty="0"/>
                        <a:t>7.3</a:t>
                      </a:r>
                    </a:p>
                  </a:txBody>
                  <a:tcPr/>
                </a:tc>
                <a:extLst>
                  <a:ext uri="{0D108BD9-81ED-4DB2-BD59-A6C34878D82A}">
                    <a16:rowId xmlns:a16="http://schemas.microsoft.com/office/drawing/2014/main" val="10007"/>
                  </a:ext>
                </a:extLst>
              </a:tr>
              <a:tr h="375385">
                <a:tc>
                  <a:txBody>
                    <a:bodyPr/>
                    <a:lstStyle/>
                    <a:p>
                      <a:pPr algn="ctr"/>
                      <a:r>
                        <a:rPr lang="en-US" sz="2400" dirty="0"/>
                        <a:t>2018</a:t>
                      </a:r>
                    </a:p>
                  </a:txBody>
                  <a:tcPr/>
                </a:tc>
                <a:tc>
                  <a:txBody>
                    <a:bodyPr/>
                    <a:lstStyle/>
                    <a:p>
                      <a:pPr algn="ctr"/>
                      <a:r>
                        <a:rPr lang="en-US" sz="2400" dirty="0"/>
                        <a:t>3.8</a:t>
                      </a:r>
                    </a:p>
                  </a:txBody>
                  <a:tcPr/>
                </a:tc>
                <a:extLst>
                  <a:ext uri="{0D108BD9-81ED-4DB2-BD59-A6C34878D82A}">
                    <a16:rowId xmlns:a16="http://schemas.microsoft.com/office/drawing/2014/main" val="10008"/>
                  </a:ext>
                </a:extLst>
              </a:tr>
              <a:tr h="375385">
                <a:tc>
                  <a:txBody>
                    <a:bodyPr/>
                    <a:lstStyle/>
                    <a:p>
                      <a:pPr algn="ctr"/>
                      <a:r>
                        <a:rPr lang="en-US" sz="2400" dirty="0"/>
                        <a:t>2019</a:t>
                      </a:r>
                    </a:p>
                  </a:txBody>
                  <a:tcPr/>
                </a:tc>
                <a:tc>
                  <a:txBody>
                    <a:bodyPr/>
                    <a:lstStyle/>
                    <a:p>
                      <a:pPr algn="ctr"/>
                      <a:r>
                        <a:rPr lang="en-US" sz="2400" dirty="0"/>
                        <a:t>2.6</a:t>
                      </a:r>
                    </a:p>
                  </a:txBody>
                  <a:tcPr/>
                </a:tc>
                <a:extLst>
                  <a:ext uri="{0D108BD9-81ED-4DB2-BD59-A6C34878D82A}">
                    <a16:rowId xmlns:a16="http://schemas.microsoft.com/office/drawing/2014/main" val="2381124716"/>
                  </a:ext>
                </a:extLst>
              </a:tr>
              <a:tr h="375385">
                <a:tc>
                  <a:txBody>
                    <a:bodyPr/>
                    <a:lstStyle/>
                    <a:p>
                      <a:pPr algn="ctr"/>
                      <a:r>
                        <a:rPr lang="en-US" sz="2400" dirty="0"/>
                        <a:t>2020</a:t>
                      </a:r>
                    </a:p>
                  </a:txBody>
                  <a:tcPr/>
                </a:tc>
                <a:tc>
                  <a:txBody>
                    <a:bodyPr/>
                    <a:lstStyle/>
                    <a:p>
                      <a:pPr algn="ctr"/>
                      <a:r>
                        <a:rPr lang="en-US" sz="2400" dirty="0"/>
                        <a:t>4.0</a:t>
                      </a:r>
                    </a:p>
                  </a:txBody>
                  <a:tcPr/>
                </a:tc>
                <a:extLst>
                  <a:ext uri="{0D108BD9-81ED-4DB2-BD59-A6C34878D82A}">
                    <a16:rowId xmlns:a16="http://schemas.microsoft.com/office/drawing/2014/main" val="701477020"/>
                  </a:ext>
                </a:extLst>
              </a:tr>
              <a:tr h="375385">
                <a:tc>
                  <a:txBody>
                    <a:bodyPr/>
                    <a:lstStyle/>
                    <a:p>
                      <a:pPr algn="ctr"/>
                      <a:r>
                        <a:rPr lang="en-US" sz="2400" dirty="0"/>
                        <a:t>2021</a:t>
                      </a:r>
                    </a:p>
                  </a:txBody>
                  <a:tcPr/>
                </a:tc>
                <a:tc>
                  <a:txBody>
                    <a:bodyPr/>
                    <a:lstStyle/>
                    <a:p>
                      <a:pPr algn="ctr"/>
                      <a:r>
                        <a:rPr lang="en-US" sz="2400" dirty="0"/>
                        <a:t>7.9</a:t>
                      </a:r>
                    </a:p>
                  </a:txBody>
                  <a:tcPr/>
                </a:tc>
                <a:extLst>
                  <a:ext uri="{0D108BD9-81ED-4DB2-BD59-A6C34878D82A}">
                    <a16:rowId xmlns:a16="http://schemas.microsoft.com/office/drawing/2014/main" val="1431268697"/>
                  </a:ext>
                </a:extLst>
              </a:tr>
            </a:tbl>
          </a:graphicData>
        </a:graphic>
      </p:graphicFrame>
      <p:sp>
        <p:nvSpPr>
          <p:cNvPr id="2" name="Footer Placeholder 1"/>
          <p:cNvSpPr>
            <a:spLocks noGrp="1"/>
          </p:cNvSpPr>
          <p:nvPr>
            <p:ph type="ftr" sz="quarter" idx="11"/>
          </p:nvPr>
        </p:nvSpPr>
        <p:spPr/>
        <p:txBody>
          <a:bodyPr/>
          <a:lstStyle/>
          <a:p>
            <a:pPr>
              <a:defRPr/>
            </a:pPr>
            <a:r>
              <a:rPr lang="en-US">
                <a:solidFill>
                  <a:srgbClr val="000000">
                    <a:shade val="90000"/>
                  </a:srgbClr>
                </a:solidFill>
              </a:rPr>
              <a:t>Macro/BSc in Mgt/2022</a:t>
            </a:r>
          </a:p>
        </p:txBody>
      </p:sp>
      <p:sp>
        <p:nvSpPr>
          <p:cNvPr id="8" name="Rectangle 7"/>
          <p:cNvSpPr/>
          <p:nvPr/>
        </p:nvSpPr>
        <p:spPr>
          <a:xfrm>
            <a:off x="0" y="57975"/>
            <a:ext cx="8915400" cy="523220"/>
          </a:xfrm>
          <a:prstGeom prst="rect">
            <a:avLst/>
          </a:prstGeom>
        </p:spPr>
        <p:txBody>
          <a:bodyPr wrap="square">
            <a:spAutoFit/>
          </a:bodyPr>
          <a:lstStyle/>
          <a:p>
            <a:r>
              <a:rPr lang="en-GB" sz="2800" b="1" i="1" dirty="0" err="1">
                <a:solidFill>
                  <a:prstClr val="black"/>
                </a:solidFill>
              </a:rPr>
              <a:t>Cont</a:t>
            </a:r>
            <a:r>
              <a:rPr lang="en-GB" sz="2800" b="1" i="1" dirty="0">
                <a:solidFill>
                  <a:prstClr val="black"/>
                </a:solidFill>
              </a:rPr>
              <a:t>…</a:t>
            </a:r>
            <a:endParaRPr lang="en-US" sz="2800" b="1" i="1" dirty="0">
              <a:solidFill>
                <a:prstClr val="black"/>
              </a:solidFill>
            </a:endParaRPr>
          </a:p>
        </p:txBody>
      </p:sp>
    </p:spTree>
    <p:extLst>
      <p:ext uri="{BB962C8B-B14F-4D97-AF65-F5344CB8AC3E}">
        <p14:creationId xmlns:p14="http://schemas.microsoft.com/office/powerpoint/2010/main" val="245591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170"/>
                                        </p:tgtEl>
                                        <p:attrNameLst>
                                          <p:attrName>style.visibility</p:attrName>
                                        </p:attrNameLst>
                                      </p:cBhvr>
                                      <p:to>
                                        <p:strVal val="visible"/>
                                      </p:to>
                                    </p:set>
                                    <p:anim to="" calcmode="lin" valueType="num">
                                      <p:cBhvr>
                                        <p:cTn id="12" dur="1" fill="hold"/>
                                        <p:tgtEl>
                                          <p:spTgt spid="717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to="" calcmode="lin" valueType="num">
                                      <p:cBhvr>
                                        <p:cTn id="17"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Macro/BSc in Mgt/2022</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11</a:t>
            </a:fld>
            <a:endParaRPr lang="en-US"/>
          </a:p>
        </p:txBody>
      </p:sp>
      <p:sp>
        <p:nvSpPr>
          <p:cNvPr id="5" name="Rectangle 4"/>
          <p:cNvSpPr/>
          <p:nvPr/>
        </p:nvSpPr>
        <p:spPr>
          <a:xfrm>
            <a:off x="228600" y="991990"/>
            <a:ext cx="8077200" cy="523220"/>
          </a:xfrm>
          <a:prstGeom prst="rect">
            <a:avLst/>
          </a:prstGeom>
        </p:spPr>
        <p:txBody>
          <a:bodyPr wrap="square">
            <a:spAutoFit/>
          </a:bodyPr>
          <a:lstStyle/>
          <a:p>
            <a:pPr algn="just" eaLnBrk="1" hangingPunct="1">
              <a:buClr>
                <a:srgbClr val="C00000"/>
              </a:buClr>
              <a:buFont typeface="Wingdings" pitchFamily="2" charset="2"/>
              <a:buChar char="Ø"/>
            </a:pPr>
            <a:r>
              <a:rPr lang="en-US" sz="2800" b="1" i="1" dirty="0">
                <a:solidFill>
                  <a:srgbClr val="7030A0"/>
                </a:solidFill>
              </a:rPr>
              <a:t>  Economic Equity</a:t>
            </a:r>
          </a:p>
        </p:txBody>
      </p:sp>
      <p:sp>
        <p:nvSpPr>
          <p:cNvPr id="6" name="Rectangle 5"/>
          <p:cNvSpPr/>
          <p:nvPr/>
        </p:nvSpPr>
        <p:spPr>
          <a:xfrm>
            <a:off x="701722" y="1624539"/>
            <a:ext cx="8077200" cy="769441"/>
          </a:xfrm>
          <a:prstGeom prst="rect">
            <a:avLst/>
          </a:prstGeom>
        </p:spPr>
        <p:txBody>
          <a:bodyPr wrap="square">
            <a:spAutoFit/>
          </a:bodyPr>
          <a:lstStyle/>
          <a:p>
            <a:pPr algn="just" eaLnBrk="1" hangingPunct="1">
              <a:buClr>
                <a:srgbClr val="C00000"/>
              </a:buClr>
            </a:pPr>
            <a:r>
              <a:rPr lang="en-US" sz="2200" i="1" dirty="0"/>
              <a:t>-  The past experience shows economic growth does not ensure equitable distribution of national income. </a:t>
            </a:r>
          </a:p>
        </p:txBody>
      </p:sp>
      <p:sp>
        <p:nvSpPr>
          <p:cNvPr id="10" name="Rectangle 9"/>
          <p:cNvSpPr/>
          <p:nvPr/>
        </p:nvSpPr>
        <p:spPr>
          <a:xfrm>
            <a:off x="698310" y="2426090"/>
            <a:ext cx="8077200" cy="769441"/>
          </a:xfrm>
          <a:prstGeom prst="rect">
            <a:avLst/>
          </a:prstGeom>
        </p:spPr>
        <p:txBody>
          <a:bodyPr wrap="square">
            <a:spAutoFit/>
          </a:bodyPr>
          <a:lstStyle/>
          <a:p>
            <a:pPr algn="just" eaLnBrk="1" hangingPunct="1">
              <a:buClr>
                <a:srgbClr val="C00000"/>
              </a:buClr>
            </a:pPr>
            <a:r>
              <a:rPr lang="en-US" sz="2200" i="1" dirty="0"/>
              <a:t>-  Income inequality puts a limit to overall economic growth of the country by limiting the aggregate demand.</a:t>
            </a:r>
          </a:p>
        </p:txBody>
      </p:sp>
      <p:sp>
        <p:nvSpPr>
          <p:cNvPr id="8" name="Rectangle 7"/>
          <p:cNvSpPr/>
          <p:nvPr/>
        </p:nvSpPr>
        <p:spPr>
          <a:xfrm>
            <a:off x="698310" y="3350855"/>
            <a:ext cx="8077200" cy="1107996"/>
          </a:xfrm>
          <a:prstGeom prst="rect">
            <a:avLst/>
          </a:prstGeom>
        </p:spPr>
        <p:txBody>
          <a:bodyPr wrap="square">
            <a:spAutoFit/>
          </a:bodyPr>
          <a:lstStyle/>
          <a:p>
            <a:pPr algn="just" eaLnBrk="1" hangingPunct="1">
              <a:buClr>
                <a:srgbClr val="C00000"/>
              </a:buClr>
            </a:pPr>
            <a:r>
              <a:rPr lang="en-US" sz="2200" i="1" dirty="0"/>
              <a:t>-   Therefore, economic equality has become as one of the objectives of macroeconomic policy (transfer the income from the rich to poor). For ex.., </a:t>
            </a:r>
            <a:r>
              <a:rPr lang="en-US" sz="2200" i="1" dirty="0" err="1"/>
              <a:t>Janasaviya</a:t>
            </a:r>
            <a:r>
              <a:rPr lang="en-US" sz="2200" i="1" dirty="0"/>
              <a:t>, </a:t>
            </a:r>
            <a:r>
              <a:rPr lang="en-US" sz="2200" i="1" dirty="0" err="1"/>
              <a:t>Samurdhi</a:t>
            </a:r>
            <a:r>
              <a:rPr lang="en-US" sz="2200" i="1" dirty="0"/>
              <a:t>, </a:t>
            </a:r>
            <a:r>
              <a:rPr lang="en-US" sz="2200" i="1" dirty="0" err="1"/>
              <a:t>ect</a:t>
            </a:r>
            <a:r>
              <a:rPr lang="en-US" sz="2200" i="1" dirty="0"/>
              <a:t>. </a:t>
            </a:r>
          </a:p>
        </p:txBody>
      </p:sp>
      <p:sp>
        <p:nvSpPr>
          <p:cNvPr id="11" name="Rectangle 10"/>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to="" calcmode="lin" valueType="num">
                                      <p:cBhvr>
                                        <p:cTn id="22" dur="1" fill="hold"/>
                                        <p:tgtEl>
                                          <p:spTgt spid="10"/>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to="" calcmode="lin" valueType="num">
                                      <p:cBhvr>
                                        <p:cTn id="27"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p:bldP spid="8"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Macro/BSc in Mgt/2022</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12</a:t>
            </a:fld>
            <a:endParaRPr lang="en-US"/>
          </a:p>
        </p:txBody>
      </p:sp>
      <p:sp>
        <p:nvSpPr>
          <p:cNvPr id="5" name="Rectangle 4"/>
          <p:cNvSpPr/>
          <p:nvPr/>
        </p:nvSpPr>
        <p:spPr>
          <a:xfrm>
            <a:off x="228600" y="1116329"/>
            <a:ext cx="8077200" cy="461665"/>
          </a:xfrm>
          <a:prstGeom prst="rect">
            <a:avLst/>
          </a:prstGeom>
        </p:spPr>
        <p:txBody>
          <a:bodyPr wrap="square">
            <a:spAutoFit/>
          </a:bodyPr>
          <a:lstStyle/>
          <a:p>
            <a:pPr algn="just" eaLnBrk="1" hangingPunct="1">
              <a:buClr>
                <a:srgbClr val="C00000"/>
              </a:buClr>
              <a:buFont typeface="Wingdings" pitchFamily="2" charset="2"/>
              <a:buChar char="Ø"/>
            </a:pPr>
            <a:r>
              <a:rPr lang="en-US" sz="2400" i="1" dirty="0">
                <a:solidFill>
                  <a:srgbClr val="7030A0"/>
                </a:solidFill>
              </a:rPr>
              <a:t>  Stabilizing Balance of Payment </a:t>
            </a:r>
          </a:p>
        </p:txBody>
      </p:sp>
      <p:sp>
        <p:nvSpPr>
          <p:cNvPr id="6" name="Rectangle 5"/>
          <p:cNvSpPr/>
          <p:nvPr/>
        </p:nvSpPr>
        <p:spPr>
          <a:xfrm>
            <a:off x="685800" y="1806778"/>
            <a:ext cx="8077200" cy="1107996"/>
          </a:xfrm>
          <a:prstGeom prst="rect">
            <a:avLst/>
          </a:prstGeom>
        </p:spPr>
        <p:txBody>
          <a:bodyPr wrap="square">
            <a:spAutoFit/>
          </a:bodyPr>
          <a:lstStyle/>
          <a:p>
            <a:pPr algn="just" eaLnBrk="1" hangingPunct="1">
              <a:buClr>
                <a:srgbClr val="C00000"/>
              </a:buClr>
            </a:pPr>
            <a:r>
              <a:rPr lang="en-US" sz="2200" i="1" dirty="0"/>
              <a:t>-  Maintaining a satisfactory balance of payments position has been accepted as one of the important objectives of the macroeconomic policy since 1950s.</a:t>
            </a:r>
          </a:p>
        </p:txBody>
      </p:sp>
      <p:sp>
        <p:nvSpPr>
          <p:cNvPr id="9" name="Rectangle 8"/>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
        <p:nvSpPr>
          <p:cNvPr id="10" name="Rectangle 9"/>
          <p:cNvSpPr/>
          <p:nvPr/>
        </p:nvSpPr>
        <p:spPr>
          <a:xfrm>
            <a:off x="685800" y="3048000"/>
            <a:ext cx="8077200" cy="2462213"/>
          </a:xfrm>
          <a:prstGeom prst="rect">
            <a:avLst/>
          </a:prstGeom>
        </p:spPr>
        <p:txBody>
          <a:bodyPr wrap="square">
            <a:spAutoFit/>
          </a:bodyPr>
          <a:lstStyle/>
          <a:p>
            <a:pPr algn="just" eaLnBrk="1" hangingPunct="1">
              <a:buClr>
                <a:srgbClr val="C00000"/>
              </a:buClr>
            </a:pPr>
            <a:r>
              <a:rPr lang="en-US" sz="2200" i="1" dirty="0"/>
              <a:t>-  Large deficit of BOP is a matter of concern for any country as it creates external payment problem and international indebtedness. For ex.. The foreign exchange crisis of July 1990 in India led to a near collapse of the economy and country falling into a situation of debt trap. Argentina, Brazil and Mexico have suffered severe economic problems in the past  due mainly to their adverse BOP.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to="" calcmode="lin" valueType="num">
                                      <p:cBhvr>
                                        <p:cTn id="7" dur="1" fill="hold"/>
                                        <p:tgtEl>
                                          <p:spTgt spid="9"/>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to="" calcmode="lin" valueType="num">
                                      <p:cBhvr>
                                        <p:cTn id="22"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524000" y="-571500"/>
            <a:ext cx="7848600" cy="1143000"/>
          </a:xfrm>
        </p:spPr>
        <p:txBody>
          <a:bodyPr/>
          <a:lstStyle/>
          <a:p>
            <a:pPr eaLnBrk="1" hangingPunct="1"/>
            <a:r>
              <a:rPr lang="en-US" sz="2400" i="1" u="sng" dirty="0">
                <a:solidFill>
                  <a:srgbClr val="7030A0"/>
                </a:solidFill>
                <a:latin typeface="Arial" pitchFamily="34" charset="0"/>
                <a:cs typeface="Arial" pitchFamily="34" charset="0"/>
              </a:rPr>
              <a:t>Export &amp; Import in Sri Lanka (2000-2021)</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solidFill>
                  <a:srgbClr val="000000">
                    <a:shade val="90000"/>
                  </a:srgbClr>
                </a:solidFill>
              </a:rPr>
              <a:pPr>
                <a:defRPr/>
              </a:pPr>
              <a:t>13</a:t>
            </a:fld>
            <a:endParaRPr lang="en-US">
              <a:solidFill>
                <a:srgbClr val="000000">
                  <a:shade val="90000"/>
                </a:srgbClr>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2858759779"/>
              </p:ext>
            </p:extLst>
          </p:nvPr>
        </p:nvGraphicFramePr>
        <p:xfrm>
          <a:off x="1524000" y="869632"/>
          <a:ext cx="5969758" cy="5410201"/>
        </p:xfrm>
        <a:graphic>
          <a:graphicData uri="http://schemas.openxmlformats.org/drawingml/2006/table">
            <a:tbl>
              <a:tblPr firstRow="1" bandRow="1">
                <a:tableStyleId>{616DA210-FB5B-4158-B5E0-FEB733F419BA}</a:tableStyleId>
              </a:tblPr>
              <a:tblGrid>
                <a:gridCol w="916150">
                  <a:extLst>
                    <a:ext uri="{9D8B030D-6E8A-4147-A177-3AD203B41FA5}">
                      <a16:colId xmlns:a16="http://schemas.microsoft.com/office/drawing/2014/main" val="20000"/>
                    </a:ext>
                  </a:extLst>
                </a:gridCol>
                <a:gridCol w="1684536">
                  <a:extLst>
                    <a:ext uri="{9D8B030D-6E8A-4147-A177-3AD203B41FA5}">
                      <a16:colId xmlns:a16="http://schemas.microsoft.com/office/drawing/2014/main" val="20001"/>
                    </a:ext>
                  </a:extLst>
                </a:gridCol>
                <a:gridCol w="1684536">
                  <a:extLst>
                    <a:ext uri="{9D8B030D-6E8A-4147-A177-3AD203B41FA5}">
                      <a16:colId xmlns:a16="http://schemas.microsoft.com/office/drawing/2014/main" val="2373888885"/>
                    </a:ext>
                  </a:extLst>
                </a:gridCol>
                <a:gridCol w="1684536">
                  <a:extLst>
                    <a:ext uri="{9D8B030D-6E8A-4147-A177-3AD203B41FA5}">
                      <a16:colId xmlns:a16="http://schemas.microsoft.com/office/drawing/2014/main" val="4219482997"/>
                    </a:ext>
                  </a:extLst>
                </a:gridCol>
              </a:tblGrid>
              <a:tr h="381001">
                <a:tc>
                  <a:txBody>
                    <a:bodyPr/>
                    <a:lstStyle/>
                    <a:p>
                      <a:pPr algn="ctr"/>
                      <a:r>
                        <a:rPr lang="en-US" sz="1800" dirty="0"/>
                        <a:t>Year</a:t>
                      </a:r>
                    </a:p>
                  </a:txBody>
                  <a:tcPr/>
                </a:tc>
                <a:tc>
                  <a:txBody>
                    <a:bodyPr/>
                    <a:lstStyle/>
                    <a:p>
                      <a:pPr algn="ctr"/>
                      <a:r>
                        <a:rPr lang="en-US" sz="1800" baseline="0" dirty="0"/>
                        <a:t>Export (US$)</a:t>
                      </a:r>
                      <a:endParaRPr lang="en-US" sz="1800" dirty="0"/>
                    </a:p>
                  </a:txBody>
                  <a:tcPr/>
                </a:tc>
                <a:tc>
                  <a:txBody>
                    <a:bodyPr/>
                    <a:lstStyle/>
                    <a:p>
                      <a:pPr algn="ctr"/>
                      <a:r>
                        <a:rPr lang="en-US" sz="1800" dirty="0"/>
                        <a:t>Import (US$)</a:t>
                      </a:r>
                    </a:p>
                  </a:txBody>
                  <a:tcPr/>
                </a:tc>
                <a:tc>
                  <a:txBody>
                    <a:bodyPr/>
                    <a:lstStyle/>
                    <a:p>
                      <a:pPr algn="ctr"/>
                      <a:r>
                        <a:rPr lang="en-US" sz="1800" dirty="0"/>
                        <a:t>Gap (US$)</a:t>
                      </a:r>
                    </a:p>
                  </a:txBody>
                  <a:tcPr/>
                </a:tc>
                <a:extLst>
                  <a:ext uri="{0D108BD9-81ED-4DB2-BD59-A6C34878D82A}">
                    <a16:rowId xmlns:a16="http://schemas.microsoft.com/office/drawing/2014/main" val="10000"/>
                  </a:ext>
                </a:extLst>
              </a:tr>
              <a:tr h="375385">
                <a:tc>
                  <a:txBody>
                    <a:bodyPr/>
                    <a:lstStyle/>
                    <a:p>
                      <a:pPr algn="ctr"/>
                      <a:r>
                        <a:rPr lang="en-US" sz="2400" dirty="0"/>
                        <a:t>2000</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1"/>
                  </a:ext>
                </a:extLst>
              </a:tr>
              <a:tr h="375385">
                <a:tc>
                  <a:txBody>
                    <a:bodyPr/>
                    <a:lstStyle/>
                    <a:p>
                      <a:pPr algn="ctr"/>
                      <a:r>
                        <a:rPr lang="en-US" sz="2400" dirty="0"/>
                        <a:t>2010</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2"/>
                  </a:ext>
                </a:extLst>
              </a:tr>
              <a:tr h="375385">
                <a:tc>
                  <a:txBody>
                    <a:bodyPr/>
                    <a:lstStyle/>
                    <a:p>
                      <a:pPr algn="ctr"/>
                      <a:r>
                        <a:rPr lang="en-US" sz="2400" dirty="0"/>
                        <a:t>2012</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3"/>
                  </a:ext>
                </a:extLst>
              </a:tr>
              <a:tr h="375385">
                <a:tc>
                  <a:txBody>
                    <a:bodyPr/>
                    <a:lstStyle/>
                    <a:p>
                      <a:pPr algn="ctr"/>
                      <a:r>
                        <a:rPr lang="en-US" sz="2400" dirty="0"/>
                        <a:t>2014</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4"/>
                  </a:ext>
                </a:extLst>
              </a:tr>
              <a:tr h="375385">
                <a:tc>
                  <a:txBody>
                    <a:bodyPr/>
                    <a:lstStyle/>
                    <a:p>
                      <a:pPr algn="ctr"/>
                      <a:r>
                        <a:rPr lang="en-US" sz="2400" dirty="0"/>
                        <a:t>2015</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5"/>
                  </a:ext>
                </a:extLst>
              </a:tr>
              <a:tr h="375385">
                <a:tc>
                  <a:txBody>
                    <a:bodyPr/>
                    <a:lstStyle/>
                    <a:p>
                      <a:pPr algn="ctr"/>
                      <a:r>
                        <a:rPr lang="en-US" sz="2400" dirty="0"/>
                        <a:t>2016</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6"/>
                  </a:ext>
                </a:extLst>
              </a:tr>
              <a:tr h="375385">
                <a:tc>
                  <a:txBody>
                    <a:bodyPr/>
                    <a:lstStyle/>
                    <a:p>
                      <a:pPr algn="ctr"/>
                      <a:r>
                        <a:rPr lang="en-US" sz="2400" dirty="0"/>
                        <a:t>2017</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7"/>
                  </a:ext>
                </a:extLst>
              </a:tr>
              <a:tr h="375385">
                <a:tc>
                  <a:txBody>
                    <a:bodyPr/>
                    <a:lstStyle/>
                    <a:p>
                      <a:pPr algn="ctr"/>
                      <a:r>
                        <a:rPr lang="en-US" sz="2400" dirty="0"/>
                        <a:t>2018</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0008"/>
                  </a:ext>
                </a:extLst>
              </a:tr>
              <a:tr h="375385">
                <a:tc>
                  <a:txBody>
                    <a:bodyPr/>
                    <a:lstStyle/>
                    <a:p>
                      <a:pPr algn="ctr"/>
                      <a:r>
                        <a:rPr lang="en-US" sz="2400" dirty="0"/>
                        <a:t>2019</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2381124716"/>
                  </a:ext>
                </a:extLst>
              </a:tr>
              <a:tr h="375385">
                <a:tc>
                  <a:txBody>
                    <a:bodyPr/>
                    <a:lstStyle/>
                    <a:p>
                      <a:pPr algn="ctr"/>
                      <a:r>
                        <a:rPr lang="en-US" sz="2400" dirty="0"/>
                        <a:t>2020</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701477020"/>
                  </a:ext>
                </a:extLst>
              </a:tr>
              <a:tr h="375385">
                <a:tc>
                  <a:txBody>
                    <a:bodyPr/>
                    <a:lstStyle/>
                    <a:p>
                      <a:pPr algn="ctr"/>
                      <a:r>
                        <a:rPr lang="en-US" sz="2400" dirty="0"/>
                        <a:t>2021</a:t>
                      </a:r>
                    </a:p>
                  </a:txBody>
                  <a:tcPr/>
                </a:tc>
                <a:tc>
                  <a:txBody>
                    <a:bodyPr/>
                    <a:lstStyle/>
                    <a:p>
                      <a:pPr algn="ctr"/>
                      <a:endParaRPr lang="en-US" sz="2400"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1431268697"/>
                  </a:ext>
                </a:extLst>
              </a:tr>
            </a:tbl>
          </a:graphicData>
        </a:graphic>
      </p:graphicFrame>
      <p:sp>
        <p:nvSpPr>
          <p:cNvPr id="2" name="Footer Placeholder 1"/>
          <p:cNvSpPr>
            <a:spLocks noGrp="1"/>
          </p:cNvSpPr>
          <p:nvPr>
            <p:ph type="ftr" sz="quarter" idx="11"/>
          </p:nvPr>
        </p:nvSpPr>
        <p:spPr/>
        <p:txBody>
          <a:bodyPr/>
          <a:lstStyle/>
          <a:p>
            <a:pPr>
              <a:defRPr/>
            </a:pPr>
            <a:r>
              <a:rPr lang="en-US">
                <a:solidFill>
                  <a:srgbClr val="000000">
                    <a:shade val="90000"/>
                  </a:srgbClr>
                </a:solidFill>
              </a:rPr>
              <a:t>Macro/BSc in Mgt/2022</a:t>
            </a:r>
          </a:p>
        </p:txBody>
      </p:sp>
      <p:sp>
        <p:nvSpPr>
          <p:cNvPr id="8" name="Rectangle 7"/>
          <p:cNvSpPr/>
          <p:nvPr/>
        </p:nvSpPr>
        <p:spPr>
          <a:xfrm>
            <a:off x="0" y="57975"/>
            <a:ext cx="8915400" cy="523220"/>
          </a:xfrm>
          <a:prstGeom prst="rect">
            <a:avLst/>
          </a:prstGeom>
        </p:spPr>
        <p:txBody>
          <a:bodyPr wrap="square">
            <a:spAutoFit/>
          </a:bodyPr>
          <a:lstStyle/>
          <a:p>
            <a:r>
              <a:rPr lang="en-GB" sz="2800" b="1" i="1" dirty="0" err="1">
                <a:solidFill>
                  <a:prstClr val="black"/>
                </a:solidFill>
              </a:rPr>
              <a:t>Cont</a:t>
            </a:r>
            <a:r>
              <a:rPr lang="en-GB" sz="2800" b="1" i="1" dirty="0">
                <a:solidFill>
                  <a:prstClr val="black"/>
                </a:solidFill>
              </a:rPr>
              <a:t>…</a:t>
            </a:r>
            <a:endParaRPr lang="en-US" sz="2800" b="1" i="1" dirty="0">
              <a:solidFill>
                <a:prstClr val="black"/>
              </a:solidFill>
            </a:endParaRPr>
          </a:p>
        </p:txBody>
      </p:sp>
    </p:spTree>
    <p:extLst>
      <p:ext uri="{BB962C8B-B14F-4D97-AF65-F5344CB8AC3E}">
        <p14:creationId xmlns:p14="http://schemas.microsoft.com/office/powerpoint/2010/main" val="30128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170"/>
                                        </p:tgtEl>
                                        <p:attrNameLst>
                                          <p:attrName>style.visibility</p:attrName>
                                        </p:attrNameLst>
                                      </p:cBhvr>
                                      <p:to>
                                        <p:strVal val="visible"/>
                                      </p:to>
                                    </p:set>
                                    <p:anim to="" calcmode="lin" valueType="num">
                                      <p:cBhvr>
                                        <p:cTn id="12" dur="1" fill="hold"/>
                                        <p:tgtEl>
                                          <p:spTgt spid="717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to="" calcmode="lin" valueType="num">
                                      <p:cBhvr>
                                        <p:cTn id="17"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476911"/>
            <a:ext cx="7848600" cy="1143000"/>
          </a:xfrm>
        </p:spPr>
        <p:txBody>
          <a:bodyPr/>
          <a:lstStyle/>
          <a:p>
            <a:pPr eaLnBrk="1" hangingPunct="1"/>
            <a:r>
              <a:rPr lang="en-US" sz="2800" i="1" u="sng" dirty="0">
                <a:latin typeface="Arial" pitchFamily="34" charset="0"/>
                <a:cs typeface="Arial" pitchFamily="34" charset="0"/>
              </a:rPr>
              <a:t>Meaning of Fiscal Policy</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14</a:t>
            </a:fld>
            <a:endParaRPr lang="en-US"/>
          </a:p>
        </p:txBody>
      </p:sp>
      <p:sp>
        <p:nvSpPr>
          <p:cNvPr id="7" name="Rectangle 6"/>
          <p:cNvSpPr/>
          <p:nvPr/>
        </p:nvSpPr>
        <p:spPr>
          <a:xfrm>
            <a:off x="2362200" y="381000"/>
            <a:ext cx="6705600" cy="584775"/>
          </a:xfrm>
          <a:prstGeom prst="rect">
            <a:avLst/>
          </a:prstGeom>
        </p:spPr>
        <p:txBody>
          <a:bodyPr wrap="square">
            <a:spAutoFit/>
          </a:bodyPr>
          <a:lstStyle/>
          <a:p>
            <a:r>
              <a:rPr lang="en-GB" sz="3200" b="1" dirty="0">
                <a:ea typeface="Times New Roman" pitchFamily="18" charset="0"/>
              </a:rPr>
              <a:t>5.2 Fiscal Policy</a:t>
            </a:r>
            <a:endParaRPr lang="en-US" sz="3200" b="1" dirty="0"/>
          </a:p>
        </p:txBody>
      </p:sp>
      <p:sp>
        <p:nvSpPr>
          <p:cNvPr id="6" name="Rectangle 5"/>
          <p:cNvSpPr/>
          <p:nvPr/>
        </p:nvSpPr>
        <p:spPr>
          <a:xfrm>
            <a:off x="457200" y="2108537"/>
            <a:ext cx="8077200" cy="769441"/>
          </a:xfrm>
          <a:prstGeom prst="rect">
            <a:avLst/>
          </a:prstGeom>
        </p:spPr>
        <p:txBody>
          <a:bodyPr wrap="square">
            <a:spAutoFit/>
          </a:bodyPr>
          <a:lstStyle/>
          <a:p>
            <a:pPr algn="just" eaLnBrk="1" hangingPunct="1">
              <a:buClr>
                <a:srgbClr val="C00000"/>
              </a:buClr>
            </a:pPr>
            <a:r>
              <a:rPr lang="en-US" sz="2200" i="1" dirty="0">
                <a:solidFill>
                  <a:srgbClr val="002060"/>
                </a:solidFill>
              </a:rPr>
              <a:t>-  “Fiscal Policy” simply refers to policy concerning the use of government finance to achieve certain macroeconomic goals”</a:t>
            </a:r>
          </a:p>
        </p:txBody>
      </p:sp>
      <p:sp>
        <p:nvSpPr>
          <p:cNvPr id="8" name="Rectangle 7"/>
          <p:cNvSpPr/>
          <p:nvPr/>
        </p:nvSpPr>
        <p:spPr>
          <a:xfrm>
            <a:off x="533400" y="2971800"/>
            <a:ext cx="8077200" cy="1785104"/>
          </a:xfrm>
          <a:prstGeom prst="rect">
            <a:avLst/>
          </a:prstGeom>
        </p:spPr>
        <p:txBody>
          <a:bodyPr wrap="square">
            <a:spAutoFit/>
          </a:bodyPr>
          <a:lstStyle/>
          <a:p>
            <a:pPr algn="just" eaLnBrk="1" hangingPunct="1">
              <a:buClr>
                <a:srgbClr val="C00000"/>
              </a:buClr>
            </a:pPr>
            <a:r>
              <a:rPr lang="en-US" sz="2200" i="1" dirty="0">
                <a:solidFill>
                  <a:srgbClr val="002060"/>
                </a:solidFill>
              </a:rPr>
              <a:t>-   In a broader meaning, Fiscal policy is the government </a:t>
            </a:r>
            <a:r>
              <a:rPr lang="en-US" sz="2200" i="1" dirty="0" err="1">
                <a:solidFill>
                  <a:srgbClr val="002060"/>
                </a:solidFill>
              </a:rPr>
              <a:t>programme</a:t>
            </a:r>
            <a:r>
              <a:rPr lang="en-US" sz="2200" i="1" dirty="0">
                <a:solidFill>
                  <a:srgbClr val="002060"/>
                </a:solidFill>
              </a:rPr>
              <a:t> of making discretionary  changes in the pattern and level of its expenditure, taxation and borrowing in order to achieve certain economic goals such as economic growth, employment, income equality of the economy on a growth path.</a:t>
            </a:r>
          </a:p>
        </p:txBody>
      </p:sp>
      <p:sp>
        <p:nvSpPr>
          <p:cNvPr id="2" name="Footer Placeholder 1"/>
          <p:cNvSpPr>
            <a:spLocks noGrp="1"/>
          </p:cNvSpPr>
          <p:nvPr>
            <p:ph type="ftr" sz="quarter" idx="11"/>
          </p:nvPr>
        </p:nvSpPr>
        <p:spPr/>
        <p:txBody>
          <a:bodyPr/>
          <a:lstStyle/>
          <a:p>
            <a:pPr>
              <a:defRPr/>
            </a:pPr>
            <a:r>
              <a:rPr lang="en-US"/>
              <a:t>Macro/BSc in Mgt/2022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to="" calcmode="lin" valueType="num">
                                      <p:cBhvr>
                                        <p:cTn id="7" dur="1" fill="hold"/>
                                        <p:tgtEl>
                                          <p:spTgt spid="717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6"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476911"/>
            <a:ext cx="7848600" cy="1143000"/>
          </a:xfrm>
        </p:spPr>
        <p:txBody>
          <a:bodyPr/>
          <a:lstStyle/>
          <a:p>
            <a:pPr eaLnBrk="1" hangingPunct="1"/>
            <a:r>
              <a:rPr lang="en-US" sz="2800" i="1" u="sng" dirty="0">
                <a:latin typeface="Arial" pitchFamily="34" charset="0"/>
                <a:cs typeface="Arial" pitchFamily="34" charset="0"/>
              </a:rPr>
              <a:t>The Scope of Fiscal Policy</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solidFill>
                  <a:srgbClr val="000000">
                    <a:shade val="90000"/>
                  </a:srgbClr>
                </a:solidFill>
              </a:rPr>
              <a:pPr>
                <a:defRPr/>
              </a:pPr>
              <a:t>15</a:t>
            </a:fld>
            <a:endParaRPr lang="en-US">
              <a:solidFill>
                <a:srgbClr val="000000">
                  <a:shade val="90000"/>
                </a:srgbClr>
              </a:solidFill>
            </a:endParaRPr>
          </a:p>
        </p:txBody>
      </p:sp>
      <p:sp>
        <p:nvSpPr>
          <p:cNvPr id="6" name="Rectangle 5"/>
          <p:cNvSpPr/>
          <p:nvPr/>
        </p:nvSpPr>
        <p:spPr>
          <a:xfrm>
            <a:off x="457200" y="2108537"/>
            <a:ext cx="8077200" cy="830997"/>
          </a:xfrm>
          <a:prstGeom prst="rect">
            <a:avLst/>
          </a:prstGeom>
        </p:spPr>
        <p:txBody>
          <a:bodyPr wrap="square">
            <a:spAutoFit/>
          </a:bodyPr>
          <a:lstStyle/>
          <a:p>
            <a:pPr marL="342900" indent="-342900" algn="just">
              <a:buClr>
                <a:srgbClr val="C00000"/>
              </a:buClr>
              <a:buFont typeface="Wingdings" panose="05000000000000000000" pitchFamily="2" charset="2"/>
              <a:buChar char="Ø"/>
            </a:pPr>
            <a:r>
              <a:rPr lang="en-US" sz="2400" i="1" dirty="0"/>
              <a:t>The scope of fiscal policy comprises the fiscal instruments and the target variables.</a:t>
            </a:r>
          </a:p>
        </p:txBody>
      </p:sp>
      <p:sp>
        <p:nvSpPr>
          <p:cNvPr id="2" name="Footer Placeholder 1"/>
          <p:cNvSpPr>
            <a:spLocks noGrp="1"/>
          </p:cNvSpPr>
          <p:nvPr>
            <p:ph type="ftr" sz="quarter" idx="11"/>
          </p:nvPr>
        </p:nvSpPr>
        <p:spPr/>
        <p:txBody>
          <a:bodyPr/>
          <a:lstStyle/>
          <a:p>
            <a:pPr>
              <a:defRPr/>
            </a:pPr>
            <a:r>
              <a:rPr lang="en-US">
                <a:solidFill>
                  <a:srgbClr val="000000">
                    <a:shade val="90000"/>
                  </a:srgbClr>
                </a:solidFill>
              </a:rPr>
              <a:t>Macro/BSc in Mgt/2022</a:t>
            </a:r>
          </a:p>
        </p:txBody>
      </p:sp>
      <p:sp>
        <p:nvSpPr>
          <p:cNvPr id="9" name="Rectangle 8"/>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
        <p:nvSpPr>
          <p:cNvPr id="10" name="Rectangle 9"/>
          <p:cNvSpPr/>
          <p:nvPr/>
        </p:nvSpPr>
        <p:spPr>
          <a:xfrm>
            <a:off x="443552" y="3201133"/>
            <a:ext cx="8077200" cy="830997"/>
          </a:xfrm>
          <a:prstGeom prst="rect">
            <a:avLst/>
          </a:prstGeom>
        </p:spPr>
        <p:txBody>
          <a:bodyPr wrap="square">
            <a:spAutoFit/>
          </a:bodyPr>
          <a:lstStyle/>
          <a:p>
            <a:pPr marL="342900" indent="-342900" algn="just">
              <a:buClr>
                <a:srgbClr val="C00000"/>
              </a:buClr>
              <a:buFont typeface="Wingdings" panose="05000000000000000000" pitchFamily="2" charset="2"/>
              <a:buChar char="Ø"/>
            </a:pPr>
            <a:r>
              <a:rPr lang="en-US" sz="2400" i="1" dirty="0"/>
              <a:t>Fiscal instruments are the variables that government can use to achieve certain economic goals.</a:t>
            </a:r>
          </a:p>
        </p:txBody>
      </p:sp>
    </p:spTree>
    <p:extLst>
      <p:ext uri="{BB962C8B-B14F-4D97-AF65-F5344CB8AC3E}">
        <p14:creationId xmlns:p14="http://schemas.microsoft.com/office/powerpoint/2010/main" val="9624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to="" calcmode="lin" valueType="num">
                                      <p:cBhvr>
                                        <p:cTn id="7" dur="1" fill="hold"/>
                                        <p:tgtEl>
                                          <p:spTgt spid="9"/>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170"/>
                                        </p:tgtEl>
                                        <p:attrNameLst>
                                          <p:attrName>style.visibility</p:attrName>
                                        </p:attrNameLst>
                                      </p:cBhvr>
                                      <p:to>
                                        <p:strVal val="visible"/>
                                      </p:to>
                                    </p:set>
                                    <p:anim to="" calcmode="lin" valueType="num">
                                      <p:cBhvr>
                                        <p:cTn id="12" dur="1" fill="hold"/>
                                        <p:tgtEl>
                                          <p:spTgt spid="7170"/>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to="" calcmode="lin" valueType="num">
                                      <p:cBhvr>
                                        <p:cTn id="22"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6"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838200"/>
            <a:ext cx="7848600" cy="1143000"/>
          </a:xfrm>
        </p:spPr>
        <p:txBody>
          <a:bodyPr/>
          <a:lstStyle/>
          <a:p>
            <a:pPr eaLnBrk="1" hangingPunct="1"/>
            <a:r>
              <a:rPr lang="en-US" sz="2800" i="1" u="sng" dirty="0">
                <a:latin typeface="Arial" pitchFamily="34" charset="0"/>
                <a:cs typeface="Arial" pitchFamily="34" charset="0"/>
              </a:rPr>
              <a:t>Fiscal Instruments </a:t>
            </a:r>
          </a:p>
        </p:txBody>
      </p:sp>
      <p:sp>
        <p:nvSpPr>
          <p:cNvPr id="4" name="Slide Number Placeholder 3"/>
          <p:cNvSpPr>
            <a:spLocks noGrp="1"/>
          </p:cNvSpPr>
          <p:nvPr>
            <p:ph type="sldNum" sz="quarter" idx="12"/>
          </p:nvPr>
        </p:nvSpPr>
        <p:spPr/>
        <p:txBody>
          <a:bodyPr/>
          <a:lstStyle/>
          <a:p>
            <a:pPr>
              <a:defRPr/>
            </a:pPr>
            <a:fld id="{1962B386-B087-439C-8F46-48CD50FC6053}" type="slidenum">
              <a:rPr lang="en-US"/>
              <a:pPr>
                <a:defRPr/>
              </a:pPr>
              <a:t>16</a:t>
            </a:fld>
            <a:endParaRPr lang="en-US"/>
          </a:p>
        </p:txBody>
      </p:sp>
      <p:sp>
        <p:nvSpPr>
          <p:cNvPr id="6" name="Rectangle 5"/>
          <p:cNvSpPr/>
          <p:nvPr/>
        </p:nvSpPr>
        <p:spPr>
          <a:xfrm>
            <a:off x="457200" y="2108537"/>
            <a:ext cx="8458200" cy="830997"/>
          </a:xfrm>
          <a:prstGeom prst="rect">
            <a:avLst/>
          </a:prstGeom>
        </p:spPr>
        <p:txBody>
          <a:bodyPr wrap="square">
            <a:spAutoFit/>
          </a:bodyPr>
          <a:lstStyle/>
          <a:p>
            <a:pPr algn="just" eaLnBrk="1" hangingPunct="1">
              <a:buClr>
                <a:srgbClr val="C00000"/>
              </a:buClr>
              <a:buFont typeface="Wingdings" pitchFamily="2" charset="2"/>
              <a:buChar char="v"/>
            </a:pPr>
            <a:r>
              <a:rPr lang="en-US" sz="2400" i="1" dirty="0">
                <a:solidFill>
                  <a:srgbClr val="002060"/>
                </a:solidFill>
              </a:rPr>
              <a:t>  The major fiscal instruments include the following measures:</a:t>
            </a:r>
          </a:p>
        </p:txBody>
      </p:sp>
      <p:sp>
        <p:nvSpPr>
          <p:cNvPr id="9" name="TextBox 8"/>
          <p:cNvSpPr txBox="1"/>
          <p:nvPr/>
        </p:nvSpPr>
        <p:spPr>
          <a:xfrm>
            <a:off x="838200" y="3124200"/>
            <a:ext cx="6781800" cy="461665"/>
          </a:xfrm>
          <a:prstGeom prst="rect">
            <a:avLst/>
          </a:prstGeom>
          <a:noFill/>
        </p:spPr>
        <p:txBody>
          <a:bodyPr wrap="square" rtlCol="0">
            <a:spAutoFit/>
          </a:bodyPr>
          <a:lstStyle/>
          <a:p>
            <a:pPr marL="342900" indent="-342900">
              <a:buFont typeface="+mj-lt"/>
              <a:buAutoNum type="romanLcPeriod"/>
            </a:pPr>
            <a:r>
              <a:rPr lang="en-US" sz="2400" dirty="0"/>
              <a:t> Budgetary policy deficit or surplus budgeting</a:t>
            </a:r>
          </a:p>
        </p:txBody>
      </p:sp>
      <p:sp>
        <p:nvSpPr>
          <p:cNvPr id="10" name="TextBox 9"/>
          <p:cNvSpPr txBox="1"/>
          <p:nvPr/>
        </p:nvSpPr>
        <p:spPr>
          <a:xfrm>
            <a:off x="838200" y="3500735"/>
            <a:ext cx="6781800" cy="461665"/>
          </a:xfrm>
          <a:prstGeom prst="rect">
            <a:avLst/>
          </a:prstGeom>
          <a:noFill/>
        </p:spPr>
        <p:txBody>
          <a:bodyPr wrap="square" rtlCol="0">
            <a:spAutoFit/>
          </a:bodyPr>
          <a:lstStyle/>
          <a:p>
            <a:pPr marL="342900" indent="-342900"/>
            <a:r>
              <a:rPr lang="en-US" sz="2400" dirty="0"/>
              <a:t>ii.  Government expenditure</a:t>
            </a:r>
          </a:p>
        </p:txBody>
      </p:sp>
      <p:sp>
        <p:nvSpPr>
          <p:cNvPr id="11" name="TextBox 10"/>
          <p:cNvSpPr txBox="1"/>
          <p:nvPr/>
        </p:nvSpPr>
        <p:spPr>
          <a:xfrm>
            <a:off x="838200" y="3881735"/>
            <a:ext cx="6781800" cy="461665"/>
          </a:xfrm>
          <a:prstGeom prst="rect">
            <a:avLst/>
          </a:prstGeom>
          <a:noFill/>
        </p:spPr>
        <p:txBody>
          <a:bodyPr wrap="square" rtlCol="0">
            <a:spAutoFit/>
          </a:bodyPr>
          <a:lstStyle/>
          <a:p>
            <a:pPr marL="342900" indent="-342900"/>
            <a:r>
              <a:rPr lang="en-US" sz="2400" dirty="0"/>
              <a:t>iii.  Taxation</a:t>
            </a:r>
          </a:p>
        </p:txBody>
      </p:sp>
      <p:sp>
        <p:nvSpPr>
          <p:cNvPr id="12" name="TextBox 11"/>
          <p:cNvSpPr txBox="1"/>
          <p:nvPr/>
        </p:nvSpPr>
        <p:spPr>
          <a:xfrm>
            <a:off x="838200" y="4262735"/>
            <a:ext cx="6781800" cy="461665"/>
          </a:xfrm>
          <a:prstGeom prst="rect">
            <a:avLst/>
          </a:prstGeom>
          <a:noFill/>
        </p:spPr>
        <p:txBody>
          <a:bodyPr wrap="square" rtlCol="0">
            <a:spAutoFit/>
          </a:bodyPr>
          <a:lstStyle/>
          <a:p>
            <a:pPr marL="342900" indent="-342900"/>
            <a:r>
              <a:rPr lang="en-US" sz="2400" dirty="0"/>
              <a:t>iv.  Public borrowings</a:t>
            </a:r>
          </a:p>
        </p:txBody>
      </p:sp>
      <p:sp>
        <p:nvSpPr>
          <p:cNvPr id="2" name="Footer Placeholder 1"/>
          <p:cNvSpPr>
            <a:spLocks noGrp="1"/>
          </p:cNvSpPr>
          <p:nvPr>
            <p:ph type="ftr" sz="quarter" idx="11"/>
          </p:nvPr>
        </p:nvSpPr>
        <p:spPr/>
        <p:txBody>
          <a:bodyPr/>
          <a:lstStyle/>
          <a:p>
            <a:pPr>
              <a:defRPr/>
            </a:pPr>
            <a:r>
              <a:rPr lang="en-US"/>
              <a:t>Macro/BSc in Mgt/2022</a:t>
            </a:r>
          </a:p>
        </p:txBody>
      </p:sp>
      <p:sp>
        <p:nvSpPr>
          <p:cNvPr id="13" name="Rectangle 12"/>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to="" calcmode="lin" valueType="num">
                                      <p:cBhvr>
                                        <p:cTn id="7" dur="1" fill="hold"/>
                                        <p:tgtEl>
                                          <p:spTgt spid="717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to="" calcmode="lin" valueType="num">
                                      <p:cBhvr>
                                        <p:cTn id="12" dur="1" fill="hold"/>
                                        <p:tgtEl>
                                          <p:spTgt spid="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attrNameLst>
                                          <p:attrName/>
                                        </p:attrNameLst>
                                      </p:cBhvr>
                                    </p:anim>
                                  </p:childTnLst>
                                </p:cTn>
                              </p:par>
                              <p:par>
                                <p:cTn id="18" presetID="24"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 to="" calcmode="lin" valueType="num">
                                      <p:cBhvr>
                                        <p:cTn id="20" dur="1" fill="hold"/>
                                        <p:tgtEl>
                                          <p:spTgt spid="11"/>
                                        </p:tgtEl>
                                        <p:attrNameLst>
                                          <p:attrName/>
                                        </p:attrNameLst>
                                      </p:cBhvr>
                                    </p:anim>
                                  </p:childTnLst>
                                </p:cTn>
                              </p:par>
                              <p:par>
                                <p:cTn id="21" presetID="24"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to="" calcmode="lin" valueType="num">
                                      <p:cBhvr>
                                        <p:cTn id="23" dur="1" fill="hold"/>
                                        <p:tgtEl>
                                          <p:spTgt spid="10"/>
                                        </p:tgtEl>
                                        <p:attrNameLst>
                                          <p:attrName/>
                                        </p:attrNameLst>
                                      </p:cBhvr>
                                    </p:anim>
                                  </p:childTnLst>
                                </p:cTn>
                              </p:par>
                              <p:par>
                                <p:cTn id="24" presetID="24"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to="" calcmode="lin" valueType="num">
                                      <p:cBhvr>
                                        <p:cTn id="26" dur="1" fill="hold"/>
                                        <p:tgtEl>
                                          <p:spTgt spid="12"/>
                                        </p:tgtEl>
                                        <p:attrNameLst>
                                          <p:attrName/>
                                        </p:attrNameLst>
                                      </p:cBhvr>
                                    </p:anim>
                                  </p:childTnLst>
                                </p:cTn>
                              </p:par>
                            </p:childTnLst>
                          </p:cTn>
                        </p:par>
                      </p:childTnLst>
                    </p:cTn>
                  </p:par>
                  <p:par>
                    <p:cTn id="27" fill="hold">
                      <p:stCondLst>
                        <p:cond delay="indefinite"/>
                      </p:stCondLst>
                      <p:childTnLst>
                        <p:par>
                          <p:cTn id="28" fill="hold">
                            <p:stCondLst>
                              <p:cond delay="0"/>
                            </p:stCondLst>
                            <p:childTnLst>
                              <p:par>
                                <p:cTn id="29" presetID="24"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to="" calcmode="lin" valueType="num">
                                      <p:cBhvr>
                                        <p:cTn id="31" dur="1" fill="hold"/>
                                        <p:tgtEl>
                                          <p:spTgt spid="1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6" grpId="0"/>
      <p:bldP spid="9" grpId="0"/>
      <p:bldP spid="10" grpId="0"/>
      <p:bldP spid="11"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0A1BDBB-3588-4E20-99CE-E65281F62D40}" type="slidenum">
              <a:rPr lang="en-US" smtClean="0"/>
              <a:pPr>
                <a:defRPr/>
              </a:pPr>
              <a:t>17</a:t>
            </a:fld>
            <a:endParaRPr lang="en-US" dirty="0"/>
          </a:p>
        </p:txBody>
      </p:sp>
      <p:sp>
        <p:nvSpPr>
          <p:cNvPr id="5" name="TextBox 4"/>
          <p:cNvSpPr txBox="1"/>
          <p:nvPr/>
        </p:nvSpPr>
        <p:spPr>
          <a:xfrm>
            <a:off x="304800" y="1752600"/>
            <a:ext cx="8077200" cy="461665"/>
          </a:xfrm>
          <a:prstGeom prst="rect">
            <a:avLst/>
          </a:prstGeom>
          <a:noFill/>
        </p:spPr>
        <p:txBody>
          <a:bodyPr wrap="square" rtlCol="0">
            <a:spAutoFit/>
          </a:bodyPr>
          <a:lstStyle/>
          <a:p>
            <a:pPr marL="342900" indent="-342900">
              <a:buFont typeface="+mj-lt"/>
              <a:buAutoNum type="romanLcPeriod"/>
            </a:pPr>
            <a:r>
              <a:rPr lang="en-US" sz="2400" b="1" i="1" dirty="0"/>
              <a:t> Budgetary Policy </a:t>
            </a:r>
          </a:p>
        </p:txBody>
      </p:sp>
      <p:sp>
        <p:nvSpPr>
          <p:cNvPr id="7" name="Title 1"/>
          <p:cNvSpPr txBox="1">
            <a:spLocks/>
          </p:cNvSpPr>
          <p:nvPr/>
        </p:nvSpPr>
        <p:spPr>
          <a:xfrm>
            <a:off x="457200" y="1143000"/>
            <a:ext cx="7848600" cy="11430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1" u="sng" strike="noStrike" kern="1200" cap="none" spc="0" normalizeH="0" baseline="0" noProof="0" dirty="0">
                <a:ln>
                  <a:noFill/>
                </a:ln>
                <a:solidFill>
                  <a:schemeClr val="tx2"/>
                </a:solidFill>
                <a:effectLst/>
                <a:uLnTx/>
                <a:uFillTx/>
                <a:latin typeface="Arial" pitchFamily="34" charset="0"/>
                <a:ea typeface="+mj-ea"/>
                <a:cs typeface="Arial" pitchFamily="34" charset="0"/>
              </a:rPr>
              <a:t>Fiscal Instruments </a:t>
            </a:r>
          </a:p>
        </p:txBody>
      </p:sp>
      <p:sp>
        <p:nvSpPr>
          <p:cNvPr id="8" name="Rectangle 7"/>
          <p:cNvSpPr/>
          <p:nvPr/>
        </p:nvSpPr>
        <p:spPr>
          <a:xfrm>
            <a:off x="914400" y="2263914"/>
            <a:ext cx="7620000" cy="707886"/>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budgetary policy refers to government’s plan to keep its budget in balance, in surplus or in deficit. </a:t>
            </a:r>
          </a:p>
        </p:txBody>
      </p:sp>
      <p:sp>
        <p:nvSpPr>
          <p:cNvPr id="9" name="Rectangle 8"/>
          <p:cNvSpPr/>
          <p:nvPr/>
        </p:nvSpPr>
        <p:spPr>
          <a:xfrm>
            <a:off x="914400" y="3025914"/>
            <a:ext cx="7620000" cy="707886"/>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Balanced, deficit and surplus budgets affect the economy in different ways, to different extents, and in different directions.</a:t>
            </a:r>
          </a:p>
        </p:txBody>
      </p:sp>
      <p:sp>
        <p:nvSpPr>
          <p:cNvPr id="10" name="TextBox 9"/>
          <p:cNvSpPr txBox="1"/>
          <p:nvPr/>
        </p:nvSpPr>
        <p:spPr>
          <a:xfrm>
            <a:off x="381000" y="3805535"/>
            <a:ext cx="8077200" cy="461665"/>
          </a:xfrm>
          <a:prstGeom prst="rect">
            <a:avLst/>
          </a:prstGeom>
          <a:noFill/>
        </p:spPr>
        <p:txBody>
          <a:bodyPr wrap="square" rtlCol="0">
            <a:spAutoFit/>
          </a:bodyPr>
          <a:lstStyle/>
          <a:p>
            <a:pPr marL="342900" indent="-342900"/>
            <a:r>
              <a:rPr lang="en-US" sz="2400" b="1" i="1" dirty="0"/>
              <a:t>ii.   Government Expenditure</a:t>
            </a:r>
          </a:p>
        </p:txBody>
      </p:sp>
      <p:sp>
        <p:nvSpPr>
          <p:cNvPr id="11" name="Rectangle 10"/>
          <p:cNvSpPr/>
          <p:nvPr/>
        </p:nvSpPr>
        <p:spPr>
          <a:xfrm>
            <a:off x="990600" y="4321314"/>
            <a:ext cx="7620000" cy="1323439"/>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Government expenditure includes total public spending on purchase of goods and services, payment of wages and salaries to public servants, public investment, infrastructure development, transfer payments.  </a:t>
            </a:r>
          </a:p>
        </p:txBody>
      </p:sp>
      <p:sp>
        <p:nvSpPr>
          <p:cNvPr id="12" name="Rectangle 11"/>
          <p:cNvSpPr/>
          <p:nvPr/>
        </p:nvSpPr>
        <p:spPr>
          <a:xfrm>
            <a:off x="990600" y="5638800"/>
            <a:ext cx="7620000" cy="707886"/>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The government expenditure is an injection into the economy, it adds to the aggregate demand.</a:t>
            </a:r>
          </a:p>
        </p:txBody>
      </p:sp>
      <p:sp>
        <p:nvSpPr>
          <p:cNvPr id="2" name="Footer Placeholder 1"/>
          <p:cNvSpPr>
            <a:spLocks noGrp="1"/>
          </p:cNvSpPr>
          <p:nvPr>
            <p:ph type="ftr" sz="quarter" idx="11"/>
          </p:nvPr>
        </p:nvSpPr>
        <p:spPr/>
        <p:txBody>
          <a:bodyPr/>
          <a:lstStyle/>
          <a:p>
            <a:pPr>
              <a:defRPr/>
            </a:pPr>
            <a:r>
              <a:rPr lang="en-US"/>
              <a:t>Macro/BSc in Mgt/2022</a:t>
            </a:r>
          </a:p>
        </p:txBody>
      </p:sp>
      <p:sp>
        <p:nvSpPr>
          <p:cNvPr id="13" name="Rectangle 12"/>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to="" calcmode="lin" valueType="num">
                                      <p:cBhvr>
                                        <p:cTn id="7" dur="1" fill="hold"/>
                                        <p:tgtEl>
                                          <p:spTgt spid="13"/>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to="" calcmode="lin" valueType="num">
                                      <p:cBhvr>
                                        <p:cTn id="27" dur="1" fill="hold"/>
                                        <p:tgtEl>
                                          <p:spTgt spid="10"/>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 to="" calcmode="lin" valueType="num">
                                      <p:cBhvr>
                                        <p:cTn id="32" dur="1" fill="hold"/>
                                        <p:tgtEl>
                                          <p:spTgt spid="11"/>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to="" calcmode="lin" valueType="num">
                                      <p:cBhvr>
                                        <p:cTn id="37" dur="1" fill="hold"/>
                                        <p:tgtEl>
                                          <p:spTgt spid="1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0A1BDBB-3588-4E20-99CE-E65281F62D40}" type="slidenum">
              <a:rPr lang="en-US" smtClean="0"/>
              <a:pPr>
                <a:defRPr/>
              </a:pPr>
              <a:t>18</a:t>
            </a:fld>
            <a:endParaRPr lang="en-US" dirty="0"/>
          </a:p>
        </p:txBody>
      </p:sp>
      <p:sp>
        <p:nvSpPr>
          <p:cNvPr id="5" name="TextBox 4"/>
          <p:cNvSpPr txBox="1"/>
          <p:nvPr/>
        </p:nvSpPr>
        <p:spPr>
          <a:xfrm>
            <a:off x="304800" y="1219200"/>
            <a:ext cx="8077200" cy="461665"/>
          </a:xfrm>
          <a:prstGeom prst="rect">
            <a:avLst/>
          </a:prstGeom>
          <a:noFill/>
        </p:spPr>
        <p:txBody>
          <a:bodyPr wrap="square" rtlCol="0">
            <a:spAutoFit/>
          </a:bodyPr>
          <a:lstStyle/>
          <a:p>
            <a:pPr marL="342900" indent="-342900"/>
            <a:r>
              <a:rPr lang="en-US" sz="2400" b="1" i="1" dirty="0"/>
              <a:t>iii.  Taxation </a:t>
            </a:r>
          </a:p>
        </p:txBody>
      </p:sp>
      <p:sp>
        <p:nvSpPr>
          <p:cNvPr id="8" name="Rectangle 7"/>
          <p:cNvSpPr/>
          <p:nvPr/>
        </p:nvSpPr>
        <p:spPr>
          <a:xfrm>
            <a:off x="914400" y="1578114"/>
            <a:ext cx="7620000" cy="400110"/>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taxes are classified as direct taxes and indirect taxes.</a:t>
            </a:r>
          </a:p>
        </p:txBody>
      </p:sp>
      <p:sp>
        <p:nvSpPr>
          <p:cNvPr id="9" name="Rectangle 8"/>
          <p:cNvSpPr/>
          <p:nvPr/>
        </p:nvSpPr>
        <p:spPr>
          <a:xfrm>
            <a:off x="914400" y="1959114"/>
            <a:ext cx="7620000" cy="707886"/>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direct taxes included taxes on personal incomes, corporate incomes, wealth and property.</a:t>
            </a:r>
          </a:p>
        </p:txBody>
      </p:sp>
      <p:sp>
        <p:nvSpPr>
          <p:cNvPr id="10" name="TextBox 9"/>
          <p:cNvSpPr txBox="1"/>
          <p:nvPr/>
        </p:nvSpPr>
        <p:spPr>
          <a:xfrm>
            <a:off x="381000" y="3429000"/>
            <a:ext cx="8077200" cy="461665"/>
          </a:xfrm>
          <a:prstGeom prst="rect">
            <a:avLst/>
          </a:prstGeom>
          <a:noFill/>
        </p:spPr>
        <p:txBody>
          <a:bodyPr wrap="square" rtlCol="0">
            <a:spAutoFit/>
          </a:bodyPr>
          <a:lstStyle/>
          <a:p>
            <a:pPr marL="342900" indent="-342900"/>
            <a:r>
              <a:rPr lang="en-US" sz="2400" b="1" i="1" dirty="0"/>
              <a:t>iv.   Public Borrowings</a:t>
            </a:r>
          </a:p>
        </p:txBody>
      </p:sp>
      <p:sp>
        <p:nvSpPr>
          <p:cNvPr id="12" name="Rectangle 11"/>
          <p:cNvSpPr/>
          <p:nvPr/>
        </p:nvSpPr>
        <p:spPr>
          <a:xfrm>
            <a:off x="990600" y="3814465"/>
            <a:ext cx="7620000" cy="707886"/>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Public borrowings include both internal and external borrowings.</a:t>
            </a:r>
          </a:p>
        </p:txBody>
      </p:sp>
      <p:sp>
        <p:nvSpPr>
          <p:cNvPr id="13" name="Rectangle 12"/>
          <p:cNvSpPr/>
          <p:nvPr/>
        </p:nvSpPr>
        <p:spPr>
          <a:xfrm>
            <a:off x="914400" y="2644914"/>
            <a:ext cx="7620000" cy="707886"/>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Indirect taxes includes taxes on production and sale of the goods and services.</a:t>
            </a:r>
          </a:p>
        </p:txBody>
      </p:sp>
      <p:sp>
        <p:nvSpPr>
          <p:cNvPr id="14" name="Rectangle 13"/>
          <p:cNvSpPr/>
          <p:nvPr/>
        </p:nvSpPr>
        <p:spPr>
          <a:xfrm>
            <a:off x="1066800" y="4500265"/>
            <a:ext cx="7620000" cy="1015663"/>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Internal borrowings are two types; </a:t>
            </a:r>
            <a:r>
              <a:rPr lang="en-US" sz="2000" i="1" dirty="0" err="1">
                <a:solidFill>
                  <a:srgbClr val="002060"/>
                </a:solidFill>
              </a:rPr>
              <a:t>i</a:t>
            </a:r>
            <a:r>
              <a:rPr lang="en-US" sz="2000" i="1" dirty="0">
                <a:solidFill>
                  <a:srgbClr val="002060"/>
                </a:solidFill>
              </a:rPr>
              <a:t>). Borrowings from public (government bonds &amp; treasury bills). ii).  Borrowings from the central bank. </a:t>
            </a:r>
          </a:p>
        </p:txBody>
      </p:sp>
      <p:sp>
        <p:nvSpPr>
          <p:cNvPr id="15" name="Rectangle 14"/>
          <p:cNvSpPr/>
          <p:nvPr/>
        </p:nvSpPr>
        <p:spPr>
          <a:xfrm>
            <a:off x="1066800" y="5468779"/>
            <a:ext cx="7620000" cy="1015663"/>
          </a:xfrm>
          <a:prstGeom prst="rect">
            <a:avLst/>
          </a:prstGeom>
        </p:spPr>
        <p:txBody>
          <a:bodyPr wrap="square">
            <a:spAutoFit/>
          </a:bodyPr>
          <a:lstStyle/>
          <a:p>
            <a:pPr algn="just" eaLnBrk="1" hangingPunct="1">
              <a:buClr>
                <a:srgbClr val="C00000"/>
              </a:buClr>
              <a:buFont typeface="Wingdings" pitchFamily="2" charset="2"/>
              <a:buChar char="ü"/>
            </a:pPr>
            <a:r>
              <a:rPr lang="en-US" sz="2000" i="1" dirty="0">
                <a:solidFill>
                  <a:srgbClr val="002060"/>
                </a:solidFill>
              </a:rPr>
              <a:t>   External borrowings include borrowings from; foreign governments, international organizations (world bank, IMF), market borrowings</a:t>
            </a:r>
          </a:p>
        </p:txBody>
      </p:sp>
      <p:sp>
        <p:nvSpPr>
          <p:cNvPr id="2" name="Footer Placeholder 1"/>
          <p:cNvSpPr>
            <a:spLocks noGrp="1"/>
          </p:cNvSpPr>
          <p:nvPr>
            <p:ph type="ftr" sz="quarter" idx="11"/>
          </p:nvPr>
        </p:nvSpPr>
        <p:spPr/>
        <p:txBody>
          <a:bodyPr/>
          <a:lstStyle/>
          <a:p>
            <a:pPr>
              <a:defRPr/>
            </a:pPr>
            <a:r>
              <a:rPr lang="en-US"/>
              <a:t>Macro/BSc in Mgt/2022</a:t>
            </a:r>
          </a:p>
        </p:txBody>
      </p:sp>
      <p:sp>
        <p:nvSpPr>
          <p:cNvPr id="16" name="Rectangle 15"/>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to="" calcmode="lin" valueType="num">
                                      <p:cBhvr>
                                        <p:cTn id="7" dur="1" fill="hold"/>
                                        <p:tgtEl>
                                          <p:spTgt spid="16"/>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to="" calcmode="lin" valueType="num">
                                      <p:cBhvr>
                                        <p:cTn id="27" dur="1" fill="hold"/>
                                        <p:tgtEl>
                                          <p:spTgt spid="13"/>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to="" calcmode="lin" valueType="num">
                                      <p:cBhvr>
                                        <p:cTn id="32" dur="1" fill="hold"/>
                                        <p:tgtEl>
                                          <p:spTgt spid="10"/>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to="" calcmode="lin" valueType="num">
                                      <p:cBhvr>
                                        <p:cTn id="37" dur="1" fill="hold"/>
                                        <p:tgtEl>
                                          <p:spTgt spid="12"/>
                                        </p:tgtEl>
                                        <p:attrNameLst>
                                          <p:attrName/>
                                        </p:attrNameLst>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 to="" calcmode="lin" valueType="num">
                                      <p:cBhvr>
                                        <p:cTn id="42" dur="1" fill="hold"/>
                                        <p:tgtEl>
                                          <p:spTgt spid="14"/>
                                        </p:tgtEl>
                                        <p:attrNameLst>
                                          <p:attrName/>
                                        </p:attrNameLst>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to="" calcmode="lin" valueType="num">
                                      <p:cBhvr>
                                        <p:cTn id="47" dur="1" fill="hold"/>
                                        <p:tgtEl>
                                          <p:spTgt spid="1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2" grpId="0"/>
      <p:bldP spid="13" grpId="0"/>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0A1BDBB-3588-4E20-99CE-E65281F62D40}" type="slidenum">
              <a:rPr lang="en-US" smtClean="0"/>
              <a:pPr>
                <a:defRPr/>
              </a:pPr>
              <a:t>19</a:t>
            </a:fld>
            <a:endParaRPr lang="en-US" dirty="0"/>
          </a:p>
        </p:txBody>
      </p:sp>
      <p:sp>
        <p:nvSpPr>
          <p:cNvPr id="5" name="TextBox 4"/>
          <p:cNvSpPr txBox="1"/>
          <p:nvPr/>
        </p:nvSpPr>
        <p:spPr>
          <a:xfrm>
            <a:off x="304800" y="1531203"/>
            <a:ext cx="8839200" cy="830997"/>
          </a:xfrm>
          <a:prstGeom prst="rect">
            <a:avLst/>
          </a:prstGeom>
          <a:noFill/>
        </p:spPr>
        <p:txBody>
          <a:bodyPr wrap="square" rtlCol="0">
            <a:spAutoFit/>
          </a:bodyPr>
          <a:lstStyle/>
          <a:p>
            <a:pPr marL="342900" indent="-342900">
              <a:buFont typeface="Wingdings" pitchFamily="2" charset="2"/>
              <a:buChar char="v"/>
            </a:pPr>
            <a:r>
              <a:rPr lang="en-US" sz="2400" b="1" i="1" dirty="0"/>
              <a:t>  The target variable of fiscal policy targets to change aggregate demand. </a:t>
            </a:r>
          </a:p>
        </p:txBody>
      </p:sp>
      <p:sp>
        <p:nvSpPr>
          <p:cNvPr id="7" name="Title 1"/>
          <p:cNvSpPr txBox="1">
            <a:spLocks/>
          </p:cNvSpPr>
          <p:nvPr/>
        </p:nvSpPr>
        <p:spPr>
          <a:xfrm>
            <a:off x="503830" y="803701"/>
            <a:ext cx="7848600" cy="11430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i="1" u="sng" dirty="0">
                <a:solidFill>
                  <a:schemeClr val="tx2"/>
                </a:solidFill>
                <a:ea typeface="+mj-ea"/>
              </a:rPr>
              <a:t>Target Variables</a:t>
            </a:r>
            <a:r>
              <a:rPr kumimoji="0" lang="en-US" sz="2800" b="0" i="1" u="sng" strike="noStrike" kern="1200" cap="none" spc="0" normalizeH="0" baseline="0" noProof="0" dirty="0">
                <a:ln>
                  <a:noFill/>
                </a:ln>
                <a:solidFill>
                  <a:schemeClr val="tx2"/>
                </a:solidFill>
                <a:effectLst/>
                <a:uLnTx/>
                <a:uFillTx/>
                <a:latin typeface="Arial" pitchFamily="34" charset="0"/>
                <a:ea typeface="+mj-ea"/>
                <a:cs typeface="Arial" pitchFamily="34" charset="0"/>
              </a:rPr>
              <a:t> </a:t>
            </a:r>
          </a:p>
        </p:txBody>
      </p:sp>
      <p:sp>
        <p:nvSpPr>
          <p:cNvPr id="13" name="Rectangle 12"/>
          <p:cNvSpPr/>
          <p:nvPr/>
        </p:nvSpPr>
        <p:spPr>
          <a:xfrm>
            <a:off x="914400" y="2483584"/>
            <a:ext cx="7620000" cy="2343655"/>
          </a:xfrm>
          <a:prstGeom prst="rect">
            <a:avLst/>
          </a:prstGeom>
        </p:spPr>
        <p:txBody>
          <a:bodyPr wrap="square">
            <a:spAutoFit/>
          </a:bodyPr>
          <a:lstStyle/>
          <a:p>
            <a:pPr marL="457200" indent="-457200" algn="just" eaLnBrk="1" hangingPunct="1">
              <a:lnSpc>
                <a:spcPct val="150000"/>
              </a:lnSpc>
              <a:buClr>
                <a:srgbClr val="C00000"/>
              </a:buClr>
              <a:buFont typeface="+mj-lt"/>
              <a:buAutoNum type="alphaLcParenR"/>
            </a:pPr>
            <a:r>
              <a:rPr lang="en-US" sz="2000" i="1" dirty="0">
                <a:solidFill>
                  <a:srgbClr val="002060"/>
                </a:solidFill>
              </a:rPr>
              <a:t> Private disposable incomes.</a:t>
            </a:r>
          </a:p>
          <a:p>
            <a:pPr marL="457200" indent="-457200" algn="just" eaLnBrk="1" hangingPunct="1">
              <a:lnSpc>
                <a:spcPct val="150000"/>
              </a:lnSpc>
              <a:buClr>
                <a:srgbClr val="C00000"/>
              </a:buClr>
              <a:buFont typeface="+mj-lt"/>
              <a:buAutoNum type="alphaLcParenR"/>
            </a:pPr>
            <a:r>
              <a:rPr lang="en-US" sz="2000" i="1" dirty="0">
                <a:solidFill>
                  <a:srgbClr val="002060"/>
                </a:solidFill>
              </a:rPr>
              <a:t> private consumption expenditure</a:t>
            </a:r>
          </a:p>
          <a:p>
            <a:pPr marL="457200" indent="-457200" algn="just" eaLnBrk="1" hangingPunct="1">
              <a:lnSpc>
                <a:spcPct val="150000"/>
              </a:lnSpc>
              <a:buClr>
                <a:srgbClr val="C00000"/>
              </a:buClr>
              <a:buFont typeface="+mj-lt"/>
              <a:buAutoNum type="alphaLcParenR"/>
            </a:pPr>
            <a:r>
              <a:rPr lang="en-US" sz="2000" i="1" dirty="0">
                <a:solidFill>
                  <a:srgbClr val="002060"/>
                </a:solidFill>
              </a:rPr>
              <a:t> private savings and investments</a:t>
            </a:r>
          </a:p>
          <a:p>
            <a:pPr marL="457200" indent="-457200" algn="just" eaLnBrk="1" hangingPunct="1">
              <a:lnSpc>
                <a:spcPct val="150000"/>
              </a:lnSpc>
              <a:buClr>
                <a:srgbClr val="C00000"/>
              </a:buClr>
              <a:buFont typeface="+mj-lt"/>
              <a:buAutoNum type="alphaLcParenR"/>
            </a:pPr>
            <a:r>
              <a:rPr lang="en-US" sz="2000" i="1" dirty="0">
                <a:solidFill>
                  <a:srgbClr val="002060"/>
                </a:solidFill>
              </a:rPr>
              <a:t> exports and imports</a:t>
            </a:r>
          </a:p>
          <a:p>
            <a:pPr marL="457200" indent="-457200" algn="just" eaLnBrk="1" hangingPunct="1">
              <a:lnSpc>
                <a:spcPct val="150000"/>
              </a:lnSpc>
              <a:buClr>
                <a:srgbClr val="C00000"/>
              </a:buClr>
              <a:buFont typeface="+mj-lt"/>
              <a:buAutoNum type="alphaLcParenR"/>
            </a:pPr>
            <a:r>
              <a:rPr lang="en-US" sz="2000" i="1" dirty="0">
                <a:solidFill>
                  <a:srgbClr val="002060"/>
                </a:solidFill>
              </a:rPr>
              <a:t> level and structure of prices</a:t>
            </a:r>
          </a:p>
        </p:txBody>
      </p:sp>
      <p:sp>
        <p:nvSpPr>
          <p:cNvPr id="2" name="Footer Placeholder 1"/>
          <p:cNvSpPr>
            <a:spLocks noGrp="1"/>
          </p:cNvSpPr>
          <p:nvPr>
            <p:ph type="ftr" sz="quarter" idx="11"/>
          </p:nvPr>
        </p:nvSpPr>
        <p:spPr/>
        <p:txBody>
          <a:bodyPr/>
          <a:lstStyle/>
          <a:p>
            <a:pPr>
              <a:defRPr/>
            </a:pPr>
            <a:r>
              <a:rPr lang="en-US"/>
              <a:t>Macro/BSc in Mgt/2022</a:t>
            </a:r>
          </a:p>
        </p:txBody>
      </p:sp>
      <p:sp>
        <p:nvSpPr>
          <p:cNvPr id="8" name="Rectangle 7"/>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to="" calcmode="lin" valueType="num">
                                      <p:cBhvr>
                                        <p:cTn id="7" dur="1" fill="hold"/>
                                        <p:tgtEl>
                                          <p:spTgt spid="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to="" calcmode="lin" valueType="num">
                                      <p:cBhvr>
                                        <p:cTn id="12" dur="1" fill="hold"/>
                                        <p:tgtEl>
                                          <p:spTgt spid="7"/>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to="" calcmode="lin" valueType="num">
                                      <p:cBhvr>
                                        <p:cTn id="17" dur="1" fill="hold"/>
                                        <p:tgtEl>
                                          <p:spTgt spid="5"/>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1" fill="hold"/>
                                        <p:tgtEl>
                                          <p:spTgt spid="1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3"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0A1BDBB-3588-4E20-99CE-E65281F62D40}" type="slidenum">
              <a:rPr lang="en-US" smtClean="0">
                <a:solidFill>
                  <a:srgbClr val="000000">
                    <a:shade val="90000"/>
                  </a:srgbClr>
                </a:solidFill>
              </a:rPr>
              <a:pPr>
                <a:defRPr/>
              </a:pPr>
              <a:t>20</a:t>
            </a:fld>
            <a:endParaRPr lang="en-US" dirty="0">
              <a:solidFill>
                <a:srgbClr val="000000">
                  <a:shade val="90000"/>
                </a:srgbClr>
              </a:solidFill>
            </a:endParaRPr>
          </a:p>
        </p:txBody>
      </p:sp>
      <p:sp>
        <p:nvSpPr>
          <p:cNvPr id="5" name="TextBox 4"/>
          <p:cNvSpPr txBox="1"/>
          <p:nvPr/>
        </p:nvSpPr>
        <p:spPr>
          <a:xfrm>
            <a:off x="432179" y="933272"/>
            <a:ext cx="8077200" cy="461665"/>
          </a:xfrm>
          <a:prstGeom prst="rect">
            <a:avLst/>
          </a:prstGeom>
          <a:noFill/>
        </p:spPr>
        <p:txBody>
          <a:bodyPr wrap="square" rtlCol="0">
            <a:spAutoFit/>
          </a:bodyPr>
          <a:lstStyle/>
          <a:p>
            <a:pPr marL="342900" indent="-342900">
              <a:buFont typeface="Wingdings" panose="05000000000000000000" pitchFamily="2" charset="2"/>
              <a:buChar char="v"/>
            </a:pPr>
            <a:r>
              <a:rPr lang="en-US" sz="2400" b="1" i="1" dirty="0">
                <a:solidFill>
                  <a:prstClr val="black"/>
                </a:solidFill>
              </a:rPr>
              <a:t>How Fiscal Instruments Affect Target Variables?? </a:t>
            </a:r>
          </a:p>
        </p:txBody>
      </p:sp>
      <p:sp>
        <p:nvSpPr>
          <p:cNvPr id="8" name="Rectangle 7"/>
          <p:cNvSpPr/>
          <p:nvPr/>
        </p:nvSpPr>
        <p:spPr>
          <a:xfrm>
            <a:off x="914400" y="1578114"/>
            <a:ext cx="7620000" cy="1938992"/>
          </a:xfrm>
          <a:prstGeom prst="rect">
            <a:avLst/>
          </a:prstGeom>
        </p:spPr>
        <p:txBody>
          <a:bodyPr wrap="square">
            <a:spAutoFit/>
          </a:bodyPr>
          <a:lstStyle/>
          <a:p>
            <a:pPr algn="just">
              <a:buClr>
                <a:srgbClr val="C00000"/>
              </a:buClr>
              <a:buFont typeface="Wingdings" pitchFamily="2" charset="2"/>
              <a:buChar char="ü"/>
            </a:pPr>
            <a:r>
              <a:rPr lang="en-US" sz="2400" i="1" dirty="0">
                <a:solidFill>
                  <a:srgbClr val="002060"/>
                </a:solidFill>
              </a:rPr>
              <a:t>   A change in one policy variable can affect many other macro variables. For ex.. A change in taxation changes first the disposable income which in turn changes the consumption expenditure (C), savings (S) and investments (I).</a:t>
            </a:r>
          </a:p>
        </p:txBody>
      </p:sp>
      <p:sp>
        <p:nvSpPr>
          <p:cNvPr id="2" name="Footer Placeholder 1"/>
          <p:cNvSpPr>
            <a:spLocks noGrp="1"/>
          </p:cNvSpPr>
          <p:nvPr>
            <p:ph type="ftr" sz="quarter" idx="11"/>
          </p:nvPr>
        </p:nvSpPr>
        <p:spPr/>
        <p:txBody>
          <a:bodyPr/>
          <a:lstStyle/>
          <a:p>
            <a:pPr>
              <a:defRPr/>
            </a:pPr>
            <a:r>
              <a:rPr lang="en-US">
                <a:solidFill>
                  <a:srgbClr val="000000">
                    <a:shade val="90000"/>
                  </a:srgbClr>
                </a:solidFill>
              </a:rPr>
              <a:t>Macro/BSc in Mgt/2022</a:t>
            </a:r>
          </a:p>
        </p:txBody>
      </p:sp>
      <p:sp>
        <p:nvSpPr>
          <p:cNvPr id="16" name="Rectangle 15"/>
          <p:cNvSpPr/>
          <p:nvPr/>
        </p:nvSpPr>
        <p:spPr>
          <a:xfrm>
            <a:off x="0" y="57975"/>
            <a:ext cx="8915400" cy="523220"/>
          </a:xfrm>
          <a:prstGeom prst="rect">
            <a:avLst/>
          </a:prstGeom>
        </p:spPr>
        <p:txBody>
          <a:bodyPr wrap="square">
            <a:spAutoFit/>
          </a:bodyPr>
          <a:lstStyle/>
          <a:p>
            <a:r>
              <a:rPr lang="en-GB" sz="2800" b="1" i="1" dirty="0" err="1">
                <a:solidFill>
                  <a:prstClr val="black"/>
                </a:solidFill>
              </a:rPr>
              <a:t>Cont</a:t>
            </a:r>
            <a:r>
              <a:rPr lang="en-GB" sz="2800" b="1" i="1" dirty="0">
                <a:solidFill>
                  <a:prstClr val="black"/>
                </a:solidFill>
              </a:rPr>
              <a:t>…</a:t>
            </a:r>
            <a:endParaRPr lang="en-US" sz="2800" b="1" i="1" dirty="0">
              <a:solidFill>
                <a:prstClr val="black"/>
              </a:solidFill>
            </a:endParaRPr>
          </a:p>
        </p:txBody>
      </p:sp>
      <p:sp>
        <p:nvSpPr>
          <p:cNvPr id="17" name="Rectangle 16"/>
          <p:cNvSpPr/>
          <p:nvPr/>
        </p:nvSpPr>
        <p:spPr>
          <a:xfrm>
            <a:off x="914400" y="3657600"/>
            <a:ext cx="7620000" cy="2308324"/>
          </a:xfrm>
          <a:prstGeom prst="rect">
            <a:avLst/>
          </a:prstGeom>
        </p:spPr>
        <p:txBody>
          <a:bodyPr wrap="square">
            <a:spAutoFit/>
          </a:bodyPr>
          <a:lstStyle/>
          <a:p>
            <a:pPr algn="just">
              <a:buClr>
                <a:srgbClr val="C00000"/>
              </a:buClr>
              <a:buFont typeface="Wingdings" pitchFamily="2" charset="2"/>
              <a:buChar char="ü"/>
            </a:pPr>
            <a:r>
              <a:rPr lang="en-US" sz="2400" i="1" dirty="0">
                <a:solidFill>
                  <a:srgbClr val="002060"/>
                </a:solidFill>
              </a:rPr>
              <a:t>   The government can change the AD:</a:t>
            </a:r>
          </a:p>
          <a:p>
            <a:pPr algn="just">
              <a:buClr>
                <a:srgbClr val="C00000"/>
              </a:buClr>
            </a:pPr>
            <a:r>
              <a:rPr lang="en-US" sz="2400" i="1" dirty="0">
                <a:solidFill>
                  <a:srgbClr val="002060"/>
                </a:solidFill>
              </a:rPr>
              <a:t>     a) by changing C by changing </a:t>
            </a:r>
            <a:r>
              <a:rPr lang="en-US" sz="2400" i="1" dirty="0" err="1">
                <a:solidFill>
                  <a:srgbClr val="002060"/>
                </a:solidFill>
              </a:rPr>
              <a:t>Yd</a:t>
            </a:r>
            <a:r>
              <a:rPr lang="en-US" sz="2400" i="1" dirty="0">
                <a:solidFill>
                  <a:srgbClr val="002060"/>
                </a:solidFill>
              </a:rPr>
              <a:t> through T.</a:t>
            </a:r>
          </a:p>
          <a:p>
            <a:pPr algn="just">
              <a:buClr>
                <a:srgbClr val="C00000"/>
              </a:buClr>
            </a:pPr>
            <a:r>
              <a:rPr lang="en-US" sz="2400" i="1" dirty="0">
                <a:solidFill>
                  <a:srgbClr val="002060"/>
                </a:solidFill>
              </a:rPr>
              <a:t>     b) by changing imports (M) through tariffs.</a:t>
            </a:r>
          </a:p>
          <a:p>
            <a:pPr algn="just">
              <a:buClr>
                <a:srgbClr val="C00000"/>
              </a:buClr>
            </a:pPr>
            <a:r>
              <a:rPr lang="en-US" sz="2400" i="1" dirty="0">
                <a:solidFill>
                  <a:srgbClr val="002060"/>
                </a:solidFill>
              </a:rPr>
              <a:t>     c) by changing I through tax incentives and    </a:t>
            </a:r>
          </a:p>
          <a:p>
            <a:pPr algn="just">
              <a:buClr>
                <a:srgbClr val="C00000"/>
              </a:buClr>
            </a:pPr>
            <a:r>
              <a:rPr lang="en-US" sz="2400" i="1" dirty="0">
                <a:solidFill>
                  <a:srgbClr val="002060"/>
                </a:solidFill>
              </a:rPr>
              <a:t>         disincentives. </a:t>
            </a:r>
          </a:p>
          <a:p>
            <a:pPr algn="just">
              <a:buClr>
                <a:srgbClr val="C00000"/>
              </a:buClr>
            </a:pPr>
            <a:r>
              <a:rPr lang="en-US" sz="2400" i="1" dirty="0">
                <a:solidFill>
                  <a:srgbClr val="002060"/>
                </a:solidFill>
              </a:rPr>
              <a:t>    d)  by changing G.</a:t>
            </a:r>
          </a:p>
        </p:txBody>
      </p:sp>
    </p:spTree>
    <p:extLst>
      <p:ext uri="{BB962C8B-B14F-4D97-AF65-F5344CB8AC3E}">
        <p14:creationId xmlns:p14="http://schemas.microsoft.com/office/powerpoint/2010/main" val="174270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to="" calcmode="lin" valueType="num">
                                      <p:cBhvr>
                                        <p:cTn id="7" dur="1" fill="hold"/>
                                        <p:tgtEl>
                                          <p:spTgt spid="16"/>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to="" calcmode="lin" valueType="num">
                                      <p:cBhvr>
                                        <p:cTn id="22" dur="1" fill="hold"/>
                                        <p:tgtEl>
                                          <p:spTgt spid="1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0A1BDBB-3588-4E20-99CE-E65281F62D40}" type="slidenum">
              <a:rPr lang="en-US" smtClean="0"/>
              <a:pPr>
                <a:defRPr/>
              </a:pPr>
              <a:t>21</a:t>
            </a:fld>
            <a:endParaRPr lang="en-US" dirty="0"/>
          </a:p>
        </p:txBody>
      </p:sp>
      <p:sp>
        <p:nvSpPr>
          <p:cNvPr id="5" name="TextBox 4"/>
          <p:cNvSpPr txBox="1"/>
          <p:nvPr/>
        </p:nvSpPr>
        <p:spPr>
          <a:xfrm>
            <a:off x="304800" y="1654314"/>
            <a:ext cx="8458200" cy="1323439"/>
          </a:xfrm>
          <a:prstGeom prst="rect">
            <a:avLst/>
          </a:prstGeom>
          <a:noFill/>
        </p:spPr>
        <p:txBody>
          <a:bodyPr wrap="square" rtlCol="0">
            <a:spAutoFit/>
          </a:bodyPr>
          <a:lstStyle/>
          <a:p>
            <a:pPr marL="342900" indent="-342900" algn="just">
              <a:buFont typeface="Wingdings" pitchFamily="2" charset="2"/>
              <a:buChar char="v"/>
            </a:pPr>
            <a:r>
              <a:rPr lang="en-US" sz="2000" i="1" dirty="0"/>
              <a:t>  “ Monetary policy is essentially a </a:t>
            </a:r>
            <a:r>
              <a:rPr lang="en-US" sz="2000" i="1" dirty="0" err="1"/>
              <a:t>programme</a:t>
            </a:r>
            <a:r>
              <a:rPr lang="en-US" sz="2000" i="1" dirty="0"/>
              <a:t> of action undertaken by the central bank to control and regulate the supply of money with the public and the flow of credit with a view to achieving predetermined macroeconomic goals”</a:t>
            </a:r>
          </a:p>
        </p:txBody>
      </p:sp>
      <p:sp>
        <p:nvSpPr>
          <p:cNvPr id="6" name="Rectangle 5"/>
          <p:cNvSpPr/>
          <p:nvPr/>
        </p:nvSpPr>
        <p:spPr>
          <a:xfrm>
            <a:off x="2286000" y="228600"/>
            <a:ext cx="6705600" cy="584775"/>
          </a:xfrm>
          <a:prstGeom prst="rect">
            <a:avLst/>
          </a:prstGeom>
        </p:spPr>
        <p:txBody>
          <a:bodyPr wrap="square">
            <a:spAutoFit/>
          </a:bodyPr>
          <a:lstStyle/>
          <a:p>
            <a:r>
              <a:rPr lang="en-GB" sz="3200" b="1" dirty="0">
                <a:ea typeface="Times New Roman" pitchFamily="18" charset="0"/>
              </a:rPr>
              <a:t>5.3 Monetary Policy</a:t>
            </a:r>
            <a:endParaRPr lang="en-US" sz="3200" b="1" dirty="0"/>
          </a:p>
        </p:txBody>
      </p:sp>
      <p:sp>
        <p:nvSpPr>
          <p:cNvPr id="7" name="Title 1"/>
          <p:cNvSpPr txBox="1">
            <a:spLocks/>
          </p:cNvSpPr>
          <p:nvPr/>
        </p:nvSpPr>
        <p:spPr>
          <a:xfrm>
            <a:off x="457200" y="914400"/>
            <a:ext cx="7848600" cy="11430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1" u="sng" strike="noStrike" kern="1200" cap="none" spc="0" normalizeH="0" baseline="0" noProof="0" dirty="0">
                <a:ln>
                  <a:noFill/>
                </a:ln>
                <a:solidFill>
                  <a:schemeClr val="tx2"/>
                </a:solidFill>
                <a:effectLst/>
                <a:uLnTx/>
                <a:uFillTx/>
                <a:latin typeface="Arial" pitchFamily="34" charset="0"/>
                <a:ea typeface="+mj-ea"/>
                <a:cs typeface="Arial" pitchFamily="34" charset="0"/>
              </a:rPr>
              <a:t>Meaning</a:t>
            </a:r>
            <a:r>
              <a:rPr kumimoji="0" lang="en-US" sz="2800" b="0" i="1" u="sng" strike="noStrike" kern="1200" cap="none" spc="0" normalizeH="0" noProof="0" dirty="0">
                <a:ln>
                  <a:noFill/>
                </a:ln>
                <a:solidFill>
                  <a:schemeClr val="tx2"/>
                </a:solidFill>
                <a:effectLst/>
                <a:uLnTx/>
                <a:uFillTx/>
                <a:latin typeface="Arial" pitchFamily="34" charset="0"/>
                <a:ea typeface="+mj-ea"/>
                <a:cs typeface="Arial" pitchFamily="34" charset="0"/>
              </a:rPr>
              <a:t> of Monetary Policy</a:t>
            </a:r>
            <a:r>
              <a:rPr kumimoji="0" lang="en-US" sz="2800" b="0" i="1" u="sng" strike="noStrike" kern="1200" cap="none" spc="0" normalizeH="0" baseline="0" noProof="0" dirty="0">
                <a:ln>
                  <a:noFill/>
                </a:ln>
                <a:solidFill>
                  <a:schemeClr val="tx2"/>
                </a:solidFill>
                <a:effectLst/>
                <a:uLnTx/>
                <a:uFillTx/>
                <a:latin typeface="Arial" pitchFamily="34" charset="0"/>
                <a:ea typeface="+mj-ea"/>
                <a:cs typeface="Arial" pitchFamily="34" charset="0"/>
              </a:rPr>
              <a:t> </a:t>
            </a:r>
          </a:p>
        </p:txBody>
      </p:sp>
      <p:sp>
        <p:nvSpPr>
          <p:cNvPr id="8" name="Title 1"/>
          <p:cNvSpPr txBox="1">
            <a:spLocks/>
          </p:cNvSpPr>
          <p:nvPr/>
        </p:nvSpPr>
        <p:spPr>
          <a:xfrm>
            <a:off x="533400" y="3200400"/>
            <a:ext cx="7848600" cy="11430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800" i="1" u="sng" dirty="0">
                <a:solidFill>
                  <a:schemeClr val="tx2"/>
                </a:solidFill>
                <a:ea typeface="+mj-ea"/>
              </a:rPr>
              <a:t>Instruments</a:t>
            </a:r>
            <a:r>
              <a:rPr kumimoji="0" lang="en-US" sz="2800" b="0" i="1" u="sng" strike="noStrike" kern="1200" cap="none" spc="0" normalizeH="0" noProof="0" dirty="0">
                <a:ln>
                  <a:noFill/>
                </a:ln>
                <a:solidFill>
                  <a:schemeClr val="tx2"/>
                </a:solidFill>
                <a:effectLst/>
                <a:uLnTx/>
                <a:uFillTx/>
                <a:latin typeface="Arial" pitchFamily="34" charset="0"/>
                <a:ea typeface="+mj-ea"/>
                <a:cs typeface="Arial" pitchFamily="34" charset="0"/>
              </a:rPr>
              <a:t> of Monetary Policy</a:t>
            </a:r>
            <a:r>
              <a:rPr kumimoji="0" lang="en-US" sz="2800" b="0" i="1" u="sng" strike="noStrike" kern="1200" cap="none" spc="0" normalizeH="0" baseline="0" noProof="0" dirty="0">
                <a:ln>
                  <a:noFill/>
                </a:ln>
                <a:solidFill>
                  <a:schemeClr val="tx2"/>
                </a:solidFill>
                <a:effectLst/>
                <a:uLnTx/>
                <a:uFillTx/>
                <a:latin typeface="Arial" pitchFamily="34" charset="0"/>
                <a:ea typeface="+mj-ea"/>
                <a:cs typeface="Arial" pitchFamily="34" charset="0"/>
              </a:rPr>
              <a:t> </a:t>
            </a:r>
          </a:p>
        </p:txBody>
      </p:sp>
      <p:sp>
        <p:nvSpPr>
          <p:cNvPr id="9" name="TextBox 8"/>
          <p:cNvSpPr txBox="1"/>
          <p:nvPr/>
        </p:nvSpPr>
        <p:spPr>
          <a:xfrm>
            <a:off x="457200" y="3810000"/>
            <a:ext cx="8458200" cy="1323439"/>
          </a:xfrm>
          <a:prstGeom prst="rect">
            <a:avLst/>
          </a:prstGeom>
          <a:noFill/>
        </p:spPr>
        <p:txBody>
          <a:bodyPr wrap="square" rtlCol="0">
            <a:spAutoFit/>
          </a:bodyPr>
          <a:lstStyle/>
          <a:p>
            <a:pPr marL="342900" indent="-342900" algn="just">
              <a:buFont typeface="Wingdings" pitchFamily="2" charset="2"/>
              <a:buChar char="v"/>
            </a:pPr>
            <a:r>
              <a:rPr lang="en-US" sz="2000" i="1" dirty="0"/>
              <a:t> The instruments of monetary policy refer to the economic variables that the central bank is empowered to change with a view to controlling and regulating the supply of an demand for money and the availability of credit.</a:t>
            </a:r>
          </a:p>
        </p:txBody>
      </p:sp>
      <p:sp>
        <p:nvSpPr>
          <p:cNvPr id="10" name="TextBox 9"/>
          <p:cNvSpPr txBox="1"/>
          <p:nvPr/>
        </p:nvSpPr>
        <p:spPr>
          <a:xfrm>
            <a:off x="533400" y="5181600"/>
            <a:ext cx="8458200" cy="400110"/>
          </a:xfrm>
          <a:prstGeom prst="rect">
            <a:avLst/>
          </a:prstGeom>
          <a:noFill/>
        </p:spPr>
        <p:txBody>
          <a:bodyPr wrap="square" rtlCol="0">
            <a:spAutoFit/>
          </a:bodyPr>
          <a:lstStyle/>
          <a:p>
            <a:pPr marL="342900" indent="-342900" algn="just">
              <a:buFont typeface="Wingdings" pitchFamily="2" charset="2"/>
              <a:buChar char="v"/>
            </a:pPr>
            <a:r>
              <a:rPr lang="en-US" sz="2000" i="1" dirty="0"/>
              <a:t> Monetary instruments are generally classified under two categories.</a:t>
            </a:r>
          </a:p>
        </p:txBody>
      </p:sp>
      <p:sp>
        <p:nvSpPr>
          <p:cNvPr id="11" name="TextBox 10"/>
          <p:cNvSpPr txBox="1"/>
          <p:nvPr/>
        </p:nvSpPr>
        <p:spPr>
          <a:xfrm>
            <a:off x="1143000" y="5638800"/>
            <a:ext cx="8001000" cy="707886"/>
          </a:xfrm>
          <a:prstGeom prst="rect">
            <a:avLst/>
          </a:prstGeom>
          <a:noFill/>
        </p:spPr>
        <p:txBody>
          <a:bodyPr wrap="square" rtlCol="0">
            <a:spAutoFit/>
          </a:bodyPr>
          <a:lstStyle/>
          <a:p>
            <a:pPr marL="457200" indent="-457200">
              <a:buAutoNum type="arabicPeriod"/>
            </a:pPr>
            <a:r>
              <a:rPr lang="en-US" sz="2000" i="1" dirty="0"/>
              <a:t>General credit control measures / Traditional measures of          </a:t>
            </a:r>
          </a:p>
          <a:p>
            <a:pPr marL="457200" indent="-457200"/>
            <a:r>
              <a:rPr lang="en-US" sz="2000" i="1" dirty="0"/>
              <a:t>       monetary control</a:t>
            </a:r>
          </a:p>
        </p:txBody>
      </p:sp>
      <p:sp>
        <p:nvSpPr>
          <p:cNvPr id="12" name="TextBox 11"/>
          <p:cNvSpPr txBox="1"/>
          <p:nvPr/>
        </p:nvSpPr>
        <p:spPr>
          <a:xfrm>
            <a:off x="1143000" y="6324600"/>
            <a:ext cx="6629400" cy="400110"/>
          </a:xfrm>
          <a:prstGeom prst="rect">
            <a:avLst/>
          </a:prstGeom>
          <a:noFill/>
        </p:spPr>
        <p:txBody>
          <a:bodyPr wrap="square" rtlCol="0">
            <a:spAutoFit/>
          </a:bodyPr>
          <a:lstStyle/>
          <a:p>
            <a:r>
              <a:rPr lang="en-US" sz="2000" i="1" dirty="0"/>
              <a:t>2.   Selective credit controls</a:t>
            </a:r>
          </a:p>
        </p:txBody>
      </p:sp>
      <p:sp>
        <p:nvSpPr>
          <p:cNvPr id="2" name="Footer Placeholder 1"/>
          <p:cNvSpPr>
            <a:spLocks noGrp="1"/>
          </p:cNvSpPr>
          <p:nvPr>
            <p:ph type="ftr" sz="quarter" idx="11"/>
          </p:nvPr>
        </p:nvSpPr>
        <p:spPr/>
        <p:txBody>
          <a:bodyPr/>
          <a:lstStyle/>
          <a:p>
            <a:pPr>
              <a:defRPr/>
            </a:pPr>
            <a:r>
              <a:rPr lang="en-US"/>
              <a:t>Macro/BSc in Mgt/2022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to="" calcmode="lin" valueType="num">
                                      <p:cBhvr>
                                        <p:cTn id="27" dur="1" fill="hold"/>
                                        <p:tgtEl>
                                          <p:spTgt spid="10"/>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 to="" calcmode="lin" valueType="num">
                                      <p:cBhvr>
                                        <p:cTn id="32" dur="1" fill="hold"/>
                                        <p:tgtEl>
                                          <p:spTgt spid="11"/>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to="" calcmode="lin" valueType="num">
                                      <p:cBhvr>
                                        <p:cTn id="37" dur="1" fill="hold"/>
                                        <p:tgtEl>
                                          <p:spTgt spid="1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B0A1BDBB-3588-4E20-99CE-E65281F62D40}" type="slidenum">
              <a:rPr lang="en-US" smtClean="0"/>
              <a:pPr>
                <a:defRPr/>
              </a:pPr>
              <a:t>22</a:t>
            </a:fld>
            <a:endParaRPr lang="en-US" dirty="0"/>
          </a:p>
        </p:txBody>
      </p:sp>
      <p:sp>
        <p:nvSpPr>
          <p:cNvPr id="8" name="Title 1"/>
          <p:cNvSpPr txBox="1">
            <a:spLocks/>
          </p:cNvSpPr>
          <p:nvPr/>
        </p:nvSpPr>
        <p:spPr>
          <a:xfrm>
            <a:off x="228600" y="838200"/>
            <a:ext cx="7848600" cy="11430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400" i="1" u="sng" dirty="0">
                <a:solidFill>
                  <a:schemeClr val="tx2"/>
                </a:solidFill>
                <a:ea typeface="+mj-ea"/>
              </a:rPr>
              <a:t>Instruments</a:t>
            </a:r>
            <a:r>
              <a:rPr kumimoji="0" lang="en-US" sz="2400" b="0" i="1" u="sng" strike="noStrike" kern="1200" cap="none" spc="0" normalizeH="0" noProof="0" dirty="0">
                <a:ln>
                  <a:noFill/>
                </a:ln>
                <a:solidFill>
                  <a:schemeClr val="tx2"/>
                </a:solidFill>
                <a:effectLst/>
                <a:uLnTx/>
                <a:uFillTx/>
                <a:latin typeface="Arial" pitchFamily="34" charset="0"/>
                <a:ea typeface="+mj-ea"/>
                <a:cs typeface="Arial" pitchFamily="34" charset="0"/>
              </a:rPr>
              <a:t> of Monetary Policy</a:t>
            </a:r>
            <a:r>
              <a:rPr kumimoji="0" lang="en-US" sz="2400" b="0" i="1" u="sng" strike="noStrike" kern="1200" cap="none" spc="0" normalizeH="0" baseline="0" noProof="0" dirty="0">
                <a:ln>
                  <a:noFill/>
                </a:ln>
                <a:solidFill>
                  <a:schemeClr val="tx2"/>
                </a:solidFill>
                <a:effectLst/>
                <a:uLnTx/>
                <a:uFillTx/>
                <a:latin typeface="Arial" pitchFamily="34" charset="0"/>
                <a:ea typeface="+mj-ea"/>
                <a:cs typeface="Arial" pitchFamily="34" charset="0"/>
              </a:rPr>
              <a:t> </a:t>
            </a:r>
          </a:p>
        </p:txBody>
      </p:sp>
      <p:sp>
        <p:nvSpPr>
          <p:cNvPr id="11" name="TextBox 10"/>
          <p:cNvSpPr txBox="1"/>
          <p:nvPr/>
        </p:nvSpPr>
        <p:spPr>
          <a:xfrm>
            <a:off x="304800" y="1371600"/>
            <a:ext cx="8001000" cy="707886"/>
          </a:xfrm>
          <a:prstGeom prst="rect">
            <a:avLst/>
          </a:prstGeom>
          <a:noFill/>
        </p:spPr>
        <p:txBody>
          <a:bodyPr wrap="square" rtlCol="0">
            <a:spAutoFit/>
          </a:bodyPr>
          <a:lstStyle/>
          <a:p>
            <a:pPr marL="457200" indent="-457200">
              <a:buAutoNum type="arabicPeriod"/>
            </a:pPr>
            <a:r>
              <a:rPr lang="en-US" sz="2000" i="1" dirty="0">
                <a:solidFill>
                  <a:srgbClr val="7030A0"/>
                </a:solidFill>
              </a:rPr>
              <a:t>General credit control measures / Traditional measures of          </a:t>
            </a:r>
          </a:p>
          <a:p>
            <a:pPr marL="457200" indent="-457200"/>
            <a:r>
              <a:rPr lang="en-US" sz="2000" i="1" dirty="0">
                <a:solidFill>
                  <a:srgbClr val="7030A0"/>
                </a:solidFill>
              </a:rPr>
              <a:t>       monetary control</a:t>
            </a:r>
          </a:p>
        </p:txBody>
      </p:sp>
      <p:sp>
        <p:nvSpPr>
          <p:cNvPr id="13" name="TextBox 12"/>
          <p:cNvSpPr txBox="1"/>
          <p:nvPr/>
        </p:nvSpPr>
        <p:spPr>
          <a:xfrm>
            <a:off x="1066800" y="2133600"/>
            <a:ext cx="4800600" cy="1107996"/>
          </a:xfrm>
          <a:prstGeom prst="rect">
            <a:avLst/>
          </a:prstGeom>
          <a:noFill/>
        </p:spPr>
        <p:txBody>
          <a:bodyPr wrap="square" rtlCol="0">
            <a:spAutoFit/>
          </a:bodyPr>
          <a:lstStyle/>
          <a:p>
            <a:pPr marL="342900" indent="-342900">
              <a:buFont typeface="+mj-lt"/>
              <a:buAutoNum type="romanUcPeriod"/>
            </a:pPr>
            <a:r>
              <a:rPr lang="en-US" sz="2200" dirty="0"/>
              <a:t> Bank Rate.</a:t>
            </a:r>
          </a:p>
          <a:p>
            <a:pPr marL="342900" indent="-342900">
              <a:buFont typeface="+mj-lt"/>
              <a:buAutoNum type="romanUcPeriod"/>
            </a:pPr>
            <a:r>
              <a:rPr lang="en-US" sz="2200" dirty="0"/>
              <a:t> Cash Reserve Ratio</a:t>
            </a:r>
          </a:p>
          <a:p>
            <a:pPr marL="342900" indent="-342900">
              <a:buFont typeface="+mj-lt"/>
              <a:buAutoNum type="romanUcPeriod"/>
            </a:pPr>
            <a:r>
              <a:rPr lang="en-US" sz="2200" dirty="0"/>
              <a:t> Open Market Operation</a:t>
            </a:r>
          </a:p>
        </p:txBody>
      </p:sp>
      <p:sp>
        <p:nvSpPr>
          <p:cNvPr id="14" name="TextBox 13"/>
          <p:cNvSpPr txBox="1"/>
          <p:nvPr/>
        </p:nvSpPr>
        <p:spPr>
          <a:xfrm>
            <a:off x="304800" y="3330714"/>
            <a:ext cx="8001000" cy="400110"/>
          </a:xfrm>
          <a:prstGeom prst="rect">
            <a:avLst/>
          </a:prstGeom>
          <a:noFill/>
        </p:spPr>
        <p:txBody>
          <a:bodyPr wrap="square" rtlCol="0">
            <a:spAutoFit/>
          </a:bodyPr>
          <a:lstStyle/>
          <a:p>
            <a:pPr marL="457200" indent="-457200"/>
            <a:r>
              <a:rPr lang="en-US" sz="2000" i="1" dirty="0">
                <a:solidFill>
                  <a:srgbClr val="7030A0"/>
                </a:solidFill>
              </a:rPr>
              <a:t>2.   Selective Credit Control Measures</a:t>
            </a:r>
          </a:p>
        </p:txBody>
      </p:sp>
      <p:sp>
        <p:nvSpPr>
          <p:cNvPr id="15" name="TextBox 14"/>
          <p:cNvSpPr txBox="1"/>
          <p:nvPr/>
        </p:nvSpPr>
        <p:spPr>
          <a:xfrm>
            <a:off x="1143000" y="3810000"/>
            <a:ext cx="4800600" cy="1446550"/>
          </a:xfrm>
          <a:prstGeom prst="rect">
            <a:avLst/>
          </a:prstGeom>
          <a:noFill/>
        </p:spPr>
        <p:txBody>
          <a:bodyPr wrap="square" rtlCol="0">
            <a:spAutoFit/>
          </a:bodyPr>
          <a:lstStyle/>
          <a:p>
            <a:pPr marL="342900" indent="-342900">
              <a:buFont typeface="+mj-lt"/>
              <a:buAutoNum type="romanUcPeriod"/>
            </a:pPr>
            <a:r>
              <a:rPr lang="en-US" sz="2200" dirty="0"/>
              <a:t> Credit Rationing</a:t>
            </a:r>
          </a:p>
          <a:p>
            <a:pPr marL="342900" indent="-342900">
              <a:buFont typeface="+mj-lt"/>
              <a:buAutoNum type="romanUcPeriod"/>
            </a:pPr>
            <a:r>
              <a:rPr lang="en-US" sz="2200" dirty="0"/>
              <a:t> Change in Lending Margins</a:t>
            </a:r>
          </a:p>
          <a:p>
            <a:pPr marL="342900" indent="-342900">
              <a:buFont typeface="+mj-lt"/>
              <a:buAutoNum type="romanUcPeriod"/>
            </a:pPr>
            <a:r>
              <a:rPr lang="en-US" sz="2200" dirty="0"/>
              <a:t> Moral Suasion</a:t>
            </a:r>
          </a:p>
          <a:p>
            <a:pPr marL="342900" indent="-342900">
              <a:buFont typeface="+mj-lt"/>
              <a:buAutoNum type="romanUcPeriod"/>
            </a:pPr>
            <a:r>
              <a:rPr lang="en-US" sz="2200" dirty="0"/>
              <a:t> Direct Control</a:t>
            </a:r>
          </a:p>
        </p:txBody>
      </p:sp>
      <p:sp>
        <p:nvSpPr>
          <p:cNvPr id="2" name="Footer Placeholder 1"/>
          <p:cNvSpPr>
            <a:spLocks noGrp="1"/>
          </p:cNvSpPr>
          <p:nvPr>
            <p:ph type="ftr" sz="quarter" idx="11"/>
          </p:nvPr>
        </p:nvSpPr>
        <p:spPr/>
        <p:txBody>
          <a:bodyPr/>
          <a:lstStyle/>
          <a:p>
            <a:pPr>
              <a:defRPr/>
            </a:pPr>
            <a:r>
              <a:rPr lang="en-US"/>
              <a:t>Macro/BSc in Mgt/2022</a:t>
            </a:r>
          </a:p>
        </p:txBody>
      </p:sp>
      <p:sp>
        <p:nvSpPr>
          <p:cNvPr id="10" name="Rectangle 9"/>
          <p:cNvSpPr/>
          <p:nvPr/>
        </p:nvSpPr>
        <p:spPr>
          <a:xfrm>
            <a:off x="0" y="57975"/>
            <a:ext cx="8915400" cy="523220"/>
          </a:xfrm>
          <a:prstGeom prst="rect">
            <a:avLst/>
          </a:prstGeom>
        </p:spPr>
        <p:txBody>
          <a:bodyPr wrap="square">
            <a:spAutoFit/>
          </a:bodyPr>
          <a:lstStyle/>
          <a:p>
            <a:r>
              <a:rPr lang="en-GB" sz="2800" b="1" i="1" dirty="0" err="1"/>
              <a:t>Cont</a:t>
            </a:r>
            <a:r>
              <a:rPr lang="en-GB" sz="2800" b="1" i="1" dirty="0"/>
              <a:t>…</a:t>
            </a:r>
            <a:endParaRPr 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to="" calcmode="lin" valueType="num">
                                      <p:cBhvr>
                                        <p:cTn id="17" dur="1" fill="hold"/>
                                        <p:tgtEl>
                                          <p:spTgt spid="11"/>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to="" calcmode="lin" valueType="num">
                                      <p:cBhvr>
                                        <p:cTn id="22" dur="1" fill="hold"/>
                                        <p:tgtEl>
                                          <p:spTgt spid="13"/>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to="" calcmode="lin" valueType="num">
                                      <p:cBhvr>
                                        <p:cTn id="27" dur="1" fill="hold"/>
                                        <p:tgtEl>
                                          <p:spTgt spid="14"/>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 to="" calcmode="lin" valueType="num">
                                      <p:cBhvr>
                                        <p:cTn id="32" dur="1" fill="hold"/>
                                        <p:tgtEl>
                                          <p:spTgt spid="15"/>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3" grpId="0"/>
      <p:bldP spid="14" grpId="0"/>
      <p:bldP spid="15" grpId="0"/>
      <p:bldP spid="10"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ppt/theme/themeOverride2.xml><?xml version="1.0" encoding="utf-8"?>
<a:themeOverride xmlns:a="http://schemas.openxmlformats.org/drawingml/2006/main">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docProps/app.xml><?xml version="1.0" encoding="utf-8"?>
<Properties xmlns="http://schemas.openxmlformats.org/officeDocument/2006/extended-properties" xmlns:vt="http://schemas.openxmlformats.org/officeDocument/2006/docPropsVTypes">
  <Template>Waveform</Template>
  <TotalTime>3470</TotalTime>
  <Words>1520</Words>
  <Application>Microsoft Office PowerPoint</Application>
  <PresentationFormat>On-screen Show (4:3)</PresentationFormat>
  <Paragraphs>267</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Constantia</vt:lpstr>
      <vt:lpstr>Times New Roman</vt:lpstr>
      <vt:lpstr>Wingdings</vt:lpstr>
      <vt:lpstr>Wingdings 2</vt:lpstr>
      <vt:lpstr>Flow</vt:lpstr>
      <vt:lpstr>MACROECONOMIC POLICIES</vt:lpstr>
      <vt:lpstr>PowerPoint Presentation</vt:lpstr>
      <vt:lpstr>Targets, Instruments and goals of  Macroeconomics policy</vt:lpstr>
      <vt:lpstr>8.1.1 What is Macroeconomic Policy?</vt:lpstr>
      <vt:lpstr>8.1.2 Objectives of Macroeconomic Policies</vt:lpstr>
      <vt:lpstr>GDP Growth Rate in Sri Lanka (2000-2022)</vt:lpstr>
      <vt:lpstr>PowerPoint Presentation</vt:lpstr>
      <vt:lpstr>Unemployment Rate in Sri Lanka (2000-2021)</vt:lpstr>
      <vt:lpstr>PowerPoint Presentation</vt:lpstr>
      <vt:lpstr>Rate of Inflation in Sri Lanka (2000-2021)</vt:lpstr>
      <vt:lpstr>PowerPoint Presentation</vt:lpstr>
      <vt:lpstr>PowerPoint Presentation</vt:lpstr>
      <vt:lpstr>Export &amp; Import in Sri Lanka (2000-2021)</vt:lpstr>
      <vt:lpstr>Meaning of Fiscal Policy</vt:lpstr>
      <vt:lpstr>The Scope of Fiscal Policy</vt:lpstr>
      <vt:lpstr>Fiscal Instruments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Unemployment and Inflation</dc:title>
  <dc:creator>Ziaul Abedin</dc:creator>
  <cp:lastModifiedBy>Lahiru pera</cp:lastModifiedBy>
  <cp:revision>216</cp:revision>
  <dcterms:created xsi:type="dcterms:W3CDTF">2006-08-16T00:00:00Z</dcterms:created>
  <dcterms:modified xsi:type="dcterms:W3CDTF">2023-11-15T06:03:38Z</dcterms:modified>
</cp:coreProperties>
</file>