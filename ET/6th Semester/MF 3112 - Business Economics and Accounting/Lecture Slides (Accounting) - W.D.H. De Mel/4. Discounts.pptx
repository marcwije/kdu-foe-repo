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772" r:id="rId2"/>
  </p:sldMasterIdLst>
  <p:sldIdLst>
    <p:sldId id="27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4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4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1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9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9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4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2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1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6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3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4309-6D89-41AB-8A91-D1363B7A8B79}" type="datetime1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39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9402-4A5B-4D47-A1D0-91761C170E02}" type="datetime1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10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35D4-24E3-49DB-ADC2-C3D45CFDC558}" type="datetime1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8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02643-910D-4EB4-9824-A908DB63CAB8}" type="datetime1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65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E23C-D376-47FA-84FA-B46CEE9D6C24}" type="datetime1">
              <a:rPr lang="en-US" smtClean="0"/>
              <a:t>7/15/2022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47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119C3-7898-4488-B8B1-5415DBCCED81}" type="datetime1">
              <a:rPr lang="en-US" smtClean="0"/>
              <a:t>7/15/2022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13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DAEA-AF61-4E59-89DB-F0B7A66636A2}" type="datetime1">
              <a:rPr lang="en-US" smtClean="0"/>
              <a:t>7/15/2022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02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F62E-1B3C-4055-B547-8D6A3DB03FC5}" type="datetime1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77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BC95C-4626-4632-92B6-8B0AC72FFF81}" type="datetime1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87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3EAC-0C22-486E-9B41-EBD36D16E6F9}" type="datetime1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B5B4-E19B-48B5-9BD1-4AE39AF10A48}" type="datetime1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2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2B990-5412-4F68-8118-09B4428B0E08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4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B8E2E-552B-4349-93EC-B243C2FAA68F}" type="datetime1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EEFDB-4057-4086-BF45-8C0CCB08E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2201" y="414599"/>
            <a:ext cx="7967419" cy="80791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dist="38100" dir="2700000" algn="bl" rotWithShape="0">
                    <a:srgbClr val="5B9BD5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Accounting and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6246" y="2853180"/>
            <a:ext cx="7505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Faculty of Engineering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Semester VI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C573E5-23A8-48FB-BA36-BDEB8C222F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1BD6D-D74D-44C7-A5DE-F10F2D8F542F}"/>
              </a:ext>
            </a:extLst>
          </p:cNvPr>
          <p:cNvSpPr txBox="1"/>
          <p:nvPr/>
        </p:nvSpPr>
        <p:spPr>
          <a:xfrm>
            <a:off x="7136296" y="4956142"/>
            <a:ext cx="4687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Danisha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Mel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MBA (USJP), BBA (Finance) sp., CIMA passed finalist, MILT, MCPM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Department of Management and Finance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Faculty of Management, Social Sciences and Humanities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General Sir John Kotelawala Defence University </a:t>
            </a:r>
          </a:p>
        </p:txBody>
      </p:sp>
    </p:spTree>
    <p:extLst>
      <p:ext uri="{BB962C8B-B14F-4D97-AF65-F5344CB8AC3E}">
        <p14:creationId xmlns:p14="http://schemas.microsoft.com/office/powerpoint/2010/main" val="115041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5566" y="1789043"/>
            <a:ext cx="5579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Discounts</a:t>
            </a:r>
          </a:p>
          <a:p>
            <a:pPr algn="ctr"/>
            <a:endParaRPr lang="en-US" sz="7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19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91339" y="490330"/>
            <a:ext cx="4545495" cy="1020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Discounts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981739" y="1669774"/>
            <a:ext cx="2743200" cy="71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6367669" y="1669774"/>
            <a:ext cx="2802835" cy="834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/>
          <p:cNvSpPr/>
          <p:nvPr/>
        </p:nvSpPr>
        <p:spPr>
          <a:xfrm>
            <a:off x="1630017" y="2504661"/>
            <a:ext cx="3193774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Trade discounts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7692886" y="2604052"/>
            <a:ext cx="3193774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Cash discounts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2981739" y="3823252"/>
            <a:ext cx="0" cy="695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9442174" y="3866321"/>
            <a:ext cx="6626" cy="652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17982" y="4757530"/>
            <a:ext cx="3896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Recorded only in primary books. Rule of double entry </a:t>
            </a:r>
            <a:r>
              <a:rPr lang="en-US" sz="2400" dirty="0">
                <a:solidFill>
                  <a:srgbClr val="FF0000"/>
                </a:solidFill>
              </a:rPr>
              <a:t>does not </a:t>
            </a:r>
            <a:r>
              <a:rPr lang="en-US" sz="2400" dirty="0"/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0730" y="4756665"/>
            <a:ext cx="3896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Rule of double entry </a:t>
            </a:r>
            <a:r>
              <a:rPr lang="en-US" sz="2400" dirty="0">
                <a:solidFill>
                  <a:srgbClr val="FF0000"/>
                </a:solidFill>
              </a:rPr>
              <a:t>applies. </a:t>
            </a:r>
            <a:r>
              <a:rPr lang="en-US" sz="2400" dirty="0"/>
              <a:t>Posted in Ledger a/c</a:t>
            </a:r>
          </a:p>
        </p:txBody>
      </p:sp>
    </p:spTree>
    <p:extLst>
      <p:ext uri="{BB962C8B-B14F-4D97-AF65-F5344CB8AC3E}">
        <p14:creationId xmlns:p14="http://schemas.microsoft.com/office/powerpoint/2010/main" val="296177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Trade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Discount given by a seller to the buyer as a deduction in the listed price of the commodity at the time of sale</a:t>
            </a:r>
          </a:p>
          <a:p>
            <a:r>
              <a:rPr lang="en-US" dirty="0"/>
              <a:t>Purpose is to increase the sales volume</a:t>
            </a:r>
          </a:p>
          <a:p>
            <a:r>
              <a:rPr lang="en-US" dirty="0"/>
              <a:t>Double entry does not apply</a:t>
            </a:r>
          </a:p>
          <a:p>
            <a:endParaRPr lang="en-US" dirty="0"/>
          </a:p>
          <a:p>
            <a:r>
              <a:rPr lang="en-US" dirty="0"/>
              <a:t>Ex:- when purchasing a product for resale, the marked price of the product is Rs. 1000. The seller gives a discount of Rs. 100 where the product can be bought for Rs. 900. </a:t>
            </a:r>
          </a:p>
          <a:p>
            <a:pPr marL="457200" lvl="1" indent="0">
              <a:buNone/>
            </a:pPr>
            <a:r>
              <a:rPr lang="en-US" sz="2800" dirty="0"/>
              <a:t>	Therefore the </a:t>
            </a:r>
            <a:r>
              <a:rPr lang="en-US" sz="2800" dirty="0">
                <a:solidFill>
                  <a:srgbClr val="FF0000"/>
                </a:solidFill>
              </a:rPr>
              <a:t>trade discount </a:t>
            </a:r>
            <a:r>
              <a:rPr lang="en-US" sz="2800" dirty="0"/>
              <a:t>is – Rs. </a:t>
            </a: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>
                <a:solidFill>
                  <a:srgbClr val="FF0000"/>
                </a:solidFill>
              </a:rPr>
              <a:t>00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68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Cash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This takes place when purchasing or selling goods on credit</a:t>
            </a:r>
          </a:p>
          <a:p>
            <a:pPr>
              <a:lnSpc>
                <a:spcPct val="150000"/>
              </a:lnSpc>
            </a:pPr>
            <a:r>
              <a:rPr lang="en-US" dirty="0"/>
              <a:t>The deduction in the amount of invoice allowed by the seller to the buyer when settling the amount due</a:t>
            </a:r>
          </a:p>
          <a:p>
            <a:pPr>
              <a:lnSpc>
                <a:spcPct val="150000"/>
              </a:lnSpc>
            </a:pPr>
            <a:r>
              <a:rPr lang="en-US" dirty="0"/>
              <a:t>Purpose is to encourage early settlement</a:t>
            </a:r>
          </a:p>
          <a:p>
            <a:pPr>
              <a:lnSpc>
                <a:spcPct val="150000"/>
              </a:lnSpc>
            </a:pPr>
            <a:r>
              <a:rPr lang="en-US" dirty="0"/>
              <a:t>The double entry principle applies  </a:t>
            </a:r>
          </a:p>
        </p:txBody>
      </p:sp>
    </p:spTree>
    <p:extLst>
      <p:ext uri="{BB962C8B-B14F-4D97-AF65-F5344CB8AC3E}">
        <p14:creationId xmlns:p14="http://schemas.microsoft.com/office/powerpoint/2010/main" val="199987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Cash Discounts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88904" y="1942480"/>
            <a:ext cx="4108174" cy="1185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Cash Discounts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843130" y="3233531"/>
            <a:ext cx="1656522" cy="689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6500191" y="3233531"/>
            <a:ext cx="2166731" cy="787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43269" y="4028661"/>
            <a:ext cx="3458818" cy="16830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Discount Allowed</a:t>
            </a:r>
          </a:p>
        </p:txBody>
      </p:sp>
      <p:sp>
        <p:nvSpPr>
          <p:cNvPr id="11" name="Oval 10"/>
          <p:cNvSpPr/>
          <p:nvPr/>
        </p:nvSpPr>
        <p:spPr>
          <a:xfrm>
            <a:off x="6937513" y="4126671"/>
            <a:ext cx="3458818" cy="16830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Discount Received</a:t>
            </a:r>
          </a:p>
        </p:txBody>
      </p:sp>
    </p:spTree>
    <p:extLst>
      <p:ext uri="{BB962C8B-B14F-4D97-AF65-F5344CB8AC3E}">
        <p14:creationId xmlns:p14="http://schemas.microsoft.com/office/powerpoint/2010/main" val="248337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42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Discounts Allowed </a:t>
            </a:r>
          </a:p>
          <a:p>
            <a:endParaRPr lang="en-US" dirty="0"/>
          </a:p>
          <a:p>
            <a:r>
              <a:rPr lang="en-US" dirty="0"/>
              <a:t>When the organization offers a discount </a:t>
            </a:r>
            <a:r>
              <a:rPr lang="en-US" dirty="0">
                <a:solidFill>
                  <a:srgbClr val="00B0F0"/>
                </a:solidFill>
              </a:rPr>
              <a:t>to the debtors </a:t>
            </a:r>
            <a:r>
              <a:rPr lang="en-US" dirty="0"/>
              <a:t>when settling amount due.</a:t>
            </a:r>
          </a:p>
          <a:p>
            <a:r>
              <a:rPr lang="en-US" dirty="0"/>
              <a:t>This is an </a:t>
            </a:r>
            <a:r>
              <a:rPr lang="en-US" dirty="0">
                <a:solidFill>
                  <a:srgbClr val="00B0F0"/>
                </a:solidFill>
              </a:rPr>
              <a:t>expense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Double entry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Discount Allowed 	</a:t>
            </a:r>
            <a:r>
              <a:rPr lang="en-US" sz="2800" dirty="0" err="1">
                <a:solidFill>
                  <a:srgbClr val="FF0000"/>
                </a:solidFill>
              </a:rPr>
              <a:t>Dr</a:t>
            </a:r>
            <a:endParaRPr lang="en-US" sz="2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		Debtor			Cr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Cash Discounts Cont.</a:t>
            </a:r>
          </a:p>
        </p:txBody>
      </p:sp>
    </p:spTree>
    <p:extLst>
      <p:ext uri="{BB962C8B-B14F-4D97-AF65-F5344CB8AC3E}">
        <p14:creationId xmlns:p14="http://schemas.microsoft.com/office/powerpoint/2010/main" val="189269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221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Discount Received</a:t>
            </a:r>
          </a:p>
          <a:p>
            <a:endParaRPr lang="en-US" dirty="0"/>
          </a:p>
          <a:p>
            <a:r>
              <a:rPr lang="en-US" dirty="0"/>
              <a:t>When an organization receives discounts </a:t>
            </a:r>
            <a:r>
              <a:rPr lang="en-US" dirty="0">
                <a:solidFill>
                  <a:srgbClr val="00B0F0"/>
                </a:solidFill>
              </a:rPr>
              <a:t>from creditors </a:t>
            </a:r>
            <a:r>
              <a:rPr lang="en-US" dirty="0"/>
              <a:t>when settling the amount due to creditors</a:t>
            </a:r>
          </a:p>
          <a:p>
            <a:r>
              <a:rPr lang="en-US" dirty="0"/>
              <a:t>This is an </a:t>
            </a:r>
            <a:r>
              <a:rPr lang="en-US" dirty="0">
                <a:solidFill>
                  <a:srgbClr val="00B0F0"/>
                </a:solidFill>
              </a:rPr>
              <a:t>income </a:t>
            </a:r>
          </a:p>
          <a:p>
            <a:endParaRPr lang="en-US" dirty="0"/>
          </a:p>
          <a:p>
            <a:r>
              <a:rPr lang="en-US" dirty="0"/>
              <a:t>Double entry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Creditor			</a:t>
            </a:r>
            <a:r>
              <a:rPr lang="en-US" sz="2800" dirty="0" err="1">
                <a:solidFill>
                  <a:srgbClr val="FF0000"/>
                </a:solidFill>
              </a:rPr>
              <a:t>Dr</a:t>
            </a:r>
            <a:endParaRPr lang="en-US" sz="2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	       Discount Received			Cr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Cash Discounts Cont.</a:t>
            </a:r>
          </a:p>
        </p:txBody>
      </p:sp>
    </p:spTree>
    <p:extLst>
      <p:ext uri="{BB962C8B-B14F-4D97-AF65-F5344CB8AC3E}">
        <p14:creationId xmlns:p14="http://schemas.microsoft.com/office/powerpoint/2010/main" val="188908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165" y="272359"/>
            <a:ext cx="10515600" cy="721553"/>
          </a:xfrm>
        </p:spPr>
        <p:txBody>
          <a:bodyPr/>
          <a:lstStyle/>
          <a:p>
            <a:r>
              <a:rPr lang="en-US" b="1" dirty="0"/>
              <a:t>Practice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165" y="1136511"/>
            <a:ext cx="11155018" cy="5463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Identify whether the following transactions are Trade discounts, Discounts received or Discounts allowed.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Purchased goods worth Rs. 50,000 and obtained a discount of 10%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Paid Rs. 5000 to a creditor in settlement of Rs. 6000 payment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20% discount was allowed by ABC Limited when purchasing goods from them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Received Rs. 6000 from a debtor who was owing Rs. 7000 as full settlement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/>
              <a:t>Saduni</a:t>
            </a:r>
            <a:r>
              <a:rPr lang="en-US" sz="2400" dirty="0"/>
              <a:t>, a creditor allowed a discount of Rs, 2000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Discount allowed to a debtor worth Rs. 1000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Purchased goods worth Rs. 50,000 from Malinda on credit. Credit term is 3 months, however Malinda agreed Rs. 47,000 as the full settlement if amount to be paid within one month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Sold Rs 20,000 worth of goods and collected 90% as the full settlement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891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445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Trade discounts</vt:lpstr>
      <vt:lpstr>Cash Discounts</vt:lpstr>
      <vt:lpstr>Cash Discounts Cont.</vt:lpstr>
      <vt:lpstr>Cash Discounts Cont.</vt:lpstr>
      <vt:lpstr>Cash Discounts Cont.</vt:lpstr>
      <vt:lpstr>Practice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NOTEBOOK</dc:creator>
  <cp:lastModifiedBy>Danisha De Mel</cp:lastModifiedBy>
  <cp:revision>53</cp:revision>
  <dcterms:created xsi:type="dcterms:W3CDTF">2016-11-24T08:06:37Z</dcterms:created>
  <dcterms:modified xsi:type="dcterms:W3CDTF">2022-07-15T10:32:16Z</dcterms:modified>
</cp:coreProperties>
</file>