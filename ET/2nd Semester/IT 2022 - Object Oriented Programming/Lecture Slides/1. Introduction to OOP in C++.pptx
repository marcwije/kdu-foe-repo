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65" r:id="rId2"/>
    <p:sldId id="422" r:id="rId3"/>
    <p:sldId id="440" r:id="rId4"/>
    <p:sldId id="439" r:id="rId5"/>
    <p:sldId id="413" r:id="rId6"/>
    <p:sldId id="446" r:id="rId7"/>
    <p:sldId id="423" r:id="rId8"/>
    <p:sldId id="424" r:id="rId9"/>
    <p:sldId id="454" r:id="rId10"/>
    <p:sldId id="455" r:id="rId11"/>
    <p:sldId id="427" r:id="rId12"/>
    <p:sldId id="426" r:id="rId13"/>
    <p:sldId id="456" r:id="rId14"/>
    <p:sldId id="447" r:id="rId15"/>
    <p:sldId id="448" r:id="rId16"/>
    <p:sldId id="449" r:id="rId17"/>
    <p:sldId id="450" r:id="rId18"/>
    <p:sldId id="451" r:id="rId19"/>
    <p:sldId id="452" r:id="rId20"/>
    <p:sldId id="453" r:id="rId21"/>
    <p:sldId id="425" r:id="rId22"/>
    <p:sldId id="429" r:id="rId23"/>
    <p:sldId id="430" r:id="rId24"/>
    <p:sldId id="428" r:id="rId25"/>
    <p:sldId id="433" r:id="rId26"/>
    <p:sldId id="438" r:id="rId27"/>
    <p:sldId id="442" r:id="rId28"/>
    <p:sldId id="434" r:id="rId29"/>
    <p:sldId id="443" r:id="rId30"/>
    <p:sldId id="432" r:id="rId31"/>
    <p:sldId id="431" r:id="rId32"/>
    <p:sldId id="435" r:id="rId33"/>
    <p:sldId id="444" r:id="rId34"/>
    <p:sldId id="445" r:id="rId35"/>
    <p:sldId id="441" r:id="rId36"/>
    <p:sldId id="437" r:id="rId3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47C66-D0C8-4CAE-BDCE-95BEC7D1F217}" type="datetimeFigureOut">
              <a:rPr lang="en-US" smtClean="0"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869D9-0ED5-49BB-941C-390CE94B5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01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1731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sz="1200"/>
            </a:lvl1pPr>
          </a:lstStyle>
          <a:p>
            <a:fld id="{9AFF1D87-490F-400E-84C6-7F1048EBB2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1"/>
            <a:ext cx="5679440" cy="4605576"/>
          </a:xfrm>
          <a:prstGeom prst="rect">
            <a:avLst/>
          </a:prstGeom>
        </p:spPr>
        <p:txBody>
          <a:bodyPr vert="horz" lIns="91427" tIns="45714" rIns="91427" bIns="457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5"/>
            <a:ext cx="3076363" cy="511731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6" y="9721105"/>
            <a:ext cx="3076363" cy="511731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sz="1200"/>
            </a:lvl1pPr>
          </a:lstStyle>
          <a:p>
            <a:fld id="{3A97AC5E-F0C8-4FD8-8430-9F44C27527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0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33600"/>
            <a:ext cx="8458200" cy="1470025"/>
          </a:xfrm>
        </p:spPr>
        <p:txBody>
          <a:bodyPr/>
          <a:lstStyle>
            <a:lvl1pPr algn="ctr">
              <a:defRPr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581400"/>
            <a:ext cx="6858000" cy="2514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1" y="340659"/>
            <a:ext cx="8839200" cy="110714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rgbClr val="00B05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2060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800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8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28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2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400800"/>
            <a:ext cx="11430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7/11/2015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389781"/>
            <a:ext cx="6629400" cy="365125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Budditha</a:t>
            </a:r>
            <a:r>
              <a:rPr lang="en-US" dirty="0"/>
              <a:t> </a:t>
            </a:r>
            <a:r>
              <a:rPr lang="en-US" dirty="0" err="1"/>
              <a:t>Hettige</a:t>
            </a:r>
            <a:r>
              <a:rPr lang="en-US" dirty="0"/>
              <a:t> (budditha@yahoo.com)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05282"/>
            <a:ext cx="7620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54460F57-DDE5-458A-A03A-6CC08A8E366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38400"/>
            <a:ext cx="7772400" cy="1362075"/>
          </a:xfrm>
        </p:spPr>
        <p:txBody>
          <a:bodyPr anchor="t"/>
          <a:lstStyle>
            <a:lvl1pPr algn="ctr">
              <a:defRPr sz="4000" b="1" cap="all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21336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7/11/2015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5638800" cy="365125"/>
          </a:xfrm>
        </p:spPr>
        <p:txBody>
          <a:bodyPr/>
          <a:lstStyle/>
          <a:p>
            <a:r>
              <a:rPr lang="en-US"/>
              <a:t>Budditha Hettige (budditha@yahoo.com)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24600"/>
            <a:ext cx="7620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54460F57-DDE5-458A-A03A-6CC08A8E366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7/11/2015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Budditha Hettige (budditha@yahoo.com)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457205"/>
            <a:ext cx="8839200" cy="1143000"/>
          </a:xfrm>
          <a:prstGeom prst="rect">
            <a:avLst/>
          </a:prstGeom>
          <a:noFill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 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5259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7/11/2015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Budditha Hettige (budditha@yahoo.com)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60F57-DDE5-458A-A03A-6CC08A8E36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 rot="10800000">
            <a:off x="-13447" y="1"/>
            <a:ext cx="9144000" cy="4572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00206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 lang="en-US" dirty="0"/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-13447" y="6315635"/>
            <a:ext cx="9144000" cy="5558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</a:scheme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00206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rgbClr val="00B05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object-oriented-programming-in-cpp/#objec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537" y="3276600"/>
            <a:ext cx="84582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Introduction to OOP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029200"/>
            <a:ext cx="7924800" cy="2286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Sandali Goonatilleke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Department of Computer Engineering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84263" y="2400300"/>
            <a:ext cx="8763000" cy="147002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 sz="2400" spc="-1" dirty="0">
                <a:solidFill>
                  <a:schemeClr val="tx1"/>
                </a:solidFill>
                <a:effectLst/>
                <a:uFill>
                  <a:solidFill>
                    <a:srgbClr val="FFFFFF"/>
                  </a:solidFill>
                </a:uFill>
                <a:latin typeface="Calibri"/>
              </a:rPr>
              <a:t>IT 2022: Object Oriented Programming</a:t>
            </a:r>
            <a:endParaRPr lang="en-US" sz="2400" dirty="0"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 descr="A group of people working on computers&#10;&#10;Description automatically generated with medium confidence">
            <a:extLst>
              <a:ext uri="{FF2B5EF4-FFF2-40B4-BE49-F238E27FC236}">
                <a16:creationId xmlns:a16="http://schemas.microsoft.com/office/drawing/2014/main" id="{B4E2E0CD-4DEF-45A5-B2A8-BC221063A1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5" y="685800"/>
            <a:ext cx="2952750" cy="20119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90B8C-7E1F-481E-B0BD-8EC282198D75}"/>
              </a:ext>
            </a:extLst>
          </p:cNvPr>
          <p:cNvSpPr/>
          <p:nvPr/>
        </p:nvSpPr>
        <p:spPr>
          <a:xfrm>
            <a:off x="7772401" y="609600"/>
            <a:ext cx="99292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9908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0B33-0297-4A6C-9114-3E5BECC3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Module 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7A1C-9C32-417B-9115-933B215F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B9996A-703B-45C7-96D0-2127A07A3A63}"/>
              </a:ext>
            </a:extLst>
          </p:cNvPr>
          <p:cNvSpPr/>
          <p:nvPr/>
        </p:nvSpPr>
        <p:spPr>
          <a:xfrm>
            <a:off x="228600" y="1447800"/>
            <a:ext cx="86106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</a:rPr>
              <a:t>Module Name: </a:t>
            </a:r>
            <a:r>
              <a:rPr lang="en-US" sz="2800" dirty="0">
                <a:solidFill>
                  <a:srgbClr val="002060"/>
                </a:solidFill>
              </a:rPr>
              <a:t>Object Oriented Programming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</a:rPr>
              <a:t>Module Code: </a:t>
            </a:r>
            <a:r>
              <a:rPr lang="en-US" sz="2800" dirty="0">
                <a:solidFill>
                  <a:srgbClr val="002060"/>
                </a:solidFill>
              </a:rPr>
              <a:t>IT 2022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</a:rPr>
              <a:t>Number of Credits: </a:t>
            </a:r>
            <a:r>
              <a:rPr lang="en-US" sz="2800" dirty="0">
                <a:solidFill>
                  <a:srgbClr val="00206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sz="2800" b="1" u="sng" dirty="0">
                <a:solidFill>
                  <a:srgbClr val="002060"/>
                </a:solidFill>
              </a:rPr>
              <a:t>Method of Assessment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Continuous Assessment – 30%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Final Written Exam – 70%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154D4E6-7483-4F0D-8948-F25137FF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</p:spTree>
    <p:extLst>
      <p:ext uri="{BB962C8B-B14F-4D97-AF65-F5344CB8AC3E}">
        <p14:creationId xmlns:p14="http://schemas.microsoft.com/office/powerpoint/2010/main" val="419763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0B33-0297-4A6C-9114-3E5BECC3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64710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Module Content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7A1C-9C32-417B-9115-933B215F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B9996A-703B-45C7-96D0-2127A07A3A63}"/>
              </a:ext>
            </a:extLst>
          </p:cNvPr>
          <p:cNvSpPr/>
          <p:nvPr/>
        </p:nvSpPr>
        <p:spPr>
          <a:xfrm>
            <a:off x="228600" y="1447800"/>
            <a:ext cx="86106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2060"/>
                </a:solidFill>
              </a:rPr>
              <a:t>Introduction to Object-Oriented Programming in C++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70C0"/>
                </a:solidFill>
              </a:rPr>
              <a:t>Classes &amp; Objects</a:t>
            </a:r>
            <a:endParaRPr lang="en-US" sz="32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2060"/>
                </a:solidFill>
              </a:rPr>
              <a:t>Constructors &amp; Destructors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70C0"/>
                </a:solidFill>
              </a:rPr>
              <a:t>Class Abstraction and Encapsulation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2060"/>
                </a:solidFill>
              </a:rPr>
              <a:t>Composition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70C0"/>
                </a:solidFill>
              </a:rPr>
              <a:t>Inheritance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b="1" dirty="0">
                <a:solidFill>
                  <a:srgbClr val="002060"/>
                </a:solidFill>
              </a:rPr>
              <a:t>Polymorphism</a:t>
            </a:r>
            <a:endParaRPr lang="en-US" sz="3200" dirty="0">
              <a:solidFill>
                <a:srgbClr val="002060"/>
              </a:solidFill>
            </a:endParaRPr>
          </a:p>
          <a:p>
            <a:endParaRPr lang="en-US" sz="2800" dirty="0"/>
          </a:p>
          <a:p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154D4E6-7483-4F0D-8948-F25137FF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pic>
        <p:nvPicPr>
          <p:cNvPr id="2052" name="Picture 4" descr="Syllabus Misty Stock Illustrations – 2 Syllabus Misty Stock Illustrations,  Vectors &amp;amp; Clipart - Dreamstime">
            <a:extLst>
              <a:ext uri="{FF2B5EF4-FFF2-40B4-BE49-F238E27FC236}">
                <a16:creationId xmlns:a16="http://schemas.microsoft.com/office/drawing/2014/main" id="{FE96ACA9-7D7B-4021-9D47-3C4C076F2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91000"/>
            <a:ext cx="2138333" cy="213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47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50B33-0297-4A6C-9114-3E5BECC3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7A1C-9C32-417B-9115-933B215F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B9996A-703B-45C7-96D0-2127A07A3A63}"/>
              </a:ext>
            </a:extLst>
          </p:cNvPr>
          <p:cNvSpPr/>
          <p:nvPr/>
        </p:nvSpPr>
        <p:spPr>
          <a:xfrm>
            <a:off x="228600" y="1447800"/>
            <a:ext cx="65532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Programming Languages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Machine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Assembly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Programming Language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Procedure Oriented Programming (POP)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Introduction to OOP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Advantages of OOP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Concepts of OOP</a:t>
            </a:r>
          </a:p>
          <a:p>
            <a:endParaRPr lang="en-US" sz="2800" dirty="0"/>
          </a:p>
          <a:p>
            <a:endParaRPr lang="en-US" sz="2800" b="1" dirty="0">
              <a:solidFill>
                <a:srgbClr val="C00000"/>
              </a:solidFill>
            </a:endParaRPr>
          </a:p>
          <a:p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7DDE9C-4045-465F-A21D-6565977E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038600"/>
            <a:ext cx="2136152" cy="20574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154D4E6-7483-4F0D-8948-F25137FF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</p:spTree>
    <p:extLst>
      <p:ext uri="{BB962C8B-B14F-4D97-AF65-F5344CB8AC3E}">
        <p14:creationId xmlns:p14="http://schemas.microsoft.com/office/powerpoint/2010/main" val="370137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Programmers write instructions in various programming languages to perform their computation tasks.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Examples:</a:t>
            </a:r>
          </a:p>
          <a:p>
            <a:pPr marL="571500" indent="-571500">
              <a:buAutoNum type="romanLcParenBoth"/>
            </a:pPr>
            <a:r>
              <a:rPr lang="en-US" dirty="0">
                <a:solidFill>
                  <a:srgbClr val="C00000"/>
                </a:solidFill>
              </a:rPr>
              <a:t>Machine level Language </a:t>
            </a:r>
          </a:p>
          <a:p>
            <a:pPr marL="571500" indent="-571500">
              <a:buAutoNum type="romanLcParenBoth"/>
            </a:pPr>
            <a:r>
              <a:rPr lang="en-US" dirty="0">
                <a:solidFill>
                  <a:srgbClr val="C00000"/>
                </a:solidFill>
              </a:rPr>
              <a:t>Assembly level Language </a:t>
            </a:r>
          </a:p>
          <a:p>
            <a:pPr marL="571500" indent="-571500">
              <a:buAutoNum type="romanLcParenBoth"/>
            </a:pPr>
            <a:r>
              <a:rPr lang="en-US" dirty="0">
                <a:solidFill>
                  <a:srgbClr val="C00000"/>
                </a:solidFill>
              </a:rPr>
              <a:t>High level Language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36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70C0"/>
                </a:solidFill>
                <a:effectLst/>
              </a:rPr>
              <a:t>Machine language is a </a:t>
            </a:r>
            <a:r>
              <a:rPr lang="en-US" b="1" i="0" dirty="0">
                <a:solidFill>
                  <a:srgbClr val="C00000"/>
                </a:solidFill>
                <a:effectLst/>
              </a:rPr>
              <a:t>low-level language </a:t>
            </a:r>
          </a:p>
          <a:p>
            <a:r>
              <a:rPr lang="en-US" dirty="0">
                <a:solidFill>
                  <a:schemeClr val="accent6"/>
                </a:solidFill>
              </a:rPr>
              <a:t>Also known as </a:t>
            </a:r>
            <a:r>
              <a:rPr lang="en-US" b="0" i="0" u="sng" dirty="0">
                <a:solidFill>
                  <a:schemeClr val="accent6"/>
                </a:solidFill>
                <a:effectLst/>
              </a:rPr>
              <a:t>machine code </a:t>
            </a:r>
            <a:r>
              <a:rPr lang="en-US" b="0" i="0" dirty="0">
                <a:solidFill>
                  <a:schemeClr val="accent6"/>
                </a:solidFill>
                <a:effectLst/>
              </a:rPr>
              <a:t>or </a:t>
            </a:r>
            <a:r>
              <a:rPr lang="en-US" b="0" i="0" u="sng" dirty="0">
                <a:solidFill>
                  <a:schemeClr val="accent6"/>
                </a:solidFill>
                <a:effectLst/>
              </a:rPr>
              <a:t>object code </a:t>
            </a:r>
          </a:p>
          <a:p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b="0" i="0" dirty="0">
                <a:solidFill>
                  <a:srgbClr val="0070C0"/>
                </a:solidFill>
                <a:effectLst/>
              </a:rPr>
              <a:t>ade up of binary numbers or bits that a computer can understand</a:t>
            </a:r>
          </a:p>
          <a:p>
            <a:r>
              <a:rPr lang="en-US" dirty="0">
                <a:solidFill>
                  <a:schemeClr val="accent6"/>
                </a:solidFill>
              </a:rPr>
              <a:t>This language is </a:t>
            </a:r>
            <a:r>
              <a:rPr lang="en-US" b="0" i="0" dirty="0">
                <a:solidFill>
                  <a:schemeClr val="accent6"/>
                </a:solidFill>
                <a:effectLst/>
              </a:rPr>
              <a:t>extremely tough to comprehend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What is Machine Language?">
            <a:extLst>
              <a:ext uri="{FF2B5EF4-FFF2-40B4-BE49-F238E27FC236}">
                <a16:creationId xmlns:a16="http://schemas.microsoft.com/office/drawing/2014/main" id="{ECF7FA3D-484B-4759-AA6F-447CCFC7A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4267200"/>
            <a:ext cx="2168561" cy="216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22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Machine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B050"/>
                </a:solidFill>
                <a:effectLst/>
              </a:rPr>
              <a:t>The only language that the computer understands is machine language</a:t>
            </a:r>
            <a:endParaRPr lang="en-US" dirty="0"/>
          </a:p>
          <a:p>
            <a:r>
              <a:rPr lang="en-US" dirty="0"/>
              <a:t>A set of instructions executed </a:t>
            </a:r>
            <a:r>
              <a:rPr lang="en-US" dirty="0">
                <a:solidFill>
                  <a:srgbClr val="00B0F0"/>
                </a:solidFill>
              </a:rPr>
              <a:t>directly by a computer's central processing unit (CPU)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Each instruction performs a very specific task, such as a load, a jump, or an ALU operation on a unit of data in a CPU register or memory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25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Assembly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35041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An assembly language or assembler language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B0F0"/>
                </a:solidFill>
              </a:rPr>
              <a:t>low-level programming language </a:t>
            </a:r>
            <a:r>
              <a:rPr lang="en-US" dirty="0"/>
              <a:t>for a computer, or other programmable device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Has a very strong correspondence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between the language and the architecture's machine code instructions</a:t>
            </a:r>
          </a:p>
          <a:p>
            <a:r>
              <a:rPr lang="en-US" dirty="0"/>
              <a:t>It is converted into executable machine code by a utility program referred to as an </a:t>
            </a:r>
            <a:r>
              <a:rPr lang="en-US" b="1" dirty="0">
                <a:solidFill>
                  <a:srgbClr val="C00000"/>
                </a:solidFill>
              </a:rPr>
              <a:t>assembler</a:t>
            </a:r>
          </a:p>
          <a:p>
            <a:r>
              <a:rPr lang="en-US" dirty="0"/>
              <a:t>The conversion process is referred to as </a:t>
            </a:r>
            <a:r>
              <a:rPr lang="en-US" b="1" dirty="0">
                <a:solidFill>
                  <a:srgbClr val="00B050"/>
                </a:solidFill>
              </a:rPr>
              <a:t>assembly</a:t>
            </a:r>
            <a:r>
              <a:rPr lang="en-US" dirty="0"/>
              <a:t>, or </a:t>
            </a:r>
            <a:r>
              <a:rPr lang="en-US" b="1" dirty="0">
                <a:solidFill>
                  <a:srgbClr val="00B050"/>
                </a:solidFill>
              </a:rPr>
              <a:t>assembling the 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6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35041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Compare and contrast machine level language and assembly language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31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1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E81AAFF5-1498-4C43-C530-5247D9F53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20108"/>
              </p:ext>
            </p:extLst>
          </p:nvPr>
        </p:nvGraphicFramePr>
        <p:xfrm>
          <a:off x="152399" y="1350418"/>
          <a:ext cx="883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310329076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61196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Machine Language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Assembly Language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6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understand by the computers</a:t>
                      </a:r>
                      <a:endParaRPr 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understand by human beings not by the computers</a:t>
                      </a:r>
                      <a:endParaRPr 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0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only represented with the help of binary format (0s and 1s), hexadecimal and </a:t>
                      </a:r>
                      <a:r>
                        <a:rPr lang="en-US" sz="2400" b="0" i="0" kern="120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octadecimal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can be represented with the help of mnemonics such as Mov, Add, Sub, End </a:t>
                      </a:r>
                      <a:r>
                        <a:rPr lang="en-US" sz="2400" b="0" i="0" kern="1200" dirty="0" err="1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7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 difficult to understand and memorize by the human beings</a:t>
                      </a:r>
                      <a:endParaRPr 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Easy to understand and memorize by the human being</a:t>
                      </a:r>
                      <a:endParaRPr lang="en-US" sz="24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45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Execution is fast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Execution is slow</a:t>
                      </a:r>
                    </a:p>
                    <a:p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165411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0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High-Level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0658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/>
              <a:t>Any programming language that </a:t>
            </a:r>
            <a:r>
              <a:rPr lang="en-US" dirty="0">
                <a:solidFill>
                  <a:srgbClr val="00B0F0"/>
                </a:solidFill>
              </a:rPr>
              <a:t>enables development of a program in much simpler programming context </a:t>
            </a:r>
            <a:r>
              <a:rPr lang="en-US" dirty="0"/>
              <a:t>and is generally </a:t>
            </a:r>
            <a:r>
              <a:rPr lang="en-US" u="sng" dirty="0"/>
              <a:t>independent of the computer's hardware architecture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first high-level programming languages were designed in the 1950s. </a:t>
            </a:r>
          </a:p>
          <a:p>
            <a:r>
              <a:rPr lang="en-US" dirty="0"/>
              <a:t>There are dozens of different languages, including </a:t>
            </a:r>
            <a:r>
              <a:rPr lang="en-US" dirty="0">
                <a:solidFill>
                  <a:srgbClr val="00B050"/>
                </a:solidFill>
              </a:rPr>
              <a:t>Ada, Algol, BASIC, COBOL, C, C++, JAVA, FORTRAN, LISP, Pascal, and Prolog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58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High-Level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26908"/>
            <a:ext cx="8839200" cy="4830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Such languages are considered </a:t>
            </a:r>
            <a:r>
              <a:rPr lang="en-US" dirty="0">
                <a:solidFill>
                  <a:schemeClr val="accent6"/>
                </a:solidFill>
              </a:rPr>
              <a:t>high-level</a:t>
            </a:r>
            <a:r>
              <a:rPr lang="en-US" dirty="0"/>
              <a:t> because they are closer to human languages and farther from machine languages</a:t>
            </a:r>
          </a:p>
          <a:p>
            <a:r>
              <a:rPr lang="en-US" dirty="0"/>
              <a:t>In contrast, assembly languages are considered </a:t>
            </a:r>
            <a:r>
              <a:rPr lang="en-US" dirty="0">
                <a:solidFill>
                  <a:schemeClr val="accent6"/>
                </a:solidFill>
              </a:rPr>
              <a:t>low level</a:t>
            </a:r>
            <a:r>
              <a:rPr lang="en-US" dirty="0"/>
              <a:t> because they are very close to machine languages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high-level programming languages are broadly categorized into two categories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- Procedure Oriented Programming (POP)            	Language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- Object Oriented Programming (OOP) Language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36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26908"/>
            <a:ext cx="8839200" cy="48307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6DF46F-44EE-A812-A43A-68AF4058A7DF}"/>
              </a:ext>
            </a:extLst>
          </p:cNvPr>
          <p:cNvSpPr txBox="1">
            <a:spLocks/>
          </p:cNvSpPr>
          <p:nvPr/>
        </p:nvSpPr>
        <p:spPr>
          <a:xfrm>
            <a:off x="152399" y="1350418"/>
            <a:ext cx="8839200" cy="483076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Compare and contrast machine level language and high-level language</a:t>
            </a:r>
          </a:p>
          <a:p>
            <a:r>
              <a:rPr lang="en-US" dirty="0">
                <a:solidFill>
                  <a:srgbClr val="C00000"/>
                </a:solidFill>
              </a:rPr>
              <a:t>Compare and contrast assembly language and high -level language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706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Programming Language </a:t>
            </a:r>
            <a:r>
              <a:rPr lang="en-US" sz="4000" b="1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enerations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26908"/>
            <a:ext cx="8839200" cy="48307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D00D4FB3-6262-36EA-0CB6-5420ED988E41}"/>
              </a:ext>
            </a:extLst>
          </p:cNvPr>
          <p:cNvSpPr txBox="1"/>
          <p:nvPr/>
        </p:nvSpPr>
        <p:spPr>
          <a:xfrm>
            <a:off x="342909" y="1457389"/>
            <a:ext cx="8779320" cy="5137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This classification is used to indicate increasing power of programming styles</a:t>
            </a:r>
          </a:p>
          <a:p>
            <a:pPr>
              <a:lnSpc>
                <a:spcPct val="100000"/>
              </a:lnSpc>
            </a:pPr>
            <a:endParaRPr dirty="0"/>
          </a:p>
          <a:p>
            <a:pPr marL="457200" indent="-456840">
              <a:lnSpc>
                <a:spcPct val="100000"/>
              </a:lnSpc>
              <a:buClr>
                <a:srgbClr val="C00000"/>
              </a:buClr>
              <a:buFont typeface="StarSymbol"/>
              <a:buAutoNum type="arabicPeriod"/>
            </a:pPr>
            <a:r>
              <a:rPr lang="en-US" sz="24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First-generation programming languages </a:t>
            </a:r>
            <a:endParaRPr dirty="0"/>
          </a:p>
          <a:p>
            <a:pPr marL="457200" indent="-456840">
              <a:lnSpc>
                <a:spcPct val="100000"/>
              </a:lnSpc>
              <a:buClr>
                <a:srgbClr val="215968"/>
              </a:buClr>
              <a:buFont typeface="StarSymbol"/>
              <a:buAutoNum type="arabicPeriod"/>
            </a:pPr>
            <a:r>
              <a:rPr lang="en-US" sz="2400" strike="noStrike" spc="-1" dirty="0">
                <a:solidFill>
                  <a:srgbClr val="215968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Second-generation programming languages</a:t>
            </a:r>
            <a:endParaRPr dirty="0"/>
          </a:p>
          <a:p>
            <a:pPr marL="457200" indent="-456840">
              <a:lnSpc>
                <a:spcPct val="100000"/>
              </a:lnSpc>
              <a:buClr>
                <a:srgbClr val="C00000"/>
              </a:buClr>
              <a:buFont typeface="StarSymbol"/>
              <a:buAutoNum type="arabicPeriod"/>
            </a:pPr>
            <a:r>
              <a:rPr lang="en-US" sz="24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Third-generation programming languages</a:t>
            </a:r>
            <a:endParaRPr dirty="0"/>
          </a:p>
          <a:p>
            <a:pPr marL="457200" indent="-456840">
              <a:lnSpc>
                <a:spcPct val="100000"/>
              </a:lnSpc>
              <a:buClr>
                <a:srgbClr val="215968"/>
              </a:buClr>
              <a:buFont typeface="StarSymbol"/>
              <a:buAutoNum type="arabicPeriod"/>
            </a:pPr>
            <a:r>
              <a:rPr lang="en-US" sz="2400" strike="noStrike" spc="-1" dirty="0">
                <a:solidFill>
                  <a:srgbClr val="215968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Fourth-generation programming languages</a:t>
            </a:r>
            <a:endParaRPr dirty="0"/>
          </a:p>
          <a:p>
            <a:pPr marL="457200" indent="-456840">
              <a:lnSpc>
                <a:spcPct val="100000"/>
              </a:lnSpc>
              <a:buClr>
                <a:srgbClr val="C00000"/>
              </a:buClr>
              <a:buFont typeface="StarSymbol"/>
              <a:buAutoNum type="arabicPeriod"/>
            </a:pPr>
            <a:r>
              <a:rPr lang="en-US" sz="24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Fifth-generation programming languages</a:t>
            </a:r>
            <a:endParaRPr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DCDC14D-30C7-6125-DC2F-729ED410C00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381120" y="4252824"/>
            <a:ext cx="2458080" cy="2089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863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First-generation programming language (1GL)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26908"/>
            <a:ext cx="8839200" cy="48307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D00D4FB3-6262-36EA-0CB6-5420ED988E41}"/>
              </a:ext>
            </a:extLst>
          </p:cNvPr>
          <p:cNvSpPr txBox="1"/>
          <p:nvPr/>
        </p:nvSpPr>
        <p:spPr>
          <a:xfrm>
            <a:off x="304800" y="1308481"/>
            <a:ext cx="8779320" cy="5137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b="1" spc="-1" dirty="0">
                <a:solidFill>
                  <a:schemeClr val="accent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</a:t>
            </a:r>
            <a:r>
              <a:rPr lang="en-US" sz="2800" b="1" strike="noStrike" spc="-1" dirty="0">
                <a:solidFill>
                  <a:schemeClr val="accent6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achine-level programming language</a:t>
            </a:r>
            <a:endParaRPr lang="en-US" sz="1600" b="1" dirty="0">
              <a:solidFill>
                <a:schemeClr val="accent6"/>
              </a:solidFill>
            </a:endParaRPr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u="sng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Translator</a:t>
            </a: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isn’t used to </a:t>
            </a:r>
            <a:r>
              <a:rPr lang="en-US" sz="2800" u="sng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compile</a:t>
            </a:r>
            <a:endParaRPr lang="en-US" sz="16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instructions in 1GL are made of binary numbers, represented by 1s and 0s</a:t>
            </a:r>
            <a:endParaRPr lang="en-US" sz="16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Advantage</a:t>
            </a:r>
            <a:endParaRPr lang="en-US" sz="16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code can run very fast and very efficiently because the instructions are executed directly by the CPU</a:t>
            </a:r>
            <a:endParaRPr lang="en-US" sz="16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Disadvantage</a:t>
            </a:r>
            <a:endParaRPr lang="en-US" sz="16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When an error occurs, the code is not as easy to fix</a:t>
            </a:r>
            <a:endParaRPr lang="en-US" sz="1600" dirty="0"/>
          </a:p>
          <a:p>
            <a:pPr>
              <a:lnSpc>
                <a:spcPct val="100000"/>
              </a:lnSpc>
            </a:pPr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9334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-generation programming language (2GL)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26908"/>
            <a:ext cx="8839200" cy="48307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Shape 2">
            <a:extLst>
              <a:ext uri="{FF2B5EF4-FFF2-40B4-BE49-F238E27FC236}">
                <a16:creationId xmlns:a16="http://schemas.microsoft.com/office/drawing/2014/main" id="{8B917381-DCE7-F4C1-92A1-3DC7346FB093}"/>
              </a:ext>
            </a:extLst>
          </p:cNvPr>
          <p:cNvSpPr txBox="1"/>
          <p:nvPr/>
        </p:nvSpPr>
        <p:spPr>
          <a:xfrm>
            <a:off x="272143" y="1579509"/>
            <a:ext cx="807696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b="1" strike="noStrike" spc="-1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Assembly language</a:t>
            </a:r>
            <a:endParaRPr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Properties</a:t>
            </a:r>
            <a:endParaRPr sz="28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code can be read and written by a programmer</a:t>
            </a:r>
            <a:endParaRPr sz="28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 language is specific to a particular processor family and environment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Used in kernels and device drivers</a:t>
            </a:r>
            <a:endParaRPr sz="2800"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025E18EB-2DC8-F26F-8C83-72C8B386F48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774818" y="4632468"/>
            <a:ext cx="2358686" cy="18104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4322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-generation programming language (3GL)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extShape 2">
            <a:extLst>
              <a:ext uri="{FF2B5EF4-FFF2-40B4-BE49-F238E27FC236}">
                <a16:creationId xmlns:a16="http://schemas.microsoft.com/office/drawing/2014/main" id="{0C37E62A-7884-0AE5-104A-8EB49BE0C407}"/>
              </a:ext>
            </a:extLst>
          </p:cNvPr>
          <p:cNvSpPr txBox="1"/>
          <p:nvPr/>
        </p:nvSpPr>
        <p:spPr>
          <a:xfrm>
            <a:off x="280980" y="1624140"/>
            <a:ext cx="807696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Languages are more programmer-friendly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</a:t>
            </a:r>
            <a:endParaRPr sz="28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C, C++, C#, Java, BASIC and Pascal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Support structured programming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Must be translated into machine language by a compiler or interpreter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Advantages</a:t>
            </a:r>
            <a:endParaRPr sz="28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Easier to read, write, and maintain</a:t>
            </a:r>
            <a:endParaRPr sz="2800"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3468334-702E-9246-8BBA-B4DF522C937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181600" y="5190144"/>
            <a:ext cx="3071400" cy="13977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35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-generation programming language (4GL)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D650F7C8-7EE4-A920-65F8-B70C20B2A30E}"/>
              </a:ext>
            </a:extLst>
          </p:cNvPr>
          <p:cNvSpPr txBox="1"/>
          <p:nvPr/>
        </p:nvSpPr>
        <p:spPr>
          <a:xfrm>
            <a:off x="304800" y="1430136"/>
            <a:ext cx="7695720" cy="4876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Designed to reduce programming effort</a:t>
            </a:r>
            <a:endParaRPr sz="24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Consist of </a:t>
            </a:r>
            <a:endParaRPr sz="2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Set of libraries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CRUD generators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Report generators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DBMS 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Visual design tool and integration API</a:t>
            </a:r>
            <a:endParaRPr sz="1400" dirty="0"/>
          </a:p>
          <a:p>
            <a:endParaRPr sz="14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Different types of 4GLs</a:t>
            </a:r>
            <a:endParaRPr sz="2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Table-driven (codeless) programming</a:t>
            </a:r>
            <a:endParaRPr sz="1400" dirty="0"/>
          </a:p>
          <a:p>
            <a:pPr marL="1143000" lvl="2" indent="-228240">
              <a:lnSpc>
                <a:spcPct val="100000"/>
              </a:lnSpc>
              <a:buClr>
                <a:srgbClr val="215968"/>
              </a:buClr>
              <a:buFont typeface="Arial"/>
              <a:buChar char="•"/>
            </a:pPr>
            <a:r>
              <a:rPr lang="en-US" strike="noStrike" spc="-1" dirty="0">
                <a:solidFill>
                  <a:srgbClr val="215968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PowerBuilder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Data management</a:t>
            </a:r>
            <a:endParaRPr sz="1400" dirty="0"/>
          </a:p>
          <a:p>
            <a:pPr marL="1143000" lvl="2" indent="-228240">
              <a:lnSpc>
                <a:spcPct val="100000"/>
              </a:lnSpc>
              <a:buClr>
                <a:srgbClr val="215968"/>
              </a:buClr>
              <a:buFont typeface="Arial"/>
              <a:buChar char="•"/>
            </a:pPr>
            <a:r>
              <a:rPr lang="en-US" strike="noStrike" spc="-1" dirty="0">
                <a:solidFill>
                  <a:srgbClr val="215968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SAS, SPSS</a:t>
            </a:r>
            <a:endParaRPr sz="14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0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Report-generator programming languages </a:t>
            </a:r>
            <a:endParaRPr sz="1400" dirty="0"/>
          </a:p>
          <a:p>
            <a:pPr marL="1143000" lvl="2" indent="-228240">
              <a:lnSpc>
                <a:spcPct val="100000"/>
              </a:lnSpc>
              <a:buClr>
                <a:srgbClr val="215968"/>
              </a:buClr>
              <a:buFont typeface="Arial"/>
              <a:buChar char="•"/>
            </a:pPr>
            <a:r>
              <a:rPr lang="en-US" strike="noStrike" spc="-1" dirty="0">
                <a:solidFill>
                  <a:srgbClr val="215968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Oracle Developer Suite </a:t>
            </a:r>
            <a:endParaRPr sz="1400" dirty="0"/>
          </a:p>
          <a:p>
            <a:pPr>
              <a:lnSpc>
                <a:spcPct val="100000"/>
              </a:lnSpc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356035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-Generation </a:t>
            </a: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rogramming </a:t>
            </a:r>
            <a:r>
              <a:rPr lang="en-US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</a:t>
            </a:r>
            <a:r>
              <a:rPr lang="en-US" sz="4000" b="1" strike="noStrike" spc="-1" dirty="0">
                <a:solidFill>
                  <a:schemeClr val="tx1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anguages (5GL)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Shape 2">
            <a:extLst>
              <a:ext uri="{FF2B5EF4-FFF2-40B4-BE49-F238E27FC236}">
                <a16:creationId xmlns:a16="http://schemas.microsoft.com/office/drawing/2014/main" id="{FB94C20A-36D2-5CD3-D84A-DD0458031EED}"/>
              </a:ext>
            </a:extLst>
          </p:cNvPr>
          <p:cNvSpPr txBox="1"/>
          <p:nvPr/>
        </p:nvSpPr>
        <p:spPr>
          <a:xfrm>
            <a:off x="381240" y="1594750"/>
            <a:ext cx="8076960" cy="45255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Based on </a:t>
            </a:r>
            <a:r>
              <a:rPr lang="en-US" sz="2800" b="1" u="sng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solving problems </a:t>
            </a: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using constraints given to the program, rather than using an algorithm written by a programmer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Use mainly in </a:t>
            </a:r>
            <a:r>
              <a:rPr lang="en-US" sz="28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Artificial Intelligence </a:t>
            </a: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research</a:t>
            </a:r>
            <a:endParaRPr sz="2800" dirty="0"/>
          </a:p>
          <a:p>
            <a:pPr marL="343080" indent="-342720">
              <a:lnSpc>
                <a:spcPct val="100000"/>
              </a:lnSpc>
              <a:buClr>
                <a:srgbClr val="002060"/>
              </a:buClr>
              <a:buFont typeface="Arial"/>
              <a:buChar char="•"/>
            </a:pPr>
            <a:r>
              <a:rPr lang="en-US" sz="280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Example</a:t>
            </a:r>
            <a:endParaRPr sz="2800" dirty="0"/>
          </a:p>
          <a:p>
            <a:pPr marL="743040" lvl="1" indent="-285480">
              <a:lnSpc>
                <a:spcPct val="100000"/>
              </a:lnSpc>
              <a:buClr>
                <a:srgbClr val="C00000"/>
              </a:buClr>
              <a:buFont typeface="Arial"/>
              <a:buChar char="–"/>
            </a:pPr>
            <a:r>
              <a:rPr lang="en-US" sz="2400" strike="noStrike" spc="-1" dirty="0">
                <a:solidFill>
                  <a:srgbClr val="C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Prolog, OPS5, and Mercury</a:t>
            </a:r>
            <a:endParaRPr sz="2400" dirty="0"/>
          </a:p>
          <a:p>
            <a:pPr>
              <a:lnSpc>
                <a:spcPct val="100000"/>
              </a:lnSpc>
            </a:pPr>
            <a:endParaRPr dirty="0"/>
          </a:p>
          <a:p>
            <a:endParaRPr dirty="0"/>
          </a:p>
          <a:p>
            <a:pPr>
              <a:lnSpc>
                <a:spcPct val="100000"/>
              </a:lnSpc>
            </a:pPr>
            <a:endParaRPr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9EDCCA4-3844-7581-62B7-A932343996A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195100" y="4059745"/>
            <a:ext cx="3478200" cy="2312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380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1110864"/>
            <a:ext cx="55626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High-Level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667000"/>
            <a:ext cx="7620001" cy="28402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Broadly categorized into two categories</a:t>
            </a:r>
          </a:p>
          <a:p>
            <a:pPr marL="0" indent="0" algn="ctr">
              <a:buNone/>
            </a:pP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rgbClr val="92D050"/>
                </a:solidFill>
              </a:rPr>
              <a:t>Procedure Oriented Programming (POP)           Language</a:t>
            </a:r>
          </a:p>
          <a:p>
            <a:r>
              <a:rPr lang="en-US" sz="2400" dirty="0">
                <a:solidFill>
                  <a:srgbClr val="92D050"/>
                </a:solidFill>
              </a:rPr>
              <a:t>Object Oriented Programming (OOP) Language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202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Procedure Oriented Programming (POP)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/>
              <a:t>In the procedure-oriented approach, </a:t>
            </a:r>
            <a:r>
              <a:rPr lang="en-US" u="sng" dirty="0"/>
              <a:t>the problem is viewed as sequence of things to be done </a:t>
            </a:r>
            <a:r>
              <a:rPr lang="en-US" dirty="0"/>
              <a:t>(reading, calculation and printing)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Basically consists a list of instruction or actions for the computer to follow and organizing these instruction into groups known as </a:t>
            </a:r>
            <a:r>
              <a:rPr lang="en-US" b="1" dirty="0">
                <a:solidFill>
                  <a:srgbClr val="C00000"/>
                </a:solidFill>
              </a:rPr>
              <a:t>functions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2789F-C8D5-4791-B362-069B93A2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4" y="4454906"/>
            <a:ext cx="60007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81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Procedure Oriented Programming (POP)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Characteristics of procedure-oriented programming:</a:t>
            </a:r>
          </a:p>
          <a:p>
            <a:r>
              <a:rPr lang="en-US" dirty="0">
                <a:solidFill>
                  <a:srgbClr val="00B050"/>
                </a:solidFill>
              </a:rPr>
              <a:t>Emphasis is on doing things (algorithm)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Large programs are divided into smaller programs known as functions</a:t>
            </a:r>
          </a:p>
          <a:p>
            <a:r>
              <a:rPr lang="en-US" dirty="0">
                <a:solidFill>
                  <a:srgbClr val="00B050"/>
                </a:solidFill>
              </a:rPr>
              <a:t>Most of the functions share global data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 move openly around the system from function to function </a:t>
            </a:r>
          </a:p>
          <a:p>
            <a:r>
              <a:rPr lang="en-US" dirty="0">
                <a:solidFill>
                  <a:srgbClr val="00B050"/>
                </a:solidFill>
              </a:rPr>
              <a:t>Function transforms data from one form to another Employs top-down approach in program design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83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Procedure Oriented Programming (POP)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disadvantage of the procedure-oriented programming languages </a:t>
            </a:r>
          </a:p>
          <a:p>
            <a:r>
              <a:rPr lang="en-US" dirty="0">
                <a:solidFill>
                  <a:srgbClr val="00B050"/>
                </a:solidFill>
              </a:rPr>
              <a:t>Global data access </a:t>
            </a:r>
          </a:p>
          <a:p>
            <a:r>
              <a:rPr lang="en-US" dirty="0">
                <a:solidFill>
                  <a:srgbClr val="00B050"/>
                </a:solidFill>
              </a:rPr>
              <a:t>It does not model real word problem very well </a:t>
            </a:r>
          </a:p>
          <a:p>
            <a:r>
              <a:rPr lang="en-US" dirty="0">
                <a:solidFill>
                  <a:srgbClr val="00B050"/>
                </a:solidFill>
              </a:rPr>
              <a:t>No data hiding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63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/>
              <a:t>Stands for Object-Oriented Programming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Object-oriented programming (OOP) is a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programming paradigm that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represents concepts</a:t>
            </a:r>
            <a:br>
              <a:rPr lang="en-US" u="sng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"objects"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that have </a:t>
            </a:r>
            <a:r>
              <a:rPr lang="en-US" dirty="0">
                <a:solidFill>
                  <a:srgbClr val="00B050"/>
                </a:solidFill>
              </a:rPr>
              <a:t>data fields (State)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and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methods (</a:t>
            </a:r>
            <a:r>
              <a:rPr lang="en-US" i="1" dirty="0">
                <a:solidFill>
                  <a:srgbClr val="00B050"/>
                </a:solidFill>
              </a:rPr>
              <a:t>Behavior)</a:t>
            </a:r>
            <a:r>
              <a:rPr lang="en-US" dirty="0">
                <a:solidFill>
                  <a:srgbClr val="00B050"/>
                </a:solidFill>
              </a:rPr>
              <a:t> </a:t>
            </a:r>
          </a:p>
          <a:p>
            <a:r>
              <a:rPr lang="en-US" dirty="0"/>
              <a:t>As the name suggests uses </a:t>
            </a:r>
            <a:r>
              <a:rPr lang="en-US" u="sng" dirty="0">
                <a:hlinkClick r:id="rId2"/>
              </a:rPr>
              <a:t>objects</a:t>
            </a:r>
            <a:r>
              <a:rPr lang="en-US" dirty="0"/>
              <a:t> in programming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374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0263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Advantages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30977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Object-oriented programming has several advantages over procedural programming: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Provides a clear </a:t>
            </a:r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modular structure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for programs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Faster and easier to execute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Makes the code easier to maintain, modify and debug</a:t>
            </a:r>
          </a:p>
          <a:p>
            <a:r>
              <a:rPr lang="en-US" dirty="0">
                <a:solidFill>
                  <a:srgbClr val="00B050"/>
                </a:solidFill>
              </a:rPr>
              <a:t>Makes it possible to create full reusable applications with less code and shorter development time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856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Concepts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Objects</a:t>
            </a:r>
          </a:p>
          <a:p>
            <a:r>
              <a:rPr lang="en-US" dirty="0">
                <a:solidFill>
                  <a:srgbClr val="00B0F0"/>
                </a:solidFill>
              </a:rPr>
              <a:t>Classes</a:t>
            </a:r>
          </a:p>
          <a:p>
            <a:r>
              <a:rPr lang="en-US" dirty="0"/>
              <a:t>Encapsulation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Data Abstraction </a:t>
            </a:r>
            <a:br>
              <a:rPr lang="en-US" dirty="0"/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6CDBED-28DA-409C-B431-01E6DC43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79" y="2135572"/>
            <a:ext cx="5105400" cy="348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16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dirty="0"/>
              <a:t>Object is a </a:t>
            </a:r>
            <a:r>
              <a:rPr lang="en-US" dirty="0">
                <a:solidFill>
                  <a:srgbClr val="00B0F0"/>
                </a:solidFill>
              </a:rPr>
              <a:t>software bundle of related state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>
                <a:solidFill>
                  <a:srgbClr val="00B0F0"/>
                </a:solidFill>
              </a:rPr>
              <a:t>and behavior</a:t>
            </a:r>
          </a:p>
          <a:p>
            <a:r>
              <a:rPr lang="en-US" dirty="0"/>
              <a:t>It is the </a:t>
            </a:r>
            <a:r>
              <a:rPr lang="en-US" u="sng" dirty="0"/>
              <a:t>basic unit </a:t>
            </a:r>
            <a:r>
              <a:rPr lang="en-US" dirty="0"/>
              <a:t>of object-oriented programming</a:t>
            </a:r>
          </a:p>
          <a:p>
            <a:r>
              <a:rPr lang="en-US" dirty="0"/>
              <a:t>Is an instance of a Class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Characteristics:</a:t>
            </a:r>
            <a:r>
              <a:rPr lang="en-US" b="1" dirty="0"/>
              <a:t> </a:t>
            </a:r>
            <a:r>
              <a:rPr lang="en-US" i="1" dirty="0">
                <a:solidFill>
                  <a:srgbClr val="C00000"/>
                </a:solidFill>
              </a:rPr>
              <a:t>state </a:t>
            </a:r>
            <a:r>
              <a:rPr lang="en-US" dirty="0">
                <a:solidFill>
                  <a:srgbClr val="C00000"/>
                </a:solidFill>
              </a:rPr>
              <a:t>and </a:t>
            </a:r>
            <a:r>
              <a:rPr lang="en-US" i="1" dirty="0">
                <a:solidFill>
                  <a:srgbClr val="C00000"/>
                </a:solidFill>
              </a:rPr>
              <a:t>behavior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   - States: What the objects have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        - Behaviors: What the objects do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79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Example (</a:t>
            </a:r>
            <a:r>
              <a:rPr lang="en-US" b="1" i="1" dirty="0"/>
              <a:t>Person</a:t>
            </a:r>
            <a:r>
              <a:rPr lang="en-US" i="1" dirty="0"/>
              <a:t>)</a:t>
            </a:r>
            <a:br>
              <a:rPr lang="en-US" i="1" dirty="0"/>
            </a:br>
            <a:r>
              <a:rPr lang="en-US" i="1" dirty="0">
                <a:solidFill>
                  <a:srgbClr val="00B050"/>
                </a:solidFill>
              </a:rPr>
              <a:t>- State (Name, NIC, Height)</a:t>
            </a:r>
            <a:br>
              <a:rPr lang="en-US" i="1" dirty="0">
                <a:solidFill>
                  <a:srgbClr val="00B050"/>
                </a:solidFill>
              </a:rPr>
            </a:br>
            <a:r>
              <a:rPr lang="en-US" i="1" dirty="0">
                <a:solidFill>
                  <a:srgbClr val="00B050"/>
                </a:solidFill>
              </a:rPr>
              <a:t>- Behavior (Speech, Sleep, Eat)</a:t>
            </a:r>
            <a:r>
              <a:rPr lang="en-US" dirty="0">
                <a:solidFill>
                  <a:srgbClr val="00B050"/>
                </a:solidFill>
              </a:rPr>
              <a:t> </a:t>
            </a:r>
            <a:br>
              <a:rPr lang="en-US" dirty="0"/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2050" name="Picture 2" descr="Person standing emoji clipart. Free download transparent .PNG | Creazilla">
            <a:extLst>
              <a:ext uri="{FF2B5EF4-FFF2-40B4-BE49-F238E27FC236}">
                <a16:creationId xmlns:a16="http://schemas.microsoft.com/office/drawing/2014/main" id="{6BB11E0E-A06B-4920-950E-9CF28000F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5908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025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Example (</a:t>
            </a:r>
            <a:r>
              <a:rPr lang="en-US" b="1" i="1" dirty="0"/>
              <a:t>Dog</a:t>
            </a:r>
            <a:r>
              <a:rPr lang="en-US" i="1" dirty="0"/>
              <a:t>)</a:t>
            </a:r>
            <a:br>
              <a:rPr lang="en-US" i="1" dirty="0"/>
            </a:br>
            <a:r>
              <a:rPr lang="en-US" i="1" dirty="0">
                <a:solidFill>
                  <a:srgbClr val="00B050"/>
                </a:solidFill>
              </a:rPr>
              <a:t>- State (Name, Color, Breed)</a:t>
            </a:r>
            <a:br>
              <a:rPr lang="en-US" i="1" dirty="0">
                <a:solidFill>
                  <a:srgbClr val="00B050"/>
                </a:solidFill>
              </a:rPr>
            </a:br>
            <a:r>
              <a:rPr lang="en-US" i="1" dirty="0">
                <a:solidFill>
                  <a:srgbClr val="00B050"/>
                </a:solidFill>
              </a:rPr>
              <a:t>- Behavior (Barking, Eating, Wagging the tail)</a:t>
            </a:r>
            <a:r>
              <a:rPr lang="en-US" dirty="0">
                <a:solidFill>
                  <a:srgbClr val="00B050"/>
                </a:solidFill>
              </a:rPr>
              <a:t> </a:t>
            </a:r>
            <a:br>
              <a:rPr lang="en-US" dirty="0"/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26" name="Picture 2" descr="Dog definition and meaning | Collins English Dictionary">
            <a:extLst>
              <a:ext uri="{FF2B5EF4-FFF2-40B4-BE49-F238E27FC236}">
                <a16:creationId xmlns:a16="http://schemas.microsoft.com/office/drawing/2014/main" id="{2FA36AF2-3D02-4ED4-8E74-6760BB9B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7" y="3161008"/>
            <a:ext cx="2676525" cy="324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971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4327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r>
              <a:rPr lang="en-US" u="sng" dirty="0"/>
              <a:t>A group of objects </a:t>
            </a:r>
            <a:r>
              <a:rPr lang="en-US" dirty="0"/>
              <a:t>that share common properties for data part and some program part are collectively called as </a:t>
            </a:r>
            <a:r>
              <a:rPr lang="en-US" b="1" dirty="0">
                <a:solidFill>
                  <a:srgbClr val="00B0F0"/>
                </a:solidFill>
              </a:rPr>
              <a:t>class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user-defined data type, which holds its own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and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functions</a:t>
            </a:r>
          </a:p>
          <a:p>
            <a:r>
              <a:rPr lang="en-US" dirty="0">
                <a:solidFill>
                  <a:srgbClr val="00B050"/>
                </a:solidFill>
              </a:rPr>
              <a:t>A class is like a blueprint for an object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12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761" y="320489"/>
            <a:ext cx="88392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Relationship between Class and Objects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CED0AD-D103-4867-8E20-78E0AEA93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61" y="1828800"/>
            <a:ext cx="8580478" cy="2667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015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2" y="304800"/>
            <a:ext cx="8839200" cy="110714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Relationship between Class and Objects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B7CB2-D518-4A24-8900-272AC3D3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76400"/>
            <a:ext cx="8707345" cy="269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35532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Definition: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7D3C2C7-D647-420F-9D08-5F9433575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7523531" cy="2944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8533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355327"/>
            <a:ext cx="8839200" cy="110714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Definition: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909B9A9-0433-4F8D-8058-EF4098D20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9" y="1462468"/>
            <a:ext cx="7086600" cy="470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304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2" y="304800"/>
            <a:ext cx="8839200" cy="110714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Homework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D2D6B18-FF32-43C5-970B-F5F3D676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462468"/>
            <a:ext cx="88392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Compare and Contrast POP and OOP</a:t>
            </a:r>
          </a:p>
        </p:txBody>
      </p:sp>
    </p:spTree>
    <p:extLst>
      <p:ext uri="{BB962C8B-B14F-4D97-AF65-F5344CB8AC3E}">
        <p14:creationId xmlns:p14="http://schemas.microsoft.com/office/powerpoint/2010/main" val="3397528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405282"/>
            <a:ext cx="6629400" cy="365125"/>
          </a:xfrm>
        </p:spPr>
        <p:txBody>
          <a:bodyPr/>
          <a:lstStyle/>
          <a:p>
            <a:r>
              <a:rPr lang="en-US" dirty="0"/>
              <a:t>Sandali </a:t>
            </a:r>
            <a:r>
              <a:rPr lang="en-US" dirty="0" err="1"/>
              <a:t>Goonatilleke</a:t>
            </a:r>
            <a:r>
              <a:rPr lang="en-US" dirty="0"/>
              <a:t> (goonatillekemast@kdu.ac.lk)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0F57-DDE5-458A-A03A-6CC08A8E3662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F44BF-DDA8-4C14-8342-63C58FE2B488}"/>
              </a:ext>
            </a:extLst>
          </p:cNvPr>
          <p:cNvSpPr txBox="1"/>
          <p:nvPr/>
        </p:nvSpPr>
        <p:spPr>
          <a:xfrm>
            <a:off x="2286000" y="2743200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645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</TotalTime>
  <Words>1659</Words>
  <Application>Microsoft Office PowerPoint</Application>
  <PresentationFormat>On-screen Show (4:3)</PresentationFormat>
  <Paragraphs>264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StarSymbol</vt:lpstr>
      <vt:lpstr>Office Theme</vt:lpstr>
      <vt:lpstr>Introduction to OOP in C++</vt:lpstr>
      <vt:lpstr>Module Overview</vt:lpstr>
      <vt:lpstr>Module Content</vt:lpstr>
      <vt:lpstr>Overview</vt:lpstr>
      <vt:lpstr>Programming Languages</vt:lpstr>
      <vt:lpstr>Machine Language</vt:lpstr>
      <vt:lpstr>Machine Language</vt:lpstr>
      <vt:lpstr>Assembly Language</vt:lpstr>
      <vt:lpstr>Exercise 1</vt:lpstr>
      <vt:lpstr>Exercise 1</vt:lpstr>
      <vt:lpstr>High-Level Language</vt:lpstr>
      <vt:lpstr>High-Level Language</vt:lpstr>
      <vt:lpstr>Exercise 2</vt:lpstr>
      <vt:lpstr>Programming Language Generations</vt:lpstr>
      <vt:lpstr>First-generation programming language (1GL)</vt:lpstr>
      <vt:lpstr>Second-generation programming language (2GL)</vt:lpstr>
      <vt:lpstr>Third-generation programming language (3GL)</vt:lpstr>
      <vt:lpstr>Fourth-generation programming language (4GL)</vt:lpstr>
      <vt:lpstr>Fifth-Generation Programming Languages (5GL)</vt:lpstr>
      <vt:lpstr>High-Level Languages</vt:lpstr>
      <vt:lpstr>Procedure Oriented Programming (POP)</vt:lpstr>
      <vt:lpstr>Procedure Oriented Programming (POP)</vt:lpstr>
      <vt:lpstr>Procedure Oriented Programming (POP)</vt:lpstr>
      <vt:lpstr>What is OOP?</vt:lpstr>
      <vt:lpstr>Advantages of OOP</vt:lpstr>
      <vt:lpstr>Concepts of OOP</vt:lpstr>
      <vt:lpstr>What is an Object?</vt:lpstr>
      <vt:lpstr>What is an Object?</vt:lpstr>
      <vt:lpstr>What is an Object?</vt:lpstr>
      <vt:lpstr>What is a Class?</vt:lpstr>
      <vt:lpstr>Relationship between Class and Objects</vt:lpstr>
      <vt:lpstr>Relationship between Class and Objects</vt:lpstr>
      <vt:lpstr>Definition: Object</vt:lpstr>
      <vt:lpstr>Definition: Class</vt:lpstr>
      <vt:lpstr>Homework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Budditha</dc:creator>
  <cp:lastModifiedBy>Thamalka Goonatilleke</cp:lastModifiedBy>
  <cp:revision>174</cp:revision>
  <cp:lastPrinted>2015-07-11T22:37:31Z</cp:lastPrinted>
  <dcterms:created xsi:type="dcterms:W3CDTF">2011-11-30T17:12:26Z</dcterms:created>
  <dcterms:modified xsi:type="dcterms:W3CDTF">2022-08-08T05:38:39Z</dcterms:modified>
</cp:coreProperties>
</file>