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sldIdLst>
    <p:sldId id="309" r:id="rId2"/>
    <p:sldId id="301" r:id="rId3"/>
    <p:sldId id="259" r:id="rId4"/>
    <p:sldId id="260" r:id="rId5"/>
    <p:sldId id="261" r:id="rId6"/>
    <p:sldId id="262" r:id="rId7"/>
    <p:sldId id="263" r:id="rId8"/>
    <p:sldId id="264" r:id="rId9"/>
    <p:sldId id="265" r:id="rId10"/>
    <p:sldId id="266" r:id="rId11"/>
    <p:sldId id="267" r:id="rId12"/>
    <p:sldId id="268" r:id="rId13"/>
    <p:sldId id="269" r:id="rId14"/>
    <p:sldId id="270" r:id="rId15"/>
    <p:sldId id="300" r:id="rId16"/>
    <p:sldId id="292" r:id="rId17"/>
    <p:sldId id="293" r:id="rId18"/>
    <p:sldId id="294" r:id="rId19"/>
    <p:sldId id="305" r:id="rId20"/>
    <p:sldId id="296" r:id="rId21"/>
    <p:sldId id="297" r:id="rId22"/>
    <p:sldId id="298" r:id="rId23"/>
    <p:sldId id="299" r:id="rId24"/>
    <p:sldId id="302" r:id="rId25"/>
    <p:sldId id="303" r:id="rId26"/>
    <p:sldId id="304" r:id="rId27"/>
    <p:sldId id="308" r:id="rId28"/>
    <p:sldId id="295" r:id="rId29"/>
    <p:sldId id="306" r:id="rId30"/>
    <p:sldId id="30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157313-25C4-4FE2-8810-F27524A54975}">
          <p14:sldIdLst>
            <p14:sldId id="309"/>
            <p14:sldId id="301"/>
            <p14:sldId id="259"/>
            <p14:sldId id="260"/>
            <p14:sldId id="261"/>
            <p14:sldId id="262"/>
            <p14:sldId id="263"/>
            <p14:sldId id="264"/>
            <p14:sldId id="265"/>
            <p14:sldId id="266"/>
            <p14:sldId id="267"/>
            <p14:sldId id="268"/>
            <p14:sldId id="269"/>
            <p14:sldId id="270"/>
            <p14:sldId id="300"/>
            <p14:sldId id="292"/>
            <p14:sldId id="293"/>
            <p14:sldId id="294"/>
            <p14:sldId id="305"/>
            <p14:sldId id="296"/>
            <p14:sldId id="297"/>
            <p14:sldId id="298"/>
            <p14:sldId id="299"/>
            <p14:sldId id="302"/>
            <p14:sldId id="303"/>
            <p14:sldId id="304"/>
            <p14:sldId id="308"/>
            <p14:sldId id="295"/>
            <p14:sldId id="306"/>
            <p14:sldId id="307"/>
          </p14:sldIdLst>
        </p14:section>
        <p14:section name="Untitled Section" id="{0A8EAE78-1FD2-49DD-ABD4-585F6FA426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15" autoAdjust="0"/>
    <p:restoredTop sz="94660"/>
  </p:normalViewPr>
  <p:slideViewPr>
    <p:cSldViewPr snapToGrid="0">
      <p:cViewPr varScale="1">
        <p:scale>
          <a:sx n="72" d="100"/>
          <a:sy n="72" d="100"/>
        </p:scale>
        <p:origin x="33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552A7-F65A-46A2-A22E-C93AA92D3CC5}" type="datetimeFigureOut">
              <a:rPr lang="en-US" smtClean="0"/>
              <a:t>8/20/2023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76B2A-9A5B-432D-954E-3CA837176879}" type="slidenum">
              <a:rPr lang="en-US" smtClean="0"/>
              <a:t>‹#›</a:t>
            </a:fld>
            <a:endParaRPr lang="en-US"/>
          </a:p>
        </p:txBody>
      </p:sp>
    </p:spTree>
    <p:extLst>
      <p:ext uri="{BB962C8B-B14F-4D97-AF65-F5344CB8AC3E}">
        <p14:creationId xmlns:p14="http://schemas.microsoft.com/office/powerpoint/2010/main" val="3157727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7057" y="1122363"/>
            <a:ext cx="10531929" cy="2387600"/>
          </a:xfrm>
        </p:spPr>
        <p:txBody>
          <a:bodyPr anchor="b"/>
          <a:lstStyle>
            <a:lvl1pPr algn="ctr">
              <a:defRPr sz="6000" b="1">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814354"/>
            <a:ext cx="9144000" cy="1443446"/>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p:cNvSpPr>
            <a:spLocks noGrp="1"/>
          </p:cNvSpPr>
          <p:nvPr>
            <p:ph type="sldNum" sz="quarter" idx="12"/>
          </p:nvPr>
        </p:nvSpPr>
        <p:spPr>
          <a:xfrm>
            <a:off x="11325226" y="6352719"/>
            <a:ext cx="612320" cy="365125"/>
          </a:xfrm>
        </p:spPr>
        <p:txBody>
          <a:bodyPr/>
          <a:lstStyle>
            <a:lvl1pPr>
              <a:defRPr sz="1600"/>
            </a:lvl1pPr>
          </a:lstStyle>
          <a:p>
            <a:fld id="{F91A3952-A237-4C1E-B169-F29C0CF1F605}" type="slidenum">
              <a:rPr lang="en-US" smtClean="0"/>
              <a:pPr/>
              <a:t>‹#›</a:t>
            </a:fld>
            <a:endParaRPr lang="en-US" dirty="0"/>
          </a:p>
        </p:txBody>
      </p:sp>
      <p:sp>
        <p:nvSpPr>
          <p:cNvPr id="5" name="Footer Placeholder 4"/>
          <p:cNvSpPr>
            <a:spLocks noGrp="1"/>
          </p:cNvSpPr>
          <p:nvPr>
            <p:ph type="ftr" sz="quarter" idx="11"/>
          </p:nvPr>
        </p:nvSpPr>
        <p:spPr>
          <a:xfrm>
            <a:off x="254454" y="6330765"/>
            <a:ext cx="10927352" cy="365125"/>
          </a:xfrm>
        </p:spPr>
        <p:txBody>
          <a:bodyPr/>
          <a:lstStyle/>
          <a:p>
            <a:r>
              <a:rPr lang="en-US" dirty="0"/>
              <a:t>EMERGING TECHNOLOGIES FOR SMART GOVERNANCE (2023)</a:t>
            </a:r>
          </a:p>
        </p:txBody>
      </p:sp>
    </p:spTree>
    <p:extLst>
      <p:ext uri="{BB962C8B-B14F-4D97-AF65-F5344CB8AC3E}">
        <p14:creationId xmlns:p14="http://schemas.microsoft.com/office/powerpoint/2010/main" val="1480912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9005" y="274320"/>
            <a:ext cx="11730445" cy="966652"/>
          </a:xfrm>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252550" y="1240972"/>
            <a:ext cx="11686900" cy="50939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a:spLocks noGrp="1"/>
          </p:cNvSpPr>
          <p:nvPr>
            <p:ph type="sldNum" sz="quarter" idx="12"/>
          </p:nvPr>
        </p:nvSpPr>
        <p:spPr>
          <a:xfrm>
            <a:off x="11437622" y="6343830"/>
            <a:ext cx="501828" cy="365125"/>
          </a:xfrm>
        </p:spPr>
        <p:txBody>
          <a:bodyPr/>
          <a:lstStyle>
            <a:lvl1pPr>
              <a:defRPr b="0"/>
            </a:lvl1pPr>
          </a:lstStyle>
          <a:p>
            <a:fld id="{F91A3952-A237-4C1E-B169-F29C0CF1F605}" type="slidenum">
              <a:rPr lang="en-US" smtClean="0"/>
              <a:pPr/>
              <a:t>‹#›</a:t>
            </a:fld>
            <a:endParaRPr lang="en-US" dirty="0"/>
          </a:p>
        </p:txBody>
      </p:sp>
      <p:sp>
        <p:nvSpPr>
          <p:cNvPr id="7" name="Footer Placeholder 4"/>
          <p:cNvSpPr>
            <a:spLocks noGrp="1"/>
          </p:cNvSpPr>
          <p:nvPr>
            <p:ph type="ftr" sz="quarter" idx="11"/>
          </p:nvPr>
        </p:nvSpPr>
        <p:spPr>
          <a:xfrm>
            <a:off x="252550" y="6352720"/>
            <a:ext cx="11185072" cy="365125"/>
          </a:xfrm>
        </p:spPr>
        <p:txBody>
          <a:bodyPr/>
          <a:lstStyle/>
          <a:p>
            <a:r>
              <a:rPr lang="en-US"/>
              <a:t>EMERGING TECHNOLOGIES FOR SMART GOVERNANCE (2023)</a:t>
            </a:r>
            <a:endParaRPr lang="en-US" dirty="0"/>
          </a:p>
        </p:txBody>
      </p:sp>
    </p:spTree>
    <p:extLst>
      <p:ext uri="{BB962C8B-B14F-4D97-AF65-F5344CB8AC3E}">
        <p14:creationId xmlns:p14="http://schemas.microsoft.com/office/powerpoint/2010/main" val="2891153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1" y="2268537"/>
            <a:ext cx="10515600" cy="1320845"/>
          </a:xfrm>
        </p:spPr>
        <p:txBody>
          <a:bodyPr anchor="b"/>
          <a:lstStyle>
            <a:lvl1pPr>
              <a:defRPr sz="6000" b="1"/>
            </a:lvl1pPr>
          </a:lstStyle>
          <a:p>
            <a:r>
              <a:rPr lang="en-US" dirty="0"/>
              <a:t>Click to edit Master title style</a:t>
            </a:r>
          </a:p>
        </p:txBody>
      </p:sp>
      <p:sp>
        <p:nvSpPr>
          <p:cNvPr id="3" name="Text Placeholder 2"/>
          <p:cNvSpPr>
            <a:spLocks noGrp="1"/>
          </p:cNvSpPr>
          <p:nvPr>
            <p:ph type="body" idx="1"/>
          </p:nvPr>
        </p:nvSpPr>
        <p:spPr>
          <a:xfrm>
            <a:off x="838200" y="385794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01692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5879" y="149225"/>
            <a:ext cx="11740241" cy="1063624"/>
          </a:xfrm>
        </p:spPr>
        <p:txBody>
          <a:bodyPr/>
          <a:lstStyle/>
          <a:p>
            <a:r>
              <a:rPr lang="en-US" dirty="0"/>
              <a:t>Click to edit Master title style</a:t>
            </a:r>
          </a:p>
        </p:txBody>
      </p:sp>
      <p:sp>
        <p:nvSpPr>
          <p:cNvPr id="3" name="Content Placeholder 2"/>
          <p:cNvSpPr>
            <a:spLocks noGrp="1"/>
          </p:cNvSpPr>
          <p:nvPr>
            <p:ph sz="half" idx="1"/>
          </p:nvPr>
        </p:nvSpPr>
        <p:spPr>
          <a:xfrm>
            <a:off x="225878" y="1253330"/>
            <a:ext cx="5870122" cy="50776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5" y="1253330"/>
            <a:ext cx="5793920" cy="507761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a:xfrm>
            <a:off x="225878" y="6343650"/>
            <a:ext cx="11127921" cy="365125"/>
          </a:xfrm>
        </p:spPr>
        <p:txBody>
          <a:bodyPr/>
          <a:lstStyle/>
          <a:p>
            <a:r>
              <a:rPr lang="en-US" dirty="0"/>
              <a:t>EMERGING TECHNOLOGIES FOR SMART GOVERNANCE (2023)</a:t>
            </a:r>
          </a:p>
        </p:txBody>
      </p:sp>
      <p:sp>
        <p:nvSpPr>
          <p:cNvPr id="7" name="Slide Number Placeholder 6"/>
          <p:cNvSpPr>
            <a:spLocks noGrp="1"/>
          </p:cNvSpPr>
          <p:nvPr>
            <p:ph type="sldNum" sz="quarter" idx="12"/>
          </p:nvPr>
        </p:nvSpPr>
        <p:spPr>
          <a:xfrm>
            <a:off x="11353800" y="6356350"/>
            <a:ext cx="612321" cy="365125"/>
          </a:xfrm>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2867884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59" y="272257"/>
            <a:ext cx="11714162" cy="1034030"/>
          </a:xfrm>
        </p:spPr>
        <p:txBody>
          <a:bodyPr/>
          <a:lstStyle/>
          <a:p>
            <a:r>
              <a:rPr lang="en-US" dirty="0"/>
              <a:t>Click to edit Master title style</a:t>
            </a:r>
          </a:p>
        </p:txBody>
      </p:sp>
      <p:sp>
        <p:nvSpPr>
          <p:cNvPr id="3" name="Text Placeholder 2"/>
          <p:cNvSpPr>
            <a:spLocks noGrp="1"/>
          </p:cNvSpPr>
          <p:nvPr>
            <p:ph type="body" idx="1"/>
          </p:nvPr>
        </p:nvSpPr>
        <p:spPr>
          <a:xfrm>
            <a:off x="251959" y="1390651"/>
            <a:ext cx="57456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51960" y="2298927"/>
            <a:ext cx="5745616" cy="3890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199" y="1390651"/>
            <a:ext cx="576784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199" y="2298927"/>
            <a:ext cx="5793921" cy="3890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a:xfrm>
            <a:off x="225879" y="6356350"/>
            <a:ext cx="11127922" cy="365125"/>
          </a:xfrm>
        </p:spPr>
        <p:txBody>
          <a:bodyPr/>
          <a:lstStyle/>
          <a:p>
            <a:r>
              <a:rPr lang="en-US"/>
              <a:t>EMERGING TECHNOLOGIES FOR SMART GOVERNANCE (2023)</a:t>
            </a:r>
          </a:p>
        </p:txBody>
      </p:sp>
      <p:sp>
        <p:nvSpPr>
          <p:cNvPr id="9" name="Slide Number Placeholder 8"/>
          <p:cNvSpPr>
            <a:spLocks noGrp="1"/>
          </p:cNvSpPr>
          <p:nvPr>
            <p:ph type="sldNum" sz="quarter" idx="12"/>
          </p:nvPr>
        </p:nvSpPr>
        <p:spPr/>
        <p:txBody>
          <a:bodyPr/>
          <a:lstStyle>
            <a:lvl1pPr>
              <a:defRPr sz="1600"/>
            </a:lvl1pPr>
          </a:lstStyle>
          <a:p>
            <a:fld id="{F91A3952-A237-4C1E-B169-F29C0CF1F605}" type="slidenum">
              <a:rPr lang="en-US" smtClean="0"/>
              <a:pPr/>
              <a:t>‹#›</a:t>
            </a:fld>
            <a:endParaRPr lang="en-US" dirty="0"/>
          </a:p>
        </p:txBody>
      </p:sp>
    </p:spTree>
    <p:extLst>
      <p:ext uri="{BB962C8B-B14F-4D97-AF65-F5344CB8AC3E}">
        <p14:creationId xmlns:p14="http://schemas.microsoft.com/office/powerpoint/2010/main" val="1223959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4114516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EMERGING TECHNOLOGIES FOR SMART GOVERNANCE (2023)</a:t>
            </a:r>
          </a:p>
        </p:txBody>
      </p:sp>
      <p:sp>
        <p:nvSpPr>
          <p:cNvPr id="4" name="Slide Number Placeholder 3"/>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256569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EMERGING TECHNOLOGIES FOR SMART GOVERNANCE (2023)</a:t>
            </a:r>
          </a:p>
        </p:txBody>
      </p:sp>
      <p:sp>
        <p:nvSpPr>
          <p:cNvPr id="7" name="Slide Number Placeholder 6"/>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448784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EMERGING TECHNOLOGIES FOR SMART GOVERNANCE (2023)</a:t>
            </a:r>
          </a:p>
        </p:txBody>
      </p:sp>
      <p:sp>
        <p:nvSpPr>
          <p:cNvPr id="7" name="Slide Number Placeholder 6"/>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2933820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EMERGING TECHNOLOGIES FOR SMART GOVERNANCE (2023)</a:t>
            </a:r>
          </a:p>
        </p:txBody>
      </p:sp>
      <p:sp>
        <p:nvSpPr>
          <p:cNvPr id="6" name="Slide Number Placeholder 5"/>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3289268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EMERGING TECHNOLOGIES FOR SMART GOVERNANCE (2023)</a:t>
            </a:r>
          </a:p>
        </p:txBody>
      </p:sp>
      <p:sp>
        <p:nvSpPr>
          <p:cNvPr id="6" name="Slide Number Placeholder 5"/>
          <p:cNvSpPr>
            <a:spLocks noGrp="1"/>
          </p:cNvSpPr>
          <p:nvPr>
            <p:ph type="sldNum" sz="quarter" idx="12"/>
          </p:nvPr>
        </p:nvSpPr>
        <p:spPr/>
        <p:txBody>
          <a:bodyPr/>
          <a:lstStyle/>
          <a:p>
            <a:fld id="{F91A3952-A237-4C1E-B169-F29C0CF1F605}" type="slidenum">
              <a:rPr lang="en-US" smtClean="0"/>
              <a:t>‹#›</a:t>
            </a:fld>
            <a:endParaRPr lang="en-US"/>
          </a:p>
        </p:txBody>
      </p:sp>
    </p:spTree>
    <p:extLst>
      <p:ext uri="{BB962C8B-B14F-4D97-AF65-F5344CB8AC3E}">
        <p14:creationId xmlns:p14="http://schemas.microsoft.com/office/powerpoint/2010/main" val="3256103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17600" y="1635759"/>
            <a:ext cx="10923693" cy="5115560"/>
          </a:xfrm>
          <a:prstGeom prst="rect">
            <a:avLst/>
          </a:prstGeom>
          <a:blipFill>
            <a:blip r:embed="rId2" cstate="print"/>
            <a:stretch>
              <a:fillRect/>
            </a:stretch>
          </a:blipFill>
        </p:spPr>
        <p:txBody>
          <a:bodyPr wrap="square" lIns="0" tIns="0" rIns="0" bIns="0" rtlCol="0"/>
          <a:lstStyle/>
          <a:p>
            <a:endParaRPr sz="2400"/>
          </a:p>
        </p:txBody>
      </p:sp>
      <p:sp>
        <p:nvSpPr>
          <p:cNvPr id="2" name="Holder 2"/>
          <p:cNvSpPr>
            <a:spLocks noGrp="1"/>
          </p:cNvSpPr>
          <p:nvPr>
            <p:ph type="ctrTitle"/>
          </p:nvPr>
        </p:nvSpPr>
        <p:spPr>
          <a:xfrm>
            <a:off x="609600" y="523239"/>
            <a:ext cx="10972800"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27582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7348"/>
            <a:ext cx="11127920" cy="106362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199" y="1371600"/>
            <a:ext cx="11127921" cy="4805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838200" y="6356350"/>
            <a:ext cx="10515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EMERGING TECHNOLOGIES FOR SMART GOVERNANCE (2023)</a:t>
            </a:r>
            <a:endParaRPr lang="en-US" dirty="0"/>
          </a:p>
        </p:txBody>
      </p:sp>
      <p:sp>
        <p:nvSpPr>
          <p:cNvPr id="6" name="Slide Number Placeholder 5"/>
          <p:cNvSpPr>
            <a:spLocks noGrp="1"/>
          </p:cNvSpPr>
          <p:nvPr>
            <p:ph type="sldNum" sz="quarter" idx="4"/>
          </p:nvPr>
        </p:nvSpPr>
        <p:spPr>
          <a:xfrm>
            <a:off x="11353801" y="6356350"/>
            <a:ext cx="612320" cy="365125"/>
          </a:xfrm>
          <a:prstGeom prst="rect">
            <a:avLst/>
          </a:prstGeom>
        </p:spPr>
        <p:txBody>
          <a:bodyPr vert="horz" lIns="91440" tIns="45720" rIns="91440" bIns="45720" rtlCol="0" anchor="ctr"/>
          <a:lstStyle>
            <a:lvl1pPr algn="r">
              <a:defRPr sz="1400" b="1">
                <a:solidFill>
                  <a:schemeClr val="tx1">
                    <a:tint val="75000"/>
                  </a:schemeClr>
                </a:solidFill>
                <a:latin typeface="Arial Black" panose="020B0A04020102020204" pitchFamily="34" charset="0"/>
              </a:defRPr>
            </a:lvl1pPr>
          </a:lstStyle>
          <a:p>
            <a:fld id="{F91A3952-A237-4C1E-B169-F29C0CF1F605}" type="slidenum">
              <a:rPr lang="en-US" smtClean="0"/>
              <a:pPr/>
              <a:t>‹#›</a:t>
            </a:fld>
            <a:endParaRPr lang="en-US" dirty="0"/>
          </a:p>
        </p:txBody>
      </p:sp>
      <p:pic>
        <p:nvPicPr>
          <p:cNvPr id="11" name="Picture 10">
            <a:extLst>
              <a:ext uri="{FF2B5EF4-FFF2-40B4-BE49-F238E27FC236}">
                <a16:creationId xmlns:a16="http://schemas.microsoft.com/office/drawing/2014/main" id="{1B7DFF2C-2F33-3752-17C4-0C5DBF359F6E}"/>
              </a:ext>
            </a:extLst>
          </p:cNvPr>
          <p:cNvPicPr>
            <a:picLocks noChangeAspect="1"/>
          </p:cNvPicPr>
          <p:nvPr userDrawn="1"/>
        </p:nvPicPr>
        <p:blipFill>
          <a:blip r:embed="rId14"/>
          <a:stretch>
            <a:fillRect/>
          </a:stretch>
        </p:blipFill>
        <p:spPr>
          <a:xfrm>
            <a:off x="1" y="13063"/>
            <a:ext cx="12192000" cy="6844937"/>
          </a:xfrm>
          <a:prstGeom prst="rect">
            <a:avLst/>
          </a:prstGeom>
        </p:spPr>
      </p:pic>
    </p:spTree>
    <p:extLst>
      <p:ext uri="{BB962C8B-B14F-4D97-AF65-F5344CB8AC3E}">
        <p14:creationId xmlns:p14="http://schemas.microsoft.com/office/powerpoint/2010/main" val="3308069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919109" y="2402302"/>
            <a:ext cx="8353778" cy="680690"/>
          </a:xfrm>
        </p:spPr>
        <p:txBody>
          <a:bodyPr>
            <a:normAutofit/>
          </a:bodyPr>
          <a:lstStyle/>
          <a:p>
            <a:pPr>
              <a:defRPr/>
            </a:pPr>
            <a:r>
              <a:rPr lang="en-US" sz="2400" b="1" dirty="0">
                <a:solidFill>
                  <a:srgbClr val="002060"/>
                </a:solidFill>
                <a:latin typeface="+mn-lt"/>
              </a:rPr>
              <a:t>ET2223 Microprocessors Microcontrollers &amp; Embedded Systems</a:t>
            </a:r>
          </a:p>
        </p:txBody>
      </p:sp>
      <p:sp>
        <p:nvSpPr>
          <p:cNvPr id="8" name="TextBox 7"/>
          <p:cNvSpPr txBox="1"/>
          <p:nvPr/>
        </p:nvSpPr>
        <p:spPr>
          <a:xfrm>
            <a:off x="873211" y="3471186"/>
            <a:ext cx="10560908" cy="923330"/>
          </a:xfrm>
          <a:prstGeom prst="rect">
            <a:avLst/>
          </a:prstGeom>
          <a:noFill/>
        </p:spPr>
        <p:txBody>
          <a:bodyPr wrap="square">
            <a:spAutoFit/>
          </a:bodyPr>
          <a:lstStyle/>
          <a:p>
            <a:pPr algn="ctr">
              <a:defRPr/>
            </a:pPr>
            <a:r>
              <a:rPr lang="en-US" sz="5400" b="1" dirty="0">
                <a:solidFill>
                  <a:srgbClr val="FF0066"/>
                </a:solidFill>
              </a:rPr>
              <a:t>Embedded Systems Design</a:t>
            </a:r>
          </a:p>
        </p:txBody>
      </p:sp>
      <p:sp>
        <p:nvSpPr>
          <p:cNvPr id="9" name="TextBox 8"/>
          <p:cNvSpPr txBox="1"/>
          <p:nvPr/>
        </p:nvSpPr>
        <p:spPr>
          <a:xfrm>
            <a:off x="3069223" y="4998716"/>
            <a:ext cx="6483350" cy="1293812"/>
          </a:xfrm>
          <a:prstGeom prst="rect">
            <a:avLst/>
          </a:prstGeom>
          <a:noFill/>
        </p:spPr>
        <p:txBody>
          <a:bodyPr>
            <a:spAutoFit/>
          </a:bodyPr>
          <a:lstStyle/>
          <a:p>
            <a:pPr algn="ctr">
              <a:defRPr/>
            </a:pPr>
            <a:r>
              <a:rPr lang="en-US" sz="2800" dirty="0" err="1">
                <a:solidFill>
                  <a:schemeClr val="tx1"/>
                </a:solidFill>
              </a:rPr>
              <a:t>Dr</a:t>
            </a:r>
            <a:r>
              <a:rPr lang="en-US" sz="2800" dirty="0">
                <a:solidFill>
                  <a:schemeClr val="tx1"/>
                </a:solidFill>
              </a:rPr>
              <a:t> </a:t>
            </a:r>
            <a:r>
              <a:rPr lang="en-US" sz="2800" dirty="0" err="1">
                <a:solidFill>
                  <a:schemeClr val="tx1"/>
                </a:solidFill>
              </a:rPr>
              <a:t>Budditha</a:t>
            </a:r>
            <a:r>
              <a:rPr lang="en-US" sz="2800" dirty="0">
                <a:solidFill>
                  <a:schemeClr val="tx1"/>
                </a:solidFill>
              </a:rPr>
              <a:t> </a:t>
            </a:r>
            <a:r>
              <a:rPr lang="en-US" sz="2800" dirty="0" err="1">
                <a:solidFill>
                  <a:schemeClr val="tx1"/>
                </a:solidFill>
              </a:rPr>
              <a:t>Hettige</a:t>
            </a:r>
            <a:endParaRPr lang="en-US" sz="2800" dirty="0">
              <a:solidFill>
                <a:schemeClr val="tx1"/>
              </a:solidFill>
            </a:endParaRPr>
          </a:p>
          <a:p>
            <a:pPr algn="ctr">
              <a:lnSpc>
                <a:spcPct val="150000"/>
              </a:lnSpc>
              <a:defRPr/>
            </a:pPr>
            <a:r>
              <a:rPr lang="en-US" sz="2000" dirty="0"/>
              <a:t>Department of Computer Engineering</a:t>
            </a:r>
          </a:p>
          <a:p>
            <a:pPr algn="ctr">
              <a:defRPr/>
            </a:pPr>
            <a:r>
              <a:rPr lang="en-US" sz="2000" dirty="0"/>
              <a:t>General Sir John Kotelawala Defence University</a:t>
            </a:r>
          </a:p>
        </p:txBody>
      </p:sp>
      <p:pic>
        <p:nvPicPr>
          <p:cNvPr id="1026" name="Picture 2" descr="Memorable Overclocking-Friendly CPUs | TechSpot">
            <a:extLst>
              <a:ext uri="{FF2B5EF4-FFF2-40B4-BE49-F238E27FC236}">
                <a16:creationId xmlns:a16="http://schemas.microsoft.com/office/drawing/2014/main" id="{327CE3E1-A99B-E83D-D932-1745AD56AD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7203" y="1032843"/>
            <a:ext cx="3822813" cy="15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441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C7ECC-B73C-4B3C-D5E1-D5D141E10732}"/>
              </a:ext>
            </a:extLst>
          </p:cNvPr>
          <p:cNvSpPr>
            <a:spLocks noGrp="1"/>
          </p:cNvSpPr>
          <p:nvPr>
            <p:ph type="title"/>
          </p:nvPr>
        </p:nvSpPr>
        <p:spPr/>
        <p:txBody>
          <a:bodyPr/>
          <a:lstStyle/>
          <a:p>
            <a:r>
              <a:rPr lang="en-US" dirty="0"/>
              <a:t>Embedded Systems Design</a:t>
            </a:r>
          </a:p>
        </p:txBody>
      </p:sp>
      <p:sp>
        <p:nvSpPr>
          <p:cNvPr id="3" name="Content Placeholder 2">
            <a:extLst>
              <a:ext uri="{FF2B5EF4-FFF2-40B4-BE49-F238E27FC236}">
                <a16:creationId xmlns:a16="http://schemas.microsoft.com/office/drawing/2014/main" id="{5DF657C0-3F09-D7D6-85C6-3C9B23BDECFB}"/>
              </a:ext>
            </a:extLst>
          </p:cNvPr>
          <p:cNvSpPr>
            <a:spLocks noGrp="1"/>
          </p:cNvSpPr>
          <p:nvPr>
            <p:ph idx="1"/>
          </p:nvPr>
        </p:nvSpPr>
        <p:spPr/>
        <p:txBody>
          <a:bodyPr/>
          <a:lstStyle/>
          <a:p>
            <a:pPr marL="0" indent="0">
              <a:buNone/>
            </a:pPr>
            <a:r>
              <a:rPr lang="en-US" sz="3600" b="1" dirty="0"/>
              <a:t>Characteristics</a:t>
            </a:r>
            <a:endParaRPr lang="en-US" sz="4800" dirty="0"/>
          </a:p>
          <a:p>
            <a:pPr>
              <a:buFont typeface="Arial" panose="020B0604020202020204" pitchFamily="34" charset="0"/>
              <a:buChar char="•"/>
            </a:pPr>
            <a:r>
              <a:rPr lang="en-US" sz="2000" dirty="0"/>
              <a:t>Embedded systems are designed </a:t>
            </a:r>
            <a:r>
              <a:rPr lang="en-US" sz="2000" b="1" dirty="0"/>
              <a:t>for specific tasks </a:t>
            </a:r>
            <a:r>
              <a:rPr lang="en-US" sz="2000" dirty="0"/>
              <a:t>and are </a:t>
            </a:r>
            <a:r>
              <a:rPr lang="en-US" sz="2000" b="1" dirty="0"/>
              <a:t>single functioned</a:t>
            </a:r>
          </a:p>
          <a:p>
            <a:pPr>
              <a:buFont typeface="Arial" panose="020B0604020202020204" pitchFamily="34" charset="0"/>
              <a:buChar char="•"/>
            </a:pPr>
            <a:r>
              <a:rPr lang="en-US" sz="2000" dirty="0"/>
              <a:t>Some of them don’t have any external interface at all, some may contain complex interfaces. It’s based on the requirements of the system</a:t>
            </a:r>
          </a:p>
          <a:p>
            <a:pPr>
              <a:buFont typeface="Arial" panose="020B0604020202020204" pitchFamily="34" charset="0"/>
              <a:buChar char="•"/>
            </a:pPr>
            <a:r>
              <a:rPr lang="en-US" sz="2000" dirty="0"/>
              <a:t>Some systems may provide user interfaces directly or through serial or network connection which reduces the overall cost of the system by avoiding displays and input interfaces</a:t>
            </a:r>
          </a:p>
          <a:p>
            <a:pPr>
              <a:buFont typeface="Arial" panose="020B0604020202020204" pitchFamily="34" charset="0"/>
              <a:buChar char="•"/>
            </a:pPr>
            <a:r>
              <a:rPr lang="en-US" sz="2000" dirty="0"/>
              <a:t>Embedded systems are typically designed to meet </a:t>
            </a:r>
            <a:r>
              <a:rPr lang="en-US" sz="2000" b="1" dirty="0"/>
              <a:t>real-time constraints</a:t>
            </a:r>
          </a:p>
          <a:p>
            <a:pPr>
              <a:buFont typeface="Arial" panose="020B0604020202020204" pitchFamily="34" charset="0"/>
              <a:buChar char="•"/>
            </a:pPr>
            <a:r>
              <a:rPr lang="en-US" sz="2000" dirty="0"/>
              <a:t>They are designed with </a:t>
            </a:r>
            <a:r>
              <a:rPr lang="en-US" sz="2000" b="1" dirty="0"/>
              <a:t>high optimization </a:t>
            </a:r>
            <a:r>
              <a:rPr lang="en-US" sz="2000" dirty="0"/>
              <a:t>for memory, power usage, execution time, dimensions, weight, and cost</a:t>
            </a:r>
          </a:p>
          <a:p>
            <a:pPr>
              <a:buFont typeface="Arial" panose="020B0604020202020204" pitchFamily="34" charset="0"/>
              <a:buChar char="•"/>
            </a:pPr>
            <a:r>
              <a:rPr lang="en-US" sz="2000" dirty="0"/>
              <a:t>Embedded system </a:t>
            </a:r>
            <a:r>
              <a:rPr lang="en-US" sz="2000" b="1" dirty="0"/>
              <a:t>use a few resources</a:t>
            </a:r>
            <a:r>
              <a:rPr lang="en-US" sz="2000" dirty="0"/>
              <a:t>, so developing a system will be a challenging task</a:t>
            </a:r>
          </a:p>
          <a:p>
            <a:pPr>
              <a:buFont typeface="Arial" panose="020B0604020202020204" pitchFamily="34" charset="0"/>
              <a:buChar char="•"/>
            </a:pPr>
            <a:r>
              <a:rPr lang="en-US" sz="2000" dirty="0"/>
              <a:t>The system should be </a:t>
            </a:r>
            <a:r>
              <a:rPr lang="en-US" sz="2000" b="1" dirty="0"/>
              <a:t>highly reliable</a:t>
            </a:r>
            <a:r>
              <a:rPr lang="en-US" sz="2000" dirty="0"/>
              <a:t>; it is not designed for repairs and cannot be shut down for safety reasons.</a:t>
            </a:r>
          </a:p>
          <a:p>
            <a:endParaRPr lang="en-US" dirty="0"/>
          </a:p>
        </p:txBody>
      </p:sp>
      <p:sp>
        <p:nvSpPr>
          <p:cNvPr id="4" name="Slide Number Placeholder 3">
            <a:extLst>
              <a:ext uri="{FF2B5EF4-FFF2-40B4-BE49-F238E27FC236}">
                <a16:creationId xmlns:a16="http://schemas.microsoft.com/office/drawing/2014/main" id="{8D049143-578D-B8ED-94F7-667FC7976731}"/>
              </a:ext>
            </a:extLst>
          </p:cNvPr>
          <p:cNvSpPr>
            <a:spLocks noGrp="1"/>
          </p:cNvSpPr>
          <p:nvPr>
            <p:ph type="sldNum" sz="quarter" idx="12"/>
          </p:nvPr>
        </p:nvSpPr>
        <p:spPr/>
        <p:txBody>
          <a:bodyPr/>
          <a:lstStyle/>
          <a:p>
            <a:fld id="{F91A3952-A237-4C1E-B169-F29C0CF1F605}" type="slidenum">
              <a:rPr lang="en-US" smtClean="0"/>
              <a:pPr/>
              <a:t>2</a:t>
            </a:fld>
            <a:endParaRPr lang="en-US" dirty="0"/>
          </a:p>
        </p:txBody>
      </p:sp>
    </p:spTree>
    <p:extLst>
      <p:ext uri="{BB962C8B-B14F-4D97-AF65-F5344CB8AC3E}">
        <p14:creationId xmlns:p14="http://schemas.microsoft.com/office/powerpoint/2010/main" val="2070500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528647"/>
            <a:ext cx="10198101" cy="632651"/>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lang="en-US" sz="4000" dirty="0"/>
              <a:t>–</a:t>
            </a:r>
            <a:r>
              <a:rPr sz="4000" dirty="0"/>
              <a:t> Design</a:t>
            </a:r>
            <a:r>
              <a:rPr lang="en-US" sz="4000" dirty="0"/>
              <a:t>  C</a:t>
            </a:r>
            <a:r>
              <a:rPr sz="4000" spc="-13" dirty="0"/>
              <a:t>oncepts</a:t>
            </a:r>
            <a:endParaRPr sz="4000" dirty="0"/>
          </a:p>
        </p:txBody>
      </p:sp>
      <p:sp>
        <p:nvSpPr>
          <p:cNvPr id="3" name="object 3"/>
          <p:cNvSpPr txBox="1"/>
          <p:nvPr/>
        </p:nvSpPr>
        <p:spPr>
          <a:xfrm>
            <a:off x="660401" y="1588345"/>
            <a:ext cx="11054521" cy="4143997"/>
          </a:xfrm>
          <a:prstGeom prst="rect">
            <a:avLst/>
          </a:prstGeom>
        </p:spPr>
        <p:txBody>
          <a:bodyPr vert="horz" wrap="square" lIns="0" tIns="16933" rIns="0" bIns="0" rtlCol="0">
            <a:spAutoFit/>
          </a:bodyPr>
          <a:lstStyle/>
          <a:p>
            <a:pPr marL="457189" marR="6773" indent="-440256">
              <a:spcBef>
                <a:spcPts val="133"/>
              </a:spcBef>
              <a:buChar char="●"/>
              <a:tabLst>
                <a:tab pos="456342" algn="l"/>
                <a:tab pos="457189" algn="l"/>
              </a:tabLst>
            </a:pPr>
            <a:r>
              <a:rPr sz="2667" dirty="0">
                <a:latin typeface="Arial"/>
                <a:cs typeface="Arial"/>
              </a:rPr>
              <a:t>Embedded system </a:t>
            </a:r>
            <a:r>
              <a:rPr sz="2667" spc="-7" dirty="0">
                <a:latin typeface="Arial"/>
                <a:cs typeface="Arial"/>
              </a:rPr>
              <a:t>today </a:t>
            </a:r>
            <a:r>
              <a:rPr sz="2667" dirty="0">
                <a:latin typeface="Arial"/>
                <a:cs typeface="Arial"/>
              </a:rPr>
              <a:t>are characterized </a:t>
            </a:r>
            <a:r>
              <a:rPr sz="2667" spc="-7" dirty="0">
                <a:latin typeface="Arial"/>
                <a:cs typeface="Arial"/>
              </a:rPr>
              <a:t>by </a:t>
            </a:r>
            <a:r>
              <a:rPr sz="2667" dirty="0">
                <a:latin typeface="Arial"/>
                <a:cs typeface="Arial"/>
              </a:rPr>
              <a:t>rapidly expanding  </a:t>
            </a:r>
            <a:r>
              <a:rPr sz="2667" spc="-7" dirty="0">
                <a:latin typeface="Arial"/>
                <a:cs typeface="Arial"/>
              </a:rPr>
              <a:t>functionality </a:t>
            </a:r>
            <a:r>
              <a:rPr sz="2667" dirty="0">
                <a:latin typeface="Arial"/>
                <a:cs typeface="Arial"/>
              </a:rPr>
              <a:t>and shrinking </a:t>
            </a:r>
            <a:r>
              <a:rPr sz="2667" spc="-7" dirty="0">
                <a:latin typeface="Arial"/>
                <a:cs typeface="Arial"/>
              </a:rPr>
              <a:t>time to</a:t>
            </a:r>
            <a:r>
              <a:rPr sz="2667" spc="7" dirty="0">
                <a:latin typeface="Arial"/>
                <a:cs typeface="Arial"/>
              </a:rPr>
              <a:t> </a:t>
            </a:r>
            <a:r>
              <a:rPr sz="2667" spc="-7" dirty="0">
                <a:latin typeface="Arial"/>
                <a:cs typeface="Arial"/>
              </a:rPr>
              <a:t>market.</a:t>
            </a:r>
            <a:endParaRPr sz="2667" dirty="0">
              <a:latin typeface="Arial"/>
              <a:cs typeface="Arial"/>
            </a:endParaRPr>
          </a:p>
          <a:p>
            <a:pPr>
              <a:spcBef>
                <a:spcPts val="53"/>
              </a:spcBef>
              <a:buFont typeface="Arial"/>
              <a:buChar char="●"/>
            </a:pPr>
            <a:endParaRPr sz="2733" dirty="0">
              <a:latin typeface="Arial"/>
              <a:cs typeface="Arial"/>
            </a:endParaRPr>
          </a:p>
          <a:p>
            <a:pPr marL="457189" indent="-423323">
              <a:buChar char="●"/>
              <a:tabLst>
                <a:tab pos="456342" algn="l"/>
                <a:tab pos="457189" algn="l"/>
              </a:tabLst>
            </a:pPr>
            <a:r>
              <a:rPr sz="2667" spc="-7" dirty="0">
                <a:latin typeface="Arial"/>
                <a:cs typeface="Arial"/>
              </a:rPr>
              <a:t>Major </a:t>
            </a:r>
            <a:r>
              <a:rPr sz="2667" dirty="0">
                <a:latin typeface="Arial"/>
                <a:cs typeface="Arial"/>
              </a:rPr>
              <a:t>design challenges</a:t>
            </a:r>
            <a:r>
              <a:rPr sz="2667" spc="-7" dirty="0">
                <a:latin typeface="Arial"/>
                <a:cs typeface="Arial"/>
              </a:rPr>
              <a:t> are</a:t>
            </a:r>
            <a:endParaRPr sz="2667" dirty="0">
              <a:latin typeface="Arial"/>
              <a:cs typeface="Arial"/>
            </a:endParaRPr>
          </a:p>
          <a:p>
            <a:pPr marL="965176" marR="65192" lvl="1" indent="-423323">
              <a:buChar char="○"/>
              <a:tabLst>
                <a:tab pos="964329" algn="l"/>
                <a:tab pos="965176" algn="l"/>
              </a:tabLst>
            </a:pPr>
            <a:r>
              <a:rPr sz="3200" b="1" spc="-7" dirty="0">
                <a:latin typeface="Arial"/>
                <a:cs typeface="Arial"/>
              </a:rPr>
              <a:t>Complexity</a:t>
            </a:r>
            <a:r>
              <a:rPr sz="3200" spc="-7" dirty="0">
                <a:latin typeface="Arial"/>
                <a:cs typeface="Arial"/>
              </a:rPr>
              <a:t> </a:t>
            </a:r>
            <a:r>
              <a:rPr sz="3200" dirty="0">
                <a:latin typeface="Arial"/>
                <a:cs typeface="Arial"/>
              </a:rPr>
              <a:t>- Hardware </a:t>
            </a:r>
            <a:r>
              <a:rPr sz="3200" spc="-7" dirty="0">
                <a:latin typeface="Arial"/>
                <a:cs typeface="Arial"/>
              </a:rPr>
              <a:t>capabilities </a:t>
            </a:r>
            <a:r>
              <a:rPr sz="3200" dirty="0">
                <a:latin typeface="Arial"/>
                <a:cs typeface="Arial"/>
              </a:rPr>
              <a:t>(and associated </a:t>
            </a:r>
            <a:r>
              <a:rPr sz="3200" spc="-7" dirty="0">
                <a:latin typeface="Arial"/>
                <a:cs typeface="Arial"/>
              </a:rPr>
              <a:t>software  </a:t>
            </a:r>
            <a:r>
              <a:rPr sz="3200" dirty="0">
                <a:latin typeface="Arial"/>
                <a:cs typeface="Arial"/>
              </a:rPr>
              <a:t>demands) are </a:t>
            </a:r>
            <a:r>
              <a:rPr sz="3200" spc="-7" dirty="0">
                <a:latin typeface="Arial"/>
                <a:cs typeface="Arial"/>
              </a:rPr>
              <a:t>growing faster than </a:t>
            </a:r>
            <a:r>
              <a:rPr sz="3200" dirty="0">
                <a:latin typeface="Arial"/>
                <a:cs typeface="Arial"/>
              </a:rPr>
              <a:t>designers can keep</a:t>
            </a:r>
            <a:r>
              <a:rPr sz="3200" spc="13" dirty="0">
                <a:latin typeface="Arial"/>
                <a:cs typeface="Arial"/>
              </a:rPr>
              <a:t> </a:t>
            </a:r>
            <a:r>
              <a:rPr sz="3200" dirty="0">
                <a:latin typeface="Arial"/>
                <a:cs typeface="Arial"/>
              </a:rPr>
              <a:t>up.</a:t>
            </a:r>
          </a:p>
          <a:p>
            <a:pPr marL="965176" marR="788227" lvl="1" indent="-423323">
              <a:buChar char="○"/>
              <a:tabLst>
                <a:tab pos="964329" algn="l"/>
                <a:tab pos="965176" algn="l"/>
              </a:tabLst>
            </a:pPr>
            <a:r>
              <a:rPr sz="3200" b="1" spc="-7" dirty="0">
                <a:latin typeface="Arial"/>
                <a:cs typeface="Arial"/>
              </a:rPr>
              <a:t>Heterogeneity</a:t>
            </a:r>
            <a:r>
              <a:rPr sz="3200" spc="-7" dirty="0">
                <a:latin typeface="Arial"/>
                <a:cs typeface="Arial"/>
              </a:rPr>
              <a:t> </a:t>
            </a:r>
            <a:r>
              <a:rPr sz="3200" dirty="0">
                <a:latin typeface="Arial"/>
                <a:cs typeface="Arial"/>
              </a:rPr>
              <a:t>- </a:t>
            </a:r>
            <a:r>
              <a:rPr sz="3200" spc="-7" dirty="0">
                <a:latin typeface="Arial"/>
                <a:cs typeface="Arial"/>
              </a:rPr>
              <a:t>Systems </a:t>
            </a:r>
            <a:r>
              <a:rPr sz="3200" dirty="0">
                <a:latin typeface="Arial"/>
                <a:cs typeface="Arial"/>
              </a:rPr>
              <a:t>are made out of vide variety </a:t>
            </a:r>
            <a:r>
              <a:rPr sz="3200" spc="-7" dirty="0">
                <a:latin typeface="Arial"/>
                <a:cs typeface="Arial"/>
              </a:rPr>
              <a:t>of  </a:t>
            </a:r>
            <a:r>
              <a:rPr sz="3200" dirty="0">
                <a:latin typeface="Arial"/>
                <a:cs typeface="Arial"/>
              </a:rPr>
              <a:t>components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528647"/>
            <a:ext cx="11135507" cy="632651"/>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a:t>
            </a:r>
            <a:r>
              <a:rPr lang="en-US" sz="4000" dirty="0"/>
              <a:t>design challenges </a:t>
            </a:r>
            <a:endParaRPr sz="4000" dirty="0"/>
          </a:p>
        </p:txBody>
      </p:sp>
      <p:sp>
        <p:nvSpPr>
          <p:cNvPr id="3" name="object 3"/>
          <p:cNvSpPr txBox="1"/>
          <p:nvPr/>
        </p:nvSpPr>
        <p:spPr>
          <a:xfrm>
            <a:off x="677333" y="1588346"/>
            <a:ext cx="6734387" cy="796864"/>
          </a:xfrm>
          <a:prstGeom prst="rect">
            <a:avLst/>
          </a:prstGeom>
        </p:spPr>
        <p:txBody>
          <a:bodyPr vert="horz" wrap="square" lIns="0" tIns="16933" rIns="0" bIns="0" rtlCol="0">
            <a:spAutoFit/>
          </a:bodyPr>
          <a:lstStyle/>
          <a:p>
            <a:pPr marL="440256" indent="-423323">
              <a:spcBef>
                <a:spcPts val="133"/>
              </a:spcBef>
              <a:buChar char="●"/>
              <a:tabLst>
                <a:tab pos="439409" algn="l"/>
                <a:tab pos="440256" algn="l"/>
              </a:tabLst>
            </a:pPr>
            <a:r>
              <a:rPr sz="2667" spc="-7" dirty="0">
                <a:latin typeface="Arial"/>
                <a:cs typeface="Arial"/>
              </a:rPr>
              <a:t>Coping with complexity </a:t>
            </a:r>
            <a:r>
              <a:rPr sz="2667" dirty="0">
                <a:latin typeface="Arial"/>
                <a:cs typeface="Arial"/>
              </a:rPr>
              <a:t>and</a:t>
            </a:r>
            <a:r>
              <a:rPr sz="2667" spc="67" dirty="0">
                <a:latin typeface="Arial"/>
                <a:cs typeface="Arial"/>
              </a:rPr>
              <a:t> </a:t>
            </a:r>
            <a:r>
              <a:rPr sz="2667" spc="-7" dirty="0">
                <a:latin typeface="Arial"/>
                <a:cs typeface="Arial"/>
              </a:rPr>
              <a:t>heterogeneity</a:t>
            </a:r>
            <a:endParaRPr sz="2667">
              <a:latin typeface="Arial"/>
              <a:cs typeface="Arial"/>
            </a:endParaRPr>
          </a:p>
          <a:p>
            <a:pPr marL="948243" lvl="1" indent="-406390">
              <a:buFont typeface="Arial"/>
              <a:buChar char="○"/>
              <a:tabLst>
                <a:tab pos="947396" algn="l"/>
                <a:tab pos="948243" algn="l"/>
              </a:tabLst>
            </a:pPr>
            <a:r>
              <a:rPr sz="2400" b="1" spc="-13" dirty="0">
                <a:latin typeface="Arial"/>
                <a:cs typeface="Arial"/>
              </a:rPr>
              <a:t>Abstraction</a:t>
            </a:r>
            <a:endParaRPr sz="2400">
              <a:latin typeface="Arial"/>
              <a:cs typeface="Arial"/>
            </a:endParaRPr>
          </a:p>
        </p:txBody>
      </p:sp>
      <p:sp>
        <p:nvSpPr>
          <p:cNvPr id="4" name="object 4"/>
          <p:cNvSpPr txBox="1"/>
          <p:nvPr/>
        </p:nvSpPr>
        <p:spPr>
          <a:xfrm>
            <a:off x="1710267" y="2343572"/>
            <a:ext cx="218440" cy="755762"/>
          </a:xfrm>
          <a:prstGeom prst="rect">
            <a:avLst/>
          </a:prstGeom>
        </p:spPr>
        <p:txBody>
          <a:bodyPr vert="horz" wrap="square" lIns="0" tIns="16933" rIns="0" bIns="0" rtlCol="0">
            <a:spAutoFit/>
          </a:bodyPr>
          <a:lstStyle/>
          <a:p>
            <a:pPr marL="16933">
              <a:spcBef>
                <a:spcPts val="133"/>
              </a:spcBef>
            </a:pPr>
            <a:r>
              <a:rPr sz="2400" dirty="0">
                <a:latin typeface="Arial"/>
                <a:cs typeface="Arial"/>
              </a:rPr>
              <a:t>■</a:t>
            </a:r>
            <a:endParaRPr sz="2400">
              <a:latin typeface="Arial"/>
              <a:cs typeface="Arial"/>
            </a:endParaRPr>
          </a:p>
          <a:p>
            <a:pPr marL="16933"/>
            <a:r>
              <a:rPr sz="2400" dirty="0">
                <a:latin typeface="Arial"/>
                <a:cs typeface="Arial"/>
              </a:rPr>
              <a:t>■</a:t>
            </a:r>
            <a:endParaRPr sz="2400">
              <a:latin typeface="Arial"/>
              <a:cs typeface="Arial"/>
            </a:endParaRPr>
          </a:p>
        </p:txBody>
      </p:sp>
      <p:sp>
        <p:nvSpPr>
          <p:cNvPr id="5" name="object 5"/>
          <p:cNvSpPr txBox="1"/>
          <p:nvPr/>
        </p:nvSpPr>
        <p:spPr>
          <a:xfrm>
            <a:off x="1710267" y="3440852"/>
            <a:ext cx="218440" cy="386430"/>
          </a:xfrm>
          <a:prstGeom prst="rect">
            <a:avLst/>
          </a:prstGeom>
        </p:spPr>
        <p:txBody>
          <a:bodyPr vert="horz" wrap="square" lIns="0" tIns="16933" rIns="0" bIns="0" rtlCol="0">
            <a:spAutoFit/>
          </a:bodyPr>
          <a:lstStyle/>
          <a:p>
            <a:pPr marL="16933">
              <a:spcBef>
                <a:spcPts val="133"/>
              </a:spcBef>
            </a:pPr>
            <a:r>
              <a:rPr sz="2400" dirty="0">
                <a:latin typeface="Arial"/>
                <a:cs typeface="Arial"/>
              </a:rPr>
              <a:t>■</a:t>
            </a:r>
            <a:endParaRPr sz="2400">
              <a:latin typeface="Arial"/>
              <a:cs typeface="Arial"/>
            </a:endParaRPr>
          </a:p>
        </p:txBody>
      </p:sp>
      <p:sp>
        <p:nvSpPr>
          <p:cNvPr id="6" name="object 6"/>
          <p:cNvSpPr txBox="1"/>
          <p:nvPr/>
        </p:nvSpPr>
        <p:spPr>
          <a:xfrm>
            <a:off x="1710267" y="4172372"/>
            <a:ext cx="218440" cy="755762"/>
          </a:xfrm>
          <a:prstGeom prst="rect">
            <a:avLst/>
          </a:prstGeom>
        </p:spPr>
        <p:txBody>
          <a:bodyPr vert="horz" wrap="square" lIns="0" tIns="16933" rIns="0" bIns="0" rtlCol="0">
            <a:spAutoFit/>
          </a:bodyPr>
          <a:lstStyle/>
          <a:p>
            <a:pPr marL="16933">
              <a:spcBef>
                <a:spcPts val="133"/>
              </a:spcBef>
            </a:pPr>
            <a:r>
              <a:rPr sz="2400" dirty="0">
                <a:latin typeface="Arial"/>
                <a:cs typeface="Arial"/>
              </a:rPr>
              <a:t>■</a:t>
            </a:r>
          </a:p>
          <a:p>
            <a:pPr marL="16933"/>
            <a:endParaRPr sz="2400" dirty="0">
              <a:latin typeface="Arial"/>
              <a:cs typeface="Arial"/>
            </a:endParaRPr>
          </a:p>
        </p:txBody>
      </p:sp>
      <p:sp>
        <p:nvSpPr>
          <p:cNvPr id="7" name="object 7"/>
          <p:cNvSpPr txBox="1"/>
          <p:nvPr/>
        </p:nvSpPr>
        <p:spPr>
          <a:xfrm>
            <a:off x="2116667" y="2360506"/>
            <a:ext cx="8703733" cy="2171534"/>
          </a:xfrm>
          <a:prstGeom prst="rect">
            <a:avLst/>
          </a:prstGeom>
        </p:spPr>
        <p:txBody>
          <a:bodyPr vert="horz" wrap="square" lIns="0" tIns="16933" rIns="0" bIns="0" rtlCol="0">
            <a:spAutoFit/>
          </a:bodyPr>
          <a:lstStyle/>
          <a:p>
            <a:pPr marL="16933">
              <a:spcBef>
                <a:spcPts val="133"/>
              </a:spcBef>
            </a:pPr>
            <a:r>
              <a:rPr sz="2000" spc="-13" dirty="0">
                <a:latin typeface="Arial"/>
                <a:cs typeface="Arial"/>
              </a:rPr>
              <a:t>Intellectual property </a:t>
            </a:r>
            <a:r>
              <a:rPr sz="2000" dirty="0">
                <a:latin typeface="Arial"/>
                <a:cs typeface="Arial"/>
              </a:rPr>
              <a:t>(IP)</a:t>
            </a:r>
            <a:r>
              <a:rPr sz="2000" spc="27" dirty="0">
                <a:latin typeface="Arial"/>
                <a:cs typeface="Arial"/>
              </a:rPr>
              <a:t> </a:t>
            </a:r>
            <a:r>
              <a:rPr sz="2000" spc="-7" dirty="0">
                <a:latin typeface="Arial"/>
                <a:cs typeface="Arial"/>
              </a:rPr>
              <a:t>re-use</a:t>
            </a:r>
            <a:endParaRPr sz="2000" dirty="0">
              <a:latin typeface="Arial"/>
              <a:cs typeface="Arial"/>
            </a:endParaRPr>
          </a:p>
          <a:p>
            <a:pPr marL="16933" marR="6773"/>
            <a:r>
              <a:rPr sz="2000" spc="-13" dirty="0">
                <a:latin typeface="Arial"/>
                <a:cs typeface="Arial"/>
              </a:rPr>
              <a:t>Pre-designed hardware </a:t>
            </a:r>
            <a:r>
              <a:rPr sz="2000" spc="-7" dirty="0">
                <a:latin typeface="Arial"/>
                <a:cs typeface="Arial"/>
              </a:rPr>
              <a:t>modules </a:t>
            </a:r>
            <a:r>
              <a:rPr sz="2000" dirty="0">
                <a:latin typeface="Arial"/>
                <a:cs typeface="Arial"/>
              </a:rPr>
              <a:t>– </a:t>
            </a:r>
            <a:r>
              <a:rPr sz="2000" spc="-13" dirty="0">
                <a:latin typeface="Arial"/>
                <a:cs typeface="Arial"/>
              </a:rPr>
              <a:t>either </a:t>
            </a:r>
            <a:r>
              <a:rPr sz="2000" spc="-7" dirty="0">
                <a:latin typeface="Arial"/>
                <a:cs typeface="Arial"/>
              </a:rPr>
              <a:t>soft cores </a:t>
            </a:r>
            <a:r>
              <a:rPr sz="2000" dirty="0">
                <a:latin typeface="Arial"/>
                <a:cs typeface="Arial"/>
              </a:rPr>
              <a:t>(e.g. </a:t>
            </a:r>
            <a:r>
              <a:rPr sz="2000" spc="-13" dirty="0">
                <a:latin typeface="Arial"/>
                <a:cs typeface="Arial"/>
              </a:rPr>
              <a:t>source,  </a:t>
            </a:r>
            <a:r>
              <a:rPr sz="2000" spc="-7" dirty="0">
                <a:latin typeface="Arial"/>
                <a:cs typeface="Arial"/>
              </a:rPr>
              <a:t>netlists) </a:t>
            </a:r>
            <a:r>
              <a:rPr sz="2000" spc="-13" dirty="0">
                <a:latin typeface="Arial"/>
                <a:cs typeface="Arial"/>
              </a:rPr>
              <a:t>or hard </a:t>
            </a:r>
            <a:r>
              <a:rPr sz="2000" spc="-7" dirty="0">
                <a:latin typeface="Arial"/>
                <a:cs typeface="Arial"/>
              </a:rPr>
              <a:t>cores (transistor </a:t>
            </a:r>
            <a:r>
              <a:rPr sz="2000" spc="-13" dirty="0">
                <a:latin typeface="Arial"/>
                <a:cs typeface="Arial"/>
              </a:rPr>
              <a:t>or other</a:t>
            </a:r>
            <a:r>
              <a:rPr sz="2000" spc="60" dirty="0">
                <a:latin typeface="Arial"/>
                <a:cs typeface="Arial"/>
              </a:rPr>
              <a:t> </a:t>
            </a:r>
            <a:r>
              <a:rPr sz="2000" spc="-13" dirty="0">
                <a:latin typeface="Arial"/>
                <a:cs typeface="Arial"/>
              </a:rPr>
              <a:t>layout)</a:t>
            </a:r>
            <a:endParaRPr sz="2000" dirty="0">
              <a:latin typeface="Arial"/>
              <a:cs typeface="Arial"/>
            </a:endParaRPr>
          </a:p>
          <a:p>
            <a:pPr marL="16933" marR="394537"/>
            <a:r>
              <a:rPr sz="2000" spc="-13" dirty="0">
                <a:latin typeface="Arial"/>
                <a:cs typeface="Arial"/>
              </a:rPr>
              <a:t>Range </a:t>
            </a:r>
            <a:r>
              <a:rPr sz="2000" spc="-7" dirty="0">
                <a:latin typeface="Arial"/>
                <a:cs typeface="Arial"/>
              </a:rPr>
              <a:t>in </a:t>
            </a:r>
            <a:r>
              <a:rPr sz="2000" spc="-13" dirty="0">
                <a:latin typeface="Arial"/>
                <a:cs typeface="Arial"/>
              </a:rPr>
              <a:t>functionality </a:t>
            </a:r>
            <a:r>
              <a:rPr sz="2000" spc="-7" dirty="0">
                <a:latin typeface="Arial"/>
                <a:cs typeface="Arial"/>
              </a:rPr>
              <a:t>from simple </a:t>
            </a:r>
            <a:r>
              <a:rPr sz="2000" spc="-13" dirty="0">
                <a:latin typeface="Arial"/>
                <a:cs typeface="Arial"/>
              </a:rPr>
              <a:t>multipliers, </a:t>
            </a:r>
            <a:r>
              <a:rPr sz="2000" spc="-7" dirty="0">
                <a:latin typeface="Arial"/>
                <a:cs typeface="Arial"/>
              </a:rPr>
              <a:t>to memories, </a:t>
            </a:r>
            <a:r>
              <a:rPr sz="2000" dirty="0">
                <a:latin typeface="Arial"/>
                <a:cs typeface="Arial"/>
              </a:rPr>
              <a:t>to  </a:t>
            </a:r>
            <a:r>
              <a:rPr sz="2000" spc="-7" dirty="0">
                <a:latin typeface="Arial"/>
                <a:cs typeface="Arial"/>
              </a:rPr>
              <a:t>interfacing </a:t>
            </a:r>
            <a:r>
              <a:rPr sz="2000" spc="-13" dirty="0">
                <a:latin typeface="Arial"/>
                <a:cs typeface="Arial"/>
              </a:rPr>
              <a:t>logic, </a:t>
            </a:r>
            <a:r>
              <a:rPr sz="2000" spc="-7" dirty="0">
                <a:latin typeface="Arial"/>
                <a:cs typeface="Arial"/>
              </a:rPr>
              <a:t>to processors</a:t>
            </a:r>
            <a:endParaRPr sz="2000" dirty="0">
              <a:latin typeface="Arial"/>
              <a:cs typeface="Arial"/>
            </a:endParaRPr>
          </a:p>
          <a:p>
            <a:pPr marL="16933" marR="2218211"/>
            <a:r>
              <a:rPr sz="2000" spc="-13" dirty="0">
                <a:latin typeface="Arial"/>
                <a:cs typeface="Arial"/>
              </a:rPr>
              <a:t>Pre-designed </a:t>
            </a:r>
            <a:r>
              <a:rPr sz="2000" spc="-7" dirty="0">
                <a:latin typeface="Arial"/>
                <a:cs typeface="Arial"/>
              </a:rPr>
              <a:t>software </a:t>
            </a:r>
            <a:r>
              <a:rPr sz="2000" spc="-13" dirty="0">
                <a:latin typeface="Arial"/>
                <a:cs typeface="Arial"/>
              </a:rPr>
              <a:t>as </a:t>
            </a:r>
            <a:r>
              <a:rPr sz="2000" spc="-7" dirty="0">
                <a:latin typeface="Arial"/>
                <a:cs typeface="Arial"/>
              </a:rPr>
              <a:t>well (e.g. drivers, OS)  </a:t>
            </a:r>
            <a:r>
              <a:rPr sz="2000" spc="-27" dirty="0">
                <a:latin typeface="Arial"/>
                <a:cs typeface="Arial"/>
              </a:rPr>
              <a:t>Typically </a:t>
            </a:r>
            <a:r>
              <a:rPr sz="2000" spc="-7" dirty="0">
                <a:latin typeface="Arial"/>
                <a:cs typeface="Arial"/>
              </a:rPr>
              <a:t>follow </a:t>
            </a:r>
            <a:r>
              <a:rPr sz="2000" dirty="0">
                <a:latin typeface="Arial"/>
                <a:cs typeface="Arial"/>
              </a:rPr>
              <a:t>some </a:t>
            </a:r>
            <a:r>
              <a:rPr sz="2000" spc="-13" dirty="0">
                <a:latin typeface="Arial"/>
                <a:cs typeface="Arial"/>
              </a:rPr>
              <a:t>set </a:t>
            </a:r>
            <a:r>
              <a:rPr sz="2000" spc="-7" dirty="0">
                <a:latin typeface="Arial"/>
                <a:cs typeface="Arial"/>
              </a:rPr>
              <a:t>interfacing</a:t>
            </a:r>
            <a:r>
              <a:rPr sz="2000" spc="-13" dirty="0">
                <a:latin typeface="Arial"/>
                <a:cs typeface="Arial"/>
              </a:rPr>
              <a:t> </a:t>
            </a:r>
            <a:r>
              <a:rPr sz="2000" spc="-7" dirty="0">
                <a:latin typeface="Arial"/>
                <a:cs typeface="Arial"/>
              </a:rPr>
              <a:t>standards</a:t>
            </a:r>
            <a:endParaRPr sz="2000" dirty="0">
              <a:latin typeface="Arial"/>
              <a:cs typeface="Arial"/>
            </a:endParaRPr>
          </a:p>
        </p:txBody>
      </p:sp>
      <p:sp>
        <p:nvSpPr>
          <p:cNvPr id="8" name="object 8"/>
          <p:cNvSpPr txBox="1"/>
          <p:nvPr/>
        </p:nvSpPr>
        <p:spPr>
          <a:xfrm>
            <a:off x="1242761" y="4550253"/>
            <a:ext cx="218440" cy="386430"/>
          </a:xfrm>
          <a:prstGeom prst="rect">
            <a:avLst/>
          </a:prstGeom>
        </p:spPr>
        <p:txBody>
          <a:bodyPr vert="horz" wrap="square" lIns="0" tIns="16933" rIns="0" bIns="0" rtlCol="0">
            <a:spAutoFit/>
          </a:bodyPr>
          <a:lstStyle/>
          <a:p>
            <a:pPr marL="16933">
              <a:spcBef>
                <a:spcPts val="133"/>
              </a:spcBef>
            </a:pPr>
            <a:r>
              <a:rPr sz="2400" dirty="0">
                <a:latin typeface="Arial"/>
                <a:cs typeface="Arial"/>
              </a:rPr>
              <a:t>○</a:t>
            </a:r>
          </a:p>
        </p:txBody>
      </p:sp>
      <p:sp>
        <p:nvSpPr>
          <p:cNvPr id="9" name="object 9"/>
          <p:cNvSpPr txBox="1"/>
          <p:nvPr/>
        </p:nvSpPr>
        <p:spPr>
          <a:xfrm>
            <a:off x="1582163" y="4581829"/>
            <a:ext cx="1575647" cy="386430"/>
          </a:xfrm>
          <a:prstGeom prst="rect">
            <a:avLst/>
          </a:prstGeom>
        </p:spPr>
        <p:txBody>
          <a:bodyPr vert="horz" wrap="square" lIns="0" tIns="16933" rIns="0" bIns="0" rtlCol="0">
            <a:spAutoFit/>
          </a:bodyPr>
          <a:lstStyle/>
          <a:p>
            <a:pPr marL="16933">
              <a:spcBef>
                <a:spcPts val="133"/>
              </a:spcBef>
            </a:pPr>
            <a:r>
              <a:rPr sz="2400" b="1" spc="-7" dirty="0">
                <a:latin typeface="Arial"/>
                <a:cs typeface="Arial"/>
              </a:rPr>
              <a:t>Modularity</a:t>
            </a:r>
            <a:endParaRPr sz="2400" dirty="0">
              <a:latin typeface="Arial"/>
              <a:cs typeface="Arial"/>
            </a:endParaRPr>
          </a:p>
        </p:txBody>
      </p:sp>
      <p:sp>
        <p:nvSpPr>
          <p:cNvPr id="10" name="object 10"/>
          <p:cNvSpPr txBox="1"/>
          <p:nvPr/>
        </p:nvSpPr>
        <p:spPr>
          <a:xfrm>
            <a:off x="1728526" y="4891773"/>
            <a:ext cx="218440" cy="755762"/>
          </a:xfrm>
          <a:prstGeom prst="rect">
            <a:avLst/>
          </a:prstGeom>
        </p:spPr>
        <p:txBody>
          <a:bodyPr vert="horz" wrap="square" lIns="0" tIns="16933" rIns="0" bIns="0" rtlCol="0">
            <a:spAutoFit/>
          </a:bodyPr>
          <a:lstStyle/>
          <a:p>
            <a:pPr marL="16933">
              <a:spcBef>
                <a:spcPts val="133"/>
              </a:spcBef>
            </a:pPr>
            <a:r>
              <a:rPr sz="2400" dirty="0">
                <a:latin typeface="Arial"/>
                <a:cs typeface="Arial"/>
              </a:rPr>
              <a:t>■</a:t>
            </a:r>
          </a:p>
          <a:p>
            <a:pPr marL="16933"/>
            <a:r>
              <a:rPr sz="2400" dirty="0">
                <a:latin typeface="Arial"/>
                <a:cs typeface="Arial"/>
              </a:rPr>
              <a:t>■</a:t>
            </a:r>
          </a:p>
        </p:txBody>
      </p:sp>
      <p:sp>
        <p:nvSpPr>
          <p:cNvPr id="11" name="object 11"/>
          <p:cNvSpPr txBox="1"/>
          <p:nvPr/>
        </p:nvSpPr>
        <p:spPr>
          <a:xfrm>
            <a:off x="2116667" y="4928134"/>
            <a:ext cx="9004300" cy="940428"/>
          </a:xfrm>
          <a:prstGeom prst="rect">
            <a:avLst/>
          </a:prstGeom>
        </p:spPr>
        <p:txBody>
          <a:bodyPr vert="horz" wrap="square" lIns="0" tIns="16933" rIns="0" bIns="0" rtlCol="0">
            <a:spAutoFit/>
          </a:bodyPr>
          <a:lstStyle/>
          <a:p>
            <a:pPr marL="16933">
              <a:spcBef>
                <a:spcPts val="133"/>
              </a:spcBef>
            </a:pPr>
            <a:r>
              <a:rPr sz="2000" spc="-20" dirty="0">
                <a:latin typeface="Arial"/>
                <a:cs typeface="Arial"/>
              </a:rPr>
              <a:t>Well </a:t>
            </a:r>
            <a:r>
              <a:rPr sz="2000" spc="-13" dirty="0">
                <a:latin typeface="Arial"/>
                <a:cs typeface="Arial"/>
              </a:rPr>
              <a:t>defined </a:t>
            </a:r>
            <a:r>
              <a:rPr sz="2000" spc="-7" dirty="0">
                <a:latin typeface="Arial"/>
                <a:cs typeface="Arial"/>
              </a:rPr>
              <a:t>interfaces and</a:t>
            </a:r>
            <a:r>
              <a:rPr sz="2000" dirty="0">
                <a:latin typeface="Arial"/>
                <a:cs typeface="Arial"/>
              </a:rPr>
              <a:t> </a:t>
            </a:r>
            <a:r>
              <a:rPr sz="2000" spc="-7" dirty="0">
                <a:latin typeface="Arial"/>
                <a:cs typeface="Arial"/>
              </a:rPr>
              <a:t>functionality</a:t>
            </a:r>
            <a:endParaRPr sz="2000" dirty="0">
              <a:latin typeface="Arial"/>
              <a:cs typeface="Arial"/>
            </a:endParaRPr>
          </a:p>
          <a:p>
            <a:pPr marL="16933" marR="6773"/>
            <a:r>
              <a:rPr sz="2000" spc="-7" dirty="0">
                <a:latin typeface="Arial"/>
                <a:cs typeface="Arial"/>
              </a:rPr>
              <a:t>Each block </a:t>
            </a:r>
            <a:r>
              <a:rPr sz="2000" spc="-13" dirty="0">
                <a:latin typeface="Arial"/>
                <a:cs typeface="Arial"/>
              </a:rPr>
              <a:t>or module </a:t>
            </a:r>
            <a:r>
              <a:rPr sz="2000" dirty="0">
                <a:latin typeface="Arial"/>
                <a:cs typeface="Arial"/>
              </a:rPr>
              <a:t>can </a:t>
            </a:r>
            <a:r>
              <a:rPr sz="2000" spc="-13" dirty="0">
                <a:latin typeface="Arial"/>
                <a:cs typeface="Arial"/>
              </a:rPr>
              <a:t>be designed relatively independent </a:t>
            </a:r>
            <a:r>
              <a:rPr sz="2000" spc="-7" dirty="0">
                <a:latin typeface="Arial"/>
                <a:cs typeface="Arial"/>
              </a:rPr>
              <a:t>from  </a:t>
            </a:r>
            <a:r>
              <a:rPr sz="2000" spc="-13" dirty="0">
                <a:latin typeface="Arial"/>
                <a:cs typeface="Arial"/>
              </a:rPr>
              <a:t>each other</a:t>
            </a:r>
            <a:endParaRPr sz="2000" dirty="0">
              <a:latin typeface="Arial"/>
              <a:cs typeface="Arial"/>
            </a:endParaRPr>
          </a:p>
          <a:p>
            <a:pPr marL="16933"/>
            <a:r>
              <a:rPr sz="2000" spc="-13" dirty="0">
                <a:latin typeface="Arial"/>
                <a:cs typeface="Arial"/>
              </a:rPr>
              <a:t>Enables parallelisation of </a:t>
            </a:r>
            <a:r>
              <a:rPr sz="2000" spc="-7" dirty="0">
                <a:latin typeface="Arial"/>
                <a:cs typeface="Arial"/>
              </a:rPr>
              <a:t>the </a:t>
            </a:r>
            <a:r>
              <a:rPr sz="2000" spc="-13" dirty="0">
                <a:latin typeface="Arial"/>
                <a:cs typeface="Arial"/>
              </a:rPr>
              <a:t>design</a:t>
            </a:r>
            <a:r>
              <a:rPr sz="2000" spc="33" dirty="0">
                <a:latin typeface="Arial"/>
                <a:cs typeface="Arial"/>
              </a:rPr>
              <a:t> </a:t>
            </a:r>
            <a:r>
              <a:rPr sz="2000" spc="-7" dirty="0">
                <a:latin typeface="Arial"/>
                <a:cs typeface="Arial"/>
              </a:rPr>
              <a:t>process</a:t>
            </a:r>
            <a:endParaRPr sz="20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528647"/>
            <a:ext cx="8885767" cy="632651"/>
          </a:xfrm>
          <a:prstGeom prst="rect">
            <a:avLst/>
          </a:prstGeom>
        </p:spPr>
        <p:txBody>
          <a:bodyPr vert="horz" wrap="square" lIns="0" tIns="16933" rIns="0" bIns="0" rtlCol="0" anchor="ctr">
            <a:spAutoFit/>
          </a:bodyPr>
          <a:lstStyle/>
          <a:p>
            <a:pPr marL="16933">
              <a:lnSpc>
                <a:spcPct val="100000"/>
              </a:lnSpc>
              <a:spcBef>
                <a:spcPts val="133"/>
              </a:spcBef>
            </a:pPr>
            <a:r>
              <a:rPr sz="4000" spc="-13" dirty="0"/>
              <a:t>E</a:t>
            </a:r>
            <a:r>
              <a:rPr lang="en-US" sz="4000" spc="-13" dirty="0"/>
              <a:t>S</a:t>
            </a:r>
            <a:r>
              <a:rPr sz="4000" spc="-13" dirty="0"/>
              <a:t> </a:t>
            </a:r>
            <a:r>
              <a:rPr sz="4000" dirty="0"/>
              <a:t>- Design</a:t>
            </a:r>
            <a:r>
              <a:rPr sz="4000" spc="-27" dirty="0"/>
              <a:t> </a:t>
            </a:r>
            <a:r>
              <a:rPr sz="4000" spc="-13" dirty="0"/>
              <a:t>Concepts</a:t>
            </a:r>
            <a:endParaRPr sz="4000" dirty="0"/>
          </a:p>
        </p:txBody>
      </p:sp>
      <p:sp>
        <p:nvSpPr>
          <p:cNvPr id="3" name="object 3"/>
          <p:cNvSpPr txBox="1"/>
          <p:nvPr/>
        </p:nvSpPr>
        <p:spPr>
          <a:xfrm>
            <a:off x="677333" y="1588345"/>
            <a:ext cx="10581640" cy="4121427"/>
          </a:xfrm>
          <a:prstGeom prst="rect">
            <a:avLst/>
          </a:prstGeom>
        </p:spPr>
        <p:txBody>
          <a:bodyPr vert="horz" wrap="square" lIns="0" tIns="16933" rIns="0" bIns="0" rtlCol="0">
            <a:spAutoFit/>
          </a:bodyPr>
          <a:lstStyle/>
          <a:p>
            <a:pPr marL="440256" indent="-423323">
              <a:spcBef>
                <a:spcPts val="133"/>
              </a:spcBef>
              <a:buChar char="●"/>
              <a:tabLst>
                <a:tab pos="439409" algn="l"/>
                <a:tab pos="440256" algn="l"/>
              </a:tabLst>
            </a:pPr>
            <a:r>
              <a:rPr sz="2667" spc="-7" dirty="0">
                <a:latin typeface="Arial"/>
                <a:cs typeface="Arial"/>
              </a:rPr>
              <a:t>Coping with complexity </a:t>
            </a:r>
            <a:r>
              <a:rPr sz="2667" dirty="0">
                <a:latin typeface="Arial"/>
                <a:cs typeface="Arial"/>
              </a:rPr>
              <a:t>and</a:t>
            </a:r>
            <a:r>
              <a:rPr sz="2667" spc="20" dirty="0">
                <a:latin typeface="Arial"/>
                <a:cs typeface="Arial"/>
              </a:rPr>
              <a:t> </a:t>
            </a:r>
            <a:r>
              <a:rPr sz="2667" spc="-7" dirty="0">
                <a:latin typeface="Arial"/>
                <a:cs typeface="Arial"/>
              </a:rPr>
              <a:t>heterogeneity</a:t>
            </a:r>
            <a:endParaRPr sz="2667" dirty="0">
              <a:latin typeface="Arial"/>
              <a:cs typeface="Arial"/>
            </a:endParaRPr>
          </a:p>
          <a:p>
            <a:pPr marL="948243" lvl="1" indent="-423323">
              <a:buFont typeface="Arial"/>
              <a:buChar char="○"/>
              <a:tabLst>
                <a:tab pos="947396" algn="l"/>
                <a:tab pos="948243" algn="l"/>
              </a:tabLst>
            </a:pPr>
            <a:r>
              <a:rPr sz="2667" b="1" spc="-7" dirty="0">
                <a:latin typeface="Arial"/>
                <a:cs typeface="Arial"/>
              </a:rPr>
              <a:t>Platform based</a:t>
            </a:r>
            <a:r>
              <a:rPr sz="2667" b="1" spc="-27" dirty="0">
                <a:latin typeface="Arial"/>
                <a:cs typeface="Arial"/>
              </a:rPr>
              <a:t> </a:t>
            </a:r>
            <a:r>
              <a:rPr sz="2667" b="1" dirty="0">
                <a:latin typeface="Arial"/>
                <a:cs typeface="Arial"/>
              </a:rPr>
              <a:t>design</a:t>
            </a:r>
            <a:endParaRPr sz="2667" dirty="0">
              <a:latin typeface="Arial"/>
              <a:cs typeface="Arial"/>
            </a:endParaRPr>
          </a:p>
          <a:p>
            <a:pPr marL="1456230" marR="668003" lvl="2" indent="-423323">
              <a:buChar char="■"/>
              <a:tabLst>
                <a:tab pos="1455384" algn="l"/>
                <a:tab pos="1456230" algn="l"/>
              </a:tabLst>
            </a:pPr>
            <a:r>
              <a:rPr sz="2667" dirty="0">
                <a:latin typeface="Arial"/>
                <a:cs typeface="Arial"/>
              </a:rPr>
              <a:t>Design philosophy </a:t>
            </a:r>
            <a:r>
              <a:rPr sz="2667" spc="-7" dirty="0">
                <a:latin typeface="Arial"/>
                <a:cs typeface="Arial"/>
              </a:rPr>
              <a:t>that </a:t>
            </a:r>
            <a:r>
              <a:rPr sz="2667" dirty="0">
                <a:latin typeface="Arial"/>
                <a:cs typeface="Arial"/>
              </a:rPr>
              <a:t>focuses </a:t>
            </a:r>
            <a:r>
              <a:rPr sz="2667" spc="-7" dirty="0">
                <a:latin typeface="Arial"/>
                <a:cs typeface="Arial"/>
              </a:rPr>
              <a:t>on IP-centric </a:t>
            </a:r>
            <a:r>
              <a:rPr sz="2667" dirty="0">
                <a:latin typeface="Arial"/>
                <a:cs typeface="Arial"/>
              </a:rPr>
              <a:t>design and  reuse</a:t>
            </a:r>
          </a:p>
          <a:p>
            <a:pPr marL="1456230" marR="183722" lvl="2" indent="-423323">
              <a:buChar char="■"/>
              <a:tabLst>
                <a:tab pos="1455384" algn="l"/>
                <a:tab pos="1456230" algn="l"/>
              </a:tabLst>
            </a:pPr>
            <a:r>
              <a:rPr sz="2667" spc="-7" dirty="0">
                <a:latin typeface="Arial"/>
                <a:cs typeface="Arial"/>
              </a:rPr>
              <a:t>Platform: </a:t>
            </a:r>
            <a:r>
              <a:rPr sz="2667" dirty="0">
                <a:latin typeface="Arial"/>
                <a:cs typeface="Arial"/>
              </a:rPr>
              <a:t>a customizable design </a:t>
            </a:r>
            <a:r>
              <a:rPr sz="2667" spc="-7" dirty="0">
                <a:latin typeface="Arial"/>
                <a:cs typeface="Arial"/>
              </a:rPr>
              <a:t>(may </a:t>
            </a:r>
            <a:r>
              <a:rPr sz="2667" dirty="0">
                <a:latin typeface="Arial"/>
                <a:cs typeface="Arial"/>
              </a:rPr>
              <a:t>call </a:t>
            </a:r>
            <a:r>
              <a:rPr sz="2667" spc="-7" dirty="0">
                <a:latin typeface="Arial"/>
                <a:cs typeface="Arial"/>
              </a:rPr>
              <a:t>as </a:t>
            </a:r>
            <a:r>
              <a:rPr sz="2667" dirty="0">
                <a:latin typeface="Arial"/>
                <a:cs typeface="Arial"/>
              </a:rPr>
              <a:t>partial design)  </a:t>
            </a:r>
            <a:r>
              <a:rPr sz="2667" spc="-7" dirty="0">
                <a:latin typeface="Arial"/>
                <a:cs typeface="Arial"/>
              </a:rPr>
              <a:t>for </a:t>
            </a:r>
            <a:r>
              <a:rPr sz="2667" dirty="0">
                <a:latin typeface="Arial"/>
                <a:cs typeface="Arial"/>
              </a:rPr>
              <a:t>a </a:t>
            </a:r>
            <a:r>
              <a:rPr sz="2667" spc="-7" dirty="0">
                <a:latin typeface="Arial"/>
                <a:cs typeface="Arial"/>
              </a:rPr>
              <a:t>particular type </a:t>
            </a:r>
            <a:r>
              <a:rPr sz="2667" dirty="0">
                <a:latin typeface="Arial"/>
                <a:cs typeface="Arial"/>
              </a:rPr>
              <a:t>of system, consisting </a:t>
            </a:r>
            <a:r>
              <a:rPr sz="2667" spc="-7" dirty="0">
                <a:latin typeface="Arial"/>
                <a:cs typeface="Arial"/>
              </a:rPr>
              <a:t>of </a:t>
            </a:r>
            <a:r>
              <a:rPr sz="2667" dirty="0">
                <a:latin typeface="Arial"/>
                <a:cs typeface="Arial"/>
              </a:rPr>
              <a:t>embedded  processors, peripherals, and</a:t>
            </a:r>
            <a:r>
              <a:rPr sz="2667" spc="-60" dirty="0">
                <a:latin typeface="Arial"/>
                <a:cs typeface="Arial"/>
              </a:rPr>
              <a:t> </a:t>
            </a:r>
            <a:r>
              <a:rPr sz="2667" spc="-7" dirty="0">
                <a:latin typeface="Arial"/>
                <a:cs typeface="Arial"/>
              </a:rPr>
              <a:t>software</a:t>
            </a:r>
            <a:endParaRPr sz="2667" dirty="0">
              <a:latin typeface="Arial"/>
              <a:cs typeface="Arial"/>
            </a:endParaRPr>
          </a:p>
          <a:p>
            <a:pPr marL="1456230" marR="6773" lvl="2" indent="-423323">
              <a:buChar char="■"/>
              <a:tabLst>
                <a:tab pos="1455384" algn="l"/>
                <a:tab pos="1456230" algn="l"/>
              </a:tabLst>
            </a:pPr>
            <a:r>
              <a:rPr sz="2667" dirty="0">
                <a:latin typeface="Arial"/>
                <a:cs typeface="Arial"/>
              </a:rPr>
              <a:t>Leads to not only </a:t>
            </a:r>
            <a:r>
              <a:rPr sz="2667" spc="-13" dirty="0">
                <a:latin typeface="Arial"/>
                <a:cs typeface="Arial"/>
              </a:rPr>
              <a:t>Abstraction </a:t>
            </a:r>
            <a:r>
              <a:rPr sz="2667" dirty="0">
                <a:latin typeface="Arial"/>
                <a:cs typeface="Arial"/>
              </a:rPr>
              <a:t>and </a:t>
            </a:r>
            <a:r>
              <a:rPr sz="2667" spc="-7" dirty="0">
                <a:latin typeface="Arial"/>
                <a:cs typeface="Arial"/>
              </a:rPr>
              <a:t>modularity </a:t>
            </a:r>
            <a:r>
              <a:rPr sz="2667" dirty="0">
                <a:latin typeface="Arial"/>
                <a:cs typeface="Arial"/>
              </a:rPr>
              <a:t>but </a:t>
            </a:r>
            <a:r>
              <a:rPr sz="2667" spc="-7" dirty="0">
                <a:latin typeface="Arial"/>
                <a:cs typeface="Arial"/>
              </a:rPr>
              <a:t>to </a:t>
            </a:r>
            <a:r>
              <a:rPr sz="2667" u="heavy" dirty="0">
                <a:uFill>
                  <a:solidFill>
                    <a:srgbClr val="000000"/>
                  </a:solidFill>
                </a:uFill>
                <a:latin typeface="Arial"/>
                <a:cs typeface="Arial"/>
              </a:rPr>
              <a:t>Accuracy </a:t>
            </a:r>
            <a:r>
              <a:rPr sz="2667" dirty="0">
                <a:latin typeface="Arial"/>
                <a:cs typeface="Arial"/>
              </a:rPr>
              <a:t> and </a:t>
            </a:r>
            <a:r>
              <a:rPr sz="2667" u="heavy" spc="-13" dirty="0">
                <a:uFill>
                  <a:solidFill>
                    <a:srgbClr val="000000"/>
                  </a:solidFill>
                </a:uFill>
                <a:latin typeface="Arial"/>
                <a:cs typeface="Arial"/>
              </a:rPr>
              <a:t>Efficiency</a:t>
            </a:r>
            <a:r>
              <a:rPr sz="2667" spc="13" dirty="0">
                <a:latin typeface="Arial"/>
                <a:cs typeface="Arial"/>
              </a:rPr>
              <a:t> </a:t>
            </a:r>
            <a:r>
              <a:rPr sz="2667" spc="-7" dirty="0">
                <a:latin typeface="Arial"/>
                <a:cs typeface="Arial"/>
              </a:rPr>
              <a:t>too.</a:t>
            </a:r>
            <a:endParaRPr sz="2667" dirty="0">
              <a:latin typeface="Arial"/>
              <a:cs typeface="Arial"/>
            </a:endParaRPr>
          </a:p>
          <a:p>
            <a:pPr marL="1456230" lvl="2" indent="-423323">
              <a:spcBef>
                <a:spcPts val="13"/>
              </a:spcBef>
              <a:buChar char="■"/>
              <a:tabLst>
                <a:tab pos="1455384" algn="l"/>
                <a:tab pos="1456230" algn="l"/>
              </a:tabLst>
            </a:pPr>
            <a:r>
              <a:rPr sz="2667" spc="-7" dirty="0">
                <a:latin typeface="Arial"/>
                <a:cs typeface="Arial"/>
              </a:rPr>
              <a:t>Platforms </a:t>
            </a:r>
            <a:r>
              <a:rPr sz="2667" dirty="0">
                <a:latin typeface="Arial"/>
                <a:cs typeface="Arial"/>
              </a:rPr>
              <a:t>are </a:t>
            </a:r>
            <a:r>
              <a:rPr sz="2667" spc="-7" dirty="0">
                <a:latin typeface="Arial"/>
                <a:cs typeface="Arial"/>
              </a:rPr>
              <a:t>IP at </a:t>
            </a:r>
            <a:r>
              <a:rPr sz="2667" dirty="0">
                <a:latin typeface="Arial"/>
                <a:cs typeface="Arial"/>
              </a:rPr>
              <a:t>next level of</a:t>
            </a:r>
            <a:r>
              <a:rPr sz="2667" spc="-107" dirty="0">
                <a:latin typeface="Arial"/>
                <a:cs typeface="Arial"/>
              </a:rPr>
              <a:t> </a:t>
            </a:r>
            <a:r>
              <a:rPr sz="2667" spc="-7" dirty="0">
                <a:latin typeface="Arial"/>
                <a:cs typeface="Arial"/>
              </a:rPr>
              <a:t>abstraction</a:t>
            </a:r>
            <a:endParaRPr sz="2667"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4" y="1588346"/>
            <a:ext cx="10294620" cy="3733950"/>
          </a:xfrm>
          <a:prstGeom prst="rect">
            <a:avLst/>
          </a:prstGeom>
        </p:spPr>
        <p:txBody>
          <a:bodyPr vert="horz" wrap="square" lIns="0" tIns="16933" rIns="0" bIns="0" rtlCol="0">
            <a:spAutoFit/>
          </a:bodyPr>
          <a:lstStyle/>
          <a:p>
            <a:pPr marL="440256" indent="-423323">
              <a:spcBef>
                <a:spcPts val="133"/>
              </a:spcBef>
              <a:buChar char="●"/>
              <a:tabLst>
                <a:tab pos="439409" algn="l"/>
                <a:tab pos="440256" algn="l"/>
              </a:tabLst>
            </a:pPr>
            <a:r>
              <a:rPr sz="2667" spc="-7" dirty="0">
                <a:latin typeface="Arial"/>
                <a:cs typeface="Arial"/>
              </a:rPr>
              <a:t>Alternatives to</a:t>
            </a:r>
            <a:r>
              <a:rPr sz="2667" dirty="0">
                <a:latin typeface="Arial"/>
                <a:cs typeface="Arial"/>
              </a:rPr>
              <a:t> </a:t>
            </a:r>
            <a:r>
              <a:rPr sz="2667" spc="-7" dirty="0">
                <a:latin typeface="Arial"/>
                <a:cs typeface="Arial"/>
              </a:rPr>
              <a:t>platforms</a:t>
            </a:r>
            <a:endParaRPr sz="2667">
              <a:latin typeface="Arial"/>
              <a:cs typeface="Arial"/>
            </a:endParaRPr>
          </a:p>
          <a:p>
            <a:pPr marL="948243" lvl="1" indent="-423323">
              <a:buFont typeface="Arial"/>
              <a:buChar char="○"/>
              <a:tabLst>
                <a:tab pos="947396" algn="l"/>
                <a:tab pos="948243" algn="l"/>
              </a:tabLst>
            </a:pPr>
            <a:r>
              <a:rPr sz="2667" b="1" spc="-7" dirty="0">
                <a:latin typeface="Arial"/>
                <a:cs typeface="Arial"/>
              </a:rPr>
              <a:t>General Purpose</a:t>
            </a:r>
            <a:r>
              <a:rPr sz="2667" b="1" spc="-60" dirty="0">
                <a:latin typeface="Arial"/>
                <a:cs typeface="Arial"/>
              </a:rPr>
              <a:t> </a:t>
            </a:r>
            <a:r>
              <a:rPr sz="2667" b="1" spc="-7" dirty="0">
                <a:latin typeface="Arial"/>
                <a:cs typeface="Arial"/>
              </a:rPr>
              <a:t>Architectures</a:t>
            </a:r>
            <a:endParaRPr sz="2667">
              <a:latin typeface="Arial"/>
              <a:cs typeface="Arial"/>
            </a:endParaRPr>
          </a:p>
          <a:p>
            <a:pPr marL="1456230" lvl="2" indent="-423323">
              <a:buChar char="■"/>
              <a:tabLst>
                <a:tab pos="1455384" algn="l"/>
                <a:tab pos="1456230" algn="l"/>
              </a:tabLst>
            </a:pPr>
            <a:r>
              <a:rPr sz="2667" spc="-7" dirty="0">
                <a:latin typeface="Arial"/>
                <a:cs typeface="Arial"/>
              </a:rPr>
              <a:t>May </a:t>
            </a:r>
            <a:r>
              <a:rPr sz="2667" dirty="0">
                <a:latin typeface="Arial"/>
                <a:cs typeface="Arial"/>
              </a:rPr>
              <a:t>require much </a:t>
            </a:r>
            <a:r>
              <a:rPr sz="2667" spc="-7" dirty="0">
                <a:latin typeface="Arial"/>
                <a:cs typeface="Arial"/>
              </a:rPr>
              <a:t>more </a:t>
            </a:r>
            <a:r>
              <a:rPr sz="2667" dirty="0">
                <a:latin typeface="Arial"/>
                <a:cs typeface="Arial"/>
              </a:rPr>
              <a:t>area to </a:t>
            </a:r>
            <a:r>
              <a:rPr sz="2667" spc="-7" dirty="0">
                <a:latin typeface="Arial"/>
                <a:cs typeface="Arial"/>
              </a:rPr>
              <a:t>accomplish the </a:t>
            </a:r>
            <a:r>
              <a:rPr sz="2667" dirty="0">
                <a:latin typeface="Arial"/>
                <a:cs typeface="Arial"/>
              </a:rPr>
              <a:t>same</a:t>
            </a:r>
            <a:r>
              <a:rPr sz="2667" spc="40" dirty="0">
                <a:latin typeface="Arial"/>
                <a:cs typeface="Arial"/>
              </a:rPr>
              <a:t> </a:t>
            </a:r>
            <a:r>
              <a:rPr sz="2667" spc="-7" dirty="0">
                <a:latin typeface="Arial"/>
                <a:cs typeface="Arial"/>
              </a:rPr>
              <a:t>task.</a:t>
            </a:r>
            <a:endParaRPr sz="2667">
              <a:latin typeface="Arial"/>
              <a:cs typeface="Arial"/>
            </a:endParaRPr>
          </a:p>
          <a:p>
            <a:pPr marL="1456230" lvl="2" indent="-423323">
              <a:buChar char="■"/>
              <a:tabLst>
                <a:tab pos="1455384" algn="l"/>
                <a:tab pos="1456230" algn="l"/>
              </a:tabLst>
            </a:pPr>
            <a:r>
              <a:rPr sz="2667" spc="-7" dirty="0">
                <a:latin typeface="Arial"/>
                <a:cs typeface="Arial"/>
              </a:rPr>
              <a:t>Often </a:t>
            </a:r>
            <a:r>
              <a:rPr sz="2667" dirty="0">
                <a:latin typeface="Arial"/>
                <a:cs typeface="Arial"/>
              </a:rPr>
              <a:t>much less</a:t>
            </a:r>
            <a:r>
              <a:rPr sz="2667" spc="-13" dirty="0">
                <a:latin typeface="Arial"/>
                <a:cs typeface="Arial"/>
              </a:rPr>
              <a:t> </a:t>
            </a:r>
            <a:r>
              <a:rPr sz="2667" spc="-7" dirty="0">
                <a:latin typeface="Arial"/>
                <a:cs typeface="Arial"/>
              </a:rPr>
              <a:t>energy-efficient.</a:t>
            </a:r>
            <a:endParaRPr sz="2667">
              <a:latin typeface="Arial"/>
              <a:cs typeface="Arial"/>
            </a:endParaRPr>
          </a:p>
          <a:p>
            <a:pPr lvl="2">
              <a:spcBef>
                <a:spcPts val="53"/>
              </a:spcBef>
              <a:buFont typeface="Arial"/>
              <a:buChar char="■"/>
            </a:pPr>
            <a:endParaRPr sz="2733">
              <a:latin typeface="Arial"/>
              <a:cs typeface="Arial"/>
            </a:endParaRPr>
          </a:p>
          <a:p>
            <a:pPr marL="948243" lvl="1" indent="-423323">
              <a:buFont typeface="Arial"/>
              <a:buChar char="○"/>
              <a:tabLst>
                <a:tab pos="947396" algn="l"/>
                <a:tab pos="948243" algn="l"/>
              </a:tabLst>
            </a:pPr>
            <a:r>
              <a:rPr sz="2667" b="1" spc="-7" dirty="0">
                <a:latin typeface="Arial"/>
                <a:cs typeface="Arial"/>
              </a:rPr>
              <a:t>Reconfigurable</a:t>
            </a:r>
            <a:r>
              <a:rPr sz="2667" b="1" spc="-20" dirty="0">
                <a:latin typeface="Arial"/>
                <a:cs typeface="Arial"/>
              </a:rPr>
              <a:t> </a:t>
            </a:r>
            <a:r>
              <a:rPr sz="2667" b="1" dirty="0">
                <a:latin typeface="Arial"/>
                <a:cs typeface="Arial"/>
              </a:rPr>
              <a:t>systems</a:t>
            </a:r>
            <a:endParaRPr sz="2667">
              <a:latin typeface="Arial"/>
              <a:cs typeface="Arial"/>
            </a:endParaRPr>
          </a:p>
          <a:p>
            <a:pPr marL="1456230" marR="259074" lvl="2" indent="-423323">
              <a:buChar char="■"/>
              <a:tabLst>
                <a:tab pos="1455384" algn="l"/>
                <a:tab pos="1456230" algn="l"/>
              </a:tabLst>
            </a:pPr>
            <a:r>
              <a:rPr sz="2667" dirty="0">
                <a:latin typeface="Arial"/>
                <a:cs typeface="Arial"/>
              </a:rPr>
              <a:t>Good </a:t>
            </a:r>
            <a:r>
              <a:rPr sz="2667" spc="-7" dirty="0">
                <a:latin typeface="Arial"/>
                <a:cs typeface="Arial"/>
              </a:rPr>
              <a:t>for </a:t>
            </a:r>
            <a:r>
              <a:rPr sz="2667" dirty="0">
                <a:latin typeface="Arial"/>
                <a:cs typeface="Arial"/>
              </a:rPr>
              <a:t>pieces of </a:t>
            </a:r>
            <a:r>
              <a:rPr sz="2667" spc="-7" dirty="0">
                <a:latin typeface="Arial"/>
                <a:cs typeface="Arial"/>
              </a:rPr>
              <a:t>the </a:t>
            </a:r>
            <a:r>
              <a:rPr sz="2667" dirty="0">
                <a:latin typeface="Arial"/>
                <a:cs typeface="Arial"/>
              </a:rPr>
              <a:t>system, but </a:t>
            </a:r>
            <a:r>
              <a:rPr sz="2667" spc="-7" dirty="0">
                <a:latin typeface="Arial"/>
                <a:cs typeface="Arial"/>
              </a:rPr>
              <a:t>tough </a:t>
            </a:r>
            <a:r>
              <a:rPr sz="2667" dirty="0">
                <a:latin typeface="Arial"/>
                <a:cs typeface="Arial"/>
              </a:rPr>
              <a:t>to </a:t>
            </a:r>
            <a:r>
              <a:rPr sz="2667" spc="-7" dirty="0">
                <a:latin typeface="Arial"/>
                <a:cs typeface="Arial"/>
              </a:rPr>
              <a:t>compete with  software for </a:t>
            </a:r>
            <a:r>
              <a:rPr sz="2667" dirty="0">
                <a:latin typeface="Arial"/>
                <a:cs typeface="Arial"/>
              </a:rPr>
              <a:t>miscellaneous tasks.</a:t>
            </a:r>
            <a:endParaRPr sz="2667">
              <a:latin typeface="Arial"/>
              <a:cs typeface="Arial"/>
            </a:endParaRPr>
          </a:p>
          <a:p>
            <a:pPr marL="1456230" lvl="2" indent="-423323">
              <a:spcBef>
                <a:spcPts val="13"/>
              </a:spcBef>
              <a:buChar char="■"/>
              <a:tabLst>
                <a:tab pos="1455384" algn="l"/>
                <a:tab pos="1456230" algn="l"/>
              </a:tabLst>
            </a:pPr>
            <a:r>
              <a:rPr sz="2667" spc="-7" dirty="0">
                <a:latin typeface="Arial"/>
                <a:cs typeface="Arial"/>
              </a:rPr>
              <a:t>Often FPGA</a:t>
            </a:r>
            <a:r>
              <a:rPr sz="2667" spc="-160" dirty="0">
                <a:latin typeface="Arial"/>
                <a:cs typeface="Arial"/>
              </a:rPr>
              <a:t> </a:t>
            </a:r>
            <a:r>
              <a:rPr sz="2667" dirty="0">
                <a:latin typeface="Arial"/>
                <a:cs typeface="Arial"/>
              </a:rPr>
              <a:t>based</a:t>
            </a:r>
            <a:endParaRPr sz="2667">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4" y="1588346"/>
            <a:ext cx="10541845" cy="4144382"/>
          </a:xfrm>
          <a:prstGeom prst="rect">
            <a:avLst/>
          </a:prstGeom>
        </p:spPr>
        <p:txBody>
          <a:bodyPr vert="horz" wrap="square" lIns="0" tIns="16933" rIns="0" bIns="0" rtlCol="0">
            <a:spAutoFit/>
          </a:bodyPr>
          <a:lstStyle/>
          <a:p>
            <a:pPr marL="440256" indent="-423323">
              <a:spcBef>
                <a:spcPts val="133"/>
              </a:spcBef>
              <a:buChar char="●"/>
              <a:tabLst>
                <a:tab pos="439409" algn="l"/>
                <a:tab pos="440256" algn="l"/>
              </a:tabLst>
            </a:pPr>
            <a:r>
              <a:rPr sz="2667" b="1" spc="-7" dirty="0">
                <a:latin typeface="Arial"/>
                <a:cs typeface="Arial"/>
              </a:rPr>
              <a:t>Standards </a:t>
            </a:r>
            <a:r>
              <a:rPr sz="2667" b="1" dirty="0">
                <a:latin typeface="Arial"/>
                <a:cs typeface="Arial"/>
              </a:rPr>
              <a:t>and </a:t>
            </a:r>
            <a:r>
              <a:rPr sz="2667" b="1" spc="-7" dirty="0">
                <a:latin typeface="Arial"/>
                <a:cs typeface="Arial"/>
              </a:rPr>
              <a:t>platforms</a:t>
            </a:r>
            <a:endParaRPr sz="2667" b="1" dirty="0">
              <a:latin typeface="Arial"/>
              <a:cs typeface="Arial"/>
            </a:endParaRPr>
          </a:p>
          <a:p>
            <a:pPr marL="1456230" marR="2206358" lvl="1" indent="-931310">
              <a:buChar char="○"/>
              <a:tabLst>
                <a:tab pos="947396" algn="l"/>
                <a:tab pos="948243" algn="l"/>
              </a:tabLst>
            </a:pPr>
            <a:r>
              <a:rPr sz="2667" dirty="0">
                <a:latin typeface="Arial"/>
                <a:cs typeface="Arial"/>
              </a:rPr>
              <a:t>Many high-volume markets are standards-driven:  Wireless,multimedia,</a:t>
            </a:r>
            <a:r>
              <a:rPr sz="2667" spc="-27" dirty="0">
                <a:latin typeface="Arial"/>
                <a:cs typeface="Arial"/>
              </a:rPr>
              <a:t> </a:t>
            </a:r>
            <a:r>
              <a:rPr sz="2667" dirty="0">
                <a:latin typeface="Arial"/>
                <a:cs typeface="Arial"/>
              </a:rPr>
              <a:t>networking.</a:t>
            </a:r>
          </a:p>
          <a:p>
            <a:pPr lvl="1">
              <a:spcBef>
                <a:spcPts val="53"/>
              </a:spcBef>
              <a:buFont typeface="Arial"/>
              <a:buChar char="○"/>
            </a:pPr>
            <a:endParaRPr sz="2733" dirty="0">
              <a:latin typeface="Arial"/>
              <a:cs typeface="Arial"/>
            </a:endParaRPr>
          </a:p>
          <a:p>
            <a:pPr marL="948243" lvl="1" indent="-423323">
              <a:buChar char="○"/>
              <a:tabLst>
                <a:tab pos="947396" algn="l"/>
                <a:tab pos="948243" algn="l"/>
              </a:tabLst>
            </a:pPr>
            <a:r>
              <a:rPr sz="2667" spc="-7" dirty="0">
                <a:latin typeface="Arial"/>
                <a:cs typeface="Arial"/>
              </a:rPr>
              <a:t>Standard defines the </a:t>
            </a:r>
            <a:r>
              <a:rPr sz="2667" dirty="0">
                <a:latin typeface="Arial"/>
                <a:cs typeface="Arial"/>
              </a:rPr>
              <a:t>basic </a:t>
            </a:r>
            <a:r>
              <a:rPr sz="2667" spc="-13" dirty="0">
                <a:latin typeface="Arial"/>
                <a:cs typeface="Arial"/>
              </a:rPr>
              <a:t>I/O</a:t>
            </a:r>
            <a:r>
              <a:rPr sz="2667" dirty="0">
                <a:latin typeface="Arial"/>
                <a:cs typeface="Arial"/>
              </a:rPr>
              <a:t> requirements.</a:t>
            </a:r>
          </a:p>
          <a:p>
            <a:pPr marL="1151438" marR="6773" lvl="1" indent="-626518">
              <a:buChar char="○"/>
              <a:tabLst>
                <a:tab pos="947396" algn="l"/>
                <a:tab pos="948243" algn="l"/>
              </a:tabLst>
            </a:pPr>
            <a:r>
              <a:rPr sz="2667" dirty="0">
                <a:latin typeface="Arial"/>
                <a:cs typeface="Arial"/>
              </a:rPr>
              <a:t>Systems house chooses </a:t>
            </a:r>
            <a:r>
              <a:rPr sz="2667" spc="-7" dirty="0">
                <a:latin typeface="Arial"/>
                <a:cs typeface="Arial"/>
              </a:rPr>
              <a:t>implementation of </a:t>
            </a:r>
            <a:r>
              <a:rPr sz="2667" dirty="0">
                <a:latin typeface="Arial"/>
                <a:cs typeface="Arial"/>
              </a:rPr>
              <a:t>standards </a:t>
            </a:r>
            <a:r>
              <a:rPr sz="2667" spc="-7" dirty="0">
                <a:latin typeface="Arial"/>
                <a:cs typeface="Arial"/>
              </a:rPr>
              <a:t>functions:  </a:t>
            </a:r>
            <a:r>
              <a:rPr sz="2667" dirty="0">
                <a:latin typeface="Arial"/>
                <a:cs typeface="Arial"/>
              </a:rPr>
              <a:t>improved </a:t>
            </a:r>
            <a:r>
              <a:rPr sz="2667" spc="-20" dirty="0">
                <a:latin typeface="Arial"/>
                <a:cs typeface="Arial"/>
              </a:rPr>
              <a:t>quality, </a:t>
            </a:r>
            <a:r>
              <a:rPr sz="2667" spc="-7" dirty="0">
                <a:latin typeface="Arial"/>
                <a:cs typeface="Arial"/>
              </a:rPr>
              <a:t>lower </a:t>
            </a:r>
            <a:r>
              <a:rPr sz="2667" spc="-13" dirty="0">
                <a:latin typeface="Arial"/>
                <a:cs typeface="Arial"/>
              </a:rPr>
              <a:t>power,</a:t>
            </a:r>
            <a:r>
              <a:rPr sz="2667" spc="-180" dirty="0">
                <a:latin typeface="Arial"/>
                <a:cs typeface="Arial"/>
              </a:rPr>
              <a:t> </a:t>
            </a:r>
            <a:r>
              <a:rPr sz="2667" dirty="0">
                <a:latin typeface="Arial"/>
                <a:cs typeface="Arial"/>
              </a:rPr>
              <a:t>etc.</a:t>
            </a:r>
          </a:p>
          <a:p>
            <a:pPr marL="1151438" marR="2260543" lvl="1" indent="-626518">
              <a:buChar char="○"/>
              <a:tabLst>
                <a:tab pos="947396" algn="l"/>
                <a:tab pos="948243" algn="l"/>
              </a:tabLst>
            </a:pPr>
            <a:r>
              <a:rPr sz="2667" dirty="0">
                <a:latin typeface="Arial"/>
                <a:cs typeface="Arial"/>
              </a:rPr>
              <a:t>Product may </a:t>
            </a:r>
            <a:r>
              <a:rPr sz="2667" spc="-7" dirty="0">
                <a:latin typeface="Arial"/>
                <a:cs typeface="Arial"/>
              </a:rPr>
              <a:t>be differentiated by </a:t>
            </a:r>
            <a:r>
              <a:rPr sz="2667" dirty="0">
                <a:latin typeface="Arial"/>
                <a:cs typeface="Arial"/>
              </a:rPr>
              <a:t>added </a:t>
            </a:r>
            <a:r>
              <a:rPr sz="2667" spc="-7" dirty="0">
                <a:latin typeface="Arial"/>
                <a:cs typeface="Arial"/>
              </a:rPr>
              <a:t>features:  </a:t>
            </a:r>
            <a:r>
              <a:rPr sz="2667" dirty="0">
                <a:latin typeface="Arial"/>
                <a:cs typeface="Arial"/>
              </a:rPr>
              <a:t>cell phone user</a:t>
            </a:r>
            <a:r>
              <a:rPr sz="2667" spc="-27" dirty="0">
                <a:latin typeface="Arial"/>
                <a:cs typeface="Arial"/>
              </a:rPr>
              <a:t> </a:t>
            </a:r>
            <a:r>
              <a:rPr sz="2667" spc="-7" dirty="0">
                <a:latin typeface="Arial"/>
                <a:cs typeface="Arial"/>
              </a:rPr>
              <a:t>interface.</a:t>
            </a:r>
            <a:endParaRPr sz="2667" dirty="0">
              <a:latin typeface="Arial"/>
              <a:cs typeface="Arial"/>
            </a:endParaRPr>
          </a:p>
          <a:p>
            <a:pPr marL="948243" lvl="1" indent="-423323">
              <a:spcBef>
                <a:spcPts val="13"/>
              </a:spcBef>
              <a:buChar char="○"/>
              <a:tabLst>
                <a:tab pos="947396" algn="l"/>
                <a:tab pos="948243" algn="l"/>
              </a:tabLst>
            </a:pPr>
            <a:r>
              <a:rPr sz="2667" dirty="0">
                <a:latin typeface="Arial"/>
                <a:cs typeface="Arial"/>
              </a:rPr>
              <a:t>Standards encourage </a:t>
            </a:r>
            <a:r>
              <a:rPr sz="2667" spc="-7" dirty="0">
                <a:latin typeface="Arial"/>
                <a:cs typeface="Arial"/>
              </a:rPr>
              <a:t>platform-based </a:t>
            </a:r>
            <a:r>
              <a:rPr sz="2667" dirty="0">
                <a:latin typeface="Arial"/>
                <a:cs typeface="Arial"/>
              </a:rPr>
              <a:t>design.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4" y="1588346"/>
            <a:ext cx="9903460" cy="3956638"/>
          </a:xfrm>
          <a:prstGeom prst="rect">
            <a:avLst/>
          </a:prstGeom>
        </p:spPr>
        <p:txBody>
          <a:bodyPr vert="horz" wrap="square" lIns="0" tIns="16933" rIns="0" bIns="0" rtlCol="0">
            <a:spAutoFit/>
          </a:bodyPr>
          <a:lstStyle/>
          <a:p>
            <a:pPr marL="440256" indent="-423323">
              <a:spcBef>
                <a:spcPts val="133"/>
              </a:spcBef>
              <a:buChar char="●"/>
              <a:tabLst>
                <a:tab pos="439409" algn="l"/>
                <a:tab pos="440256" algn="l"/>
              </a:tabLst>
            </a:pPr>
            <a:r>
              <a:rPr sz="3200" spc="-7" dirty="0">
                <a:latin typeface="Arial"/>
                <a:cs typeface="Arial"/>
              </a:rPr>
              <a:t>Platform </a:t>
            </a:r>
            <a:r>
              <a:rPr sz="3200" dirty="0">
                <a:latin typeface="Arial"/>
                <a:cs typeface="Arial"/>
              </a:rPr>
              <a:t>vs. </a:t>
            </a:r>
            <a:r>
              <a:rPr sz="3200" spc="-7" dirty="0">
                <a:latin typeface="Arial"/>
                <a:cs typeface="Arial"/>
              </a:rPr>
              <a:t>full-custom</a:t>
            </a:r>
            <a:r>
              <a:rPr sz="3200" spc="-33" dirty="0">
                <a:latin typeface="Arial"/>
                <a:cs typeface="Arial"/>
              </a:rPr>
              <a:t> </a:t>
            </a:r>
            <a:r>
              <a:rPr sz="3200" dirty="0">
                <a:latin typeface="Arial"/>
                <a:cs typeface="Arial"/>
              </a:rPr>
              <a:t>designs</a:t>
            </a:r>
          </a:p>
          <a:p>
            <a:pPr marL="948243" lvl="1" indent="-423323">
              <a:buChar char="○"/>
              <a:tabLst>
                <a:tab pos="947396" algn="l"/>
                <a:tab pos="948243" algn="l"/>
              </a:tabLst>
            </a:pPr>
            <a:r>
              <a:rPr sz="3200" spc="-7" dirty="0">
                <a:latin typeface="Arial"/>
                <a:cs typeface="Arial"/>
              </a:rPr>
              <a:t>Platform </a:t>
            </a:r>
            <a:r>
              <a:rPr sz="3200" dirty="0">
                <a:latin typeface="Arial"/>
                <a:cs typeface="Arial"/>
              </a:rPr>
              <a:t>has many </a:t>
            </a:r>
            <a:r>
              <a:rPr sz="3200" spc="-7" dirty="0">
                <a:latin typeface="Arial"/>
                <a:cs typeface="Arial"/>
              </a:rPr>
              <a:t>fewer </a:t>
            </a:r>
            <a:r>
              <a:rPr sz="3200" dirty="0">
                <a:latin typeface="Arial"/>
                <a:cs typeface="Arial"/>
              </a:rPr>
              <a:t>degrees </a:t>
            </a:r>
            <a:r>
              <a:rPr sz="3200" spc="-7" dirty="0">
                <a:latin typeface="Arial"/>
                <a:cs typeface="Arial"/>
              </a:rPr>
              <a:t>of </a:t>
            </a:r>
            <a:r>
              <a:rPr sz="3200" dirty="0">
                <a:latin typeface="Arial"/>
                <a:cs typeface="Arial"/>
              </a:rPr>
              <a:t>freedom:</a:t>
            </a:r>
          </a:p>
          <a:p>
            <a:pPr marL="1456230" lvl="2" indent="-423323">
              <a:buChar char="■"/>
              <a:tabLst>
                <a:tab pos="1455384" algn="l"/>
                <a:tab pos="1456230" algn="l"/>
              </a:tabLst>
            </a:pPr>
            <a:r>
              <a:rPr sz="3200" dirty="0">
                <a:latin typeface="Arial"/>
                <a:cs typeface="Arial"/>
              </a:rPr>
              <a:t>harder </a:t>
            </a:r>
            <a:r>
              <a:rPr sz="3200" spc="-7" dirty="0">
                <a:latin typeface="Arial"/>
                <a:cs typeface="Arial"/>
              </a:rPr>
              <a:t>to</a:t>
            </a:r>
            <a:r>
              <a:rPr sz="3200" spc="-13" dirty="0">
                <a:latin typeface="Arial"/>
                <a:cs typeface="Arial"/>
              </a:rPr>
              <a:t> differentiate;</a:t>
            </a:r>
            <a:endParaRPr sz="3200" dirty="0">
              <a:latin typeface="Arial"/>
              <a:cs typeface="Arial"/>
            </a:endParaRPr>
          </a:p>
          <a:p>
            <a:pPr marL="1456230" lvl="2" indent="-423323">
              <a:buChar char="■"/>
              <a:tabLst>
                <a:tab pos="1455384" algn="l"/>
                <a:tab pos="1456230" algn="l"/>
              </a:tabLst>
            </a:pPr>
            <a:r>
              <a:rPr sz="3200" dirty="0">
                <a:latin typeface="Arial"/>
                <a:cs typeface="Arial"/>
              </a:rPr>
              <a:t>can analyze design</a:t>
            </a:r>
            <a:r>
              <a:rPr sz="3200" spc="-13" dirty="0">
                <a:latin typeface="Arial"/>
                <a:cs typeface="Arial"/>
              </a:rPr>
              <a:t> </a:t>
            </a:r>
            <a:r>
              <a:rPr sz="3200" dirty="0">
                <a:latin typeface="Arial"/>
                <a:cs typeface="Arial"/>
              </a:rPr>
              <a:t>characteristics.</a:t>
            </a:r>
          </a:p>
          <a:p>
            <a:pPr marL="948243" lvl="1" indent="-423323">
              <a:buChar char="○"/>
              <a:tabLst>
                <a:tab pos="947396" algn="l"/>
                <a:tab pos="948243" algn="l"/>
              </a:tabLst>
            </a:pPr>
            <a:r>
              <a:rPr sz="3200" spc="-7" dirty="0">
                <a:latin typeface="Arial"/>
                <a:cs typeface="Arial"/>
              </a:rPr>
              <a:t>Full-custom:</a:t>
            </a:r>
            <a:endParaRPr sz="3200" dirty="0">
              <a:latin typeface="Arial"/>
              <a:cs typeface="Arial"/>
            </a:endParaRPr>
          </a:p>
          <a:p>
            <a:pPr marL="1456230" lvl="2" indent="-423323">
              <a:buChar char="■"/>
              <a:tabLst>
                <a:tab pos="1455384" algn="l"/>
                <a:tab pos="1456230" algn="l"/>
              </a:tabLst>
            </a:pPr>
            <a:r>
              <a:rPr sz="3200" dirty="0">
                <a:latin typeface="Arial"/>
                <a:cs typeface="Arial"/>
              </a:rPr>
              <a:t>extremely long design</a:t>
            </a:r>
            <a:r>
              <a:rPr sz="3200" spc="-33" dirty="0">
                <a:latin typeface="Arial"/>
                <a:cs typeface="Arial"/>
              </a:rPr>
              <a:t> </a:t>
            </a:r>
            <a:r>
              <a:rPr sz="3200" dirty="0">
                <a:latin typeface="Arial"/>
                <a:cs typeface="Arial"/>
              </a:rPr>
              <a:t>cycles;</a:t>
            </a:r>
          </a:p>
          <a:p>
            <a:pPr marL="1456230" marR="6773" lvl="2" indent="-423323">
              <a:buChar char="■"/>
              <a:tabLst>
                <a:tab pos="1455384" algn="l"/>
                <a:tab pos="1456230" algn="l"/>
              </a:tabLst>
            </a:pPr>
            <a:r>
              <a:rPr sz="3200" spc="-7" dirty="0">
                <a:latin typeface="Arial"/>
                <a:cs typeface="Arial"/>
              </a:rPr>
              <a:t>may </a:t>
            </a:r>
            <a:r>
              <a:rPr sz="3200" dirty="0">
                <a:latin typeface="Arial"/>
                <a:cs typeface="Arial"/>
              </a:rPr>
              <a:t>use less aggressive design </a:t>
            </a:r>
            <a:r>
              <a:rPr sz="3200" spc="-7" dirty="0">
                <a:latin typeface="Arial"/>
                <a:cs typeface="Arial"/>
              </a:rPr>
              <a:t>styles </a:t>
            </a:r>
            <a:r>
              <a:rPr sz="3200" dirty="0">
                <a:latin typeface="Arial"/>
                <a:cs typeface="Arial"/>
              </a:rPr>
              <a:t>if you can’t reuse  some</a:t>
            </a:r>
            <a:r>
              <a:rPr sz="3200" spc="-7" dirty="0">
                <a:latin typeface="Arial"/>
                <a:cs typeface="Arial"/>
              </a:rPr>
              <a:t> </a:t>
            </a:r>
            <a:r>
              <a:rPr sz="3200" dirty="0">
                <a:latin typeface="Arial"/>
                <a:cs typeface="Arial"/>
              </a:rPr>
              <a:t>pieces.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1" y="523239"/>
            <a:ext cx="8851900" cy="632651"/>
          </a:xfrm>
          <a:prstGeom prst="rect">
            <a:avLst/>
          </a:prstGeom>
        </p:spPr>
        <p:txBody>
          <a:bodyPr vert="horz" wrap="square" lIns="0" tIns="16933" rIns="0" bIns="0" rtlCol="0">
            <a:spAutoFit/>
          </a:bodyPr>
          <a:lstStyle/>
          <a:p>
            <a:pPr marL="0" marR="0" lvl="0" indent="0" algn="l" defTabSz="914400" rtl="0" eaLnBrk="1" fontAlgn="auto" latinLnBrk="0" hangingPunct="1">
              <a:lnSpc>
                <a:spcPct val="100000"/>
              </a:lnSpc>
              <a:spcBef>
                <a:spcPts val="133"/>
              </a:spcBef>
              <a:spcAft>
                <a:spcPts val="0"/>
              </a:spcAft>
              <a:buClrTx/>
              <a:buSzTx/>
              <a:buFontTx/>
              <a:buNone/>
              <a:tabLst/>
              <a:defRPr/>
            </a:pPr>
            <a:r>
              <a:rPr kumimoji="0" sz="4000" b="0" i="0" u="none" strike="noStrike" kern="1200" cap="none" spc="-13" normalizeH="0" baseline="0" noProof="0" dirty="0">
                <a:ln>
                  <a:noFill/>
                </a:ln>
                <a:solidFill>
                  <a:srgbClr val="993366"/>
                </a:solidFill>
                <a:effectLst/>
                <a:uLnTx/>
                <a:uFillTx/>
                <a:latin typeface="Arial"/>
                <a:ea typeface="+mn-ea"/>
                <a:cs typeface="Arial"/>
              </a:rPr>
              <a:t>Embedded Systems </a:t>
            </a:r>
            <a:r>
              <a:rPr kumimoji="0" sz="4000" b="0" i="0" u="none" strike="noStrike" kern="1200" cap="none" spc="0" normalizeH="0" baseline="0" noProof="0" dirty="0">
                <a:ln>
                  <a:noFill/>
                </a:ln>
                <a:solidFill>
                  <a:srgbClr val="993366"/>
                </a:solidFill>
                <a:effectLst/>
                <a:uLnTx/>
                <a:uFillTx/>
                <a:latin typeface="Arial"/>
                <a:ea typeface="+mn-ea"/>
                <a:cs typeface="Arial"/>
              </a:rPr>
              <a:t>- Design</a:t>
            </a:r>
            <a:r>
              <a:rPr kumimoji="0" sz="4000" b="0" i="0" u="none" strike="noStrike" kern="1200" cap="none" spc="-27" normalizeH="0" baseline="0" noProof="0" dirty="0">
                <a:ln>
                  <a:noFill/>
                </a:ln>
                <a:solidFill>
                  <a:srgbClr val="993366"/>
                </a:solidFill>
                <a:effectLst/>
                <a:uLnTx/>
                <a:uFillTx/>
                <a:latin typeface="Arial"/>
                <a:ea typeface="+mn-ea"/>
                <a:cs typeface="Arial"/>
              </a:rPr>
              <a:t> </a:t>
            </a:r>
            <a:r>
              <a:rPr kumimoji="0" sz="4000" b="0" i="0" u="none" strike="noStrike" kern="1200" cap="none" spc="-13" normalizeH="0" baseline="0" noProof="0" dirty="0">
                <a:ln>
                  <a:noFill/>
                </a:ln>
                <a:solidFill>
                  <a:srgbClr val="993366"/>
                </a:solidFill>
                <a:effectLst/>
                <a:uLnTx/>
                <a:uFillTx/>
                <a:latin typeface="Arial"/>
                <a:ea typeface="+mn-ea"/>
                <a:cs typeface="Arial"/>
              </a:rPr>
              <a:t>Concepts</a:t>
            </a:r>
            <a:endParaRPr kumimoji="0" sz="4000" b="0" i="0" u="none" strike="noStrike" kern="1200" cap="none" spc="0" normalizeH="0" baseline="0" noProof="0">
              <a:ln>
                <a:noFill/>
              </a:ln>
              <a:solidFill>
                <a:prstClr val="black"/>
              </a:solidFill>
              <a:effectLst/>
              <a:uLnTx/>
              <a:uFillTx/>
              <a:latin typeface="Arial"/>
              <a:ea typeface="+mn-ea"/>
              <a:cs typeface="Arial"/>
            </a:endParaRPr>
          </a:p>
        </p:txBody>
      </p:sp>
      <p:sp>
        <p:nvSpPr>
          <p:cNvPr id="3" name="object 3"/>
          <p:cNvSpPr txBox="1"/>
          <p:nvPr/>
        </p:nvSpPr>
        <p:spPr>
          <a:xfrm>
            <a:off x="694267" y="1568027"/>
            <a:ext cx="204893" cy="427532"/>
          </a:xfrm>
          <a:prstGeom prst="rect">
            <a:avLst/>
          </a:prstGeom>
        </p:spPr>
        <p:txBody>
          <a:bodyPr vert="horz" wrap="square" lIns="0" tIns="16933" rIns="0" bIns="0" rtlCol="0">
            <a:spAutoFit/>
          </a:bodyPr>
          <a:lstStyle/>
          <a:p>
            <a:pPr marL="0" marR="0" lvl="0" indent="0" algn="l" defTabSz="914400" rtl="0" eaLnBrk="1" fontAlgn="auto" latinLnBrk="0" hangingPunct="1">
              <a:lnSpc>
                <a:spcPct val="100000"/>
              </a:lnSpc>
              <a:spcBef>
                <a:spcPts val="133"/>
              </a:spcBef>
              <a:spcAft>
                <a:spcPts val="0"/>
              </a:spcAft>
              <a:buClrTx/>
              <a:buSzTx/>
              <a:buFontTx/>
              <a:buNone/>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a:t>
            </a:r>
            <a:endParaRPr kumimoji="0" sz="2667"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3348484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3" y="1588345"/>
            <a:ext cx="9533467" cy="3546591"/>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Semiconductor </a:t>
            </a:r>
            <a:r>
              <a:rPr kumimoji="0" sz="2667" b="0" i="0" u="none" strike="noStrike" kern="1200" cap="none" spc="0" normalizeH="0" baseline="0" noProof="0" dirty="0">
                <a:ln>
                  <a:noFill/>
                </a:ln>
                <a:solidFill>
                  <a:prstClr val="black"/>
                </a:solidFill>
                <a:effectLst/>
                <a:uLnTx/>
                <a:uFillTx/>
                <a:latin typeface="Arial"/>
                <a:ea typeface="+mn-ea"/>
                <a:cs typeface="Arial"/>
              </a:rPr>
              <a:t>vs. systems</a:t>
            </a:r>
            <a:r>
              <a:rPr kumimoji="0" sz="2667" b="0" i="0" u="none" strike="noStrike" kern="1200" cap="none" spc="-2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house</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Semiconductor house designs </a:t>
            </a:r>
            <a:r>
              <a:rPr kumimoji="0" sz="2667" b="0" i="0" u="none" strike="noStrike" kern="1200" cap="none" spc="-7" normalizeH="0" baseline="0" noProof="0" dirty="0">
                <a:ln>
                  <a:noFill/>
                </a:ln>
                <a:solidFill>
                  <a:prstClr val="black"/>
                </a:solidFill>
                <a:effectLst/>
                <a:uLnTx/>
                <a:uFillTx/>
                <a:latin typeface="Arial"/>
                <a:ea typeface="+mn-ea"/>
                <a:cs typeface="Arial"/>
              </a:rPr>
              <a:t>the</a:t>
            </a:r>
            <a:r>
              <a:rPr kumimoji="0" sz="2667" b="0" i="0" u="none" strike="noStrike" kern="1200" cap="none" spc="-2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platform.</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Systems house </a:t>
            </a:r>
            <a:r>
              <a:rPr kumimoji="0" sz="2667" b="0" i="0" u="none" strike="noStrike" kern="1200" cap="none" spc="-7" normalizeH="0" baseline="0" noProof="0" dirty="0">
                <a:ln>
                  <a:noFill/>
                </a:ln>
                <a:solidFill>
                  <a:prstClr val="black"/>
                </a:solidFill>
                <a:effectLst/>
                <a:uLnTx/>
                <a:uFillTx/>
                <a:latin typeface="Arial"/>
                <a:ea typeface="+mn-ea"/>
                <a:cs typeface="Arial"/>
              </a:rPr>
              <a:t>customizes the platform for its</a:t>
            </a:r>
            <a:r>
              <a:rPr kumimoji="0" sz="2667" b="0" i="0" u="none" strike="noStrike" kern="1200" cap="none" spc="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system:</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1456230" marR="0" lvl="2" indent="-423323" algn="l" defTabSz="914400" rtl="0" eaLnBrk="1" fontAlgn="auto" latinLnBrk="0" hangingPunct="1">
              <a:lnSpc>
                <a:spcPct val="100000"/>
              </a:lnSpc>
              <a:spcBef>
                <a:spcPts val="0"/>
              </a:spcBef>
              <a:spcAft>
                <a:spcPts val="0"/>
              </a:spcAft>
              <a:buClrTx/>
              <a:buSzTx/>
              <a:buFontTx/>
              <a:buChar char="■"/>
              <a:tabLst>
                <a:tab pos="1455384" algn="l"/>
                <a:tab pos="1456230"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customization may be </a:t>
            </a:r>
            <a:r>
              <a:rPr kumimoji="0" sz="2667" b="0" i="0" u="none" strike="noStrike" kern="1200" cap="none" spc="0" normalizeH="0" baseline="0" noProof="0" dirty="0">
                <a:ln>
                  <a:noFill/>
                </a:ln>
                <a:solidFill>
                  <a:prstClr val="black"/>
                </a:solidFill>
                <a:effectLst/>
                <a:uLnTx/>
                <a:uFillTx/>
                <a:latin typeface="Arial"/>
                <a:ea typeface="+mn-ea"/>
                <a:cs typeface="Arial"/>
              </a:rPr>
              <a:t>done in-house </a:t>
            </a:r>
            <a:r>
              <a:rPr kumimoji="0" sz="2667" b="0" i="0" u="none" strike="noStrike" kern="1200" cap="none" spc="-7" normalizeH="0" baseline="0" noProof="0" dirty="0">
                <a:ln>
                  <a:noFill/>
                </a:ln>
                <a:solidFill>
                  <a:prstClr val="black"/>
                </a:solidFill>
                <a:effectLst/>
                <a:uLnTx/>
                <a:uFillTx/>
                <a:latin typeface="Arial"/>
                <a:ea typeface="+mn-ea"/>
                <a:cs typeface="Arial"/>
              </a:rPr>
              <a:t>or </a:t>
            </a:r>
            <a:r>
              <a:rPr kumimoji="0" sz="2667" b="0" i="0" u="none" strike="noStrike" kern="1200" cap="none" spc="0" normalizeH="0" baseline="0" noProof="0" dirty="0">
                <a:ln>
                  <a:noFill/>
                </a:ln>
                <a:solidFill>
                  <a:prstClr val="black"/>
                </a:solidFill>
                <a:effectLst/>
                <a:uLnTx/>
                <a:uFillTx/>
                <a:latin typeface="Arial"/>
                <a:ea typeface="+mn-ea"/>
                <a:cs typeface="Arial"/>
              </a:rPr>
              <a:t>by</a:t>
            </a:r>
            <a:r>
              <a:rPr kumimoji="0" sz="2667" b="0" i="0" u="none" strike="noStrike" kern="1200" cap="none" spc="80" normalizeH="0" baseline="0" noProof="0" dirty="0">
                <a:ln>
                  <a:noFill/>
                </a:ln>
                <a:solidFill>
                  <a:prstClr val="black"/>
                </a:solidFill>
                <a:effectLst/>
                <a:uLnTx/>
                <a:uFillTx/>
                <a:latin typeface="Arial"/>
                <a:ea typeface="+mn-ea"/>
                <a:cs typeface="Arial"/>
              </a:rPr>
              <a:t> </a:t>
            </a:r>
            <a:r>
              <a:rPr kumimoji="0" sz="2667" b="0" i="0" u="none" strike="noStrike" kern="1200" cap="none" spc="-13" normalizeH="0" baseline="0" noProof="0" dirty="0">
                <a:ln>
                  <a:noFill/>
                </a:ln>
                <a:solidFill>
                  <a:prstClr val="black"/>
                </a:solidFill>
                <a:effectLst/>
                <a:uLnTx/>
                <a:uFillTx/>
                <a:latin typeface="Arial"/>
                <a:ea typeface="+mn-ea"/>
                <a:cs typeface="Arial"/>
              </a:rPr>
              <a:t>contractor.</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440256" marR="0" lvl="0" indent="-423323" algn="l" defTabSz="914400" rtl="0" eaLnBrk="1" fontAlgn="auto" latinLnBrk="0" hangingPunct="1">
              <a:lnSpc>
                <a:spcPct val="100000"/>
              </a:lnSpc>
              <a:spcBef>
                <a:spcPts val="0"/>
              </a:spcBef>
              <a:spcAft>
                <a:spcPts val="0"/>
              </a:spcAft>
              <a:buClrTx/>
              <a:buSzTx/>
              <a:buFontTx/>
              <a:buChar char="●"/>
              <a:tabLst>
                <a:tab pos="439409" algn="l"/>
                <a:tab pos="440256"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Requirement</a:t>
            </a:r>
            <a:r>
              <a:rPr kumimoji="0" sz="2667" b="0" i="0" u="none" strike="noStrike" kern="1200" cap="none" spc="-93" normalizeH="0" baseline="0" noProof="0" dirty="0">
                <a:ln>
                  <a:noFill/>
                </a:ln>
                <a:solidFill>
                  <a:prstClr val="black"/>
                </a:solidFill>
                <a:effectLst/>
                <a:uLnTx/>
                <a:uFillTx/>
                <a:latin typeface="Arial"/>
                <a:ea typeface="+mn-ea"/>
                <a:cs typeface="Arial"/>
              </a:rPr>
              <a:t> </a:t>
            </a:r>
            <a:r>
              <a:rPr kumimoji="0" sz="2667" b="0" i="0" u="none" strike="noStrike" kern="1200" cap="none" spc="-13" normalizeH="0" baseline="0" noProof="0" dirty="0">
                <a:ln>
                  <a:noFill/>
                </a:ln>
                <a:solidFill>
                  <a:prstClr val="black"/>
                </a:solidFill>
                <a:effectLst/>
                <a:uLnTx/>
                <a:uFillTx/>
                <a:latin typeface="Arial"/>
                <a:ea typeface="+mn-ea"/>
                <a:cs typeface="Arial"/>
              </a:rPr>
              <a:t>Analysis</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06390" algn="l" defTabSz="914400" rtl="0" eaLnBrk="1" fontAlgn="auto" latinLnBrk="0" hangingPunct="1">
              <a:lnSpc>
                <a:spcPct val="100000"/>
              </a:lnSpc>
              <a:spcBef>
                <a:spcPts val="0"/>
              </a:spcBef>
              <a:spcAft>
                <a:spcPts val="0"/>
              </a:spcAft>
              <a:buClrTx/>
              <a:buSzTx/>
              <a:buFont typeface="Arial"/>
              <a:buChar char="○"/>
              <a:tabLst>
                <a:tab pos="947396" algn="l"/>
                <a:tab pos="948243" algn="l"/>
              </a:tabLst>
              <a:defRPr/>
            </a:pPr>
            <a:r>
              <a:rPr kumimoji="0" sz="2400" b="1" i="0" u="none" strike="noStrike" kern="1200" cap="none" spc="-7" normalizeH="0" baseline="0" noProof="0" dirty="0">
                <a:ln>
                  <a:noFill/>
                </a:ln>
                <a:solidFill>
                  <a:prstClr val="black"/>
                </a:solidFill>
                <a:effectLst/>
                <a:uLnTx/>
                <a:uFillTx/>
                <a:latin typeface="Arial"/>
                <a:ea typeface="+mn-ea"/>
                <a:cs typeface="Arial"/>
              </a:rPr>
              <a:t>Functional</a:t>
            </a:r>
            <a:r>
              <a:rPr kumimoji="0" sz="2400" b="1" i="0" u="none" strike="noStrike" kern="1200" cap="none" spc="-13" normalizeH="0" baseline="0" noProof="0" dirty="0">
                <a:ln>
                  <a:noFill/>
                </a:ln>
                <a:solidFill>
                  <a:prstClr val="black"/>
                </a:solidFill>
                <a:effectLst/>
                <a:uLnTx/>
                <a:uFillTx/>
                <a:latin typeface="Arial"/>
                <a:ea typeface="+mn-ea"/>
                <a:cs typeface="Arial"/>
              </a:rPr>
              <a:t> </a:t>
            </a:r>
            <a:r>
              <a:rPr kumimoji="0" sz="2400" b="1" i="0" u="none" strike="noStrike" kern="1200" cap="none" spc="-7" normalizeH="0" baseline="0" noProof="0" dirty="0">
                <a:ln>
                  <a:noFill/>
                </a:ln>
                <a:solidFill>
                  <a:prstClr val="black"/>
                </a:solidFill>
                <a:effectLst/>
                <a:uLnTx/>
                <a:uFillTx/>
                <a:latin typeface="Arial"/>
                <a:ea typeface="+mn-ea"/>
                <a:cs typeface="Arial"/>
              </a:rPr>
              <a:t>requirements</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1456230" marR="0" lvl="2" indent="-406390" algn="l" defTabSz="914400" rtl="0" eaLnBrk="1" fontAlgn="auto" latinLnBrk="0" hangingPunct="1">
              <a:lnSpc>
                <a:spcPct val="100000"/>
              </a:lnSpc>
              <a:spcBef>
                <a:spcPts val="0"/>
              </a:spcBef>
              <a:spcAft>
                <a:spcPts val="0"/>
              </a:spcAft>
              <a:buClrTx/>
              <a:buSzTx/>
              <a:buFontTx/>
              <a:buChar char="■"/>
              <a:tabLst>
                <a:tab pos="1455384" algn="l"/>
                <a:tab pos="1456230" algn="l"/>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What </a:t>
            </a:r>
            <a:r>
              <a:rPr kumimoji="0" sz="2400" b="0" i="0" u="none" strike="noStrike" kern="1200" cap="none" spc="0" normalizeH="0" baseline="0" noProof="0" dirty="0">
                <a:ln>
                  <a:noFill/>
                </a:ln>
                <a:solidFill>
                  <a:prstClr val="black"/>
                </a:solidFill>
                <a:effectLst/>
                <a:uLnTx/>
                <a:uFillTx/>
                <a:latin typeface="Arial"/>
                <a:ea typeface="+mn-ea"/>
                <a:cs typeface="Arial"/>
              </a:rPr>
              <a:t>the </a:t>
            </a:r>
            <a:r>
              <a:rPr kumimoji="0" sz="2400" b="0" i="0" u="none" strike="noStrike" kern="1200" cap="none" spc="-7" normalizeH="0" baseline="0" noProof="0" dirty="0">
                <a:ln>
                  <a:noFill/>
                </a:ln>
                <a:solidFill>
                  <a:prstClr val="black"/>
                </a:solidFill>
                <a:effectLst/>
                <a:uLnTx/>
                <a:uFillTx/>
                <a:latin typeface="Arial"/>
                <a:ea typeface="+mn-ea"/>
                <a:cs typeface="Arial"/>
              </a:rPr>
              <a:t>system </a:t>
            </a:r>
            <a:r>
              <a:rPr kumimoji="0" sz="2400" b="0" i="0" u="none" strike="noStrike" kern="1200" cap="none" spc="-13" normalizeH="0" baseline="0" noProof="0" dirty="0">
                <a:ln>
                  <a:noFill/>
                </a:ln>
                <a:solidFill>
                  <a:prstClr val="black"/>
                </a:solidFill>
                <a:effectLst/>
                <a:uLnTx/>
                <a:uFillTx/>
                <a:latin typeface="Arial"/>
                <a:ea typeface="+mn-ea"/>
                <a:cs typeface="Arial"/>
              </a:rPr>
              <a:t>should</a:t>
            </a:r>
            <a:r>
              <a:rPr kumimoji="0" sz="2400" b="0" i="0" u="none" strike="noStrike" kern="1200" cap="none" spc="-20"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do</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948243" marR="0" lvl="1" indent="-406390" algn="l" defTabSz="914400" rtl="0" eaLnBrk="1" fontAlgn="auto" latinLnBrk="0" hangingPunct="1">
              <a:lnSpc>
                <a:spcPct val="100000"/>
              </a:lnSpc>
              <a:spcBef>
                <a:spcPts val="0"/>
              </a:spcBef>
              <a:spcAft>
                <a:spcPts val="0"/>
              </a:spcAft>
              <a:buClrTx/>
              <a:buSzTx/>
              <a:buFont typeface="Arial"/>
              <a:buChar char="○"/>
              <a:tabLst>
                <a:tab pos="947396" algn="l"/>
                <a:tab pos="948243" algn="l"/>
              </a:tabLst>
              <a:defRPr/>
            </a:pPr>
            <a:r>
              <a:rPr kumimoji="0" sz="2400" b="1" i="0" u="none" strike="noStrike" kern="1200" cap="none" spc="-7" normalizeH="0" baseline="0" noProof="0" dirty="0">
                <a:ln>
                  <a:noFill/>
                </a:ln>
                <a:solidFill>
                  <a:prstClr val="black"/>
                </a:solidFill>
                <a:effectLst/>
                <a:uLnTx/>
                <a:uFillTx/>
                <a:latin typeface="Arial"/>
                <a:ea typeface="+mn-ea"/>
                <a:cs typeface="Arial"/>
              </a:rPr>
              <a:t>Non </a:t>
            </a:r>
            <a:r>
              <a:rPr kumimoji="0" sz="2400" b="1" i="0" u="none" strike="noStrike" kern="1200" cap="none" spc="0" normalizeH="0" baseline="0" noProof="0" dirty="0">
                <a:ln>
                  <a:noFill/>
                </a:ln>
                <a:solidFill>
                  <a:prstClr val="black"/>
                </a:solidFill>
                <a:effectLst/>
                <a:uLnTx/>
                <a:uFillTx/>
                <a:latin typeface="Arial"/>
                <a:ea typeface="+mn-ea"/>
                <a:cs typeface="Arial"/>
              </a:rPr>
              <a:t>- </a:t>
            </a:r>
            <a:r>
              <a:rPr kumimoji="0" sz="2400" b="1" i="0" u="none" strike="noStrike" kern="1200" cap="none" spc="-7" normalizeH="0" baseline="0" noProof="0" dirty="0">
                <a:ln>
                  <a:noFill/>
                </a:ln>
                <a:solidFill>
                  <a:prstClr val="black"/>
                </a:solidFill>
                <a:effectLst/>
                <a:uLnTx/>
                <a:uFillTx/>
                <a:latin typeface="Arial"/>
                <a:ea typeface="+mn-ea"/>
                <a:cs typeface="Arial"/>
              </a:rPr>
              <a:t>Functional</a:t>
            </a:r>
            <a:r>
              <a:rPr kumimoji="0" sz="2400" b="1" i="0" u="none" strike="noStrike" kern="1200" cap="none" spc="0" normalizeH="0" baseline="0" noProof="0" dirty="0">
                <a:ln>
                  <a:noFill/>
                </a:ln>
                <a:solidFill>
                  <a:prstClr val="black"/>
                </a:solidFill>
                <a:effectLst/>
                <a:uLnTx/>
                <a:uFillTx/>
                <a:latin typeface="Arial"/>
                <a:ea typeface="+mn-ea"/>
                <a:cs typeface="Arial"/>
              </a:rPr>
              <a:t> </a:t>
            </a:r>
            <a:r>
              <a:rPr kumimoji="0" sz="2400" b="1" i="0" u="none" strike="noStrike" kern="1200" cap="none" spc="-7" normalizeH="0" baseline="0" noProof="0" dirty="0">
                <a:ln>
                  <a:noFill/>
                </a:ln>
                <a:solidFill>
                  <a:prstClr val="black"/>
                </a:solidFill>
                <a:effectLst/>
                <a:uLnTx/>
                <a:uFillTx/>
                <a:latin typeface="Arial"/>
                <a:ea typeface="+mn-ea"/>
                <a:cs typeface="Arial"/>
              </a:rPr>
              <a:t>Requirements</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1456230" marR="0" lvl="2" indent="-406390" algn="l" defTabSz="914400" rtl="0" eaLnBrk="1" fontAlgn="auto" latinLnBrk="0" hangingPunct="1">
              <a:lnSpc>
                <a:spcPct val="100000"/>
              </a:lnSpc>
              <a:spcBef>
                <a:spcPts val="0"/>
              </a:spcBef>
              <a:spcAft>
                <a:spcPts val="0"/>
              </a:spcAft>
              <a:buClrTx/>
              <a:buSzTx/>
              <a:buFontTx/>
              <a:buChar char="■"/>
              <a:tabLst>
                <a:tab pos="1455384" algn="l"/>
                <a:tab pos="1456230" algn="l"/>
              </a:tabLst>
              <a:defRPr/>
            </a:pPr>
            <a:r>
              <a:rPr kumimoji="0" sz="2400" b="0" i="0" u="none" strike="noStrike" kern="1200" cap="none" spc="-13" normalizeH="0" baseline="0" noProof="0" dirty="0">
                <a:ln>
                  <a:noFill/>
                </a:ln>
                <a:solidFill>
                  <a:prstClr val="black"/>
                </a:solidFill>
                <a:effectLst/>
                <a:uLnTx/>
                <a:uFillTx/>
                <a:latin typeface="Arial"/>
                <a:ea typeface="+mn-ea"/>
                <a:cs typeface="Arial"/>
              </a:rPr>
              <a:t>How </a:t>
            </a:r>
            <a:r>
              <a:rPr kumimoji="0" sz="2400" b="0" i="0" u="none" strike="noStrike" kern="1200" cap="none" spc="-7" normalizeH="0" baseline="0" noProof="0" dirty="0">
                <a:ln>
                  <a:noFill/>
                </a:ln>
                <a:solidFill>
                  <a:prstClr val="black"/>
                </a:solidFill>
                <a:effectLst/>
                <a:uLnTx/>
                <a:uFillTx/>
                <a:latin typeface="Arial"/>
                <a:ea typeface="+mn-ea"/>
                <a:cs typeface="Arial"/>
              </a:rPr>
              <a:t>the system</a:t>
            </a:r>
            <a:r>
              <a:rPr kumimoji="0" sz="2400" b="0" i="0" u="none" strike="noStrike" kern="1200" cap="none" spc="7" normalizeH="0" baseline="0" noProof="0" dirty="0">
                <a:ln>
                  <a:noFill/>
                </a:ln>
                <a:solidFill>
                  <a:prstClr val="black"/>
                </a:solidFill>
                <a:effectLst/>
                <a:uLnTx/>
                <a:uFillTx/>
                <a:latin typeface="Arial"/>
                <a:ea typeface="+mn-ea"/>
                <a:cs typeface="Arial"/>
              </a:rPr>
              <a:t> </a:t>
            </a:r>
            <a:r>
              <a:rPr kumimoji="0" sz="2400" b="0" i="0" u="none" strike="noStrike" kern="1200" cap="none" spc="-13" normalizeH="0" baseline="0" noProof="0" dirty="0">
                <a:ln>
                  <a:noFill/>
                </a:ln>
                <a:solidFill>
                  <a:prstClr val="black"/>
                </a:solidFill>
                <a:effectLst/>
                <a:uLnTx/>
                <a:uFillTx/>
                <a:latin typeface="Arial"/>
                <a:ea typeface="+mn-ea"/>
                <a:cs typeface="Arial"/>
              </a:rPr>
              <a:t>works</a:t>
            </a:r>
            <a:endParaRPr kumimoji="0" sz="2400" b="0" i="0" u="none" strike="noStrike" kern="1200" cap="none" spc="0" normalizeH="0" baseline="0" noProof="0">
              <a:ln>
                <a:noFill/>
              </a:ln>
              <a:solidFill>
                <a:prstClr val="black"/>
              </a:solidFill>
              <a:effectLst/>
              <a:uLnTx/>
              <a:uFillTx/>
              <a:latin typeface="Arial"/>
              <a:ea typeface="+mn-ea"/>
              <a:cs typeface="Arial"/>
            </a:endParaRPr>
          </a:p>
        </p:txBody>
      </p:sp>
      <p:sp>
        <p:nvSpPr>
          <p:cNvPr id="4" name="object 4"/>
          <p:cNvSpPr txBox="1"/>
          <p:nvPr/>
        </p:nvSpPr>
        <p:spPr>
          <a:xfrm>
            <a:off x="2269067" y="5669280"/>
            <a:ext cx="211667" cy="263320"/>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1600" b="0" i="0" u="none" strike="noStrike" kern="1200" cap="none" spc="0" normalizeH="0" baseline="0" noProof="0" dirty="0">
                <a:ln>
                  <a:noFill/>
                </a:ln>
                <a:solidFill>
                  <a:srgbClr val="444444"/>
                </a:solidFill>
                <a:effectLst/>
                <a:uLnTx/>
                <a:uFillTx/>
                <a:latin typeface="DejaVu Sans"/>
                <a:ea typeface="+mn-ea"/>
                <a:cs typeface="DejaVu Sans"/>
              </a:rPr>
              <a:t>●</a:t>
            </a:r>
            <a:endParaRPr kumimoji="0" sz="1600" b="0" i="0" u="none" strike="noStrike" kern="1200" cap="none" spc="0" normalizeH="0" baseline="0" noProof="0">
              <a:ln>
                <a:noFill/>
              </a:ln>
              <a:solidFill>
                <a:prstClr val="black"/>
              </a:solidFill>
              <a:effectLst/>
              <a:uLnTx/>
              <a:uFillTx/>
              <a:latin typeface="DejaVu Sans"/>
              <a:ea typeface="+mn-ea"/>
              <a:cs typeface="DejaVu Sans"/>
            </a:endParaRPr>
          </a:p>
        </p:txBody>
      </p:sp>
      <p:sp>
        <p:nvSpPr>
          <p:cNvPr id="5" name="object 5"/>
          <p:cNvSpPr txBox="1"/>
          <p:nvPr/>
        </p:nvSpPr>
        <p:spPr>
          <a:xfrm>
            <a:off x="2269067" y="6228080"/>
            <a:ext cx="211667" cy="263320"/>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1600" b="0" i="0" u="none" strike="noStrike" kern="1200" cap="none" spc="0" normalizeH="0" baseline="0" noProof="0" dirty="0">
                <a:ln>
                  <a:noFill/>
                </a:ln>
                <a:solidFill>
                  <a:srgbClr val="444444"/>
                </a:solidFill>
                <a:effectLst/>
                <a:uLnTx/>
                <a:uFillTx/>
                <a:latin typeface="DejaVu Sans"/>
                <a:ea typeface="+mn-ea"/>
                <a:cs typeface="DejaVu Sans"/>
              </a:rPr>
              <a:t>●</a:t>
            </a:r>
            <a:endParaRPr kumimoji="0" sz="1600" b="0" i="0" u="none" strike="noStrike" kern="1200" cap="none" spc="0" normalizeH="0" baseline="0" noProof="0">
              <a:ln>
                <a:noFill/>
              </a:ln>
              <a:solidFill>
                <a:prstClr val="black"/>
              </a:solidFill>
              <a:effectLst/>
              <a:uLnTx/>
              <a:uFillTx/>
              <a:latin typeface="DejaVu Sans"/>
              <a:ea typeface="+mn-ea"/>
              <a:cs typeface="DejaVu Sans"/>
            </a:endParaRPr>
          </a:p>
        </p:txBody>
      </p:sp>
      <p:sp>
        <p:nvSpPr>
          <p:cNvPr id="6" name="object 6"/>
          <p:cNvSpPr txBox="1"/>
          <p:nvPr/>
        </p:nvSpPr>
        <p:spPr>
          <a:xfrm>
            <a:off x="2269067" y="5085079"/>
            <a:ext cx="8282093" cy="1687812"/>
          </a:xfrm>
          <a:prstGeom prst="rect">
            <a:avLst/>
          </a:prstGeom>
        </p:spPr>
        <p:txBody>
          <a:bodyPr vert="horz" wrap="square" lIns="0" tIns="16933" rIns="0" bIns="0" rtlCol="0">
            <a:spAutoFit/>
          </a:bodyPr>
          <a:lstStyle/>
          <a:p>
            <a:pPr marL="372524" marR="413163" lvl="0" indent="-355591" algn="l" defTabSz="914400" rtl="0" eaLnBrk="1" fontAlgn="auto" latinLnBrk="0" hangingPunct="1">
              <a:lnSpc>
                <a:spcPct val="114599"/>
              </a:lnSpc>
              <a:spcBef>
                <a:spcPts val="133"/>
              </a:spcBef>
              <a:spcAft>
                <a:spcPts val="0"/>
              </a:spcAft>
              <a:buClrTx/>
              <a:buSzTx/>
              <a:buFontTx/>
              <a:buChar char="●"/>
              <a:tabLst>
                <a:tab pos="371677" algn="l"/>
                <a:tab pos="372524" algn="l"/>
              </a:tabLst>
              <a:defRPr/>
            </a:pPr>
            <a:r>
              <a:rPr kumimoji="0" sz="1600" b="0" i="0" u="none" strike="noStrike" kern="1200" cap="none" spc="-20" normalizeH="0" baseline="0" noProof="0" dirty="0">
                <a:ln>
                  <a:noFill/>
                </a:ln>
                <a:solidFill>
                  <a:srgbClr val="444444"/>
                </a:solidFill>
                <a:effectLst/>
                <a:uLnTx/>
                <a:uFillTx/>
                <a:latin typeface="DejaVu Sans"/>
                <a:ea typeface="+mn-ea"/>
                <a:cs typeface="DejaVu Sans"/>
              </a:rPr>
              <a:t>Performance </a:t>
            </a:r>
            <a:r>
              <a:rPr kumimoji="0" sz="1600" b="0" i="0" u="none" strike="noStrike" kern="1200" cap="none" spc="0" normalizeH="0" baseline="0" noProof="0" dirty="0">
                <a:ln>
                  <a:noFill/>
                </a:ln>
                <a:solidFill>
                  <a:srgbClr val="444444"/>
                </a:solidFill>
                <a:effectLst/>
                <a:uLnTx/>
                <a:uFillTx/>
                <a:latin typeface="DejaVu Sans"/>
                <a:ea typeface="+mn-ea"/>
                <a:cs typeface="DejaVu Sans"/>
              </a:rPr>
              <a:t>– </a:t>
            </a:r>
            <a:r>
              <a:rPr kumimoji="0" sz="1600" b="0" i="0" u="none" strike="noStrike" kern="1200" cap="none" spc="-7" normalizeH="0" baseline="0" noProof="0" dirty="0">
                <a:ln>
                  <a:noFill/>
                </a:ln>
                <a:solidFill>
                  <a:srgbClr val="444444"/>
                </a:solidFill>
                <a:effectLst/>
                <a:uLnTx/>
                <a:uFillTx/>
                <a:latin typeface="DejaVu Sans"/>
                <a:ea typeface="+mn-ea"/>
                <a:cs typeface="DejaVu Sans"/>
              </a:rPr>
              <a:t>for </a:t>
            </a:r>
            <a:r>
              <a:rPr kumimoji="0" sz="1600" b="0" i="0" u="none" strike="noStrike" kern="1200" cap="none" spc="-13" normalizeH="0" baseline="0" noProof="0" dirty="0">
                <a:ln>
                  <a:noFill/>
                </a:ln>
                <a:solidFill>
                  <a:srgbClr val="444444"/>
                </a:solidFill>
                <a:effectLst/>
                <a:uLnTx/>
                <a:uFillTx/>
                <a:latin typeface="DejaVu Sans"/>
                <a:ea typeface="+mn-ea"/>
                <a:cs typeface="DejaVu Sans"/>
              </a:rPr>
              <a:t>example </a:t>
            </a:r>
            <a:r>
              <a:rPr kumimoji="0" sz="1600" b="0" i="0" u="none" strike="noStrike" kern="1200" cap="none" spc="-20" normalizeH="0" baseline="0" noProof="0" dirty="0">
                <a:ln>
                  <a:noFill/>
                </a:ln>
                <a:solidFill>
                  <a:srgbClr val="444444"/>
                </a:solidFill>
                <a:effectLst/>
                <a:uLnTx/>
                <a:uFillTx/>
                <a:latin typeface="DejaVu Sans"/>
                <a:ea typeface="+mn-ea"/>
                <a:cs typeface="DejaVu Sans"/>
              </a:rPr>
              <a:t>Response Time, </a:t>
            </a:r>
            <a:r>
              <a:rPr kumimoji="0" sz="1600" b="0" i="0" u="none" strike="noStrike" kern="1200" cap="none" spc="-13" normalizeH="0" baseline="0" noProof="0" dirty="0">
                <a:ln>
                  <a:noFill/>
                </a:ln>
                <a:solidFill>
                  <a:srgbClr val="444444"/>
                </a:solidFill>
                <a:effectLst/>
                <a:uLnTx/>
                <a:uFillTx/>
                <a:latin typeface="DejaVu Sans"/>
                <a:ea typeface="+mn-ea"/>
                <a:cs typeface="DejaVu Sans"/>
              </a:rPr>
              <a:t>Throughput, </a:t>
            </a:r>
            <a:r>
              <a:rPr kumimoji="0" sz="1600" b="0" i="0" u="none" strike="noStrike" kern="1200" cap="none" spc="-7" normalizeH="0" baseline="0" noProof="0" dirty="0">
                <a:ln>
                  <a:noFill/>
                </a:ln>
                <a:solidFill>
                  <a:srgbClr val="444444"/>
                </a:solidFill>
                <a:effectLst/>
                <a:uLnTx/>
                <a:uFillTx/>
                <a:latin typeface="DejaVu Sans"/>
                <a:ea typeface="+mn-ea"/>
                <a:cs typeface="DejaVu Sans"/>
              </a:rPr>
              <a:t>Utilization, Static  </a:t>
            </a:r>
            <a:r>
              <a:rPr kumimoji="0" sz="1600" b="0" i="0" u="none" strike="noStrike" kern="1200" cap="none" spc="-20" normalizeH="0" baseline="0" noProof="0" dirty="0">
                <a:ln>
                  <a:noFill/>
                </a:ln>
                <a:solidFill>
                  <a:srgbClr val="444444"/>
                </a:solidFill>
                <a:effectLst/>
                <a:uLnTx/>
                <a:uFillTx/>
                <a:latin typeface="DejaVu Sans"/>
                <a:ea typeface="+mn-ea"/>
                <a:cs typeface="DejaVu Sans"/>
              </a:rPr>
              <a:t>Volumetric</a:t>
            </a:r>
            <a:endParaRPr kumimoji="0" sz="1600" b="0" i="0" u="none" strike="noStrike" kern="1200" cap="none" spc="0" normalizeH="0" baseline="0" noProof="0">
              <a:ln>
                <a:noFill/>
              </a:ln>
              <a:solidFill>
                <a:prstClr val="black"/>
              </a:solidFill>
              <a:effectLst/>
              <a:uLnTx/>
              <a:uFillTx/>
              <a:latin typeface="DejaVu Sans"/>
              <a:ea typeface="+mn-ea"/>
              <a:cs typeface="DejaVu Sans"/>
            </a:endParaRPr>
          </a:p>
          <a:p>
            <a:pPr marL="372524" marR="227748" lvl="0" indent="0" algn="l" defTabSz="914400" rtl="0" eaLnBrk="1" fontAlgn="auto" latinLnBrk="0" hangingPunct="1">
              <a:lnSpc>
                <a:spcPct val="114599"/>
              </a:lnSpc>
              <a:spcBef>
                <a:spcPts val="0"/>
              </a:spcBef>
              <a:spcAft>
                <a:spcPts val="0"/>
              </a:spcAft>
              <a:buClrTx/>
              <a:buSzTx/>
              <a:buFontTx/>
              <a:buNone/>
              <a:tabLst/>
              <a:defRPr/>
            </a:pPr>
            <a:r>
              <a:rPr kumimoji="0" sz="1600" b="0" i="0" u="none" strike="noStrike" kern="1200" cap="none" spc="-7" normalizeH="0" baseline="0" noProof="0" dirty="0">
                <a:ln>
                  <a:noFill/>
                </a:ln>
                <a:solidFill>
                  <a:srgbClr val="444444"/>
                </a:solidFill>
                <a:effectLst/>
                <a:uLnTx/>
                <a:uFillTx/>
                <a:latin typeface="DejaVu Sans"/>
                <a:ea typeface="+mn-ea"/>
                <a:cs typeface="DejaVu Sans"/>
              </a:rPr>
              <a:t>Scalability, Capacity, </a:t>
            </a:r>
            <a:r>
              <a:rPr kumimoji="0" sz="1600" b="0" i="0" u="none" strike="noStrike" kern="1200" cap="none" spc="-13" normalizeH="0" baseline="0" noProof="0" dirty="0">
                <a:ln>
                  <a:noFill/>
                </a:ln>
                <a:solidFill>
                  <a:srgbClr val="444444"/>
                </a:solidFill>
                <a:effectLst/>
                <a:uLnTx/>
                <a:uFillTx/>
                <a:latin typeface="DejaVu Sans"/>
                <a:ea typeface="+mn-ea"/>
                <a:cs typeface="DejaVu Sans"/>
              </a:rPr>
              <a:t>Availability, Reliability, Recoverability, </a:t>
            </a:r>
            <a:r>
              <a:rPr kumimoji="0" sz="1600" b="0" i="0" u="none" strike="noStrike" kern="1200" cap="none" spc="-7" normalizeH="0" baseline="0" noProof="0" dirty="0">
                <a:ln>
                  <a:noFill/>
                </a:ln>
                <a:solidFill>
                  <a:srgbClr val="444444"/>
                </a:solidFill>
                <a:effectLst/>
                <a:uLnTx/>
                <a:uFillTx/>
                <a:latin typeface="DejaVu Sans"/>
                <a:ea typeface="+mn-ea"/>
                <a:cs typeface="DejaVu Sans"/>
              </a:rPr>
              <a:t>Maintainability,  Serviceability,</a:t>
            </a:r>
            <a:endParaRPr kumimoji="0" sz="1600" b="0" i="0" u="none" strike="noStrike" kern="1200" cap="none" spc="0" normalizeH="0" baseline="0" noProof="0">
              <a:ln>
                <a:noFill/>
              </a:ln>
              <a:solidFill>
                <a:prstClr val="black"/>
              </a:solidFill>
              <a:effectLst/>
              <a:uLnTx/>
              <a:uFillTx/>
              <a:latin typeface="DejaVu Sans"/>
              <a:ea typeface="+mn-ea"/>
              <a:cs typeface="DejaVu Sans"/>
            </a:endParaRPr>
          </a:p>
          <a:p>
            <a:pPr marL="372524" marR="6773" lvl="0" indent="0" algn="l" defTabSz="914400" rtl="0" eaLnBrk="1" fontAlgn="auto" latinLnBrk="0" hangingPunct="1">
              <a:lnSpc>
                <a:spcPct val="114599"/>
              </a:lnSpc>
              <a:spcBef>
                <a:spcPts val="13"/>
              </a:spcBef>
              <a:spcAft>
                <a:spcPts val="0"/>
              </a:spcAft>
              <a:buClrTx/>
              <a:buSzTx/>
              <a:buFontTx/>
              <a:buNone/>
              <a:tabLst/>
              <a:defRPr/>
            </a:pPr>
            <a:r>
              <a:rPr kumimoji="0" sz="1600" b="0" i="0" u="none" strike="noStrike" kern="1200" cap="none" spc="-7" normalizeH="0" baseline="0" noProof="0" dirty="0">
                <a:ln>
                  <a:noFill/>
                </a:ln>
                <a:solidFill>
                  <a:srgbClr val="444444"/>
                </a:solidFill>
                <a:effectLst/>
                <a:uLnTx/>
                <a:uFillTx/>
                <a:latin typeface="DejaVu Sans"/>
                <a:ea typeface="+mn-ea"/>
                <a:cs typeface="DejaVu Sans"/>
              </a:rPr>
              <a:t>Security, </a:t>
            </a:r>
            <a:r>
              <a:rPr kumimoji="0" sz="1600" b="0" i="0" u="none" strike="noStrike" kern="1200" cap="none" spc="-13" normalizeH="0" baseline="0" noProof="0" dirty="0">
                <a:ln>
                  <a:noFill/>
                </a:ln>
                <a:solidFill>
                  <a:srgbClr val="444444"/>
                </a:solidFill>
                <a:effectLst/>
                <a:uLnTx/>
                <a:uFillTx/>
                <a:latin typeface="DejaVu Sans"/>
                <a:ea typeface="+mn-ea"/>
                <a:cs typeface="DejaVu Sans"/>
              </a:rPr>
              <a:t>Regulatory, </a:t>
            </a:r>
            <a:r>
              <a:rPr kumimoji="0" sz="1600" b="0" i="0" u="none" strike="noStrike" kern="1200" cap="none" spc="-7" normalizeH="0" baseline="0" noProof="0" dirty="0">
                <a:ln>
                  <a:noFill/>
                </a:ln>
                <a:solidFill>
                  <a:srgbClr val="444444"/>
                </a:solidFill>
                <a:effectLst/>
                <a:uLnTx/>
                <a:uFillTx/>
                <a:latin typeface="DejaVu Sans"/>
                <a:ea typeface="+mn-ea"/>
                <a:cs typeface="DejaVu Sans"/>
              </a:rPr>
              <a:t>Manageability, </a:t>
            </a:r>
            <a:r>
              <a:rPr kumimoji="0" sz="1600" b="0" i="0" u="none" strike="noStrike" kern="1200" cap="none" spc="-13" normalizeH="0" baseline="0" noProof="0" dirty="0">
                <a:ln>
                  <a:noFill/>
                </a:ln>
                <a:solidFill>
                  <a:srgbClr val="444444"/>
                </a:solidFill>
                <a:effectLst/>
                <a:uLnTx/>
                <a:uFillTx/>
                <a:latin typeface="DejaVu Sans"/>
                <a:ea typeface="+mn-ea"/>
                <a:cs typeface="DejaVu Sans"/>
              </a:rPr>
              <a:t>Environmental, </a:t>
            </a:r>
            <a:r>
              <a:rPr kumimoji="0" sz="1600" b="0" i="0" u="none" strike="noStrike" kern="1200" cap="none" spc="-7" normalizeH="0" baseline="0" noProof="0" dirty="0">
                <a:ln>
                  <a:noFill/>
                </a:ln>
                <a:solidFill>
                  <a:srgbClr val="444444"/>
                </a:solidFill>
                <a:effectLst/>
                <a:uLnTx/>
                <a:uFillTx/>
                <a:latin typeface="DejaVu Sans"/>
                <a:ea typeface="+mn-ea"/>
                <a:cs typeface="DejaVu Sans"/>
              </a:rPr>
              <a:t>Data Integrity, Usability,  </a:t>
            </a:r>
            <a:r>
              <a:rPr kumimoji="0" sz="1600" b="0" i="0" u="none" strike="noStrike" kern="1200" cap="none" spc="-13" normalizeH="0" baseline="0" noProof="0" dirty="0">
                <a:ln>
                  <a:noFill/>
                </a:ln>
                <a:solidFill>
                  <a:srgbClr val="444444"/>
                </a:solidFill>
                <a:effectLst/>
                <a:uLnTx/>
                <a:uFillTx/>
                <a:latin typeface="DejaVu Sans"/>
                <a:ea typeface="+mn-ea"/>
                <a:cs typeface="DejaVu Sans"/>
              </a:rPr>
              <a:t>Interoperability</a:t>
            </a:r>
            <a:endParaRPr kumimoji="0" sz="1600" b="0" i="0" u="none" strike="noStrike" kern="1200" cap="none" spc="0" normalizeH="0" baseline="0" noProof="0">
              <a:ln>
                <a:noFill/>
              </a:ln>
              <a:solidFill>
                <a:prstClr val="black"/>
              </a:solidFill>
              <a:effectLst/>
              <a:uLnTx/>
              <a:uFillTx/>
              <a:latin typeface="DejaVu Sans"/>
              <a:ea typeface="+mn-ea"/>
              <a:cs typeface="DejaVu Sans"/>
            </a:endParaRPr>
          </a:p>
        </p:txBody>
      </p:sp>
    </p:spTree>
    <p:extLst>
      <p:ext uri="{BB962C8B-B14F-4D97-AF65-F5344CB8AC3E}">
        <p14:creationId xmlns:p14="http://schemas.microsoft.com/office/powerpoint/2010/main" val="550149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3" y="1588345"/>
            <a:ext cx="9194800" cy="4942293"/>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 </a:t>
            </a:r>
            <a:r>
              <a:rPr kumimoji="0" sz="2667" b="0" i="0" u="none" strike="noStrike" kern="1200" cap="none" spc="0" normalizeH="0" baseline="0" noProof="0" dirty="0">
                <a:ln>
                  <a:noFill/>
                </a:ln>
                <a:solidFill>
                  <a:prstClr val="black"/>
                </a:solidFill>
                <a:effectLst/>
                <a:uLnTx/>
                <a:uFillTx/>
                <a:latin typeface="Arial"/>
                <a:ea typeface="+mn-ea"/>
                <a:cs typeface="Arial"/>
              </a:rPr>
              <a:t>design</a:t>
            </a:r>
            <a:r>
              <a:rPr kumimoji="0" sz="2667" b="0" i="0" u="none" strike="noStrike" kern="1200" cap="none" spc="-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challenges</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Does </a:t>
            </a:r>
            <a:r>
              <a:rPr kumimoji="0" sz="2667" b="0" i="0" u="none" strike="noStrike" kern="1200" cap="none" spc="-7" normalizeH="0" baseline="0" noProof="0" dirty="0">
                <a:ln>
                  <a:noFill/>
                </a:ln>
                <a:solidFill>
                  <a:prstClr val="black"/>
                </a:solidFill>
                <a:effectLst/>
                <a:uLnTx/>
                <a:uFillTx/>
                <a:latin typeface="Arial"/>
                <a:ea typeface="+mn-ea"/>
                <a:cs typeface="Arial"/>
              </a:rPr>
              <a:t>it satisfy the application’s </a:t>
            </a:r>
            <a:r>
              <a:rPr kumimoji="0" sz="2667" b="0" i="0" u="none" strike="noStrike" kern="1200" cap="none" spc="0" normalizeH="0" baseline="0" noProof="0" dirty="0">
                <a:ln>
                  <a:noFill/>
                </a:ln>
                <a:solidFill>
                  <a:prstClr val="black"/>
                </a:solidFill>
                <a:effectLst/>
                <a:uLnTx/>
                <a:uFillTx/>
                <a:latin typeface="Arial"/>
                <a:ea typeface="+mn-ea"/>
                <a:cs typeface="Arial"/>
              </a:rPr>
              <a:t>basic</a:t>
            </a:r>
            <a:r>
              <a:rPr kumimoji="0" sz="2667" b="0" i="0" u="none" strike="noStrike" kern="1200" cap="none" spc="-40"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requirements?</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Is </a:t>
            </a:r>
            <a:r>
              <a:rPr kumimoji="0" sz="2667" b="0" i="0" u="none" strike="noStrike" kern="1200" cap="none" spc="0" normalizeH="0" baseline="0" noProof="0" dirty="0">
                <a:ln>
                  <a:noFill/>
                </a:ln>
                <a:solidFill>
                  <a:prstClr val="black"/>
                </a:solidFill>
                <a:effectLst/>
                <a:uLnTx/>
                <a:uFillTx/>
                <a:latin typeface="Arial"/>
                <a:ea typeface="+mn-ea"/>
                <a:cs typeface="Arial"/>
              </a:rPr>
              <a:t>it </a:t>
            </a:r>
            <a:r>
              <a:rPr kumimoji="0" sz="2667" b="0" i="0" u="none" strike="noStrike" kern="1200" cap="none" spc="-13" normalizeH="0" baseline="0" noProof="0" dirty="0">
                <a:ln>
                  <a:noFill/>
                </a:ln>
                <a:solidFill>
                  <a:prstClr val="black"/>
                </a:solidFill>
                <a:effectLst/>
                <a:uLnTx/>
                <a:uFillTx/>
                <a:latin typeface="Arial"/>
                <a:ea typeface="+mn-ea"/>
                <a:cs typeface="Arial"/>
              </a:rPr>
              <a:t>sufficiently </a:t>
            </a:r>
            <a:r>
              <a:rPr kumimoji="0" sz="2667" b="0" i="0" u="none" strike="noStrike" kern="1200" cap="none" spc="0" normalizeH="0" baseline="0" noProof="0" dirty="0">
                <a:ln>
                  <a:noFill/>
                </a:ln>
                <a:solidFill>
                  <a:prstClr val="black"/>
                </a:solidFill>
                <a:effectLst/>
                <a:uLnTx/>
                <a:uFillTx/>
                <a:latin typeface="Arial"/>
                <a:ea typeface="+mn-ea"/>
                <a:cs typeface="Arial"/>
              </a:rPr>
              <a:t>customizable? </a:t>
            </a:r>
            <a:r>
              <a:rPr kumimoji="0" sz="2667" b="0" i="0" u="none" strike="noStrike" kern="1200" cap="none" spc="-33" normalizeH="0" baseline="0" noProof="0" dirty="0">
                <a:ln>
                  <a:noFill/>
                </a:ln>
                <a:solidFill>
                  <a:prstClr val="black"/>
                </a:solidFill>
                <a:effectLst/>
                <a:uLnTx/>
                <a:uFillTx/>
                <a:latin typeface="Arial"/>
                <a:ea typeface="+mn-ea"/>
                <a:cs typeface="Arial"/>
              </a:rPr>
              <a:t>And </a:t>
            </a:r>
            <a:r>
              <a:rPr kumimoji="0" sz="2667" b="0" i="0" u="none" strike="noStrike" kern="1200" cap="none" spc="-7" normalizeH="0" baseline="0" noProof="0" dirty="0">
                <a:ln>
                  <a:noFill/>
                </a:ln>
                <a:solidFill>
                  <a:prstClr val="black"/>
                </a:solidFill>
                <a:effectLst/>
                <a:uLnTx/>
                <a:uFillTx/>
                <a:latin typeface="Arial"/>
                <a:ea typeface="+mn-ea"/>
                <a:cs typeface="Arial"/>
              </a:rPr>
              <a:t>in the </a:t>
            </a:r>
            <a:r>
              <a:rPr kumimoji="0" sz="2667" b="0" i="0" u="none" strike="noStrike" kern="1200" cap="none" spc="0" normalizeH="0" baseline="0" noProof="0" dirty="0">
                <a:ln>
                  <a:noFill/>
                </a:ln>
                <a:solidFill>
                  <a:prstClr val="black"/>
                </a:solidFill>
                <a:effectLst/>
                <a:uLnTx/>
                <a:uFillTx/>
                <a:latin typeface="Arial"/>
                <a:ea typeface="+mn-ea"/>
                <a:cs typeface="Arial"/>
              </a:rPr>
              <a:t>right</a:t>
            </a:r>
            <a:r>
              <a:rPr kumimoji="0" sz="2667" b="0" i="0" u="none" strike="noStrike" kern="1200" cap="none" spc="-6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ways?</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Is </a:t>
            </a:r>
            <a:r>
              <a:rPr kumimoji="0" sz="2667" b="0" i="0" u="none" strike="noStrike" kern="1200" cap="none" spc="0" normalizeH="0" baseline="0" noProof="0" dirty="0">
                <a:ln>
                  <a:noFill/>
                </a:ln>
                <a:solidFill>
                  <a:prstClr val="black"/>
                </a:solidFill>
                <a:effectLst/>
                <a:uLnTx/>
                <a:uFillTx/>
                <a:latin typeface="Arial"/>
                <a:ea typeface="+mn-ea"/>
                <a:cs typeface="Arial"/>
              </a:rPr>
              <a:t>it</a:t>
            </a:r>
            <a:r>
              <a:rPr kumimoji="0" sz="2667" b="0" i="0" u="none" strike="noStrike" kern="1200" cap="none" spc="-2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cost-effective?</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How long </a:t>
            </a:r>
            <a:r>
              <a:rPr kumimoji="0" sz="2667" b="0" i="0" u="none" strike="noStrike" kern="1200" cap="none" spc="-7" normalizeH="0" baseline="0" noProof="0" dirty="0">
                <a:ln>
                  <a:noFill/>
                </a:ln>
                <a:solidFill>
                  <a:prstClr val="black"/>
                </a:solidFill>
                <a:effectLst/>
                <a:uLnTx/>
                <a:uFillTx/>
                <a:latin typeface="Arial"/>
                <a:ea typeface="+mn-ea"/>
                <a:cs typeface="Arial"/>
              </a:rPr>
              <a:t>does it </a:t>
            </a:r>
            <a:r>
              <a:rPr kumimoji="0" sz="2667" b="0" i="0" u="none" strike="noStrike" kern="1200" cap="none" spc="0" normalizeH="0" baseline="0" noProof="0" dirty="0">
                <a:ln>
                  <a:noFill/>
                </a:ln>
                <a:solidFill>
                  <a:prstClr val="black"/>
                </a:solidFill>
                <a:effectLst/>
                <a:uLnTx/>
                <a:uFillTx/>
                <a:latin typeface="Arial"/>
                <a:ea typeface="+mn-ea"/>
                <a:cs typeface="Arial"/>
              </a:rPr>
              <a:t>take </a:t>
            </a:r>
            <a:r>
              <a:rPr kumimoji="0" sz="2667" b="0" i="0" u="none" strike="noStrike" kern="1200" cap="none" spc="-7" normalizeH="0" baseline="0" noProof="0" dirty="0">
                <a:ln>
                  <a:noFill/>
                </a:ln>
                <a:solidFill>
                  <a:prstClr val="black"/>
                </a:solidFill>
                <a:effectLst/>
                <a:uLnTx/>
                <a:uFillTx/>
                <a:latin typeface="Arial"/>
                <a:ea typeface="+mn-ea"/>
                <a:cs typeface="Arial"/>
              </a:rPr>
              <a:t>to turn </a:t>
            </a:r>
            <a:r>
              <a:rPr kumimoji="0" sz="2667" b="0" i="0" u="none" strike="noStrike" kern="1200" cap="none" spc="0" normalizeH="0" baseline="0" noProof="0" dirty="0">
                <a:ln>
                  <a:noFill/>
                </a:ln>
                <a:solidFill>
                  <a:prstClr val="black"/>
                </a:solidFill>
                <a:effectLst/>
                <a:uLnTx/>
                <a:uFillTx/>
                <a:latin typeface="Arial"/>
                <a:ea typeface="+mn-ea"/>
                <a:cs typeface="Arial"/>
              </a:rPr>
              <a:t>a </a:t>
            </a:r>
            <a:r>
              <a:rPr kumimoji="0" sz="2667" b="0" i="0" u="none" strike="noStrike" kern="1200" cap="none" spc="-7" normalizeH="0" baseline="0" noProof="0" dirty="0">
                <a:ln>
                  <a:noFill/>
                </a:ln>
                <a:solidFill>
                  <a:prstClr val="black"/>
                </a:solidFill>
                <a:effectLst/>
                <a:uLnTx/>
                <a:uFillTx/>
                <a:latin typeface="Arial"/>
                <a:ea typeface="+mn-ea"/>
                <a:cs typeface="Arial"/>
              </a:rPr>
              <a:t>platform into </a:t>
            </a:r>
            <a:r>
              <a:rPr kumimoji="0" sz="2667" b="0" i="0" u="none" strike="noStrike" kern="1200" cap="none" spc="0" normalizeH="0" baseline="0" noProof="0" dirty="0">
                <a:ln>
                  <a:noFill/>
                </a:ln>
                <a:solidFill>
                  <a:prstClr val="black"/>
                </a:solidFill>
                <a:effectLst/>
                <a:uLnTx/>
                <a:uFillTx/>
                <a:latin typeface="Arial"/>
                <a:ea typeface="+mn-ea"/>
                <a:cs typeface="Arial"/>
              </a:rPr>
              <a:t>a</a:t>
            </a:r>
            <a:r>
              <a:rPr kumimoji="0" sz="2667" b="0" i="0" u="none" strike="noStrike" kern="1200" cap="none" spc="13"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product?</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440256" marR="0" lvl="0" indent="-423323" algn="l" defTabSz="914400" rtl="0" eaLnBrk="1" fontAlgn="auto" latinLnBrk="0" hangingPunct="1">
              <a:lnSpc>
                <a:spcPct val="100000"/>
              </a:lnSpc>
              <a:spcBef>
                <a:spcPts val="0"/>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 </a:t>
            </a:r>
            <a:r>
              <a:rPr kumimoji="0" sz="2667" b="0" i="0" u="none" strike="noStrike" kern="1200" cap="none" spc="0" normalizeH="0" baseline="0" noProof="0" dirty="0">
                <a:ln>
                  <a:noFill/>
                </a:ln>
                <a:solidFill>
                  <a:prstClr val="black"/>
                </a:solidFill>
                <a:effectLst/>
                <a:uLnTx/>
                <a:uFillTx/>
                <a:latin typeface="Arial"/>
                <a:ea typeface="+mn-ea"/>
                <a:cs typeface="Arial"/>
              </a:rPr>
              <a:t>design</a:t>
            </a:r>
            <a:r>
              <a:rPr kumimoji="0" sz="2667" b="0" i="0" u="none" strike="noStrike" kern="1200" cap="none" spc="-7" normalizeH="0" baseline="0" noProof="0" dirty="0">
                <a:ln>
                  <a:noFill/>
                </a:ln>
                <a:solidFill>
                  <a:prstClr val="black"/>
                </a:solidFill>
                <a:effectLst/>
                <a:uLnTx/>
                <a:uFillTx/>
                <a:latin typeface="Arial"/>
                <a:ea typeface="+mn-ea"/>
                <a:cs typeface="Arial"/>
              </a:rPr>
              <a:t> methodology</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Size the</a:t>
            </a:r>
            <a:r>
              <a:rPr kumimoji="0" sz="2667" b="0" i="0" u="none" strike="noStrike" kern="1200" cap="none" spc="0" normalizeH="0" baseline="0" noProof="0" dirty="0">
                <a:ln>
                  <a:noFill/>
                </a:ln>
                <a:solidFill>
                  <a:prstClr val="black"/>
                </a:solidFill>
                <a:effectLst/>
                <a:uLnTx/>
                <a:uFillTx/>
                <a:latin typeface="Arial"/>
                <a:ea typeface="+mn-ea"/>
                <a:cs typeface="Arial"/>
              </a:rPr>
              <a:t> problem.</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1456230" marR="0" lvl="2" indent="-423323" algn="l" defTabSz="914400" rtl="0" eaLnBrk="1" fontAlgn="auto" latinLnBrk="0" hangingPunct="1">
              <a:lnSpc>
                <a:spcPct val="100000"/>
              </a:lnSpc>
              <a:spcBef>
                <a:spcPts val="0"/>
              </a:spcBef>
              <a:spcAft>
                <a:spcPts val="0"/>
              </a:spcAft>
              <a:buClrTx/>
              <a:buSzTx/>
              <a:buFontTx/>
              <a:buChar char="■"/>
              <a:tabLst>
                <a:tab pos="1455384" algn="l"/>
                <a:tab pos="1456230"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How much horsepower? How much</a:t>
            </a:r>
            <a:r>
              <a:rPr kumimoji="0" sz="2667" b="0" i="0" u="none" strike="noStrike" kern="1200" cap="none" spc="-4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power?</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13"/>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Develop an </a:t>
            </a:r>
            <a:r>
              <a:rPr kumimoji="0" sz="2667" b="0" i="0" u="none" strike="noStrike" kern="1200" cap="none" spc="-7" normalizeH="0" baseline="0" noProof="0" dirty="0">
                <a:ln>
                  <a:noFill/>
                </a:ln>
                <a:solidFill>
                  <a:prstClr val="black"/>
                </a:solidFill>
                <a:effectLst/>
                <a:uLnTx/>
                <a:uFillTx/>
                <a:latin typeface="Arial"/>
                <a:ea typeface="+mn-ea"/>
                <a:cs typeface="Arial"/>
              </a:rPr>
              <a:t>initial</a:t>
            </a:r>
            <a:r>
              <a:rPr kumimoji="0" sz="2667" b="0" i="0" u="none" strike="noStrike" kern="1200" cap="none" spc="-2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architecture.</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Evaluate </a:t>
            </a:r>
            <a:r>
              <a:rPr kumimoji="0" sz="2667" b="0" i="0" u="none" strike="noStrike" kern="1200" cap="none" spc="-7" normalizeH="0" baseline="0" noProof="0" dirty="0">
                <a:ln>
                  <a:noFill/>
                </a:ln>
                <a:solidFill>
                  <a:prstClr val="black"/>
                </a:solidFill>
                <a:effectLst/>
                <a:uLnTx/>
                <a:uFillTx/>
                <a:latin typeface="Arial"/>
                <a:ea typeface="+mn-ea"/>
                <a:cs typeface="Arial"/>
              </a:rPr>
              <a:t>for performance, </a:t>
            </a:r>
            <a:r>
              <a:rPr kumimoji="0" sz="2667" b="0" i="0" u="none" strike="noStrike" kern="1200" cap="none" spc="-13" normalizeH="0" baseline="0" noProof="0" dirty="0">
                <a:ln>
                  <a:noFill/>
                </a:ln>
                <a:solidFill>
                  <a:prstClr val="black"/>
                </a:solidFill>
                <a:effectLst/>
                <a:uLnTx/>
                <a:uFillTx/>
                <a:latin typeface="Arial"/>
                <a:ea typeface="+mn-ea"/>
                <a:cs typeface="Arial"/>
              </a:rPr>
              <a:t>power,</a:t>
            </a:r>
            <a:r>
              <a:rPr kumimoji="0" sz="2667" b="0" i="0" u="none" strike="noStrike" kern="1200" cap="none" spc="-113"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etc.</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Evaluate</a:t>
            </a:r>
            <a:r>
              <a:rPr kumimoji="0" sz="2667" b="0" i="0" u="none" strike="noStrike" kern="1200" cap="none" spc="-2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customizability.</a:t>
            </a:r>
            <a:endParaRPr kumimoji="0" sz="2667" b="0" i="0" u="none" strike="noStrike" kern="1200" cap="none" spc="0" normalizeH="0" baseline="0" noProof="0">
              <a:ln>
                <a:noFill/>
              </a:ln>
              <a:solidFill>
                <a:prstClr val="black"/>
              </a:solidFill>
              <a:effectLst/>
              <a:uLnTx/>
              <a:uFillTx/>
              <a:latin typeface="Arial"/>
              <a:ea typeface="+mn-ea"/>
              <a:cs typeface="Arial"/>
            </a:endParaRPr>
          </a:p>
          <a:p>
            <a:pPr marL="948243" marR="0" lvl="1" indent="-423323"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Improve </a:t>
            </a:r>
            <a:r>
              <a:rPr kumimoji="0" sz="2667" b="0" i="0" u="none" strike="noStrike" kern="1200" cap="none" spc="-7" normalizeH="0" baseline="0" noProof="0" dirty="0">
                <a:ln>
                  <a:noFill/>
                </a:ln>
                <a:solidFill>
                  <a:prstClr val="black"/>
                </a:solidFill>
                <a:effectLst/>
                <a:uLnTx/>
                <a:uFillTx/>
                <a:latin typeface="Arial"/>
                <a:ea typeface="+mn-ea"/>
                <a:cs typeface="Arial"/>
              </a:rPr>
              <a:t>platform after </a:t>
            </a:r>
            <a:r>
              <a:rPr kumimoji="0" sz="2667" b="0" i="0" u="none" strike="noStrike" kern="1200" cap="none" spc="0" normalizeH="0" baseline="0" noProof="0" dirty="0">
                <a:ln>
                  <a:noFill/>
                </a:ln>
                <a:solidFill>
                  <a:prstClr val="black"/>
                </a:solidFill>
                <a:effectLst/>
                <a:uLnTx/>
                <a:uFillTx/>
                <a:latin typeface="Arial"/>
                <a:ea typeface="+mn-ea"/>
                <a:cs typeface="Arial"/>
              </a:rPr>
              <a:t>each</a:t>
            </a:r>
            <a:r>
              <a:rPr kumimoji="0" sz="2667" b="0" i="0" u="none" strike="noStrike" kern="1200" cap="none" spc="-7"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use.</a:t>
            </a:r>
            <a:endParaRPr kumimoji="0" sz="2667"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920051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220870"/>
            <a:ext cx="8885767" cy="1248205"/>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677334" y="1588345"/>
            <a:ext cx="4075853"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 </a:t>
            </a:r>
            <a:r>
              <a:rPr kumimoji="0" sz="2667" b="0" i="0" u="none" strike="noStrike" kern="1200" cap="none" spc="0" normalizeH="0" baseline="0" noProof="0" dirty="0">
                <a:ln>
                  <a:noFill/>
                </a:ln>
                <a:solidFill>
                  <a:prstClr val="black"/>
                </a:solidFill>
                <a:effectLst/>
                <a:uLnTx/>
                <a:uFillTx/>
                <a:latin typeface="Arial"/>
                <a:ea typeface="+mn-ea"/>
                <a:cs typeface="Arial"/>
              </a:rPr>
              <a:t>use</a:t>
            </a:r>
            <a:r>
              <a:rPr kumimoji="0" sz="2667" b="0" i="0" u="none" strike="noStrike" kern="1200" cap="none" spc="-93"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challenges</a:t>
            </a:r>
            <a:endParaRPr kumimoji="0" sz="2667" b="0" i="0" u="none" strike="noStrike" kern="1200" cap="none" spc="0" normalizeH="0" baseline="0" noProof="0">
              <a:ln>
                <a:noFill/>
              </a:ln>
              <a:solidFill>
                <a:prstClr val="black"/>
              </a:solidFill>
              <a:effectLst/>
              <a:uLnTx/>
              <a:uFillTx/>
              <a:latin typeface="Arial"/>
              <a:ea typeface="+mn-ea"/>
              <a:cs typeface="Arial"/>
            </a:endParaRPr>
          </a:p>
        </p:txBody>
      </p:sp>
      <p:sp>
        <p:nvSpPr>
          <p:cNvPr id="4" name="object 4"/>
          <p:cNvSpPr txBox="1"/>
          <p:nvPr/>
        </p:nvSpPr>
        <p:spPr>
          <a:xfrm>
            <a:off x="1202267" y="1977812"/>
            <a:ext cx="218440" cy="1125094"/>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p:txBody>
      </p:sp>
      <p:sp>
        <p:nvSpPr>
          <p:cNvPr id="5" name="object 5"/>
          <p:cNvSpPr txBox="1"/>
          <p:nvPr/>
        </p:nvSpPr>
        <p:spPr>
          <a:xfrm>
            <a:off x="1608668" y="1994746"/>
            <a:ext cx="6496473" cy="1125094"/>
          </a:xfrm>
          <a:prstGeom prst="rect">
            <a:avLst/>
          </a:prstGeom>
        </p:spPr>
        <p:txBody>
          <a:bodyPr vert="horz" wrap="square" lIns="0" tIns="16933" rIns="0" bIns="0" rtlCol="0">
            <a:spAutoFit/>
          </a:bodyPr>
          <a:lstStyle/>
          <a:p>
            <a:pPr marL="16933" marR="612125"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13" normalizeH="0" baseline="0" noProof="0" dirty="0">
                <a:ln>
                  <a:noFill/>
                </a:ln>
                <a:solidFill>
                  <a:prstClr val="black"/>
                </a:solidFill>
                <a:effectLst/>
                <a:uLnTx/>
                <a:uFillTx/>
                <a:latin typeface="Arial"/>
                <a:ea typeface="+mn-ea"/>
                <a:cs typeface="Arial"/>
              </a:rPr>
              <a:t>How </a:t>
            </a:r>
            <a:r>
              <a:rPr kumimoji="0" sz="2400" b="0" i="0" u="none" strike="noStrike" kern="1200" cap="none" spc="-7" normalizeH="0" baseline="0" noProof="0" dirty="0">
                <a:ln>
                  <a:noFill/>
                </a:ln>
                <a:solidFill>
                  <a:prstClr val="black"/>
                </a:solidFill>
                <a:effectLst/>
                <a:uLnTx/>
                <a:uFillTx/>
                <a:latin typeface="Arial"/>
                <a:ea typeface="+mn-ea"/>
                <a:cs typeface="Arial"/>
              </a:rPr>
              <a:t>do </a:t>
            </a:r>
            <a:r>
              <a:rPr kumimoji="0" sz="2400" b="0" i="0" u="none" strike="noStrike" kern="1200" cap="none" spc="0" normalizeH="0" baseline="0" noProof="0" dirty="0">
                <a:ln>
                  <a:noFill/>
                </a:ln>
                <a:solidFill>
                  <a:prstClr val="black"/>
                </a:solidFill>
                <a:effectLst/>
                <a:uLnTx/>
                <a:uFillTx/>
                <a:latin typeface="Arial"/>
                <a:ea typeface="+mn-ea"/>
                <a:cs typeface="Arial"/>
              </a:rPr>
              <a:t>I </a:t>
            </a:r>
            <a:r>
              <a:rPr kumimoji="0" sz="2400" b="0" i="0" u="none" strike="noStrike" kern="1200" cap="none" spc="-7" normalizeH="0" baseline="0" noProof="0" dirty="0">
                <a:ln>
                  <a:noFill/>
                </a:ln>
                <a:solidFill>
                  <a:prstClr val="black"/>
                </a:solidFill>
                <a:effectLst/>
                <a:uLnTx/>
                <a:uFillTx/>
                <a:latin typeface="Arial"/>
                <a:ea typeface="+mn-ea"/>
                <a:cs typeface="Arial"/>
              </a:rPr>
              <a:t>understand the </a:t>
            </a:r>
            <a:r>
              <a:rPr kumimoji="0" sz="2400" b="0" i="0" u="none" strike="noStrike" kern="1200" cap="none" spc="-13" normalizeH="0" baseline="0" noProof="0" dirty="0">
                <a:ln>
                  <a:noFill/>
                </a:ln>
                <a:solidFill>
                  <a:prstClr val="black"/>
                </a:solidFill>
                <a:effectLst/>
                <a:uLnTx/>
                <a:uFillTx/>
                <a:latin typeface="Arial"/>
                <a:ea typeface="+mn-ea"/>
                <a:cs typeface="Arial"/>
              </a:rPr>
              <a:t>platform’s </a:t>
            </a:r>
            <a:r>
              <a:rPr kumimoji="0" sz="2400" b="0" i="0" u="none" strike="noStrike" kern="1200" cap="none" spc="-7" normalizeH="0" baseline="0" noProof="0" dirty="0">
                <a:ln>
                  <a:noFill/>
                </a:ln>
                <a:solidFill>
                  <a:prstClr val="black"/>
                </a:solidFill>
                <a:effectLst/>
                <a:uLnTx/>
                <a:uFillTx/>
                <a:latin typeface="Arial"/>
                <a:ea typeface="+mn-ea"/>
                <a:cs typeface="Arial"/>
              </a:rPr>
              <a:t>design?  </a:t>
            </a:r>
            <a:r>
              <a:rPr kumimoji="0" sz="2400" b="0" i="0" u="none" strike="noStrike" kern="1200" cap="none" spc="-13" normalizeH="0" baseline="0" noProof="0" dirty="0">
                <a:ln>
                  <a:noFill/>
                </a:ln>
                <a:solidFill>
                  <a:prstClr val="black"/>
                </a:solidFill>
                <a:effectLst/>
                <a:uLnTx/>
                <a:uFillTx/>
                <a:latin typeface="Arial"/>
                <a:ea typeface="+mn-ea"/>
                <a:cs typeface="Arial"/>
              </a:rPr>
              <a:t>How </a:t>
            </a:r>
            <a:r>
              <a:rPr kumimoji="0" sz="2400" b="0" i="0" u="none" strike="noStrike" kern="1200" cap="none" spc="-7" normalizeH="0" baseline="0" noProof="0" dirty="0">
                <a:ln>
                  <a:noFill/>
                </a:ln>
                <a:solidFill>
                  <a:prstClr val="black"/>
                </a:solidFill>
                <a:effectLst/>
                <a:uLnTx/>
                <a:uFillTx/>
                <a:latin typeface="Arial"/>
                <a:ea typeface="+mn-ea"/>
                <a:cs typeface="Arial"/>
              </a:rPr>
              <a:t>do </a:t>
            </a:r>
            <a:r>
              <a:rPr kumimoji="0" sz="2400" b="0" i="0" u="none" strike="noStrike" kern="1200" cap="none" spc="0" normalizeH="0" baseline="0" noProof="0" dirty="0">
                <a:ln>
                  <a:noFill/>
                </a:ln>
                <a:solidFill>
                  <a:prstClr val="black"/>
                </a:solidFill>
                <a:effectLst/>
                <a:uLnTx/>
                <a:uFillTx/>
                <a:latin typeface="Arial"/>
                <a:ea typeface="+mn-ea"/>
                <a:cs typeface="Arial"/>
              </a:rPr>
              <a:t>I </a:t>
            </a:r>
            <a:r>
              <a:rPr kumimoji="0" sz="2400" b="0" i="0" u="none" strike="noStrike" kern="1200" cap="none" spc="-7" normalizeH="0" baseline="0" noProof="0" dirty="0">
                <a:ln>
                  <a:noFill/>
                </a:ln>
                <a:solidFill>
                  <a:prstClr val="black"/>
                </a:solidFill>
                <a:effectLst/>
                <a:uLnTx/>
                <a:uFillTx/>
                <a:latin typeface="Arial"/>
                <a:ea typeface="+mn-ea"/>
                <a:cs typeface="Arial"/>
              </a:rPr>
              <a:t>modify it to suit </a:t>
            </a:r>
            <a:r>
              <a:rPr kumimoji="0" sz="2400" b="0" i="0" u="none" strike="noStrike" kern="1200" cap="none" spc="0" normalizeH="0" baseline="0" noProof="0" dirty="0">
                <a:ln>
                  <a:noFill/>
                </a:ln>
                <a:solidFill>
                  <a:prstClr val="black"/>
                </a:solidFill>
                <a:effectLst/>
                <a:uLnTx/>
                <a:uFillTx/>
                <a:latin typeface="Arial"/>
                <a:ea typeface="+mn-ea"/>
                <a:cs typeface="Arial"/>
              </a:rPr>
              <a:t>my </a:t>
            </a:r>
            <a:r>
              <a:rPr kumimoji="0" sz="2400" b="0" i="0" u="none" strike="noStrike" kern="1200" cap="none" spc="-13" normalizeH="0" baseline="0" noProof="0" dirty="0">
                <a:ln>
                  <a:noFill/>
                </a:ln>
                <a:solidFill>
                  <a:prstClr val="black"/>
                </a:solidFill>
                <a:effectLst/>
                <a:uLnTx/>
                <a:uFillTx/>
                <a:latin typeface="Arial"/>
                <a:ea typeface="+mn-ea"/>
                <a:cs typeface="Arial"/>
              </a:rPr>
              <a:t>needs?</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13" normalizeH="0" baseline="0" noProof="0" dirty="0">
                <a:ln>
                  <a:noFill/>
                </a:ln>
                <a:solidFill>
                  <a:prstClr val="black"/>
                </a:solidFill>
                <a:effectLst/>
                <a:uLnTx/>
                <a:uFillTx/>
                <a:latin typeface="Arial"/>
                <a:ea typeface="+mn-ea"/>
                <a:cs typeface="Arial"/>
              </a:rPr>
              <a:t>How </a:t>
            </a:r>
            <a:r>
              <a:rPr kumimoji="0" sz="2400" b="0" i="0" u="none" strike="noStrike" kern="1200" cap="none" spc="-7" normalizeH="0" baseline="0" noProof="0" dirty="0">
                <a:ln>
                  <a:noFill/>
                </a:ln>
                <a:solidFill>
                  <a:prstClr val="black"/>
                </a:solidFill>
                <a:effectLst/>
                <a:uLnTx/>
                <a:uFillTx/>
                <a:latin typeface="Arial"/>
                <a:ea typeface="+mn-ea"/>
                <a:cs typeface="Arial"/>
              </a:rPr>
              <a:t>do </a:t>
            </a:r>
            <a:r>
              <a:rPr kumimoji="0" sz="2400" b="0" i="0" u="none" strike="noStrike" kern="1200" cap="none" spc="0" normalizeH="0" baseline="0" noProof="0" dirty="0">
                <a:ln>
                  <a:noFill/>
                </a:ln>
                <a:solidFill>
                  <a:prstClr val="black"/>
                </a:solidFill>
                <a:effectLst/>
                <a:uLnTx/>
                <a:uFillTx/>
                <a:latin typeface="Arial"/>
                <a:ea typeface="+mn-ea"/>
                <a:cs typeface="Arial"/>
              </a:rPr>
              <a:t>I </a:t>
            </a:r>
            <a:r>
              <a:rPr kumimoji="0" sz="2400" b="0" i="0" u="none" strike="noStrike" kern="1200" cap="none" spc="-13" normalizeH="0" baseline="0" noProof="0" dirty="0">
                <a:ln>
                  <a:noFill/>
                </a:ln>
                <a:solidFill>
                  <a:prstClr val="black"/>
                </a:solidFill>
                <a:effectLst/>
                <a:uLnTx/>
                <a:uFillTx/>
                <a:latin typeface="Arial"/>
                <a:ea typeface="+mn-ea"/>
                <a:cs typeface="Arial"/>
              </a:rPr>
              <a:t>optimize </a:t>
            </a:r>
            <a:r>
              <a:rPr kumimoji="0" sz="2400" b="0" i="0" u="none" strike="noStrike" kern="1200" cap="none" spc="0" normalizeH="0" baseline="0" noProof="0" dirty="0">
                <a:ln>
                  <a:noFill/>
                </a:ln>
                <a:solidFill>
                  <a:prstClr val="black"/>
                </a:solidFill>
                <a:effectLst/>
                <a:uLnTx/>
                <a:uFillTx/>
                <a:latin typeface="Arial"/>
                <a:ea typeface="+mn-ea"/>
                <a:cs typeface="Arial"/>
              </a:rPr>
              <a:t>for </a:t>
            </a:r>
            <a:r>
              <a:rPr kumimoji="0" sz="2400" b="0" i="0" u="none" strike="noStrike" kern="1200" cap="none" spc="-13" normalizeH="0" baseline="0" noProof="0" dirty="0">
                <a:ln>
                  <a:noFill/>
                </a:ln>
                <a:solidFill>
                  <a:prstClr val="black"/>
                </a:solidFill>
                <a:effectLst/>
                <a:uLnTx/>
                <a:uFillTx/>
                <a:latin typeface="Arial"/>
                <a:ea typeface="+mn-ea"/>
                <a:cs typeface="Arial"/>
              </a:rPr>
              <a:t>performance, </a:t>
            </a:r>
            <a:r>
              <a:rPr kumimoji="0" sz="2400" b="0" i="0" u="none" strike="noStrike" kern="1200" cap="none" spc="-20" normalizeH="0" baseline="0" noProof="0" dirty="0">
                <a:ln>
                  <a:noFill/>
                </a:ln>
                <a:solidFill>
                  <a:prstClr val="black"/>
                </a:solidFill>
                <a:effectLst/>
                <a:uLnTx/>
                <a:uFillTx/>
                <a:latin typeface="Arial"/>
                <a:ea typeface="+mn-ea"/>
                <a:cs typeface="Arial"/>
              </a:rPr>
              <a:t>power,</a:t>
            </a:r>
            <a:r>
              <a:rPr kumimoji="0" sz="2400" b="0" i="0" u="none" strike="noStrike" kern="1200" cap="none" spc="-27"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etc.?</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sp>
        <p:nvSpPr>
          <p:cNvPr id="6" name="object 6"/>
          <p:cNvSpPr txBox="1"/>
          <p:nvPr/>
        </p:nvSpPr>
        <p:spPr>
          <a:xfrm>
            <a:off x="677334" y="3218243"/>
            <a:ext cx="4394200"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 </a:t>
            </a:r>
            <a:r>
              <a:rPr kumimoji="0" sz="2667" b="0" i="0" u="none" strike="noStrike" kern="1200" cap="none" spc="0" normalizeH="0" baseline="0" noProof="0" dirty="0">
                <a:ln>
                  <a:noFill/>
                </a:ln>
                <a:solidFill>
                  <a:prstClr val="black"/>
                </a:solidFill>
                <a:effectLst/>
                <a:uLnTx/>
                <a:uFillTx/>
                <a:latin typeface="Arial"/>
                <a:ea typeface="+mn-ea"/>
                <a:cs typeface="Arial"/>
              </a:rPr>
              <a:t>use</a:t>
            </a:r>
            <a:r>
              <a:rPr kumimoji="0" sz="2667" b="0" i="0" u="none" strike="noStrike" kern="1200" cap="none" spc="-47"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methodology</a:t>
            </a:r>
            <a:endParaRPr kumimoji="0" sz="2667" b="0" i="0" u="none" strike="noStrike" kern="1200" cap="none" spc="0" normalizeH="0" baseline="0" noProof="0" dirty="0">
              <a:ln>
                <a:noFill/>
              </a:ln>
              <a:solidFill>
                <a:prstClr val="black"/>
              </a:solidFill>
              <a:effectLst/>
              <a:uLnTx/>
              <a:uFillTx/>
              <a:latin typeface="Arial"/>
              <a:ea typeface="+mn-ea"/>
              <a:cs typeface="Arial"/>
            </a:endParaRPr>
          </a:p>
        </p:txBody>
      </p:sp>
      <p:sp>
        <p:nvSpPr>
          <p:cNvPr id="8" name="object 8"/>
          <p:cNvSpPr txBox="1"/>
          <p:nvPr/>
        </p:nvSpPr>
        <p:spPr>
          <a:xfrm>
            <a:off x="1202267" y="3628577"/>
            <a:ext cx="9254912" cy="1863758"/>
          </a:xfrm>
          <a:prstGeom prst="rect">
            <a:avLst/>
          </a:prstGeom>
        </p:spPr>
        <p:txBody>
          <a:bodyPr vert="horz" wrap="square" lIns="0" tIns="16933" rIns="0" bIns="0" rtlCol="0">
            <a:spAutoFit/>
          </a:bodyPr>
          <a:lstStyle/>
          <a:p>
            <a:pPr marL="423323" marR="6773" lvl="0" indent="-406390" algn="l" defTabSz="914400" rtl="0" eaLnBrk="1" fontAlgn="auto" latinLnBrk="0" hangingPunct="1">
              <a:lnSpc>
                <a:spcPct val="100000"/>
              </a:lnSpc>
              <a:spcBef>
                <a:spcPts val="133"/>
              </a:spcBef>
              <a:spcAft>
                <a:spcPts val="0"/>
              </a:spcAft>
              <a:buClrTx/>
              <a:buSzTx/>
              <a:buFontTx/>
              <a:buChar char="○"/>
              <a:tabLst>
                <a:tab pos="422476" algn="l"/>
                <a:tab pos="423323" algn="l"/>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Start with </a:t>
            </a:r>
            <a:r>
              <a:rPr kumimoji="0" sz="2400" b="0" i="0" u="none" strike="noStrike" kern="1200" cap="none" spc="-13" normalizeH="0" baseline="0" noProof="0" dirty="0">
                <a:ln>
                  <a:noFill/>
                </a:ln>
                <a:solidFill>
                  <a:prstClr val="black"/>
                </a:solidFill>
                <a:effectLst/>
                <a:uLnTx/>
                <a:uFillTx/>
                <a:latin typeface="Arial"/>
                <a:ea typeface="+mn-ea"/>
                <a:cs typeface="Arial"/>
              </a:rPr>
              <a:t>reference design, evaluate differences </a:t>
            </a:r>
            <a:r>
              <a:rPr kumimoji="0" sz="2400" b="0" i="0" u="none" strike="noStrike" kern="1200" cap="none" spc="-7" normalizeH="0" baseline="0" noProof="0" dirty="0">
                <a:ln>
                  <a:noFill/>
                </a:ln>
                <a:solidFill>
                  <a:prstClr val="black"/>
                </a:solidFill>
                <a:effectLst/>
                <a:uLnTx/>
                <a:uFillTx/>
                <a:latin typeface="Arial"/>
                <a:ea typeface="+mn-ea"/>
                <a:cs typeface="Arial"/>
              </a:rPr>
              <a:t>required for your  features.</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42332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13" normalizeH="0" baseline="0" noProof="0" dirty="0">
                <a:ln>
                  <a:noFill/>
                </a:ln>
                <a:solidFill>
                  <a:prstClr val="black"/>
                </a:solidFill>
                <a:effectLst/>
                <a:uLnTx/>
                <a:uFillTx/>
                <a:latin typeface="Arial"/>
                <a:ea typeface="+mn-ea"/>
                <a:cs typeface="Arial"/>
              </a:rPr>
              <a:t>Evaluate </a:t>
            </a:r>
            <a:r>
              <a:rPr kumimoji="0" sz="2400" b="0" i="0" u="none" strike="noStrike" kern="1200" cap="none" spc="-7" normalizeH="0" baseline="0" noProof="0" dirty="0">
                <a:ln>
                  <a:noFill/>
                </a:ln>
                <a:solidFill>
                  <a:prstClr val="black"/>
                </a:solidFill>
                <a:effectLst/>
                <a:uLnTx/>
                <a:uFillTx/>
                <a:latin typeface="Arial"/>
                <a:ea typeface="+mn-ea"/>
                <a:cs typeface="Arial"/>
              </a:rPr>
              <a:t>hardware </a:t>
            </a:r>
            <a:r>
              <a:rPr kumimoji="0" sz="2400" b="0" i="0" u="none" strike="noStrike" kern="1200" cap="none" spc="-13" normalizeH="0" baseline="0" noProof="0" dirty="0">
                <a:ln>
                  <a:noFill/>
                </a:ln>
                <a:solidFill>
                  <a:prstClr val="black"/>
                </a:solidFill>
                <a:effectLst/>
                <a:uLnTx/>
                <a:uFillTx/>
                <a:latin typeface="Arial"/>
                <a:ea typeface="+mn-ea"/>
                <a:cs typeface="Arial"/>
              </a:rPr>
              <a:t>changes.</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423323" marR="1522269"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Implement </a:t>
            </a:r>
            <a:r>
              <a:rPr kumimoji="0" sz="2400" b="0" i="0" u="none" strike="noStrike" kern="1200" cap="none" spc="-13" normalizeH="0" baseline="0" noProof="0" dirty="0">
                <a:ln>
                  <a:noFill/>
                </a:ln>
                <a:solidFill>
                  <a:prstClr val="black"/>
                </a:solidFill>
                <a:effectLst/>
                <a:uLnTx/>
                <a:uFillTx/>
                <a:latin typeface="Arial"/>
                <a:ea typeface="+mn-ea"/>
                <a:cs typeface="Arial"/>
              </a:rPr>
              <a:t>hardware </a:t>
            </a:r>
            <a:r>
              <a:rPr kumimoji="0" sz="2400" b="0" i="0" u="none" strike="noStrike" kern="1200" cap="none" spc="-7" normalizeH="0" baseline="0" noProof="0" dirty="0">
                <a:ln>
                  <a:noFill/>
                </a:ln>
                <a:solidFill>
                  <a:prstClr val="black"/>
                </a:solidFill>
                <a:effectLst/>
                <a:uLnTx/>
                <a:uFillTx/>
                <a:latin typeface="Arial"/>
                <a:ea typeface="+mn-ea"/>
                <a:cs typeface="Arial"/>
              </a:rPr>
              <a:t>and software </a:t>
            </a:r>
            <a:r>
              <a:rPr kumimoji="0" sz="2400" b="0" i="0" u="none" strike="noStrike" kern="1200" cap="none" spc="-13" normalizeH="0" baseline="0" noProof="0" dirty="0">
                <a:ln>
                  <a:noFill/>
                </a:ln>
                <a:solidFill>
                  <a:prstClr val="black"/>
                </a:solidFill>
                <a:effectLst/>
                <a:uLnTx/>
                <a:uFillTx/>
                <a:latin typeface="Arial"/>
                <a:ea typeface="+mn-ea"/>
                <a:cs typeface="Arial"/>
              </a:rPr>
              <a:t>changes </a:t>
            </a:r>
            <a:r>
              <a:rPr kumimoji="0" sz="2400" b="0" i="0" u="none" strike="noStrike" kern="1200" cap="none" spc="-7" normalizeH="0" baseline="0" noProof="0" dirty="0">
                <a:ln>
                  <a:noFill/>
                </a:ln>
                <a:solidFill>
                  <a:prstClr val="black"/>
                </a:solidFill>
                <a:effectLst/>
                <a:uLnTx/>
                <a:uFillTx/>
                <a:latin typeface="Arial"/>
                <a:ea typeface="+mn-ea"/>
                <a:cs typeface="Arial"/>
              </a:rPr>
              <a:t>in parallel.  Integrate </a:t>
            </a:r>
            <a:r>
              <a:rPr kumimoji="0" sz="2400" b="0" i="0" u="none" strike="noStrike" kern="1200" cap="none" spc="-13" normalizeH="0" baseline="0" noProof="0" dirty="0">
                <a:ln>
                  <a:noFill/>
                </a:ln>
                <a:solidFill>
                  <a:prstClr val="black"/>
                </a:solidFill>
                <a:effectLst/>
                <a:uLnTx/>
                <a:uFillTx/>
                <a:latin typeface="Arial"/>
                <a:ea typeface="+mn-ea"/>
                <a:cs typeface="Arial"/>
              </a:rPr>
              <a:t>and </a:t>
            </a:r>
            <a:r>
              <a:rPr kumimoji="0" sz="2400" b="0" i="0" u="none" strike="noStrike" kern="1200" cap="none" spc="-7" normalizeH="0" baseline="0" noProof="0" dirty="0">
                <a:ln>
                  <a:noFill/>
                </a:ln>
                <a:solidFill>
                  <a:prstClr val="black"/>
                </a:solidFill>
                <a:effectLst/>
                <a:uLnTx/>
                <a:uFillTx/>
                <a:latin typeface="Arial"/>
                <a:ea typeface="+mn-ea"/>
                <a:cs typeface="Arial"/>
              </a:rPr>
              <a:t>test.</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sp>
        <p:nvSpPr>
          <p:cNvPr id="9" name="object 9"/>
          <p:cNvSpPr txBox="1"/>
          <p:nvPr/>
        </p:nvSpPr>
        <p:spPr>
          <a:xfrm>
            <a:off x="677334" y="5504237"/>
            <a:ext cx="10221807" cy="796864"/>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How do I choose a</a:t>
            </a:r>
            <a:r>
              <a:rPr kumimoji="0" sz="2667" b="0" i="0" u="none" strike="noStrike" kern="1200" cap="none" spc="-4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platform?</a:t>
            </a:r>
            <a:endParaRPr kumimoji="0" sz="2667" b="0" i="0" u="none" strike="noStrike" kern="1200" cap="none" spc="0" normalizeH="0" baseline="0" noProof="0" dirty="0">
              <a:ln>
                <a:noFill/>
              </a:ln>
              <a:solidFill>
                <a:prstClr val="black"/>
              </a:solidFill>
              <a:effectLst/>
              <a:uLnTx/>
              <a:uFillTx/>
              <a:latin typeface="Arial"/>
              <a:ea typeface="+mn-ea"/>
              <a:cs typeface="Arial"/>
            </a:endParaRPr>
          </a:p>
          <a:p>
            <a:pPr marL="948243" marR="0" lvl="1" indent="-406390" algn="l" defTabSz="914400" rtl="0" eaLnBrk="1" fontAlgn="auto" latinLnBrk="0" hangingPunct="1">
              <a:lnSpc>
                <a:spcPct val="100000"/>
              </a:lnSpc>
              <a:spcBef>
                <a:spcPts val="0"/>
              </a:spcBef>
              <a:spcAft>
                <a:spcPts val="0"/>
              </a:spcAft>
              <a:buClrTx/>
              <a:buSzTx/>
              <a:buFontTx/>
              <a:buChar char="○"/>
              <a:tabLst>
                <a:tab pos="947396" algn="l"/>
                <a:tab pos="948243" algn="l"/>
              </a:tabLst>
              <a:defRPr/>
            </a:pPr>
            <a:r>
              <a:rPr kumimoji="0" sz="2400" b="0" i="0" u="none" strike="noStrike" kern="1200" cap="none" spc="-13" normalizeH="0" baseline="0" noProof="0" dirty="0">
                <a:ln>
                  <a:noFill/>
                </a:ln>
                <a:solidFill>
                  <a:prstClr val="black"/>
                </a:solidFill>
                <a:effectLst/>
                <a:uLnTx/>
                <a:uFillTx/>
                <a:latin typeface="Arial"/>
                <a:ea typeface="+mn-ea"/>
                <a:cs typeface="Arial"/>
              </a:rPr>
              <a:t>evaluate </a:t>
            </a:r>
            <a:r>
              <a:rPr kumimoji="0" sz="2400" b="0" i="0" u="none" strike="noStrike" kern="1200" cap="none" spc="-7" normalizeH="0" baseline="0" noProof="0" dirty="0">
                <a:ln>
                  <a:noFill/>
                </a:ln>
                <a:solidFill>
                  <a:prstClr val="black"/>
                </a:solidFill>
                <a:effectLst/>
                <a:uLnTx/>
                <a:uFillTx/>
                <a:latin typeface="Arial"/>
                <a:ea typeface="+mn-ea"/>
                <a:cs typeface="Arial"/>
              </a:rPr>
              <a:t>aspects of the platform critical </a:t>
            </a:r>
            <a:r>
              <a:rPr kumimoji="0" sz="2400" b="0" i="0" u="none" strike="noStrike" kern="1200" cap="none" spc="0" normalizeH="0" baseline="0" noProof="0" dirty="0">
                <a:ln>
                  <a:noFill/>
                </a:ln>
                <a:solidFill>
                  <a:prstClr val="black"/>
                </a:solidFill>
                <a:effectLst/>
                <a:uLnTx/>
                <a:uFillTx/>
                <a:latin typeface="Arial"/>
                <a:ea typeface="+mn-ea"/>
                <a:cs typeface="Arial"/>
              </a:rPr>
              <a:t>to my </a:t>
            </a:r>
            <a:r>
              <a:rPr kumimoji="0" sz="2400" b="0" i="0" u="none" strike="noStrike" kern="1200" cap="none" spc="-13" normalizeH="0" baseline="0" noProof="0" dirty="0">
                <a:ln>
                  <a:noFill/>
                </a:ln>
                <a:solidFill>
                  <a:prstClr val="black"/>
                </a:solidFill>
                <a:effectLst/>
                <a:uLnTx/>
                <a:uFillTx/>
                <a:latin typeface="Arial"/>
                <a:ea typeface="+mn-ea"/>
                <a:cs typeface="Arial"/>
              </a:rPr>
              <a:t>product’s</a:t>
            </a:r>
            <a:r>
              <a:rPr kumimoji="0" sz="2400" b="0" i="0" u="none" strike="noStrike" kern="1200" cap="none" spc="-27"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requirements</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sp>
        <p:nvSpPr>
          <p:cNvPr id="10" name="object 10"/>
          <p:cNvSpPr/>
          <p:nvPr/>
        </p:nvSpPr>
        <p:spPr>
          <a:xfrm>
            <a:off x="10131213" y="436879"/>
            <a:ext cx="1630679" cy="252706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5293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528647"/>
            <a:ext cx="10565663" cy="632651"/>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dirty="0"/>
          </a:p>
        </p:txBody>
      </p:sp>
      <p:sp>
        <p:nvSpPr>
          <p:cNvPr id="3" name="object 3"/>
          <p:cNvSpPr txBox="1"/>
          <p:nvPr/>
        </p:nvSpPr>
        <p:spPr>
          <a:xfrm>
            <a:off x="677333" y="1469001"/>
            <a:ext cx="6548120"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Platforms </a:t>
            </a:r>
            <a:r>
              <a:rPr kumimoji="0" sz="2667" b="0" i="0" u="none" strike="noStrike" kern="1200" cap="none" spc="0" normalizeH="0" baseline="0" noProof="0" dirty="0">
                <a:ln>
                  <a:noFill/>
                </a:ln>
                <a:solidFill>
                  <a:prstClr val="black"/>
                </a:solidFill>
                <a:effectLst/>
                <a:uLnTx/>
                <a:uFillTx/>
                <a:latin typeface="Arial"/>
                <a:ea typeface="+mn-ea"/>
                <a:cs typeface="Arial"/>
              </a:rPr>
              <a:t>rely on embedded</a:t>
            </a:r>
            <a:r>
              <a:rPr kumimoji="0" sz="2667" b="0" i="0" u="none" strike="noStrike" kern="1200" cap="none" spc="-60"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processors:</a:t>
            </a:r>
          </a:p>
        </p:txBody>
      </p:sp>
      <p:sp>
        <p:nvSpPr>
          <p:cNvPr id="4" name="object 4"/>
          <p:cNvSpPr txBox="1"/>
          <p:nvPr/>
        </p:nvSpPr>
        <p:spPr>
          <a:xfrm>
            <a:off x="1202267" y="1914698"/>
            <a:ext cx="218440" cy="1125094"/>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p>
        </p:txBody>
      </p:sp>
      <p:sp>
        <p:nvSpPr>
          <p:cNvPr id="5" name="object 5"/>
          <p:cNvSpPr txBox="1"/>
          <p:nvPr/>
        </p:nvSpPr>
        <p:spPr>
          <a:xfrm>
            <a:off x="1608667" y="1862463"/>
            <a:ext cx="9906000" cy="1125094"/>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can </a:t>
            </a:r>
            <a:r>
              <a:rPr kumimoji="0" sz="2400" b="0" i="0" u="none" strike="noStrike" kern="1200" cap="none" spc="-13" normalizeH="0" baseline="0" noProof="0" dirty="0">
                <a:ln>
                  <a:noFill/>
                </a:ln>
                <a:solidFill>
                  <a:prstClr val="black"/>
                </a:solidFill>
                <a:effectLst/>
                <a:uLnTx/>
                <a:uFillTx/>
                <a:latin typeface="Arial"/>
                <a:ea typeface="+mn-ea"/>
                <a:cs typeface="Arial"/>
              </a:rPr>
              <a:t>be </a:t>
            </a:r>
            <a:r>
              <a:rPr kumimoji="0" sz="2400" b="0" i="0" u="none" strike="noStrike" kern="1200" cap="none" spc="-7" normalizeH="0" baseline="0" noProof="0" dirty="0">
                <a:ln>
                  <a:noFill/>
                </a:ln>
                <a:solidFill>
                  <a:prstClr val="black"/>
                </a:solidFill>
                <a:effectLst/>
                <a:uLnTx/>
                <a:uFillTx/>
                <a:latin typeface="Arial"/>
                <a:ea typeface="+mn-ea"/>
                <a:cs typeface="Arial"/>
              </a:rPr>
              <a:t>customized through</a:t>
            </a:r>
            <a:r>
              <a:rPr kumimoji="0" sz="2400" b="0" i="0" u="none" strike="noStrike" kern="1200" cap="none" spc="-13"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software</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can </a:t>
            </a:r>
            <a:r>
              <a:rPr kumimoji="0" sz="2400" b="0" i="0" u="none" strike="noStrike" kern="1200" cap="none" spc="-13" normalizeH="0" baseline="0" noProof="0" dirty="0">
                <a:ln>
                  <a:noFill/>
                </a:ln>
                <a:solidFill>
                  <a:prstClr val="black"/>
                </a:solidFill>
                <a:effectLst/>
                <a:uLnTx/>
                <a:uFillTx/>
                <a:latin typeface="Arial"/>
                <a:ea typeface="+mn-ea"/>
                <a:cs typeface="Arial"/>
              </a:rPr>
              <a:t>put considerable design </a:t>
            </a:r>
            <a:r>
              <a:rPr kumimoji="0" sz="2400" b="0" i="0" u="none" strike="noStrike" kern="1200" cap="none" spc="-20" normalizeH="0" baseline="0" noProof="0" dirty="0">
                <a:ln>
                  <a:noFill/>
                </a:ln>
                <a:solidFill>
                  <a:prstClr val="black"/>
                </a:solidFill>
                <a:effectLst/>
                <a:uLnTx/>
                <a:uFillTx/>
                <a:latin typeface="Arial"/>
                <a:ea typeface="+mn-ea"/>
                <a:cs typeface="Arial"/>
              </a:rPr>
              <a:t>effort </a:t>
            </a:r>
            <a:r>
              <a:rPr kumimoji="0" sz="2400" b="0" i="0" u="none" strike="noStrike" kern="1200" cap="none" spc="-7" normalizeH="0" baseline="0" noProof="0" dirty="0">
                <a:ln>
                  <a:noFill/>
                </a:ln>
                <a:solidFill>
                  <a:prstClr val="black"/>
                </a:solidFill>
                <a:effectLst/>
                <a:uLnTx/>
                <a:uFillTx/>
                <a:latin typeface="Arial"/>
                <a:ea typeface="+mn-ea"/>
                <a:cs typeface="Arial"/>
              </a:rPr>
              <a:t>into </a:t>
            </a:r>
            <a:r>
              <a:rPr kumimoji="0" sz="2400" b="0" i="0" u="none" strike="noStrike" kern="1200" cap="none" spc="-13" normalizeH="0" baseline="0" noProof="0" dirty="0">
                <a:ln>
                  <a:noFill/>
                </a:ln>
                <a:solidFill>
                  <a:prstClr val="black"/>
                </a:solidFill>
                <a:effectLst/>
                <a:uLnTx/>
                <a:uFillTx/>
                <a:latin typeface="Arial"/>
                <a:ea typeface="+mn-ea"/>
                <a:cs typeface="Arial"/>
              </a:rPr>
              <a:t>the</a:t>
            </a:r>
            <a:r>
              <a:rPr kumimoji="0" sz="2400" b="0" i="0" u="none" strike="noStrike" kern="1200" cap="none" spc="47"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CPU.</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Many </a:t>
            </a:r>
            <a:r>
              <a:rPr kumimoji="0" sz="2400" b="0" i="0" u="none" strike="noStrike" kern="1200" cap="none" spc="-13" normalizeH="0" baseline="0" noProof="0" dirty="0">
                <a:ln>
                  <a:noFill/>
                </a:ln>
                <a:solidFill>
                  <a:prstClr val="black"/>
                </a:solidFill>
                <a:effectLst/>
                <a:uLnTx/>
                <a:uFillTx/>
                <a:latin typeface="Arial"/>
                <a:ea typeface="+mn-ea"/>
                <a:cs typeface="Arial"/>
              </a:rPr>
              <a:t>platforms </a:t>
            </a:r>
            <a:r>
              <a:rPr kumimoji="0" sz="2400" b="0" i="0" u="none" strike="noStrike" kern="1200" cap="none" spc="-7" normalizeH="0" baseline="0" noProof="0" dirty="0">
                <a:ln>
                  <a:noFill/>
                </a:ln>
                <a:solidFill>
                  <a:prstClr val="black"/>
                </a:solidFill>
                <a:effectLst/>
                <a:uLnTx/>
                <a:uFillTx/>
                <a:latin typeface="Arial"/>
                <a:ea typeface="+mn-ea"/>
                <a:cs typeface="Arial"/>
              </a:rPr>
              <a:t>are complex </a:t>
            </a:r>
            <a:r>
              <a:rPr kumimoji="0" sz="2400" b="0" i="0" u="none" strike="noStrike" kern="1200" cap="none" spc="-13" normalizeH="0" baseline="0" noProof="0" dirty="0">
                <a:ln>
                  <a:noFill/>
                </a:ln>
                <a:solidFill>
                  <a:prstClr val="black"/>
                </a:solidFill>
                <a:effectLst/>
                <a:uLnTx/>
                <a:uFillTx/>
                <a:latin typeface="Arial"/>
                <a:ea typeface="+mn-ea"/>
                <a:cs typeface="Arial"/>
              </a:rPr>
              <a:t>heterogeneous</a:t>
            </a:r>
            <a:r>
              <a:rPr kumimoji="0" sz="2400" b="0" i="0" u="none" strike="noStrike" kern="1200" cap="none" spc="27" normalizeH="0" baseline="0" noProof="0" dirty="0">
                <a:ln>
                  <a:noFill/>
                </a:ln>
                <a:solidFill>
                  <a:prstClr val="black"/>
                </a:solidFill>
                <a:effectLst/>
                <a:uLnTx/>
                <a:uFillTx/>
                <a:latin typeface="Arial"/>
                <a:ea typeface="+mn-ea"/>
                <a:cs typeface="Arial"/>
              </a:rPr>
              <a:t> </a:t>
            </a:r>
            <a:r>
              <a:rPr kumimoji="0" sz="2400" b="0" i="0" u="none" strike="noStrike" kern="1200" cap="none" spc="-7" normalizeH="0" baseline="0" noProof="0" dirty="0">
                <a:ln>
                  <a:noFill/>
                </a:ln>
                <a:solidFill>
                  <a:prstClr val="black"/>
                </a:solidFill>
                <a:effectLst/>
                <a:uLnTx/>
                <a:uFillTx/>
                <a:latin typeface="Arial"/>
                <a:ea typeface="+mn-ea"/>
                <a:cs typeface="Arial"/>
              </a:rPr>
              <a:t>multiprocessors.</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sp>
        <p:nvSpPr>
          <p:cNvPr id="6" name="object 6"/>
          <p:cNvSpPr txBox="1"/>
          <p:nvPr/>
        </p:nvSpPr>
        <p:spPr>
          <a:xfrm>
            <a:off x="677333" y="2971864"/>
            <a:ext cx="4907280"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Software </a:t>
            </a:r>
            <a:r>
              <a:rPr kumimoji="0" sz="2667" b="0" i="0" u="none" strike="noStrike" kern="1200" cap="none" spc="0" normalizeH="0" baseline="0" noProof="0" dirty="0">
                <a:ln>
                  <a:noFill/>
                </a:ln>
                <a:solidFill>
                  <a:prstClr val="black"/>
                </a:solidFill>
                <a:effectLst/>
                <a:uLnTx/>
                <a:uFillTx/>
                <a:latin typeface="Arial"/>
                <a:ea typeface="+mn-ea"/>
                <a:cs typeface="Arial"/>
              </a:rPr>
              <a:t>and hardware</a:t>
            </a:r>
            <a:r>
              <a:rPr kumimoji="0" sz="2667" b="0" i="0" u="none" strike="noStrike" kern="1200" cap="none" spc="-73"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reuse</a:t>
            </a:r>
          </a:p>
        </p:txBody>
      </p:sp>
      <p:sp>
        <p:nvSpPr>
          <p:cNvPr id="7" name="object 7"/>
          <p:cNvSpPr txBox="1"/>
          <p:nvPr/>
        </p:nvSpPr>
        <p:spPr>
          <a:xfrm>
            <a:off x="1202267" y="4213013"/>
            <a:ext cx="218440" cy="755762"/>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p:txBody>
      </p:sp>
      <p:sp>
        <p:nvSpPr>
          <p:cNvPr id="8" name="object 8"/>
          <p:cNvSpPr txBox="1"/>
          <p:nvPr/>
        </p:nvSpPr>
        <p:spPr>
          <a:xfrm>
            <a:off x="1165235" y="3329746"/>
            <a:ext cx="9824498" cy="1494426"/>
          </a:xfrm>
          <a:prstGeom prst="rect">
            <a:avLst/>
          </a:prstGeom>
        </p:spPr>
        <p:txBody>
          <a:bodyPr vert="horz" wrap="square" lIns="0" tIns="16933" rIns="0" bIns="0" rtlCol="0">
            <a:spAutoFit/>
          </a:bodyPr>
          <a:lstStyle/>
          <a:p>
            <a:pPr marL="423323" marR="6773" lvl="0" indent="-406390" algn="l" defTabSz="914400" rtl="0" eaLnBrk="1" fontAlgn="auto" latinLnBrk="0" hangingPunct="1">
              <a:lnSpc>
                <a:spcPct val="100000"/>
              </a:lnSpc>
              <a:spcBef>
                <a:spcPts val="133"/>
              </a:spcBef>
              <a:spcAft>
                <a:spcPts val="0"/>
              </a:spcAft>
              <a:buClrTx/>
              <a:buSzTx/>
              <a:buFontTx/>
              <a:buChar char="○"/>
              <a:tabLst>
                <a:tab pos="422476" algn="l"/>
                <a:tab pos="423323" algn="l"/>
              </a:tabLst>
              <a:defRPr/>
            </a:pPr>
            <a:r>
              <a:rPr kumimoji="0" sz="2400" b="0" i="0" u="none" strike="noStrike" kern="1200" cap="none" spc="-33" normalizeH="0" baseline="0" noProof="0" dirty="0">
                <a:ln>
                  <a:noFill/>
                </a:ln>
                <a:solidFill>
                  <a:prstClr val="black"/>
                </a:solidFill>
                <a:effectLst/>
                <a:uLnTx/>
                <a:uFillTx/>
                <a:latin typeface="Arial"/>
                <a:ea typeface="+mn-ea"/>
                <a:cs typeface="Arial"/>
              </a:rPr>
              <a:t>Want </a:t>
            </a:r>
            <a:r>
              <a:rPr kumimoji="0" sz="2400" b="0" i="0" u="none" strike="noStrike" kern="1200" cap="none" spc="0" normalizeH="0" baseline="0" noProof="0" dirty="0">
                <a:ln>
                  <a:noFill/>
                </a:ln>
                <a:solidFill>
                  <a:prstClr val="black"/>
                </a:solidFill>
                <a:effectLst/>
                <a:uLnTx/>
                <a:uFillTx/>
                <a:latin typeface="Arial"/>
                <a:ea typeface="+mn-ea"/>
                <a:cs typeface="Arial"/>
              </a:rPr>
              <a:t>to </a:t>
            </a:r>
            <a:r>
              <a:rPr kumimoji="0" sz="2400" b="0" i="0" u="none" strike="noStrike" kern="1200" cap="none" spc="-7" normalizeH="0" baseline="0" noProof="0" dirty="0">
                <a:ln>
                  <a:noFill/>
                </a:ln>
                <a:solidFill>
                  <a:prstClr val="black"/>
                </a:solidFill>
                <a:effectLst/>
                <a:uLnTx/>
                <a:uFillTx/>
                <a:latin typeface="Arial"/>
                <a:ea typeface="+mn-ea"/>
                <a:cs typeface="Arial"/>
              </a:rPr>
              <a:t>reuse </a:t>
            </a:r>
            <a:r>
              <a:rPr kumimoji="0" sz="2400" b="0" i="0" u="none" strike="noStrike" kern="1200" cap="none" spc="-13" normalizeH="0" baseline="0" noProof="0" dirty="0">
                <a:ln>
                  <a:noFill/>
                </a:ln>
                <a:solidFill>
                  <a:prstClr val="black"/>
                </a:solidFill>
                <a:effectLst/>
                <a:uLnTx/>
                <a:uFillTx/>
                <a:latin typeface="Arial"/>
                <a:ea typeface="+mn-ea"/>
                <a:cs typeface="Arial"/>
              </a:rPr>
              <a:t>as </a:t>
            </a:r>
            <a:r>
              <a:rPr kumimoji="0" sz="2400" b="0" i="0" u="none" strike="noStrike" kern="1200" cap="none" spc="-7" normalizeH="0" baseline="0" noProof="0" dirty="0">
                <a:ln>
                  <a:noFill/>
                </a:ln>
                <a:solidFill>
                  <a:prstClr val="black"/>
                </a:solidFill>
                <a:effectLst/>
                <a:uLnTx/>
                <a:uFillTx/>
                <a:latin typeface="Arial"/>
                <a:ea typeface="+mn-ea"/>
                <a:cs typeface="Arial"/>
              </a:rPr>
              <a:t>many </a:t>
            </a:r>
            <a:r>
              <a:rPr kumimoji="0" sz="2400" b="0" i="0" u="none" strike="noStrike" kern="1200" cap="none" spc="-13" normalizeH="0" baseline="0" noProof="0" dirty="0">
                <a:ln>
                  <a:noFill/>
                </a:ln>
                <a:solidFill>
                  <a:prstClr val="black"/>
                </a:solidFill>
                <a:effectLst/>
                <a:uLnTx/>
                <a:uFillTx/>
                <a:latin typeface="Arial"/>
                <a:ea typeface="+mn-ea"/>
                <a:cs typeface="Arial"/>
              </a:rPr>
              <a:t>hardware </a:t>
            </a:r>
            <a:r>
              <a:rPr kumimoji="0" sz="2400" b="0" i="0" u="none" strike="noStrike" kern="1200" cap="none" spc="-7" normalizeH="0" baseline="0" noProof="0" dirty="0">
                <a:ln>
                  <a:noFill/>
                </a:ln>
                <a:solidFill>
                  <a:prstClr val="black"/>
                </a:solidFill>
                <a:effectLst/>
                <a:uLnTx/>
                <a:uFillTx/>
                <a:latin typeface="Arial"/>
                <a:ea typeface="+mn-ea"/>
                <a:cs typeface="Arial"/>
              </a:rPr>
              <a:t>components </a:t>
            </a:r>
            <a:r>
              <a:rPr kumimoji="0" sz="2400" b="0" i="0" u="none" strike="noStrike" kern="1200" cap="none" spc="-13" normalizeH="0" baseline="0" noProof="0" dirty="0">
                <a:ln>
                  <a:noFill/>
                </a:ln>
                <a:solidFill>
                  <a:prstClr val="black"/>
                </a:solidFill>
                <a:effectLst/>
                <a:uLnTx/>
                <a:uFillTx/>
                <a:latin typeface="Arial"/>
                <a:ea typeface="+mn-ea"/>
                <a:cs typeface="Arial"/>
              </a:rPr>
              <a:t>as possible:  </a:t>
            </a:r>
            <a:r>
              <a:rPr kumimoji="0" sz="2400" b="0" i="0" u="none" strike="noStrike" kern="1200" cap="none" spc="-7" normalizeH="0" baseline="0" noProof="0" dirty="0">
                <a:ln>
                  <a:noFill/>
                </a:ln>
                <a:solidFill>
                  <a:prstClr val="black"/>
                </a:solidFill>
                <a:effectLst/>
                <a:uLnTx/>
                <a:uFillTx/>
                <a:latin typeface="Arial"/>
                <a:ea typeface="+mn-ea"/>
                <a:cs typeface="Arial"/>
              </a:rPr>
              <a:t>known performance,</a:t>
            </a:r>
            <a:r>
              <a:rPr kumimoji="0" sz="2400" b="0" i="0" u="none" strike="noStrike" kern="1200" cap="none" spc="0" normalizeH="0" baseline="0" noProof="0" dirty="0">
                <a:ln>
                  <a:noFill/>
                </a:ln>
                <a:solidFill>
                  <a:prstClr val="black"/>
                </a:solidFill>
                <a:effectLst/>
                <a:uLnTx/>
                <a:uFillTx/>
                <a:latin typeface="Arial"/>
                <a:ea typeface="+mn-ea"/>
                <a:cs typeface="Arial"/>
              </a:rPr>
              <a:t> </a:t>
            </a:r>
            <a:r>
              <a:rPr kumimoji="0" sz="2400" b="0" i="0" u="none" strike="noStrike" kern="1200" cap="none" spc="-20" normalizeH="0" baseline="0" noProof="0" dirty="0">
                <a:ln>
                  <a:noFill/>
                </a:ln>
                <a:solidFill>
                  <a:prstClr val="black"/>
                </a:solidFill>
                <a:effectLst/>
                <a:uLnTx/>
                <a:uFillTx/>
                <a:latin typeface="Arial"/>
                <a:ea typeface="+mn-ea"/>
                <a:cs typeface="Arial"/>
              </a:rPr>
              <a:t>power.</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423323" marR="1339392"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33" normalizeH="0" baseline="0" noProof="0" dirty="0">
                <a:ln>
                  <a:noFill/>
                </a:ln>
                <a:solidFill>
                  <a:prstClr val="black"/>
                </a:solidFill>
                <a:effectLst/>
                <a:uLnTx/>
                <a:uFillTx/>
                <a:latin typeface="Arial"/>
                <a:ea typeface="+mn-ea"/>
                <a:cs typeface="Arial"/>
              </a:rPr>
              <a:t>Want </a:t>
            </a:r>
            <a:r>
              <a:rPr kumimoji="0" sz="2400" b="0" i="0" u="none" strike="noStrike" kern="1200" cap="none" spc="0" normalizeH="0" baseline="0" noProof="0" dirty="0">
                <a:ln>
                  <a:noFill/>
                </a:ln>
                <a:solidFill>
                  <a:prstClr val="black"/>
                </a:solidFill>
                <a:effectLst/>
                <a:uLnTx/>
                <a:uFillTx/>
                <a:latin typeface="Arial"/>
                <a:ea typeface="+mn-ea"/>
                <a:cs typeface="Arial"/>
              </a:rPr>
              <a:t>to </a:t>
            </a:r>
            <a:r>
              <a:rPr kumimoji="0" sz="2400" b="0" i="0" u="none" strike="noStrike" kern="1200" cap="none" spc="-7" normalizeH="0" baseline="0" noProof="0" dirty="0">
                <a:ln>
                  <a:noFill/>
                </a:ln>
                <a:solidFill>
                  <a:prstClr val="black"/>
                </a:solidFill>
                <a:effectLst/>
                <a:uLnTx/>
                <a:uFillTx/>
                <a:latin typeface="Arial"/>
                <a:ea typeface="+mn-ea"/>
                <a:cs typeface="Arial"/>
              </a:rPr>
              <a:t>use software </a:t>
            </a:r>
            <a:r>
              <a:rPr kumimoji="0" sz="2400" b="0" i="0" u="none" strike="noStrike" kern="1200" cap="none" spc="-13" normalizeH="0" baseline="0" noProof="0" dirty="0">
                <a:ln>
                  <a:noFill/>
                </a:ln>
                <a:solidFill>
                  <a:prstClr val="black"/>
                </a:solidFill>
                <a:effectLst/>
                <a:uLnTx/>
                <a:uFillTx/>
                <a:latin typeface="Arial"/>
                <a:ea typeface="+mn-ea"/>
                <a:cs typeface="Arial"/>
              </a:rPr>
              <a:t>libraries where possible.  </a:t>
            </a:r>
            <a:r>
              <a:rPr kumimoji="0" sz="2400" b="0" i="0" u="none" strike="noStrike" kern="1200" cap="none" spc="-33" normalizeH="0" baseline="0" noProof="0" dirty="0">
                <a:ln>
                  <a:noFill/>
                </a:ln>
                <a:solidFill>
                  <a:prstClr val="black"/>
                </a:solidFill>
                <a:effectLst/>
                <a:uLnTx/>
                <a:uFillTx/>
                <a:latin typeface="Arial"/>
                <a:ea typeface="+mn-ea"/>
                <a:cs typeface="Arial"/>
              </a:rPr>
              <a:t>RTOS </a:t>
            </a:r>
            <a:r>
              <a:rPr kumimoji="0" sz="2400" b="0" i="0" u="none" strike="noStrike" kern="1200" cap="none" spc="-7" normalizeH="0" baseline="0" noProof="0" dirty="0">
                <a:ln>
                  <a:noFill/>
                </a:ln>
                <a:solidFill>
                  <a:prstClr val="black"/>
                </a:solidFill>
                <a:effectLst/>
                <a:uLnTx/>
                <a:uFillTx/>
                <a:latin typeface="Arial"/>
                <a:ea typeface="+mn-ea"/>
                <a:cs typeface="Arial"/>
              </a:rPr>
              <a:t>simplifies </a:t>
            </a:r>
            <a:r>
              <a:rPr kumimoji="0" sz="2400" b="0" i="0" u="none" strike="noStrike" kern="1200" cap="none" spc="-13" normalizeH="0" baseline="0" noProof="0" dirty="0">
                <a:ln>
                  <a:noFill/>
                </a:ln>
                <a:solidFill>
                  <a:prstClr val="black"/>
                </a:solidFill>
                <a:effectLst/>
                <a:uLnTx/>
                <a:uFillTx/>
                <a:latin typeface="Arial"/>
                <a:ea typeface="+mn-ea"/>
                <a:cs typeface="Arial"/>
              </a:rPr>
              <a:t>design </a:t>
            </a:r>
            <a:r>
              <a:rPr kumimoji="0" sz="2400" b="0" i="0" u="none" strike="noStrike" kern="1200" cap="none" spc="-7" normalizeH="0" baseline="0" noProof="0" dirty="0">
                <a:ln>
                  <a:noFill/>
                </a:ln>
                <a:solidFill>
                  <a:prstClr val="black"/>
                </a:solidFill>
                <a:effectLst/>
                <a:uLnTx/>
                <a:uFillTx/>
                <a:latin typeface="Arial"/>
                <a:ea typeface="+mn-ea"/>
                <a:cs typeface="Arial"/>
              </a:rPr>
              <a:t>of </a:t>
            </a:r>
            <a:r>
              <a:rPr kumimoji="0" sz="2400" b="0" i="0" u="none" strike="noStrike" kern="1200" cap="none" spc="-13" normalizeH="0" baseline="0" noProof="0" dirty="0">
                <a:ln>
                  <a:noFill/>
                </a:ln>
                <a:solidFill>
                  <a:prstClr val="black"/>
                </a:solidFill>
                <a:effectLst/>
                <a:uLnTx/>
                <a:uFillTx/>
                <a:latin typeface="Arial"/>
                <a:ea typeface="+mn-ea"/>
                <a:cs typeface="Arial"/>
              </a:rPr>
              <a:t>multi-tasking</a:t>
            </a:r>
            <a:r>
              <a:rPr kumimoji="0" sz="2400" b="0" i="0" u="none" strike="noStrike" kern="1200" cap="none" spc="47" normalizeH="0" baseline="0" noProof="0" dirty="0">
                <a:ln>
                  <a:noFill/>
                </a:ln>
                <a:solidFill>
                  <a:prstClr val="black"/>
                </a:solidFill>
                <a:effectLst/>
                <a:uLnTx/>
                <a:uFillTx/>
                <a:latin typeface="Arial"/>
                <a:ea typeface="+mn-ea"/>
                <a:cs typeface="Arial"/>
              </a:rPr>
              <a:t> </a:t>
            </a:r>
            <a:r>
              <a:rPr kumimoji="0" sz="2400" b="0" i="0" u="none" strike="noStrike" kern="1200" cap="none" spc="0" normalizeH="0" baseline="0" noProof="0" dirty="0">
                <a:ln>
                  <a:noFill/>
                </a:ln>
                <a:solidFill>
                  <a:prstClr val="black"/>
                </a:solidFill>
                <a:effectLst/>
                <a:uLnTx/>
                <a:uFillTx/>
                <a:latin typeface="Arial"/>
                <a:ea typeface="+mn-ea"/>
                <a:cs typeface="Arial"/>
              </a:rPr>
              <a:t>systems.</a:t>
            </a:r>
          </a:p>
        </p:txBody>
      </p:sp>
      <p:sp>
        <p:nvSpPr>
          <p:cNvPr id="9" name="object 9"/>
          <p:cNvSpPr txBox="1"/>
          <p:nvPr/>
        </p:nvSpPr>
        <p:spPr>
          <a:xfrm>
            <a:off x="677333" y="4776544"/>
            <a:ext cx="3244427"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0" normalizeH="0" baseline="0" noProof="0" dirty="0">
                <a:ln>
                  <a:noFill/>
                </a:ln>
                <a:solidFill>
                  <a:prstClr val="black"/>
                </a:solidFill>
                <a:effectLst/>
                <a:uLnTx/>
                <a:uFillTx/>
                <a:latin typeface="Arial"/>
                <a:ea typeface="+mn-ea"/>
                <a:cs typeface="Arial"/>
              </a:rPr>
              <a:t>But how you do</a:t>
            </a:r>
            <a:r>
              <a:rPr kumimoji="0" sz="2667" b="0" i="0" u="none" strike="noStrike" kern="1200" cap="none" spc="-140" normalizeH="0" baseline="0" noProof="0" dirty="0">
                <a:ln>
                  <a:noFill/>
                </a:ln>
                <a:solidFill>
                  <a:prstClr val="black"/>
                </a:solidFill>
                <a:effectLst/>
                <a:uLnTx/>
                <a:uFillTx/>
                <a:latin typeface="Arial"/>
                <a:ea typeface="+mn-ea"/>
                <a:cs typeface="Arial"/>
              </a:rPr>
              <a:t> </a:t>
            </a:r>
            <a:r>
              <a:rPr kumimoji="0" sz="2667" b="0" i="0" u="none" strike="noStrike" kern="1200" cap="none" spc="-7" normalizeH="0" baseline="0" noProof="0" dirty="0">
                <a:ln>
                  <a:noFill/>
                </a:ln>
                <a:solidFill>
                  <a:prstClr val="black"/>
                </a:solidFill>
                <a:effectLst/>
                <a:uLnTx/>
                <a:uFillTx/>
                <a:latin typeface="Arial"/>
                <a:ea typeface="+mn-ea"/>
                <a:cs typeface="Arial"/>
              </a:rPr>
              <a:t>it?</a:t>
            </a:r>
            <a:endParaRPr kumimoji="0" sz="2667" b="0" i="0" u="none" strike="noStrike" kern="1200" cap="none" spc="0" normalizeH="0" baseline="0" noProof="0" dirty="0">
              <a:ln>
                <a:noFill/>
              </a:ln>
              <a:solidFill>
                <a:prstClr val="black"/>
              </a:solidFill>
              <a:effectLst/>
              <a:uLnTx/>
              <a:uFillTx/>
              <a:latin typeface="Arial"/>
              <a:ea typeface="+mn-ea"/>
              <a:cs typeface="Arial"/>
            </a:endParaRPr>
          </a:p>
        </p:txBody>
      </p:sp>
      <p:sp>
        <p:nvSpPr>
          <p:cNvPr id="10" name="object 10"/>
          <p:cNvSpPr txBox="1"/>
          <p:nvPr/>
        </p:nvSpPr>
        <p:spPr>
          <a:xfrm>
            <a:off x="1188537" y="5192335"/>
            <a:ext cx="218440" cy="386430"/>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p>
        </p:txBody>
      </p:sp>
      <p:sp>
        <p:nvSpPr>
          <p:cNvPr id="11" name="object 11"/>
          <p:cNvSpPr txBox="1"/>
          <p:nvPr/>
        </p:nvSpPr>
        <p:spPr>
          <a:xfrm>
            <a:off x="1541356" y="5203173"/>
            <a:ext cx="10160314" cy="1125094"/>
          </a:xfrm>
          <a:prstGeom prst="rect">
            <a:avLst/>
          </a:prstGeom>
        </p:spPr>
        <p:txBody>
          <a:bodyPr vert="horz" wrap="square" lIns="0" tIns="16933" rIns="0" bIns="0" rtlCol="0">
            <a:spAutoFit/>
          </a:bodyPr>
          <a:lstStyle/>
          <a:p>
            <a:pPr marL="16933" marR="6773"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Do we use </a:t>
            </a:r>
            <a:r>
              <a:rPr kumimoji="0" sz="2400" b="0" i="0" u="none" strike="noStrike" kern="1200" cap="none" spc="0" normalizeH="0" baseline="0" noProof="0" dirty="0">
                <a:ln>
                  <a:noFill/>
                </a:ln>
                <a:solidFill>
                  <a:prstClr val="black"/>
                </a:solidFill>
                <a:effectLst/>
                <a:uLnTx/>
                <a:uFillTx/>
                <a:latin typeface="Arial"/>
                <a:ea typeface="+mn-ea"/>
                <a:cs typeface="Arial"/>
              </a:rPr>
              <a:t>a </a:t>
            </a:r>
            <a:r>
              <a:rPr kumimoji="0" sz="2400" b="0" i="0" u="none" strike="noStrike" kern="1200" cap="none" spc="-13" normalizeH="0" baseline="0" noProof="0" dirty="0">
                <a:ln>
                  <a:noFill/>
                </a:ln>
                <a:solidFill>
                  <a:prstClr val="black"/>
                </a:solidFill>
                <a:effectLst/>
                <a:uLnTx/>
                <a:uFillTx/>
                <a:latin typeface="Arial"/>
                <a:ea typeface="+mn-ea"/>
                <a:cs typeface="Arial"/>
              </a:rPr>
              <a:t>disciplined, analytical </a:t>
            </a:r>
            <a:r>
              <a:rPr kumimoji="0" sz="2400" b="0" i="0" u="none" strike="noStrike" kern="1200" cap="none" spc="-7" normalizeH="0" baseline="0" noProof="0" dirty="0">
                <a:ln>
                  <a:noFill/>
                </a:ln>
                <a:solidFill>
                  <a:prstClr val="black"/>
                </a:solidFill>
                <a:effectLst/>
                <a:uLnTx/>
                <a:uFillTx/>
                <a:latin typeface="Arial"/>
                <a:ea typeface="+mn-ea"/>
                <a:cs typeface="Arial"/>
              </a:rPr>
              <a:t>process </a:t>
            </a:r>
            <a:r>
              <a:rPr kumimoji="0" sz="2400" b="0" i="0" u="none" strike="noStrike" kern="1200" cap="none" spc="0" normalizeH="0" baseline="0" noProof="0" dirty="0">
                <a:ln>
                  <a:noFill/>
                </a:ln>
                <a:solidFill>
                  <a:prstClr val="black"/>
                </a:solidFill>
                <a:effectLst/>
                <a:uLnTx/>
                <a:uFillTx/>
                <a:latin typeface="Arial"/>
                <a:ea typeface="+mn-ea"/>
                <a:cs typeface="Arial"/>
              </a:rPr>
              <a:t>to </a:t>
            </a:r>
            <a:r>
              <a:rPr kumimoji="0" sz="2400" b="0" i="0" u="none" strike="noStrike" kern="1200" cap="none" spc="-7" normalizeH="0" baseline="0" noProof="0" dirty="0">
                <a:ln>
                  <a:noFill/>
                </a:ln>
                <a:solidFill>
                  <a:prstClr val="black"/>
                </a:solidFill>
                <a:effectLst/>
                <a:uLnTx/>
                <a:uFillTx/>
                <a:latin typeface="Arial"/>
                <a:ea typeface="+mn-ea"/>
                <a:cs typeface="Arial"/>
              </a:rPr>
              <a:t>create </a:t>
            </a:r>
            <a:r>
              <a:rPr kumimoji="0" sz="2400" b="0" i="0" u="none" strike="noStrike" kern="1200" cap="none" spc="0" normalizeH="0" baseline="0" noProof="0" dirty="0">
                <a:ln>
                  <a:noFill/>
                </a:ln>
                <a:solidFill>
                  <a:prstClr val="black"/>
                </a:solidFill>
                <a:effectLst/>
                <a:uLnTx/>
                <a:uFillTx/>
                <a:latin typeface="Arial"/>
                <a:ea typeface="+mn-ea"/>
                <a:cs typeface="Arial"/>
              </a:rPr>
              <a:t>a </a:t>
            </a:r>
            <a:r>
              <a:rPr kumimoji="0" sz="2400" b="0" i="0" u="none" strike="noStrike" kern="1200" cap="none" spc="-7" normalizeH="0" baseline="0" noProof="0" dirty="0">
                <a:ln>
                  <a:noFill/>
                </a:ln>
                <a:solidFill>
                  <a:prstClr val="black"/>
                </a:solidFill>
                <a:effectLst/>
                <a:uLnTx/>
                <a:uFillTx/>
                <a:latin typeface="Arial"/>
                <a:ea typeface="+mn-ea"/>
                <a:cs typeface="Arial"/>
              </a:rPr>
              <a:t>platform that  </a:t>
            </a:r>
            <a:r>
              <a:rPr kumimoji="0" sz="2400" b="0" i="0" u="none" strike="noStrike" kern="1200" cap="none" spc="0" normalizeH="0" baseline="0" noProof="0" dirty="0">
                <a:ln>
                  <a:noFill/>
                </a:ln>
                <a:solidFill>
                  <a:prstClr val="black"/>
                </a:solidFill>
                <a:effectLst/>
                <a:uLnTx/>
                <a:uFillTx/>
                <a:latin typeface="Arial"/>
                <a:ea typeface="+mn-ea"/>
                <a:cs typeface="Arial"/>
              </a:rPr>
              <a:t>can </a:t>
            </a:r>
            <a:r>
              <a:rPr kumimoji="0" sz="2400" b="0" i="0" u="none" strike="noStrike" kern="1200" cap="none" spc="-13" normalizeH="0" baseline="0" noProof="0" dirty="0">
                <a:ln>
                  <a:noFill/>
                </a:ln>
                <a:solidFill>
                  <a:prstClr val="black"/>
                </a:solidFill>
                <a:effectLst/>
                <a:uLnTx/>
                <a:uFillTx/>
                <a:latin typeface="Arial"/>
                <a:ea typeface="+mn-ea"/>
                <a:cs typeface="Arial"/>
              </a:rPr>
              <a:t>be </a:t>
            </a:r>
            <a:r>
              <a:rPr kumimoji="0" sz="2400" b="0" i="0" u="none" strike="noStrike" kern="1200" cap="none" spc="-7" normalizeH="0" baseline="0" noProof="0" dirty="0">
                <a:ln>
                  <a:noFill/>
                </a:ln>
                <a:solidFill>
                  <a:prstClr val="black"/>
                </a:solidFill>
                <a:effectLst/>
                <a:uLnTx/>
                <a:uFillTx/>
                <a:latin typeface="Arial"/>
                <a:ea typeface="+mn-ea"/>
                <a:cs typeface="Arial"/>
              </a:rPr>
              <a:t>used </a:t>
            </a:r>
            <a:r>
              <a:rPr kumimoji="0" sz="2400" b="0" i="0" u="none" strike="noStrike" kern="1200" cap="none" spc="-13" normalizeH="0" baseline="0" noProof="0" dirty="0">
                <a:ln>
                  <a:noFill/>
                </a:ln>
                <a:solidFill>
                  <a:prstClr val="black"/>
                </a:solidFill>
                <a:effectLst/>
                <a:uLnTx/>
                <a:uFillTx/>
                <a:latin typeface="Arial"/>
                <a:ea typeface="+mn-ea"/>
                <a:cs typeface="Arial"/>
              </a:rPr>
              <a:t>for </a:t>
            </a:r>
            <a:r>
              <a:rPr kumimoji="0" sz="2400" b="0" i="0" u="none" strike="noStrike" kern="1200" cap="none" spc="0" normalizeH="0" baseline="0" noProof="0" dirty="0">
                <a:ln>
                  <a:noFill/>
                </a:ln>
                <a:solidFill>
                  <a:prstClr val="black"/>
                </a:solidFill>
                <a:effectLst/>
                <a:uLnTx/>
                <a:uFillTx/>
                <a:latin typeface="Arial"/>
                <a:ea typeface="+mn-ea"/>
                <a:cs typeface="Arial"/>
              </a:rPr>
              <a:t>a </a:t>
            </a:r>
            <a:r>
              <a:rPr kumimoji="0" sz="2400" b="0" i="0" u="none" strike="noStrike" kern="1200" cap="none" spc="-7" normalizeH="0" baseline="0" noProof="0" dirty="0">
                <a:ln>
                  <a:noFill/>
                </a:ln>
                <a:solidFill>
                  <a:prstClr val="black"/>
                </a:solidFill>
                <a:effectLst/>
                <a:uLnTx/>
                <a:uFillTx/>
                <a:latin typeface="Arial"/>
                <a:ea typeface="+mn-ea"/>
                <a:cs typeface="Arial"/>
              </a:rPr>
              <a:t>series of</a:t>
            </a:r>
            <a:r>
              <a:rPr kumimoji="0" sz="2400" b="0" i="0" u="none" strike="noStrike" kern="1200" cap="none" spc="13" normalizeH="0" baseline="0" noProof="0" dirty="0">
                <a:ln>
                  <a:noFill/>
                </a:ln>
                <a:solidFill>
                  <a:prstClr val="black"/>
                </a:solidFill>
                <a:effectLst/>
                <a:uLnTx/>
                <a:uFillTx/>
                <a:latin typeface="Arial"/>
                <a:ea typeface="+mn-ea"/>
                <a:cs typeface="Arial"/>
              </a:rPr>
              <a:t> </a:t>
            </a:r>
            <a:r>
              <a:rPr kumimoji="0" sz="2400" b="0" i="0" u="none" strike="noStrike" kern="1200" cap="none" spc="-13" normalizeH="0" baseline="0" noProof="0" dirty="0">
                <a:ln>
                  <a:noFill/>
                </a:ln>
                <a:solidFill>
                  <a:prstClr val="black"/>
                </a:solidFill>
                <a:effectLst/>
                <a:uLnTx/>
                <a:uFillTx/>
                <a:latin typeface="Arial"/>
                <a:ea typeface="+mn-ea"/>
                <a:cs typeface="Arial"/>
              </a:rPr>
              <a:t>designs?</a:t>
            </a:r>
            <a:endParaRPr kumimoji="0" sz="2400" b="0" i="0" u="none" strike="noStrike" kern="1200" cap="none" spc="0" normalizeH="0" baseline="0" noProof="0" dirty="0">
              <a:ln>
                <a:noFill/>
              </a:ln>
              <a:solidFill>
                <a:prstClr val="black"/>
              </a:solidFill>
              <a:effectLst/>
              <a:uLnTx/>
              <a:uFillTx/>
              <a:latin typeface="Arial"/>
              <a:ea typeface="+mn-ea"/>
              <a:cs typeface="Arial"/>
            </a:endParaRPr>
          </a:p>
          <a:p>
            <a:pPr marL="16933" marR="0" lvl="0" indent="0" algn="l" defTabSz="914400" rtl="0" eaLnBrk="1" fontAlgn="auto" latinLnBrk="0" hangingPunct="1">
              <a:lnSpc>
                <a:spcPct val="100000"/>
              </a:lnSpc>
              <a:spcBef>
                <a:spcPts val="0"/>
              </a:spcBef>
              <a:spcAft>
                <a:spcPts val="0"/>
              </a:spcAft>
              <a:buClrTx/>
              <a:buSzTx/>
              <a:buFontTx/>
              <a:buNone/>
              <a:tabLst/>
              <a:defRPr/>
            </a:pPr>
            <a:r>
              <a:rPr kumimoji="0" sz="2400" b="0" i="0" u="none" strike="noStrike" kern="1200" cap="none" spc="-7" normalizeH="0" baseline="0" noProof="0" dirty="0">
                <a:ln>
                  <a:noFill/>
                </a:ln>
                <a:solidFill>
                  <a:prstClr val="black"/>
                </a:solidFill>
                <a:effectLst/>
                <a:uLnTx/>
                <a:uFillTx/>
                <a:latin typeface="Arial"/>
                <a:ea typeface="+mn-ea"/>
                <a:cs typeface="Arial"/>
              </a:rPr>
              <a:t>Do we </a:t>
            </a:r>
            <a:r>
              <a:rPr kumimoji="0" sz="2400" b="0" i="0" u="none" strike="noStrike" kern="1200" cap="none" spc="-13" normalizeH="0" baseline="0" noProof="0" dirty="0">
                <a:ln>
                  <a:noFill/>
                </a:ln>
                <a:solidFill>
                  <a:prstClr val="black"/>
                </a:solidFill>
                <a:effectLst/>
                <a:uLnTx/>
                <a:uFillTx/>
                <a:latin typeface="Arial"/>
                <a:ea typeface="+mn-ea"/>
                <a:cs typeface="Arial"/>
              </a:rPr>
              <a:t>grab </a:t>
            </a:r>
            <a:r>
              <a:rPr kumimoji="0" sz="2400" b="0" i="0" u="none" strike="noStrike" kern="1200" cap="none" spc="-7" normalizeH="0" baseline="0" noProof="0" dirty="0">
                <a:ln>
                  <a:noFill/>
                </a:ln>
                <a:solidFill>
                  <a:prstClr val="black"/>
                </a:solidFill>
                <a:effectLst/>
                <a:uLnTx/>
                <a:uFillTx/>
                <a:latin typeface="Arial"/>
                <a:ea typeface="+mn-ea"/>
                <a:cs typeface="Arial"/>
              </a:rPr>
              <a:t>the last </a:t>
            </a:r>
            <a:r>
              <a:rPr kumimoji="0" sz="2400" b="0" i="0" u="none" strike="noStrike" kern="1200" cap="none" spc="-13" normalizeH="0" baseline="0" noProof="0" dirty="0">
                <a:ln>
                  <a:noFill/>
                </a:ln>
                <a:solidFill>
                  <a:prstClr val="black"/>
                </a:solidFill>
                <a:effectLst/>
                <a:uLnTx/>
                <a:uFillTx/>
                <a:latin typeface="Arial"/>
                <a:ea typeface="+mn-ea"/>
                <a:cs typeface="Arial"/>
              </a:rPr>
              <a:t>similar </a:t>
            </a:r>
            <a:r>
              <a:rPr kumimoji="0" sz="2400" b="0" i="0" u="none" strike="noStrike" kern="1200" cap="none" spc="-7" normalizeH="0" baseline="0" noProof="0" dirty="0">
                <a:ln>
                  <a:noFill/>
                </a:ln>
                <a:solidFill>
                  <a:prstClr val="black"/>
                </a:solidFill>
                <a:effectLst/>
                <a:uLnTx/>
                <a:uFillTx/>
                <a:latin typeface="Arial"/>
                <a:ea typeface="+mn-ea"/>
                <a:cs typeface="Arial"/>
              </a:rPr>
              <a:t>design </a:t>
            </a:r>
            <a:r>
              <a:rPr kumimoji="0" sz="2400" b="0" i="0" u="none" strike="noStrike" kern="1200" cap="none" spc="-13" normalizeH="0" baseline="0" noProof="0" dirty="0">
                <a:ln>
                  <a:noFill/>
                </a:ln>
                <a:solidFill>
                  <a:prstClr val="black"/>
                </a:solidFill>
                <a:effectLst/>
                <a:uLnTx/>
                <a:uFillTx/>
                <a:latin typeface="Arial"/>
                <a:ea typeface="+mn-ea"/>
                <a:cs typeface="Arial"/>
              </a:rPr>
              <a:t>and </a:t>
            </a:r>
            <a:r>
              <a:rPr kumimoji="0" sz="2400" b="0" i="0" u="none" strike="noStrike" kern="1200" cap="none" spc="0" normalizeH="0" baseline="0" noProof="0" dirty="0">
                <a:ln>
                  <a:noFill/>
                </a:ln>
                <a:solidFill>
                  <a:prstClr val="black"/>
                </a:solidFill>
                <a:effectLst/>
                <a:uLnTx/>
                <a:uFillTx/>
                <a:latin typeface="Arial"/>
                <a:ea typeface="+mn-ea"/>
                <a:cs typeface="Arial"/>
              </a:rPr>
              <a:t>start</a:t>
            </a:r>
            <a:r>
              <a:rPr kumimoji="0" sz="2400" b="0" i="0" u="none" strike="noStrike" kern="1200" cap="none" spc="47" normalizeH="0" baseline="0" noProof="0" dirty="0">
                <a:ln>
                  <a:noFill/>
                </a:ln>
                <a:solidFill>
                  <a:prstClr val="black"/>
                </a:solidFill>
                <a:effectLst/>
                <a:uLnTx/>
                <a:uFillTx/>
                <a:latin typeface="Arial"/>
                <a:ea typeface="+mn-ea"/>
                <a:cs typeface="Arial"/>
              </a:rPr>
              <a:t> </a:t>
            </a:r>
            <a:r>
              <a:rPr kumimoji="0" sz="2400" b="0" i="0" u="none" strike="noStrike" kern="1200" cap="none" spc="-13" normalizeH="0" baseline="0" noProof="0" dirty="0">
                <a:ln>
                  <a:noFill/>
                </a:ln>
                <a:solidFill>
                  <a:prstClr val="black"/>
                </a:solidFill>
                <a:effectLst/>
                <a:uLnTx/>
                <a:uFillTx/>
                <a:latin typeface="Arial"/>
                <a:ea typeface="+mn-ea"/>
                <a:cs typeface="Arial"/>
              </a:rPr>
              <a:t>hacking?</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sp>
        <p:nvSpPr>
          <p:cNvPr id="12" name="object 12"/>
          <p:cNvSpPr txBox="1"/>
          <p:nvPr/>
        </p:nvSpPr>
        <p:spPr>
          <a:xfrm>
            <a:off x="1202267" y="6082454"/>
            <a:ext cx="218440" cy="386430"/>
          </a:xfrm>
          <a:prstGeom prst="rect">
            <a:avLst/>
          </a:prstGeom>
        </p:spPr>
        <p:txBody>
          <a:bodyPr vert="horz" wrap="square" lIns="0" tIns="16933" rIns="0" bIns="0" rtlCol="0">
            <a:spAutoFit/>
          </a:bodyPr>
          <a:lstStyle/>
          <a:p>
            <a:pPr marL="16933" marR="0" lvl="0" indent="0" algn="l" defTabSz="914400" rtl="0" eaLnBrk="1" fontAlgn="auto" latinLnBrk="0" hangingPunct="1">
              <a:lnSpc>
                <a:spcPct val="100000"/>
              </a:lnSpc>
              <a:spcBef>
                <a:spcPts val="133"/>
              </a:spcBef>
              <a:spcAft>
                <a:spcPts val="0"/>
              </a:spcAft>
              <a:buClrTx/>
              <a:buSzTx/>
              <a:buFontTx/>
              <a:buNone/>
              <a:tabLst/>
              <a:defRPr/>
            </a:pPr>
            <a:r>
              <a:rPr kumimoji="0" sz="2400" b="0" i="0" u="none" strike="noStrike" kern="1200" cap="none" spc="0" normalizeH="0" baseline="0" noProof="0" dirty="0">
                <a:ln>
                  <a:noFill/>
                </a:ln>
                <a:solidFill>
                  <a:prstClr val="black"/>
                </a:solidFill>
                <a:effectLst/>
                <a:uLnTx/>
                <a:uFillTx/>
                <a:latin typeface="Arial"/>
                <a:ea typeface="+mn-ea"/>
                <a:cs typeface="Arial"/>
              </a:rPr>
              <a:t>○</a:t>
            </a:r>
            <a:endParaRPr kumimoji="0" sz="24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447039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667" y="528647"/>
            <a:ext cx="10539159" cy="632651"/>
          </a:xfrm>
          <a:prstGeom prst="rect">
            <a:avLst/>
          </a:prstGeom>
        </p:spPr>
        <p:txBody>
          <a:bodyPr vert="horz" wrap="square" lIns="0" tIns="16933" rIns="0" bIns="0" rtlCol="0" anchor="ctr">
            <a:spAutoFit/>
          </a:bodyPr>
          <a:lstStyle/>
          <a:p>
            <a:pPr marL="16933">
              <a:lnSpc>
                <a:spcPct val="100000"/>
              </a:lnSpc>
              <a:spcBef>
                <a:spcPts val="133"/>
              </a:spcBef>
            </a:pPr>
            <a:r>
              <a:rPr sz="4000" spc="-13" dirty="0"/>
              <a:t>Embedded Systems </a:t>
            </a:r>
            <a:r>
              <a:rPr sz="4000" dirty="0"/>
              <a:t>- Design</a:t>
            </a:r>
            <a:r>
              <a:rPr sz="4000" spc="-27" dirty="0"/>
              <a:t> </a:t>
            </a:r>
            <a:r>
              <a:rPr sz="4000" spc="-13" dirty="0"/>
              <a:t>Concepts</a:t>
            </a:r>
            <a:endParaRPr sz="4000"/>
          </a:p>
        </p:txBody>
      </p:sp>
      <p:sp>
        <p:nvSpPr>
          <p:cNvPr id="3" name="object 3"/>
          <p:cNvSpPr txBox="1"/>
          <p:nvPr/>
        </p:nvSpPr>
        <p:spPr>
          <a:xfrm>
            <a:off x="592667" y="1315186"/>
            <a:ext cx="4732020" cy="427532"/>
          </a:xfrm>
          <a:prstGeom prst="rect">
            <a:avLst/>
          </a:prstGeom>
        </p:spPr>
        <p:txBody>
          <a:bodyPr vert="horz" wrap="square" lIns="0" tIns="16933" rIns="0" bIns="0" rtlCol="0">
            <a:spAutoFit/>
          </a:bodyPr>
          <a:lstStyle/>
          <a:p>
            <a:pPr marL="440256" marR="0" lvl="0" indent="-423323" algn="l" defTabSz="914400" rtl="0" eaLnBrk="1" fontAlgn="auto" latinLnBrk="0" hangingPunct="1">
              <a:lnSpc>
                <a:spcPct val="100000"/>
              </a:lnSpc>
              <a:spcBef>
                <a:spcPts val="133"/>
              </a:spcBef>
              <a:spcAft>
                <a:spcPts val="0"/>
              </a:spcAft>
              <a:buClrTx/>
              <a:buSzTx/>
              <a:buFontTx/>
              <a:buChar char="●"/>
              <a:tabLst>
                <a:tab pos="439409" algn="l"/>
                <a:tab pos="440256" algn="l"/>
              </a:tabLst>
              <a:defRPr/>
            </a:pPr>
            <a:r>
              <a:rPr kumimoji="0" sz="2667" b="0" i="0" u="none" strike="noStrike" kern="1200" cap="none" spc="-7" normalizeH="0" baseline="0" noProof="0" dirty="0">
                <a:ln>
                  <a:noFill/>
                </a:ln>
                <a:solidFill>
                  <a:prstClr val="black"/>
                </a:solidFill>
                <a:effectLst/>
                <a:uLnTx/>
                <a:uFillTx/>
                <a:latin typeface="Arial"/>
                <a:ea typeface="+mn-ea"/>
                <a:cs typeface="Arial"/>
              </a:rPr>
              <a:t>Platform </a:t>
            </a:r>
            <a:r>
              <a:rPr kumimoji="0" sz="2667" b="0" i="0" u="none" strike="noStrike" kern="1200" cap="none" spc="0" normalizeH="0" baseline="0" noProof="0" dirty="0">
                <a:ln>
                  <a:noFill/>
                </a:ln>
                <a:solidFill>
                  <a:prstClr val="black"/>
                </a:solidFill>
                <a:effectLst/>
                <a:uLnTx/>
                <a:uFillTx/>
                <a:latin typeface="Arial"/>
                <a:ea typeface="+mn-ea"/>
                <a:cs typeface="Arial"/>
              </a:rPr>
              <a:t>example - iPhone</a:t>
            </a:r>
            <a:r>
              <a:rPr kumimoji="0" sz="2667" b="0" i="0" u="none" strike="noStrike" kern="1200" cap="none" spc="-113" normalizeH="0" baseline="0" noProof="0" dirty="0">
                <a:ln>
                  <a:noFill/>
                </a:ln>
                <a:solidFill>
                  <a:prstClr val="black"/>
                </a:solidFill>
                <a:effectLst/>
                <a:uLnTx/>
                <a:uFillTx/>
                <a:latin typeface="Arial"/>
                <a:ea typeface="+mn-ea"/>
                <a:cs typeface="Arial"/>
              </a:rPr>
              <a:t> </a:t>
            </a:r>
            <a:r>
              <a:rPr kumimoji="0" sz="2667" b="0" i="0" u="none" strike="noStrike" kern="1200" cap="none" spc="0" normalizeH="0" baseline="0" noProof="0" dirty="0">
                <a:ln>
                  <a:noFill/>
                </a:ln>
                <a:solidFill>
                  <a:prstClr val="black"/>
                </a:solidFill>
                <a:effectLst/>
                <a:uLnTx/>
                <a:uFillTx/>
                <a:latin typeface="Arial"/>
                <a:ea typeface="+mn-ea"/>
                <a:cs typeface="Arial"/>
              </a:rPr>
              <a:t>6</a:t>
            </a:r>
          </a:p>
        </p:txBody>
      </p:sp>
      <p:sp>
        <p:nvSpPr>
          <p:cNvPr id="4" name="object 4"/>
          <p:cNvSpPr/>
          <p:nvPr/>
        </p:nvSpPr>
        <p:spPr>
          <a:xfrm>
            <a:off x="2363316" y="1759930"/>
            <a:ext cx="7465368" cy="45694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209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793D98-4750-D988-7EA9-371092A7C57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F91A3952-A237-4C1E-B169-F29C0CF1F605}" type="slidenum">
              <a:rPr lang="en-US" sz="1200" smtClean="0">
                <a:solidFill>
                  <a:schemeClr val="tx1">
                    <a:tint val="75000"/>
                  </a:schemeClr>
                </a:solidFill>
              </a:rPr>
              <a:pPr>
                <a:spcAft>
                  <a:spcPts val="600"/>
                </a:spcAft>
              </a:pPr>
              <a:t>15</a:t>
            </a:fld>
            <a:endParaRPr lang="en-US" sz="1200">
              <a:solidFill>
                <a:schemeClr val="tx1">
                  <a:tint val="75000"/>
                </a:schemeClr>
              </a:solidFill>
            </a:endParaRPr>
          </a:p>
        </p:txBody>
      </p:sp>
      <p:pic>
        <p:nvPicPr>
          <p:cNvPr id="8" name="Content Placeholder 7">
            <a:extLst>
              <a:ext uri="{FF2B5EF4-FFF2-40B4-BE49-F238E27FC236}">
                <a16:creationId xmlns:a16="http://schemas.microsoft.com/office/drawing/2014/main" id="{BB5CF62F-FFFC-A96B-8F47-D262094E5D8D}"/>
              </a:ext>
            </a:extLst>
          </p:cNvPr>
          <p:cNvPicPr>
            <a:picLocks noGrp="1" noChangeAspect="1"/>
          </p:cNvPicPr>
          <p:nvPr>
            <p:ph idx="1"/>
          </p:nvPr>
        </p:nvPicPr>
        <p:blipFill>
          <a:blip r:embed="rId2"/>
          <a:stretch>
            <a:fillRect/>
          </a:stretch>
        </p:blipFill>
        <p:spPr>
          <a:xfrm>
            <a:off x="1481136" y="392112"/>
            <a:ext cx="10126981" cy="6329363"/>
          </a:xfrm>
          <a:prstGeom prst="rect">
            <a:avLst/>
          </a:prstGeom>
        </p:spPr>
      </p:pic>
    </p:spTree>
    <p:extLst>
      <p:ext uri="{BB962C8B-B14F-4D97-AF65-F5344CB8AC3E}">
        <p14:creationId xmlns:p14="http://schemas.microsoft.com/office/powerpoint/2010/main" val="2055816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C33E-4399-8802-42E8-EE88FA56A15D}"/>
              </a:ext>
            </a:extLst>
          </p:cNvPr>
          <p:cNvSpPr>
            <a:spLocks noGrp="1"/>
          </p:cNvSpPr>
          <p:nvPr>
            <p:ph type="title"/>
          </p:nvPr>
        </p:nvSpPr>
        <p:spPr/>
        <p:txBody>
          <a:bodyPr/>
          <a:lstStyle/>
          <a:p>
            <a:r>
              <a:rPr lang="en-US" dirty="0"/>
              <a:t>ES Design Process Activities</a:t>
            </a:r>
          </a:p>
        </p:txBody>
      </p:sp>
      <p:graphicFrame>
        <p:nvGraphicFramePr>
          <p:cNvPr id="5" name="Content Placeholder 4">
            <a:extLst>
              <a:ext uri="{FF2B5EF4-FFF2-40B4-BE49-F238E27FC236}">
                <a16:creationId xmlns:a16="http://schemas.microsoft.com/office/drawing/2014/main" id="{C740C90F-30ED-D6BE-B186-2BB0765B4ED3}"/>
              </a:ext>
            </a:extLst>
          </p:cNvPr>
          <p:cNvGraphicFramePr>
            <a:graphicFrameLocks noGrp="1"/>
          </p:cNvGraphicFramePr>
          <p:nvPr>
            <p:ph idx="1"/>
          </p:nvPr>
        </p:nvGraphicFramePr>
        <p:xfrm>
          <a:off x="940904" y="1195843"/>
          <a:ext cx="10310192" cy="4760097"/>
        </p:xfrm>
        <a:graphic>
          <a:graphicData uri="http://schemas.openxmlformats.org/drawingml/2006/table">
            <a:tbl>
              <a:tblPr/>
              <a:tblGrid>
                <a:gridCol w="5155096">
                  <a:extLst>
                    <a:ext uri="{9D8B030D-6E8A-4147-A177-3AD203B41FA5}">
                      <a16:colId xmlns:a16="http://schemas.microsoft.com/office/drawing/2014/main" val="2962033542"/>
                    </a:ext>
                  </a:extLst>
                </a:gridCol>
                <a:gridCol w="5155096">
                  <a:extLst>
                    <a:ext uri="{9D8B030D-6E8A-4147-A177-3AD203B41FA5}">
                      <a16:colId xmlns:a16="http://schemas.microsoft.com/office/drawing/2014/main" val="3631177661"/>
                    </a:ext>
                  </a:extLst>
                </a:gridCol>
              </a:tblGrid>
              <a:tr h="724915">
                <a:tc>
                  <a:txBody>
                    <a:bodyPr/>
                    <a:lstStyle/>
                    <a:p>
                      <a:pPr algn="ctr"/>
                      <a:r>
                        <a:rPr lang="en-US" sz="2400" b="1" dirty="0">
                          <a:effectLst/>
                        </a:rPr>
                        <a:t>Design Metrics / Design Parameters of an Embedded System</a:t>
                      </a:r>
                      <a:endParaRPr lang="en-US" sz="2400" dirty="0">
                        <a:effectLst/>
                      </a:endParaRPr>
                    </a:p>
                    <a:p>
                      <a:pPr algn="ctr"/>
                      <a:r>
                        <a:rPr lang="en-US" sz="2400" dirty="0">
                          <a:effectLst/>
                        </a:rPr>
                        <a:t> </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a:effectLst/>
                        </a:rPr>
                        <a:t>Function</a:t>
                      </a:r>
                      <a:endParaRPr lang="en-US" sz="2400">
                        <a:effectLst/>
                      </a:endParaRP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1664013"/>
                  </a:ext>
                </a:extLst>
              </a:tr>
              <a:tr h="724915">
                <a:tc>
                  <a:txBody>
                    <a:bodyPr/>
                    <a:lstStyle/>
                    <a:p>
                      <a:pPr algn="ctr"/>
                      <a:r>
                        <a:rPr lang="en-US" sz="2400" dirty="0">
                          <a:effectLst/>
                        </a:rPr>
                        <a:t>Power Dissipation</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Always maintained low</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238991"/>
                  </a:ext>
                </a:extLst>
              </a:tr>
              <a:tr h="724915">
                <a:tc>
                  <a:txBody>
                    <a:bodyPr/>
                    <a:lstStyle/>
                    <a:p>
                      <a:pPr algn="ctr"/>
                      <a:r>
                        <a:rPr lang="en-US" sz="2400" dirty="0">
                          <a:effectLst/>
                        </a:rPr>
                        <a:t>Performance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Should be high</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700085"/>
                  </a:ext>
                </a:extLst>
              </a:tr>
              <a:tr h="724915">
                <a:tc>
                  <a:txBody>
                    <a:bodyPr/>
                    <a:lstStyle/>
                    <a:p>
                      <a:pPr algn="ctr"/>
                      <a:r>
                        <a:rPr lang="en-US" sz="2400" dirty="0">
                          <a:effectLst/>
                        </a:rPr>
                        <a:t>Process Deadlines</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The process/task should be completed within a specified time.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5506267"/>
                  </a:ext>
                </a:extLst>
              </a:tr>
              <a:tr h="724915">
                <a:tc>
                  <a:txBody>
                    <a:bodyPr/>
                    <a:lstStyle/>
                    <a:p>
                      <a:pPr algn="ctr"/>
                      <a:r>
                        <a:rPr lang="en-US" sz="2400">
                          <a:effectLst/>
                        </a:rPr>
                        <a:t>Manufacturing Cost</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Should be maintained.</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3553035"/>
                  </a:ext>
                </a:extLst>
              </a:tr>
              <a:tr h="724915">
                <a:tc>
                  <a:txBody>
                    <a:bodyPr/>
                    <a:lstStyle/>
                    <a:p>
                      <a:pPr algn="ctr"/>
                      <a:r>
                        <a:rPr lang="en-US" sz="2400">
                          <a:effectLst/>
                        </a:rPr>
                        <a:t>Engineering Cost</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It is the cost for the edit-test-debug of hardware and software.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4461550"/>
                  </a:ext>
                </a:extLst>
              </a:tr>
            </a:tbl>
          </a:graphicData>
        </a:graphic>
      </p:graphicFrame>
      <p:sp>
        <p:nvSpPr>
          <p:cNvPr id="4" name="Slide Number Placeholder 3">
            <a:extLst>
              <a:ext uri="{FF2B5EF4-FFF2-40B4-BE49-F238E27FC236}">
                <a16:creationId xmlns:a16="http://schemas.microsoft.com/office/drawing/2014/main" id="{0F4145A6-8D28-4DC2-47D2-7EA319FC5232}"/>
              </a:ext>
            </a:extLst>
          </p:cNvPr>
          <p:cNvSpPr>
            <a:spLocks noGrp="1"/>
          </p:cNvSpPr>
          <p:nvPr>
            <p:ph type="sldNum" sz="quarter" idx="12"/>
          </p:nvPr>
        </p:nvSpPr>
        <p:spPr/>
        <p:txBody>
          <a:bodyPr/>
          <a:lstStyle/>
          <a:p>
            <a:fld id="{F91A3952-A237-4C1E-B169-F29C0CF1F605}" type="slidenum">
              <a:rPr lang="en-US" smtClean="0"/>
              <a:pPr/>
              <a:t>16</a:t>
            </a:fld>
            <a:endParaRPr lang="en-US" dirty="0"/>
          </a:p>
        </p:txBody>
      </p:sp>
    </p:spTree>
    <p:extLst>
      <p:ext uri="{BB962C8B-B14F-4D97-AF65-F5344CB8AC3E}">
        <p14:creationId xmlns:p14="http://schemas.microsoft.com/office/powerpoint/2010/main" val="833291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51DEF-051E-233E-7786-28FD12C35669}"/>
              </a:ext>
            </a:extLst>
          </p:cNvPr>
          <p:cNvSpPr>
            <a:spLocks noGrp="1"/>
          </p:cNvSpPr>
          <p:nvPr>
            <p:ph type="title"/>
          </p:nvPr>
        </p:nvSpPr>
        <p:spPr/>
        <p:txBody>
          <a:bodyPr/>
          <a:lstStyle/>
          <a:p>
            <a:r>
              <a:rPr lang="en-US" dirty="0"/>
              <a:t>ES Design Process Activities</a:t>
            </a:r>
          </a:p>
        </p:txBody>
      </p:sp>
      <p:sp>
        <p:nvSpPr>
          <p:cNvPr id="4" name="Slide Number Placeholder 3">
            <a:extLst>
              <a:ext uri="{FF2B5EF4-FFF2-40B4-BE49-F238E27FC236}">
                <a16:creationId xmlns:a16="http://schemas.microsoft.com/office/drawing/2014/main" id="{A3BA87DC-36D6-33D9-7D20-6D19DC651A86}"/>
              </a:ext>
            </a:extLst>
          </p:cNvPr>
          <p:cNvSpPr>
            <a:spLocks noGrp="1"/>
          </p:cNvSpPr>
          <p:nvPr>
            <p:ph type="sldNum" sz="quarter" idx="12"/>
          </p:nvPr>
        </p:nvSpPr>
        <p:spPr/>
        <p:txBody>
          <a:bodyPr/>
          <a:lstStyle/>
          <a:p>
            <a:fld id="{F91A3952-A237-4C1E-B169-F29C0CF1F605}" type="slidenum">
              <a:rPr lang="en-US" smtClean="0"/>
              <a:pPr/>
              <a:t>17</a:t>
            </a:fld>
            <a:endParaRPr lang="en-US" dirty="0"/>
          </a:p>
        </p:txBody>
      </p:sp>
      <p:graphicFrame>
        <p:nvGraphicFramePr>
          <p:cNvPr id="5" name="Table 4">
            <a:extLst>
              <a:ext uri="{FF2B5EF4-FFF2-40B4-BE49-F238E27FC236}">
                <a16:creationId xmlns:a16="http://schemas.microsoft.com/office/drawing/2014/main" id="{71C6DEAE-FEEF-243A-7D15-DE1489DBEDAC}"/>
              </a:ext>
            </a:extLst>
          </p:cNvPr>
          <p:cNvGraphicFramePr>
            <a:graphicFrameLocks noGrp="1"/>
          </p:cNvGraphicFramePr>
          <p:nvPr/>
        </p:nvGraphicFramePr>
        <p:xfrm>
          <a:off x="731732" y="1288871"/>
          <a:ext cx="10310192" cy="4796600"/>
        </p:xfrm>
        <a:graphic>
          <a:graphicData uri="http://schemas.openxmlformats.org/drawingml/2006/table">
            <a:tbl>
              <a:tblPr>
                <a:tableStyleId>{2D5ABB26-0587-4C30-8999-92F81FD0307C}</a:tableStyleId>
              </a:tblPr>
              <a:tblGrid>
                <a:gridCol w="5155096">
                  <a:extLst>
                    <a:ext uri="{9D8B030D-6E8A-4147-A177-3AD203B41FA5}">
                      <a16:colId xmlns:a16="http://schemas.microsoft.com/office/drawing/2014/main" val="328082785"/>
                    </a:ext>
                  </a:extLst>
                </a:gridCol>
                <a:gridCol w="5155096">
                  <a:extLst>
                    <a:ext uri="{9D8B030D-6E8A-4147-A177-3AD203B41FA5}">
                      <a16:colId xmlns:a16="http://schemas.microsoft.com/office/drawing/2014/main" val="813370352"/>
                    </a:ext>
                  </a:extLst>
                </a:gridCol>
              </a:tblGrid>
              <a:tr h="323343">
                <a:tc>
                  <a:txBody>
                    <a:bodyPr/>
                    <a:lstStyle/>
                    <a:p>
                      <a:pPr algn="ctr"/>
                      <a:r>
                        <a:rPr lang="en-US" sz="2400" dirty="0">
                          <a:effectLst/>
                        </a:rPr>
                        <a:t>Size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Size is defined in terms of memory RAM/ROM/Flash Memory/Physical Memory.</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4485313"/>
                  </a:ext>
                </a:extLst>
              </a:tr>
              <a:tr h="58410">
                <a:tc>
                  <a:txBody>
                    <a:bodyPr/>
                    <a:lstStyle/>
                    <a:p>
                      <a:pPr algn="ctr"/>
                      <a:r>
                        <a:rPr lang="en-US" sz="2400">
                          <a:effectLst/>
                        </a:rPr>
                        <a:t>Prototype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It is the total time taken for developing a system and testing it.</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804138"/>
                  </a:ext>
                </a:extLst>
              </a:tr>
              <a:tr h="83443">
                <a:tc>
                  <a:txBody>
                    <a:bodyPr/>
                    <a:lstStyle/>
                    <a:p>
                      <a:pPr algn="ctr"/>
                      <a:r>
                        <a:rPr lang="en-US" sz="2400" dirty="0">
                          <a:effectLst/>
                        </a:rPr>
                        <a:t>Safety</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System safety should be taken like phone locking, user safety like engine break down safety measure must be taken</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991186"/>
                  </a:ext>
                </a:extLst>
              </a:tr>
              <a:tr h="83443">
                <a:tc>
                  <a:txBody>
                    <a:bodyPr/>
                    <a:lstStyle/>
                    <a:p>
                      <a:pPr algn="ctr"/>
                      <a:r>
                        <a:rPr lang="en-US" sz="2400" dirty="0">
                          <a:effectLst/>
                        </a:rPr>
                        <a:t>Maintenance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Proper maintenance of the system must be taken, in order to avoid system failure.</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8325314"/>
                  </a:ext>
                </a:extLst>
              </a:tr>
              <a:tr h="83443">
                <a:tc>
                  <a:txBody>
                    <a:bodyPr/>
                    <a:lstStyle/>
                    <a:p>
                      <a:pPr algn="ctr"/>
                      <a:r>
                        <a:rPr lang="en-US" sz="2400">
                          <a:effectLst/>
                        </a:rPr>
                        <a:t>Time to market</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It is the time taken for the product/system developed to be launched into the market.</a:t>
                      </a:r>
                    </a:p>
                  </a:txBody>
                  <a:tcPr marL="8344" marR="8344" marT="4172" marB="41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552485"/>
                  </a:ext>
                </a:extLst>
              </a:tr>
            </a:tbl>
          </a:graphicData>
        </a:graphic>
      </p:graphicFrame>
    </p:spTree>
    <p:extLst>
      <p:ext uri="{BB962C8B-B14F-4D97-AF65-F5344CB8AC3E}">
        <p14:creationId xmlns:p14="http://schemas.microsoft.com/office/powerpoint/2010/main" val="4043057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3341-25B6-CD35-6898-B527CAB181EB}"/>
              </a:ext>
            </a:extLst>
          </p:cNvPr>
          <p:cNvSpPr>
            <a:spLocks noGrp="1"/>
          </p:cNvSpPr>
          <p:nvPr>
            <p:ph type="title"/>
          </p:nvPr>
        </p:nvSpPr>
        <p:spPr/>
        <p:txBody>
          <a:bodyPr/>
          <a:lstStyle/>
          <a:p>
            <a:r>
              <a:rPr lang="en-US" b="1" dirty="0"/>
              <a:t>ES Design Examples</a:t>
            </a:r>
            <a:endParaRPr lang="en-US" dirty="0"/>
          </a:p>
        </p:txBody>
      </p:sp>
      <p:sp>
        <p:nvSpPr>
          <p:cNvPr id="3" name="Content Placeholder 2">
            <a:extLst>
              <a:ext uri="{FF2B5EF4-FFF2-40B4-BE49-F238E27FC236}">
                <a16:creationId xmlns:a16="http://schemas.microsoft.com/office/drawing/2014/main" id="{B6A75DF4-3A75-F256-FC5F-52CCAC48E9EA}"/>
              </a:ext>
            </a:extLst>
          </p:cNvPr>
          <p:cNvSpPr>
            <a:spLocks noGrp="1"/>
          </p:cNvSpPr>
          <p:nvPr>
            <p:ph idx="1"/>
          </p:nvPr>
        </p:nvSpPr>
        <p:spPr/>
        <p:txBody>
          <a:bodyPr/>
          <a:lstStyle/>
          <a:p>
            <a:pPr>
              <a:buFont typeface="Arial" panose="020B0604020202020204" pitchFamily="34" charset="0"/>
              <a:buChar char="•"/>
            </a:pPr>
            <a:r>
              <a:rPr lang="en-US" dirty="0"/>
              <a:t>Automatic chocolate vending machine (ACVM)</a:t>
            </a:r>
          </a:p>
          <a:p>
            <a:pPr>
              <a:buFont typeface="Arial" panose="020B0604020202020204" pitchFamily="34" charset="0"/>
              <a:buChar char="•"/>
            </a:pPr>
            <a:r>
              <a:rPr lang="en-US" dirty="0"/>
              <a:t>Digital camera</a:t>
            </a:r>
          </a:p>
          <a:p>
            <a:pPr>
              <a:buFont typeface="Arial" panose="020B0604020202020204" pitchFamily="34" charset="0"/>
              <a:buChar char="•"/>
            </a:pPr>
            <a:r>
              <a:rPr lang="en-US" dirty="0"/>
              <a:t>Smart card</a:t>
            </a:r>
          </a:p>
          <a:p>
            <a:pPr>
              <a:buFont typeface="Arial" panose="020B0604020202020204" pitchFamily="34" charset="0"/>
              <a:buChar char="•"/>
            </a:pPr>
            <a:r>
              <a:rPr lang="en-US" dirty="0"/>
              <a:t>Mobile phone</a:t>
            </a:r>
          </a:p>
          <a:p>
            <a:pPr>
              <a:buFont typeface="Arial" panose="020B0604020202020204" pitchFamily="34" charset="0"/>
              <a:buChar char="•"/>
            </a:pPr>
            <a:r>
              <a:rPr lang="en-US" dirty="0"/>
              <a:t>Mobile computer..</a:t>
            </a:r>
            <a:r>
              <a:rPr lang="en-US" dirty="0" err="1"/>
              <a:t>etc</a:t>
            </a:r>
            <a:r>
              <a:rPr lang="en-US" dirty="0"/>
              <a:t>.</a:t>
            </a:r>
          </a:p>
          <a:p>
            <a:endParaRPr lang="en-US" dirty="0"/>
          </a:p>
        </p:txBody>
      </p:sp>
      <p:sp>
        <p:nvSpPr>
          <p:cNvPr id="4" name="Slide Number Placeholder 3">
            <a:extLst>
              <a:ext uri="{FF2B5EF4-FFF2-40B4-BE49-F238E27FC236}">
                <a16:creationId xmlns:a16="http://schemas.microsoft.com/office/drawing/2014/main" id="{D9F6DCB2-D406-98F2-A509-3A5C57C8377B}"/>
              </a:ext>
            </a:extLst>
          </p:cNvPr>
          <p:cNvSpPr>
            <a:spLocks noGrp="1"/>
          </p:cNvSpPr>
          <p:nvPr>
            <p:ph type="sldNum" sz="quarter" idx="12"/>
          </p:nvPr>
        </p:nvSpPr>
        <p:spPr/>
        <p:txBody>
          <a:bodyPr/>
          <a:lstStyle/>
          <a:p>
            <a:fld id="{F91A3952-A237-4C1E-B169-F29C0CF1F605}" type="slidenum">
              <a:rPr lang="en-US" smtClean="0"/>
              <a:pPr/>
              <a:t>18</a:t>
            </a:fld>
            <a:endParaRPr lang="en-US" dirty="0"/>
          </a:p>
        </p:txBody>
      </p:sp>
    </p:spTree>
    <p:extLst>
      <p:ext uri="{BB962C8B-B14F-4D97-AF65-F5344CB8AC3E}">
        <p14:creationId xmlns:p14="http://schemas.microsoft.com/office/powerpoint/2010/main" val="3900683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5EA71-FABE-8346-504A-DCD0081C7FFB}"/>
              </a:ext>
            </a:extLst>
          </p:cNvPr>
          <p:cNvSpPr>
            <a:spLocks noGrp="1"/>
          </p:cNvSpPr>
          <p:nvPr>
            <p:ph type="title"/>
          </p:nvPr>
        </p:nvSpPr>
        <p:spPr/>
        <p:txBody>
          <a:bodyPr/>
          <a:lstStyle/>
          <a:p>
            <a:r>
              <a:rPr lang="en-US" dirty="0"/>
              <a:t>Design Steps</a:t>
            </a:r>
          </a:p>
        </p:txBody>
      </p:sp>
      <p:sp>
        <p:nvSpPr>
          <p:cNvPr id="3" name="Content Placeholder 2">
            <a:extLst>
              <a:ext uri="{FF2B5EF4-FFF2-40B4-BE49-F238E27FC236}">
                <a16:creationId xmlns:a16="http://schemas.microsoft.com/office/drawing/2014/main" id="{10EF365B-812E-51D9-6D7A-DB4EC79292BC}"/>
              </a:ext>
            </a:extLst>
          </p:cNvPr>
          <p:cNvSpPr>
            <a:spLocks noGrp="1"/>
          </p:cNvSpPr>
          <p:nvPr>
            <p:ph idx="1"/>
          </p:nvPr>
        </p:nvSpPr>
        <p:spPr/>
        <p:txBody>
          <a:bodyPr/>
          <a:lstStyle/>
          <a:p>
            <a:r>
              <a:rPr lang="en-US" dirty="0"/>
              <a:t>Identify Requirements</a:t>
            </a:r>
          </a:p>
          <a:p>
            <a:r>
              <a:rPr lang="en-US" dirty="0"/>
              <a:t>Identify Input, Output and Process</a:t>
            </a:r>
          </a:p>
          <a:p>
            <a:r>
              <a:rPr lang="en-US" dirty="0"/>
              <a:t>Select Hardware Component</a:t>
            </a:r>
          </a:p>
          <a:p>
            <a:r>
              <a:rPr lang="en-US" dirty="0"/>
              <a:t>Create Cost Estimate</a:t>
            </a:r>
          </a:p>
          <a:p>
            <a:r>
              <a:rPr lang="en-US" dirty="0"/>
              <a:t>Create Prototype Design</a:t>
            </a:r>
          </a:p>
          <a:p>
            <a:r>
              <a:rPr lang="en-US" dirty="0"/>
              <a:t>Create Code (Software)</a:t>
            </a:r>
          </a:p>
          <a:p>
            <a:r>
              <a:rPr lang="en-US" dirty="0"/>
              <a:t>Test the system</a:t>
            </a:r>
          </a:p>
          <a:p>
            <a:r>
              <a:rPr lang="en-US" dirty="0"/>
              <a:t>Evaluate the system</a:t>
            </a:r>
          </a:p>
          <a:p>
            <a:r>
              <a:rPr lang="en-US" dirty="0"/>
              <a:t>Make final product </a:t>
            </a:r>
          </a:p>
          <a:p>
            <a:endParaRPr lang="en-US" dirty="0"/>
          </a:p>
        </p:txBody>
      </p:sp>
      <p:sp>
        <p:nvSpPr>
          <p:cNvPr id="4" name="Slide Number Placeholder 3">
            <a:extLst>
              <a:ext uri="{FF2B5EF4-FFF2-40B4-BE49-F238E27FC236}">
                <a16:creationId xmlns:a16="http://schemas.microsoft.com/office/drawing/2014/main" id="{9F1372D4-AFF2-AEED-F330-07640161C542}"/>
              </a:ext>
            </a:extLst>
          </p:cNvPr>
          <p:cNvSpPr>
            <a:spLocks noGrp="1"/>
          </p:cNvSpPr>
          <p:nvPr>
            <p:ph type="sldNum" sz="quarter" idx="12"/>
          </p:nvPr>
        </p:nvSpPr>
        <p:spPr/>
        <p:txBody>
          <a:bodyPr/>
          <a:lstStyle/>
          <a:p>
            <a:fld id="{F91A3952-A237-4C1E-B169-F29C0CF1F605}" type="slidenum">
              <a:rPr lang="en-US" smtClean="0"/>
              <a:pPr/>
              <a:t>19</a:t>
            </a:fld>
            <a:endParaRPr lang="en-US" dirty="0"/>
          </a:p>
        </p:txBody>
      </p:sp>
    </p:spTree>
    <p:extLst>
      <p:ext uri="{BB962C8B-B14F-4D97-AF65-F5344CB8AC3E}">
        <p14:creationId xmlns:p14="http://schemas.microsoft.com/office/powerpoint/2010/main" val="1876431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6F3CA-9626-8375-FD96-62A4B31BEA53}"/>
              </a:ext>
            </a:extLst>
          </p:cNvPr>
          <p:cNvSpPr>
            <a:spLocks noGrp="1"/>
          </p:cNvSpPr>
          <p:nvPr>
            <p:ph type="title"/>
          </p:nvPr>
        </p:nvSpPr>
        <p:spPr/>
        <p:txBody>
          <a:bodyPr>
            <a:normAutofit fontScale="90000"/>
          </a:bodyPr>
          <a:lstStyle/>
          <a:p>
            <a:r>
              <a:rPr lang="en-US" dirty="0"/>
              <a:t>Example</a:t>
            </a:r>
            <a:br>
              <a:rPr lang="en-US" dirty="0"/>
            </a:br>
            <a:r>
              <a:rPr lang="en-US" sz="3200" dirty="0"/>
              <a:t>Automatic Chocolate Vending Machine (ACVM)</a:t>
            </a:r>
          </a:p>
        </p:txBody>
      </p:sp>
      <p:sp>
        <p:nvSpPr>
          <p:cNvPr id="3" name="Content Placeholder 2">
            <a:extLst>
              <a:ext uri="{FF2B5EF4-FFF2-40B4-BE49-F238E27FC236}">
                <a16:creationId xmlns:a16="http://schemas.microsoft.com/office/drawing/2014/main" id="{4397CA50-C8B0-5F2B-5172-1DF1FD42D1BD}"/>
              </a:ext>
            </a:extLst>
          </p:cNvPr>
          <p:cNvSpPr>
            <a:spLocks noGrp="1"/>
          </p:cNvSpPr>
          <p:nvPr>
            <p:ph idx="1"/>
          </p:nvPr>
        </p:nvSpPr>
        <p:spPr>
          <a:xfrm>
            <a:off x="560615" y="1431234"/>
            <a:ext cx="11185072" cy="4745729"/>
          </a:xfrm>
        </p:spPr>
        <p:txBody>
          <a:bodyPr>
            <a:normAutofit lnSpcReduction="10000"/>
          </a:bodyPr>
          <a:lstStyle/>
          <a:p>
            <a:pPr algn="just"/>
            <a:r>
              <a:rPr lang="en-US" b="1" dirty="0">
                <a:effectLst/>
              </a:rPr>
              <a:t>Design Steps - </a:t>
            </a:r>
            <a:r>
              <a:rPr lang="en-US" dirty="0">
                <a:effectLst/>
              </a:rPr>
              <a:t>Requirements</a:t>
            </a:r>
          </a:p>
          <a:p>
            <a:pPr lvl="1"/>
            <a:r>
              <a:rPr lang="en-US" sz="2800" b="1" dirty="0">
                <a:effectLst/>
              </a:rPr>
              <a:t>Inputs</a:t>
            </a:r>
          </a:p>
          <a:p>
            <a:pPr lvl="1" algn="just"/>
            <a:r>
              <a:rPr lang="en-US" sz="2800" dirty="0">
                <a:effectLst/>
              </a:rPr>
              <a:t>Coins, user selection.</a:t>
            </a:r>
          </a:p>
          <a:p>
            <a:pPr lvl="1" algn="just"/>
            <a:r>
              <a:rPr lang="en-US" sz="2800" dirty="0">
                <a:effectLst/>
              </a:rPr>
              <a:t>An interrupt is generated at each port whenever a coin is inserted.</a:t>
            </a:r>
          </a:p>
          <a:p>
            <a:pPr lvl="1" algn="just"/>
            <a:r>
              <a:rPr lang="en-US" sz="2800" dirty="0">
                <a:effectLst/>
              </a:rPr>
              <a:t>A separate notification is sent to each port.</a:t>
            </a:r>
          </a:p>
          <a:p>
            <a:pPr lvl="1"/>
            <a:r>
              <a:rPr lang="en-US" sz="2800" b="1" dirty="0"/>
              <a:t>Outputs</a:t>
            </a:r>
          </a:p>
          <a:p>
            <a:pPr lvl="1"/>
            <a:r>
              <a:rPr lang="en-US" sz="2800" dirty="0"/>
              <a:t>Chocolate</a:t>
            </a:r>
          </a:p>
          <a:p>
            <a:pPr lvl="1"/>
            <a:r>
              <a:rPr lang="en-US" sz="2800" dirty="0"/>
              <a:t>Refund</a:t>
            </a:r>
          </a:p>
          <a:p>
            <a:pPr lvl="1"/>
            <a:r>
              <a:rPr lang="en-US" sz="2800" dirty="0"/>
              <a:t>A message is displayed on LCD like date, time, welcome message.</a:t>
            </a:r>
          </a:p>
          <a:p>
            <a:endParaRPr lang="en-US" dirty="0"/>
          </a:p>
        </p:txBody>
      </p:sp>
      <p:sp>
        <p:nvSpPr>
          <p:cNvPr id="4" name="Slide Number Placeholder 3">
            <a:extLst>
              <a:ext uri="{FF2B5EF4-FFF2-40B4-BE49-F238E27FC236}">
                <a16:creationId xmlns:a16="http://schemas.microsoft.com/office/drawing/2014/main" id="{7E8A424B-0914-36BF-B835-C690663870AB}"/>
              </a:ext>
            </a:extLst>
          </p:cNvPr>
          <p:cNvSpPr>
            <a:spLocks noGrp="1"/>
          </p:cNvSpPr>
          <p:nvPr>
            <p:ph type="sldNum" sz="quarter" idx="12"/>
          </p:nvPr>
        </p:nvSpPr>
        <p:spPr/>
        <p:txBody>
          <a:bodyPr/>
          <a:lstStyle/>
          <a:p>
            <a:fld id="{F91A3952-A237-4C1E-B169-F29C0CF1F605}" type="slidenum">
              <a:rPr lang="en-US" smtClean="0"/>
              <a:pPr/>
              <a:t>20</a:t>
            </a:fld>
            <a:endParaRPr lang="en-US" dirty="0"/>
          </a:p>
        </p:txBody>
      </p:sp>
    </p:spTree>
    <p:extLst>
      <p:ext uri="{BB962C8B-B14F-4D97-AF65-F5344CB8AC3E}">
        <p14:creationId xmlns:p14="http://schemas.microsoft.com/office/powerpoint/2010/main" val="376110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D247-0F44-F1FC-59E6-2F1A11621508}"/>
              </a:ext>
            </a:extLst>
          </p:cNvPr>
          <p:cNvSpPr>
            <a:spLocks noGrp="1"/>
          </p:cNvSpPr>
          <p:nvPr>
            <p:ph type="title"/>
          </p:nvPr>
        </p:nvSpPr>
        <p:spPr/>
        <p:txBody>
          <a:bodyPr/>
          <a:lstStyle/>
          <a:p>
            <a:r>
              <a:rPr lang="en-US" dirty="0"/>
              <a:t>System Functions</a:t>
            </a:r>
          </a:p>
        </p:txBody>
      </p:sp>
      <p:sp>
        <p:nvSpPr>
          <p:cNvPr id="3" name="Content Placeholder 2">
            <a:extLst>
              <a:ext uri="{FF2B5EF4-FFF2-40B4-BE49-F238E27FC236}">
                <a16:creationId xmlns:a16="http://schemas.microsoft.com/office/drawing/2014/main" id="{8F29F566-4517-75D6-9884-872683938516}"/>
              </a:ext>
            </a:extLst>
          </p:cNvPr>
          <p:cNvSpPr>
            <a:spLocks noGrp="1"/>
          </p:cNvSpPr>
          <p:nvPr>
            <p:ph idx="1"/>
          </p:nvPr>
        </p:nvSpPr>
        <p:spPr/>
        <p:txBody>
          <a:bodyPr/>
          <a:lstStyle/>
          <a:p>
            <a:r>
              <a:rPr lang="en-US" dirty="0"/>
              <a:t>Using a graphical user interface, the child commands to the system which chocolate the child wants to purchase.</a:t>
            </a:r>
          </a:p>
          <a:p>
            <a:r>
              <a:rPr lang="en-US" dirty="0"/>
              <a:t>Where the graphical user interface has an LCD, keypad, touch screen.</a:t>
            </a:r>
          </a:p>
          <a:p>
            <a:r>
              <a:rPr lang="en-US" dirty="0"/>
              <a:t>The machine delivers the chocolate when the child inserts the coin if the coins inserted are excess than the actual cost of selected chocolate. The ACVM machine refunds the money back.</a:t>
            </a:r>
          </a:p>
          <a:p>
            <a:r>
              <a:rPr lang="en-US" dirty="0"/>
              <a:t>Using a Universal synchronous bus, the owner of the ACVM can keep track of client location.</a:t>
            </a:r>
          </a:p>
          <a:p>
            <a:r>
              <a:rPr lang="en-US" dirty="0"/>
              <a:t>An LCD present here displays the messages like cost, time, welcome..</a:t>
            </a:r>
            <a:r>
              <a:rPr lang="en-US" dirty="0" err="1"/>
              <a:t>etc</a:t>
            </a:r>
            <a:r>
              <a:rPr lang="en-US" dirty="0"/>
              <a:t>. A port delivery exists where the chocolates are collected.</a:t>
            </a:r>
          </a:p>
          <a:p>
            <a:endParaRPr lang="en-US" dirty="0"/>
          </a:p>
        </p:txBody>
      </p:sp>
      <p:sp>
        <p:nvSpPr>
          <p:cNvPr id="4" name="Slide Number Placeholder 3">
            <a:extLst>
              <a:ext uri="{FF2B5EF4-FFF2-40B4-BE49-F238E27FC236}">
                <a16:creationId xmlns:a16="http://schemas.microsoft.com/office/drawing/2014/main" id="{CF4F7726-760C-113E-F0D8-B676B5398BB6}"/>
              </a:ext>
            </a:extLst>
          </p:cNvPr>
          <p:cNvSpPr>
            <a:spLocks noGrp="1"/>
          </p:cNvSpPr>
          <p:nvPr>
            <p:ph type="sldNum" sz="quarter" idx="12"/>
          </p:nvPr>
        </p:nvSpPr>
        <p:spPr/>
        <p:txBody>
          <a:bodyPr/>
          <a:lstStyle/>
          <a:p>
            <a:fld id="{F91A3952-A237-4C1E-B169-F29C0CF1F605}" type="slidenum">
              <a:rPr lang="en-US" smtClean="0"/>
              <a:pPr/>
              <a:t>21</a:t>
            </a:fld>
            <a:endParaRPr lang="en-US" dirty="0"/>
          </a:p>
        </p:txBody>
      </p:sp>
    </p:spTree>
    <p:extLst>
      <p:ext uri="{BB962C8B-B14F-4D97-AF65-F5344CB8AC3E}">
        <p14:creationId xmlns:p14="http://schemas.microsoft.com/office/powerpoint/2010/main" val="2748134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BE24F-B375-6862-A313-CCD6C79EBF12}"/>
              </a:ext>
            </a:extLst>
          </p:cNvPr>
          <p:cNvSpPr>
            <a:spLocks noGrp="1"/>
          </p:cNvSpPr>
          <p:nvPr>
            <p:ph type="title"/>
          </p:nvPr>
        </p:nvSpPr>
        <p:spPr/>
        <p:txBody>
          <a:bodyPr/>
          <a:lstStyle/>
          <a:p>
            <a:r>
              <a:rPr lang="en-US" b="1" dirty="0"/>
              <a:t>Specifications</a:t>
            </a:r>
            <a:endParaRPr lang="en-US" dirty="0"/>
          </a:p>
        </p:txBody>
      </p:sp>
      <p:sp>
        <p:nvSpPr>
          <p:cNvPr id="3" name="Content Placeholder 2">
            <a:extLst>
              <a:ext uri="{FF2B5EF4-FFF2-40B4-BE49-F238E27FC236}">
                <a16:creationId xmlns:a16="http://schemas.microsoft.com/office/drawing/2014/main" id="{552D20F0-22D0-86C9-0805-7CD564D4172D}"/>
              </a:ext>
            </a:extLst>
          </p:cNvPr>
          <p:cNvSpPr>
            <a:spLocks noGrp="1"/>
          </p:cNvSpPr>
          <p:nvPr>
            <p:ph idx="1"/>
          </p:nvPr>
        </p:nvSpPr>
        <p:spPr>
          <a:xfrm>
            <a:off x="560615" y="1195844"/>
            <a:ext cx="3995131" cy="4981120"/>
          </a:xfrm>
        </p:spPr>
        <p:txBody>
          <a:bodyPr/>
          <a:lstStyle/>
          <a:p>
            <a:r>
              <a:rPr lang="en-US" dirty="0"/>
              <a:t>when the child inserts the coin. The coins get segregated according to the ports presented.</a:t>
            </a:r>
          </a:p>
          <a:p>
            <a:endParaRPr lang="en-US" dirty="0"/>
          </a:p>
        </p:txBody>
      </p:sp>
      <p:sp>
        <p:nvSpPr>
          <p:cNvPr id="4" name="Slide Number Placeholder 3">
            <a:extLst>
              <a:ext uri="{FF2B5EF4-FFF2-40B4-BE49-F238E27FC236}">
                <a16:creationId xmlns:a16="http://schemas.microsoft.com/office/drawing/2014/main" id="{2B559A3B-B859-C0A7-34FA-D7FDC80EBE09}"/>
              </a:ext>
            </a:extLst>
          </p:cNvPr>
          <p:cNvSpPr>
            <a:spLocks noGrp="1"/>
          </p:cNvSpPr>
          <p:nvPr>
            <p:ph type="sldNum" sz="quarter" idx="12"/>
          </p:nvPr>
        </p:nvSpPr>
        <p:spPr/>
        <p:txBody>
          <a:bodyPr/>
          <a:lstStyle/>
          <a:p>
            <a:fld id="{F91A3952-A237-4C1E-B169-F29C0CF1F605}" type="slidenum">
              <a:rPr lang="en-US" smtClean="0"/>
              <a:pPr/>
              <a:t>22</a:t>
            </a:fld>
            <a:endParaRPr lang="en-US" dirty="0"/>
          </a:p>
        </p:txBody>
      </p:sp>
      <p:pic>
        <p:nvPicPr>
          <p:cNvPr id="6" name="Picture 5" descr="Diagram&#10;&#10;Description automatically generated">
            <a:extLst>
              <a:ext uri="{FF2B5EF4-FFF2-40B4-BE49-F238E27FC236}">
                <a16:creationId xmlns:a16="http://schemas.microsoft.com/office/drawing/2014/main" id="{CF0F7425-D0E0-3399-E086-D1A6336B0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5746" y="1095242"/>
            <a:ext cx="6811326" cy="5182323"/>
          </a:xfrm>
          <a:prstGeom prst="rect">
            <a:avLst/>
          </a:prstGeom>
        </p:spPr>
      </p:pic>
    </p:spTree>
    <p:extLst>
      <p:ext uri="{BB962C8B-B14F-4D97-AF65-F5344CB8AC3E}">
        <p14:creationId xmlns:p14="http://schemas.microsoft.com/office/powerpoint/2010/main" val="2804566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DC94-6C2C-4600-43C4-83C550B25A4E}"/>
              </a:ext>
            </a:extLst>
          </p:cNvPr>
          <p:cNvSpPr>
            <a:spLocks noGrp="1"/>
          </p:cNvSpPr>
          <p:nvPr>
            <p:ph type="title"/>
          </p:nvPr>
        </p:nvSpPr>
        <p:spPr/>
        <p:txBody>
          <a:bodyPr/>
          <a:lstStyle/>
          <a:p>
            <a:r>
              <a:rPr lang="en-US" dirty="0"/>
              <a:t>Hardware</a:t>
            </a:r>
          </a:p>
        </p:txBody>
      </p:sp>
      <p:sp>
        <p:nvSpPr>
          <p:cNvPr id="3" name="Content Placeholder 2">
            <a:extLst>
              <a:ext uri="{FF2B5EF4-FFF2-40B4-BE49-F238E27FC236}">
                <a16:creationId xmlns:a16="http://schemas.microsoft.com/office/drawing/2014/main" id="{E79A7836-C849-298A-3DF4-21E59E3A33A0}"/>
              </a:ext>
            </a:extLst>
          </p:cNvPr>
          <p:cNvSpPr>
            <a:spLocks noGrp="1"/>
          </p:cNvSpPr>
          <p:nvPr>
            <p:ph idx="1"/>
          </p:nvPr>
        </p:nvSpPr>
        <p:spPr/>
        <p:txBody>
          <a:bodyPr/>
          <a:lstStyle/>
          <a:p>
            <a:r>
              <a:rPr lang="en-US" sz="2400" dirty="0"/>
              <a:t>ACVM hardware architecture has the following hardware specifications</a:t>
            </a:r>
          </a:p>
          <a:p>
            <a:r>
              <a:rPr lang="en-US" dirty="0"/>
              <a:t>    </a:t>
            </a:r>
            <a:r>
              <a:rPr lang="en-US" sz="2400" dirty="0"/>
              <a:t>Microcontroller 8051</a:t>
            </a:r>
          </a:p>
          <a:p>
            <a:r>
              <a:rPr lang="en-US" sz="2400" dirty="0"/>
              <a:t>    64 KB RAM and 8MB ROM</a:t>
            </a:r>
          </a:p>
          <a:p>
            <a:r>
              <a:rPr lang="en-US" sz="2400" dirty="0"/>
              <a:t>    64 KB Flash memory</a:t>
            </a:r>
          </a:p>
          <a:p>
            <a:r>
              <a:rPr lang="en-US" sz="2400" dirty="0"/>
              <a:t>    Keypad</a:t>
            </a:r>
          </a:p>
          <a:p>
            <a:r>
              <a:rPr lang="en-US" sz="2400" dirty="0"/>
              <a:t>    Mechanical coin sorter</a:t>
            </a:r>
          </a:p>
          <a:p>
            <a:r>
              <a:rPr lang="en-US" sz="2400" dirty="0"/>
              <a:t>    Chocolate channel</a:t>
            </a:r>
          </a:p>
          <a:p>
            <a:r>
              <a:rPr lang="en-US" sz="2400" dirty="0"/>
              <a:t>    Coin channel</a:t>
            </a:r>
          </a:p>
          <a:p>
            <a:r>
              <a:rPr lang="en-US" sz="2400" dirty="0"/>
              <a:t>    USB wireless modem</a:t>
            </a:r>
          </a:p>
          <a:p>
            <a:r>
              <a:rPr lang="en-US" sz="2400" dirty="0"/>
              <a:t>    Power supply</a:t>
            </a:r>
          </a:p>
          <a:p>
            <a:endParaRPr lang="en-US" dirty="0"/>
          </a:p>
        </p:txBody>
      </p:sp>
      <p:sp>
        <p:nvSpPr>
          <p:cNvPr id="4" name="Slide Number Placeholder 3">
            <a:extLst>
              <a:ext uri="{FF2B5EF4-FFF2-40B4-BE49-F238E27FC236}">
                <a16:creationId xmlns:a16="http://schemas.microsoft.com/office/drawing/2014/main" id="{F1ED88DA-94F2-EA4B-42A3-F6BD0154DCE2}"/>
              </a:ext>
            </a:extLst>
          </p:cNvPr>
          <p:cNvSpPr>
            <a:spLocks noGrp="1"/>
          </p:cNvSpPr>
          <p:nvPr>
            <p:ph type="sldNum" sz="quarter" idx="12"/>
          </p:nvPr>
        </p:nvSpPr>
        <p:spPr/>
        <p:txBody>
          <a:bodyPr/>
          <a:lstStyle/>
          <a:p>
            <a:fld id="{F91A3952-A237-4C1E-B169-F29C0CF1F605}" type="slidenum">
              <a:rPr lang="en-US" smtClean="0"/>
              <a:pPr/>
              <a:t>23</a:t>
            </a:fld>
            <a:endParaRPr lang="en-US" dirty="0"/>
          </a:p>
        </p:txBody>
      </p:sp>
    </p:spTree>
    <p:extLst>
      <p:ext uri="{BB962C8B-B14F-4D97-AF65-F5344CB8AC3E}">
        <p14:creationId xmlns:p14="http://schemas.microsoft.com/office/powerpoint/2010/main" val="2137609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B0926-D2A8-5738-04AB-8397A0F88E29}"/>
              </a:ext>
            </a:extLst>
          </p:cNvPr>
          <p:cNvSpPr>
            <a:spLocks noGrp="1"/>
          </p:cNvSpPr>
          <p:nvPr>
            <p:ph type="title"/>
          </p:nvPr>
        </p:nvSpPr>
        <p:spPr/>
        <p:txBody>
          <a:bodyPr/>
          <a:lstStyle/>
          <a:p>
            <a:r>
              <a:rPr lang="en-US" dirty="0"/>
              <a:t>Software of the ACVM</a:t>
            </a:r>
          </a:p>
        </p:txBody>
      </p:sp>
      <p:sp>
        <p:nvSpPr>
          <p:cNvPr id="3" name="Content Placeholder 2">
            <a:extLst>
              <a:ext uri="{FF2B5EF4-FFF2-40B4-BE49-F238E27FC236}">
                <a16:creationId xmlns:a16="http://schemas.microsoft.com/office/drawing/2014/main" id="{FF276E71-A8DC-738B-72CF-EE883BB49BFF}"/>
              </a:ext>
            </a:extLst>
          </p:cNvPr>
          <p:cNvSpPr>
            <a:spLocks noGrp="1"/>
          </p:cNvSpPr>
          <p:nvPr>
            <p:ph idx="1"/>
          </p:nvPr>
        </p:nvSpPr>
        <p:spPr/>
        <p:txBody>
          <a:bodyPr/>
          <a:lstStyle/>
          <a:p>
            <a:r>
              <a:rPr lang="en-US" dirty="0"/>
              <a:t>Many programs have to be written so that they can be reprogrammed when required in RAM /ROM like,</a:t>
            </a:r>
          </a:p>
        </p:txBody>
      </p:sp>
      <p:sp>
        <p:nvSpPr>
          <p:cNvPr id="4" name="Slide Number Placeholder 3">
            <a:extLst>
              <a:ext uri="{FF2B5EF4-FFF2-40B4-BE49-F238E27FC236}">
                <a16:creationId xmlns:a16="http://schemas.microsoft.com/office/drawing/2014/main" id="{06AF5C8A-5060-540C-0AF4-664075D5B860}"/>
              </a:ext>
            </a:extLst>
          </p:cNvPr>
          <p:cNvSpPr>
            <a:spLocks noGrp="1"/>
          </p:cNvSpPr>
          <p:nvPr>
            <p:ph type="sldNum" sz="quarter" idx="12"/>
          </p:nvPr>
        </p:nvSpPr>
        <p:spPr/>
        <p:txBody>
          <a:bodyPr/>
          <a:lstStyle/>
          <a:p>
            <a:fld id="{F91A3952-A237-4C1E-B169-F29C0CF1F605}" type="slidenum">
              <a:rPr lang="en-US" smtClean="0"/>
              <a:pPr/>
              <a:t>24</a:t>
            </a:fld>
            <a:endParaRPr lang="en-US" dirty="0"/>
          </a:p>
        </p:txBody>
      </p:sp>
      <p:pic>
        <p:nvPicPr>
          <p:cNvPr id="6" name="Picture 5" descr="Diagram&#10;&#10;Description automatically generated">
            <a:extLst>
              <a:ext uri="{FF2B5EF4-FFF2-40B4-BE49-F238E27FC236}">
                <a16:creationId xmlns:a16="http://schemas.microsoft.com/office/drawing/2014/main" id="{EF7FA9AC-8C29-588E-598B-035BA840E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0642" y="2050708"/>
            <a:ext cx="7821116" cy="3896269"/>
          </a:xfrm>
          <a:prstGeom prst="rect">
            <a:avLst/>
          </a:prstGeom>
        </p:spPr>
      </p:pic>
    </p:spTree>
    <p:extLst>
      <p:ext uri="{BB962C8B-B14F-4D97-AF65-F5344CB8AC3E}">
        <p14:creationId xmlns:p14="http://schemas.microsoft.com/office/powerpoint/2010/main" val="1363878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A41D-1D15-52A6-9FA5-830734EBF874}"/>
              </a:ext>
            </a:extLst>
          </p:cNvPr>
          <p:cNvSpPr>
            <a:spLocks noGrp="1"/>
          </p:cNvSpPr>
          <p:nvPr>
            <p:ph type="title"/>
          </p:nvPr>
        </p:nvSpPr>
        <p:spPr/>
        <p:txBody>
          <a:bodyPr/>
          <a:lstStyle/>
          <a:p>
            <a:r>
              <a:rPr lang="en-US" dirty="0"/>
              <a:t>Block Diagram</a:t>
            </a:r>
          </a:p>
        </p:txBody>
      </p:sp>
      <p:pic>
        <p:nvPicPr>
          <p:cNvPr id="6" name="Content Placeholder 5">
            <a:extLst>
              <a:ext uri="{FF2B5EF4-FFF2-40B4-BE49-F238E27FC236}">
                <a16:creationId xmlns:a16="http://schemas.microsoft.com/office/drawing/2014/main" id="{0708E438-F0C2-7B7F-494A-7A6E8BED95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88689" y="771714"/>
            <a:ext cx="5160019" cy="4981575"/>
          </a:xfrm>
        </p:spPr>
      </p:pic>
      <p:sp>
        <p:nvSpPr>
          <p:cNvPr id="4" name="Slide Number Placeholder 3">
            <a:extLst>
              <a:ext uri="{FF2B5EF4-FFF2-40B4-BE49-F238E27FC236}">
                <a16:creationId xmlns:a16="http://schemas.microsoft.com/office/drawing/2014/main" id="{A93E13CD-FB76-31CE-8B1B-4A37E0BF125D}"/>
              </a:ext>
            </a:extLst>
          </p:cNvPr>
          <p:cNvSpPr>
            <a:spLocks noGrp="1"/>
          </p:cNvSpPr>
          <p:nvPr>
            <p:ph type="sldNum" sz="quarter" idx="12"/>
          </p:nvPr>
        </p:nvSpPr>
        <p:spPr/>
        <p:txBody>
          <a:bodyPr/>
          <a:lstStyle/>
          <a:p>
            <a:fld id="{F91A3952-A237-4C1E-B169-F29C0CF1F605}" type="slidenum">
              <a:rPr lang="en-US" smtClean="0"/>
              <a:pPr/>
              <a:t>25</a:t>
            </a:fld>
            <a:endParaRPr lang="en-US" dirty="0"/>
          </a:p>
        </p:txBody>
      </p:sp>
      <p:pic>
        <p:nvPicPr>
          <p:cNvPr id="8" name="Picture 7">
            <a:extLst>
              <a:ext uri="{FF2B5EF4-FFF2-40B4-BE49-F238E27FC236}">
                <a16:creationId xmlns:a16="http://schemas.microsoft.com/office/drawing/2014/main" id="{A04F67A4-6DF4-43C4-65EB-62130B46AE68}"/>
              </a:ext>
            </a:extLst>
          </p:cNvPr>
          <p:cNvPicPr>
            <a:picLocks noChangeAspect="1"/>
          </p:cNvPicPr>
          <p:nvPr/>
        </p:nvPicPr>
        <p:blipFill>
          <a:blip r:embed="rId3"/>
          <a:stretch>
            <a:fillRect/>
          </a:stretch>
        </p:blipFill>
        <p:spPr>
          <a:xfrm>
            <a:off x="446314" y="1195843"/>
            <a:ext cx="4762500" cy="4762500"/>
          </a:xfrm>
          <a:prstGeom prst="rect">
            <a:avLst/>
          </a:prstGeom>
        </p:spPr>
      </p:pic>
    </p:spTree>
    <p:extLst>
      <p:ext uri="{BB962C8B-B14F-4D97-AF65-F5344CB8AC3E}">
        <p14:creationId xmlns:p14="http://schemas.microsoft.com/office/powerpoint/2010/main" val="2484357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C52A7-63B8-3E92-4F77-21E112988EB0}"/>
              </a:ext>
            </a:extLst>
          </p:cNvPr>
          <p:cNvSpPr>
            <a:spLocks noGrp="1"/>
          </p:cNvSpPr>
          <p:nvPr>
            <p:ph type="title"/>
          </p:nvPr>
        </p:nvSpPr>
        <p:spPr/>
        <p:txBody>
          <a:bodyPr/>
          <a:lstStyle/>
          <a:p>
            <a:r>
              <a:rPr lang="en-US" dirty="0"/>
              <a:t>Flow chart</a:t>
            </a:r>
          </a:p>
        </p:txBody>
      </p:sp>
      <p:pic>
        <p:nvPicPr>
          <p:cNvPr id="6" name="Content Placeholder 5">
            <a:extLst>
              <a:ext uri="{FF2B5EF4-FFF2-40B4-BE49-F238E27FC236}">
                <a16:creationId xmlns:a16="http://schemas.microsoft.com/office/drawing/2014/main" id="{85B5DEBC-3BC0-2EF2-5DA4-BD2A31660A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3533" y="440014"/>
            <a:ext cx="4888317" cy="5738485"/>
          </a:xfrm>
        </p:spPr>
      </p:pic>
      <p:sp>
        <p:nvSpPr>
          <p:cNvPr id="4" name="Slide Number Placeholder 3">
            <a:extLst>
              <a:ext uri="{FF2B5EF4-FFF2-40B4-BE49-F238E27FC236}">
                <a16:creationId xmlns:a16="http://schemas.microsoft.com/office/drawing/2014/main" id="{BCA985AB-912B-A294-EE10-75955FC880D4}"/>
              </a:ext>
            </a:extLst>
          </p:cNvPr>
          <p:cNvSpPr>
            <a:spLocks noGrp="1"/>
          </p:cNvSpPr>
          <p:nvPr>
            <p:ph type="sldNum" sz="quarter" idx="12"/>
          </p:nvPr>
        </p:nvSpPr>
        <p:spPr/>
        <p:txBody>
          <a:bodyPr/>
          <a:lstStyle/>
          <a:p>
            <a:fld id="{F91A3952-A237-4C1E-B169-F29C0CF1F605}" type="slidenum">
              <a:rPr lang="en-US" smtClean="0"/>
              <a:pPr/>
              <a:t>26</a:t>
            </a:fld>
            <a:endParaRPr lang="en-US" dirty="0"/>
          </a:p>
        </p:txBody>
      </p:sp>
    </p:spTree>
    <p:extLst>
      <p:ext uri="{BB962C8B-B14F-4D97-AF65-F5344CB8AC3E}">
        <p14:creationId xmlns:p14="http://schemas.microsoft.com/office/powerpoint/2010/main" val="3081740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8432-5F83-7F2E-B522-B5B12F6A312A}"/>
              </a:ext>
            </a:extLst>
          </p:cNvPr>
          <p:cNvSpPr>
            <a:spLocks noGrp="1"/>
          </p:cNvSpPr>
          <p:nvPr>
            <p:ph type="title"/>
          </p:nvPr>
        </p:nvSpPr>
        <p:spPr/>
        <p:txBody>
          <a:bodyPr/>
          <a:lstStyle/>
          <a:p>
            <a:r>
              <a:rPr lang="en-US" dirty="0"/>
              <a:t>Circuit Diagram</a:t>
            </a:r>
          </a:p>
        </p:txBody>
      </p:sp>
      <p:pic>
        <p:nvPicPr>
          <p:cNvPr id="5" name="Content Placeholder 4">
            <a:extLst>
              <a:ext uri="{FF2B5EF4-FFF2-40B4-BE49-F238E27FC236}">
                <a16:creationId xmlns:a16="http://schemas.microsoft.com/office/drawing/2014/main" id="{77E42113-6492-120E-5FB2-711B701CD18B}"/>
              </a:ext>
            </a:extLst>
          </p:cNvPr>
          <p:cNvPicPr>
            <a:picLocks noGrp="1" noChangeAspect="1"/>
          </p:cNvPicPr>
          <p:nvPr>
            <p:ph idx="1"/>
          </p:nvPr>
        </p:nvPicPr>
        <p:blipFill>
          <a:blip r:embed="rId2"/>
          <a:stretch>
            <a:fillRect/>
          </a:stretch>
        </p:blipFill>
        <p:spPr>
          <a:xfrm>
            <a:off x="1754256" y="1195842"/>
            <a:ext cx="8024701" cy="4982657"/>
          </a:xfrm>
          <a:prstGeom prst="rect">
            <a:avLst/>
          </a:prstGeom>
        </p:spPr>
      </p:pic>
      <p:sp>
        <p:nvSpPr>
          <p:cNvPr id="4" name="Slide Number Placeholder 3">
            <a:extLst>
              <a:ext uri="{FF2B5EF4-FFF2-40B4-BE49-F238E27FC236}">
                <a16:creationId xmlns:a16="http://schemas.microsoft.com/office/drawing/2014/main" id="{5CE4243D-7820-2ADA-6D88-24D67AC37580}"/>
              </a:ext>
            </a:extLst>
          </p:cNvPr>
          <p:cNvSpPr>
            <a:spLocks noGrp="1"/>
          </p:cNvSpPr>
          <p:nvPr>
            <p:ph type="sldNum" sz="quarter" idx="12"/>
          </p:nvPr>
        </p:nvSpPr>
        <p:spPr/>
        <p:txBody>
          <a:bodyPr/>
          <a:lstStyle/>
          <a:p>
            <a:fld id="{F91A3952-A237-4C1E-B169-F29C0CF1F605}" type="slidenum">
              <a:rPr lang="en-US" smtClean="0"/>
              <a:pPr/>
              <a:t>27</a:t>
            </a:fld>
            <a:endParaRPr lang="en-US" dirty="0"/>
          </a:p>
        </p:txBody>
      </p:sp>
    </p:spTree>
    <p:extLst>
      <p:ext uri="{BB962C8B-B14F-4D97-AF65-F5344CB8AC3E}">
        <p14:creationId xmlns:p14="http://schemas.microsoft.com/office/powerpoint/2010/main" val="1289558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793D-9E44-FCB7-8E3E-17BED29672CB}"/>
              </a:ext>
            </a:extLst>
          </p:cNvPr>
          <p:cNvSpPr>
            <a:spLocks noGrp="1"/>
          </p:cNvSpPr>
          <p:nvPr>
            <p:ph type="title"/>
          </p:nvPr>
        </p:nvSpPr>
        <p:spPr/>
        <p:txBody>
          <a:bodyPr/>
          <a:lstStyle/>
          <a:p>
            <a:r>
              <a:rPr lang="en-US" dirty="0"/>
              <a:t>Challenges in ES</a:t>
            </a:r>
          </a:p>
        </p:txBody>
      </p:sp>
      <p:sp>
        <p:nvSpPr>
          <p:cNvPr id="3" name="Content Placeholder 2">
            <a:extLst>
              <a:ext uri="{FF2B5EF4-FFF2-40B4-BE49-F238E27FC236}">
                <a16:creationId xmlns:a16="http://schemas.microsoft.com/office/drawing/2014/main" id="{0AD64D14-5317-9770-896B-7B5109B8BFAA}"/>
              </a:ext>
            </a:extLst>
          </p:cNvPr>
          <p:cNvSpPr>
            <a:spLocks noGrp="1"/>
          </p:cNvSpPr>
          <p:nvPr>
            <p:ph idx="1"/>
          </p:nvPr>
        </p:nvSpPr>
        <p:spPr/>
        <p:txBody>
          <a:bodyPr>
            <a:normAutofit lnSpcReduction="10000"/>
          </a:bodyPr>
          <a:lstStyle/>
          <a:p>
            <a:r>
              <a:rPr lang="en-US" dirty="0"/>
              <a:t>    Environment adaptability</a:t>
            </a:r>
          </a:p>
          <a:p>
            <a:r>
              <a:rPr lang="en-US" dirty="0"/>
              <a:t>    Power consumption</a:t>
            </a:r>
          </a:p>
          <a:p>
            <a:r>
              <a:rPr lang="en-US" dirty="0"/>
              <a:t>    Area occupied</a:t>
            </a:r>
          </a:p>
          <a:p>
            <a:r>
              <a:rPr lang="en-US" dirty="0"/>
              <a:t>    Packaging and integration</a:t>
            </a:r>
          </a:p>
          <a:p>
            <a:r>
              <a:rPr lang="en-US" dirty="0"/>
              <a:t>    Updating in hardware and software</a:t>
            </a:r>
          </a:p>
          <a:p>
            <a:r>
              <a:rPr lang="en-US" dirty="0"/>
              <a:t>    Security</a:t>
            </a:r>
          </a:p>
          <a:p>
            <a:r>
              <a:rPr lang="en-US" dirty="0"/>
              <a:t>    There are various challenges the designers face while testing the design like </a:t>
            </a:r>
          </a:p>
          <a:p>
            <a:pPr lvl="1"/>
            <a:r>
              <a:rPr lang="en-US" dirty="0"/>
              <a:t>Embedded hardware testing, </a:t>
            </a:r>
          </a:p>
          <a:p>
            <a:pPr lvl="1"/>
            <a:r>
              <a:rPr lang="en-US" dirty="0"/>
              <a:t>Verification stage, </a:t>
            </a:r>
          </a:p>
          <a:p>
            <a:pPr lvl="1"/>
            <a:r>
              <a:rPr lang="en-US" dirty="0"/>
              <a:t>Validation Maintainability.</a:t>
            </a:r>
          </a:p>
          <a:p>
            <a:endParaRPr lang="en-US" dirty="0"/>
          </a:p>
        </p:txBody>
      </p:sp>
      <p:sp>
        <p:nvSpPr>
          <p:cNvPr id="4" name="Slide Number Placeholder 3">
            <a:extLst>
              <a:ext uri="{FF2B5EF4-FFF2-40B4-BE49-F238E27FC236}">
                <a16:creationId xmlns:a16="http://schemas.microsoft.com/office/drawing/2014/main" id="{EF37411F-F121-1F15-6514-35B1D0EE7DC8}"/>
              </a:ext>
            </a:extLst>
          </p:cNvPr>
          <p:cNvSpPr>
            <a:spLocks noGrp="1"/>
          </p:cNvSpPr>
          <p:nvPr>
            <p:ph type="sldNum" sz="quarter" idx="12"/>
          </p:nvPr>
        </p:nvSpPr>
        <p:spPr/>
        <p:txBody>
          <a:bodyPr/>
          <a:lstStyle/>
          <a:p>
            <a:fld id="{F91A3952-A237-4C1E-B169-F29C0CF1F605}" type="slidenum">
              <a:rPr lang="en-US" smtClean="0"/>
              <a:pPr/>
              <a:t>28</a:t>
            </a:fld>
            <a:endParaRPr lang="en-US" dirty="0"/>
          </a:p>
        </p:txBody>
      </p:sp>
    </p:spTree>
    <p:extLst>
      <p:ext uri="{BB962C8B-B14F-4D97-AF65-F5344CB8AC3E}">
        <p14:creationId xmlns:p14="http://schemas.microsoft.com/office/powerpoint/2010/main" val="3124698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AB1C-F97C-231B-4265-90647DD7E60E}"/>
              </a:ext>
            </a:extLst>
          </p:cNvPr>
          <p:cNvSpPr>
            <a:spLocks noGrp="1"/>
          </p:cNvSpPr>
          <p:nvPr>
            <p:ph type="title"/>
          </p:nvPr>
        </p:nvSpPr>
        <p:spPr/>
        <p:txBody>
          <a:bodyPr/>
          <a:lstStyle/>
          <a:p>
            <a:r>
              <a:rPr lang="en-US" dirty="0"/>
              <a:t>Activity #1</a:t>
            </a:r>
          </a:p>
        </p:txBody>
      </p:sp>
      <p:sp>
        <p:nvSpPr>
          <p:cNvPr id="3" name="Content Placeholder 2">
            <a:extLst>
              <a:ext uri="{FF2B5EF4-FFF2-40B4-BE49-F238E27FC236}">
                <a16:creationId xmlns:a16="http://schemas.microsoft.com/office/drawing/2014/main" id="{23FAEA45-5D91-2336-C2B1-13EA39AB2DE3}"/>
              </a:ext>
            </a:extLst>
          </p:cNvPr>
          <p:cNvSpPr>
            <a:spLocks noGrp="1"/>
          </p:cNvSpPr>
          <p:nvPr>
            <p:ph idx="1"/>
          </p:nvPr>
        </p:nvSpPr>
        <p:spPr/>
        <p:txBody>
          <a:bodyPr/>
          <a:lstStyle/>
          <a:p>
            <a:r>
              <a:rPr lang="en-US" dirty="0"/>
              <a:t>Create a simple tea providing machine for KDU</a:t>
            </a:r>
          </a:p>
          <a:p>
            <a:pPr lvl="1"/>
            <a:r>
              <a:rPr lang="en-US" dirty="0"/>
              <a:t>Identify Requirements</a:t>
            </a:r>
          </a:p>
          <a:p>
            <a:pPr lvl="1"/>
            <a:r>
              <a:rPr lang="en-US" dirty="0"/>
              <a:t>Identify Input, Output and Process</a:t>
            </a:r>
          </a:p>
          <a:p>
            <a:pPr lvl="1"/>
            <a:r>
              <a:rPr lang="en-US" dirty="0"/>
              <a:t>Select Hardware Component</a:t>
            </a:r>
          </a:p>
          <a:p>
            <a:pPr lvl="1"/>
            <a:r>
              <a:rPr lang="en-US" dirty="0"/>
              <a:t>Create Cost Estimate</a:t>
            </a:r>
          </a:p>
          <a:p>
            <a:pPr lvl="1"/>
            <a:r>
              <a:rPr lang="en-US" dirty="0"/>
              <a:t>Create Prototype Design</a:t>
            </a:r>
          </a:p>
          <a:p>
            <a:pPr lvl="1"/>
            <a:r>
              <a:rPr lang="en-US" dirty="0"/>
              <a:t>Create Code (Software)</a:t>
            </a:r>
          </a:p>
          <a:p>
            <a:pPr lvl="1"/>
            <a:r>
              <a:rPr lang="en-US" dirty="0"/>
              <a:t>Test the system</a:t>
            </a:r>
          </a:p>
          <a:p>
            <a:pPr lvl="1"/>
            <a:r>
              <a:rPr lang="en-US" dirty="0"/>
              <a:t>Evaluate the system</a:t>
            </a:r>
          </a:p>
          <a:p>
            <a:pPr lvl="1"/>
            <a:r>
              <a:rPr lang="en-US" dirty="0"/>
              <a:t>Make final product </a:t>
            </a:r>
          </a:p>
          <a:p>
            <a:r>
              <a:rPr lang="en-US" dirty="0"/>
              <a:t>Discuss How to automate this machine as a smart machine</a:t>
            </a:r>
          </a:p>
          <a:p>
            <a:endParaRPr lang="en-US" dirty="0"/>
          </a:p>
        </p:txBody>
      </p:sp>
      <p:sp>
        <p:nvSpPr>
          <p:cNvPr id="4" name="Slide Number Placeholder 3">
            <a:extLst>
              <a:ext uri="{FF2B5EF4-FFF2-40B4-BE49-F238E27FC236}">
                <a16:creationId xmlns:a16="http://schemas.microsoft.com/office/drawing/2014/main" id="{083122AE-102B-4275-ECBC-3BF29CC317A5}"/>
              </a:ext>
            </a:extLst>
          </p:cNvPr>
          <p:cNvSpPr>
            <a:spLocks noGrp="1"/>
          </p:cNvSpPr>
          <p:nvPr>
            <p:ph type="sldNum" sz="quarter" idx="12"/>
          </p:nvPr>
        </p:nvSpPr>
        <p:spPr/>
        <p:txBody>
          <a:bodyPr/>
          <a:lstStyle/>
          <a:p>
            <a:fld id="{F91A3952-A237-4C1E-B169-F29C0CF1F605}" type="slidenum">
              <a:rPr lang="en-US" smtClean="0"/>
              <a:pPr/>
              <a:t>29</a:t>
            </a:fld>
            <a:endParaRPr lang="en-US" dirty="0"/>
          </a:p>
        </p:txBody>
      </p:sp>
    </p:spTree>
    <p:extLst>
      <p:ext uri="{BB962C8B-B14F-4D97-AF65-F5344CB8AC3E}">
        <p14:creationId xmlns:p14="http://schemas.microsoft.com/office/powerpoint/2010/main" val="213781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8E42-F5FE-26E5-E491-05D2B234ECEF}"/>
              </a:ext>
            </a:extLst>
          </p:cNvPr>
          <p:cNvSpPr>
            <a:spLocks noGrp="1"/>
          </p:cNvSpPr>
          <p:nvPr>
            <p:ph type="title"/>
          </p:nvPr>
        </p:nvSpPr>
        <p:spPr/>
        <p:txBody>
          <a:bodyPr/>
          <a:lstStyle/>
          <a:p>
            <a:r>
              <a:rPr lang="en-US" dirty="0"/>
              <a:t>Activity #2</a:t>
            </a:r>
          </a:p>
        </p:txBody>
      </p:sp>
      <p:sp>
        <p:nvSpPr>
          <p:cNvPr id="3" name="Content Placeholder 2">
            <a:extLst>
              <a:ext uri="{FF2B5EF4-FFF2-40B4-BE49-F238E27FC236}">
                <a16:creationId xmlns:a16="http://schemas.microsoft.com/office/drawing/2014/main" id="{874FA1A5-74C0-22C3-A8C9-2F56C04F00A7}"/>
              </a:ext>
            </a:extLst>
          </p:cNvPr>
          <p:cNvSpPr>
            <a:spLocks noGrp="1"/>
          </p:cNvSpPr>
          <p:nvPr>
            <p:ph idx="1"/>
          </p:nvPr>
        </p:nvSpPr>
        <p:spPr/>
        <p:txBody>
          <a:bodyPr/>
          <a:lstStyle/>
          <a:p>
            <a:r>
              <a:rPr lang="en-US" dirty="0"/>
              <a:t>Design and develop Simple timer as a low-cost product</a:t>
            </a:r>
          </a:p>
          <a:p>
            <a:r>
              <a:rPr lang="en-US" dirty="0"/>
              <a:t>Consider the ES design steps and explain each steps briefly</a:t>
            </a:r>
          </a:p>
        </p:txBody>
      </p:sp>
      <p:sp>
        <p:nvSpPr>
          <p:cNvPr id="4" name="Slide Number Placeholder 3">
            <a:extLst>
              <a:ext uri="{FF2B5EF4-FFF2-40B4-BE49-F238E27FC236}">
                <a16:creationId xmlns:a16="http://schemas.microsoft.com/office/drawing/2014/main" id="{DE752EFE-9709-C07F-1430-F6E58385F41D}"/>
              </a:ext>
            </a:extLst>
          </p:cNvPr>
          <p:cNvSpPr>
            <a:spLocks noGrp="1"/>
          </p:cNvSpPr>
          <p:nvPr>
            <p:ph type="sldNum" sz="quarter" idx="12"/>
          </p:nvPr>
        </p:nvSpPr>
        <p:spPr/>
        <p:txBody>
          <a:bodyPr/>
          <a:lstStyle/>
          <a:p>
            <a:fld id="{F91A3952-A237-4C1E-B169-F29C0CF1F605}" type="slidenum">
              <a:rPr lang="en-US" smtClean="0"/>
              <a:pPr/>
              <a:t>30</a:t>
            </a:fld>
            <a:endParaRPr lang="en-US" dirty="0"/>
          </a:p>
        </p:txBody>
      </p:sp>
    </p:spTree>
    <p:extLst>
      <p:ext uri="{BB962C8B-B14F-4D97-AF65-F5344CB8AC3E}">
        <p14:creationId xmlns:p14="http://schemas.microsoft.com/office/powerpoint/2010/main" val="1234049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4048</TotalTime>
  <Words>1550</Words>
  <Application>Microsoft Office PowerPoint</Application>
  <PresentationFormat>Widescreen</PresentationFormat>
  <Paragraphs>251</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Calibri</vt:lpstr>
      <vt:lpstr>Calibri Light</vt:lpstr>
      <vt:lpstr>DejaVu Sans</vt:lpstr>
      <vt:lpstr>Office Theme</vt:lpstr>
      <vt:lpstr>ET2223 Microprocessors Microcontrollers &amp; Embedded Systems</vt:lpstr>
      <vt:lpstr>Embedded Systems Design</vt:lpstr>
      <vt:lpstr>Embedded Systems – Design  Concepts</vt:lpstr>
      <vt:lpstr>Embedded Systems - design challenges </vt:lpstr>
      <vt:lpstr>ES - Design Concepts</vt:lpstr>
      <vt:lpstr>Embedded Systems - Design Concepts</vt:lpstr>
      <vt:lpstr>Embedded Systems - Design Concepts</vt:lpstr>
      <vt:lpstr>Embedded Systems - Design Concepts</vt:lpstr>
      <vt:lpstr>PowerPoint Presentation</vt:lpstr>
      <vt:lpstr>Embedded Systems - Design Concepts</vt:lpstr>
      <vt:lpstr>Embedded Systems - Design Concepts</vt:lpstr>
      <vt:lpstr>Embedded Systems - Design Concepts</vt:lpstr>
      <vt:lpstr>Embedded Systems - Design Concepts</vt:lpstr>
      <vt:lpstr>Embedded Systems - Design Concepts</vt:lpstr>
      <vt:lpstr>PowerPoint Presentation</vt:lpstr>
      <vt:lpstr>ES Design Process Activities</vt:lpstr>
      <vt:lpstr>ES Design Process Activities</vt:lpstr>
      <vt:lpstr>ES Design Examples</vt:lpstr>
      <vt:lpstr>Design Steps</vt:lpstr>
      <vt:lpstr>Example Automatic Chocolate Vending Machine (ACVM)</vt:lpstr>
      <vt:lpstr>System Functions</vt:lpstr>
      <vt:lpstr>Specifications</vt:lpstr>
      <vt:lpstr>Hardware</vt:lpstr>
      <vt:lpstr>Software of the ACVM</vt:lpstr>
      <vt:lpstr>Block Diagram</vt:lpstr>
      <vt:lpstr>Flow chart</vt:lpstr>
      <vt:lpstr>Circuit Diagram</vt:lpstr>
      <vt:lpstr>Challenges in ES</vt:lpstr>
      <vt:lpstr>Activity #1</vt:lpstr>
      <vt:lpstr>Activity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 Budditha Hettige</dc:creator>
  <cp:lastModifiedBy>Dr. Budditha Hettige</cp:lastModifiedBy>
  <cp:revision>78</cp:revision>
  <dcterms:created xsi:type="dcterms:W3CDTF">2019-10-01T20:54:45Z</dcterms:created>
  <dcterms:modified xsi:type="dcterms:W3CDTF">2023-08-20T11:55:59Z</dcterms:modified>
</cp:coreProperties>
</file>