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9" r:id="rId1"/>
  </p:sldMasterIdLst>
  <p:notesMasterIdLst>
    <p:notesMasterId r:id="rId19"/>
  </p:notesMasterIdLst>
  <p:sldIdLst>
    <p:sldId id="256" r:id="rId2"/>
    <p:sldId id="257" r:id="rId3"/>
    <p:sldId id="258" r:id="rId4"/>
    <p:sldId id="259" r:id="rId5"/>
    <p:sldId id="260" r:id="rId6"/>
    <p:sldId id="261" r:id="rId7"/>
    <p:sldId id="262" r:id="rId8"/>
    <p:sldId id="265" r:id="rId9"/>
    <p:sldId id="266" r:id="rId10"/>
    <p:sldId id="267" r:id="rId11"/>
    <p:sldId id="268" r:id="rId12"/>
    <p:sldId id="269" r:id="rId13"/>
    <p:sldId id="270" r:id="rId14"/>
    <p:sldId id="271" r:id="rId15"/>
    <p:sldId id="272" r:id="rId16"/>
    <p:sldId id="273"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5" autoAdjust="0"/>
    <p:restoredTop sz="94660"/>
  </p:normalViewPr>
  <p:slideViewPr>
    <p:cSldViewPr snapToGrid="0">
      <p:cViewPr varScale="1">
        <p:scale>
          <a:sx n="82" d="100"/>
          <a:sy n="82" d="100"/>
        </p:scale>
        <p:origin x="58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429DB3-6B2C-4997-9785-E213DD770CAB}" type="datetimeFigureOut">
              <a:rPr lang="en-GB" smtClean="0"/>
              <a:t>27/08/2025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0CDC33-3478-4E6A-8EE2-EA31A8F73BE1}" type="slidenum">
              <a:rPr lang="en-GB" smtClean="0"/>
              <a:t>‹#›</a:t>
            </a:fld>
            <a:endParaRPr lang="en-GB"/>
          </a:p>
        </p:txBody>
      </p:sp>
    </p:spTree>
    <p:extLst>
      <p:ext uri="{BB962C8B-B14F-4D97-AF65-F5344CB8AC3E}">
        <p14:creationId xmlns:p14="http://schemas.microsoft.com/office/powerpoint/2010/main" val="1284643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dirty="0"/>
              <a:t>Click to edit Master title style</a:t>
            </a:r>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9E5D4CF1-6024-4F84-B5AC-2E73B12BAF82}" type="datetime1">
              <a:rPr lang="en-US" smtClean="0"/>
              <a:t>8/27/2025</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191370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890ECA99-BEF7-417A-B8A4-0766DD65F40A}" type="datetime1">
              <a:rPr lang="en-US" smtClean="0"/>
              <a:t>8/27/2025</a:t>
            </a:fld>
            <a:endParaRPr lang="en-US" dirty="0"/>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359130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7FDE8ED4-7ED7-4F61-B23F-CF887FA7B1E3}" type="datetime1">
              <a:rPr lang="en-US" smtClean="0"/>
              <a:t>8/27/2025</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22611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F87C1F64-B08A-4BB9-A12D-7A8C439B21FF}" type="datetime1">
              <a:rPr lang="en-US" smtClean="0"/>
              <a:t>8/27/2025</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299397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60BA1036-742A-499C-8459-C323499CBE03}" type="datetime1">
              <a:rPr lang="en-US" smtClean="0"/>
              <a:t>8/27/2025</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534811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CF044319-1A7F-4666-943C-382075753515}" type="datetime1">
              <a:rPr lang="en-US" smtClean="0"/>
              <a:t>8/27/2025</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639687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FFB03C1A-60C3-4236-9332-897FEFB05EE9}" type="datetime1">
              <a:rPr lang="en-US" smtClean="0"/>
              <a:t>8/27/2025</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34869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97856755-18CD-4D43-8F1E-EB5B1AE40B7F}" type="datetime1">
              <a:rPr lang="en-US" smtClean="0"/>
              <a:t>8/27/2025</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40488495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B2380B1B-2475-4DE9-B6C2-DA278E678D62}" type="datetime1">
              <a:rPr lang="en-US" smtClean="0"/>
              <a:t>8/27/2025</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776041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1C109E56-C304-4A0C-848D-9CDC65DCC61B}" type="datetime1">
              <a:rPr lang="en-US" smtClean="0"/>
              <a:t>8/27/2025</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76140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407D5262-FD87-4D3D-995E-870F96485264}" type="datetime1">
              <a:rPr lang="en-US" smtClean="0"/>
              <a:t>8/27/2025</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724926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E17BA350-289B-481B-9CDD-1806B77286BC}" type="datetime1">
              <a:rPr lang="en-US" smtClean="0"/>
              <a:t>8/27/2025</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dirty="0"/>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312CC964-A50B-4C29-B4E4-2C30BB34CCF3}" type="slidenum">
              <a:rPr lang="en-US" smtClean="0"/>
              <a:t>‹#›</a:t>
            </a:fld>
            <a:endParaRPr lang="en-US"/>
          </a:p>
        </p:txBody>
      </p:sp>
    </p:spTree>
    <p:extLst>
      <p:ext uri="{BB962C8B-B14F-4D97-AF65-F5344CB8AC3E}">
        <p14:creationId xmlns:p14="http://schemas.microsoft.com/office/powerpoint/2010/main" val="2782969184"/>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Lst>
  <p:hf hdr="0" ftr="0" dt="0"/>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17">
            <a:extLst>
              <a:ext uri="{FF2B5EF4-FFF2-40B4-BE49-F238E27FC236}">
                <a16:creationId xmlns:a16="http://schemas.microsoft.com/office/drawing/2014/main" id="{82950D9A-4705-4314-961A-4F88B2CE41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19">
            <a:extLst>
              <a:ext uri="{FF2B5EF4-FFF2-40B4-BE49-F238E27FC236}">
                <a16:creationId xmlns:a16="http://schemas.microsoft.com/office/drawing/2014/main" id="{B13969F2-ED52-4E5C-B3FC-01E01B8B9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2"/>
            <a:ext cx="12192000" cy="685734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4ACBE7-7B43-402D-8560-F4C0D94C64E0}"/>
              </a:ext>
            </a:extLst>
          </p:cNvPr>
          <p:cNvSpPr>
            <a:spLocks noGrp="1"/>
          </p:cNvSpPr>
          <p:nvPr>
            <p:ph type="ctrTitle"/>
          </p:nvPr>
        </p:nvSpPr>
        <p:spPr>
          <a:xfrm>
            <a:off x="214313" y="749595"/>
            <a:ext cx="6303445" cy="1357811"/>
          </a:xfrm>
        </p:spPr>
        <p:txBody>
          <a:bodyPr anchor="t">
            <a:normAutofit fontScale="90000"/>
          </a:bodyPr>
          <a:lstStyle/>
          <a:p>
            <a:pPr algn="l"/>
            <a:r>
              <a:rPr lang="en-GB" sz="4000" i="0" dirty="0">
                <a:latin typeface="Arial Black" panose="020B0A04020102020204" pitchFamily="34" charset="0"/>
              </a:rPr>
              <a:t>IOT ARCHITECTURE &amp; Reference Model</a:t>
            </a:r>
          </a:p>
        </p:txBody>
      </p:sp>
      <p:sp>
        <p:nvSpPr>
          <p:cNvPr id="3" name="Subtitle 2">
            <a:extLst>
              <a:ext uri="{FF2B5EF4-FFF2-40B4-BE49-F238E27FC236}">
                <a16:creationId xmlns:a16="http://schemas.microsoft.com/office/drawing/2014/main" id="{B29D9FC0-65D0-44D9-B97F-7371CAB9C930}"/>
              </a:ext>
            </a:extLst>
          </p:cNvPr>
          <p:cNvSpPr>
            <a:spLocks noGrp="1"/>
          </p:cNvSpPr>
          <p:nvPr>
            <p:ph type="subTitle" idx="1"/>
          </p:nvPr>
        </p:nvSpPr>
        <p:spPr>
          <a:xfrm>
            <a:off x="378952" y="4673176"/>
            <a:ext cx="4890977" cy="999460"/>
          </a:xfrm>
        </p:spPr>
        <p:txBody>
          <a:bodyPr anchor="b">
            <a:normAutofit/>
          </a:bodyPr>
          <a:lstStyle/>
          <a:p>
            <a:pPr algn="l"/>
            <a:r>
              <a:rPr lang="en-GB" dirty="0">
                <a:latin typeface="Arial Black" panose="020B0A04020102020204" pitchFamily="34" charset="0"/>
              </a:rPr>
              <a:t>Lecture – 4</a:t>
            </a:r>
          </a:p>
          <a:p>
            <a:pPr algn="l"/>
            <a:r>
              <a:rPr lang="en-GB" dirty="0">
                <a:latin typeface="Arial Black" panose="020B0A04020102020204" pitchFamily="34" charset="0"/>
              </a:rPr>
              <a:t>Eng. PN Karunanayake</a:t>
            </a:r>
          </a:p>
        </p:txBody>
      </p:sp>
      <p:pic>
        <p:nvPicPr>
          <p:cNvPr id="4" name="Picture 3" descr="Blurred micro image of a street traffic">
            <a:extLst>
              <a:ext uri="{FF2B5EF4-FFF2-40B4-BE49-F238E27FC236}">
                <a16:creationId xmlns:a16="http://schemas.microsoft.com/office/drawing/2014/main" id="{56B696B9-2DFE-4E8B-B925-352419DE3CE8}"/>
              </a:ext>
            </a:extLst>
          </p:cNvPr>
          <p:cNvPicPr>
            <a:picLocks noChangeAspect="1"/>
          </p:cNvPicPr>
          <p:nvPr/>
        </p:nvPicPr>
        <p:blipFill rotWithShape="1">
          <a:blip r:embed="rId2"/>
          <a:srcRect l="12589" r="26120" b="2"/>
          <a:stretch/>
        </p:blipFill>
        <p:spPr>
          <a:xfrm>
            <a:off x="5879804" y="-6350"/>
            <a:ext cx="6312196" cy="6874330"/>
          </a:xfrm>
          <a:custGeom>
            <a:avLst/>
            <a:gdLst/>
            <a:ahLst/>
            <a:cxnLst/>
            <a:rect l="l" t="t" r="r" b="b"/>
            <a:pathLst>
              <a:path w="6312196" h="6874330">
                <a:moveTo>
                  <a:pt x="2047193" y="0"/>
                </a:moveTo>
                <a:lnTo>
                  <a:pt x="6312196" y="0"/>
                </a:lnTo>
                <a:lnTo>
                  <a:pt x="6312196" y="6874330"/>
                </a:lnTo>
                <a:lnTo>
                  <a:pt x="0" y="6874330"/>
                </a:lnTo>
                <a:close/>
              </a:path>
            </a:pathLst>
          </a:custGeom>
        </p:spPr>
      </p:pic>
      <p:cxnSp>
        <p:nvCxnSpPr>
          <p:cNvPr id="28" name="Straight Connector 21">
            <a:extLst>
              <a:ext uri="{FF2B5EF4-FFF2-40B4-BE49-F238E27FC236}">
                <a16:creationId xmlns:a16="http://schemas.microsoft.com/office/drawing/2014/main" id="{13AC671C-E66F-43C5-A66A-C477339DD2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634715" y="0"/>
            <a:ext cx="914401" cy="685734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60E5D66A-ECCE-418A-8F2A-1364869EC1A2}"/>
              </a:ext>
            </a:extLst>
          </p:cNvPr>
          <p:cNvSpPr>
            <a:spLocks noGrp="1"/>
          </p:cNvSpPr>
          <p:nvPr>
            <p:ph type="sldNum" sz="quarter" idx="12"/>
          </p:nvPr>
        </p:nvSpPr>
        <p:spPr/>
        <p:txBody>
          <a:bodyPr/>
          <a:lstStyle/>
          <a:p>
            <a:fld id="{312CC964-A50B-4C29-B4E4-2C30BB34CCF3}" type="slidenum">
              <a:rPr lang="en-US" smtClean="0"/>
              <a:t>1</a:t>
            </a:fld>
            <a:endParaRPr lang="en-US"/>
          </a:p>
        </p:txBody>
      </p:sp>
    </p:spTree>
    <p:extLst>
      <p:ext uri="{BB962C8B-B14F-4D97-AF65-F5344CB8AC3E}">
        <p14:creationId xmlns:p14="http://schemas.microsoft.com/office/powerpoint/2010/main" val="2334921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5F0A9D0-BB35-4CAB-B92D-E061B9D8E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52F5DE35-776B-4C7D-AF2E-514E68BDD2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0"/>
            <a:ext cx="698360" cy="57024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A65E4E8-1272-4386-BDFE-0129D7A7E2D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642143" y="0"/>
            <a:ext cx="2549857" cy="207446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6515F51-DBC6-42B8-9C34-749F69BB656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897737" y="0"/>
            <a:ext cx="1294263" cy="599136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3BA464E-4E7F-49E5-8FA7-DD9F119CF562}"/>
              </a:ext>
            </a:extLst>
          </p:cNvPr>
          <p:cNvSpPr>
            <a:spLocks noGrp="1"/>
          </p:cNvSpPr>
          <p:nvPr>
            <p:ph type="title"/>
          </p:nvPr>
        </p:nvSpPr>
        <p:spPr>
          <a:xfrm>
            <a:off x="1129553" y="638174"/>
            <a:ext cx="10529048" cy="1476375"/>
          </a:xfrm>
        </p:spPr>
        <p:txBody>
          <a:bodyPr>
            <a:normAutofit/>
          </a:bodyPr>
          <a:lstStyle/>
          <a:p>
            <a:r>
              <a:rPr lang="en-US" b="1" i="0" dirty="0">
                <a:latin typeface="Calibri" panose="020F0502020204030204" pitchFamily="34" charset="0"/>
                <a:ea typeface="Calibri" panose="020F0502020204030204" pitchFamily="34" charset="0"/>
                <a:cs typeface="Calibri" panose="020F0502020204030204" pitchFamily="34" charset="0"/>
              </a:rPr>
              <a:t>State of the art</a:t>
            </a:r>
          </a:p>
        </p:txBody>
      </p:sp>
      <p:cxnSp>
        <p:nvCxnSpPr>
          <p:cNvPr id="23" name="Straight Connector 22">
            <a:extLst>
              <a:ext uri="{FF2B5EF4-FFF2-40B4-BE49-F238E27FC236}">
                <a16:creationId xmlns:a16="http://schemas.microsoft.com/office/drawing/2014/main" id="{873F5967-4993-405D-A3E6-84DCEFF44C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2403086" cy="103723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977B673-556E-477A-A21D-364429754377}"/>
              </a:ext>
            </a:extLst>
          </p:cNvPr>
          <p:cNvSpPr>
            <a:spLocks noGrp="1"/>
          </p:cNvSpPr>
          <p:nvPr>
            <p:ph idx="1"/>
          </p:nvPr>
        </p:nvSpPr>
        <p:spPr>
          <a:xfrm>
            <a:off x="510931" y="2034393"/>
            <a:ext cx="4632341" cy="4190331"/>
          </a:xfrm>
        </p:spPr>
        <p:txBody>
          <a:bodyPr>
            <a:normAutofit/>
          </a:bodyPr>
          <a:lstStyle/>
          <a:p>
            <a:pPr marL="0" indent="0">
              <a:lnSpc>
                <a:spcPct val="90000"/>
              </a:lnSpc>
              <a:buNone/>
            </a:pPr>
            <a:endParaRPr lang="en-GB" sz="2200" dirty="0"/>
          </a:p>
          <a:p>
            <a:pPr algn="just">
              <a:lnSpc>
                <a:spcPct val="90000"/>
              </a:lnSpc>
            </a:pPr>
            <a:r>
              <a:rPr lang="en-GB" sz="2200" dirty="0">
                <a:latin typeface="Calibri" panose="020F0502020204030204" pitchFamily="34" charset="0"/>
                <a:ea typeface="Calibri" panose="020F0502020204030204" pitchFamily="34" charset="0"/>
                <a:cs typeface="Calibri" panose="020F0502020204030204" pitchFamily="34" charset="0"/>
              </a:rPr>
              <a:t>IoT architecture varies from solution to solution.</a:t>
            </a:r>
          </a:p>
          <a:p>
            <a:pPr algn="just">
              <a:lnSpc>
                <a:spcPct val="90000"/>
              </a:lnSpc>
            </a:pPr>
            <a:r>
              <a:rPr lang="en-GB" sz="2200" dirty="0">
                <a:latin typeface="Calibri" panose="020F0502020204030204" pitchFamily="34" charset="0"/>
                <a:ea typeface="Calibri" panose="020F0502020204030204" pitchFamily="34" charset="0"/>
                <a:cs typeface="Calibri" panose="020F0502020204030204" pitchFamily="34" charset="0"/>
              </a:rPr>
              <a:t>IoT as a technology consists of four main components, over which an architecture is framed.</a:t>
            </a:r>
          </a:p>
          <a:p>
            <a:pPr marL="0" indent="0">
              <a:lnSpc>
                <a:spcPct val="90000"/>
              </a:lnSpc>
              <a:buNone/>
            </a:pPr>
            <a:r>
              <a:rPr lang="en-GB" sz="2200" dirty="0">
                <a:latin typeface="Calibri" panose="020F0502020204030204" pitchFamily="34" charset="0"/>
                <a:ea typeface="Calibri" panose="020F0502020204030204" pitchFamily="34" charset="0"/>
                <a:cs typeface="Calibri" panose="020F0502020204030204" pitchFamily="34" charset="0"/>
              </a:rPr>
              <a:t>1) Sensors</a:t>
            </a:r>
          </a:p>
          <a:p>
            <a:pPr marL="0" indent="0">
              <a:lnSpc>
                <a:spcPct val="90000"/>
              </a:lnSpc>
              <a:buNone/>
            </a:pPr>
            <a:r>
              <a:rPr lang="en-GB" sz="2200" dirty="0">
                <a:latin typeface="Calibri" panose="020F0502020204030204" pitchFamily="34" charset="0"/>
                <a:ea typeface="Calibri" panose="020F0502020204030204" pitchFamily="34" charset="0"/>
                <a:cs typeface="Calibri" panose="020F0502020204030204" pitchFamily="34" charset="0"/>
              </a:rPr>
              <a:t>2) Devices</a:t>
            </a:r>
          </a:p>
          <a:p>
            <a:pPr marL="0" indent="0">
              <a:lnSpc>
                <a:spcPct val="90000"/>
              </a:lnSpc>
              <a:buNone/>
            </a:pPr>
            <a:r>
              <a:rPr lang="en-GB" sz="2200" dirty="0">
                <a:latin typeface="Calibri" panose="020F0502020204030204" pitchFamily="34" charset="0"/>
                <a:ea typeface="Calibri" panose="020F0502020204030204" pitchFamily="34" charset="0"/>
                <a:cs typeface="Calibri" panose="020F0502020204030204" pitchFamily="34" charset="0"/>
              </a:rPr>
              <a:t>3) Gateway</a:t>
            </a:r>
          </a:p>
          <a:p>
            <a:pPr marL="0" indent="0">
              <a:lnSpc>
                <a:spcPct val="90000"/>
              </a:lnSpc>
              <a:buNone/>
            </a:pPr>
            <a:r>
              <a:rPr lang="en-GB" sz="2200" dirty="0">
                <a:latin typeface="Calibri" panose="020F0502020204030204" pitchFamily="34" charset="0"/>
                <a:ea typeface="Calibri" panose="020F0502020204030204" pitchFamily="34" charset="0"/>
                <a:cs typeface="Calibri" panose="020F0502020204030204" pitchFamily="34" charset="0"/>
              </a:rPr>
              <a:t>4) Cloud</a:t>
            </a:r>
            <a:endParaRPr lang="en-US" sz="2200" dirty="0">
              <a:latin typeface="Calibri" panose="020F0502020204030204" pitchFamily="34" charset="0"/>
              <a:ea typeface="Calibri" panose="020F0502020204030204" pitchFamily="34" charset="0"/>
              <a:cs typeface="Calibri" panose="020F0502020204030204" pitchFamily="34" charset="0"/>
            </a:endParaRPr>
          </a:p>
        </p:txBody>
      </p:sp>
      <p:cxnSp>
        <p:nvCxnSpPr>
          <p:cNvPr id="25" name="Straight Connector 24">
            <a:extLst>
              <a:ext uri="{FF2B5EF4-FFF2-40B4-BE49-F238E27FC236}">
                <a16:creationId xmlns:a16="http://schemas.microsoft.com/office/drawing/2014/main" id="{A3A523CC-BD6C-4A0D-B9DB-1DC2CE1E22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807758" y="5501473"/>
            <a:ext cx="5455709" cy="135652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4B6EF934-EA37-4BF8-844A-5175262F9EB1}"/>
              </a:ext>
            </a:extLst>
          </p:cNvPr>
          <p:cNvPicPr>
            <a:picLocks noChangeAspect="1"/>
          </p:cNvPicPr>
          <p:nvPr/>
        </p:nvPicPr>
        <p:blipFill>
          <a:blip r:embed="rId2"/>
          <a:stretch>
            <a:fillRect/>
          </a:stretch>
        </p:blipFill>
        <p:spPr>
          <a:xfrm>
            <a:off x="5342439" y="2540573"/>
            <a:ext cx="6730925" cy="2589407"/>
          </a:xfrm>
          <a:prstGeom prst="rect">
            <a:avLst/>
          </a:prstGeom>
        </p:spPr>
      </p:pic>
      <p:sp>
        <p:nvSpPr>
          <p:cNvPr id="4" name="Slide Number Placeholder 3">
            <a:extLst>
              <a:ext uri="{FF2B5EF4-FFF2-40B4-BE49-F238E27FC236}">
                <a16:creationId xmlns:a16="http://schemas.microsoft.com/office/drawing/2014/main" id="{43420D85-4FC8-4CEC-ABD2-6662A697A2E2}"/>
              </a:ext>
            </a:extLst>
          </p:cNvPr>
          <p:cNvSpPr>
            <a:spLocks noGrp="1"/>
          </p:cNvSpPr>
          <p:nvPr>
            <p:ph type="sldNum" sz="quarter" idx="12"/>
          </p:nvPr>
        </p:nvSpPr>
        <p:spPr>
          <a:xfrm>
            <a:off x="11602477" y="6398878"/>
            <a:ext cx="470887" cy="365125"/>
          </a:xfrm>
        </p:spPr>
        <p:txBody>
          <a:bodyPr>
            <a:normAutofit/>
          </a:bodyPr>
          <a:lstStyle/>
          <a:p>
            <a:pPr>
              <a:spcAft>
                <a:spcPts val="600"/>
              </a:spcAft>
            </a:pPr>
            <a:fld id="{312CC964-A50B-4C29-B4E4-2C30BB34CCF3}" type="slidenum">
              <a:rPr lang="en-US" smtClean="0"/>
              <a:pPr>
                <a:spcAft>
                  <a:spcPts val="600"/>
                </a:spcAft>
              </a:pPr>
              <a:t>2</a:t>
            </a:fld>
            <a:endParaRPr lang="en-US"/>
          </a:p>
        </p:txBody>
      </p:sp>
    </p:spTree>
    <p:extLst>
      <p:ext uri="{BB962C8B-B14F-4D97-AF65-F5344CB8AC3E}">
        <p14:creationId xmlns:p14="http://schemas.microsoft.com/office/powerpoint/2010/main" val="1231289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015BF-6AD7-4B2A-82E4-EA9B5F5F669B}"/>
              </a:ext>
            </a:extLst>
          </p:cNvPr>
          <p:cNvSpPr>
            <a:spLocks noGrp="1"/>
          </p:cNvSpPr>
          <p:nvPr>
            <p:ph type="title"/>
          </p:nvPr>
        </p:nvSpPr>
        <p:spPr>
          <a:xfrm>
            <a:off x="993710" y="113524"/>
            <a:ext cx="9906000" cy="1382156"/>
          </a:xfrm>
        </p:spPr>
        <p:txBody>
          <a:bodyPr/>
          <a:lstStyle/>
          <a:p>
            <a:r>
              <a:rPr lang="en-US" b="1" i="0" dirty="0">
                <a:latin typeface="Calibri" panose="020F0502020204030204" pitchFamily="34" charset="0"/>
                <a:ea typeface="Calibri" panose="020F0502020204030204" pitchFamily="34" charset="0"/>
                <a:cs typeface="Calibri" panose="020F0502020204030204" pitchFamily="34" charset="0"/>
              </a:rPr>
              <a:t>Stages of IoT Architecture</a:t>
            </a:r>
          </a:p>
        </p:txBody>
      </p:sp>
      <p:sp>
        <p:nvSpPr>
          <p:cNvPr id="4" name="Slide Number Placeholder 3">
            <a:extLst>
              <a:ext uri="{FF2B5EF4-FFF2-40B4-BE49-F238E27FC236}">
                <a16:creationId xmlns:a16="http://schemas.microsoft.com/office/drawing/2014/main" id="{F911C67E-721C-47D9-9F7D-BAA1A7C66923}"/>
              </a:ext>
            </a:extLst>
          </p:cNvPr>
          <p:cNvSpPr>
            <a:spLocks noGrp="1"/>
          </p:cNvSpPr>
          <p:nvPr>
            <p:ph type="sldNum" sz="quarter" idx="12"/>
          </p:nvPr>
        </p:nvSpPr>
        <p:spPr/>
        <p:txBody>
          <a:bodyPr/>
          <a:lstStyle/>
          <a:p>
            <a:fld id="{312CC964-A50B-4C29-B4E4-2C30BB34CCF3}" type="slidenum">
              <a:rPr lang="en-US" smtClean="0"/>
              <a:t>3</a:t>
            </a:fld>
            <a:endParaRPr lang="en-US"/>
          </a:p>
        </p:txBody>
      </p:sp>
      <p:pic>
        <p:nvPicPr>
          <p:cNvPr id="6" name="Picture 5">
            <a:extLst>
              <a:ext uri="{FF2B5EF4-FFF2-40B4-BE49-F238E27FC236}">
                <a16:creationId xmlns:a16="http://schemas.microsoft.com/office/drawing/2014/main" id="{463F1B73-E5B8-4287-8F8F-55181CE151CF}"/>
              </a:ext>
            </a:extLst>
          </p:cNvPr>
          <p:cNvPicPr>
            <a:picLocks noChangeAspect="1"/>
          </p:cNvPicPr>
          <p:nvPr/>
        </p:nvPicPr>
        <p:blipFill>
          <a:blip r:embed="rId2"/>
          <a:stretch>
            <a:fillRect/>
          </a:stretch>
        </p:blipFill>
        <p:spPr>
          <a:xfrm>
            <a:off x="805300" y="1189559"/>
            <a:ext cx="9365067" cy="5209319"/>
          </a:xfrm>
          <a:prstGeom prst="rect">
            <a:avLst/>
          </a:prstGeom>
        </p:spPr>
      </p:pic>
    </p:spTree>
    <p:extLst>
      <p:ext uri="{BB962C8B-B14F-4D97-AF65-F5344CB8AC3E}">
        <p14:creationId xmlns:p14="http://schemas.microsoft.com/office/powerpoint/2010/main" val="631346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3D673-1BDC-4425-BFB5-CB30818BEB95}"/>
              </a:ext>
            </a:extLst>
          </p:cNvPr>
          <p:cNvSpPr>
            <a:spLocks noGrp="1"/>
          </p:cNvSpPr>
          <p:nvPr>
            <p:ph type="title"/>
          </p:nvPr>
        </p:nvSpPr>
        <p:spPr/>
        <p:txBody>
          <a:bodyPr>
            <a:normAutofit/>
          </a:bodyPr>
          <a:lstStyle/>
          <a:p>
            <a:r>
              <a:rPr lang="en-US" sz="4000" i="0" dirty="0">
                <a:latin typeface="Calibri" panose="020F0502020204030204" pitchFamily="34" charset="0"/>
                <a:ea typeface="Calibri" panose="020F0502020204030204" pitchFamily="34" charset="0"/>
                <a:cs typeface="Calibri" panose="020F0502020204030204" pitchFamily="34" charset="0"/>
              </a:rPr>
              <a:t>Stage 1:- Sensors/actuators</a:t>
            </a:r>
          </a:p>
        </p:txBody>
      </p:sp>
      <p:sp>
        <p:nvSpPr>
          <p:cNvPr id="3" name="Content Placeholder 2">
            <a:extLst>
              <a:ext uri="{FF2B5EF4-FFF2-40B4-BE49-F238E27FC236}">
                <a16:creationId xmlns:a16="http://schemas.microsoft.com/office/drawing/2014/main" id="{BA863678-13D4-438E-91E0-B2A6DD6B67B8}"/>
              </a:ext>
            </a:extLst>
          </p:cNvPr>
          <p:cNvSpPr>
            <a:spLocks noGrp="1"/>
          </p:cNvSpPr>
          <p:nvPr>
            <p:ph idx="1"/>
          </p:nvPr>
        </p:nvSpPr>
        <p:spPr>
          <a:xfrm>
            <a:off x="1143000" y="1764776"/>
            <a:ext cx="9906000" cy="4559823"/>
          </a:xfrm>
        </p:spPr>
        <p:txBody>
          <a:bodyPr>
            <a:normAutofit/>
          </a:bodyPr>
          <a:lstStyle/>
          <a:p>
            <a:pPr algn="just"/>
            <a:r>
              <a:rPr lang="en-GB" b="1" dirty="0">
                <a:latin typeface="Calibri" panose="020F0502020204030204" pitchFamily="34" charset="0"/>
                <a:ea typeface="Calibri" panose="020F0502020204030204" pitchFamily="34" charset="0"/>
                <a:cs typeface="Calibri" panose="020F0502020204030204" pitchFamily="34" charset="0"/>
              </a:rPr>
              <a:t>Sensors collect data from the environment or object </a:t>
            </a:r>
            <a:r>
              <a:rPr lang="en-GB" dirty="0">
                <a:latin typeface="Calibri" panose="020F0502020204030204" pitchFamily="34" charset="0"/>
                <a:ea typeface="Calibri" panose="020F0502020204030204" pitchFamily="34" charset="0"/>
                <a:cs typeface="Calibri" panose="020F0502020204030204" pitchFamily="34" charset="0"/>
              </a:rPr>
              <a:t>under measurement and turn it into useful data. Ex:- Your cell phone</a:t>
            </a:r>
          </a:p>
          <a:p>
            <a:pPr algn="just"/>
            <a:r>
              <a:rPr lang="en-GB" dirty="0">
                <a:latin typeface="Calibri" panose="020F0502020204030204" pitchFamily="34" charset="0"/>
                <a:ea typeface="Calibri" panose="020F0502020204030204" pitchFamily="34" charset="0"/>
                <a:cs typeface="Calibri" panose="020F0502020204030204" pitchFamily="34" charset="0"/>
              </a:rPr>
              <a:t>Actuators can also intervene to change the physical conditions that generate the data. An actuator might, for example, shut off a power supply, adjust an air flow valve, or move a robotic gripper in an assembly process.</a:t>
            </a:r>
          </a:p>
          <a:p>
            <a:pPr algn="just"/>
            <a:r>
              <a:rPr lang="en-GB" dirty="0">
                <a:latin typeface="Calibri" panose="020F0502020204030204" pitchFamily="34" charset="0"/>
                <a:ea typeface="Calibri" panose="020F0502020204030204" pitchFamily="34" charset="0"/>
                <a:cs typeface="Calibri" panose="020F0502020204030204" pitchFamily="34" charset="0"/>
              </a:rPr>
              <a:t>Also robotic camera systems, water level detectors, air quality sensors, accelerometers, and heart rate monitors can be connected. </a:t>
            </a:r>
          </a:p>
          <a:p>
            <a:pPr algn="just"/>
            <a:r>
              <a:rPr lang="en-GB" dirty="0">
                <a:latin typeface="Calibri" panose="020F0502020204030204" pitchFamily="34" charset="0"/>
                <a:ea typeface="Calibri" panose="020F0502020204030204" pitchFamily="34" charset="0"/>
                <a:cs typeface="Calibri" panose="020F0502020204030204" pitchFamily="34" charset="0"/>
              </a:rPr>
              <a:t>The scope of the IoT is expanding rapidly, due to low-power wireless sensor network technologies and Power over Ethernet, which enable devices on a wired LAN to operate without the need for an A/C power source.</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37D5FCC-15AC-46F8-B3DA-ADAE234B4E2D}"/>
              </a:ext>
            </a:extLst>
          </p:cNvPr>
          <p:cNvSpPr>
            <a:spLocks noGrp="1"/>
          </p:cNvSpPr>
          <p:nvPr>
            <p:ph type="sldNum" sz="quarter" idx="12"/>
          </p:nvPr>
        </p:nvSpPr>
        <p:spPr/>
        <p:txBody>
          <a:bodyPr/>
          <a:lstStyle/>
          <a:p>
            <a:fld id="{312CC964-A50B-4C29-B4E4-2C30BB34CCF3}" type="slidenum">
              <a:rPr lang="en-US" smtClean="0"/>
              <a:t>4</a:t>
            </a:fld>
            <a:endParaRPr lang="en-US"/>
          </a:p>
        </p:txBody>
      </p:sp>
    </p:spTree>
    <p:extLst>
      <p:ext uri="{BB962C8B-B14F-4D97-AF65-F5344CB8AC3E}">
        <p14:creationId xmlns:p14="http://schemas.microsoft.com/office/powerpoint/2010/main" val="403137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3D673-1BDC-4425-BFB5-CB30818BEB95}"/>
              </a:ext>
            </a:extLst>
          </p:cNvPr>
          <p:cNvSpPr>
            <a:spLocks noGrp="1"/>
          </p:cNvSpPr>
          <p:nvPr>
            <p:ph type="title"/>
          </p:nvPr>
        </p:nvSpPr>
        <p:spPr>
          <a:xfrm>
            <a:off x="1142999" y="533401"/>
            <a:ext cx="10407047" cy="1382156"/>
          </a:xfrm>
        </p:spPr>
        <p:txBody>
          <a:bodyPr/>
          <a:lstStyle/>
          <a:p>
            <a:r>
              <a:rPr lang="en-GB" i="0" dirty="0">
                <a:latin typeface="Calibri" panose="020F0502020204030204" pitchFamily="34" charset="0"/>
                <a:ea typeface="Calibri" panose="020F0502020204030204" pitchFamily="34" charset="0"/>
                <a:cs typeface="Calibri" panose="020F0502020204030204" pitchFamily="34" charset="0"/>
              </a:rPr>
              <a:t>Stage 2:- The Internet gateway</a:t>
            </a:r>
            <a:endParaRPr lang="en-US" i="0"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BA863678-13D4-438E-91E0-B2A6DD6B67B8}"/>
              </a:ext>
            </a:extLst>
          </p:cNvPr>
          <p:cNvSpPr>
            <a:spLocks noGrp="1"/>
          </p:cNvSpPr>
          <p:nvPr>
            <p:ph idx="1"/>
          </p:nvPr>
        </p:nvSpPr>
        <p:spPr>
          <a:xfrm>
            <a:off x="1143000" y="1662183"/>
            <a:ext cx="9906000" cy="5101820"/>
          </a:xfrm>
        </p:spPr>
        <p:txBody>
          <a:bodyPr>
            <a:normAutofit fontScale="92500" lnSpcReduction="20000"/>
          </a:bodyPr>
          <a:lstStyle/>
          <a:p>
            <a:pPr algn="just"/>
            <a:r>
              <a:rPr lang="en-GB" dirty="0">
                <a:latin typeface="Calibri" panose="020F0502020204030204" pitchFamily="34" charset="0"/>
                <a:ea typeface="Calibri" panose="020F0502020204030204" pitchFamily="34" charset="0"/>
                <a:cs typeface="Calibri" panose="020F0502020204030204" pitchFamily="34" charset="0"/>
              </a:rPr>
              <a:t>Stage 2 systems often sit close to the sensors and actuators.</a:t>
            </a:r>
          </a:p>
          <a:p>
            <a:pPr algn="just"/>
            <a:r>
              <a:rPr lang="en-GB" dirty="0">
                <a:latin typeface="Calibri" panose="020F0502020204030204" pitchFamily="34" charset="0"/>
                <a:ea typeface="Calibri" panose="020F0502020204030204" pitchFamily="34" charset="0"/>
                <a:cs typeface="Calibri" panose="020F0502020204030204" pitchFamily="34" charset="0"/>
              </a:rPr>
              <a:t>The data from the </a:t>
            </a:r>
            <a:r>
              <a:rPr lang="en-GB" b="1" dirty="0">
                <a:latin typeface="Calibri" panose="020F0502020204030204" pitchFamily="34" charset="0"/>
                <a:ea typeface="Calibri" panose="020F0502020204030204" pitchFamily="34" charset="0"/>
                <a:cs typeface="Calibri" panose="020F0502020204030204" pitchFamily="34" charset="0"/>
              </a:rPr>
              <a:t>sensors starts in </a:t>
            </a:r>
            <a:r>
              <a:rPr lang="en-GB" b="1" dirty="0" err="1">
                <a:latin typeface="Calibri" panose="020F0502020204030204" pitchFamily="34" charset="0"/>
                <a:ea typeface="Calibri" panose="020F0502020204030204" pitchFamily="34" charset="0"/>
                <a:cs typeface="Calibri" panose="020F0502020204030204" pitchFamily="34" charset="0"/>
              </a:rPr>
              <a:t>analog</a:t>
            </a:r>
            <a:r>
              <a:rPr lang="en-GB" b="1" dirty="0">
                <a:latin typeface="Calibri" panose="020F0502020204030204" pitchFamily="34" charset="0"/>
                <a:ea typeface="Calibri" panose="020F0502020204030204" pitchFamily="34" charset="0"/>
                <a:cs typeface="Calibri" panose="020F0502020204030204" pitchFamily="34" charset="0"/>
              </a:rPr>
              <a:t> form and it needs to be aggregated and converted into digital streams</a:t>
            </a:r>
            <a:r>
              <a:rPr lang="en-GB" dirty="0">
                <a:latin typeface="Calibri" panose="020F0502020204030204" pitchFamily="34" charset="0"/>
                <a:ea typeface="Calibri" panose="020F0502020204030204" pitchFamily="34" charset="0"/>
                <a:cs typeface="Calibri" panose="020F0502020204030204" pitchFamily="34" charset="0"/>
              </a:rPr>
              <a:t> for further processing downstream. </a:t>
            </a:r>
          </a:p>
          <a:p>
            <a:pPr algn="just"/>
            <a:r>
              <a:rPr lang="en-GB" b="1" dirty="0">
                <a:latin typeface="Calibri" panose="020F0502020204030204" pitchFamily="34" charset="0"/>
                <a:ea typeface="Calibri" panose="020F0502020204030204" pitchFamily="34" charset="0"/>
                <a:cs typeface="Calibri" panose="020F0502020204030204" pitchFamily="34" charset="0"/>
              </a:rPr>
              <a:t>Data acquisition systems (DAS) </a:t>
            </a:r>
            <a:r>
              <a:rPr lang="en-GB" dirty="0">
                <a:latin typeface="Calibri" panose="020F0502020204030204" pitchFamily="34" charset="0"/>
                <a:ea typeface="Calibri" panose="020F0502020204030204" pitchFamily="34" charset="0"/>
                <a:cs typeface="Calibri" panose="020F0502020204030204" pitchFamily="34" charset="0"/>
              </a:rPr>
              <a:t>perform data aggregation and conversion functions. The DAS connects to the sensor network, aggregates outputs, and performs the </a:t>
            </a:r>
            <a:r>
              <a:rPr lang="en-GB" dirty="0" err="1">
                <a:latin typeface="Calibri" panose="020F0502020204030204" pitchFamily="34" charset="0"/>
                <a:ea typeface="Calibri" panose="020F0502020204030204" pitchFamily="34" charset="0"/>
                <a:cs typeface="Calibri" panose="020F0502020204030204" pitchFamily="34" charset="0"/>
              </a:rPr>
              <a:t>analog</a:t>
            </a:r>
            <a:r>
              <a:rPr lang="en-GB" dirty="0">
                <a:latin typeface="Calibri" panose="020F0502020204030204" pitchFamily="34" charset="0"/>
                <a:ea typeface="Calibri" panose="020F0502020204030204" pitchFamily="34" charset="0"/>
                <a:cs typeface="Calibri" panose="020F0502020204030204" pitchFamily="34" charset="0"/>
              </a:rPr>
              <a:t>-to-digital conversion. </a:t>
            </a:r>
          </a:p>
          <a:p>
            <a:pPr algn="just"/>
            <a:r>
              <a:rPr lang="en-GB" dirty="0">
                <a:latin typeface="Calibri" panose="020F0502020204030204" pitchFamily="34" charset="0"/>
                <a:ea typeface="Calibri" panose="020F0502020204030204" pitchFamily="34" charset="0"/>
                <a:cs typeface="Calibri" panose="020F0502020204030204" pitchFamily="34" charset="0"/>
              </a:rPr>
              <a:t>The </a:t>
            </a:r>
            <a:r>
              <a:rPr lang="en-GB" b="1" dirty="0">
                <a:latin typeface="Calibri" panose="020F0502020204030204" pitchFamily="34" charset="0"/>
                <a:ea typeface="Calibri" panose="020F0502020204030204" pitchFamily="34" charset="0"/>
                <a:cs typeface="Calibri" panose="020F0502020204030204" pitchFamily="34" charset="0"/>
              </a:rPr>
              <a:t>Internet gateway receives the aggregated and digitized data and routes</a:t>
            </a:r>
            <a:r>
              <a:rPr lang="en-GB" dirty="0">
                <a:latin typeface="Calibri" panose="020F0502020204030204" pitchFamily="34" charset="0"/>
                <a:ea typeface="Calibri" panose="020F0502020204030204" pitchFamily="34" charset="0"/>
                <a:cs typeface="Calibri" panose="020F0502020204030204" pitchFamily="34" charset="0"/>
              </a:rPr>
              <a:t> it over Wi-Fi, wired LANs, or the Internet, to Stage 3 systems for further processing. </a:t>
            </a:r>
          </a:p>
          <a:p>
            <a:pPr algn="just"/>
            <a:r>
              <a:rPr lang="en-GB" dirty="0">
                <a:latin typeface="Calibri" panose="020F0502020204030204" pitchFamily="34" charset="0"/>
                <a:ea typeface="Calibri" panose="020F0502020204030204" pitchFamily="34" charset="0"/>
                <a:cs typeface="Calibri" panose="020F0502020204030204" pitchFamily="34" charset="0"/>
              </a:rPr>
              <a:t>Ex. a pump might contain a half-dozen sensors and actuators that feed data into a data aggregation device that also digitizes the data. This device might be physically attached to the pump. An adjacent gateway device or server would then process the data and forward it to the Stage 3 or Stage 4 systems. </a:t>
            </a:r>
          </a:p>
          <a:p>
            <a:pPr algn="just"/>
            <a:r>
              <a:rPr lang="en-GB" dirty="0">
                <a:latin typeface="Calibri" panose="020F0502020204030204" pitchFamily="34" charset="0"/>
                <a:ea typeface="Calibri" panose="020F0502020204030204" pitchFamily="34" charset="0"/>
                <a:cs typeface="Calibri" panose="020F0502020204030204" pitchFamily="34" charset="0"/>
              </a:rPr>
              <a:t>Intelligent gateways can build on additional, basic gateway functionality by adding such capabilities as analytics, malware protection, and data management services. These systems enable the analysis of data streams in real time.</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37D5FCC-15AC-46F8-B3DA-ADAE234B4E2D}"/>
              </a:ext>
            </a:extLst>
          </p:cNvPr>
          <p:cNvSpPr>
            <a:spLocks noGrp="1"/>
          </p:cNvSpPr>
          <p:nvPr>
            <p:ph type="sldNum" sz="quarter" idx="12"/>
          </p:nvPr>
        </p:nvSpPr>
        <p:spPr/>
        <p:txBody>
          <a:bodyPr/>
          <a:lstStyle/>
          <a:p>
            <a:fld id="{312CC964-A50B-4C29-B4E4-2C30BB34CCF3}" type="slidenum">
              <a:rPr lang="en-US" smtClean="0"/>
              <a:t>5</a:t>
            </a:fld>
            <a:endParaRPr lang="en-US"/>
          </a:p>
        </p:txBody>
      </p:sp>
    </p:spTree>
    <p:extLst>
      <p:ext uri="{BB962C8B-B14F-4D97-AF65-F5344CB8AC3E}">
        <p14:creationId xmlns:p14="http://schemas.microsoft.com/office/powerpoint/2010/main" val="96480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3D673-1BDC-4425-BFB5-CB30818BEB95}"/>
              </a:ext>
            </a:extLst>
          </p:cNvPr>
          <p:cNvSpPr>
            <a:spLocks noGrp="1"/>
          </p:cNvSpPr>
          <p:nvPr>
            <p:ph type="title"/>
          </p:nvPr>
        </p:nvSpPr>
        <p:spPr>
          <a:xfrm>
            <a:off x="1142999" y="533401"/>
            <a:ext cx="10407047" cy="1382156"/>
          </a:xfrm>
        </p:spPr>
        <p:txBody>
          <a:bodyPr>
            <a:normAutofit/>
          </a:bodyPr>
          <a:lstStyle/>
          <a:p>
            <a:r>
              <a:rPr lang="en-GB" sz="4000" i="0" dirty="0">
                <a:latin typeface="Calibri" panose="020F0502020204030204" pitchFamily="34" charset="0"/>
                <a:ea typeface="Calibri" panose="020F0502020204030204" pitchFamily="34" charset="0"/>
                <a:cs typeface="Calibri" panose="020F0502020204030204" pitchFamily="34" charset="0"/>
              </a:rPr>
              <a:t>Stage 3:- Edge IT</a:t>
            </a:r>
            <a:endParaRPr lang="en-US" sz="4000" i="0"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BA863678-13D4-438E-91E0-B2A6DD6B67B8}"/>
              </a:ext>
            </a:extLst>
          </p:cNvPr>
          <p:cNvSpPr>
            <a:spLocks noGrp="1"/>
          </p:cNvSpPr>
          <p:nvPr>
            <p:ph idx="1"/>
          </p:nvPr>
        </p:nvSpPr>
        <p:spPr>
          <a:xfrm>
            <a:off x="1143000" y="1662183"/>
            <a:ext cx="9906000" cy="5101820"/>
          </a:xfrm>
        </p:spPr>
        <p:txBody>
          <a:bodyPr>
            <a:normAutofit fontScale="92500" lnSpcReduction="10000"/>
          </a:bodyPr>
          <a:lstStyle/>
          <a:p>
            <a:pPr algn="just"/>
            <a:r>
              <a:rPr lang="en-GB" dirty="0">
                <a:latin typeface="Calibri" panose="020F0502020204030204" pitchFamily="34" charset="0"/>
                <a:ea typeface="Calibri" panose="020F0502020204030204" pitchFamily="34" charset="0"/>
                <a:cs typeface="Calibri" panose="020F0502020204030204" pitchFamily="34" charset="0"/>
              </a:rPr>
              <a:t>Once data has been digitized and aggregated, </a:t>
            </a:r>
            <a:r>
              <a:rPr lang="en-GB" b="1" dirty="0">
                <a:latin typeface="Calibri" panose="020F0502020204030204" pitchFamily="34" charset="0"/>
                <a:ea typeface="Calibri" panose="020F0502020204030204" pitchFamily="34" charset="0"/>
                <a:cs typeface="Calibri" panose="020F0502020204030204" pitchFamily="34" charset="0"/>
              </a:rPr>
              <a:t>data may require further processing </a:t>
            </a:r>
            <a:r>
              <a:rPr lang="en-GB" dirty="0">
                <a:latin typeface="Calibri" panose="020F0502020204030204" pitchFamily="34" charset="0"/>
                <a:ea typeface="Calibri" panose="020F0502020204030204" pitchFamily="34" charset="0"/>
                <a:cs typeface="Calibri" panose="020F0502020204030204" pitchFamily="34" charset="0"/>
              </a:rPr>
              <a:t>before it enters the data centre. This is where edge IT systems, which perform further analysis. </a:t>
            </a:r>
          </a:p>
          <a:p>
            <a:pPr algn="just"/>
            <a:r>
              <a:rPr lang="en-GB" dirty="0">
                <a:latin typeface="Calibri" panose="020F0502020204030204" pitchFamily="34" charset="0"/>
                <a:ea typeface="Calibri" panose="020F0502020204030204" pitchFamily="34" charset="0"/>
                <a:cs typeface="Calibri" panose="020F0502020204030204" pitchFamily="34" charset="0"/>
              </a:rPr>
              <a:t>Edge IT processing systems may be located in remote offices or other edge locations. In general, these sit in the facility or location where the sensors reside closer to the sensors, such as in a wiring closet. </a:t>
            </a:r>
          </a:p>
          <a:p>
            <a:pPr algn="just"/>
            <a:r>
              <a:rPr lang="en-GB" dirty="0">
                <a:latin typeface="Calibri" panose="020F0502020204030204" pitchFamily="34" charset="0"/>
                <a:ea typeface="Calibri" panose="020F0502020204030204" pitchFamily="34" charset="0"/>
                <a:cs typeface="Calibri" panose="020F0502020204030204" pitchFamily="34" charset="0"/>
              </a:rPr>
              <a:t>Since IoT data may require </a:t>
            </a:r>
            <a:r>
              <a:rPr lang="en-GB" b="1" dirty="0">
                <a:latin typeface="Calibri" panose="020F0502020204030204" pitchFamily="34" charset="0"/>
                <a:ea typeface="Calibri" panose="020F0502020204030204" pitchFamily="34" charset="0"/>
                <a:cs typeface="Calibri" panose="020F0502020204030204" pitchFamily="34" charset="0"/>
              </a:rPr>
              <a:t>higher network bandwidth</a:t>
            </a:r>
            <a:r>
              <a:rPr lang="en-GB" dirty="0">
                <a:latin typeface="Calibri" panose="020F0502020204030204" pitchFamily="34" charset="0"/>
                <a:ea typeface="Calibri" panose="020F0502020204030204" pitchFamily="34" charset="0"/>
                <a:cs typeface="Calibri" panose="020F0502020204030204" pitchFamily="34" charset="0"/>
              </a:rPr>
              <a:t>, it's best to have systems at the edge capable of performing analytics as a way to lessen the burden on core IT infrastructure. The security concerns, storage issues, and delays in processing the data might become a major issue. With a staged approach, data can be pre-processed and passed to the next stage. </a:t>
            </a:r>
          </a:p>
          <a:p>
            <a:pPr algn="just"/>
            <a:r>
              <a:rPr lang="en-GB" dirty="0">
                <a:latin typeface="Calibri" panose="020F0502020204030204" pitchFamily="34" charset="0"/>
                <a:ea typeface="Calibri" panose="020F0502020204030204" pitchFamily="34" charset="0"/>
                <a:cs typeface="Calibri" panose="020F0502020204030204" pitchFamily="34" charset="0"/>
              </a:rPr>
              <a:t>For example, rather than passing on raw vibration data for the pumps, you could aggregate and convert the data, analyse it, and send only projections as to when each device will fail or need service.</a:t>
            </a:r>
          </a:p>
        </p:txBody>
      </p:sp>
      <p:sp>
        <p:nvSpPr>
          <p:cNvPr id="4" name="Slide Number Placeholder 3">
            <a:extLst>
              <a:ext uri="{FF2B5EF4-FFF2-40B4-BE49-F238E27FC236}">
                <a16:creationId xmlns:a16="http://schemas.microsoft.com/office/drawing/2014/main" id="{437D5FCC-15AC-46F8-B3DA-ADAE234B4E2D}"/>
              </a:ext>
            </a:extLst>
          </p:cNvPr>
          <p:cNvSpPr>
            <a:spLocks noGrp="1"/>
          </p:cNvSpPr>
          <p:nvPr>
            <p:ph type="sldNum" sz="quarter" idx="12"/>
          </p:nvPr>
        </p:nvSpPr>
        <p:spPr/>
        <p:txBody>
          <a:bodyPr/>
          <a:lstStyle/>
          <a:p>
            <a:fld id="{312CC964-A50B-4C29-B4E4-2C30BB34CCF3}" type="slidenum">
              <a:rPr lang="en-US" smtClean="0"/>
              <a:t>6</a:t>
            </a:fld>
            <a:endParaRPr lang="en-US"/>
          </a:p>
        </p:txBody>
      </p:sp>
    </p:spTree>
    <p:extLst>
      <p:ext uri="{BB962C8B-B14F-4D97-AF65-F5344CB8AC3E}">
        <p14:creationId xmlns:p14="http://schemas.microsoft.com/office/powerpoint/2010/main" val="2127026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3D673-1BDC-4425-BFB5-CB30818BEB95}"/>
              </a:ext>
            </a:extLst>
          </p:cNvPr>
          <p:cNvSpPr>
            <a:spLocks noGrp="1"/>
          </p:cNvSpPr>
          <p:nvPr>
            <p:ph type="title"/>
          </p:nvPr>
        </p:nvSpPr>
        <p:spPr>
          <a:xfrm>
            <a:off x="400717" y="349499"/>
            <a:ext cx="11672647" cy="1382156"/>
          </a:xfrm>
        </p:spPr>
        <p:txBody>
          <a:bodyPr>
            <a:normAutofit/>
          </a:bodyPr>
          <a:lstStyle/>
          <a:p>
            <a:r>
              <a:rPr lang="en-GB" sz="4000" i="0" dirty="0">
                <a:latin typeface="Calibri" panose="020F0502020204030204" pitchFamily="34" charset="0"/>
                <a:ea typeface="Calibri" panose="020F0502020204030204" pitchFamily="34" charset="0"/>
                <a:cs typeface="Calibri" panose="020F0502020204030204" pitchFamily="34" charset="0"/>
              </a:rPr>
              <a:t>Stage 4:-The data centre and cloud</a:t>
            </a:r>
            <a:endParaRPr lang="en-US" sz="4000" i="0"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BA863678-13D4-438E-91E0-B2A6DD6B67B8}"/>
              </a:ext>
            </a:extLst>
          </p:cNvPr>
          <p:cNvSpPr>
            <a:spLocks noGrp="1"/>
          </p:cNvSpPr>
          <p:nvPr>
            <p:ph idx="1"/>
          </p:nvPr>
        </p:nvSpPr>
        <p:spPr>
          <a:xfrm>
            <a:off x="1143000" y="1662183"/>
            <a:ext cx="9906000" cy="5101820"/>
          </a:xfrm>
        </p:spPr>
        <p:txBody>
          <a:bodyPr>
            <a:normAutofit/>
          </a:bodyPr>
          <a:lstStyle/>
          <a:p>
            <a:pPr algn="just"/>
            <a:r>
              <a:rPr lang="en-GB" b="1" dirty="0">
                <a:latin typeface="Calibri" panose="020F0502020204030204" pitchFamily="34" charset="0"/>
                <a:ea typeface="Calibri" panose="020F0502020204030204" pitchFamily="34" charset="0"/>
                <a:cs typeface="Calibri" panose="020F0502020204030204" pitchFamily="34" charset="0"/>
              </a:rPr>
              <a:t>Data that needs more in-depth processing</a:t>
            </a:r>
            <a:r>
              <a:rPr lang="en-GB" dirty="0">
                <a:latin typeface="Calibri" panose="020F0502020204030204" pitchFamily="34" charset="0"/>
                <a:ea typeface="Calibri" panose="020F0502020204030204" pitchFamily="34" charset="0"/>
                <a:cs typeface="Calibri" panose="020F0502020204030204" pitchFamily="34" charset="0"/>
              </a:rPr>
              <a:t>, and where feedback doesn't have to be immediate, gets forwarded to physical data centre or cloud-based systems, where more powerful IT systems can analyse, manage, and securely store the data. </a:t>
            </a:r>
          </a:p>
          <a:p>
            <a:pPr algn="just"/>
            <a:r>
              <a:rPr lang="en-GB" dirty="0">
                <a:latin typeface="Calibri" panose="020F0502020204030204" pitchFamily="34" charset="0"/>
                <a:ea typeface="Calibri" panose="020F0502020204030204" pitchFamily="34" charset="0"/>
                <a:cs typeface="Calibri" panose="020F0502020204030204" pitchFamily="34" charset="0"/>
              </a:rPr>
              <a:t>It takes longer to get results when you wait until data reaches Stage 4, but you can execute a more in-depth analysis, as well as combine your sensor data with data from other sources for deeper insights. </a:t>
            </a:r>
          </a:p>
          <a:p>
            <a:pPr algn="just"/>
            <a:r>
              <a:rPr lang="en-GB" dirty="0">
                <a:latin typeface="Calibri" panose="020F0502020204030204" pitchFamily="34" charset="0"/>
                <a:ea typeface="Calibri" panose="020F0502020204030204" pitchFamily="34" charset="0"/>
                <a:cs typeface="Calibri" panose="020F0502020204030204" pitchFamily="34" charset="0"/>
              </a:rPr>
              <a:t>Stage 4 processing may take place on-premises, in the cloud, or in a hybrid cloud system, but the type of processing executed in this stage remains the same, regardless of the platform</a:t>
            </a:r>
            <a:r>
              <a:rPr lang="en-GB" dirty="0"/>
              <a:t>.</a:t>
            </a:r>
          </a:p>
        </p:txBody>
      </p:sp>
      <p:sp>
        <p:nvSpPr>
          <p:cNvPr id="4" name="Slide Number Placeholder 3">
            <a:extLst>
              <a:ext uri="{FF2B5EF4-FFF2-40B4-BE49-F238E27FC236}">
                <a16:creationId xmlns:a16="http://schemas.microsoft.com/office/drawing/2014/main" id="{437D5FCC-15AC-46F8-B3DA-ADAE234B4E2D}"/>
              </a:ext>
            </a:extLst>
          </p:cNvPr>
          <p:cNvSpPr>
            <a:spLocks noGrp="1"/>
          </p:cNvSpPr>
          <p:nvPr>
            <p:ph type="sldNum" sz="quarter" idx="12"/>
          </p:nvPr>
        </p:nvSpPr>
        <p:spPr/>
        <p:txBody>
          <a:bodyPr/>
          <a:lstStyle/>
          <a:p>
            <a:fld id="{312CC964-A50B-4C29-B4E4-2C30BB34CCF3}" type="slidenum">
              <a:rPr lang="en-US" smtClean="0"/>
              <a:t>7</a:t>
            </a:fld>
            <a:endParaRPr lang="en-US"/>
          </a:p>
        </p:txBody>
      </p:sp>
    </p:spTree>
    <p:extLst>
      <p:ext uri="{BB962C8B-B14F-4D97-AF65-F5344CB8AC3E}">
        <p14:creationId xmlns:p14="http://schemas.microsoft.com/office/powerpoint/2010/main" val="2276723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2004B58-85E3-4F75-89C9-D5F6C9793FAE}"/>
              </a:ext>
            </a:extLst>
          </p:cNvPr>
          <p:cNvSpPr>
            <a:spLocks noGrp="1"/>
          </p:cNvSpPr>
          <p:nvPr>
            <p:ph type="sldNum" sz="quarter" idx="12"/>
          </p:nvPr>
        </p:nvSpPr>
        <p:spPr/>
        <p:txBody>
          <a:bodyPr/>
          <a:lstStyle/>
          <a:p>
            <a:fld id="{312CC964-A50B-4C29-B4E4-2C30BB34CCF3}" type="slidenum">
              <a:rPr lang="en-US" smtClean="0"/>
              <a:t>8</a:t>
            </a:fld>
            <a:endParaRPr lang="en-US"/>
          </a:p>
        </p:txBody>
      </p:sp>
      <p:pic>
        <p:nvPicPr>
          <p:cNvPr id="6" name="Picture 5">
            <a:extLst>
              <a:ext uri="{FF2B5EF4-FFF2-40B4-BE49-F238E27FC236}">
                <a16:creationId xmlns:a16="http://schemas.microsoft.com/office/drawing/2014/main" id="{9009AC33-3375-4D0E-8645-D67C883A79E0}"/>
              </a:ext>
            </a:extLst>
          </p:cNvPr>
          <p:cNvPicPr>
            <a:picLocks noChangeAspect="1"/>
          </p:cNvPicPr>
          <p:nvPr/>
        </p:nvPicPr>
        <p:blipFill>
          <a:blip r:embed="rId2"/>
          <a:stretch>
            <a:fillRect/>
          </a:stretch>
        </p:blipFill>
        <p:spPr>
          <a:xfrm>
            <a:off x="1420130" y="726633"/>
            <a:ext cx="9348335" cy="5425372"/>
          </a:xfrm>
          <a:prstGeom prst="rect">
            <a:avLst/>
          </a:prstGeom>
        </p:spPr>
      </p:pic>
    </p:spTree>
    <p:extLst>
      <p:ext uri="{BB962C8B-B14F-4D97-AF65-F5344CB8AC3E}">
        <p14:creationId xmlns:p14="http://schemas.microsoft.com/office/powerpoint/2010/main" val="1697178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FC87E-3790-429B-96CB-F6B93263A751}"/>
              </a:ext>
            </a:extLst>
          </p:cNvPr>
          <p:cNvSpPr>
            <a:spLocks noGrp="1"/>
          </p:cNvSpPr>
          <p:nvPr>
            <p:ph type="title"/>
          </p:nvPr>
        </p:nvSpPr>
        <p:spPr>
          <a:xfrm>
            <a:off x="1142999" y="533401"/>
            <a:ext cx="10616491" cy="1382156"/>
          </a:xfrm>
        </p:spPr>
        <p:txBody>
          <a:bodyPr/>
          <a:lstStyle/>
          <a:p>
            <a:r>
              <a:rPr lang="en-GB" i="0" dirty="0">
                <a:latin typeface="Calibri" panose="020F0502020204030204" pitchFamily="34" charset="0"/>
                <a:ea typeface="Calibri" panose="020F0502020204030204" pitchFamily="34" charset="0"/>
                <a:cs typeface="Calibri" panose="020F0502020204030204" pitchFamily="34" charset="0"/>
              </a:rPr>
              <a:t>Level 1: Physical Devices and Controllers</a:t>
            </a:r>
            <a:endParaRPr lang="en-US" i="0"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E425960-A852-44DA-BAAA-D2EB0D15A103}"/>
              </a:ext>
            </a:extLst>
          </p:cNvPr>
          <p:cNvSpPr>
            <a:spLocks noGrp="1"/>
          </p:cNvSpPr>
          <p:nvPr>
            <p:ph type="sldNum" sz="quarter" idx="12"/>
          </p:nvPr>
        </p:nvSpPr>
        <p:spPr/>
        <p:txBody>
          <a:bodyPr/>
          <a:lstStyle/>
          <a:p>
            <a:fld id="{312CC964-A50B-4C29-B4E4-2C30BB34CCF3}" type="slidenum">
              <a:rPr lang="en-US" smtClean="0"/>
              <a:t>9</a:t>
            </a:fld>
            <a:endParaRPr lang="en-US"/>
          </a:p>
        </p:txBody>
      </p:sp>
      <p:pic>
        <p:nvPicPr>
          <p:cNvPr id="6" name="Picture 5">
            <a:extLst>
              <a:ext uri="{FF2B5EF4-FFF2-40B4-BE49-F238E27FC236}">
                <a16:creationId xmlns:a16="http://schemas.microsoft.com/office/drawing/2014/main" id="{A889A775-0ADE-4AB4-988B-52ECD7996EAB}"/>
              </a:ext>
            </a:extLst>
          </p:cNvPr>
          <p:cNvPicPr>
            <a:picLocks noChangeAspect="1"/>
          </p:cNvPicPr>
          <p:nvPr/>
        </p:nvPicPr>
        <p:blipFill>
          <a:blip r:embed="rId2"/>
          <a:stretch>
            <a:fillRect/>
          </a:stretch>
        </p:blipFill>
        <p:spPr>
          <a:xfrm>
            <a:off x="1835331" y="1926919"/>
            <a:ext cx="8902337" cy="4460597"/>
          </a:xfrm>
          <a:prstGeom prst="rect">
            <a:avLst/>
          </a:prstGeom>
        </p:spPr>
      </p:pic>
    </p:spTree>
    <p:extLst>
      <p:ext uri="{BB962C8B-B14F-4D97-AF65-F5344CB8AC3E}">
        <p14:creationId xmlns:p14="http://schemas.microsoft.com/office/powerpoint/2010/main" val="1518767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FC87E-3790-429B-96CB-F6B93263A751}"/>
              </a:ext>
            </a:extLst>
          </p:cNvPr>
          <p:cNvSpPr>
            <a:spLocks noGrp="1"/>
          </p:cNvSpPr>
          <p:nvPr>
            <p:ph type="title"/>
          </p:nvPr>
        </p:nvSpPr>
        <p:spPr>
          <a:xfrm>
            <a:off x="1142999" y="533401"/>
            <a:ext cx="10616491" cy="1382156"/>
          </a:xfrm>
        </p:spPr>
        <p:txBody>
          <a:bodyPr>
            <a:normAutofit/>
          </a:bodyPr>
          <a:lstStyle/>
          <a:p>
            <a:r>
              <a:rPr lang="en-GB" sz="4000" i="0" dirty="0">
                <a:latin typeface="Calibri" panose="020F0502020204030204" pitchFamily="34" charset="0"/>
                <a:ea typeface="Calibri" panose="020F0502020204030204" pitchFamily="34" charset="0"/>
                <a:cs typeface="Calibri" panose="020F0502020204030204" pitchFamily="34" charset="0"/>
              </a:rPr>
              <a:t>Level 1: Physical Devices and Controllers</a:t>
            </a:r>
            <a:endParaRPr lang="en-US" sz="4000" i="0"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E425960-A852-44DA-BAAA-D2EB0D15A103}"/>
              </a:ext>
            </a:extLst>
          </p:cNvPr>
          <p:cNvSpPr>
            <a:spLocks noGrp="1"/>
          </p:cNvSpPr>
          <p:nvPr>
            <p:ph type="sldNum" sz="quarter" idx="12"/>
          </p:nvPr>
        </p:nvSpPr>
        <p:spPr/>
        <p:txBody>
          <a:bodyPr/>
          <a:lstStyle/>
          <a:p>
            <a:fld id="{312CC964-A50B-4C29-B4E4-2C30BB34CCF3}" type="slidenum">
              <a:rPr lang="en-US" smtClean="0"/>
              <a:t>10</a:t>
            </a:fld>
            <a:endParaRPr lang="en-US"/>
          </a:p>
        </p:txBody>
      </p:sp>
      <p:sp>
        <p:nvSpPr>
          <p:cNvPr id="8" name="Content Placeholder 2">
            <a:extLst>
              <a:ext uri="{FF2B5EF4-FFF2-40B4-BE49-F238E27FC236}">
                <a16:creationId xmlns:a16="http://schemas.microsoft.com/office/drawing/2014/main" id="{2F69EBC2-E517-4727-9B21-D592DC846EDE}"/>
              </a:ext>
            </a:extLst>
          </p:cNvPr>
          <p:cNvSpPr>
            <a:spLocks noGrp="1"/>
          </p:cNvSpPr>
          <p:nvPr>
            <p:ph idx="1"/>
          </p:nvPr>
        </p:nvSpPr>
        <p:spPr>
          <a:xfrm>
            <a:off x="1143000" y="1874775"/>
            <a:ext cx="9906000" cy="4781444"/>
          </a:xfrm>
        </p:spPr>
        <p:txBody>
          <a:bodyPr>
            <a:normAutofit/>
          </a:bodyPr>
          <a:lstStyle/>
          <a:p>
            <a:pPr algn="just"/>
            <a:r>
              <a:rPr lang="en-GB" dirty="0">
                <a:latin typeface="Calibri" panose="020F0502020204030204" pitchFamily="34" charset="0"/>
                <a:ea typeface="Calibri" panose="020F0502020204030204" pitchFamily="34" charset="0"/>
                <a:cs typeface="Calibri" panose="020F0502020204030204" pitchFamily="34" charset="0"/>
              </a:rPr>
              <a:t>The IoT Reference Model starts with Level 1: physical devices and controllers that might control multiple devices. These are the ―things in the IoT, and they include a wide range of endpoint devices that send and receive information. </a:t>
            </a:r>
          </a:p>
          <a:p>
            <a:pPr algn="just"/>
            <a:r>
              <a:rPr lang="en-GB" dirty="0">
                <a:latin typeface="Calibri" panose="020F0502020204030204" pitchFamily="34" charset="0"/>
                <a:ea typeface="Calibri" panose="020F0502020204030204" pitchFamily="34" charset="0"/>
                <a:cs typeface="Calibri" panose="020F0502020204030204" pitchFamily="34" charset="0"/>
              </a:rPr>
              <a:t>Devices are diverse, and there are no rules about size, location, form factor, or origin. Some devices will be the size of a silicon chip. Some will be as large as vehicles. </a:t>
            </a:r>
          </a:p>
          <a:p>
            <a:pPr algn="just"/>
            <a:r>
              <a:rPr lang="en-GB" dirty="0">
                <a:latin typeface="Calibri" panose="020F0502020204030204" pitchFamily="34" charset="0"/>
                <a:ea typeface="Calibri" panose="020F0502020204030204" pitchFamily="34" charset="0"/>
                <a:cs typeface="Calibri" panose="020F0502020204030204" pitchFamily="34" charset="0"/>
              </a:rPr>
              <a:t>The IoT must support the entire range. Dozens or hundreds of equipment manufacturers will produce IoT devices. To simplify compatibility and support manufacturability, the IoT Reference Model generally describes the level of processing needed from Level 1 devices.</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87189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EC854-0BB9-411B-99BD-308953CC9A96}"/>
              </a:ext>
            </a:extLst>
          </p:cNvPr>
          <p:cNvSpPr>
            <a:spLocks noGrp="1"/>
          </p:cNvSpPr>
          <p:nvPr>
            <p:ph type="title"/>
          </p:nvPr>
        </p:nvSpPr>
        <p:spPr/>
        <p:txBody>
          <a:bodyPr/>
          <a:lstStyle/>
          <a:p>
            <a:r>
              <a:rPr lang="en-GB" i="0" dirty="0">
                <a:latin typeface="Calibri" panose="020F0502020204030204" pitchFamily="34" charset="0"/>
                <a:ea typeface="Calibri" panose="020F0502020204030204" pitchFamily="34" charset="0"/>
                <a:cs typeface="Calibri" panose="020F0502020204030204" pitchFamily="34" charset="0"/>
              </a:rPr>
              <a:t>Level 2: </a:t>
            </a:r>
            <a:r>
              <a:rPr lang="en-US" i="0" dirty="0">
                <a:latin typeface="Calibri" panose="020F0502020204030204" pitchFamily="34" charset="0"/>
                <a:ea typeface="Calibri" panose="020F0502020204030204" pitchFamily="34" charset="0"/>
                <a:cs typeface="Calibri" panose="020F0502020204030204" pitchFamily="34" charset="0"/>
              </a:rPr>
              <a:t>Connectivity</a:t>
            </a:r>
          </a:p>
        </p:txBody>
      </p:sp>
      <p:sp>
        <p:nvSpPr>
          <p:cNvPr id="4" name="Slide Number Placeholder 3">
            <a:extLst>
              <a:ext uri="{FF2B5EF4-FFF2-40B4-BE49-F238E27FC236}">
                <a16:creationId xmlns:a16="http://schemas.microsoft.com/office/drawing/2014/main" id="{5620F823-B357-45AB-B207-58B133554C17}"/>
              </a:ext>
            </a:extLst>
          </p:cNvPr>
          <p:cNvSpPr>
            <a:spLocks noGrp="1"/>
          </p:cNvSpPr>
          <p:nvPr>
            <p:ph type="sldNum" sz="quarter" idx="12"/>
          </p:nvPr>
        </p:nvSpPr>
        <p:spPr/>
        <p:txBody>
          <a:bodyPr/>
          <a:lstStyle/>
          <a:p>
            <a:fld id="{312CC964-A50B-4C29-B4E4-2C30BB34CCF3}" type="slidenum">
              <a:rPr lang="en-US" smtClean="0"/>
              <a:t>11</a:t>
            </a:fld>
            <a:endParaRPr lang="en-US"/>
          </a:p>
        </p:txBody>
      </p:sp>
      <p:pic>
        <p:nvPicPr>
          <p:cNvPr id="6" name="Picture 5">
            <a:extLst>
              <a:ext uri="{FF2B5EF4-FFF2-40B4-BE49-F238E27FC236}">
                <a16:creationId xmlns:a16="http://schemas.microsoft.com/office/drawing/2014/main" id="{59595321-4D53-4B79-9044-381DDFE0AE2F}"/>
              </a:ext>
            </a:extLst>
          </p:cNvPr>
          <p:cNvPicPr>
            <a:picLocks noChangeAspect="1"/>
          </p:cNvPicPr>
          <p:nvPr/>
        </p:nvPicPr>
        <p:blipFill>
          <a:blip r:embed="rId2"/>
          <a:stretch>
            <a:fillRect/>
          </a:stretch>
        </p:blipFill>
        <p:spPr>
          <a:xfrm>
            <a:off x="2217617" y="2056131"/>
            <a:ext cx="7756765" cy="3722262"/>
          </a:xfrm>
          <a:prstGeom prst="rect">
            <a:avLst/>
          </a:prstGeom>
        </p:spPr>
      </p:pic>
    </p:spTree>
    <p:extLst>
      <p:ext uri="{BB962C8B-B14F-4D97-AF65-F5344CB8AC3E}">
        <p14:creationId xmlns:p14="http://schemas.microsoft.com/office/powerpoint/2010/main" val="3871364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ADAAD-B2BB-4DC8-8A65-1B17B871C1CE}"/>
              </a:ext>
            </a:extLst>
          </p:cNvPr>
          <p:cNvSpPr>
            <a:spLocks noGrp="1"/>
          </p:cNvSpPr>
          <p:nvPr>
            <p:ph type="title"/>
          </p:nvPr>
        </p:nvSpPr>
        <p:spPr>
          <a:xfrm>
            <a:off x="541175" y="546462"/>
            <a:ext cx="4618653" cy="1776859"/>
          </a:xfrm>
        </p:spPr>
        <p:txBody>
          <a:bodyPr/>
          <a:lstStyle/>
          <a:p>
            <a:r>
              <a:rPr lang="en-US" b="1" i="0" dirty="0">
                <a:latin typeface="Calibri" panose="020F0502020204030204" pitchFamily="34" charset="0"/>
                <a:ea typeface="Calibri" panose="020F0502020204030204" pitchFamily="34" charset="0"/>
                <a:cs typeface="Calibri" panose="020F0502020204030204" pitchFamily="34" charset="0"/>
              </a:rPr>
              <a:t>Level 3: Edge (fog) computing</a:t>
            </a:r>
          </a:p>
        </p:txBody>
      </p:sp>
      <p:sp>
        <p:nvSpPr>
          <p:cNvPr id="4" name="Slide Number Placeholder 3">
            <a:extLst>
              <a:ext uri="{FF2B5EF4-FFF2-40B4-BE49-F238E27FC236}">
                <a16:creationId xmlns:a16="http://schemas.microsoft.com/office/drawing/2014/main" id="{79456554-B85E-49F2-A39A-A863C67471D9}"/>
              </a:ext>
            </a:extLst>
          </p:cNvPr>
          <p:cNvSpPr>
            <a:spLocks noGrp="1"/>
          </p:cNvSpPr>
          <p:nvPr>
            <p:ph type="sldNum" sz="quarter" idx="12"/>
          </p:nvPr>
        </p:nvSpPr>
        <p:spPr/>
        <p:txBody>
          <a:bodyPr/>
          <a:lstStyle/>
          <a:p>
            <a:fld id="{312CC964-A50B-4C29-B4E4-2C30BB34CCF3}" type="slidenum">
              <a:rPr lang="en-US" smtClean="0"/>
              <a:t>12</a:t>
            </a:fld>
            <a:endParaRPr lang="en-US"/>
          </a:p>
        </p:txBody>
      </p:sp>
      <p:pic>
        <p:nvPicPr>
          <p:cNvPr id="6" name="Picture 5">
            <a:extLst>
              <a:ext uri="{FF2B5EF4-FFF2-40B4-BE49-F238E27FC236}">
                <a16:creationId xmlns:a16="http://schemas.microsoft.com/office/drawing/2014/main" id="{B8710025-1522-4C41-B61B-024D373CE4AE}"/>
              </a:ext>
            </a:extLst>
          </p:cNvPr>
          <p:cNvPicPr>
            <a:picLocks noChangeAspect="1"/>
          </p:cNvPicPr>
          <p:nvPr/>
        </p:nvPicPr>
        <p:blipFill>
          <a:blip r:embed="rId2"/>
          <a:stretch>
            <a:fillRect/>
          </a:stretch>
        </p:blipFill>
        <p:spPr>
          <a:xfrm>
            <a:off x="5222516" y="655312"/>
            <a:ext cx="5960014" cy="5816400"/>
          </a:xfrm>
          <a:prstGeom prst="rect">
            <a:avLst/>
          </a:prstGeom>
        </p:spPr>
      </p:pic>
    </p:spTree>
    <p:extLst>
      <p:ext uri="{BB962C8B-B14F-4D97-AF65-F5344CB8AC3E}">
        <p14:creationId xmlns:p14="http://schemas.microsoft.com/office/powerpoint/2010/main" val="2866035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88E1F-0FEB-4BCF-A44D-F00DC07BAF66}"/>
              </a:ext>
            </a:extLst>
          </p:cNvPr>
          <p:cNvSpPr>
            <a:spLocks noGrp="1"/>
          </p:cNvSpPr>
          <p:nvPr>
            <p:ph type="title"/>
          </p:nvPr>
        </p:nvSpPr>
        <p:spPr/>
        <p:txBody>
          <a:bodyPr/>
          <a:lstStyle/>
          <a:p>
            <a:r>
              <a:rPr lang="en-US" b="1" i="0" dirty="0">
                <a:latin typeface="Calibri" panose="020F0502020204030204" pitchFamily="34" charset="0"/>
                <a:ea typeface="Calibri" panose="020F0502020204030204" pitchFamily="34" charset="0"/>
                <a:cs typeface="Calibri" panose="020F0502020204030204" pitchFamily="34" charset="0"/>
              </a:rPr>
              <a:t>Level 4: Data accumulation</a:t>
            </a:r>
          </a:p>
        </p:txBody>
      </p:sp>
      <p:sp>
        <p:nvSpPr>
          <p:cNvPr id="4" name="Slide Number Placeholder 3">
            <a:extLst>
              <a:ext uri="{FF2B5EF4-FFF2-40B4-BE49-F238E27FC236}">
                <a16:creationId xmlns:a16="http://schemas.microsoft.com/office/drawing/2014/main" id="{3E0EA02D-6DEE-42D8-B3EB-6309B9B0E76D}"/>
              </a:ext>
            </a:extLst>
          </p:cNvPr>
          <p:cNvSpPr>
            <a:spLocks noGrp="1"/>
          </p:cNvSpPr>
          <p:nvPr>
            <p:ph type="sldNum" sz="quarter" idx="12"/>
          </p:nvPr>
        </p:nvSpPr>
        <p:spPr/>
        <p:txBody>
          <a:bodyPr/>
          <a:lstStyle/>
          <a:p>
            <a:fld id="{312CC964-A50B-4C29-B4E4-2C30BB34CCF3}" type="slidenum">
              <a:rPr lang="en-US" smtClean="0"/>
              <a:t>13</a:t>
            </a:fld>
            <a:endParaRPr lang="en-US"/>
          </a:p>
        </p:txBody>
      </p:sp>
      <p:pic>
        <p:nvPicPr>
          <p:cNvPr id="6" name="Picture 5">
            <a:extLst>
              <a:ext uri="{FF2B5EF4-FFF2-40B4-BE49-F238E27FC236}">
                <a16:creationId xmlns:a16="http://schemas.microsoft.com/office/drawing/2014/main" id="{67F4CD6F-F329-401D-8857-695D8B4E75C6}"/>
              </a:ext>
            </a:extLst>
          </p:cNvPr>
          <p:cNvPicPr>
            <a:picLocks noChangeAspect="1"/>
          </p:cNvPicPr>
          <p:nvPr/>
        </p:nvPicPr>
        <p:blipFill>
          <a:blip r:embed="rId2"/>
          <a:stretch>
            <a:fillRect/>
          </a:stretch>
        </p:blipFill>
        <p:spPr>
          <a:xfrm>
            <a:off x="1656743" y="1906381"/>
            <a:ext cx="8878514" cy="4418218"/>
          </a:xfrm>
          <a:prstGeom prst="rect">
            <a:avLst/>
          </a:prstGeom>
        </p:spPr>
      </p:pic>
    </p:spTree>
    <p:extLst>
      <p:ext uri="{BB962C8B-B14F-4D97-AF65-F5344CB8AC3E}">
        <p14:creationId xmlns:p14="http://schemas.microsoft.com/office/powerpoint/2010/main" val="2881699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88E1F-0FEB-4BCF-A44D-F00DC07BAF66}"/>
              </a:ext>
            </a:extLst>
          </p:cNvPr>
          <p:cNvSpPr>
            <a:spLocks noGrp="1"/>
          </p:cNvSpPr>
          <p:nvPr>
            <p:ph type="title"/>
          </p:nvPr>
        </p:nvSpPr>
        <p:spPr/>
        <p:txBody>
          <a:bodyPr/>
          <a:lstStyle/>
          <a:p>
            <a:r>
              <a:rPr lang="en-US" b="1" i="0" dirty="0">
                <a:latin typeface="Calibri" panose="020F0502020204030204" pitchFamily="34" charset="0"/>
                <a:ea typeface="Calibri" panose="020F0502020204030204" pitchFamily="34" charset="0"/>
                <a:cs typeface="Calibri" panose="020F0502020204030204" pitchFamily="34" charset="0"/>
              </a:rPr>
              <a:t>Level 5: Data abstraction</a:t>
            </a:r>
          </a:p>
        </p:txBody>
      </p:sp>
      <p:sp>
        <p:nvSpPr>
          <p:cNvPr id="4" name="Slide Number Placeholder 3">
            <a:extLst>
              <a:ext uri="{FF2B5EF4-FFF2-40B4-BE49-F238E27FC236}">
                <a16:creationId xmlns:a16="http://schemas.microsoft.com/office/drawing/2014/main" id="{3E0EA02D-6DEE-42D8-B3EB-6309B9B0E76D}"/>
              </a:ext>
            </a:extLst>
          </p:cNvPr>
          <p:cNvSpPr>
            <a:spLocks noGrp="1"/>
          </p:cNvSpPr>
          <p:nvPr>
            <p:ph type="sldNum" sz="quarter" idx="12"/>
          </p:nvPr>
        </p:nvSpPr>
        <p:spPr/>
        <p:txBody>
          <a:bodyPr/>
          <a:lstStyle/>
          <a:p>
            <a:fld id="{312CC964-A50B-4C29-B4E4-2C30BB34CCF3}" type="slidenum">
              <a:rPr lang="en-US" smtClean="0"/>
              <a:t>14</a:t>
            </a:fld>
            <a:endParaRPr lang="en-US"/>
          </a:p>
        </p:txBody>
      </p:sp>
      <p:pic>
        <p:nvPicPr>
          <p:cNvPr id="5" name="Picture 4">
            <a:extLst>
              <a:ext uri="{FF2B5EF4-FFF2-40B4-BE49-F238E27FC236}">
                <a16:creationId xmlns:a16="http://schemas.microsoft.com/office/drawing/2014/main" id="{E61BD975-2EA6-4A9C-B3BC-E58B29A4EC5D}"/>
              </a:ext>
            </a:extLst>
          </p:cNvPr>
          <p:cNvPicPr>
            <a:picLocks noChangeAspect="1"/>
          </p:cNvPicPr>
          <p:nvPr/>
        </p:nvPicPr>
        <p:blipFill>
          <a:blip r:embed="rId2"/>
          <a:stretch>
            <a:fillRect/>
          </a:stretch>
        </p:blipFill>
        <p:spPr>
          <a:xfrm>
            <a:off x="2199792" y="1559975"/>
            <a:ext cx="7792416" cy="4764624"/>
          </a:xfrm>
          <a:prstGeom prst="rect">
            <a:avLst/>
          </a:prstGeom>
        </p:spPr>
      </p:pic>
    </p:spTree>
    <p:extLst>
      <p:ext uri="{BB962C8B-B14F-4D97-AF65-F5344CB8AC3E}">
        <p14:creationId xmlns:p14="http://schemas.microsoft.com/office/powerpoint/2010/main" val="1152818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88E1F-0FEB-4BCF-A44D-F00DC07BAF66}"/>
              </a:ext>
            </a:extLst>
          </p:cNvPr>
          <p:cNvSpPr>
            <a:spLocks noGrp="1"/>
          </p:cNvSpPr>
          <p:nvPr>
            <p:ph type="title"/>
          </p:nvPr>
        </p:nvSpPr>
        <p:spPr/>
        <p:txBody>
          <a:bodyPr/>
          <a:lstStyle/>
          <a:p>
            <a:r>
              <a:rPr lang="en-US" b="1" i="0" dirty="0">
                <a:latin typeface="Calibri" panose="020F0502020204030204" pitchFamily="34" charset="0"/>
                <a:ea typeface="Calibri" panose="020F0502020204030204" pitchFamily="34" charset="0"/>
                <a:cs typeface="Calibri" panose="020F0502020204030204" pitchFamily="34" charset="0"/>
              </a:rPr>
              <a:t>Level 6: Application</a:t>
            </a:r>
          </a:p>
        </p:txBody>
      </p:sp>
      <p:sp>
        <p:nvSpPr>
          <p:cNvPr id="4" name="Slide Number Placeholder 3">
            <a:extLst>
              <a:ext uri="{FF2B5EF4-FFF2-40B4-BE49-F238E27FC236}">
                <a16:creationId xmlns:a16="http://schemas.microsoft.com/office/drawing/2014/main" id="{3E0EA02D-6DEE-42D8-B3EB-6309B9B0E76D}"/>
              </a:ext>
            </a:extLst>
          </p:cNvPr>
          <p:cNvSpPr>
            <a:spLocks noGrp="1"/>
          </p:cNvSpPr>
          <p:nvPr>
            <p:ph type="sldNum" sz="quarter" idx="12"/>
          </p:nvPr>
        </p:nvSpPr>
        <p:spPr/>
        <p:txBody>
          <a:bodyPr/>
          <a:lstStyle/>
          <a:p>
            <a:fld id="{312CC964-A50B-4C29-B4E4-2C30BB34CCF3}" type="slidenum">
              <a:rPr lang="en-US" smtClean="0"/>
              <a:t>15</a:t>
            </a:fld>
            <a:endParaRPr lang="en-US"/>
          </a:p>
        </p:txBody>
      </p:sp>
      <p:pic>
        <p:nvPicPr>
          <p:cNvPr id="6" name="Picture 5">
            <a:extLst>
              <a:ext uri="{FF2B5EF4-FFF2-40B4-BE49-F238E27FC236}">
                <a16:creationId xmlns:a16="http://schemas.microsoft.com/office/drawing/2014/main" id="{C6D18349-036B-4B30-BFEA-923B7AD0C721}"/>
              </a:ext>
            </a:extLst>
          </p:cNvPr>
          <p:cNvPicPr>
            <a:picLocks noChangeAspect="1"/>
          </p:cNvPicPr>
          <p:nvPr/>
        </p:nvPicPr>
        <p:blipFill>
          <a:blip r:embed="rId2"/>
          <a:stretch>
            <a:fillRect/>
          </a:stretch>
        </p:blipFill>
        <p:spPr>
          <a:xfrm>
            <a:off x="1933301" y="1746525"/>
            <a:ext cx="8549641" cy="4652353"/>
          </a:xfrm>
          <a:prstGeom prst="rect">
            <a:avLst/>
          </a:prstGeom>
        </p:spPr>
      </p:pic>
    </p:spTree>
    <p:extLst>
      <p:ext uri="{BB962C8B-B14F-4D97-AF65-F5344CB8AC3E}">
        <p14:creationId xmlns:p14="http://schemas.microsoft.com/office/powerpoint/2010/main" val="612687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88E1F-0FEB-4BCF-A44D-F00DC07BAF66}"/>
              </a:ext>
            </a:extLst>
          </p:cNvPr>
          <p:cNvSpPr>
            <a:spLocks noGrp="1"/>
          </p:cNvSpPr>
          <p:nvPr>
            <p:ph type="title"/>
          </p:nvPr>
        </p:nvSpPr>
        <p:spPr/>
        <p:txBody>
          <a:bodyPr/>
          <a:lstStyle/>
          <a:p>
            <a:r>
              <a:rPr lang="en-US" b="1" i="0" dirty="0">
                <a:latin typeface="Calibri" panose="020F0502020204030204" pitchFamily="34" charset="0"/>
                <a:ea typeface="Calibri" panose="020F0502020204030204" pitchFamily="34" charset="0"/>
                <a:cs typeface="Calibri" panose="020F0502020204030204" pitchFamily="34" charset="0"/>
              </a:rPr>
              <a:t>Level 7: Collaboration &amp; Processes</a:t>
            </a:r>
          </a:p>
        </p:txBody>
      </p:sp>
      <p:sp>
        <p:nvSpPr>
          <p:cNvPr id="4" name="Slide Number Placeholder 3">
            <a:extLst>
              <a:ext uri="{FF2B5EF4-FFF2-40B4-BE49-F238E27FC236}">
                <a16:creationId xmlns:a16="http://schemas.microsoft.com/office/drawing/2014/main" id="{3E0EA02D-6DEE-42D8-B3EB-6309B9B0E76D}"/>
              </a:ext>
            </a:extLst>
          </p:cNvPr>
          <p:cNvSpPr>
            <a:spLocks noGrp="1"/>
          </p:cNvSpPr>
          <p:nvPr>
            <p:ph type="sldNum" sz="quarter" idx="12"/>
          </p:nvPr>
        </p:nvSpPr>
        <p:spPr/>
        <p:txBody>
          <a:bodyPr/>
          <a:lstStyle/>
          <a:p>
            <a:fld id="{312CC964-A50B-4C29-B4E4-2C30BB34CCF3}" type="slidenum">
              <a:rPr lang="en-US" smtClean="0"/>
              <a:t>16</a:t>
            </a:fld>
            <a:endParaRPr lang="en-US"/>
          </a:p>
        </p:txBody>
      </p:sp>
      <p:pic>
        <p:nvPicPr>
          <p:cNvPr id="5" name="Picture 4">
            <a:extLst>
              <a:ext uri="{FF2B5EF4-FFF2-40B4-BE49-F238E27FC236}">
                <a16:creationId xmlns:a16="http://schemas.microsoft.com/office/drawing/2014/main" id="{93906D44-43C2-487C-BC42-795B1013153E}"/>
              </a:ext>
            </a:extLst>
          </p:cNvPr>
          <p:cNvPicPr>
            <a:picLocks noChangeAspect="1"/>
          </p:cNvPicPr>
          <p:nvPr/>
        </p:nvPicPr>
        <p:blipFill>
          <a:blip r:embed="rId2"/>
          <a:stretch>
            <a:fillRect/>
          </a:stretch>
        </p:blipFill>
        <p:spPr>
          <a:xfrm>
            <a:off x="2325187" y="1834348"/>
            <a:ext cx="7881482" cy="4814717"/>
          </a:xfrm>
          <a:prstGeom prst="rect">
            <a:avLst/>
          </a:prstGeom>
        </p:spPr>
      </p:pic>
    </p:spTree>
    <p:extLst>
      <p:ext uri="{BB962C8B-B14F-4D97-AF65-F5344CB8AC3E}">
        <p14:creationId xmlns:p14="http://schemas.microsoft.com/office/powerpoint/2010/main" val="2853600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88E1F-0FEB-4BCF-A44D-F00DC07BAF66}"/>
              </a:ext>
            </a:extLst>
          </p:cNvPr>
          <p:cNvSpPr>
            <a:spLocks noGrp="1"/>
          </p:cNvSpPr>
          <p:nvPr>
            <p:ph type="title"/>
          </p:nvPr>
        </p:nvSpPr>
        <p:spPr/>
        <p:txBody>
          <a:bodyPr/>
          <a:lstStyle/>
          <a:p>
            <a:r>
              <a:rPr lang="en-US" b="1" i="0" dirty="0">
                <a:latin typeface="Calibri" panose="020F0502020204030204" pitchFamily="34" charset="0"/>
                <a:ea typeface="Calibri" panose="020F0502020204030204" pitchFamily="34" charset="0"/>
                <a:cs typeface="Calibri" panose="020F0502020204030204" pitchFamily="34" charset="0"/>
              </a:rPr>
              <a:t>Security in the </a:t>
            </a:r>
            <a:r>
              <a:rPr lang="en-US" b="1" i="0" dirty="0" err="1">
                <a:latin typeface="Calibri" panose="020F0502020204030204" pitchFamily="34" charset="0"/>
                <a:ea typeface="Calibri" panose="020F0502020204030204" pitchFamily="34" charset="0"/>
                <a:cs typeface="Calibri" panose="020F0502020204030204" pitchFamily="34" charset="0"/>
              </a:rPr>
              <a:t>Iot</a:t>
            </a:r>
            <a:endParaRPr lang="en-US" b="1" i="0"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E0EA02D-6DEE-42D8-B3EB-6309B9B0E76D}"/>
              </a:ext>
            </a:extLst>
          </p:cNvPr>
          <p:cNvSpPr>
            <a:spLocks noGrp="1"/>
          </p:cNvSpPr>
          <p:nvPr>
            <p:ph type="sldNum" sz="quarter" idx="12"/>
          </p:nvPr>
        </p:nvSpPr>
        <p:spPr/>
        <p:txBody>
          <a:bodyPr/>
          <a:lstStyle/>
          <a:p>
            <a:fld id="{312CC964-A50B-4C29-B4E4-2C30BB34CCF3}" type="slidenum">
              <a:rPr lang="en-US" smtClean="0"/>
              <a:t>17</a:t>
            </a:fld>
            <a:endParaRPr lang="en-US"/>
          </a:p>
        </p:txBody>
      </p:sp>
      <p:pic>
        <p:nvPicPr>
          <p:cNvPr id="6" name="Picture 5">
            <a:extLst>
              <a:ext uri="{FF2B5EF4-FFF2-40B4-BE49-F238E27FC236}">
                <a16:creationId xmlns:a16="http://schemas.microsoft.com/office/drawing/2014/main" id="{BC188070-FD55-496D-94AF-E24F98F8DBD4}"/>
              </a:ext>
            </a:extLst>
          </p:cNvPr>
          <p:cNvPicPr>
            <a:picLocks noChangeAspect="1"/>
          </p:cNvPicPr>
          <p:nvPr/>
        </p:nvPicPr>
        <p:blipFill>
          <a:blip r:embed="rId2"/>
          <a:stretch>
            <a:fillRect/>
          </a:stretch>
        </p:blipFill>
        <p:spPr>
          <a:xfrm>
            <a:off x="2429691" y="1676905"/>
            <a:ext cx="8041059" cy="5181095"/>
          </a:xfrm>
          <a:prstGeom prst="rect">
            <a:avLst/>
          </a:prstGeom>
        </p:spPr>
      </p:pic>
    </p:spTree>
    <p:extLst>
      <p:ext uri="{BB962C8B-B14F-4D97-AF65-F5344CB8AC3E}">
        <p14:creationId xmlns:p14="http://schemas.microsoft.com/office/powerpoint/2010/main" val="409095652"/>
      </p:ext>
    </p:extLst>
  </p:cSld>
  <p:clrMapOvr>
    <a:masterClrMapping/>
  </p:clrMapOvr>
</p:sld>
</file>

<file path=ppt/theme/theme1.xml><?xml version="1.0" encoding="utf-8"?>
<a:theme xmlns:a="http://schemas.openxmlformats.org/drawingml/2006/main" name="AngleLinesVTI">
  <a:themeElements>
    <a:clrScheme name="AnalogousFromLightSeedLeftStep">
      <a:dk1>
        <a:srgbClr val="000000"/>
      </a:dk1>
      <a:lt1>
        <a:srgbClr val="FFFFFF"/>
      </a:lt1>
      <a:dk2>
        <a:srgbClr val="382820"/>
      </a:dk2>
      <a:lt2>
        <a:srgbClr val="E4E2E8"/>
      </a:lt2>
      <a:accent1>
        <a:srgbClr val="99A677"/>
      </a:accent1>
      <a:accent2>
        <a:srgbClr val="ABA26C"/>
      </a:accent2>
      <a:accent3>
        <a:srgbClr val="BF9778"/>
      </a:accent3>
      <a:accent4>
        <a:srgbClr val="C07A79"/>
      </a:accent4>
      <a:accent5>
        <a:srgbClr val="CB8FA7"/>
      </a:accent5>
      <a:accent6>
        <a:srgbClr val="C079B2"/>
      </a:accent6>
      <a:hlink>
        <a:srgbClr val="7C69AE"/>
      </a:hlink>
      <a:folHlink>
        <a:srgbClr val="7F7F7F"/>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TotalTime>
  <Words>894</Words>
  <Application>Microsoft Office PowerPoint</Application>
  <PresentationFormat>Widescreen</PresentationFormat>
  <Paragraphs>62</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Arial Black</vt:lpstr>
      <vt:lpstr>Calibri</vt:lpstr>
      <vt:lpstr>Univers Condensed Light</vt:lpstr>
      <vt:lpstr>Walbaum Display Light</vt:lpstr>
      <vt:lpstr>AngleLinesVTI</vt:lpstr>
      <vt:lpstr>IOT ARCHITECTURE &amp; Reference Model</vt:lpstr>
      <vt:lpstr>State of the art</vt:lpstr>
      <vt:lpstr>Stages of IoT Architecture</vt:lpstr>
      <vt:lpstr>Stage 1:- Sensors/actuators</vt:lpstr>
      <vt:lpstr>Stage 2:- The Internet gateway</vt:lpstr>
      <vt:lpstr>Stage 3:- Edge IT</vt:lpstr>
      <vt:lpstr>Stage 4:-The data centre and cloud</vt:lpstr>
      <vt:lpstr>PowerPoint Presentation</vt:lpstr>
      <vt:lpstr>Level 1: Physical Devices and Controllers</vt:lpstr>
      <vt:lpstr>Level 1: Physical Devices and Controllers</vt:lpstr>
      <vt:lpstr>Level 2: Connectivity</vt:lpstr>
      <vt:lpstr>Level 3: Edge (fog) computing</vt:lpstr>
      <vt:lpstr>Level 4: Data accumulation</vt:lpstr>
      <vt:lpstr>Level 5: Data abstraction</vt:lpstr>
      <vt:lpstr>Level 6: Application</vt:lpstr>
      <vt:lpstr>Level 7: Collaboration &amp; Processes</vt:lpstr>
      <vt:lpstr>Security in the Iot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sanika wijayasekara</dc:creator>
  <cp:lastModifiedBy>Piumika K</cp:lastModifiedBy>
  <cp:revision>69</cp:revision>
  <cp:lastPrinted>2021-05-30T06:29:27Z</cp:lastPrinted>
  <dcterms:created xsi:type="dcterms:W3CDTF">2021-05-02T13:48:31Z</dcterms:created>
  <dcterms:modified xsi:type="dcterms:W3CDTF">2025-08-27T05:19:47Z</dcterms:modified>
</cp:coreProperties>
</file>