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44"/>
  </p:notesMasterIdLst>
  <p:sldIdLst>
    <p:sldId id="336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4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4799" autoAdjust="0"/>
  </p:normalViewPr>
  <p:slideViewPr>
    <p:cSldViewPr>
      <p:cViewPr varScale="1">
        <p:scale>
          <a:sx n="80" d="100"/>
          <a:sy n="80" d="100"/>
        </p:scale>
        <p:origin x="141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94DFE-9DA0-4BD3-8E8E-C01D64692E75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CCAF4-3671-49DF-A21F-874AA4C88E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0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29057" indent="-28040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2162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57027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18927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1E8EB89-AC6F-4C84-B7E4-BAFD1E36E2DB}" type="slidenum">
              <a:rPr lang="en-US" altLang="ko-KR">
                <a:latin typeface="Calibri" pitchFamily="34" charset="0"/>
              </a:rPr>
              <a:pPr eaLnBrk="1" hangingPunct="1"/>
              <a:t>5</a:t>
            </a:fld>
            <a:endParaRPr lang="en-US" altLang="ko-KR">
              <a:latin typeface="Calibri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158" y="4344025"/>
            <a:ext cx="5031685" cy="4114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20393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29057" indent="-28040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2162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57027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18927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F4AFBEE-10C9-4536-8E7D-125355593EFA}" type="slidenum">
              <a:rPr lang="en-US" altLang="ko-KR">
                <a:latin typeface="Calibri" pitchFamily="34" charset="0"/>
              </a:rPr>
              <a:pPr eaLnBrk="1" hangingPunct="1"/>
              <a:t>6</a:t>
            </a:fld>
            <a:endParaRPr lang="en-US" altLang="ko-KR">
              <a:latin typeface="Calibri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158" y="4344025"/>
            <a:ext cx="5031685" cy="4114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06518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29057" indent="-28040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2162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57027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18927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7E6959F-F611-49C5-BAD3-1650E7796AA4}" type="slidenum">
              <a:rPr lang="en-US" altLang="ko-KR">
                <a:latin typeface="Calibri" pitchFamily="34" charset="0"/>
              </a:rPr>
              <a:pPr eaLnBrk="1" hangingPunct="1"/>
              <a:t>8</a:t>
            </a:fld>
            <a:endParaRPr lang="en-US" altLang="ko-KR">
              <a:latin typeface="Calibri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158" y="4344025"/>
            <a:ext cx="5031685" cy="4114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53166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29057" indent="-28040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2162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57027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18927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56A76F26-D2C7-4257-ABF3-2C9FBF86BC3B}" type="slidenum">
              <a:rPr lang="en-US" altLang="ko-KR">
                <a:latin typeface="Calibri" pitchFamily="34" charset="0"/>
              </a:rPr>
              <a:pPr eaLnBrk="1" hangingPunct="1"/>
              <a:t>23</a:t>
            </a:fld>
            <a:endParaRPr lang="en-US" altLang="ko-KR">
              <a:latin typeface="Calibri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158" y="4344025"/>
            <a:ext cx="5031685" cy="4114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78241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29057" indent="-28040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2162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570276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18927" indent="-224325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BA484E9E-203C-4E8A-8D29-657DC1497B66}" type="slidenum">
              <a:rPr lang="en-US" altLang="ko-KR">
                <a:latin typeface="Calibri" pitchFamily="34" charset="0"/>
              </a:rPr>
              <a:pPr eaLnBrk="1" hangingPunct="1"/>
              <a:t>30</a:t>
            </a:fld>
            <a:endParaRPr lang="en-US" altLang="ko-KR">
              <a:latin typeface="Calibri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158" y="4344025"/>
            <a:ext cx="5031685" cy="4114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20465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Cross Elasticity of Demand (CPeD)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3A73E5-38AC-4AF8-A7E3-C017A4C44A36}" type="slidenum">
              <a:rPr lang="en-US"/>
              <a:pPr/>
              <a:t>33</a:t>
            </a:fld>
            <a:endParaRPr 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09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Cross Elasticity of Demand (CPeD)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521A81-76D7-4AE3-B24D-E386231E4615}" type="slidenum">
              <a:rPr lang="en-US"/>
              <a:pPr/>
              <a:t>34</a:t>
            </a:fld>
            <a:endParaRPr 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53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Cross Elasticity of Demand (CPeD)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DFE96B-EF83-4865-80B9-52AE5E592210}" type="slidenum">
              <a:rPr lang="en-US"/>
              <a:pPr/>
              <a:t>35</a:t>
            </a:fld>
            <a:endParaRPr 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35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Cross Elasticity of Demand (CPeD)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D1504E-465C-4618-A114-658ADAF7AF53}" type="slidenum">
              <a:rPr lang="en-US"/>
              <a:pPr/>
              <a:t>36</a:t>
            </a:fld>
            <a:endParaRPr 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61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Cross Elasticity of Demand (CPeD)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720B07-9D57-4C32-BD5A-F303DF573EAC}" type="slidenum">
              <a:rPr lang="en-US"/>
              <a:pPr/>
              <a:t>37</a:t>
            </a:fld>
            <a:endParaRPr lang="en-US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88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Cross Elasticity of Demand (CPeD)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27D5A7-D913-4EA8-8507-F8F067A4DED5}" type="slidenum">
              <a:rPr lang="en-US"/>
              <a:pPr/>
              <a:t>38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74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Cross Elasticity of Demand (CPeD)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3837B4-F533-4BDE-9465-5D9FC53F4A80}" type="slidenum">
              <a:rPr lang="en-US"/>
              <a:pPr/>
              <a:t>40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64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Cross Elasticity of Demand (CPeD)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149934-181B-4880-BE2E-4915FA555072}" type="slidenum">
              <a:rPr lang="en-US"/>
              <a:pPr/>
              <a:t>41</a:t>
            </a:fld>
            <a:endParaRPr 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3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147927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9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744545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1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0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113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35317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8410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0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39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9EC5959-5741-48AF-992A-53B2441E0585}" type="datetime1">
              <a:rPr lang="en-US" altLang="ko-KR" smtClean="0"/>
              <a:pPr/>
              <a:t>6/9/2021</a:t>
            </a:fld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4A8EED-E05B-4D11-B1B1-5F4F3C51EB1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167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1221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10" r:id="rId12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36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5184">
          <p15:clr>
            <a:srgbClr val="F26B43"/>
          </p15:clr>
        </p15:guide>
        <p15:guide id="10" pos="702">
          <p15:clr>
            <a:srgbClr val="F26B43"/>
          </p15:clr>
        </p15:guide>
        <p15:guide id="11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notesSlide" Target="../notesSlides/notesSlide8.xml"/><Relationship Id="rId7" Type="http://schemas.openxmlformats.org/officeDocument/2006/relationships/hyperlink" Target="http://images.google.co.uk/imgres?imgurl=http://www.costpernews.com/wp-content/uploads/2007/05/google_logo.jpg&amp;imgrefurl=http://www.costpernews.com/2007/05/03/what-if-google-bought-dow-jones-google-street-journal/&amp;h=1500&amp;w=3600&amp;sz=277&amp;hl=en&amp;start=2&amp;tbnid=-BCryA-2oHT9GM:&amp;tbnh=63&amp;tbnw=150&amp;prev=/images?q=google+logo&amp;gbv=2&amp;svnum=10&amp;hl=en" TargetMode="External"/><Relationship Id="rId12" Type="http://schemas.openxmlformats.org/officeDocument/2006/relationships/image" Target="../media/image18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15.jpeg"/><Relationship Id="rId11" Type="http://schemas.openxmlformats.org/officeDocument/2006/relationships/hyperlink" Target="http://images.google.co.uk/imgres?imgurl=http://www.perdue.com/files/Easy%20Sunder%20Dinner%20Roast%20Chicken.jpg&amp;imgrefurl=http://www.perdue.com/recipes/recipe_detail.html?id=81&amp;h=300&amp;w=367&amp;sz=95&amp;hl=en&amp;start=16&amp;tbnid=QUI2Z-UQax74KM:&amp;tbnh=100&amp;tbnw=122&amp;prev=/images?q=roast+chicken&amp;gbv=2&amp;svnum=10&amp;hl=en" TargetMode="External"/><Relationship Id="rId5" Type="http://schemas.openxmlformats.org/officeDocument/2006/relationships/hyperlink" Target="http://uk.wrs.yahoo.com/_ylt=Al_rmiKeuPLNl0kz1uuLD7VNBQx.;_ylu=X3oDMTBpZm5udGl1BHBvcwM1BHNlYwNzcgR2dGlkAw--/SIG=1f65d05sq/**http:/uk.images.search.yahoo.com/search/images/view?back=http://uk.images.search.yahoo.com/search/images?p=braeburn+apples&amp;fr=yfp-t-501&amp;ei=UTF-8&amp;w=125&amp;h=121&amp;imgurl=www.apples-cherries.com/farm/images/products/Braeburn-apples.jpg&amp;rurl=http://www.friske.com/hcrisp.htm&amp;size=3.1kB&amp;name=Braeburn-apples.jpg&amp;p=braeburn+apples&amp;type=jpeg&amp;no=5&amp;tt=251&amp;oid=d2d5541cc6378c78&amp;ei=UTF-8" TargetMode="External"/><Relationship Id="rId10" Type="http://schemas.openxmlformats.org/officeDocument/2006/relationships/image" Target="../media/image17.jpeg"/><Relationship Id="rId4" Type="http://schemas.openxmlformats.org/officeDocument/2006/relationships/image" Target="../media/image14.png"/><Relationship Id="rId9" Type="http://schemas.openxmlformats.org/officeDocument/2006/relationships/hyperlink" Target="http://images.google.co.uk/imgres?imgurl=http://my.telegraph.co.uk/VirtualContent/90408/20070810085337.jpg&amp;imgrefurl=http://my.telegraph.co.uk/papaguinea/august_2007/&amp;h=375&amp;w=500&amp;sz=18&amp;hl=en&amp;start=1&amp;tbnid=o-jiRjNJ1xWk8M:&amp;tbnh=98&amp;tbnw=130&amp;prev=/images?q=cup+of+tea&amp;gbv=2&amp;svnum=10&amp;hl=en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s.google.co.uk/imgres?imgurl=http://www.laptoppicker.com/archives/sony-vaio-n-laptop.jpg&amp;imgrefurl=http://www.laptoppicker.com/archives/laptop-bargains.html&amp;h=311&amp;w=359&amp;sz=21&amp;hl=en&amp;start=4&amp;tbnid=EciFWIo8lvmJVM:&amp;tbnh=105&amp;tbnw=121&amp;prev=/images?q=laptop&amp;gbv=2&amp;svnum=10&amp;hl=en" TargetMode="External"/><Relationship Id="rId13" Type="http://schemas.openxmlformats.org/officeDocument/2006/relationships/image" Target="../media/image23.jpe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7.jpeg"/><Relationship Id="rId12" Type="http://schemas.openxmlformats.org/officeDocument/2006/relationships/hyperlink" Target="http://uk.wrs.yahoo.com/_ylt=AnPwPUEo.EMRUdfZSWoo1N5NBQx.;_ylu=X3oDMTBpc2VvdmQ2BHBvcwM3BHNlYwNzcgR2dGlkAw--/SIG=1f8s19mec/**http:/uk.images.search.yahoo.com/search/images/view?back=http://uk.images.search.yahoo.com/search/images?p=chopsticks&amp;ei=UTF-8&amp;fr=yfp-t-501&amp;x=wrt&amp;w=1355&amp;h=385&amp;imgurl=www.colleenmcallahan.net/wsbredesign/chopsticks.jpg&amp;rurl=http://www.colleenmcallahan.net/wsbredesign/ware.html&amp;size=37.7kB&amp;name=chopsticks.jpg&amp;p=chopsticks&amp;type=jpeg&amp;no=7&amp;tt=77,743&amp;oid=6d47b65beab8fada&amp;ei=UTF-8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hyperlink" Target="http://images.google.co.uk/imgres?imgurl=http://my.telegraph.co.uk/VirtualContent/90408/20070810085337.jpg&amp;imgrefurl=http://my.telegraph.co.uk/papaguinea/august_2007/&amp;h=375&amp;w=500&amp;sz=18&amp;hl=en&amp;start=1&amp;tbnid=o-jiRjNJ1xWk8M:&amp;tbnh=98&amp;tbnw=130&amp;prev=/images?q=cup+of+tea&amp;gbv=2&amp;svnum=10&amp;hl=en" TargetMode="External"/><Relationship Id="rId11" Type="http://schemas.openxmlformats.org/officeDocument/2006/relationships/image" Target="../media/image22.jpeg"/><Relationship Id="rId5" Type="http://schemas.openxmlformats.org/officeDocument/2006/relationships/image" Target="../media/image20.png"/><Relationship Id="rId10" Type="http://schemas.openxmlformats.org/officeDocument/2006/relationships/hyperlink" Target="http://uk.wrs.yahoo.com/_ylt=Aj1uzxzFhM7L0INOwzu5Ch1NBQx.;_ylu=X3oDMTBpc2ozM2gzBHBvcwM0BHNlYwNzcgR2dGlkAw--/SIG=1f71imp23/**http:/uk.images.search.yahoo.com/search/images/view?back=http://uk.images.search.yahoo.com/search/images?p=scone&amp;fr=yfp-t-501&amp;ei=UTF-8&amp;w=239&amp;h=200&amp;imgurl=ukstudentlife.com/Britain/Food/Cooking/Scone/Scone.jpg&amp;rurl=http://parentheticalremarks.blogspot.com/2005/04/idiot-box.html&amp;size=12.5kB&amp;name=Scone.jpg&amp;p=scone&amp;type=jpeg&amp;no=4&amp;tt=43,669&amp;oid=5d882d9a2c66b090&amp;ei=UTF-8" TargetMode="External"/><Relationship Id="rId4" Type="http://schemas.openxmlformats.org/officeDocument/2006/relationships/image" Target="../media/image19.png"/><Relationship Id="rId9" Type="http://schemas.openxmlformats.org/officeDocument/2006/relationships/image" Target="../media/image21.jpeg"/><Relationship Id="rId14" Type="http://schemas.openxmlformats.org/officeDocument/2006/relationships/image" Target="../media/image24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26.jpeg"/><Relationship Id="rId4" Type="http://schemas.openxmlformats.org/officeDocument/2006/relationships/hyperlink" Target="http://images.google.co.uk/imgres?imgurl=http://www1.istockphoto.com/file_thumbview_approve/881749/2/istockphoto_881749_burger_bun_1.jpg&amp;imgrefurl=http://www.istockphoto.com/file_closeup/?id=881749&amp;refnum=465664&amp;h=380&amp;w=253&amp;sz=19&amp;hl=en&amp;start=1&amp;tbnid=QKKfzHFdyyNkAM:&amp;tbnh=123&amp;tbnw=82&amp;prev=/images?q=burger+bun&amp;gbv=2&amp;svnum=10&amp;hl=en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6368" y="1186265"/>
            <a:ext cx="6517482" cy="2020957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Fundamentals of Economics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709" y="3429000"/>
            <a:ext cx="6400800" cy="2209800"/>
          </a:xfrm>
        </p:spPr>
        <p:txBody>
          <a:bodyPr>
            <a:noAutofit/>
          </a:bodyPr>
          <a:lstStyle/>
          <a:p>
            <a:r>
              <a:rPr lang="en-US" sz="2000" b="1" dirty="0" err="1" smtClean="0"/>
              <a:t>M.M.L.C.Gunathilake</a:t>
            </a:r>
            <a:endParaRPr lang="en-US" sz="2000" b="1" dirty="0" smtClean="0"/>
          </a:p>
          <a:p>
            <a:r>
              <a:rPr lang="en-US" sz="2000" b="1" dirty="0" smtClean="0"/>
              <a:t>Senior Lecturer gr ii</a:t>
            </a:r>
          </a:p>
          <a:p>
            <a:r>
              <a:rPr lang="en-US" sz="2000" b="1" dirty="0" smtClean="0"/>
              <a:t>Department of Management and </a:t>
            </a:r>
            <a:r>
              <a:rPr lang="en-US" sz="2000" b="1" dirty="0"/>
              <a:t>F</a:t>
            </a:r>
            <a:r>
              <a:rPr lang="en-US" sz="2000" b="1" dirty="0" smtClean="0"/>
              <a:t>inance</a:t>
            </a:r>
          </a:p>
          <a:p>
            <a:r>
              <a:rPr lang="en-US" sz="2000" b="1" dirty="0" smtClean="0"/>
              <a:t>General Sir John </a:t>
            </a:r>
            <a:r>
              <a:rPr lang="en-US" sz="2000" b="1" dirty="0" err="1" smtClean="0"/>
              <a:t>Kotelawala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Defence</a:t>
            </a:r>
            <a:r>
              <a:rPr lang="en-US" sz="2000" b="1" dirty="0" smtClean="0"/>
              <a:t> University</a:t>
            </a:r>
          </a:p>
          <a:p>
            <a:r>
              <a:rPr lang="en-US" sz="2000" b="1" dirty="0" smtClean="0"/>
              <a:t> </a:t>
            </a:r>
            <a:r>
              <a:rPr lang="en-US" sz="2000" b="1" dirty="0" err="1" smtClean="0"/>
              <a:t>Ratmalana</a:t>
            </a: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4" name="Picture 3" descr="5"/>
          <p:cNvPicPr/>
          <p:nvPr/>
        </p:nvPicPr>
        <p:blipFill>
          <a:blip r:embed="rId2" cstate="print">
            <a:clrChange>
              <a:clrFrom>
                <a:srgbClr val="F8F8F0"/>
              </a:clrFrom>
              <a:clrTo>
                <a:srgbClr val="F8F8F0">
                  <a:alpha val="0"/>
                </a:srgbClr>
              </a:clrTo>
            </a:clrChange>
            <a:lum bright="-20000" contrast="20000"/>
          </a:blip>
          <a:srcRect/>
          <a:stretch>
            <a:fillRect/>
          </a:stretch>
        </p:blipFill>
        <p:spPr bwMode="auto">
          <a:xfrm>
            <a:off x="3352800" y="0"/>
            <a:ext cx="213360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444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7999"/>
          </a:xfrm>
          <a:blipFill>
            <a:blip r:embed="rId2"/>
            <a:stretch>
              <a:fillRect/>
            </a:stretch>
          </a:blipFill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Lesson 03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sz="7300" b="1" dirty="0" smtClean="0">
                <a:solidFill>
                  <a:schemeClr val="bg2">
                    <a:lumMod val="10000"/>
                  </a:schemeClr>
                </a:solidFill>
              </a:rPr>
              <a:t>Concept of Elasticity</a:t>
            </a: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9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Elasticity of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 smtClean="0"/>
              <a:t>We have seen that </a:t>
            </a:r>
          </a:p>
          <a:p>
            <a:pPr lvl="1">
              <a:defRPr/>
            </a:pPr>
            <a:r>
              <a:rPr lang="en-US" dirty="0" smtClean="0"/>
              <a:t>The </a:t>
            </a:r>
            <a:r>
              <a:rPr lang="en-US" b="1" dirty="0" smtClean="0"/>
              <a:t>quantity demanded</a:t>
            </a:r>
            <a:r>
              <a:rPr lang="en-US" dirty="0" smtClean="0"/>
              <a:t> of a consumer good is affected by </a:t>
            </a:r>
          </a:p>
          <a:p>
            <a:pPr lvl="2">
              <a:defRPr/>
            </a:pPr>
            <a:r>
              <a:rPr lang="en-US" dirty="0" smtClean="0"/>
              <a:t>its price</a:t>
            </a:r>
          </a:p>
          <a:p>
            <a:pPr lvl="2">
              <a:defRPr/>
            </a:pPr>
            <a:r>
              <a:rPr lang="en-US" dirty="0" smtClean="0"/>
              <a:t>prices of other goods</a:t>
            </a:r>
          </a:p>
          <a:p>
            <a:pPr lvl="2">
              <a:defRPr/>
            </a:pPr>
            <a:r>
              <a:rPr lang="en-US" dirty="0" smtClean="0"/>
              <a:t>buyers’ incomes, etc.</a:t>
            </a:r>
          </a:p>
          <a:p>
            <a:pPr lvl="1">
              <a:defRPr/>
            </a:pPr>
            <a:r>
              <a:rPr lang="en-US" dirty="0" smtClean="0"/>
              <a:t>The quantity supplied of a good is affected by</a:t>
            </a:r>
          </a:p>
          <a:p>
            <a:pPr lvl="2">
              <a:defRPr/>
            </a:pPr>
            <a:r>
              <a:rPr lang="en-US" dirty="0" smtClean="0"/>
              <a:t>its price</a:t>
            </a:r>
          </a:p>
          <a:p>
            <a:pPr lvl="2">
              <a:defRPr/>
            </a:pPr>
            <a:r>
              <a:rPr lang="en-US" dirty="0" smtClean="0"/>
              <a:t>prices of raw materials, etc.</a:t>
            </a:r>
          </a:p>
          <a:p>
            <a:pPr>
              <a:defRPr/>
            </a:pPr>
            <a:r>
              <a:rPr lang="en-US" i="1" dirty="0" smtClean="0"/>
              <a:t>Elasticity</a:t>
            </a:r>
            <a:r>
              <a:rPr lang="en-US" dirty="0" smtClean="0"/>
              <a:t> seeks to measure the strengths of these various effects</a:t>
            </a:r>
            <a:endParaRPr lang="en-US" dirty="0"/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DB8396-15B2-4BB8-9673-7A111C8853F7}" type="slidenum">
              <a:rPr lang="en-US" smtClean="0"/>
              <a:pPr eaLnBrk="1" hangingPunct="1"/>
              <a:t>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5380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Price Elasticity of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i="1" dirty="0">
                <a:solidFill>
                  <a:srgbClr val="25A9A6"/>
                </a:solidFill>
              </a:rPr>
              <a:t>Price elasticity of demand</a:t>
            </a:r>
            <a:r>
              <a:rPr lang="en-US" dirty="0"/>
              <a:t> is a measure of </a:t>
            </a:r>
            <a:r>
              <a:rPr lang="en-US" u="sng" dirty="0"/>
              <a:t>how much the quantity demanded of a good </a:t>
            </a:r>
            <a:r>
              <a:rPr lang="en-US" dirty="0"/>
              <a:t>responds to a change in the price of that good.</a:t>
            </a:r>
          </a:p>
          <a:p>
            <a:pPr marL="0" indent="0"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Examples:</a:t>
            </a:r>
          </a:p>
          <a:p>
            <a:pPr lvl="1">
              <a:defRPr/>
            </a:pPr>
            <a:r>
              <a:rPr lang="en-US" dirty="0" smtClean="0"/>
              <a:t>The </a:t>
            </a:r>
            <a:r>
              <a:rPr lang="en-US" i="1" dirty="0" smtClean="0">
                <a:solidFill>
                  <a:srgbClr val="25A9A6"/>
                </a:solidFill>
                <a:ea typeface="+mn-ea"/>
                <a:cs typeface="+mn-cs"/>
              </a:rPr>
              <a:t>price elasticity of demand </a:t>
            </a:r>
            <a:r>
              <a:rPr lang="en-US" dirty="0" smtClean="0"/>
              <a:t>is the percent increase in the</a:t>
            </a:r>
            <a:r>
              <a:rPr lang="en-US" i="1" dirty="0" smtClean="0"/>
              <a:t> quantity demanded</a:t>
            </a:r>
            <a:r>
              <a:rPr lang="en-US" dirty="0" smtClean="0"/>
              <a:t> of a product when there is a one percent increase in the </a:t>
            </a:r>
            <a:r>
              <a:rPr lang="en-US" i="1" dirty="0" smtClean="0"/>
              <a:t>price</a:t>
            </a:r>
            <a:r>
              <a:rPr lang="en-US" dirty="0" smtClean="0"/>
              <a:t> of the product</a:t>
            </a:r>
            <a:endParaRPr lang="en-US" dirty="0"/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7CC31D-077E-456F-B9C6-656102331426}" type="slidenum">
              <a:rPr lang="en-US" smtClean="0"/>
              <a:pPr eaLnBrk="1" hangingPunct="1"/>
              <a:t>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8762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 Callout 2 10"/>
          <p:cNvSpPr/>
          <p:nvPr/>
        </p:nvSpPr>
        <p:spPr>
          <a:xfrm>
            <a:off x="4724400" y="3886200"/>
            <a:ext cx="762000" cy="914400"/>
          </a:xfrm>
          <a:prstGeom prst="borderCallout2">
            <a:avLst>
              <a:gd name="adj1" fmla="val 102750"/>
              <a:gd name="adj2" fmla="val -4733"/>
              <a:gd name="adj3" fmla="val 102750"/>
              <a:gd name="adj4" fmla="val -7067"/>
              <a:gd name="adj5" fmla="val 160500"/>
              <a:gd name="adj6" fmla="val -83867"/>
            </a:avLst>
          </a:prstGeom>
          <a:ln>
            <a:solidFill>
              <a:srgbClr val="00B0F0"/>
            </a:solidFill>
            <a:headEnd type="oval" w="med" len="med"/>
            <a:tailEnd type="triangl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dirty="0" smtClean="0"/>
              <a:t>Price Elasticity of Demand</a:t>
            </a:r>
          </a:p>
        </p:txBody>
      </p:sp>
      <p:sp>
        <p:nvSpPr>
          <p:cNvPr id="51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3058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smtClean="0"/>
              <a:t>Arc Price elasticity: </a:t>
            </a:r>
          </a:p>
          <a:p>
            <a:pPr eaLnBrk="1" hangingPunct="1">
              <a:buFontTx/>
              <a:buNone/>
            </a:pPr>
            <a:r>
              <a:rPr lang="en-US" altLang="ko-KR" sz="2400" smtClean="0"/>
              <a:t>				</a:t>
            </a:r>
          </a:p>
          <a:p>
            <a:pPr eaLnBrk="1" hangingPunct="1">
              <a:buFont typeface="Arial" pitchFamily="34" charset="0"/>
              <a:buNone/>
            </a:pPr>
            <a:endParaRPr lang="en-US" altLang="ko-KR" sz="2800" smtClean="0"/>
          </a:p>
          <a:p>
            <a:pPr eaLnBrk="1" hangingPunct="1">
              <a:buFont typeface="Arial" pitchFamily="34" charset="0"/>
              <a:buNone/>
            </a:pPr>
            <a:endParaRPr lang="en-US" altLang="ko-KR" sz="2800" smtClean="0"/>
          </a:p>
          <a:p>
            <a:pPr eaLnBrk="1" hangingPunct="1">
              <a:buFont typeface="Arial" pitchFamily="34" charset="0"/>
              <a:buNone/>
            </a:pPr>
            <a:r>
              <a:rPr lang="en-US" altLang="ko-KR" sz="2800" smtClean="0"/>
              <a:t>Point Price elasticity:</a:t>
            </a:r>
          </a:p>
          <a:p>
            <a:pPr eaLnBrk="1" hangingPunct="1">
              <a:buFont typeface="Arial" pitchFamily="34" charset="0"/>
              <a:buNone/>
            </a:pPr>
            <a:r>
              <a:rPr lang="en-US" altLang="ko-KR" sz="2800" smtClean="0"/>
              <a:t> </a:t>
            </a:r>
          </a:p>
          <a:p>
            <a:pPr eaLnBrk="1" hangingPunct="1">
              <a:buFontTx/>
              <a:buNone/>
            </a:pPr>
            <a:endParaRPr lang="en-US" altLang="ko-KR" sz="2800" smtClean="0"/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76275" y="1219200"/>
          <a:ext cx="6497638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" name="Equation" r:id="rId4" imgW="3136900" imgH="1066800" progId="">
                  <p:embed/>
                </p:oleObj>
              </mc:Choice>
              <mc:Fallback>
                <p:oleObj name="Equation" r:id="rId4" imgW="3136900" imgH="1066800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75" y="1219200"/>
                        <a:ext cx="6497638" cy="220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A8EED-E05B-4D11-B1B1-5F4F3C51EB14}" type="slidenum">
              <a:rPr lang="en-US" altLang="ko-KR" smtClean="0"/>
              <a:pPr/>
              <a:t>5</a:t>
            </a:fld>
            <a:endParaRPr lang="en-US" altLang="ko-KR"/>
          </a:p>
        </p:txBody>
      </p:sp>
      <p:graphicFrame>
        <p:nvGraphicFramePr>
          <p:cNvPr id="5123" name="Object 6"/>
          <p:cNvGraphicFramePr>
            <a:graphicFrameLocks noChangeAspect="1"/>
          </p:cNvGraphicFramePr>
          <p:nvPr/>
        </p:nvGraphicFramePr>
        <p:xfrm>
          <a:off x="533400" y="3886200"/>
          <a:ext cx="57150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Equation" r:id="rId6" imgW="1943100" imgH="419100" progId="Equation.3">
                  <p:embed/>
                </p:oleObj>
              </mc:Choice>
              <mc:Fallback>
                <p:oleObj name="Equation" r:id="rId6" imgW="1943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86200"/>
                        <a:ext cx="5715000" cy="91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Box 6"/>
          <p:cNvSpPr txBox="1">
            <a:spLocks noChangeArrowheads="1"/>
          </p:cNvSpPr>
          <p:nvPr/>
        </p:nvSpPr>
        <p:spPr bwMode="auto">
          <a:xfrm>
            <a:off x="1524000" y="5181600"/>
            <a:ext cx="4800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600" i="1"/>
              <a:t>The coefficient on Price of demand function.</a:t>
            </a:r>
          </a:p>
          <a:p>
            <a:pPr eaLnBrk="1" hangingPunct="1"/>
            <a:r>
              <a:rPr lang="en-US" sz="1600" i="1"/>
              <a:t> </a:t>
            </a:r>
          </a:p>
          <a:p>
            <a:pPr eaLnBrk="1" hangingPunct="1"/>
            <a:r>
              <a:rPr lang="en-US" sz="1600" i="1"/>
              <a:t>   Ex) Q=22-2P: </a:t>
            </a:r>
          </a:p>
        </p:txBody>
      </p:sp>
      <p:graphicFrame>
        <p:nvGraphicFramePr>
          <p:cNvPr id="5124" name="Object 7"/>
          <p:cNvGraphicFramePr>
            <a:graphicFrameLocks noChangeAspect="1"/>
          </p:cNvGraphicFramePr>
          <p:nvPr/>
        </p:nvGraphicFramePr>
        <p:xfrm>
          <a:off x="3276600" y="5562600"/>
          <a:ext cx="1143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Equation" r:id="rId8" imgW="596641" imgH="393529" progId="Equation.3">
                  <p:embed/>
                </p:oleObj>
              </mc:Choice>
              <mc:Fallback>
                <p:oleObj name="Equation" r:id="rId8" imgW="596641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562600"/>
                        <a:ext cx="1143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6204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dirty="0" smtClean="0"/>
              <a:t>More about Price Elasticity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305800" cy="4114800"/>
          </a:xfrm>
        </p:spPr>
        <p:txBody>
          <a:bodyPr/>
          <a:lstStyle/>
          <a:p>
            <a:pPr eaLnBrk="1" hangingPunct="1"/>
            <a:r>
              <a:rPr lang="en-US" altLang="ko-KR" dirty="0" smtClean="0"/>
              <a:t>Demand highly elastic when price elasticity of demand has large absolute value</a:t>
            </a:r>
          </a:p>
          <a:p>
            <a:pPr eaLnBrk="1" hangingPunct="1"/>
            <a:endParaRPr lang="en-US" altLang="ko-KR" dirty="0" smtClean="0"/>
          </a:p>
          <a:p>
            <a:pPr eaLnBrk="1" hangingPunct="1"/>
            <a:r>
              <a:rPr lang="en-US" altLang="ko-KR" dirty="0" smtClean="0"/>
              <a:t>Why one good is more elastic?</a:t>
            </a:r>
          </a:p>
          <a:p>
            <a:pPr lvl="1" eaLnBrk="1" hangingPunct="1"/>
            <a:r>
              <a:rPr lang="en-US" altLang="ko-KR" dirty="0" smtClean="0"/>
              <a:t>Availability of substitutes</a:t>
            </a:r>
          </a:p>
          <a:p>
            <a:pPr eaLnBrk="1" hangingPunct="1">
              <a:buFont typeface="Arial" pitchFamily="34" charset="0"/>
              <a:buNone/>
            </a:pPr>
            <a:endParaRPr lang="en-US" altLang="ko-KR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127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The Elasticity of Demand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idx="1"/>
          </p:nvPr>
        </p:nvSpPr>
        <p:spPr>
          <a:xfrm>
            <a:off x="228600" y="1417638"/>
            <a:ext cx="8839200" cy="4678362"/>
          </a:xfrm>
          <a:noFill/>
        </p:spPr>
        <p:txBody>
          <a:bodyPr/>
          <a:lstStyle/>
          <a:p>
            <a:pPr algn="just" eaLnBrk="1" hangingPunct="1">
              <a:buClr>
                <a:schemeClr val="tx1"/>
              </a:buClr>
            </a:pPr>
            <a:r>
              <a:rPr lang="en-US" i="1" dirty="0" smtClean="0">
                <a:solidFill>
                  <a:srgbClr val="25A9A6"/>
                </a:solidFill>
              </a:rPr>
              <a:t>Price elasticity of demand</a:t>
            </a:r>
            <a:r>
              <a:rPr lang="en-US" dirty="0" smtClean="0"/>
              <a:t> is a measure of how much the quantity demanded of a good responds to a change in the price of that good.</a:t>
            </a:r>
          </a:p>
          <a:p>
            <a:pPr algn="just" eaLnBrk="1" hangingPunct="1"/>
            <a:r>
              <a:rPr lang="en-US" dirty="0" smtClean="0"/>
              <a:t>It is the </a:t>
            </a:r>
            <a:r>
              <a:rPr lang="en-US" i="1" dirty="0" smtClean="0"/>
              <a:t>percentage increase in quantity demanded</a:t>
            </a:r>
            <a:r>
              <a:rPr lang="en-US" dirty="0" smtClean="0"/>
              <a:t> </a:t>
            </a:r>
            <a:r>
              <a:rPr lang="en-US" i="1" dirty="0" smtClean="0"/>
              <a:t>when there is a one percent increase in the price</a:t>
            </a:r>
            <a:r>
              <a:rPr lang="en-US" dirty="0" smtClean="0"/>
              <a:t> </a:t>
            </a:r>
          </a:p>
          <a:p>
            <a:pPr lvl="1" eaLnBrk="1" hangingPunct="1"/>
            <a:r>
              <a:rPr lang="en-US" dirty="0" smtClean="0"/>
              <a:t>and all other factors that also affect the quantity demanded remain unchanged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397160"/>
              </p:ext>
            </p:extLst>
          </p:nvPr>
        </p:nvGraphicFramePr>
        <p:xfrm>
          <a:off x="1028700" y="4495800"/>
          <a:ext cx="77152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Equation" r:id="rId3" imgW="4038480" imgH="419040" progId="Equation.3">
                  <p:embed/>
                </p:oleObj>
              </mc:Choice>
              <mc:Fallback>
                <p:oleObj name="Equation" r:id="rId3" imgW="40384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4495800"/>
                        <a:ext cx="7715250" cy="800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446022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dirty="0" smtClean="0"/>
              <a:t>More about Price Elasticity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1676400"/>
          <a:ext cx="8153400" cy="4023360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Elasticity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Demand is considered…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If P increases, then total expenditure...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= 0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perfectly inelastic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Qd completely insensitive to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in P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increases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&lt; e &lt; 1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Relatively inelastic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Qd highly insensitive to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in P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increases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= 1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unit elastic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%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in Qd exactly the same as the %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in P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does not change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&lt; e &lt;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¥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Relatively elastic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Qd highly sensitive to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in P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decreases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=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¥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perfectly elastic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Qd extremely sensitive to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in P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decreases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64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091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 rot="-21600000">
            <a:off x="6564313" y="6680200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charset="0"/>
              </a:rPr>
              <a:t>Copyright©2003  Southwestern/Thomson Learning</a:t>
            </a:r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097" name="Rectangle 9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098" name="Rectangle 10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100" name="Rectangle 12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102" name="Rectangle 14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103" name="Rectangle 15"/>
          <p:cNvSpPr>
            <a:spLocks noChangeArrowheads="1"/>
          </p:cNvSpPr>
          <p:nvPr/>
        </p:nvSpPr>
        <p:spPr bwMode="auto">
          <a:xfrm>
            <a:off x="2147888" y="2143125"/>
            <a:ext cx="5862637" cy="3300413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9104" name="Rectangle 16"/>
          <p:cNvSpPr>
            <a:spLocks noChangeArrowheads="1"/>
          </p:cNvSpPr>
          <p:nvPr/>
        </p:nvSpPr>
        <p:spPr bwMode="auto">
          <a:xfrm>
            <a:off x="2028825" y="2044700"/>
            <a:ext cx="5862638" cy="3300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05" name="Freeform 17"/>
          <p:cNvSpPr>
            <a:spLocks/>
          </p:cNvSpPr>
          <p:nvPr/>
        </p:nvSpPr>
        <p:spPr bwMode="auto">
          <a:xfrm>
            <a:off x="2028825" y="2044700"/>
            <a:ext cx="5862638" cy="3300413"/>
          </a:xfrm>
          <a:custGeom>
            <a:avLst/>
            <a:gdLst>
              <a:gd name="T0" fmla="*/ 0 w 3693"/>
              <a:gd name="T1" fmla="*/ 0 h 2079"/>
              <a:gd name="T2" fmla="*/ 0 w 3693"/>
              <a:gd name="T3" fmla="*/ 2079 h 2079"/>
              <a:gd name="T4" fmla="*/ 3693 w 3693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3" h="2079">
                <a:moveTo>
                  <a:pt x="0" y="0"/>
                </a:moveTo>
                <a:lnTo>
                  <a:pt x="0" y="2079"/>
                </a:lnTo>
                <a:lnTo>
                  <a:pt x="3693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06" name="Line 18"/>
          <p:cNvSpPr>
            <a:spLocks noChangeShapeType="1"/>
          </p:cNvSpPr>
          <p:nvPr/>
        </p:nvSpPr>
        <p:spPr bwMode="auto">
          <a:xfrm>
            <a:off x="1862138" y="3246438"/>
            <a:ext cx="1587" cy="249237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07" name="Rectangle 19"/>
          <p:cNvSpPr>
            <a:spLocks noChangeArrowheads="1"/>
          </p:cNvSpPr>
          <p:nvPr/>
        </p:nvSpPr>
        <p:spPr bwMode="auto">
          <a:xfrm>
            <a:off x="1968500" y="1571625"/>
            <a:ext cx="6227763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(a) Perfectly Inelastic Demand: Elasticity Equals 0</a:t>
            </a:r>
            <a:endParaRPr lang="en-US"/>
          </a:p>
        </p:txBody>
      </p:sp>
      <p:grpSp>
        <p:nvGrpSpPr>
          <p:cNvPr id="89108" name="Group 20"/>
          <p:cNvGrpSpPr>
            <a:grpSpLocks/>
          </p:cNvGrpSpPr>
          <p:nvPr/>
        </p:nvGrpSpPr>
        <p:grpSpPr bwMode="auto">
          <a:xfrm>
            <a:off x="1666875" y="3008313"/>
            <a:ext cx="3698875" cy="258762"/>
            <a:chOff x="1050" y="1895"/>
            <a:chExt cx="2330" cy="163"/>
          </a:xfrm>
        </p:grpSpPr>
        <p:sp>
          <p:nvSpPr>
            <p:cNvPr id="89109" name="Line 21"/>
            <p:cNvSpPr>
              <a:spLocks noChangeShapeType="1"/>
            </p:cNvSpPr>
            <p:nvPr/>
          </p:nvSpPr>
          <p:spPr bwMode="auto">
            <a:xfrm flipH="1">
              <a:off x="1278" y="1956"/>
              <a:ext cx="2102" cy="1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10" name="Rectangle 22"/>
            <p:cNvSpPr>
              <a:spLocks noChangeArrowheads="1"/>
            </p:cNvSpPr>
            <p:nvPr/>
          </p:nvSpPr>
          <p:spPr bwMode="auto">
            <a:xfrm>
              <a:off x="1050" y="1895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</p:grpSp>
      <p:grpSp>
        <p:nvGrpSpPr>
          <p:cNvPr id="89111" name="Group 23"/>
          <p:cNvGrpSpPr>
            <a:grpSpLocks/>
          </p:cNvGrpSpPr>
          <p:nvPr/>
        </p:nvGrpSpPr>
        <p:grpSpPr bwMode="auto">
          <a:xfrm>
            <a:off x="1787525" y="3444875"/>
            <a:ext cx="3578225" cy="258763"/>
            <a:chOff x="1126" y="2170"/>
            <a:chExt cx="2254" cy="163"/>
          </a:xfrm>
        </p:grpSpPr>
        <p:sp>
          <p:nvSpPr>
            <p:cNvPr id="89112" name="Line 24"/>
            <p:cNvSpPr>
              <a:spLocks noChangeShapeType="1"/>
            </p:cNvSpPr>
            <p:nvPr/>
          </p:nvSpPr>
          <p:spPr bwMode="auto">
            <a:xfrm flipH="1">
              <a:off x="1278" y="2241"/>
              <a:ext cx="2102" cy="1"/>
            </a:xfrm>
            <a:prstGeom prst="line">
              <a:avLst/>
            </a:prstGeom>
            <a:noFill/>
            <a:ln w="23813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113" name="Rectangle 25"/>
            <p:cNvSpPr>
              <a:spLocks noChangeArrowheads="1"/>
            </p:cNvSpPr>
            <p:nvPr/>
          </p:nvSpPr>
          <p:spPr bwMode="auto">
            <a:xfrm>
              <a:off x="1126" y="2170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/>
            </a:p>
          </p:txBody>
        </p:sp>
      </p:grpSp>
      <p:sp>
        <p:nvSpPr>
          <p:cNvPr id="89114" name="Rectangle 26"/>
          <p:cNvSpPr>
            <a:spLocks noChangeArrowheads="1"/>
          </p:cNvSpPr>
          <p:nvPr/>
        </p:nvSpPr>
        <p:spPr bwMode="auto">
          <a:xfrm>
            <a:off x="6961188" y="5391150"/>
            <a:ext cx="8763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grpSp>
        <p:nvGrpSpPr>
          <p:cNvPr id="89115" name="Group 27"/>
          <p:cNvGrpSpPr>
            <a:grpSpLocks/>
          </p:cNvGrpSpPr>
          <p:nvPr/>
        </p:nvGrpSpPr>
        <p:grpSpPr bwMode="auto">
          <a:xfrm>
            <a:off x="5180013" y="2295525"/>
            <a:ext cx="1370012" cy="3360738"/>
            <a:chOff x="3263" y="1446"/>
            <a:chExt cx="863" cy="2117"/>
          </a:xfrm>
        </p:grpSpPr>
        <p:grpSp>
          <p:nvGrpSpPr>
            <p:cNvPr id="89116" name="Group 28"/>
            <p:cNvGrpSpPr>
              <a:grpSpLocks/>
            </p:cNvGrpSpPr>
            <p:nvPr/>
          </p:nvGrpSpPr>
          <p:grpSpPr bwMode="auto">
            <a:xfrm>
              <a:off x="3380" y="1446"/>
              <a:ext cx="746" cy="1921"/>
              <a:chOff x="3380" y="1446"/>
              <a:chExt cx="746" cy="1921"/>
            </a:xfrm>
          </p:grpSpPr>
          <p:sp>
            <p:nvSpPr>
              <p:cNvPr id="89117" name="Line 29"/>
              <p:cNvSpPr>
                <a:spLocks noChangeShapeType="1"/>
              </p:cNvSpPr>
              <p:nvPr/>
            </p:nvSpPr>
            <p:spPr bwMode="auto">
              <a:xfrm flipV="1">
                <a:off x="3380" y="1498"/>
                <a:ext cx="1" cy="1869"/>
              </a:xfrm>
              <a:prstGeom prst="line">
                <a:avLst/>
              </a:prstGeom>
              <a:noFill/>
              <a:ln w="71438">
                <a:solidFill>
                  <a:srgbClr val="004C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18" name="Rectangle 30"/>
              <p:cNvSpPr>
                <a:spLocks noChangeArrowheads="1"/>
              </p:cNvSpPr>
              <p:nvPr/>
            </p:nvSpPr>
            <p:spPr bwMode="auto">
              <a:xfrm>
                <a:off x="3447" y="1446"/>
                <a:ext cx="679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Demand</a:t>
                </a:r>
                <a:endParaRPr lang="en-US"/>
              </a:p>
            </p:txBody>
          </p:sp>
        </p:grpSp>
        <p:sp>
          <p:nvSpPr>
            <p:cNvPr id="89119" name="Rectangle 31"/>
            <p:cNvSpPr>
              <a:spLocks noChangeArrowheads="1"/>
            </p:cNvSpPr>
            <p:nvPr/>
          </p:nvSpPr>
          <p:spPr bwMode="auto">
            <a:xfrm>
              <a:off x="3263" y="3400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</p:grpSp>
      <p:sp>
        <p:nvSpPr>
          <p:cNvPr id="89120" name="Rectangle 32"/>
          <p:cNvSpPr>
            <a:spLocks noChangeArrowheads="1"/>
          </p:cNvSpPr>
          <p:nvPr/>
        </p:nvSpPr>
        <p:spPr bwMode="auto">
          <a:xfrm>
            <a:off x="1966913" y="5397500"/>
            <a:ext cx="1206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grpSp>
        <p:nvGrpSpPr>
          <p:cNvPr id="89121" name="Group 33"/>
          <p:cNvGrpSpPr>
            <a:grpSpLocks/>
          </p:cNvGrpSpPr>
          <p:nvPr/>
        </p:nvGrpSpPr>
        <p:grpSpPr bwMode="auto">
          <a:xfrm>
            <a:off x="528638" y="3400425"/>
            <a:ext cx="1404937" cy="1217613"/>
            <a:chOff x="333" y="2142"/>
            <a:chExt cx="885" cy="767"/>
          </a:xfrm>
        </p:grpSpPr>
        <p:sp>
          <p:nvSpPr>
            <p:cNvPr id="89122" name="Line 34"/>
            <p:cNvSpPr>
              <a:spLocks noChangeShapeType="1"/>
            </p:cNvSpPr>
            <p:nvPr/>
          </p:nvSpPr>
          <p:spPr bwMode="auto">
            <a:xfrm flipV="1">
              <a:off x="813" y="2142"/>
              <a:ext cx="300" cy="29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9123" name="Group 35"/>
            <p:cNvGrpSpPr>
              <a:grpSpLocks/>
            </p:cNvGrpSpPr>
            <p:nvPr/>
          </p:nvGrpSpPr>
          <p:grpSpPr bwMode="auto">
            <a:xfrm>
              <a:off x="333" y="2389"/>
              <a:ext cx="885" cy="520"/>
              <a:chOff x="333" y="2389"/>
              <a:chExt cx="885" cy="520"/>
            </a:xfrm>
          </p:grpSpPr>
          <p:sp>
            <p:nvSpPr>
              <p:cNvPr id="89124" name="Rectangle 36"/>
              <p:cNvSpPr>
                <a:spLocks noChangeArrowheads="1"/>
              </p:cNvSpPr>
              <p:nvPr/>
            </p:nvSpPr>
            <p:spPr bwMode="auto">
              <a:xfrm>
                <a:off x="333" y="2389"/>
                <a:ext cx="885" cy="52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25" name="Rectangle 37"/>
              <p:cNvSpPr>
                <a:spLocks noChangeArrowheads="1"/>
              </p:cNvSpPr>
              <p:nvPr/>
            </p:nvSpPr>
            <p:spPr bwMode="auto">
              <a:xfrm>
                <a:off x="402" y="2393"/>
                <a:ext cx="319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An</a:t>
                </a:r>
                <a:endParaRPr lang="en-US"/>
              </a:p>
            </p:txBody>
          </p:sp>
          <p:sp>
            <p:nvSpPr>
              <p:cNvPr id="89126" name="Rectangle 38"/>
              <p:cNvSpPr>
                <a:spLocks noChangeArrowheads="1"/>
              </p:cNvSpPr>
              <p:nvPr/>
            </p:nvSpPr>
            <p:spPr bwMode="auto">
              <a:xfrm>
                <a:off x="402" y="2557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increase</a:t>
                </a:r>
                <a:endParaRPr lang="en-US"/>
              </a:p>
            </p:txBody>
          </p:sp>
          <p:sp>
            <p:nvSpPr>
              <p:cNvPr id="89127" name="Rectangle 39"/>
              <p:cNvSpPr>
                <a:spLocks noChangeArrowheads="1"/>
              </p:cNvSpPr>
              <p:nvPr/>
            </p:nvSpPr>
            <p:spPr bwMode="auto">
              <a:xfrm>
                <a:off x="402" y="2722"/>
                <a:ext cx="66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 price . . .</a:t>
                </a:r>
                <a:endParaRPr lang="en-US"/>
              </a:p>
            </p:txBody>
          </p:sp>
        </p:grpSp>
      </p:grpSp>
      <p:grpSp>
        <p:nvGrpSpPr>
          <p:cNvPr id="89128" name="Group 40"/>
          <p:cNvGrpSpPr>
            <a:grpSpLocks/>
          </p:cNvGrpSpPr>
          <p:nvPr/>
        </p:nvGrpSpPr>
        <p:grpSpPr bwMode="auto">
          <a:xfrm>
            <a:off x="2411413" y="5640388"/>
            <a:ext cx="4845050" cy="509587"/>
            <a:chOff x="1519" y="3553"/>
            <a:chExt cx="3052" cy="321"/>
          </a:xfrm>
        </p:grpSpPr>
        <p:sp>
          <p:nvSpPr>
            <p:cNvPr id="89129" name="Line 41"/>
            <p:cNvSpPr>
              <a:spLocks noChangeShapeType="1"/>
            </p:cNvSpPr>
            <p:nvPr/>
          </p:nvSpPr>
          <p:spPr bwMode="auto">
            <a:xfrm flipH="1">
              <a:off x="3335" y="3553"/>
              <a:ext cx="75" cy="1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9130" name="Group 42"/>
            <p:cNvGrpSpPr>
              <a:grpSpLocks/>
            </p:cNvGrpSpPr>
            <p:nvPr/>
          </p:nvGrpSpPr>
          <p:grpSpPr bwMode="auto">
            <a:xfrm>
              <a:off x="1519" y="3676"/>
              <a:ext cx="3052" cy="198"/>
              <a:chOff x="1519" y="3676"/>
              <a:chExt cx="3052" cy="198"/>
            </a:xfrm>
          </p:grpSpPr>
          <p:sp>
            <p:nvSpPr>
              <p:cNvPr id="89131" name="Rectangle 43"/>
              <p:cNvSpPr>
                <a:spLocks noChangeArrowheads="1"/>
              </p:cNvSpPr>
              <p:nvPr/>
            </p:nvSpPr>
            <p:spPr bwMode="auto">
              <a:xfrm>
                <a:off x="1519" y="3676"/>
                <a:ext cx="3052" cy="19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32" name="Rectangle 44"/>
              <p:cNvSpPr>
                <a:spLocks noChangeArrowheads="1"/>
              </p:cNvSpPr>
              <p:nvPr/>
            </p:nvSpPr>
            <p:spPr bwMode="auto">
              <a:xfrm>
                <a:off x="1599" y="3695"/>
                <a:ext cx="2953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2. . . . leaves the quantity demanded unchanged.</a:t>
                </a:r>
                <a:endParaRPr lang="en-US"/>
              </a:p>
            </p:txBody>
          </p:sp>
        </p:grpSp>
      </p:grpSp>
      <p:sp>
        <p:nvSpPr>
          <p:cNvPr id="89133" name="Rectangle 45"/>
          <p:cNvSpPr>
            <a:spLocks noChangeArrowheads="1"/>
          </p:cNvSpPr>
          <p:nvPr/>
        </p:nvSpPr>
        <p:spPr bwMode="auto">
          <a:xfrm>
            <a:off x="1303338" y="2035175"/>
            <a:ext cx="752475" cy="29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6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067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3" name="Rectangle 9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7" name="Rectangle 13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8" name="Rectangle 14"/>
          <p:cNvSpPr>
            <a:spLocks noChangeArrowheads="1"/>
          </p:cNvSpPr>
          <p:nvPr/>
        </p:nvSpPr>
        <p:spPr bwMode="auto">
          <a:xfrm>
            <a:off x="2105025" y="2181225"/>
            <a:ext cx="5862638" cy="3300413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9" name="Rectangle 15"/>
          <p:cNvSpPr>
            <a:spLocks noChangeArrowheads="1"/>
          </p:cNvSpPr>
          <p:nvPr/>
        </p:nvSpPr>
        <p:spPr bwMode="auto">
          <a:xfrm>
            <a:off x="2009775" y="2082800"/>
            <a:ext cx="5862638" cy="33004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80" name="Freeform 16"/>
          <p:cNvSpPr>
            <a:spLocks/>
          </p:cNvSpPr>
          <p:nvPr/>
        </p:nvSpPr>
        <p:spPr bwMode="auto">
          <a:xfrm>
            <a:off x="1997075" y="2082800"/>
            <a:ext cx="5862638" cy="3300413"/>
          </a:xfrm>
          <a:custGeom>
            <a:avLst/>
            <a:gdLst>
              <a:gd name="T0" fmla="*/ 0 w 3693"/>
              <a:gd name="T1" fmla="*/ 0 h 2079"/>
              <a:gd name="T2" fmla="*/ 0 w 3693"/>
              <a:gd name="T3" fmla="*/ 2079 h 2079"/>
              <a:gd name="T4" fmla="*/ 3693 w 3693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3" h="2079">
                <a:moveTo>
                  <a:pt x="0" y="0"/>
                </a:moveTo>
                <a:lnTo>
                  <a:pt x="0" y="2079"/>
                </a:lnTo>
                <a:lnTo>
                  <a:pt x="3693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81" name="Line 17"/>
          <p:cNvSpPr>
            <a:spLocks noChangeShapeType="1"/>
          </p:cNvSpPr>
          <p:nvPr/>
        </p:nvSpPr>
        <p:spPr bwMode="auto">
          <a:xfrm>
            <a:off x="1819275" y="3290888"/>
            <a:ext cx="1588" cy="242887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82" name="Line 18"/>
          <p:cNvSpPr>
            <a:spLocks noChangeShapeType="1"/>
          </p:cNvSpPr>
          <p:nvPr/>
        </p:nvSpPr>
        <p:spPr bwMode="auto">
          <a:xfrm>
            <a:off x="5043488" y="5578475"/>
            <a:ext cx="217487" cy="3175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83" name="Rectangle 19"/>
          <p:cNvSpPr>
            <a:spLocks noChangeArrowheads="1"/>
          </p:cNvSpPr>
          <p:nvPr/>
        </p:nvSpPr>
        <p:spPr bwMode="auto">
          <a:xfrm>
            <a:off x="2130425" y="1609725"/>
            <a:ext cx="47498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(b) Inelastic Demand: Elasticity Is Less Than 1</a:t>
            </a:r>
            <a:endParaRPr lang="en-US"/>
          </a:p>
        </p:txBody>
      </p:sp>
      <p:sp>
        <p:nvSpPr>
          <p:cNvPr id="88084" name="Rectangle 20"/>
          <p:cNvSpPr>
            <a:spLocks noChangeArrowheads="1"/>
          </p:cNvSpPr>
          <p:nvPr/>
        </p:nvSpPr>
        <p:spPr bwMode="auto">
          <a:xfrm>
            <a:off x="6991350" y="5459413"/>
            <a:ext cx="8763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88085" name="Rectangle 21"/>
          <p:cNvSpPr>
            <a:spLocks noChangeArrowheads="1"/>
          </p:cNvSpPr>
          <p:nvPr/>
        </p:nvSpPr>
        <p:spPr bwMode="auto">
          <a:xfrm>
            <a:off x="1939925" y="5465763"/>
            <a:ext cx="1206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grpSp>
        <p:nvGrpSpPr>
          <p:cNvPr id="88086" name="Group 22"/>
          <p:cNvGrpSpPr>
            <a:grpSpLocks/>
          </p:cNvGrpSpPr>
          <p:nvPr/>
        </p:nvGrpSpPr>
        <p:grpSpPr bwMode="auto">
          <a:xfrm>
            <a:off x="1620838" y="3044825"/>
            <a:ext cx="3392487" cy="2679700"/>
            <a:chOff x="1021" y="1918"/>
            <a:chExt cx="2137" cy="1688"/>
          </a:xfrm>
        </p:grpSpPr>
        <p:sp>
          <p:nvSpPr>
            <p:cNvPr id="88087" name="Freeform 23"/>
            <p:cNvSpPr>
              <a:spLocks/>
            </p:cNvSpPr>
            <p:nvPr/>
          </p:nvSpPr>
          <p:spPr bwMode="auto">
            <a:xfrm>
              <a:off x="1266" y="1980"/>
              <a:ext cx="1892" cy="1411"/>
            </a:xfrm>
            <a:custGeom>
              <a:avLst/>
              <a:gdLst>
                <a:gd name="T0" fmla="*/ 1892 w 1892"/>
                <a:gd name="T1" fmla="*/ 1411 h 1411"/>
                <a:gd name="T2" fmla="*/ 1892 w 1892"/>
                <a:gd name="T3" fmla="*/ 0 h 1411"/>
                <a:gd name="T4" fmla="*/ 0 w 1892"/>
                <a:gd name="T5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92" h="1411">
                  <a:moveTo>
                    <a:pt x="1892" y="1411"/>
                  </a:moveTo>
                  <a:lnTo>
                    <a:pt x="1892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88" name="Rectangle 24"/>
            <p:cNvSpPr>
              <a:spLocks noChangeArrowheads="1"/>
            </p:cNvSpPr>
            <p:nvPr/>
          </p:nvSpPr>
          <p:spPr bwMode="auto">
            <a:xfrm>
              <a:off x="1021" y="1918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  <p:sp>
          <p:nvSpPr>
            <p:cNvPr id="88089" name="Rectangle 25"/>
            <p:cNvSpPr>
              <a:spLocks noChangeArrowheads="1"/>
            </p:cNvSpPr>
            <p:nvPr/>
          </p:nvSpPr>
          <p:spPr bwMode="auto">
            <a:xfrm>
              <a:off x="2989" y="3443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90</a:t>
              </a:r>
              <a:endParaRPr lang="en-US"/>
            </a:p>
          </p:txBody>
        </p:sp>
      </p:grpSp>
      <p:grpSp>
        <p:nvGrpSpPr>
          <p:cNvPr id="88090" name="Group 26"/>
          <p:cNvGrpSpPr>
            <a:grpSpLocks/>
          </p:cNvGrpSpPr>
          <p:nvPr/>
        </p:nvGrpSpPr>
        <p:grpSpPr bwMode="auto">
          <a:xfrm>
            <a:off x="4725988" y="2416175"/>
            <a:ext cx="2238375" cy="1743075"/>
            <a:chOff x="2977" y="1522"/>
            <a:chExt cx="1410" cy="1098"/>
          </a:xfrm>
        </p:grpSpPr>
        <p:sp>
          <p:nvSpPr>
            <p:cNvPr id="88091" name="Freeform 27"/>
            <p:cNvSpPr>
              <a:spLocks/>
            </p:cNvSpPr>
            <p:nvPr/>
          </p:nvSpPr>
          <p:spPr bwMode="auto">
            <a:xfrm>
              <a:off x="2977" y="1522"/>
              <a:ext cx="856" cy="990"/>
            </a:xfrm>
            <a:custGeom>
              <a:avLst/>
              <a:gdLst>
                <a:gd name="T0" fmla="*/ 0 w 57"/>
                <a:gd name="T1" fmla="*/ 0 h 80"/>
                <a:gd name="T2" fmla="*/ 57 w 57"/>
                <a:gd name="T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" h="80">
                  <a:moveTo>
                    <a:pt x="0" y="0"/>
                  </a:moveTo>
                  <a:cubicBezTo>
                    <a:pt x="10" y="33"/>
                    <a:pt x="14" y="64"/>
                    <a:pt x="57" y="80"/>
                  </a:cubicBezTo>
                </a:path>
              </a:pathLst>
            </a:custGeom>
            <a:noFill/>
            <a:ln w="71438">
              <a:solidFill>
                <a:srgbClr val="004C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92" name="Rectangle 28"/>
            <p:cNvSpPr>
              <a:spLocks noChangeArrowheads="1"/>
            </p:cNvSpPr>
            <p:nvPr/>
          </p:nvSpPr>
          <p:spPr bwMode="auto">
            <a:xfrm>
              <a:off x="3872" y="2457"/>
              <a:ext cx="51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Demand</a:t>
              </a:r>
              <a:endParaRPr lang="en-US"/>
            </a:p>
          </p:txBody>
        </p:sp>
      </p:grpSp>
      <p:grpSp>
        <p:nvGrpSpPr>
          <p:cNvPr id="88093" name="Group 29"/>
          <p:cNvGrpSpPr>
            <a:grpSpLocks/>
          </p:cNvGrpSpPr>
          <p:nvPr/>
        </p:nvGrpSpPr>
        <p:grpSpPr bwMode="auto">
          <a:xfrm>
            <a:off x="461963" y="3438525"/>
            <a:ext cx="1404937" cy="1217613"/>
            <a:chOff x="291" y="2166"/>
            <a:chExt cx="885" cy="767"/>
          </a:xfrm>
        </p:grpSpPr>
        <p:sp>
          <p:nvSpPr>
            <p:cNvPr id="88094" name="Line 30"/>
            <p:cNvSpPr>
              <a:spLocks noChangeShapeType="1"/>
            </p:cNvSpPr>
            <p:nvPr/>
          </p:nvSpPr>
          <p:spPr bwMode="auto">
            <a:xfrm flipV="1">
              <a:off x="726" y="2166"/>
              <a:ext cx="360" cy="272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8095" name="Group 31"/>
            <p:cNvGrpSpPr>
              <a:grpSpLocks/>
            </p:cNvGrpSpPr>
            <p:nvPr/>
          </p:nvGrpSpPr>
          <p:grpSpPr bwMode="auto">
            <a:xfrm>
              <a:off x="291" y="2413"/>
              <a:ext cx="885" cy="520"/>
              <a:chOff x="291" y="2413"/>
              <a:chExt cx="885" cy="520"/>
            </a:xfrm>
          </p:grpSpPr>
          <p:sp>
            <p:nvSpPr>
              <p:cNvPr id="88096" name="Rectangle 32"/>
              <p:cNvSpPr>
                <a:spLocks noChangeArrowheads="1"/>
              </p:cNvSpPr>
              <p:nvPr/>
            </p:nvSpPr>
            <p:spPr bwMode="auto">
              <a:xfrm>
                <a:off x="291" y="2413"/>
                <a:ext cx="885" cy="52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97" name="Rectangle 33"/>
              <p:cNvSpPr>
                <a:spLocks noChangeArrowheads="1"/>
              </p:cNvSpPr>
              <p:nvPr/>
            </p:nvSpPr>
            <p:spPr bwMode="auto">
              <a:xfrm>
                <a:off x="353" y="2429"/>
                <a:ext cx="554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 22%</a:t>
                </a:r>
                <a:endParaRPr lang="en-US"/>
              </a:p>
            </p:txBody>
          </p:sp>
          <p:sp>
            <p:nvSpPr>
              <p:cNvPr id="88098" name="Rectangle 34"/>
              <p:cNvSpPr>
                <a:spLocks noChangeArrowheads="1"/>
              </p:cNvSpPr>
              <p:nvPr/>
            </p:nvSpPr>
            <p:spPr bwMode="auto">
              <a:xfrm>
                <a:off x="353" y="2593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increase</a:t>
                </a:r>
                <a:endParaRPr lang="en-US"/>
              </a:p>
            </p:txBody>
          </p:sp>
          <p:sp>
            <p:nvSpPr>
              <p:cNvPr id="88099" name="Rectangle 35"/>
              <p:cNvSpPr>
                <a:spLocks noChangeArrowheads="1"/>
              </p:cNvSpPr>
              <p:nvPr/>
            </p:nvSpPr>
            <p:spPr bwMode="auto">
              <a:xfrm>
                <a:off x="353" y="2758"/>
                <a:ext cx="66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 price . . .</a:t>
                </a:r>
                <a:endParaRPr lang="en-US"/>
              </a:p>
            </p:txBody>
          </p:sp>
        </p:grpSp>
      </p:grpSp>
      <p:sp>
        <p:nvSpPr>
          <p:cNvPr id="88100" name="Rectangle 36"/>
          <p:cNvSpPr>
            <a:spLocks noChangeArrowheads="1"/>
          </p:cNvSpPr>
          <p:nvPr/>
        </p:nvSpPr>
        <p:spPr bwMode="auto">
          <a:xfrm>
            <a:off x="1331913" y="2073275"/>
            <a:ext cx="5302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8101" name="Group 37"/>
          <p:cNvGrpSpPr>
            <a:grpSpLocks/>
          </p:cNvGrpSpPr>
          <p:nvPr/>
        </p:nvGrpSpPr>
        <p:grpSpPr bwMode="auto">
          <a:xfrm>
            <a:off x="1724025" y="5657850"/>
            <a:ext cx="5418138" cy="530225"/>
            <a:chOff x="1086" y="3564"/>
            <a:chExt cx="3413" cy="334"/>
          </a:xfrm>
        </p:grpSpPr>
        <p:sp>
          <p:nvSpPr>
            <p:cNvPr id="88102" name="Line 38"/>
            <p:cNvSpPr>
              <a:spLocks noChangeShapeType="1"/>
            </p:cNvSpPr>
            <p:nvPr/>
          </p:nvSpPr>
          <p:spPr bwMode="auto">
            <a:xfrm flipH="1">
              <a:off x="3158" y="3564"/>
              <a:ext cx="135" cy="16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8103" name="Group 39"/>
            <p:cNvGrpSpPr>
              <a:grpSpLocks/>
            </p:cNvGrpSpPr>
            <p:nvPr/>
          </p:nvGrpSpPr>
          <p:grpSpPr bwMode="auto">
            <a:xfrm>
              <a:off x="1086" y="3700"/>
              <a:ext cx="3413" cy="198"/>
              <a:chOff x="1086" y="3700"/>
              <a:chExt cx="3413" cy="198"/>
            </a:xfrm>
          </p:grpSpPr>
          <p:sp>
            <p:nvSpPr>
              <p:cNvPr id="88104" name="Rectangle 40"/>
              <p:cNvSpPr>
                <a:spLocks noChangeArrowheads="1"/>
              </p:cNvSpPr>
              <p:nvPr/>
            </p:nvSpPr>
            <p:spPr bwMode="auto">
              <a:xfrm>
                <a:off x="1086" y="3700"/>
                <a:ext cx="3413" cy="19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05" name="Rectangle 41"/>
              <p:cNvSpPr>
                <a:spLocks noChangeArrowheads="1"/>
              </p:cNvSpPr>
              <p:nvPr/>
            </p:nvSpPr>
            <p:spPr bwMode="auto">
              <a:xfrm>
                <a:off x="1132" y="3715"/>
                <a:ext cx="3339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2. . . . leads to an 11% decrease in quantity demanded.</a:t>
                </a:r>
                <a:endParaRPr lang="en-US"/>
              </a:p>
            </p:txBody>
          </p:sp>
        </p:grpSp>
      </p:grpSp>
      <p:grpSp>
        <p:nvGrpSpPr>
          <p:cNvPr id="88106" name="Group 42"/>
          <p:cNvGrpSpPr>
            <a:grpSpLocks/>
          </p:cNvGrpSpPr>
          <p:nvPr/>
        </p:nvGrpSpPr>
        <p:grpSpPr bwMode="auto">
          <a:xfrm>
            <a:off x="1741488" y="3508375"/>
            <a:ext cx="3903662" cy="2216150"/>
            <a:chOff x="1097" y="2210"/>
            <a:chExt cx="2459" cy="1396"/>
          </a:xfrm>
        </p:grpSpPr>
        <p:sp>
          <p:nvSpPr>
            <p:cNvPr id="88107" name="Freeform 43"/>
            <p:cNvSpPr>
              <a:spLocks/>
            </p:cNvSpPr>
            <p:nvPr/>
          </p:nvSpPr>
          <p:spPr bwMode="auto">
            <a:xfrm>
              <a:off x="1266" y="2265"/>
              <a:ext cx="2102" cy="1126"/>
            </a:xfrm>
            <a:custGeom>
              <a:avLst/>
              <a:gdLst>
                <a:gd name="T0" fmla="*/ 2102 w 2102"/>
                <a:gd name="T1" fmla="*/ 1126 h 1126"/>
                <a:gd name="T2" fmla="*/ 2102 w 2102"/>
                <a:gd name="T3" fmla="*/ 0 h 1126"/>
                <a:gd name="T4" fmla="*/ 0 w 2102"/>
                <a:gd name="T5" fmla="*/ 0 h 1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2" h="1126">
                  <a:moveTo>
                    <a:pt x="2102" y="1126"/>
                  </a:moveTo>
                  <a:lnTo>
                    <a:pt x="2102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108" name="Rectangle 44"/>
            <p:cNvSpPr>
              <a:spLocks noChangeArrowheads="1"/>
            </p:cNvSpPr>
            <p:nvPr/>
          </p:nvSpPr>
          <p:spPr bwMode="auto">
            <a:xfrm>
              <a:off x="1097" y="2210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88109" name="Rectangle 45"/>
            <p:cNvSpPr>
              <a:spLocks noChangeArrowheads="1"/>
            </p:cNvSpPr>
            <p:nvPr/>
          </p:nvSpPr>
          <p:spPr bwMode="auto">
            <a:xfrm>
              <a:off x="3328" y="3443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552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8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8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8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8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8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81" grpId="0" animBg="1"/>
      <p:bldP spid="8808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043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54" name="Rectangle 14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55" name="Rectangle 15"/>
          <p:cNvSpPr>
            <a:spLocks noChangeArrowheads="1"/>
          </p:cNvSpPr>
          <p:nvPr/>
        </p:nvSpPr>
        <p:spPr bwMode="auto">
          <a:xfrm>
            <a:off x="2322513" y="2119313"/>
            <a:ext cx="5861050" cy="3300412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2203450" y="2020888"/>
            <a:ext cx="5861050" cy="3300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57" name="Freeform 17"/>
          <p:cNvSpPr>
            <a:spLocks/>
          </p:cNvSpPr>
          <p:nvPr/>
        </p:nvSpPr>
        <p:spPr bwMode="auto">
          <a:xfrm>
            <a:off x="2203450" y="2020888"/>
            <a:ext cx="5861050" cy="3300412"/>
          </a:xfrm>
          <a:custGeom>
            <a:avLst/>
            <a:gdLst>
              <a:gd name="T0" fmla="*/ 0 w 3692"/>
              <a:gd name="T1" fmla="*/ 0 h 2079"/>
              <a:gd name="T2" fmla="*/ 0 w 3692"/>
              <a:gd name="T3" fmla="*/ 2079 h 2079"/>
              <a:gd name="T4" fmla="*/ 3692 w 3692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2" h="2079">
                <a:moveTo>
                  <a:pt x="0" y="0"/>
                </a:moveTo>
                <a:lnTo>
                  <a:pt x="0" y="2079"/>
                </a:lnTo>
                <a:lnTo>
                  <a:pt x="3692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58" name="Line 18"/>
          <p:cNvSpPr>
            <a:spLocks noChangeShapeType="1"/>
          </p:cNvSpPr>
          <p:nvPr/>
        </p:nvSpPr>
        <p:spPr bwMode="auto">
          <a:xfrm>
            <a:off x="2012950" y="3217863"/>
            <a:ext cx="1588" cy="236537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59" name="Line 19"/>
          <p:cNvSpPr>
            <a:spLocks noChangeShapeType="1"/>
          </p:cNvSpPr>
          <p:nvPr/>
        </p:nvSpPr>
        <p:spPr bwMode="auto">
          <a:xfrm>
            <a:off x="5003800" y="5518150"/>
            <a:ext cx="282575" cy="1588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7060" name="Group 20"/>
          <p:cNvGrpSpPr>
            <a:grpSpLocks/>
          </p:cNvGrpSpPr>
          <p:nvPr/>
        </p:nvGrpSpPr>
        <p:grpSpPr bwMode="auto">
          <a:xfrm>
            <a:off x="2012950" y="5557838"/>
            <a:ext cx="5329238" cy="569912"/>
            <a:chOff x="1268" y="3501"/>
            <a:chExt cx="3357" cy="359"/>
          </a:xfrm>
        </p:grpSpPr>
        <p:sp>
          <p:nvSpPr>
            <p:cNvPr id="87061" name="Line 21"/>
            <p:cNvSpPr>
              <a:spLocks noChangeShapeType="1"/>
            </p:cNvSpPr>
            <p:nvPr/>
          </p:nvSpPr>
          <p:spPr bwMode="auto">
            <a:xfrm flipH="1">
              <a:off x="3144" y="3501"/>
              <a:ext cx="180" cy="18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7062" name="Group 22"/>
            <p:cNvGrpSpPr>
              <a:grpSpLocks/>
            </p:cNvGrpSpPr>
            <p:nvPr/>
          </p:nvGrpSpPr>
          <p:grpSpPr bwMode="auto">
            <a:xfrm>
              <a:off x="1268" y="3662"/>
              <a:ext cx="3357" cy="198"/>
              <a:chOff x="1268" y="3662"/>
              <a:chExt cx="3357" cy="198"/>
            </a:xfrm>
          </p:grpSpPr>
          <p:sp>
            <p:nvSpPr>
              <p:cNvPr id="87063" name="Rectangle 23"/>
              <p:cNvSpPr>
                <a:spLocks noChangeArrowheads="1"/>
              </p:cNvSpPr>
              <p:nvPr/>
            </p:nvSpPr>
            <p:spPr bwMode="auto">
              <a:xfrm>
                <a:off x="1268" y="3662"/>
                <a:ext cx="3357" cy="19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64" name="Rectangle 24"/>
              <p:cNvSpPr>
                <a:spLocks noChangeArrowheads="1"/>
              </p:cNvSpPr>
              <p:nvPr/>
            </p:nvSpPr>
            <p:spPr bwMode="auto">
              <a:xfrm>
                <a:off x="1285" y="3686"/>
                <a:ext cx="3263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2. . . . leads to a 22% decrease in quantity demanded.</a:t>
                </a:r>
                <a:endParaRPr lang="en-US"/>
              </a:p>
            </p:txBody>
          </p:sp>
        </p:grpSp>
      </p:grpSp>
      <p:sp>
        <p:nvSpPr>
          <p:cNvPr id="87065" name="Rectangle 25"/>
          <p:cNvSpPr>
            <a:spLocks noChangeArrowheads="1"/>
          </p:cNvSpPr>
          <p:nvPr/>
        </p:nvSpPr>
        <p:spPr bwMode="auto">
          <a:xfrm>
            <a:off x="2514600" y="1597025"/>
            <a:ext cx="444817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(c) Unit Elastic Demand: Elasticity Equals 1</a:t>
            </a:r>
            <a:endParaRPr lang="en-US"/>
          </a:p>
        </p:txBody>
      </p:sp>
      <p:sp>
        <p:nvSpPr>
          <p:cNvPr id="87066" name="Rectangle 26"/>
          <p:cNvSpPr>
            <a:spLocks noChangeArrowheads="1"/>
          </p:cNvSpPr>
          <p:nvPr/>
        </p:nvSpPr>
        <p:spPr bwMode="auto">
          <a:xfrm>
            <a:off x="7170738" y="5381625"/>
            <a:ext cx="8763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grpSp>
        <p:nvGrpSpPr>
          <p:cNvPr id="87067" name="Group 27"/>
          <p:cNvGrpSpPr>
            <a:grpSpLocks/>
          </p:cNvGrpSpPr>
          <p:nvPr/>
        </p:nvGrpSpPr>
        <p:grpSpPr bwMode="auto">
          <a:xfrm>
            <a:off x="1944688" y="3436938"/>
            <a:ext cx="3762375" cy="2209800"/>
            <a:chOff x="1225" y="2165"/>
            <a:chExt cx="2370" cy="1392"/>
          </a:xfrm>
        </p:grpSpPr>
        <p:sp>
          <p:nvSpPr>
            <p:cNvPr id="87068" name="Freeform 28"/>
            <p:cNvSpPr>
              <a:spLocks/>
            </p:cNvSpPr>
            <p:nvPr/>
          </p:nvSpPr>
          <p:spPr bwMode="auto">
            <a:xfrm>
              <a:off x="1388" y="2226"/>
              <a:ext cx="2101" cy="1126"/>
            </a:xfrm>
            <a:custGeom>
              <a:avLst/>
              <a:gdLst>
                <a:gd name="T0" fmla="*/ 2101 w 2101"/>
                <a:gd name="T1" fmla="*/ 1126 h 1126"/>
                <a:gd name="T2" fmla="*/ 2101 w 2101"/>
                <a:gd name="T3" fmla="*/ 0 h 1126"/>
                <a:gd name="T4" fmla="*/ 0 w 2101"/>
                <a:gd name="T5" fmla="*/ 0 h 1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1" h="1126">
                  <a:moveTo>
                    <a:pt x="2101" y="1126"/>
                  </a:moveTo>
                  <a:lnTo>
                    <a:pt x="2101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69" name="Rectangle 29"/>
            <p:cNvSpPr>
              <a:spLocks noChangeArrowheads="1"/>
            </p:cNvSpPr>
            <p:nvPr/>
          </p:nvSpPr>
          <p:spPr bwMode="auto">
            <a:xfrm>
              <a:off x="1225" y="2165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87070" name="Rectangle 30"/>
            <p:cNvSpPr>
              <a:spLocks noChangeArrowheads="1"/>
            </p:cNvSpPr>
            <p:nvPr/>
          </p:nvSpPr>
          <p:spPr bwMode="auto">
            <a:xfrm>
              <a:off x="3367" y="3394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</p:grpSp>
      <p:sp>
        <p:nvSpPr>
          <p:cNvPr id="87071" name="Rectangle 31"/>
          <p:cNvSpPr>
            <a:spLocks noChangeArrowheads="1"/>
          </p:cNvSpPr>
          <p:nvPr/>
        </p:nvSpPr>
        <p:spPr bwMode="auto">
          <a:xfrm>
            <a:off x="2138363" y="5387975"/>
            <a:ext cx="1206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87072" name="Rectangle 32"/>
          <p:cNvSpPr>
            <a:spLocks noChangeArrowheads="1"/>
          </p:cNvSpPr>
          <p:nvPr/>
        </p:nvSpPr>
        <p:spPr bwMode="auto">
          <a:xfrm>
            <a:off x="1535113" y="1968500"/>
            <a:ext cx="5302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7073" name="Group 33"/>
          <p:cNvGrpSpPr>
            <a:grpSpLocks/>
          </p:cNvGrpSpPr>
          <p:nvPr/>
        </p:nvGrpSpPr>
        <p:grpSpPr bwMode="auto">
          <a:xfrm>
            <a:off x="1824038" y="2973388"/>
            <a:ext cx="3143250" cy="2673350"/>
            <a:chOff x="1149" y="1873"/>
            <a:chExt cx="1980" cy="1684"/>
          </a:xfrm>
        </p:grpSpPr>
        <p:sp>
          <p:nvSpPr>
            <p:cNvPr id="87074" name="Freeform 34"/>
            <p:cNvSpPr>
              <a:spLocks/>
            </p:cNvSpPr>
            <p:nvPr/>
          </p:nvSpPr>
          <p:spPr bwMode="auto">
            <a:xfrm>
              <a:off x="1388" y="1941"/>
              <a:ext cx="1681" cy="1411"/>
            </a:xfrm>
            <a:custGeom>
              <a:avLst/>
              <a:gdLst>
                <a:gd name="T0" fmla="*/ 1681 w 1681"/>
                <a:gd name="T1" fmla="*/ 1411 h 1411"/>
                <a:gd name="T2" fmla="*/ 1681 w 1681"/>
                <a:gd name="T3" fmla="*/ 0 h 1411"/>
                <a:gd name="T4" fmla="*/ 0 w 1681"/>
                <a:gd name="T5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81" h="1411">
                  <a:moveTo>
                    <a:pt x="1681" y="1411"/>
                  </a:moveTo>
                  <a:lnTo>
                    <a:pt x="1681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75" name="Rectangle 35"/>
            <p:cNvSpPr>
              <a:spLocks noChangeArrowheads="1"/>
            </p:cNvSpPr>
            <p:nvPr/>
          </p:nvSpPr>
          <p:spPr bwMode="auto">
            <a:xfrm>
              <a:off x="1149" y="1873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  <p:sp>
          <p:nvSpPr>
            <p:cNvPr id="87076" name="Rectangle 36"/>
            <p:cNvSpPr>
              <a:spLocks noChangeArrowheads="1"/>
            </p:cNvSpPr>
            <p:nvPr/>
          </p:nvSpPr>
          <p:spPr bwMode="auto">
            <a:xfrm>
              <a:off x="2977" y="3394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80</a:t>
              </a:r>
              <a:endParaRPr lang="en-US"/>
            </a:p>
          </p:txBody>
        </p:sp>
      </p:grpSp>
      <p:grpSp>
        <p:nvGrpSpPr>
          <p:cNvPr id="87077" name="Group 37"/>
          <p:cNvGrpSpPr>
            <a:grpSpLocks/>
          </p:cNvGrpSpPr>
          <p:nvPr/>
        </p:nvGrpSpPr>
        <p:grpSpPr bwMode="auto">
          <a:xfrm>
            <a:off x="725488" y="3376613"/>
            <a:ext cx="1382712" cy="1217612"/>
            <a:chOff x="457" y="2127"/>
            <a:chExt cx="871" cy="767"/>
          </a:xfrm>
        </p:grpSpPr>
        <p:sp>
          <p:nvSpPr>
            <p:cNvPr id="87078" name="Line 38"/>
            <p:cNvSpPr>
              <a:spLocks noChangeShapeType="1"/>
            </p:cNvSpPr>
            <p:nvPr/>
          </p:nvSpPr>
          <p:spPr bwMode="auto">
            <a:xfrm flipV="1">
              <a:off x="862" y="2127"/>
              <a:ext cx="361" cy="28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7079" name="Group 39"/>
            <p:cNvGrpSpPr>
              <a:grpSpLocks/>
            </p:cNvGrpSpPr>
            <p:nvPr/>
          </p:nvGrpSpPr>
          <p:grpSpPr bwMode="auto">
            <a:xfrm>
              <a:off x="457" y="2375"/>
              <a:ext cx="871" cy="519"/>
              <a:chOff x="457" y="2375"/>
              <a:chExt cx="871" cy="519"/>
            </a:xfrm>
          </p:grpSpPr>
          <p:sp>
            <p:nvSpPr>
              <p:cNvPr id="87080" name="Rectangle 40"/>
              <p:cNvSpPr>
                <a:spLocks noChangeArrowheads="1"/>
              </p:cNvSpPr>
              <p:nvPr/>
            </p:nvSpPr>
            <p:spPr bwMode="auto">
              <a:xfrm>
                <a:off x="457" y="2375"/>
                <a:ext cx="871" cy="519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81" name="Rectangle 41"/>
              <p:cNvSpPr>
                <a:spLocks noChangeArrowheads="1"/>
              </p:cNvSpPr>
              <p:nvPr/>
            </p:nvSpPr>
            <p:spPr bwMode="auto">
              <a:xfrm>
                <a:off x="506" y="2384"/>
                <a:ext cx="554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 22%</a:t>
                </a:r>
                <a:endParaRPr lang="en-US"/>
              </a:p>
            </p:txBody>
          </p:sp>
          <p:sp>
            <p:nvSpPr>
              <p:cNvPr id="87082" name="Rectangle 42"/>
              <p:cNvSpPr>
                <a:spLocks noChangeArrowheads="1"/>
              </p:cNvSpPr>
              <p:nvPr/>
            </p:nvSpPr>
            <p:spPr bwMode="auto">
              <a:xfrm>
                <a:off x="506" y="2548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increase</a:t>
                </a:r>
                <a:endParaRPr lang="en-US"/>
              </a:p>
            </p:txBody>
          </p:sp>
          <p:sp>
            <p:nvSpPr>
              <p:cNvPr id="87083" name="Rectangle 43"/>
              <p:cNvSpPr>
                <a:spLocks noChangeArrowheads="1"/>
              </p:cNvSpPr>
              <p:nvPr/>
            </p:nvSpPr>
            <p:spPr bwMode="auto">
              <a:xfrm>
                <a:off x="506" y="2712"/>
                <a:ext cx="66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 price . . .</a:t>
                </a:r>
                <a:endParaRPr lang="en-US"/>
              </a:p>
            </p:txBody>
          </p:sp>
        </p:grpSp>
      </p:grpSp>
      <p:grpSp>
        <p:nvGrpSpPr>
          <p:cNvPr id="87084" name="Group 44"/>
          <p:cNvGrpSpPr>
            <a:grpSpLocks/>
          </p:cNvGrpSpPr>
          <p:nvPr/>
        </p:nvGrpSpPr>
        <p:grpSpPr bwMode="auto">
          <a:xfrm>
            <a:off x="4395788" y="2393950"/>
            <a:ext cx="3270250" cy="1647825"/>
            <a:chOff x="2769" y="1508"/>
            <a:chExt cx="2060" cy="1038"/>
          </a:xfrm>
        </p:grpSpPr>
        <p:sp>
          <p:nvSpPr>
            <p:cNvPr id="87085" name="Freeform 45"/>
            <p:cNvSpPr>
              <a:spLocks/>
            </p:cNvSpPr>
            <p:nvPr/>
          </p:nvSpPr>
          <p:spPr bwMode="auto">
            <a:xfrm>
              <a:off x="2769" y="1508"/>
              <a:ext cx="1501" cy="966"/>
            </a:xfrm>
            <a:custGeom>
              <a:avLst/>
              <a:gdLst>
                <a:gd name="T0" fmla="*/ 0 w 100"/>
                <a:gd name="T1" fmla="*/ 0 h 78"/>
                <a:gd name="T2" fmla="*/ 100 w 100"/>
                <a:gd name="T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0" h="78">
                  <a:moveTo>
                    <a:pt x="0" y="0"/>
                  </a:moveTo>
                  <a:cubicBezTo>
                    <a:pt x="17" y="52"/>
                    <a:pt x="67" y="70"/>
                    <a:pt x="100" y="78"/>
                  </a:cubicBezTo>
                </a:path>
              </a:pathLst>
            </a:custGeom>
            <a:noFill/>
            <a:ln w="71438">
              <a:solidFill>
                <a:srgbClr val="004C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086" name="Rectangle 46"/>
            <p:cNvSpPr>
              <a:spLocks noChangeArrowheads="1"/>
            </p:cNvSpPr>
            <p:nvPr/>
          </p:nvSpPr>
          <p:spPr bwMode="auto">
            <a:xfrm>
              <a:off x="4314" y="2383"/>
              <a:ext cx="51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Demand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900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7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7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8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7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7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8" grpId="0" animBg="1"/>
      <p:bldP spid="8705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019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2" name="Rectangle 6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6" name="Rectangle 10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8" name="Rectangle 12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30" name="Rectangle 14"/>
          <p:cNvSpPr>
            <a:spLocks noChangeArrowheads="1"/>
          </p:cNvSpPr>
          <p:nvPr/>
        </p:nvSpPr>
        <p:spPr bwMode="auto">
          <a:xfrm>
            <a:off x="2128838" y="2019300"/>
            <a:ext cx="5862637" cy="3300413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>
            <a:off x="1700213" y="3198813"/>
            <a:ext cx="1587" cy="1587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2" name="Rectangle 16"/>
          <p:cNvSpPr>
            <a:spLocks noChangeArrowheads="1"/>
          </p:cNvSpPr>
          <p:nvPr/>
        </p:nvSpPr>
        <p:spPr bwMode="auto">
          <a:xfrm>
            <a:off x="2009775" y="1922463"/>
            <a:ext cx="5862638" cy="3300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3" name="Freeform 17"/>
          <p:cNvSpPr>
            <a:spLocks/>
          </p:cNvSpPr>
          <p:nvPr/>
        </p:nvSpPr>
        <p:spPr bwMode="auto">
          <a:xfrm>
            <a:off x="2009775" y="1922463"/>
            <a:ext cx="5862638" cy="3300412"/>
          </a:xfrm>
          <a:custGeom>
            <a:avLst/>
            <a:gdLst>
              <a:gd name="T0" fmla="*/ 0 w 3693"/>
              <a:gd name="T1" fmla="*/ 0 h 2079"/>
              <a:gd name="T2" fmla="*/ 0 w 3693"/>
              <a:gd name="T3" fmla="*/ 2079 h 2079"/>
              <a:gd name="T4" fmla="*/ 3693 w 3693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3" h="2079">
                <a:moveTo>
                  <a:pt x="0" y="0"/>
                </a:moveTo>
                <a:lnTo>
                  <a:pt x="0" y="2079"/>
                </a:lnTo>
                <a:lnTo>
                  <a:pt x="3693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4" name="Line 18"/>
          <p:cNvSpPr>
            <a:spLocks noChangeShapeType="1"/>
          </p:cNvSpPr>
          <p:nvPr/>
        </p:nvSpPr>
        <p:spPr bwMode="auto">
          <a:xfrm>
            <a:off x="1843088" y="3089275"/>
            <a:ext cx="3175" cy="217488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5" name="Line 19"/>
          <p:cNvSpPr>
            <a:spLocks noChangeShapeType="1"/>
          </p:cNvSpPr>
          <p:nvPr/>
        </p:nvSpPr>
        <p:spPr bwMode="auto">
          <a:xfrm>
            <a:off x="4059238" y="5418138"/>
            <a:ext cx="1001712" cy="1587"/>
          </a:xfrm>
          <a:prstGeom prst="line">
            <a:avLst/>
          </a:prstGeom>
          <a:noFill/>
          <a:ln w="23876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6" name="Rectangle 20"/>
          <p:cNvSpPr>
            <a:spLocks noChangeArrowheads="1"/>
          </p:cNvSpPr>
          <p:nvPr/>
        </p:nvSpPr>
        <p:spPr bwMode="auto">
          <a:xfrm>
            <a:off x="2092325" y="1481138"/>
            <a:ext cx="48577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(d) Elastic Demand: Elasticity Is Greater Than 1</a:t>
            </a:r>
            <a:endParaRPr lang="en-US"/>
          </a:p>
        </p:txBody>
      </p:sp>
      <p:grpSp>
        <p:nvGrpSpPr>
          <p:cNvPr id="86037" name="Group 21"/>
          <p:cNvGrpSpPr>
            <a:grpSpLocks/>
          </p:cNvGrpSpPr>
          <p:nvPr/>
        </p:nvGrpSpPr>
        <p:grpSpPr bwMode="auto">
          <a:xfrm>
            <a:off x="2582863" y="2255838"/>
            <a:ext cx="4867275" cy="1376362"/>
            <a:chOff x="1627" y="1421"/>
            <a:chExt cx="3066" cy="867"/>
          </a:xfrm>
        </p:grpSpPr>
        <p:sp>
          <p:nvSpPr>
            <p:cNvPr id="86038" name="Freeform 22"/>
            <p:cNvSpPr>
              <a:spLocks/>
            </p:cNvSpPr>
            <p:nvPr/>
          </p:nvSpPr>
          <p:spPr bwMode="auto">
            <a:xfrm>
              <a:off x="1627" y="1421"/>
              <a:ext cx="2461" cy="804"/>
            </a:xfrm>
            <a:custGeom>
              <a:avLst/>
              <a:gdLst>
                <a:gd name="T0" fmla="*/ 0 w 164"/>
                <a:gd name="T1" fmla="*/ 0 h 65"/>
                <a:gd name="T2" fmla="*/ 164 w 164"/>
                <a:gd name="T3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4" h="65">
                  <a:moveTo>
                    <a:pt x="0" y="0"/>
                  </a:moveTo>
                  <a:cubicBezTo>
                    <a:pt x="33" y="46"/>
                    <a:pt x="111" y="64"/>
                    <a:pt x="164" y="65"/>
                  </a:cubicBezTo>
                </a:path>
              </a:pathLst>
            </a:custGeom>
            <a:noFill/>
            <a:ln w="71438">
              <a:solidFill>
                <a:srgbClr val="004C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9" name="Rectangle 23"/>
            <p:cNvSpPr>
              <a:spLocks noChangeArrowheads="1"/>
            </p:cNvSpPr>
            <p:nvPr/>
          </p:nvSpPr>
          <p:spPr bwMode="auto">
            <a:xfrm>
              <a:off x="4178" y="2125"/>
              <a:ext cx="51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Demand</a:t>
              </a:r>
              <a:endParaRPr lang="en-US"/>
            </a:p>
          </p:txBody>
        </p:sp>
      </p:grpSp>
      <p:sp>
        <p:nvSpPr>
          <p:cNvPr id="86040" name="Rectangle 24"/>
          <p:cNvSpPr>
            <a:spLocks noChangeArrowheads="1"/>
          </p:cNvSpPr>
          <p:nvPr/>
        </p:nvSpPr>
        <p:spPr bwMode="auto">
          <a:xfrm>
            <a:off x="6846888" y="5272088"/>
            <a:ext cx="8763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grpSp>
        <p:nvGrpSpPr>
          <p:cNvPr id="86041" name="Group 25"/>
          <p:cNvGrpSpPr>
            <a:grpSpLocks/>
          </p:cNvGrpSpPr>
          <p:nvPr/>
        </p:nvGrpSpPr>
        <p:grpSpPr bwMode="auto">
          <a:xfrm>
            <a:off x="1768475" y="3294063"/>
            <a:ext cx="3729038" cy="2243137"/>
            <a:chOff x="1114" y="2075"/>
            <a:chExt cx="2349" cy="1413"/>
          </a:xfrm>
        </p:grpSpPr>
        <p:sp>
          <p:nvSpPr>
            <p:cNvPr id="86042" name="Freeform 26"/>
            <p:cNvSpPr>
              <a:spLocks/>
            </p:cNvSpPr>
            <p:nvPr/>
          </p:nvSpPr>
          <p:spPr bwMode="auto">
            <a:xfrm>
              <a:off x="1266" y="2163"/>
              <a:ext cx="2102" cy="1127"/>
            </a:xfrm>
            <a:custGeom>
              <a:avLst/>
              <a:gdLst>
                <a:gd name="T0" fmla="*/ 2102 w 2102"/>
                <a:gd name="T1" fmla="*/ 1127 h 1127"/>
                <a:gd name="T2" fmla="*/ 2102 w 2102"/>
                <a:gd name="T3" fmla="*/ 0 h 1127"/>
                <a:gd name="T4" fmla="*/ 0 w 2102"/>
                <a:gd name="T5" fmla="*/ 0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02" h="1127">
                  <a:moveTo>
                    <a:pt x="2102" y="1127"/>
                  </a:moveTo>
                  <a:lnTo>
                    <a:pt x="2102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3" name="Rectangle 27"/>
            <p:cNvSpPr>
              <a:spLocks noChangeArrowheads="1"/>
            </p:cNvSpPr>
            <p:nvPr/>
          </p:nvSpPr>
          <p:spPr bwMode="auto">
            <a:xfrm>
              <a:off x="1114" y="2075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/>
            </a:p>
          </p:txBody>
        </p:sp>
        <p:sp>
          <p:nvSpPr>
            <p:cNvPr id="86044" name="Rectangle 28"/>
            <p:cNvSpPr>
              <a:spLocks noChangeArrowheads="1"/>
            </p:cNvSpPr>
            <p:nvPr/>
          </p:nvSpPr>
          <p:spPr bwMode="auto">
            <a:xfrm>
              <a:off x="3235" y="3325"/>
              <a:ext cx="2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</p:grpSp>
      <p:sp>
        <p:nvSpPr>
          <p:cNvPr id="86045" name="Rectangle 29"/>
          <p:cNvSpPr>
            <a:spLocks noChangeArrowheads="1"/>
          </p:cNvSpPr>
          <p:nvPr/>
        </p:nvSpPr>
        <p:spPr bwMode="auto">
          <a:xfrm>
            <a:off x="1776413" y="5278438"/>
            <a:ext cx="1206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86046" name="Rectangle 30"/>
          <p:cNvSpPr>
            <a:spLocks noChangeArrowheads="1"/>
          </p:cNvSpPr>
          <p:nvPr/>
        </p:nvSpPr>
        <p:spPr bwMode="auto">
          <a:xfrm>
            <a:off x="1284288" y="1858963"/>
            <a:ext cx="5302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6047" name="Group 31"/>
          <p:cNvGrpSpPr>
            <a:grpSpLocks/>
          </p:cNvGrpSpPr>
          <p:nvPr/>
        </p:nvGrpSpPr>
        <p:grpSpPr bwMode="auto">
          <a:xfrm>
            <a:off x="1625600" y="2857500"/>
            <a:ext cx="2159000" cy="2679700"/>
            <a:chOff x="1024" y="1800"/>
            <a:chExt cx="1360" cy="1688"/>
          </a:xfrm>
        </p:grpSpPr>
        <p:sp>
          <p:nvSpPr>
            <p:cNvPr id="86048" name="Freeform 32"/>
            <p:cNvSpPr>
              <a:spLocks/>
            </p:cNvSpPr>
            <p:nvPr/>
          </p:nvSpPr>
          <p:spPr bwMode="auto">
            <a:xfrm>
              <a:off x="1266" y="1879"/>
              <a:ext cx="1051" cy="1411"/>
            </a:xfrm>
            <a:custGeom>
              <a:avLst/>
              <a:gdLst>
                <a:gd name="T0" fmla="*/ 1051 w 1051"/>
                <a:gd name="T1" fmla="*/ 1411 h 1411"/>
                <a:gd name="T2" fmla="*/ 1051 w 1051"/>
                <a:gd name="T3" fmla="*/ 0 h 1411"/>
                <a:gd name="T4" fmla="*/ 0 w 1051"/>
                <a:gd name="T5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1" h="1411">
                  <a:moveTo>
                    <a:pt x="1051" y="1411"/>
                  </a:moveTo>
                  <a:lnTo>
                    <a:pt x="1051" y="0"/>
                  </a:lnTo>
                  <a:lnTo>
                    <a:pt x="0" y="0"/>
                  </a:lnTo>
                </a:path>
              </a:pathLst>
            </a:custGeom>
            <a:noFill/>
            <a:ln w="23813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9" name="Rectangle 33"/>
            <p:cNvSpPr>
              <a:spLocks noChangeArrowheads="1"/>
            </p:cNvSpPr>
            <p:nvPr/>
          </p:nvSpPr>
          <p:spPr bwMode="auto">
            <a:xfrm>
              <a:off x="1024" y="1800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  <p:sp>
          <p:nvSpPr>
            <p:cNvPr id="86050" name="Rectangle 34"/>
            <p:cNvSpPr>
              <a:spLocks noChangeArrowheads="1"/>
            </p:cNvSpPr>
            <p:nvPr/>
          </p:nvSpPr>
          <p:spPr bwMode="auto">
            <a:xfrm>
              <a:off x="2232" y="3325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50</a:t>
              </a:r>
              <a:endParaRPr lang="en-US"/>
            </a:p>
          </p:txBody>
        </p:sp>
      </p:grpSp>
      <p:grpSp>
        <p:nvGrpSpPr>
          <p:cNvPr id="86051" name="Group 35"/>
          <p:cNvGrpSpPr>
            <a:grpSpLocks/>
          </p:cNvGrpSpPr>
          <p:nvPr/>
        </p:nvGrpSpPr>
        <p:grpSpPr bwMode="auto">
          <a:xfrm>
            <a:off x="509588" y="3257550"/>
            <a:ext cx="1333500" cy="1238250"/>
            <a:chOff x="321" y="2052"/>
            <a:chExt cx="840" cy="780"/>
          </a:xfrm>
        </p:grpSpPr>
        <p:sp>
          <p:nvSpPr>
            <p:cNvPr id="86052" name="Line 36"/>
            <p:cNvSpPr>
              <a:spLocks noChangeShapeType="1"/>
            </p:cNvSpPr>
            <p:nvPr/>
          </p:nvSpPr>
          <p:spPr bwMode="auto">
            <a:xfrm flipV="1">
              <a:off x="741" y="2052"/>
              <a:ext cx="360" cy="29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6053" name="Group 37"/>
            <p:cNvGrpSpPr>
              <a:grpSpLocks/>
            </p:cNvGrpSpPr>
            <p:nvPr/>
          </p:nvGrpSpPr>
          <p:grpSpPr bwMode="auto">
            <a:xfrm>
              <a:off x="321" y="2310"/>
              <a:ext cx="840" cy="522"/>
              <a:chOff x="321" y="2310"/>
              <a:chExt cx="840" cy="522"/>
            </a:xfrm>
          </p:grpSpPr>
          <p:sp>
            <p:nvSpPr>
              <p:cNvPr id="86054" name="Rectangle 38"/>
              <p:cNvSpPr>
                <a:spLocks noChangeArrowheads="1"/>
              </p:cNvSpPr>
              <p:nvPr/>
            </p:nvSpPr>
            <p:spPr bwMode="auto">
              <a:xfrm>
                <a:off x="321" y="2312"/>
                <a:ext cx="840" cy="52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55" name="Rectangle 39"/>
              <p:cNvSpPr>
                <a:spLocks noChangeArrowheads="1"/>
              </p:cNvSpPr>
              <p:nvPr/>
            </p:nvSpPr>
            <p:spPr bwMode="auto">
              <a:xfrm>
                <a:off x="360" y="2310"/>
                <a:ext cx="554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1. A 22%</a:t>
                </a:r>
                <a:endParaRPr lang="en-US"/>
              </a:p>
            </p:txBody>
          </p:sp>
          <p:sp>
            <p:nvSpPr>
              <p:cNvPr id="86056" name="Rectangle 40"/>
              <p:cNvSpPr>
                <a:spLocks noChangeArrowheads="1"/>
              </p:cNvSpPr>
              <p:nvPr/>
            </p:nvSpPr>
            <p:spPr bwMode="auto">
              <a:xfrm>
                <a:off x="360" y="2475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increase</a:t>
                </a:r>
                <a:endParaRPr lang="en-US"/>
              </a:p>
            </p:txBody>
          </p:sp>
          <p:sp>
            <p:nvSpPr>
              <p:cNvPr id="86057" name="Rectangle 41"/>
              <p:cNvSpPr>
                <a:spLocks noChangeArrowheads="1"/>
              </p:cNvSpPr>
              <p:nvPr/>
            </p:nvSpPr>
            <p:spPr bwMode="auto">
              <a:xfrm>
                <a:off x="360" y="2639"/>
                <a:ext cx="667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in price . . .</a:t>
                </a:r>
                <a:endParaRPr lang="en-US"/>
              </a:p>
            </p:txBody>
          </p:sp>
        </p:grpSp>
      </p:grpSp>
      <p:grpSp>
        <p:nvGrpSpPr>
          <p:cNvPr id="86058" name="Group 42"/>
          <p:cNvGrpSpPr>
            <a:grpSpLocks/>
          </p:cNvGrpSpPr>
          <p:nvPr/>
        </p:nvGrpSpPr>
        <p:grpSpPr bwMode="auto">
          <a:xfrm>
            <a:off x="1819275" y="5457825"/>
            <a:ext cx="5348288" cy="569913"/>
            <a:chOff x="1146" y="3438"/>
            <a:chExt cx="3369" cy="359"/>
          </a:xfrm>
        </p:grpSpPr>
        <p:sp>
          <p:nvSpPr>
            <p:cNvPr id="86059" name="Line 43"/>
            <p:cNvSpPr>
              <a:spLocks noChangeShapeType="1"/>
            </p:cNvSpPr>
            <p:nvPr/>
          </p:nvSpPr>
          <p:spPr bwMode="auto">
            <a:xfrm>
              <a:off x="2872" y="3438"/>
              <a:ext cx="165" cy="17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60" name="Rectangle 44"/>
            <p:cNvSpPr>
              <a:spLocks noChangeArrowheads="1"/>
            </p:cNvSpPr>
            <p:nvPr/>
          </p:nvSpPr>
          <p:spPr bwMode="auto">
            <a:xfrm>
              <a:off x="1146" y="3599"/>
              <a:ext cx="3369" cy="198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61" name="Rectangle 45"/>
            <p:cNvSpPr>
              <a:spLocks noChangeArrowheads="1"/>
            </p:cNvSpPr>
            <p:nvPr/>
          </p:nvSpPr>
          <p:spPr bwMode="auto">
            <a:xfrm>
              <a:off x="1174" y="3621"/>
              <a:ext cx="326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2. . . . leads to a 67% decrease in quantity demanded.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9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6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8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4" grpId="0" animBg="1"/>
      <p:bldP spid="860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4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7620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>
          <a:xfrm>
            <a:off x="664265" y="262732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1 The Price Elasticity of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F3F6F9"/>
          </a:solidFill>
          <a:ln w="26193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F2F4F8"/>
          </a:solidFill>
          <a:ln w="2381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4998" name="Rectangle 6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F1F4F7"/>
          </a:solidFill>
          <a:ln w="2143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F0F2F5"/>
          </a:solidFill>
          <a:ln w="19050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EEF1F4"/>
          </a:solidFill>
          <a:ln w="1666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EDEFF3"/>
          </a:solidFill>
          <a:ln w="1428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2" name="Rectangle 10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EBEEF2"/>
          </a:solidFill>
          <a:ln w="11906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3" name="Rectangle 11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EAECF1"/>
          </a:solidFill>
          <a:ln w="95250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E9EBF0"/>
          </a:solidFill>
          <a:ln w="7143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5" name="Rectangle 13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E7EAEF"/>
          </a:solidFill>
          <a:ln w="4762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6" name="Rectangle 14"/>
          <p:cNvSpPr>
            <a:spLocks noChangeArrowheads="1"/>
          </p:cNvSpPr>
          <p:nvPr/>
        </p:nvSpPr>
        <p:spPr bwMode="auto">
          <a:xfrm>
            <a:off x="2028825" y="2114550"/>
            <a:ext cx="5862638" cy="3300413"/>
          </a:xfrm>
          <a:prstGeom prst="rect">
            <a:avLst/>
          </a:prstGeom>
          <a:solidFill>
            <a:srgbClr val="E6E9EF"/>
          </a:solidFill>
          <a:ln w="23813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7" name="Rectangle 15"/>
          <p:cNvSpPr>
            <a:spLocks noChangeArrowheads="1"/>
          </p:cNvSpPr>
          <p:nvPr/>
        </p:nvSpPr>
        <p:spPr bwMode="auto">
          <a:xfrm>
            <a:off x="1933575" y="2017713"/>
            <a:ext cx="5862638" cy="33004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08" name="Freeform 16"/>
          <p:cNvSpPr>
            <a:spLocks/>
          </p:cNvSpPr>
          <p:nvPr/>
        </p:nvSpPr>
        <p:spPr bwMode="auto">
          <a:xfrm>
            <a:off x="1914525" y="2017713"/>
            <a:ext cx="5862638" cy="3300412"/>
          </a:xfrm>
          <a:custGeom>
            <a:avLst/>
            <a:gdLst>
              <a:gd name="T0" fmla="*/ 0 w 3693"/>
              <a:gd name="T1" fmla="*/ 0 h 2079"/>
              <a:gd name="T2" fmla="*/ 0 w 3693"/>
              <a:gd name="T3" fmla="*/ 2079 h 2079"/>
              <a:gd name="T4" fmla="*/ 3693 w 3693"/>
              <a:gd name="T5" fmla="*/ 2079 h 2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93" h="2079">
                <a:moveTo>
                  <a:pt x="0" y="0"/>
                </a:moveTo>
                <a:lnTo>
                  <a:pt x="0" y="2079"/>
                </a:lnTo>
                <a:lnTo>
                  <a:pt x="3693" y="2079"/>
                </a:lnTo>
              </a:path>
            </a:pathLst>
          </a:custGeom>
          <a:noFill/>
          <a:ln w="238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09" name="Rectangle 17"/>
          <p:cNvSpPr>
            <a:spLocks noChangeArrowheads="1"/>
          </p:cNvSpPr>
          <p:nvPr/>
        </p:nvSpPr>
        <p:spPr bwMode="auto">
          <a:xfrm>
            <a:off x="1976438" y="1576388"/>
            <a:ext cx="55308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(e) Perfectly Elastic Demand: Elasticity Equals Infinity</a:t>
            </a:r>
            <a:endParaRPr lang="en-US"/>
          </a:p>
        </p:txBody>
      </p:sp>
      <p:sp>
        <p:nvSpPr>
          <p:cNvPr id="85010" name="Rectangle 18"/>
          <p:cNvSpPr>
            <a:spLocks noChangeArrowheads="1"/>
          </p:cNvSpPr>
          <p:nvPr/>
        </p:nvSpPr>
        <p:spPr bwMode="auto">
          <a:xfrm>
            <a:off x="6908800" y="5367338"/>
            <a:ext cx="8763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85011" name="Rectangle 19"/>
          <p:cNvSpPr>
            <a:spLocks noChangeArrowheads="1"/>
          </p:cNvSpPr>
          <p:nvPr/>
        </p:nvSpPr>
        <p:spPr bwMode="auto">
          <a:xfrm>
            <a:off x="1704975" y="5373688"/>
            <a:ext cx="1206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85012" name="Rectangle 20"/>
          <p:cNvSpPr>
            <a:spLocks noChangeArrowheads="1"/>
          </p:cNvSpPr>
          <p:nvPr/>
        </p:nvSpPr>
        <p:spPr bwMode="auto">
          <a:xfrm>
            <a:off x="1303338" y="1973263"/>
            <a:ext cx="5302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5013" name="Group 21"/>
          <p:cNvGrpSpPr>
            <a:grpSpLocks/>
          </p:cNvGrpSpPr>
          <p:nvPr/>
        </p:nvGrpSpPr>
        <p:grpSpPr bwMode="auto">
          <a:xfrm>
            <a:off x="1592263" y="3389313"/>
            <a:ext cx="5551487" cy="271462"/>
            <a:chOff x="1003" y="2135"/>
            <a:chExt cx="3497" cy="171"/>
          </a:xfrm>
        </p:grpSpPr>
        <p:sp>
          <p:nvSpPr>
            <p:cNvPr id="85014" name="Rectangle 22"/>
            <p:cNvSpPr>
              <a:spLocks noChangeArrowheads="1"/>
            </p:cNvSpPr>
            <p:nvPr/>
          </p:nvSpPr>
          <p:spPr bwMode="auto">
            <a:xfrm>
              <a:off x="1003" y="2135"/>
              <a:ext cx="15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$4</a:t>
              </a:r>
              <a:endParaRPr lang="en-US"/>
            </a:p>
          </p:txBody>
        </p:sp>
        <p:grpSp>
          <p:nvGrpSpPr>
            <p:cNvPr id="85015" name="Group 23"/>
            <p:cNvGrpSpPr>
              <a:grpSpLocks/>
            </p:cNvGrpSpPr>
            <p:nvPr/>
          </p:nvGrpSpPr>
          <p:grpSpPr bwMode="auto">
            <a:xfrm>
              <a:off x="1214" y="2143"/>
              <a:ext cx="3286" cy="163"/>
              <a:chOff x="1218" y="2143"/>
              <a:chExt cx="3286" cy="163"/>
            </a:xfrm>
          </p:grpSpPr>
          <p:sp>
            <p:nvSpPr>
              <p:cNvPr id="85016" name="Line 24"/>
              <p:cNvSpPr>
                <a:spLocks noChangeShapeType="1"/>
              </p:cNvSpPr>
              <p:nvPr/>
            </p:nvSpPr>
            <p:spPr bwMode="auto">
              <a:xfrm flipH="1">
                <a:off x="1218" y="2223"/>
                <a:ext cx="2717" cy="1"/>
              </a:xfrm>
              <a:prstGeom prst="line">
                <a:avLst/>
              </a:prstGeom>
              <a:noFill/>
              <a:ln w="71438">
                <a:solidFill>
                  <a:srgbClr val="004C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17" name="Rectangle 25"/>
              <p:cNvSpPr>
                <a:spLocks noChangeArrowheads="1"/>
              </p:cNvSpPr>
              <p:nvPr/>
            </p:nvSpPr>
            <p:spPr bwMode="auto">
              <a:xfrm>
                <a:off x="3989" y="2143"/>
                <a:ext cx="515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700">
                    <a:solidFill>
                      <a:srgbClr val="000000"/>
                    </a:solidFill>
                    <a:latin typeface="Arial" charset="0"/>
                  </a:rPr>
                  <a:t>Demand</a:t>
                </a:r>
                <a:endParaRPr lang="en-US"/>
              </a:p>
            </p:txBody>
          </p:sp>
        </p:grpSp>
      </p:grpSp>
      <p:grpSp>
        <p:nvGrpSpPr>
          <p:cNvPr id="85018" name="Group 26"/>
          <p:cNvGrpSpPr>
            <a:grpSpLocks/>
          </p:cNvGrpSpPr>
          <p:nvPr/>
        </p:nvGrpSpPr>
        <p:grpSpPr bwMode="auto">
          <a:xfrm>
            <a:off x="4054475" y="3608388"/>
            <a:ext cx="2025650" cy="1139825"/>
            <a:chOff x="2554" y="2273"/>
            <a:chExt cx="1276" cy="718"/>
          </a:xfrm>
        </p:grpSpPr>
        <p:sp>
          <p:nvSpPr>
            <p:cNvPr id="85019" name="Line 27"/>
            <p:cNvSpPr>
              <a:spLocks noChangeShapeType="1"/>
            </p:cNvSpPr>
            <p:nvPr/>
          </p:nvSpPr>
          <p:spPr bwMode="auto">
            <a:xfrm>
              <a:off x="3020" y="2273"/>
              <a:ext cx="180" cy="24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20" name="Rectangle 28"/>
            <p:cNvSpPr>
              <a:spLocks noChangeArrowheads="1"/>
            </p:cNvSpPr>
            <p:nvPr/>
          </p:nvSpPr>
          <p:spPr bwMode="auto">
            <a:xfrm>
              <a:off x="2554" y="2471"/>
              <a:ext cx="1276" cy="52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21" name="Rectangle 29"/>
            <p:cNvSpPr>
              <a:spLocks noChangeArrowheads="1"/>
            </p:cNvSpPr>
            <p:nvPr/>
          </p:nvSpPr>
          <p:spPr bwMode="auto">
            <a:xfrm>
              <a:off x="2591" y="2489"/>
              <a:ext cx="97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2. At exactly $4,</a:t>
              </a:r>
              <a:endParaRPr lang="en-US"/>
            </a:p>
          </p:txBody>
        </p:sp>
        <p:sp>
          <p:nvSpPr>
            <p:cNvPr id="85022" name="Rectangle 30"/>
            <p:cNvSpPr>
              <a:spLocks noChangeArrowheads="1"/>
            </p:cNvSpPr>
            <p:nvPr/>
          </p:nvSpPr>
          <p:spPr bwMode="auto">
            <a:xfrm>
              <a:off x="2591" y="2653"/>
              <a:ext cx="89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consumers will</a:t>
              </a:r>
              <a:endParaRPr lang="en-US"/>
            </a:p>
          </p:txBody>
        </p:sp>
        <p:sp>
          <p:nvSpPr>
            <p:cNvPr id="85023" name="Rectangle 31"/>
            <p:cNvSpPr>
              <a:spLocks noChangeArrowheads="1"/>
            </p:cNvSpPr>
            <p:nvPr/>
          </p:nvSpPr>
          <p:spPr bwMode="auto">
            <a:xfrm>
              <a:off x="2591" y="2818"/>
              <a:ext cx="103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buy any quantity.</a:t>
              </a:r>
              <a:endParaRPr lang="en-US"/>
            </a:p>
          </p:txBody>
        </p:sp>
      </p:grpSp>
      <p:grpSp>
        <p:nvGrpSpPr>
          <p:cNvPr id="85024" name="Group 32"/>
          <p:cNvGrpSpPr>
            <a:grpSpLocks/>
          </p:cNvGrpSpPr>
          <p:nvPr/>
        </p:nvGrpSpPr>
        <p:grpSpPr bwMode="auto">
          <a:xfrm>
            <a:off x="2005013" y="2428875"/>
            <a:ext cx="2644775" cy="825500"/>
            <a:chOff x="1263" y="1530"/>
            <a:chExt cx="1666" cy="520"/>
          </a:xfrm>
        </p:grpSpPr>
        <p:sp>
          <p:nvSpPr>
            <p:cNvPr id="85025" name="Line 33"/>
            <p:cNvSpPr>
              <a:spLocks noChangeShapeType="1"/>
            </p:cNvSpPr>
            <p:nvPr/>
          </p:nvSpPr>
          <p:spPr bwMode="auto">
            <a:xfrm flipV="1">
              <a:off x="1263" y="1679"/>
              <a:ext cx="286" cy="62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26" name="Rectangle 34"/>
            <p:cNvSpPr>
              <a:spLocks noChangeArrowheads="1"/>
            </p:cNvSpPr>
            <p:nvPr/>
          </p:nvSpPr>
          <p:spPr bwMode="auto">
            <a:xfrm>
              <a:off x="1519" y="1530"/>
              <a:ext cx="1410" cy="520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27" name="Rectangle 35"/>
            <p:cNvSpPr>
              <a:spLocks noChangeArrowheads="1"/>
            </p:cNvSpPr>
            <p:nvPr/>
          </p:nvSpPr>
          <p:spPr bwMode="auto">
            <a:xfrm>
              <a:off x="1568" y="1556"/>
              <a:ext cx="87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1. At any price</a:t>
              </a:r>
              <a:endParaRPr lang="en-US"/>
            </a:p>
          </p:txBody>
        </p:sp>
        <p:sp>
          <p:nvSpPr>
            <p:cNvPr id="85028" name="Rectangle 36"/>
            <p:cNvSpPr>
              <a:spLocks noChangeArrowheads="1"/>
            </p:cNvSpPr>
            <p:nvPr/>
          </p:nvSpPr>
          <p:spPr bwMode="auto">
            <a:xfrm>
              <a:off x="1568" y="1720"/>
              <a:ext cx="111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above $4, quantity</a:t>
              </a:r>
              <a:endParaRPr lang="en-US"/>
            </a:p>
          </p:txBody>
        </p:sp>
        <p:sp>
          <p:nvSpPr>
            <p:cNvPr id="85029" name="Rectangle 37"/>
            <p:cNvSpPr>
              <a:spLocks noChangeArrowheads="1"/>
            </p:cNvSpPr>
            <p:nvPr/>
          </p:nvSpPr>
          <p:spPr bwMode="auto">
            <a:xfrm>
              <a:off x="1568" y="1884"/>
              <a:ext cx="112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demanded is zero.</a:t>
              </a:r>
              <a:endParaRPr lang="en-US"/>
            </a:p>
          </p:txBody>
        </p:sp>
      </p:grpSp>
      <p:grpSp>
        <p:nvGrpSpPr>
          <p:cNvPr id="85030" name="Group 38"/>
          <p:cNvGrpSpPr>
            <a:grpSpLocks/>
          </p:cNvGrpSpPr>
          <p:nvPr/>
        </p:nvGrpSpPr>
        <p:grpSpPr bwMode="auto">
          <a:xfrm>
            <a:off x="481013" y="4276725"/>
            <a:ext cx="3478212" cy="1924050"/>
            <a:chOff x="303" y="2694"/>
            <a:chExt cx="2191" cy="1212"/>
          </a:xfrm>
        </p:grpSpPr>
        <p:sp>
          <p:nvSpPr>
            <p:cNvPr id="85031" name="Line 39"/>
            <p:cNvSpPr>
              <a:spLocks noChangeShapeType="1"/>
            </p:cNvSpPr>
            <p:nvPr/>
          </p:nvSpPr>
          <p:spPr bwMode="auto">
            <a:xfrm flipV="1">
              <a:off x="468" y="2694"/>
              <a:ext cx="690" cy="87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32" name="Rectangle 40"/>
            <p:cNvSpPr>
              <a:spLocks noChangeArrowheads="1"/>
            </p:cNvSpPr>
            <p:nvPr/>
          </p:nvSpPr>
          <p:spPr bwMode="auto">
            <a:xfrm>
              <a:off x="303" y="3548"/>
              <a:ext cx="2191" cy="358"/>
            </a:xfrm>
            <a:prstGeom prst="rect">
              <a:avLst/>
            </a:prstGeom>
            <a:solidFill>
              <a:srgbClr val="E1E5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033" name="Rectangle 41"/>
            <p:cNvSpPr>
              <a:spLocks noChangeArrowheads="1"/>
            </p:cNvSpPr>
            <p:nvPr/>
          </p:nvSpPr>
          <p:spPr bwMode="auto">
            <a:xfrm>
              <a:off x="360" y="3570"/>
              <a:ext cx="135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3. At a price below $4,</a:t>
              </a:r>
              <a:endParaRPr lang="en-US"/>
            </a:p>
          </p:txBody>
        </p:sp>
        <p:sp>
          <p:nvSpPr>
            <p:cNvPr id="85034" name="Rectangle 42"/>
            <p:cNvSpPr>
              <a:spLocks noChangeArrowheads="1"/>
            </p:cNvSpPr>
            <p:nvPr/>
          </p:nvSpPr>
          <p:spPr bwMode="auto">
            <a:xfrm>
              <a:off x="360" y="3734"/>
              <a:ext cx="176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quantity demanded is infinite.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30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Total Revenue and the Price Elasticity of Demand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i="1" dirty="0">
                <a:solidFill>
                  <a:srgbClr val="25A9A6"/>
                </a:solidFill>
              </a:rPr>
              <a:t>Total revenue</a:t>
            </a:r>
            <a:r>
              <a:rPr lang="en-US" dirty="0"/>
              <a:t> is the amount paid by buyers and received by sellers of a good</a:t>
            </a:r>
            <a:r>
              <a:rPr lang="en-US" dirty="0" smtClean="0"/>
              <a:t>.</a:t>
            </a:r>
          </a:p>
          <a:p>
            <a:pPr>
              <a:buClr>
                <a:schemeClr val="tx1"/>
              </a:buClr>
              <a:buNone/>
            </a:pPr>
            <a:endParaRPr lang="en-US" dirty="0"/>
          </a:p>
          <a:p>
            <a:r>
              <a:rPr lang="en-US" dirty="0"/>
              <a:t>Computed as the price of the good times the quantity sold.</a:t>
            </a:r>
            <a:br>
              <a:rPr lang="en-US" dirty="0"/>
            </a:br>
            <a:endParaRPr lang="en-US" dirty="0"/>
          </a:p>
          <a:p>
            <a:pPr algn="ctr">
              <a:buFontTx/>
              <a:buNone/>
            </a:pPr>
            <a:r>
              <a:rPr lang="en-US" dirty="0"/>
              <a:t>TR = P x Q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9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971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</a:rPr>
              <a:t>Figure 2 Total Revenue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 rot="-21600000">
            <a:off x="6564313" y="6680200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charset="0"/>
              </a:rPr>
              <a:t>Copyright©2003  Southwestern/Thomson Learning</a:t>
            </a: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F3F6F9"/>
          </a:solidFill>
          <a:ln w="21907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F2F4F8"/>
          </a:solidFill>
          <a:ln w="198438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F1F4F7"/>
          </a:solidFill>
          <a:ln w="17938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F0F2F5"/>
          </a:solidFill>
          <a:ln w="15875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EEF1F4"/>
          </a:solidFill>
          <a:ln w="139700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EDEFF3"/>
          </a:solidFill>
          <a:ln w="11906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EBEEF2"/>
          </a:solidFill>
          <a:ln w="10001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EAECF1"/>
          </a:solidFill>
          <a:ln w="79375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E9EBF0"/>
          </a:solidFill>
          <a:ln w="60325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82" name="Rectangle 14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E7EAEF"/>
          </a:solidFill>
          <a:ln w="39688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83" name="Rectangle 15"/>
          <p:cNvSpPr>
            <a:spLocks noChangeArrowheads="1"/>
          </p:cNvSpPr>
          <p:nvPr/>
        </p:nvSpPr>
        <p:spPr bwMode="auto">
          <a:xfrm>
            <a:off x="1082675" y="1193800"/>
            <a:ext cx="7429500" cy="4803775"/>
          </a:xfrm>
          <a:prstGeom prst="rect">
            <a:avLst/>
          </a:prstGeom>
          <a:solidFill>
            <a:srgbClr val="E6E9EF"/>
          </a:solidFill>
          <a:ln w="2063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3984" name="Rectangle 16"/>
          <p:cNvSpPr>
            <a:spLocks noChangeArrowheads="1"/>
          </p:cNvSpPr>
          <p:nvPr/>
        </p:nvSpPr>
        <p:spPr bwMode="auto">
          <a:xfrm>
            <a:off x="982663" y="1111250"/>
            <a:ext cx="7429500" cy="47831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85" name="Freeform 17"/>
          <p:cNvSpPr>
            <a:spLocks/>
          </p:cNvSpPr>
          <p:nvPr/>
        </p:nvSpPr>
        <p:spPr bwMode="auto">
          <a:xfrm>
            <a:off x="982663" y="1111250"/>
            <a:ext cx="7429500" cy="4783138"/>
          </a:xfrm>
          <a:custGeom>
            <a:avLst/>
            <a:gdLst>
              <a:gd name="T0" fmla="*/ 0 w 4680"/>
              <a:gd name="T1" fmla="*/ 0 h 3013"/>
              <a:gd name="T2" fmla="*/ 0 w 4680"/>
              <a:gd name="T3" fmla="*/ 3013 h 3013"/>
              <a:gd name="T4" fmla="*/ 4680 w 4680"/>
              <a:gd name="T5" fmla="*/ 3013 h 3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680" h="3013">
                <a:moveTo>
                  <a:pt x="0" y="0"/>
                </a:moveTo>
                <a:lnTo>
                  <a:pt x="0" y="3013"/>
                </a:lnTo>
                <a:lnTo>
                  <a:pt x="4680" y="3013"/>
                </a:lnTo>
              </a:path>
            </a:pathLst>
          </a:custGeom>
          <a:noFill/>
          <a:ln w="2063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3986" name="Group 18"/>
          <p:cNvGrpSpPr>
            <a:grpSpLocks/>
          </p:cNvGrpSpPr>
          <p:nvPr/>
        </p:nvGrpSpPr>
        <p:grpSpPr bwMode="auto">
          <a:xfrm>
            <a:off x="2974975" y="2492375"/>
            <a:ext cx="4462463" cy="2524125"/>
            <a:chOff x="1874" y="1570"/>
            <a:chExt cx="2811" cy="1590"/>
          </a:xfrm>
        </p:grpSpPr>
        <p:sp>
          <p:nvSpPr>
            <p:cNvPr id="83987" name="Line 19"/>
            <p:cNvSpPr>
              <a:spLocks noChangeShapeType="1"/>
            </p:cNvSpPr>
            <p:nvPr/>
          </p:nvSpPr>
          <p:spPr bwMode="auto">
            <a:xfrm>
              <a:off x="1874" y="1570"/>
              <a:ext cx="2195" cy="1468"/>
            </a:xfrm>
            <a:prstGeom prst="line">
              <a:avLst/>
            </a:prstGeom>
            <a:noFill/>
            <a:ln w="60325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988" name="Rectangle 20"/>
            <p:cNvSpPr>
              <a:spLocks noChangeArrowheads="1"/>
            </p:cNvSpPr>
            <p:nvPr/>
          </p:nvSpPr>
          <p:spPr bwMode="auto">
            <a:xfrm>
              <a:off x="4105" y="2963"/>
              <a:ext cx="58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Demand</a:t>
              </a:r>
              <a:endParaRPr lang="en-US"/>
            </a:p>
          </p:txBody>
        </p:sp>
      </p:grpSp>
      <p:sp>
        <p:nvSpPr>
          <p:cNvPr id="83989" name="Rectangle 21"/>
          <p:cNvSpPr>
            <a:spLocks noChangeArrowheads="1"/>
          </p:cNvSpPr>
          <p:nvPr/>
        </p:nvSpPr>
        <p:spPr bwMode="auto">
          <a:xfrm>
            <a:off x="7516813" y="5935663"/>
            <a:ext cx="100012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grpSp>
        <p:nvGrpSpPr>
          <p:cNvPr id="83990" name="Group 22"/>
          <p:cNvGrpSpPr>
            <a:grpSpLocks/>
          </p:cNvGrpSpPr>
          <p:nvPr/>
        </p:nvGrpSpPr>
        <p:grpSpPr bwMode="auto">
          <a:xfrm>
            <a:off x="1023938" y="6265863"/>
            <a:ext cx="3444875" cy="457200"/>
            <a:chOff x="645" y="3947"/>
            <a:chExt cx="2170" cy="288"/>
          </a:xfrm>
        </p:grpSpPr>
        <p:sp>
          <p:nvSpPr>
            <p:cNvPr id="83991" name="Freeform 23"/>
            <p:cNvSpPr>
              <a:spLocks/>
            </p:cNvSpPr>
            <p:nvPr/>
          </p:nvSpPr>
          <p:spPr bwMode="auto">
            <a:xfrm>
              <a:off x="645" y="3947"/>
              <a:ext cx="2170" cy="104"/>
            </a:xfrm>
            <a:custGeom>
              <a:avLst/>
              <a:gdLst>
                <a:gd name="T0" fmla="*/ 0 w 173"/>
                <a:gd name="T1" fmla="*/ 0 h 8"/>
                <a:gd name="T2" fmla="*/ 6 w 173"/>
                <a:gd name="T3" fmla="*/ 4 h 8"/>
                <a:gd name="T4" fmla="*/ 83 w 173"/>
                <a:gd name="T5" fmla="*/ 4 h 8"/>
                <a:gd name="T6" fmla="*/ 87 w 173"/>
                <a:gd name="T7" fmla="*/ 8 h 8"/>
                <a:gd name="T8" fmla="*/ 91 w 173"/>
                <a:gd name="T9" fmla="*/ 4 h 8"/>
                <a:gd name="T10" fmla="*/ 167 w 173"/>
                <a:gd name="T11" fmla="*/ 4 h 8"/>
                <a:gd name="T12" fmla="*/ 173 w 173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3" h="8">
                  <a:moveTo>
                    <a:pt x="0" y="0"/>
                  </a:moveTo>
                  <a:cubicBezTo>
                    <a:pt x="0" y="2"/>
                    <a:pt x="3" y="4"/>
                    <a:pt x="6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5" y="4"/>
                    <a:pt x="87" y="5"/>
                    <a:pt x="87" y="8"/>
                  </a:cubicBezTo>
                  <a:cubicBezTo>
                    <a:pt x="87" y="5"/>
                    <a:pt x="88" y="4"/>
                    <a:pt x="91" y="4"/>
                  </a:cubicBezTo>
                  <a:cubicBezTo>
                    <a:pt x="167" y="4"/>
                    <a:pt x="167" y="4"/>
                    <a:pt x="167" y="4"/>
                  </a:cubicBezTo>
                  <a:cubicBezTo>
                    <a:pt x="170" y="4"/>
                    <a:pt x="173" y="2"/>
                    <a:pt x="173" y="0"/>
                  </a:cubicBez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992" name="Rectangle 24"/>
            <p:cNvSpPr>
              <a:spLocks noChangeArrowheads="1"/>
            </p:cNvSpPr>
            <p:nvPr/>
          </p:nvSpPr>
          <p:spPr bwMode="auto">
            <a:xfrm>
              <a:off x="1676" y="4034"/>
              <a:ext cx="170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1">
                  <a:solidFill>
                    <a:srgbClr val="000000"/>
                  </a:solidFill>
                  <a:latin typeface="Arial" charset="0"/>
                </a:rPr>
                <a:t>Q</a:t>
              </a:r>
              <a:endParaRPr lang="en-US"/>
            </a:p>
          </p:txBody>
        </p:sp>
      </p:grpSp>
      <p:grpSp>
        <p:nvGrpSpPr>
          <p:cNvPr id="83993" name="Group 25"/>
          <p:cNvGrpSpPr>
            <a:grpSpLocks/>
          </p:cNvGrpSpPr>
          <p:nvPr/>
        </p:nvGrpSpPr>
        <p:grpSpPr bwMode="auto">
          <a:xfrm>
            <a:off x="587375" y="3524250"/>
            <a:ext cx="336550" cy="2370138"/>
            <a:chOff x="370" y="2220"/>
            <a:chExt cx="212" cy="1493"/>
          </a:xfrm>
        </p:grpSpPr>
        <p:sp>
          <p:nvSpPr>
            <p:cNvPr id="83994" name="Freeform 26"/>
            <p:cNvSpPr>
              <a:spLocks/>
            </p:cNvSpPr>
            <p:nvPr/>
          </p:nvSpPr>
          <p:spPr bwMode="auto">
            <a:xfrm>
              <a:off x="481" y="2220"/>
              <a:ext cx="101" cy="1493"/>
            </a:xfrm>
            <a:custGeom>
              <a:avLst/>
              <a:gdLst>
                <a:gd name="T0" fmla="*/ 8 w 8"/>
                <a:gd name="T1" fmla="*/ 0 h 115"/>
                <a:gd name="T2" fmla="*/ 4 w 8"/>
                <a:gd name="T3" fmla="*/ 5 h 115"/>
                <a:gd name="T4" fmla="*/ 4 w 8"/>
                <a:gd name="T5" fmla="*/ 53 h 115"/>
                <a:gd name="T6" fmla="*/ 0 w 8"/>
                <a:gd name="T7" fmla="*/ 57 h 115"/>
                <a:gd name="T8" fmla="*/ 4 w 8"/>
                <a:gd name="T9" fmla="*/ 61 h 115"/>
                <a:gd name="T10" fmla="*/ 4 w 8"/>
                <a:gd name="T11" fmla="*/ 109 h 115"/>
                <a:gd name="T12" fmla="*/ 8 w 8"/>
                <a:gd name="T13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15">
                  <a:moveTo>
                    <a:pt x="8" y="0"/>
                  </a:moveTo>
                  <a:cubicBezTo>
                    <a:pt x="6" y="0"/>
                    <a:pt x="4" y="3"/>
                    <a:pt x="4" y="5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6"/>
                    <a:pt x="3" y="57"/>
                    <a:pt x="0" y="57"/>
                  </a:cubicBezTo>
                  <a:cubicBezTo>
                    <a:pt x="3" y="57"/>
                    <a:pt x="4" y="59"/>
                    <a:pt x="4" y="61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4" y="112"/>
                    <a:pt x="6" y="115"/>
                    <a:pt x="8" y="115"/>
                  </a:cubicBez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995" name="Rectangle 27"/>
            <p:cNvSpPr>
              <a:spLocks noChangeArrowheads="1"/>
            </p:cNvSpPr>
            <p:nvPr/>
          </p:nvSpPr>
          <p:spPr bwMode="auto">
            <a:xfrm>
              <a:off x="370" y="2869"/>
              <a:ext cx="15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1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/>
            </a:p>
          </p:txBody>
        </p:sp>
      </p:grpSp>
      <p:sp>
        <p:nvSpPr>
          <p:cNvPr id="83996" name="Rectangle 28"/>
          <p:cNvSpPr>
            <a:spLocks noChangeArrowheads="1"/>
          </p:cNvSpPr>
          <p:nvPr/>
        </p:nvSpPr>
        <p:spPr bwMode="auto">
          <a:xfrm>
            <a:off x="792163" y="5942013"/>
            <a:ext cx="223837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83997" name="Rectangle 29"/>
          <p:cNvSpPr>
            <a:spLocks noChangeArrowheads="1"/>
          </p:cNvSpPr>
          <p:nvPr/>
        </p:nvSpPr>
        <p:spPr bwMode="auto">
          <a:xfrm>
            <a:off x="396875" y="1087438"/>
            <a:ext cx="658813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7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3998" name="Group 30"/>
          <p:cNvGrpSpPr>
            <a:grpSpLocks/>
          </p:cNvGrpSpPr>
          <p:nvPr/>
        </p:nvGrpSpPr>
        <p:grpSpPr bwMode="auto">
          <a:xfrm>
            <a:off x="982663" y="3524250"/>
            <a:ext cx="3525837" cy="2370138"/>
            <a:chOff x="619" y="2220"/>
            <a:chExt cx="2221" cy="1493"/>
          </a:xfrm>
        </p:grpSpPr>
        <p:sp>
          <p:nvSpPr>
            <p:cNvPr id="83999" name="Rectangle 31"/>
            <p:cNvSpPr>
              <a:spLocks noChangeArrowheads="1"/>
            </p:cNvSpPr>
            <p:nvPr/>
          </p:nvSpPr>
          <p:spPr bwMode="auto">
            <a:xfrm>
              <a:off x="619" y="2220"/>
              <a:ext cx="2221" cy="1493"/>
            </a:xfrm>
            <a:prstGeom prst="rect">
              <a:avLst/>
            </a:prstGeom>
            <a:solidFill>
              <a:srgbClr val="EFE9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000" name="Rectangle 32"/>
            <p:cNvSpPr>
              <a:spLocks noChangeArrowheads="1"/>
            </p:cNvSpPr>
            <p:nvPr/>
          </p:nvSpPr>
          <p:spPr bwMode="auto">
            <a:xfrm>
              <a:off x="1331" y="2775"/>
              <a:ext cx="84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 </a:t>
              </a:r>
              <a:r>
                <a:rPr lang="en-US" sz="1700" i="1">
                  <a:solidFill>
                    <a:srgbClr val="000000"/>
                  </a:solidFill>
                  <a:latin typeface="Arial" charset="0"/>
                </a:rPr>
                <a:t>P</a:t>
              </a:r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 × </a:t>
              </a:r>
              <a:r>
                <a:rPr lang="en-US" sz="1700" i="1">
                  <a:solidFill>
                    <a:srgbClr val="000000"/>
                  </a:solidFill>
                  <a:latin typeface="Arial" charset="0"/>
                </a:rPr>
                <a:t>Q</a:t>
              </a:r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 = $400</a:t>
              </a:r>
              <a:endParaRPr lang="en-US"/>
            </a:p>
          </p:txBody>
        </p:sp>
        <p:sp>
          <p:nvSpPr>
            <p:cNvPr id="84001" name="Rectangle 33"/>
            <p:cNvSpPr>
              <a:spLocks noChangeArrowheads="1"/>
            </p:cNvSpPr>
            <p:nvPr/>
          </p:nvSpPr>
          <p:spPr bwMode="auto">
            <a:xfrm>
              <a:off x="1456" y="2946"/>
              <a:ext cx="651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(revenue)</a:t>
              </a:r>
              <a:endParaRPr lang="en-US"/>
            </a:p>
          </p:txBody>
        </p:sp>
      </p:grpSp>
      <p:grpSp>
        <p:nvGrpSpPr>
          <p:cNvPr id="84002" name="Group 34"/>
          <p:cNvGrpSpPr>
            <a:grpSpLocks/>
          </p:cNvGrpSpPr>
          <p:nvPr/>
        </p:nvGrpSpPr>
        <p:grpSpPr bwMode="auto">
          <a:xfrm>
            <a:off x="620713" y="3392488"/>
            <a:ext cx="4171950" cy="2862262"/>
            <a:chOff x="391" y="2137"/>
            <a:chExt cx="2628" cy="1803"/>
          </a:xfrm>
        </p:grpSpPr>
        <p:sp>
          <p:nvSpPr>
            <p:cNvPr id="84003" name="Rectangle 35"/>
            <p:cNvSpPr>
              <a:spLocks noChangeArrowheads="1"/>
            </p:cNvSpPr>
            <p:nvPr/>
          </p:nvSpPr>
          <p:spPr bwMode="auto">
            <a:xfrm>
              <a:off x="391" y="2137"/>
              <a:ext cx="22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$4</a:t>
              </a:r>
              <a:endParaRPr lang="en-US"/>
            </a:p>
          </p:txBody>
        </p:sp>
        <p:sp>
          <p:nvSpPr>
            <p:cNvPr id="84004" name="Rectangle 36"/>
            <p:cNvSpPr>
              <a:spLocks noChangeArrowheads="1"/>
            </p:cNvSpPr>
            <p:nvPr/>
          </p:nvSpPr>
          <p:spPr bwMode="auto">
            <a:xfrm>
              <a:off x="2721" y="3743"/>
              <a:ext cx="298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  <p:grpSp>
          <p:nvGrpSpPr>
            <p:cNvPr id="84005" name="Group 37"/>
            <p:cNvGrpSpPr>
              <a:grpSpLocks/>
            </p:cNvGrpSpPr>
            <p:nvPr/>
          </p:nvGrpSpPr>
          <p:grpSpPr bwMode="auto">
            <a:xfrm>
              <a:off x="619" y="2181"/>
              <a:ext cx="2271" cy="1532"/>
              <a:chOff x="619" y="2181"/>
              <a:chExt cx="2271" cy="1532"/>
            </a:xfrm>
          </p:grpSpPr>
          <p:sp>
            <p:nvSpPr>
              <p:cNvPr id="84006" name="Freeform 38"/>
              <p:cNvSpPr>
                <a:spLocks/>
              </p:cNvSpPr>
              <p:nvPr/>
            </p:nvSpPr>
            <p:spPr bwMode="auto">
              <a:xfrm>
                <a:off x="619" y="2220"/>
                <a:ext cx="2221" cy="1493"/>
              </a:xfrm>
              <a:custGeom>
                <a:avLst/>
                <a:gdLst>
                  <a:gd name="T0" fmla="*/ 2221 w 2221"/>
                  <a:gd name="T1" fmla="*/ 1493 h 1493"/>
                  <a:gd name="T2" fmla="*/ 2221 w 2221"/>
                  <a:gd name="T3" fmla="*/ 0 h 1493"/>
                  <a:gd name="T4" fmla="*/ 0 w 2221"/>
                  <a:gd name="T5" fmla="*/ 0 h 1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1" h="1493">
                    <a:moveTo>
                      <a:pt x="2221" y="1493"/>
                    </a:moveTo>
                    <a:lnTo>
                      <a:pt x="2221" y="0"/>
                    </a:lnTo>
                    <a:lnTo>
                      <a:pt x="0" y="0"/>
                    </a:lnTo>
                  </a:path>
                </a:pathLst>
              </a:custGeom>
              <a:noFill/>
              <a:ln w="20638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07" name="Oval 39"/>
              <p:cNvSpPr>
                <a:spLocks noChangeArrowheads="1"/>
              </p:cNvSpPr>
              <p:nvPr/>
            </p:nvSpPr>
            <p:spPr bwMode="auto">
              <a:xfrm>
                <a:off x="2802" y="2181"/>
                <a:ext cx="88" cy="8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93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3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solidFill>
                  <a:schemeClr val="bg2">
                    <a:lumMod val="10000"/>
                  </a:schemeClr>
                </a:solidFill>
              </a:rPr>
              <a:t>Elasticity and Total Revenue along a Linear Demand Curve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With an </a:t>
            </a:r>
            <a:r>
              <a:rPr lang="en-US" b="1" dirty="0"/>
              <a:t>inelastic demand </a:t>
            </a:r>
            <a:r>
              <a:rPr lang="en-US" dirty="0"/>
              <a:t>curve, an increase in price leads to a decrease in quantity that is proportionately smaller. Thus, </a:t>
            </a:r>
            <a:r>
              <a:rPr lang="en-US" i="1" dirty="0"/>
              <a:t>total revenue increases.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9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947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</a:rPr>
              <a:t>Figure 3 How Total Revenue Changes When Price Changes: Inelastic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F3F6F9"/>
          </a:solidFill>
          <a:ln w="1619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F3F6F9"/>
          </a:solidFill>
          <a:ln w="1619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F2F4F8"/>
          </a:solidFill>
          <a:ln w="14605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F2F4F8"/>
          </a:solidFill>
          <a:ln w="14605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3" name="Rectangle 9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F1F4F7"/>
          </a:solidFill>
          <a:ln w="1317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4" name="Rectangle 10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F1F4F7"/>
          </a:solidFill>
          <a:ln w="1317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5" name="Rectangle 11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F0F2F5"/>
          </a:solidFill>
          <a:ln w="117475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6" name="Rectangle 12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F0F2F5"/>
          </a:solidFill>
          <a:ln w="117475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7" name="Rectangle 13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EEF1F4"/>
          </a:solidFill>
          <a:ln w="1031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8" name="Rectangle 14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EEF1F4"/>
          </a:solidFill>
          <a:ln w="103188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59" name="Rectangle 15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EDEFF3"/>
          </a:solidFill>
          <a:ln w="8731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0" name="Rectangle 16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EDEFF3"/>
          </a:solidFill>
          <a:ln w="87313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1" name="Rectangle 17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EBEEF2"/>
          </a:solidFill>
          <a:ln w="73025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EBEEF2"/>
          </a:solidFill>
          <a:ln w="73025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3" name="Rectangle 19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EAECF1"/>
          </a:solidFill>
          <a:ln w="58738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4" name="Rectangle 20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EAECF1"/>
          </a:solidFill>
          <a:ln w="58738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5" name="Rectangle 21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E9EBF0"/>
          </a:solidFill>
          <a:ln w="44450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6" name="Rectangle 22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E9EBF0"/>
          </a:solidFill>
          <a:ln w="44450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7" name="Rectangle 23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E7EAEF"/>
          </a:solidFill>
          <a:ln w="2857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8" name="Rectangle 24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E7EAEF"/>
          </a:solidFill>
          <a:ln w="2857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69" name="Rectangle 25"/>
          <p:cNvSpPr>
            <a:spLocks noChangeArrowheads="1"/>
          </p:cNvSpPr>
          <p:nvPr/>
        </p:nvSpPr>
        <p:spPr bwMode="auto">
          <a:xfrm>
            <a:off x="561975" y="1865313"/>
            <a:ext cx="3738563" cy="3421062"/>
          </a:xfrm>
          <a:prstGeom prst="rect">
            <a:avLst/>
          </a:prstGeom>
          <a:solidFill>
            <a:srgbClr val="E6E9EF"/>
          </a:solidFill>
          <a:ln w="1428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70" name="Rectangle 26"/>
          <p:cNvSpPr>
            <a:spLocks noChangeArrowheads="1"/>
          </p:cNvSpPr>
          <p:nvPr/>
        </p:nvSpPr>
        <p:spPr bwMode="auto">
          <a:xfrm>
            <a:off x="5165725" y="1865313"/>
            <a:ext cx="3738563" cy="3421062"/>
          </a:xfrm>
          <a:prstGeom prst="rect">
            <a:avLst/>
          </a:prstGeom>
          <a:solidFill>
            <a:srgbClr val="E6E9EF"/>
          </a:solidFill>
          <a:ln w="1428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71" name="Rectangle 27"/>
          <p:cNvSpPr>
            <a:spLocks noChangeArrowheads="1"/>
          </p:cNvSpPr>
          <p:nvPr/>
        </p:nvSpPr>
        <p:spPr bwMode="auto">
          <a:xfrm>
            <a:off x="487363" y="1806575"/>
            <a:ext cx="3754437" cy="34051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72" name="Rectangle 28"/>
          <p:cNvSpPr>
            <a:spLocks noChangeArrowheads="1"/>
          </p:cNvSpPr>
          <p:nvPr/>
        </p:nvSpPr>
        <p:spPr bwMode="auto">
          <a:xfrm>
            <a:off x="5106988" y="1806575"/>
            <a:ext cx="3738562" cy="34051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2973" name="Group 29"/>
          <p:cNvGrpSpPr>
            <a:grpSpLocks/>
          </p:cNvGrpSpPr>
          <p:nvPr/>
        </p:nvGrpSpPr>
        <p:grpSpPr bwMode="auto">
          <a:xfrm>
            <a:off x="2320925" y="2306638"/>
            <a:ext cx="1616075" cy="2905125"/>
            <a:chOff x="1462" y="1453"/>
            <a:chExt cx="1018" cy="1830"/>
          </a:xfrm>
        </p:grpSpPr>
        <p:sp>
          <p:nvSpPr>
            <p:cNvPr id="82974" name="Line 30"/>
            <p:cNvSpPr>
              <a:spLocks noChangeShapeType="1"/>
            </p:cNvSpPr>
            <p:nvPr/>
          </p:nvSpPr>
          <p:spPr bwMode="auto">
            <a:xfrm>
              <a:off x="1462" y="1453"/>
              <a:ext cx="564" cy="1830"/>
            </a:xfrm>
            <a:prstGeom prst="line">
              <a:avLst/>
            </a:prstGeom>
            <a:noFill/>
            <a:ln w="44450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75" name="Rectangle 31"/>
            <p:cNvSpPr>
              <a:spLocks noChangeArrowheads="1"/>
            </p:cNvSpPr>
            <p:nvPr/>
          </p:nvSpPr>
          <p:spPr bwMode="auto">
            <a:xfrm>
              <a:off x="2050" y="3044"/>
              <a:ext cx="430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Demand</a:t>
              </a:r>
              <a:endParaRPr lang="en-US"/>
            </a:p>
          </p:txBody>
        </p:sp>
      </p:grpSp>
      <p:sp>
        <p:nvSpPr>
          <p:cNvPr id="82976" name="Rectangle 32"/>
          <p:cNvSpPr>
            <a:spLocks noChangeArrowheads="1"/>
          </p:cNvSpPr>
          <p:nvPr/>
        </p:nvSpPr>
        <p:spPr bwMode="auto">
          <a:xfrm>
            <a:off x="3635375" y="5248275"/>
            <a:ext cx="73977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82977" name="Rectangle 33"/>
          <p:cNvSpPr>
            <a:spLocks noChangeArrowheads="1"/>
          </p:cNvSpPr>
          <p:nvPr/>
        </p:nvSpPr>
        <p:spPr bwMode="auto">
          <a:xfrm>
            <a:off x="381000" y="5253038"/>
            <a:ext cx="165100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82978" name="Rectangle 34"/>
          <p:cNvSpPr>
            <a:spLocks noChangeArrowheads="1"/>
          </p:cNvSpPr>
          <p:nvPr/>
        </p:nvSpPr>
        <p:spPr bwMode="auto">
          <a:xfrm>
            <a:off x="88900" y="1771650"/>
            <a:ext cx="48736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2979" name="Group 35"/>
          <p:cNvGrpSpPr>
            <a:grpSpLocks/>
          </p:cNvGrpSpPr>
          <p:nvPr/>
        </p:nvGrpSpPr>
        <p:grpSpPr bwMode="auto">
          <a:xfrm>
            <a:off x="487363" y="4802188"/>
            <a:ext cx="2611437" cy="409575"/>
            <a:chOff x="307" y="3025"/>
            <a:chExt cx="1645" cy="258"/>
          </a:xfrm>
        </p:grpSpPr>
        <p:sp>
          <p:nvSpPr>
            <p:cNvPr id="82980" name="Rectangle 36"/>
            <p:cNvSpPr>
              <a:spLocks noChangeArrowheads="1"/>
            </p:cNvSpPr>
            <p:nvPr/>
          </p:nvSpPr>
          <p:spPr bwMode="auto">
            <a:xfrm>
              <a:off x="307" y="3025"/>
              <a:ext cx="1645" cy="258"/>
            </a:xfrm>
            <a:prstGeom prst="rect">
              <a:avLst/>
            </a:prstGeom>
            <a:solidFill>
              <a:srgbClr val="EFE9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81" name="Rectangle 37"/>
            <p:cNvSpPr>
              <a:spLocks noChangeArrowheads="1"/>
            </p:cNvSpPr>
            <p:nvPr/>
          </p:nvSpPr>
          <p:spPr bwMode="auto">
            <a:xfrm>
              <a:off x="780" y="3084"/>
              <a:ext cx="75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Revenue =  $100 </a:t>
              </a:r>
            </a:p>
          </p:txBody>
        </p:sp>
      </p:grpSp>
      <p:sp>
        <p:nvSpPr>
          <p:cNvPr id="82982" name="Rectangle 38"/>
          <p:cNvSpPr>
            <a:spLocks noChangeArrowheads="1"/>
          </p:cNvSpPr>
          <p:nvPr/>
        </p:nvSpPr>
        <p:spPr bwMode="auto">
          <a:xfrm>
            <a:off x="8218488" y="5248275"/>
            <a:ext cx="73977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82983" name="Rectangle 39"/>
          <p:cNvSpPr>
            <a:spLocks noChangeArrowheads="1"/>
          </p:cNvSpPr>
          <p:nvPr/>
        </p:nvSpPr>
        <p:spPr bwMode="auto">
          <a:xfrm>
            <a:off x="4970463" y="5253038"/>
            <a:ext cx="165100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82984" name="Rectangle 40"/>
          <p:cNvSpPr>
            <a:spLocks noChangeArrowheads="1"/>
          </p:cNvSpPr>
          <p:nvPr/>
        </p:nvSpPr>
        <p:spPr bwMode="auto">
          <a:xfrm>
            <a:off x="4676775" y="1771650"/>
            <a:ext cx="48736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2985" name="Group 41"/>
          <p:cNvGrpSpPr>
            <a:grpSpLocks/>
          </p:cNvGrpSpPr>
          <p:nvPr/>
        </p:nvGrpSpPr>
        <p:grpSpPr bwMode="auto">
          <a:xfrm>
            <a:off x="5106988" y="3949700"/>
            <a:ext cx="2066925" cy="1262063"/>
            <a:chOff x="3217" y="2488"/>
            <a:chExt cx="1302" cy="795"/>
          </a:xfrm>
        </p:grpSpPr>
        <p:sp>
          <p:nvSpPr>
            <p:cNvPr id="82986" name="Rectangle 42"/>
            <p:cNvSpPr>
              <a:spLocks noChangeArrowheads="1"/>
            </p:cNvSpPr>
            <p:nvPr/>
          </p:nvSpPr>
          <p:spPr bwMode="auto">
            <a:xfrm>
              <a:off x="3217" y="2488"/>
              <a:ext cx="1302" cy="795"/>
            </a:xfrm>
            <a:prstGeom prst="rect">
              <a:avLst/>
            </a:prstGeom>
            <a:solidFill>
              <a:srgbClr val="EFE9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87" name="Rectangle 43"/>
            <p:cNvSpPr>
              <a:spLocks noChangeArrowheads="1"/>
            </p:cNvSpPr>
            <p:nvPr/>
          </p:nvSpPr>
          <p:spPr bwMode="auto">
            <a:xfrm>
              <a:off x="3508" y="2796"/>
              <a:ext cx="73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Revenue = $240 </a:t>
              </a:r>
              <a:endParaRPr lang="en-US"/>
            </a:p>
          </p:txBody>
        </p:sp>
      </p:grpSp>
      <p:grpSp>
        <p:nvGrpSpPr>
          <p:cNvPr id="82988" name="Group 44"/>
          <p:cNvGrpSpPr>
            <a:grpSpLocks/>
          </p:cNvGrpSpPr>
          <p:nvPr/>
        </p:nvGrpSpPr>
        <p:grpSpPr bwMode="auto">
          <a:xfrm>
            <a:off x="6646863" y="2276475"/>
            <a:ext cx="1635125" cy="2935288"/>
            <a:chOff x="4187" y="1434"/>
            <a:chExt cx="1030" cy="1849"/>
          </a:xfrm>
        </p:grpSpPr>
        <p:sp>
          <p:nvSpPr>
            <p:cNvPr id="82989" name="Line 45"/>
            <p:cNvSpPr>
              <a:spLocks noChangeShapeType="1"/>
            </p:cNvSpPr>
            <p:nvPr/>
          </p:nvSpPr>
          <p:spPr bwMode="auto">
            <a:xfrm>
              <a:off x="4187" y="1434"/>
              <a:ext cx="582" cy="1849"/>
            </a:xfrm>
            <a:prstGeom prst="line">
              <a:avLst/>
            </a:prstGeom>
            <a:noFill/>
            <a:ln w="44450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90" name="Rectangle 46"/>
            <p:cNvSpPr>
              <a:spLocks noChangeArrowheads="1"/>
            </p:cNvSpPr>
            <p:nvPr/>
          </p:nvSpPr>
          <p:spPr bwMode="auto">
            <a:xfrm>
              <a:off x="4787" y="3044"/>
              <a:ext cx="430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Demand</a:t>
              </a:r>
              <a:endParaRPr lang="en-US"/>
            </a:p>
          </p:txBody>
        </p:sp>
      </p:grpSp>
      <p:grpSp>
        <p:nvGrpSpPr>
          <p:cNvPr id="82991" name="Group 47"/>
          <p:cNvGrpSpPr>
            <a:grpSpLocks/>
          </p:cNvGrpSpPr>
          <p:nvPr/>
        </p:nvGrpSpPr>
        <p:grpSpPr bwMode="auto">
          <a:xfrm>
            <a:off x="293688" y="4686300"/>
            <a:ext cx="2925762" cy="749300"/>
            <a:chOff x="185" y="2952"/>
            <a:chExt cx="1843" cy="472"/>
          </a:xfrm>
        </p:grpSpPr>
        <p:sp>
          <p:nvSpPr>
            <p:cNvPr id="82992" name="Rectangle 48"/>
            <p:cNvSpPr>
              <a:spLocks noChangeArrowheads="1"/>
            </p:cNvSpPr>
            <p:nvPr/>
          </p:nvSpPr>
          <p:spPr bwMode="auto">
            <a:xfrm>
              <a:off x="185" y="2952"/>
              <a:ext cx="163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$1</a:t>
              </a:r>
              <a:endParaRPr lang="en-US"/>
            </a:p>
          </p:txBody>
        </p:sp>
        <p:sp>
          <p:nvSpPr>
            <p:cNvPr id="82993" name="Rectangle 49"/>
            <p:cNvSpPr>
              <a:spLocks noChangeArrowheads="1"/>
            </p:cNvSpPr>
            <p:nvPr/>
          </p:nvSpPr>
          <p:spPr bwMode="auto">
            <a:xfrm>
              <a:off x="1869" y="3309"/>
              <a:ext cx="1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100</a:t>
              </a:r>
              <a:endParaRPr lang="en-US"/>
            </a:p>
          </p:txBody>
        </p:sp>
        <p:grpSp>
          <p:nvGrpSpPr>
            <p:cNvPr id="82994" name="Group 50"/>
            <p:cNvGrpSpPr>
              <a:grpSpLocks/>
            </p:cNvGrpSpPr>
            <p:nvPr/>
          </p:nvGrpSpPr>
          <p:grpSpPr bwMode="auto">
            <a:xfrm>
              <a:off x="307" y="2988"/>
              <a:ext cx="1672" cy="295"/>
              <a:chOff x="307" y="2988"/>
              <a:chExt cx="1672" cy="295"/>
            </a:xfrm>
          </p:grpSpPr>
          <p:sp>
            <p:nvSpPr>
              <p:cNvPr id="82995" name="Freeform 51"/>
              <p:cNvSpPr>
                <a:spLocks/>
              </p:cNvSpPr>
              <p:nvPr/>
            </p:nvSpPr>
            <p:spPr bwMode="auto">
              <a:xfrm>
                <a:off x="307" y="3025"/>
                <a:ext cx="1645" cy="258"/>
              </a:xfrm>
              <a:custGeom>
                <a:avLst/>
                <a:gdLst>
                  <a:gd name="T0" fmla="*/ 1645 w 1645"/>
                  <a:gd name="T1" fmla="*/ 258 h 258"/>
                  <a:gd name="T2" fmla="*/ 1645 w 1645"/>
                  <a:gd name="T3" fmla="*/ 0 h 258"/>
                  <a:gd name="T4" fmla="*/ 0 w 1645"/>
                  <a:gd name="T5" fmla="*/ 0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45" h="258">
                    <a:moveTo>
                      <a:pt x="1645" y="258"/>
                    </a:moveTo>
                    <a:lnTo>
                      <a:pt x="1645" y="0"/>
                    </a:lnTo>
                    <a:lnTo>
                      <a:pt x="0" y="0"/>
                    </a:lnTo>
                  </a:path>
                </a:pathLst>
              </a:custGeom>
              <a:noFill/>
              <a:ln w="14288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96" name="Oval 52"/>
              <p:cNvSpPr>
                <a:spLocks noChangeArrowheads="1"/>
              </p:cNvSpPr>
              <p:nvPr/>
            </p:nvSpPr>
            <p:spPr bwMode="auto">
              <a:xfrm>
                <a:off x="1915" y="2988"/>
                <a:ext cx="64" cy="6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2997" name="Group 53"/>
          <p:cNvGrpSpPr>
            <a:grpSpLocks/>
          </p:cNvGrpSpPr>
          <p:nvPr/>
        </p:nvGrpSpPr>
        <p:grpSpPr bwMode="auto">
          <a:xfrm>
            <a:off x="4886325" y="3843338"/>
            <a:ext cx="2481263" cy="1633537"/>
            <a:chOff x="3078" y="2421"/>
            <a:chExt cx="1563" cy="1029"/>
          </a:xfrm>
        </p:grpSpPr>
        <p:sp>
          <p:nvSpPr>
            <p:cNvPr id="82998" name="Rectangle 54"/>
            <p:cNvSpPr>
              <a:spLocks noChangeArrowheads="1"/>
            </p:cNvSpPr>
            <p:nvPr/>
          </p:nvSpPr>
          <p:spPr bwMode="auto">
            <a:xfrm>
              <a:off x="3078" y="2421"/>
              <a:ext cx="163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$3</a:t>
              </a:r>
              <a:endParaRPr lang="en-US"/>
            </a:p>
          </p:txBody>
        </p:sp>
        <p:sp>
          <p:nvSpPr>
            <p:cNvPr id="82999" name="Rectangle 55"/>
            <p:cNvSpPr>
              <a:spLocks noChangeArrowheads="1"/>
            </p:cNvSpPr>
            <p:nvPr/>
          </p:nvSpPr>
          <p:spPr bwMode="auto">
            <a:xfrm>
              <a:off x="4478" y="3309"/>
              <a:ext cx="163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80</a:t>
              </a:r>
              <a:endParaRPr lang="en-US"/>
            </a:p>
          </p:txBody>
        </p:sp>
        <p:grpSp>
          <p:nvGrpSpPr>
            <p:cNvPr id="83000" name="Group 56"/>
            <p:cNvGrpSpPr>
              <a:grpSpLocks/>
            </p:cNvGrpSpPr>
            <p:nvPr/>
          </p:nvGrpSpPr>
          <p:grpSpPr bwMode="auto">
            <a:xfrm>
              <a:off x="3217" y="2460"/>
              <a:ext cx="1339" cy="823"/>
              <a:chOff x="3217" y="2460"/>
              <a:chExt cx="1339" cy="823"/>
            </a:xfrm>
          </p:grpSpPr>
          <p:sp>
            <p:nvSpPr>
              <p:cNvPr id="83001" name="Freeform 57"/>
              <p:cNvSpPr>
                <a:spLocks/>
              </p:cNvSpPr>
              <p:nvPr/>
            </p:nvSpPr>
            <p:spPr bwMode="auto">
              <a:xfrm>
                <a:off x="3217" y="2488"/>
                <a:ext cx="1302" cy="795"/>
              </a:xfrm>
              <a:custGeom>
                <a:avLst/>
                <a:gdLst>
                  <a:gd name="T0" fmla="*/ 1302 w 1302"/>
                  <a:gd name="T1" fmla="*/ 795 h 795"/>
                  <a:gd name="T2" fmla="*/ 1302 w 1302"/>
                  <a:gd name="T3" fmla="*/ 0 h 795"/>
                  <a:gd name="T4" fmla="*/ 0 w 1302"/>
                  <a:gd name="T5" fmla="*/ 0 h 7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02" h="795">
                    <a:moveTo>
                      <a:pt x="1302" y="795"/>
                    </a:moveTo>
                    <a:lnTo>
                      <a:pt x="1302" y="0"/>
                    </a:lnTo>
                    <a:lnTo>
                      <a:pt x="0" y="0"/>
                    </a:lnTo>
                  </a:path>
                </a:pathLst>
              </a:custGeom>
              <a:noFill/>
              <a:ln w="14288" cap="flat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02" name="Oval 58"/>
              <p:cNvSpPr>
                <a:spLocks noChangeArrowheads="1"/>
              </p:cNvSpPr>
              <p:nvPr/>
            </p:nvSpPr>
            <p:spPr bwMode="auto">
              <a:xfrm>
                <a:off x="4492" y="2460"/>
                <a:ext cx="64" cy="56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3003" name="Freeform 59"/>
          <p:cNvSpPr>
            <a:spLocks/>
          </p:cNvSpPr>
          <p:nvPr/>
        </p:nvSpPr>
        <p:spPr bwMode="auto">
          <a:xfrm>
            <a:off x="487363" y="1806575"/>
            <a:ext cx="3754437" cy="3405188"/>
          </a:xfrm>
          <a:custGeom>
            <a:avLst/>
            <a:gdLst>
              <a:gd name="T0" fmla="*/ 0 w 2365"/>
              <a:gd name="T1" fmla="*/ 0 h 2145"/>
              <a:gd name="T2" fmla="*/ 0 w 2365"/>
              <a:gd name="T3" fmla="*/ 2145 h 2145"/>
              <a:gd name="T4" fmla="*/ 2365 w 2365"/>
              <a:gd name="T5" fmla="*/ 2145 h 2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65" h="2145">
                <a:moveTo>
                  <a:pt x="0" y="0"/>
                </a:moveTo>
                <a:lnTo>
                  <a:pt x="0" y="2145"/>
                </a:lnTo>
                <a:lnTo>
                  <a:pt x="2365" y="2145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004" name="Freeform 60"/>
          <p:cNvSpPr>
            <a:spLocks/>
          </p:cNvSpPr>
          <p:nvPr/>
        </p:nvSpPr>
        <p:spPr bwMode="auto">
          <a:xfrm>
            <a:off x="5106988" y="1806575"/>
            <a:ext cx="3738562" cy="3405188"/>
          </a:xfrm>
          <a:custGeom>
            <a:avLst/>
            <a:gdLst>
              <a:gd name="T0" fmla="*/ 0 w 2355"/>
              <a:gd name="T1" fmla="*/ 0 h 2145"/>
              <a:gd name="T2" fmla="*/ 0 w 2355"/>
              <a:gd name="T3" fmla="*/ 2145 h 2145"/>
              <a:gd name="T4" fmla="*/ 2355 w 2355"/>
              <a:gd name="T5" fmla="*/ 2145 h 2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5" h="2145">
                <a:moveTo>
                  <a:pt x="0" y="0"/>
                </a:moveTo>
                <a:lnTo>
                  <a:pt x="0" y="2145"/>
                </a:lnTo>
                <a:lnTo>
                  <a:pt x="2355" y="2145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005" name="Rectangle 61"/>
          <p:cNvSpPr>
            <a:spLocks noChangeArrowheads="1"/>
          </p:cNvSpPr>
          <p:nvPr/>
        </p:nvSpPr>
        <p:spPr bwMode="auto">
          <a:xfrm>
            <a:off x="1323975" y="2047875"/>
            <a:ext cx="2073275" cy="374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An Increase in price from $1</a:t>
            </a:r>
          </a:p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 to $3 …</a:t>
            </a:r>
            <a:endParaRPr lang="en-US"/>
          </a:p>
        </p:txBody>
      </p:sp>
      <p:sp>
        <p:nvSpPr>
          <p:cNvPr id="83006" name="Rectangle 62"/>
          <p:cNvSpPr>
            <a:spLocks noChangeArrowheads="1"/>
          </p:cNvSpPr>
          <p:nvPr/>
        </p:nvSpPr>
        <p:spPr bwMode="auto">
          <a:xfrm>
            <a:off x="5829300" y="2047875"/>
            <a:ext cx="2073275" cy="5572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… leads to an Increase in total revenue from $100 to $240</a:t>
            </a:r>
          </a:p>
        </p:txBody>
      </p:sp>
    </p:spTree>
    <p:extLst>
      <p:ext uri="{BB962C8B-B14F-4D97-AF65-F5344CB8AC3E}">
        <p14:creationId xmlns:p14="http://schemas.microsoft.com/office/powerpoint/2010/main" val="11359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82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8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3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05" grpId="0" animBg="1" autoUpdateAnimBg="0"/>
      <p:bldP spid="83006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Elasticity and Total Revenue along a Linear Demand Curve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With an </a:t>
            </a:r>
            <a:r>
              <a:rPr lang="en-US" b="1" dirty="0"/>
              <a:t>elastic demand curve</a:t>
            </a:r>
            <a:r>
              <a:rPr lang="en-US" dirty="0"/>
              <a:t>, an increase in the price leads to a decrease in quantity demanded that is proportionately larger. Thus, </a:t>
            </a:r>
            <a:r>
              <a:rPr lang="en-US" i="1" dirty="0"/>
              <a:t>total revenue decreases.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1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 descr="E:\Mankiw\Mankiw PPT\narrow aqua button bckgr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23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</a:rPr>
              <a:t>Figure 4 How Total Revenue Changes When Price Changes: Elastic Demand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F3F6F9"/>
          </a:solidFill>
          <a:ln w="165100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F3F6F9"/>
          </a:solidFill>
          <a:ln w="165100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F2F4F8"/>
          </a:solidFill>
          <a:ln w="1492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28" name="Rectangle 8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F2F4F8"/>
          </a:solidFill>
          <a:ln w="149225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F1F4F7"/>
          </a:solidFill>
          <a:ln w="13493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0" name="Rectangle 10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F1F4F7"/>
          </a:solidFill>
          <a:ln w="134938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1" name="Rectangle 11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F0F2F5"/>
          </a:solidFill>
          <a:ln w="12065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2" name="Rectangle 12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F0F2F5"/>
          </a:solidFill>
          <a:ln w="120650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3" name="Rectangle 13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EEF1F4"/>
          </a:solidFill>
          <a:ln w="104775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4" name="Rectangle 14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EEF1F4"/>
          </a:solidFill>
          <a:ln w="104775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5" name="Rectangle 15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EDEFF3"/>
          </a:solidFill>
          <a:ln w="90488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6" name="Rectangle 16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EDEFF3"/>
          </a:solidFill>
          <a:ln w="90488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7" name="Rectangle 17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EBEEF2"/>
          </a:solidFill>
          <a:ln w="7461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8" name="Rectangle 18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EBEEF2"/>
          </a:solidFill>
          <a:ln w="74613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39" name="Rectangle 19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EAECF1"/>
          </a:solidFill>
          <a:ln w="60325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0" name="Rectangle 20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EAECF1"/>
          </a:solidFill>
          <a:ln w="60325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1" name="Rectangle 21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E9EBF0"/>
          </a:solidFill>
          <a:ln w="44450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2" name="Rectangle 22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E9EBF0"/>
          </a:solidFill>
          <a:ln w="44450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3" name="Rectangle 23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E7EAEF"/>
          </a:solidFill>
          <a:ln w="301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4" name="Rectangle 24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E7EAEF"/>
          </a:solidFill>
          <a:ln w="301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5" name="Rectangle 25"/>
          <p:cNvSpPr>
            <a:spLocks noChangeArrowheads="1"/>
          </p:cNvSpPr>
          <p:nvPr/>
        </p:nvSpPr>
        <p:spPr bwMode="auto">
          <a:xfrm>
            <a:off x="596900" y="1790700"/>
            <a:ext cx="3824288" cy="3725863"/>
          </a:xfrm>
          <a:prstGeom prst="rect">
            <a:avLst/>
          </a:prstGeom>
          <a:solidFill>
            <a:srgbClr val="E6E9EF"/>
          </a:solidFill>
          <a:ln w="1428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6" name="Rectangle 26"/>
          <p:cNvSpPr>
            <a:spLocks noChangeArrowheads="1"/>
          </p:cNvSpPr>
          <p:nvPr/>
        </p:nvSpPr>
        <p:spPr bwMode="auto">
          <a:xfrm>
            <a:off x="5170488" y="1790700"/>
            <a:ext cx="3825875" cy="3725863"/>
          </a:xfrm>
          <a:prstGeom prst="rect">
            <a:avLst/>
          </a:prstGeom>
          <a:solidFill>
            <a:srgbClr val="E6E9EF"/>
          </a:solidFill>
          <a:ln w="1428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7" name="Rectangle 27"/>
          <p:cNvSpPr>
            <a:spLocks noChangeArrowheads="1"/>
          </p:cNvSpPr>
          <p:nvPr/>
        </p:nvSpPr>
        <p:spPr bwMode="auto">
          <a:xfrm>
            <a:off x="522288" y="1727200"/>
            <a:ext cx="3838575" cy="37099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48" name="Freeform 28"/>
          <p:cNvSpPr>
            <a:spLocks/>
          </p:cNvSpPr>
          <p:nvPr/>
        </p:nvSpPr>
        <p:spPr bwMode="auto">
          <a:xfrm>
            <a:off x="522288" y="1727200"/>
            <a:ext cx="3838575" cy="3709988"/>
          </a:xfrm>
          <a:custGeom>
            <a:avLst/>
            <a:gdLst>
              <a:gd name="T0" fmla="*/ 0 w 2418"/>
              <a:gd name="T1" fmla="*/ 0 h 2337"/>
              <a:gd name="T2" fmla="*/ 0 w 2418"/>
              <a:gd name="T3" fmla="*/ 2337 h 2337"/>
              <a:gd name="T4" fmla="*/ 2418 w 2418"/>
              <a:gd name="T5" fmla="*/ 2337 h 2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18" h="2337">
                <a:moveTo>
                  <a:pt x="0" y="0"/>
                </a:moveTo>
                <a:lnTo>
                  <a:pt x="0" y="2337"/>
                </a:lnTo>
                <a:lnTo>
                  <a:pt x="2418" y="2337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49" name="Rectangle 29"/>
          <p:cNvSpPr>
            <a:spLocks noChangeArrowheads="1"/>
          </p:cNvSpPr>
          <p:nvPr/>
        </p:nvSpPr>
        <p:spPr bwMode="auto">
          <a:xfrm>
            <a:off x="5095875" y="1727200"/>
            <a:ext cx="3824288" cy="37099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50" name="Freeform 30"/>
          <p:cNvSpPr>
            <a:spLocks/>
          </p:cNvSpPr>
          <p:nvPr/>
        </p:nvSpPr>
        <p:spPr bwMode="auto">
          <a:xfrm>
            <a:off x="5095875" y="1727200"/>
            <a:ext cx="3824288" cy="3709988"/>
          </a:xfrm>
          <a:custGeom>
            <a:avLst/>
            <a:gdLst>
              <a:gd name="T0" fmla="*/ 0 w 2409"/>
              <a:gd name="T1" fmla="*/ 0 h 2337"/>
              <a:gd name="T2" fmla="*/ 0 w 2409"/>
              <a:gd name="T3" fmla="*/ 2337 h 2337"/>
              <a:gd name="T4" fmla="*/ 2409 w 2409"/>
              <a:gd name="T5" fmla="*/ 2337 h 2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9" h="2337">
                <a:moveTo>
                  <a:pt x="0" y="0"/>
                </a:moveTo>
                <a:lnTo>
                  <a:pt x="0" y="2337"/>
                </a:lnTo>
                <a:lnTo>
                  <a:pt x="2409" y="2337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1951" name="Group 31"/>
          <p:cNvGrpSpPr>
            <a:grpSpLocks/>
          </p:cNvGrpSpPr>
          <p:nvPr/>
        </p:nvGrpSpPr>
        <p:grpSpPr bwMode="auto">
          <a:xfrm>
            <a:off x="627063" y="3117850"/>
            <a:ext cx="3235325" cy="1127125"/>
            <a:chOff x="395" y="1964"/>
            <a:chExt cx="2038" cy="710"/>
          </a:xfrm>
        </p:grpSpPr>
        <p:sp>
          <p:nvSpPr>
            <p:cNvPr id="81952" name="Line 32"/>
            <p:cNvSpPr>
              <a:spLocks noChangeShapeType="1"/>
            </p:cNvSpPr>
            <p:nvPr/>
          </p:nvSpPr>
          <p:spPr bwMode="auto">
            <a:xfrm>
              <a:off x="395" y="1964"/>
              <a:ext cx="1568" cy="614"/>
            </a:xfrm>
            <a:prstGeom prst="line">
              <a:avLst/>
            </a:prstGeom>
            <a:noFill/>
            <a:ln w="44450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53" name="Rectangle 33"/>
            <p:cNvSpPr>
              <a:spLocks noChangeArrowheads="1"/>
            </p:cNvSpPr>
            <p:nvPr/>
          </p:nvSpPr>
          <p:spPr bwMode="auto">
            <a:xfrm>
              <a:off x="1995" y="2520"/>
              <a:ext cx="43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" charset="0"/>
                </a:rPr>
                <a:t>Demand</a:t>
              </a:r>
              <a:endParaRPr lang="en-US"/>
            </a:p>
          </p:txBody>
        </p:sp>
      </p:grpSp>
      <p:sp>
        <p:nvSpPr>
          <p:cNvPr id="81954" name="Rectangle 34"/>
          <p:cNvSpPr>
            <a:spLocks noChangeArrowheads="1"/>
          </p:cNvSpPr>
          <p:nvPr/>
        </p:nvSpPr>
        <p:spPr bwMode="auto">
          <a:xfrm>
            <a:off x="3703638" y="5470525"/>
            <a:ext cx="7556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81955" name="Rectangle 35"/>
          <p:cNvSpPr>
            <a:spLocks noChangeArrowheads="1"/>
          </p:cNvSpPr>
          <p:nvPr/>
        </p:nvSpPr>
        <p:spPr bwMode="auto">
          <a:xfrm>
            <a:off x="382588" y="5475288"/>
            <a:ext cx="1682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81956" name="Rectangle 36"/>
          <p:cNvSpPr>
            <a:spLocks noChangeArrowheads="1"/>
          </p:cNvSpPr>
          <p:nvPr/>
        </p:nvSpPr>
        <p:spPr bwMode="auto">
          <a:xfrm>
            <a:off x="84138" y="1689100"/>
            <a:ext cx="49688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1957" name="Group 37"/>
          <p:cNvGrpSpPr>
            <a:grpSpLocks/>
          </p:cNvGrpSpPr>
          <p:nvPr/>
        </p:nvGrpSpPr>
        <p:grpSpPr bwMode="auto">
          <a:xfrm>
            <a:off x="522288" y="3597275"/>
            <a:ext cx="1333500" cy="1839913"/>
            <a:chOff x="329" y="2266"/>
            <a:chExt cx="840" cy="1159"/>
          </a:xfrm>
        </p:grpSpPr>
        <p:sp>
          <p:nvSpPr>
            <p:cNvPr id="81958" name="Rectangle 38"/>
            <p:cNvSpPr>
              <a:spLocks noChangeArrowheads="1"/>
            </p:cNvSpPr>
            <p:nvPr/>
          </p:nvSpPr>
          <p:spPr bwMode="auto">
            <a:xfrm>
              <a:off x="329" y="2266"/>
              <a:ext cx="840" cy="1159"/>
            </a:xfrm>
            <a:prstGeom prst="rect">
              <a:avLst/>
            </a:prstGeom>
            <a:solidFill>
              <a:srgbClr val="EFE9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59" name="Rectangle 39"/>
            <p:cNvSpPr>
              <a:spLocks noChangeArrowheads="1"/>
            </p:cNvSpPr>
            <p:nvPr/>
          </p:nvSpPr>
          <p:spPr bwMode="auto">
            <a:xfrm>
              <a:off x="352" y="2744"/>
              <a:ext cx="79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" charset="0"/>
                </a:rPr>
                <a:t>Revenue = $200 </a:t>
              </a:r>
            </a:p>
          </p:txBody>
        </p:sp>
      </p:grpSp>
      <p:grpSp>
        <p:nvGrpSpPr>
          <p:cNvPr id="81960" name="Group 40"/>
          <p:cNvGrpSpPr>
            <a:grpSpLocks/>
          </p:cNvGrpSpPr>
          <p:nvPr/>
        </p:nvGrpSpPr>
        <p:grpSpPr bwMode="auto">
          <a:xfrm>
            <a:off x="293688" y="3486150"/>
            <a:ext cx="1739900" cy="2233613"/>
            <a:chOff x="185" y="2196"/>
            <a:chExt cx="1096" cy="1407"/>
          </a:xfrm>
        </p:grpSpPr>
        <p:sp>
          <p:nvSpPr>
            <p:cNvPr id="81961" name="Freeform 41"/>
            <p:cNvSpPr>
              <a:spLocks/>
            </p:cNvSpPr>
            <p:nvPr/>
          </p:nvSpPr>
          <p:spPr bwMode="auto">
            <a:xfrm>
              <a:off x="329" y="2266"/>
              <a:ext cx="840" cy="1159"/>
            </a:xfrm>
            <a:custGeom>
              <a:avLst/>
              <a:gdLst>
                <a:gd name="T0" fmla="*/ 840 w 840"/>
                <a:gd name="T1" fmla="*/ 1159 h 1159"/>
                <a:gd name="T2" fmla="*/ 840 w 840"/>
                <a:gd name="T3" fmla="*/ 0 h 1159"/>
                <a:gd name="T4" fmla="*/ 0 w 840"/>
                <a:gd name="T5" fmla="*/ 0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0" h="1159">
                  <a:moveTo>
                    <a:pt x="840" y="1159"/>
                  </a:moveTo>
                  <a:lnTo>
                    <a:pt x="840" y="0"/>
                  </a:lnTo>
                  <a:lnTo>
                    <a:pt x="0" y="0"/>
                  </a:lnTo>
                </a:path>
              </a:pathLst>
            </a:custGeom>
            <a:noFill/>
            <a:ln w="14288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2" name="Oval 42"/>
            <p:cNvSpPr>
              <a:spLocks noChangeArrowheads="1"/>
            </p:cNvSpPr>
            <p:nvPr/>
          </p:nvSpPr>
          <p:spPr bwMode="auto">
            <a:xfrm>
              <a:off x="1133" y="2232"/>
              <a:ext cx="69" cy="7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3" name="Rectangle 43"/>
            <p:cNvSpPr>
              <a:spLocks noChangeArrowheads="1"/>
            </p:cNvSpPr>
            <p:nvPr/>
          </p:nvSpPr>
          <p:spPr bwMode="auto">
            <a:xfrm>
              <a:off x="185" y="2196"/>
              <a:ext cx="16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" charset="0"/>
                </a:rPr>
                <a:t>$4</a:t>
              </a:r>
              <a:endParaRPr lang="en-US"/>
            </a:p>
          </p:txBody>
        </p:sp>
        <p:sp>
          <p:nvSpPr>
            <p:cNvPr id="81964" name="Rectangle 44"/>
            <p:cNvSpPr>
              <a:spLocks noChangeArrowheads="1"/>
            </p:cNvSpPr>
            <p:nvPr/>
          </p:nvSpPr>
          <p:spPr bwMode="auto">
            <a:xfrm>
              <a:off x="1115" y="3449"/>
              <a:ext cx="16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" charset="0"/>
                </a:rPr>
                <a:t>50</a:t>
              </a:r>
              <a:endParaRPr lang="en-US"/>
            </a:p>
          </p:txBody>
        </p:sp>
      </p:grpSp>
      <p:grpSp>
        <p:nvGrpSpPr>
          <p:cNvPr id="81965" name="Group 45"/>
          <p:cNvGrpSpPr>
            <a:grpSpLocks/>
          </p:cNvGrpSpPr>
          <p:nvPr/>
        </p:nvGrpSpPr>
        <p:grpSpPr bwMode="auto">
          <a:xfrm>
            <a:off x="5246688" y="2989263"/>
            <a:ext cx="3208337" cy="1133475"/>
            <a:chOff x="3305" y="1883"/>
            <a:chExt cx="2021" cy="714"/>
          </a:xfrm>
        </p:grpSpPr>
        <p:sp>
          <p:nvSpPr>
            <p:cNvPr id="81966" name="Line 46"/>
            <p:cNvSpPr>
              <a:spLocks noChangeShapeType="1"/>
            </p:cNvSpPr>
            <p:nvPr/>
          </p:nvSpPr>
          <p:spPr bwMode="auto">
            <a:xfrm>
              <a:off x="3305" y="1883"/>
              <a:ext cx="1568" cy="625"/>
            </a:xfrm>
            <a:prstGeom prst="line">
              <a:avLst/>
            </a:prstGeom>
            <a:noFill/>
            <a:ln w="44450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7" name="Rectangle 47"/>
            <p:cNvSpPr>
              <a:spLocks noChangeArrowheads="1"/>
            </p:cNvSpPr>
            <p:nvPr/>
          </p:nvSpPr>
          <p:spPr bwMode="auto">
            <a:xfrm>
              <a:off x="4888" y="2443"/>
              <a:ext cx="43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" charset="0"/>
                </a:rPr>
                <a:t>Demand</a:t>
              </a:r>
              <a:endParaRPr lang="en-US"/>
            </a:p>
          </p:txBody>
        </p:sp>
      </p:grpSp>
      <p:sp>
        <p:nvSpPr>
          <p:cNvPr id="81968" name="Rectangle 48"/>
          <p:cNvSpPr>
            <a:spLocks noChangeArrowheads="1"/>
          </p:cNvSpPr>
          <p:nvPr/>
        </p:nvSpPr>
        <p:spPr bwMode="auto">
          <a:xfrm>
            <a:off x="8247063" y="5470525"/>
            <a:ext cx="7556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charset="0"/>
              </a:rPr>
              <a:t>Quantity</a:t>
            </a:r>
            <a:endParaRPr lang="en-US"/>
          </a:p>
        </p:txBody>
      </p:sp>
      <p:sp>
        <p:nvSpPr>
          <p:cNvPr id="81969" name="Rectangle 49"/>
          <p:cNvSpPr>
            <a:spLocks noChangeArrowheads="1"/>
          </p:cNvSpPr>
          <p:nvPr/>
        </p:nvSpPr>
        <p:spPr bwMode="auto">
          <a:xfrm>
            <a:off x="4926013" y="5475288"/>
            <a:ext cx="1682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Arial" charset="0"/>
              </a:rPr>
              <a:t>0</a:t>
            </a:r>
            <a:endParaRPr lang="en-US"/>
          </a:p>
        </p:txBody>
      </p:sp>
      <p:sp>
        <p:nvSpPr>
          <p:cNvPr id="81970" name="Rectangle 50"/>
          <p:cNvSpPr>
            <a:spLocks noChangeArrowheads="1"/>
          </p:cNvSpPr>
          <p:nvPr/>
        </p:nvSpPr>
        <p:spPr bwMode="auto">
          <a:xfrm>
            <a:off x="4622800" y="1689100"/>
            <a:ext cx="496888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Arial" charset="0"/>
              </a:rPr>
              <a:t>Price</a:t>
            </a:r>
            <a:endParaRPr lang="en-US"/>
          </a:p>
        </p:txBody>
      </p:sp>
      <p:grpSp>
        <p:nvGrpSpPr>
          <p:cNvPr id="81971" name="Group 51"/>
          <p:cNvGrpSpPr>
            <a:grpSpLocks/>
          </p:cNvGrpSpPr>
          <p:nvPr/>
        </p:nvGrpSpPr>
        <p:grpSpPr bwMode="auto">
          <a:xfrm>
            <a:off x="5095875" y="3133725"/>
            <a:ext cx="2070100" cy="2303463"/>
            <a:chOff x="3210" y="1974"/>
            <a:chExt cx="1304" cy="1451"/>
          </a:xfrm>
        </p:grpSpPr>
        <p:sp>
          <p:nvSpPr>
            <p:cNvPr id="81972" name="Rectangle 52"/>
            <p:cNvSpPr>
              <a:spLocks noChangeArrowheads="1"/>
            </p:cNvSpPr>
            <p:nvPr/>
          </p:nvSpPr>
          <p:spPr bwMode="auto">
            <a:xfrm>
              <a:off x="3210" y="1974"/>
              <a:ext cx="331" cy="1451"/>
            </a:xfrm>
            <a:prstGeom prst="rect">
              <a:avLst/>
            </a:prstGeom>
            <a:solidFill>
              <a:srgbClr val="EFE9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1973" name="Group 53"/>
            <p:cNvGrpSpPr>
              <a:grpSpLocks/>
            </p:cNvGrpSpPr>
            <p:nvPr/>
          </p:nvGrpSpPr>
          <p:grpSpPr bwMode="auto">
            <a:xfrm>
              <a:off x="3456" y="2763"/>
              <a:ext cx="1058" cy="125"/>
              <a:chOff x="3456" y="2763"/>
              <a:chExt cx="1058" cy="125"/>
            </a:xfrm>
          </p:grpSpPr>
          <p:sp>
            <p:nvSpPr>
              <p:cNvPr id="81974" name="Line 54"/>
              <p:cNvSpPr>
                <a:spLocks noChangeShapeType="1"/>
              </p:cNvSpPr>
              <p:nvPr/>
            </p:nvSpPr>
            <p:spPr bwMode="auto">
              <a:xfrm>
                <a:off x="3456" y="2830"/>
                <a:ext cx="23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75" name="Rectangle 55"/>
              <p:cNvSpPr>
                <a:spLocks noChangeArrowheads="1"/>
              </p:cNvSpPr>
              <p:nvPr/>
            </p:nvSpPr>
            <p:spPr bwMode="auto">
              <a:xfrm>
                <a:off x="3717" y="2763"/>
                <a:ext cx="797" cy="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300">
                    <a:solidFill>
                      <a:srgbClr val="000000"/>
                    </a:solidFill>
                    <a:latin typeface="Arial" charset="0"/>
                  </a:rPr>
                  <a:t>Revenue = $100 </a:t>
                </a:r>
              </a:p>
            </p:txBody>
          </p:sp>
        </p:grpSp>
      </p:grpSp>
      <p:grpSp>
        <p:nvGrpSpPr>
          <p:cNvPr id="81976" name="Group 56"/>
          <p:cNvGrpSpPr>
            <a:grpSpLocks/>
          </p:cNvGrpSpPr>
          <p:nvPr/>
        </p:nvGrpSpPr>
        <p:grpSpPr bwMode="auto">
          <a:xfrm>
            <a:off x="4837113" y="3035300"/>
            <a:ext cx="944562" cy="2684463"/>
            <a:chOff x="3047" y="1912"/>
            <a:chExt cx="595" cy="1691"/>
          </a:xfrm>
        </p:grpSpPr>
        <p:sp>
          <p:nvSpPr>
            <p:cNvPr id="81977" name="Freeform 57"/>
            <p:cNvSpPr>
              <a:spLocks/>
            </p:cNvSpPr>
            <p:nvPr/>
          </p:nvSpPr>
          <p:spPr bwMode="auto">
            <a:xfrm>
              <a:off x="3210" y="1974"/>
              <a:ext cx="331" cy="1451"/>
            </a:xfrm>
            <a:custGeom>
              <a:avLst/>
              <a:gdLst>
                <a:gd name="T0" fmla="*/ 331 w 331"/>
                <a:gd name="T1" fmla="*/ 1451 h 1451"/>
                <a:gd name="T2" fmla="*/ 331 w 331"/>
                <a:gd name="T3" fmla="*/ 0 h 1451"/>
                <a:gd name="T4" fmla="*/ 0 w 331"/>
                <a:gd name="T5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1451">
                  <a:moveTo>
                    <a:pt x="331" y="1451"/>
                  </a:moveTo>
                  <a:lnTo>
                    <a:pt x="331" y="0"/>
                  </a:lnTo>
                  <a:lnTo>
                    <a:pt x="0" y="0"/>
                  </a:lnTo>
                </a:path>
              </a:pathLst>
            </a:custGeom>
            <a:noFill/>
            <a:ln w="14288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78" name="Oval 58"/>
            <p:cNvSpPr>
              <a:spLocks noChangeArrowheads="1"/>
            </p:cNvSpPr>
            <p:nvPr/>
          </p:nvSpPr>
          <p:spPr bwMode="auto">
            <a:xfrm>
              <a:off x="3512" y="1944"/>
              <a:ext cx="67" cy="7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79" name="Rectangle 59"/>
            <p:cNvSpPr>
              <a:spLocks noChangeArrowheads="1"/>
            </p:cNvSpPr>
            <p:nvPr/>
          </p:nvSpPr>
          <p:spPr bwMode="auto">
            <a:xfrm>
              <a:off x="3047" y="1912"/>
              <a:ext cx="16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" charset="0"/>
                </a:rPr>
                <a:t>$5</a:t>
              </a:r>
              <a:endParaRPr lang="en-US"/>
            </a:p>
          </p:txBody>
        </p:sp>
        <p:sp>
          <p:nvSpPr>
            <p:cNvPr id="81980" name="Rectangle 60"/>
            <p:cNvSpPr>
              <a:spLocks noChangeArrowheads="1"/>
            </p:cNvSpPr>
            <p:nvPr/>
          </p:nvSpPr>
          <p:spPr bwMode="auto">
            <a:xfrm>
              <a:off x="3476" y="3449"/>
              <a:ext cx="16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Arial" charset="0"/>
                </a:rPr>
                <a:t>20</a:t>
              </a:r>
              <a:endParaRPr lang="en-US"/>
            </a:p>
          </p:txBody>
        </p:sp>
      </p:grpSp>
      <p:sp>
        <p:nvSpPr>
          <p:cNvPr id="81981" name="Rectangle 61"/>
          <p:cNvSpPr>
            <a:spLocks noChangeArrowheads="1"/>
          </p:cNvSpPr>
          <p:nvPr/>
        </p:nvSpPr>
        <p:spPr bwMode="auto">
          <a:xfrm>
            <a:off x="1323975" y="2047875"/>
            <a:ext cx="2073275" cy="374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An Increase in price from $4</a:t>
            </a:r>
          </a:p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 to $5 …</a:t>
            </a:r>
            <a:endParaRPr lang="en-US"/>
          </a:p>
        </p:txBody>
      </p:sp>
      <p:sp>
        <p:nvSpPr>
          <p:cNvPr id="81982" name="Rectangle 62"/>
          <p:cNvSpPr>
            <a:spLocks noChangeArrowheads="1"/>
          </p:cNvSpPr>
          <p:nvPr/>
        </p:nvSpPr>
        <p:spPr bwMode="auto">
          <a:xfrm>
            <a:off x="5829300" y="2047875"/>
            <a:ext cx="2073275" cy="5572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1200" b="1">
                <a:solidFill>
                  <a:srgbClr val="000000"/>
                </a:solidFill>
                <a:latin typeface="Arial" charset="0"/>
              </a:rPr>
              <a:t>… leads to an decrease in total revenue from $200 to $100</a:t>
            </a:r>
          </a:p>
        </p:txBody>
      </p:sp>
    </p:spTree>
    <p:extLst>
      <p:ext uri="{BB962C8B-B14F-4D97-AF65-F5344CB8AC3E}">
        <p14:creationId xmlns:p14="http://schemas.microsoft.com/office/powerpoint/2010/main" val="54619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8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1" grpId="0" animBg="1" autoUpdateAnimBg="0"/>
      <p:bldP spid="81982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Elasticity of a Linear Demand Curve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r="5983"/>
          <a:stretch>
            <a:fillRect/>
          </a:stretch>
        </p:blipFill>
        <p:spPr bwMode="auto">
          <a:xfrm>
            <a:off x="533400" y="1828800"/>
            <a:ext cx="8229600" cy="306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980225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The </a:t>
            </a:r>
            <a:r>
              <a:rPr lang="en-US" sz="3200" b="1" dirty="0"/>
              <a:t>Price Elasticity of Demand and Its </a:t>
            </a:r>
            <a:r>
              <a:rPr lang="en-US" sz="3200" b="1" dirty="0" smtClean="0"/>
              <a:t>Determinants</a:t>
            </a:r>
            <a:endParaRPr lang="en-US" b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Availability of Close Substitutes</a:t>
            </a:r>
          </a:p>
          <a:p>
            <a:r>
              <a:rPr lang="en-US" dirty="0"/>
              <a:t>Necessities versus Luxuries</a:t>
            </a:r>
          </a:p>
          <a:p>
            <a:r>
              <a:rPr lang="en-US" dirty="0"/>
              <a:t>Definition of the Market</a:t>
            </a:r>
          </a:p>
          <a:p>
            <a:r>
              <a:rPr lang="en-US" dirty="0" smtClean="0"/>
              <a:t>The proportion of consumer’s income spent </a:t>
            </a:r>
          </a:p>
          <a:p>
            <a:r>
              <a:rPr lang="en-US" dirty="0"/>
              <a:t>Demand tends to be more elastic :</a:t>
            </a:r>
          </a:p>
          <a:p>
            <a:pPr lvl="1"/>
            <a:r>
              <a:rPr lang="en-US" dirty="0"/>
              <a:t>the larger the number of close substitutes.</a:t>
            </a:r>
          </a:p>
          <a:p>
            <a:pPr lvl="1"/>
            <a:r>
              <a:rPr lang="en-US" dirty="0"/>
              <a:t>if the good is a luxury.</a:t>
            </a:r>
          </a:p>
          <a:p>
            <a:pPr lvl="1"/>
            <a:r>
              <a:rPr lang="en-US" dirty="0"/>
              <a:t>the more narrowly defined the market.</a:t>
            </a:r>
          </a:p>
          <a:p>
            <a:pPr lvl="1"/>
            <a:r>
              <a:rPr lang="en-US" dirty="0"/>
              <a:t>the longer the time period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greater portion of income spend on the product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9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Importance of price elasticity of Demand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Price decisions by firms</a:t>
            </a:r>
          </a:p>
          <a:p>
            <a:r>
              <a:rPr lang="en-US" dirty="0" smtClean="0"/>
              <a:t>Use in Economic policy regarding price regulation especially of farm products</a:t>
            </a:r>
          </a:p>
          <a:p>
            <a:r>
              <a:rPr lang="en-US" dirty="0" smtClean="0"/>
              <a:t>Importance in fiscal policy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dirty="0" smtClean="0"/>
              <a:t>Income Elasticity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ko-KR" sz="2800" smtClean="0"/>
          </a:p>
          <a:p>
            <a:pPr eaLnBrk="1" hangingPunct="1">
              <a:buFontTx/>
              <a:buNone/>
            </a:pPr>
            <a:r>
              <a:rPr lang="en-US" altLang="ko-KR" sz="2800" smtClean="0"/>
              <a:t>Income elasticity 				</a:t>
            </a:r>
          </a:p>
          <a:p>
            <a:pPr eaLnBrk="1" hangingPunct="1">
              <a:buFontTx/>
              <a:buNone/>
            </a:pPr>
            <a:r>
              <a:rPr lang="en-US" altLang="ko-KR" sz="2800" smtClean="0"/>
              <a:t>= </a:t>
            </a:r>
          </a:p>
          <a:p>
            <a:pPr eaLnBrk="1" hangingPunct="1">
              <a:buFontTx/>
              <a:buNone/>
            </a:pPr>
            <a:endParaRPr lang="en-US" altLang="ko-KR" sz="2800" smtClean="0"/>
          </a:p>
          <a:p>
            <a:pPr eaLnBrk="1" hangingPunct="1">
              <a:buFontTx/>
              <a:buNone/>
            </a:pPr>
            <a:endParaRPr lang="en-US" altLang="ko-KR" sz="2800" smtClean="0"/>
          </a:p>
        </p:txBody>
      </p:sp>
      <p:graphicFrame>
        <p:nvGraphicFramePr>
          <p:cNvPr id="614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0" y="2133600"/>
          <a:ext cx="4191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Equation" r:id="rId4" imgW="2514600" imgH="419100" progId="Equation.3">
                  <p:embed/>
                </p:oleObj>
              </mc:Choice>
              <mc:Fallback>
                <p:oleObj name="Equation" r:id="rId4" imgW="2514600" imgH="4191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133600"/>
                        <a:ext cx="419100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A8EED-E05B-4D11-B1B1-5F4F3C51EB14}" type="slidenum">
              <a:rPr lang="en-US" altLang="ko-KR" smtClean="0"/>
              <a:pPr/>
              <a:t>23</a:t>
            </a:fld>
            <a:endParaRPr lang="en-US" altLang="ko-K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8200" y="3962400"/>
          <a:ext cx="6248400" cy="1828800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Elasticity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Goods are considered…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&lt; 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Inferior good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≤ e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≤1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Normal, Necessity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ymbol" pitchFamily="18" charset="2"/>
                          <a:cs typeface="Times New Roman" pitchFamily="18" charset="0"/>
                        </a:rPr>
                        <a:t>&gt;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Normal, Luxury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167" name="TextBox 6"/>
          <p:cNvSpPr txBox="1">
            <a:spLocks noChangeArrowheads="1"/>
          </p:cNvSpPr>
          <p:nvPr/>
        </p:nvSpPr>
        <p:spPr bwMode="auto">
          <a:xfrm>
            <a:off x="5486400" y="1219200"/>
            <a:ext cx="28956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 i="1"/>
              <a:t>The coefficient on INCOME of demand function.</a:t>
            </a:r>
          </a:p>
          <a:p>
            <a:pPr eaLnBrk="1" hangingPunct="1"/>
            <a:r>
              <a:rPr lang="en-US" sz="1400" i="1"/>
              <a:t>    Ex) Q=1200-16*P+0.2*I :  </a:t>
            </a:r>
          </a:p>
        </p:txBody>
      </p:sp>
      <p:graphicFrame>
        <p:nvGraphicFramePr>
          <p:cNvPr id="6147" name="Object 7"/>
          <p:cNvGraphicFramePr>
            <a:graphicFrameLocks noChangeAspect="1"/>
          </p:cNvGraphicFramePr>
          <p:nvPr/>
        </p:nvGraphicFramePr>
        <p:xfrm>
          <a:off x="5943600" y="1981200"/>
          <a:ext cx="1143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Equation" r:id="rId6" imgW="622030" imgH="393529" progId="Equation.3">
                  <p:embed/>
                </p:oleObj>
              </mc:Choice>
              <mc:Fallback>
                <p:oleObj name="Equation" r:id="rId6" imgW="622030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981200"/>
                        <a:ext cx="1143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Callout 1 9"/>
          <p:cNvSpPr/>
          <p:nvPr/>
        </p:nvSpPr>
        <p:spPr>
          <a:xfrm>
            <a:off x="4114800" y="2133600"/>
            <a:ext cx="381000" cy="685800"/>
          </a:xfrm>
          <a:prstGeom prst="borderCallout1">
            <a:avLst>
              <a:gd name="adj1" fmla="val 750"/>
              <a:gd name="adj2" fmla="val 116467"/>
              <a:gd name="adj3" fmla="val -103500"/>
              <a:gd name="adj4" fmla="val 362467"/>
            </a:avLst>
          </a:prstGeom>
          <a:noFill/>
          <a:ln>
            <a:headEnd type="diamond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5935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 b="1" dirty="0" smtClean="0"/>
              <a:t>Income Elasticity of Demand</a:t>
            </a:r>
          </a:p>
        </p:txBody>
      </p:sp>
      <p:sp>
        <p:nvSpPr>
          <p:cNvPr id="4100" name="Content Placeholder 5"/>
          <p:cNvSpPr>
            <a:spLocks noGrp="1"/>
          </p:cNvSpPr>
          <p:nvPr>
            <p:ph sz="half" idx="2"/>
          </p:nvPr>
        </p:nvSpPr>
        <p:spPr>
          <a:xfrm>
            <a:off x="377825" y="1362075"/>
            <a:ext cx="8455025" cy="3935413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sz="2800" i="1" smtClean="0">
                <a:solidFill>
                  <a:srgbClr val="25A9A6"/>
                </a:solidFill>
              </a:rPr>
              <a:t>Income elasticity of demand</a:t>
            </a:r>
            <a:r>
              <a:rPr lang="en-US" sz="2800" smtClean="0"/>
              <a:t> is the percentage increase in the quantity demanded of a good after a one-percent increase in buyers’ income</a:t>
            </a:r>
          </a:p>
          <a:p>
            <a:pPr lvl="1" eaLnBrk="1" hangingPunct="1">
              <a:buClr>
                <a:schemeClr val="tx1"/>
              </a:buClr>
            </a:pPr>
            <a:r>
              <a:rPr lang="en-US" sz="2400" smtClean="0"/>
              <a:t>assuming all other factors that affect the quantity demanded are unchanged</a:t>
            </a:r>
          </a:p>
          <a:p>
            <a:endParaRPr 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A8EED-E05B-4D11-B1B1-5F4F3C51EB14}" type="slidenum">
              <a:rPr lang="en-US" altLang="ko-KR" smtClean="0"/>
              <a:pPr/>
              <a:t>24</a:t>
            </a:fld>
            <a:endParaRPr lang="en-US" altLang="ko-KR"/>
          </a:p>
        </p:txBody>
      </p:sp>
      <p:graphicFrame>
        <p:nvGraphicFramePr>
          <p:cNvPr id="40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749486"/>
              </p:ext>
            </p:extLst>
          </p:nvPr>
        </p:nvGraphicFramePr>
        <p:xfrm>
          <a:off x="457200" y="4191000"/>
          <a:ext cx="8686799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3" imgW="3987720" imgH="393480" progId="Equation.3">
                  <p:embed/>
                </p:oleObj>
              </mc:Choice>
              <mc:Fallback>
                <p:oleObj name="Equation" r:id="rId3" imgW="39877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91000"/>
                        <a:ext cx="8686799" cy="8826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036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 b="1" dirty="0" smtClean="0"/>
              <a:t>Income Elasticity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572000"/>
          </a:xfrm>
          <a:noFill/>
        </p:spPr>
        <p:txBody>
          <a:bodyPr/>
          <a:lstStyle/>
          <a:p>
            <a:pPr eaLnBrk="1" hangingPunct="1"/>
            <a:r>
              <a:rPr lang="en-US" smtClean="0"/>
              <a:t>Normal Goods: IED &gt; 0</a:t>
            </a:r>
          </a:p>
          <a:p>
            <a:pPr eaLnBrk="1" hangingPunct="1"/>
            <a:r>
              <a:rPr lang="en-US" smtClean="0"/>
              <a:t>Inferior Goods: IED &lt; 0</a:t>
            </a:r>
          </a:p>
          <a:p>
            <a:pPr eaLnBrk="1" hangingPunct="1"/>
            <a:r>
              <a:rPr lang="en-US" smtClean="0"/>
              <a:t>Higher income raises the quantity demanded for normal goods but lowers the quantity demanded for inferior goods. </a:t>
            </a:r>
          </a:p>
          <a:p>
            <a:pPr eaLnBrk="1" hangingPunct="1"/>
            <a:r>
              <a:rPr lang="en-US" smtClean="0"/>
              <a:t>Examples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dirty="0"/>
              <a:t>Goods consumers regard as necessities tend to be income </a:t>
            </a:r>
            <a:r>
              <a:rPr lang="en-US" dirty="0" smtClean="0"/>
              <a:t>inelastic</a:t>
            </a:r>
          </a:p>
          <a:p>
            <a:pPr>
              <a:buNone/>
            </a:pPr>
            <a:endParaRPr lang="en-US" dirty="0"/>
          </a:p>
          <a:p>
            <a:pPr lvl="1"/>
            <a:r>
              <a:rPr lang="en-US" dirty="0"/>
              <a:t>Examples include food, fuel, clothing, utilities, and medical services</a:t>
            </a:r>
            <a:r>
              <a:rPr lang="en-US" dirty="0" smtClean="0"/>
              <a:t>.</a:t>
            </a:r>
          </a:p>
          <a:p>
            <a:pPr lvl="1">
              <a:buNone/>
            </a:pPr>
            <a:endParaRPr lang="en-US" dirty="0"/>
          </a:p>
          <a:p>
            <a:r>
              <a:rPr lang="en-US" dirty="0"/>
              <a:t>Goods consumers regard as luxuries tend to be income elastic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  <a:p>
            <a:pPr lvl="1"/>
            <a:r>
              <a:rPr lang="en-US" dirty="0"/>
              <a:t>Examples include sports cars, furs, and expensive foods.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9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7" descr="http://www.bonappetit.com/images/tips_tools_ingredients/ingredients/ttar_milk_02_v_launc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155" y="2371100"/>
            <a:ext cx="295275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5" descr="Lamborghini Murciela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241" y="3922961"/>
            <a:ext cx="4057774" cy="2434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 b="1" dirty="0" smtClean="0"/>
              <a:t>Necessities and Luxuries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572000"/>
          </a:xfrm>
          <a:noFill/>
        </p:spPr>
        <p:txBody>
          <a:bodyPr/>
          <a:lstStyle/>
          <a:p>
            <a:pPr eaLnBrk="1" hangingPunct="1"/>
            <a:r>
              <a:rPr lang="en-US" smtClean="0"/>
              <a:t>When IED &lt; 1, the good is called </a:t>
            </a:r>
            <a:r>
              <a:rPr lang="en-US" b="1" smtClean="0"/>
              <a:t>income inelastic</a:t>
            </a:r>
            <a:r>
              <a:rPr lang="en-US" smtClean="0"/>
              <a:t> or a </a:t>
            </a:r>
            <a:r>
              <a:rPr lang="en-US" b="1" smtClean="0"/>
              <a:t>necessity</a:t>
            </a:r>
          </a:p>
          <a:p>
            <a:pPr lvl="1" eaLnBrk="1" hangingPunct="1"/>
            <a:r>
              <a:rPr lang="en-US" smtClean="0"/>
              <a:t>Examples include food, fuel, clothing, utilities, and medical services.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When IED &gt; 1, the good is called </a:t>
            </a:r>
            <a:r>
              <a:rPr lang="en-US" b="1" smtClean="0"/>
              <a:t>income elastic</a:t>
            </a:r>
            <a:r>
              <a:rPr lang="en-US" smtClean="0"/>
              <a:t> or a </a:t>
            </a:r>
            <a:r>
              <a:rPr lang="en-US" b="1" smtClean="0"/>
              <a:t>luxury</a:t>
            </a:r>
            <a:r>
              <a:rPr lang="en-US" smtClean="0"/>
              <a:t> </a:t>
            </a:r>
          </a:p>
          <a:p>
            <a:pPr lvl="1" eaLnBrk="1" hangingPunct="1">
              <a:spcBef>
                <a:spcPct val="0"/>
              </a:spcBef>
            </a:pPr>
            <a:r>
              <a:rPr lang="en-US" smtClean="0"/>
              <a:t>Examples include sports cars, furs, and expensive foods.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3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57200"/>
            <a:ext cx="7200900" cy="14859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b="1" dirty="0" smtClean="0"/>
              <a:t>High Income Elasticity Implies High Price Elasticity</a:t>
            </a:r>
            <a:br>
              <a:rPr lang="en-US" sz="4000" b="1" dirty="0" smtClean="0"/>
            </a:br>
            <a:endParaRPr lang="en-US" sz="4000" b="1" dirty="0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648200"/>
          </a:xfrm>
          <a:noFill/>
        </p:spPr>
        <p:txBody>
          <a:bodyPr/>
          <a:lstStyle/>
          <a:p>
            <a:pPr eaLnBrk="1" hangingPunct="1"/>
            <a:r>
              <a:rPr lang="en-US" dirty="0" smtClean="0"/>
              <a:t>The effect of a change in the price of a good on its quantity demanded is the sum of:</a:t>
            </a:r>
          </a:p>
          <a:p>
            <a:pPr lvl="1" eaLnBrk="1" hangingPunct="1"/>
            <a:r>
              <a:rPr lang="en-US" dirty="0" smtClean="0"/>
              <a:t>The substitution effect, and</a:t>
            </a:r>
          </a:p>
          <a:p>
            <a:pPr lvl="1" eaLnBrk="1" hangingPunct="1"/>
            <a:r>
              <a:rPr lang="en-US" dirty="0" smtClean="0"/>
              <a:t>The income effect</a:t>
            </a:r>
          </a:p>
          <a:p>
            <a:pPr eaLnBrk="1" hangingPunct="1"/>
            <a:r>
              <a:rPr lang="en-US" dirty="0" smtClean="0"/>
              <a:t>The higher the IED, the bigger the income effect. Therefore,</a:t>
            </a:r>
          </a:p>
          <a:p>
            <a:pPr eaLnBrk="1" hangingPunct="1"/>
            <a:r>
              <a:rPr lang="en-US" dirty="0" smtClean="0"/>
              <a:t>The higher the IED, the higher the PED.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4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200900" cy="1485900"/>
          </a:xfrm>
        </p:spPr>
        <p:txBody>
          <a:bodyPr>
            <a:normAutofit/>
          </a:bodyPr>
          <a:lstStyle/>
          <a:p>
            <a:r>
              <a:rPr lang="en-US" b="1" dirty="0" smtClean="0"/>
              <a:t>Importance of Income Elasticity of Demand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Important for </a:t>
            </a:r>
            <a:r>
              <a:rPr lang="en-US" b="1" dirty="0" smtClean="0">
                <a:solidFill>
                  <a:srgbClr val="FF0000"/>
                </a:solidFill>
              </a:rPr>
              <a:t>decision making </a:t>
            </a:r>
            <a:r>
              <a:rPr lang="en-US" dirty="0" smtClean="0"/>
              <a:t>by both business firms and industries.</a:t>
            </a:r>
          </a:p>
          <a:p>
            <a:pPr>
              <a:buNone/>
            </a:pPr>
            <a:endParaRPr lang="en-US" dirty="0" smtClean="0"/>
          </a:p>
          <a:p>
            <a:pPr algn="just"/>
            <a:r>
              <a:rPr lang="en-US" dirty="0" smtClean="0"/>
              <a:t>The firms which are producing high income elasticity are more interested in forecasting the level of aggregate depend </a:t>
            </a:r>
            <a:r>
              <a:rPr lang="en-US" u="sng" dirty="0" smtClean="0"/>
              <a:t>on the level of economic activity </a:t>
            </a:r>
            <a:r>
              <a:rPr lang="en-US" dirty="0" smtClean="0"/>
              <a:t>(</a:t>
            </a:r>
            <a:r>
              <a:rPr lang="en-US" dirty="0" err="1" smtClean="0"/>
              <a:t>i.e</a:t>
            </a:r>
            <a:r>
              <a:rPr lang="en-US" dirty="0" smtClean="0"/>
              <a:t> level of national income) .</a:t>
            </a:r>
          </a:p>
          <a:p>
            <a:pPr>
              <a:buNone/>
            </a:pPr>
            <a:endParaRPr lang="en-US" dirty="0" smtClean="0"/>
          </a:p>
          <a:p>
            <a:pPr algn="just"/>
            <a:r>
              <a:rPr lang="en-US" dirty="0" smtClean="0"/>
              <a:t>The demand for luxuries fluctuate highly during different phases of </a:t>
            </a:r>
            <a:r>
              <a:rPr lang="en-US" u="sng" dirty="0" smtClean="0"/>
              <a:t>business cycles</a:t>
            </a:r>
            <a:r>
              <a:rPr lang="en-US" dirty="0" smtClean="0"/>
              <a:t>. During boom periods demand for luxuries increase very much and decline sharply during recessionary periods.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Decide the </a:t>
            </a:r>
            <a:r>
              <a:rPr lang="en-US" dirty="0" smtClean="0">
                <a:solidFill>
                  <a:srgbClr val="FF0000"/>
                </a:solidFill>
              </a:rPr>
              <a:t>demand forecasting </a:t>
            </a:r>
            <a:r>
              <a:rPr lang="en-US" dirty="0" smtClean="0"/>
              <a:t>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79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dirty="0" smtClean="0"/>
              <a:t>Cross Elasticity of Demand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sz="2400" smtClean="0"/>
              <a:t>Demand for good X affected by change in price of some other good 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/>
              <a:t>Use cross elasticity of demand to measure size of effect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smtClean="0"/>
              <a:t>Percent change in consumption of good X divided by the percent change in the price of good Y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endParaRPr lang="en-US" altLang="ko-KR" sz="2400" smtClean="0"/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endParaRPr lang="en-US" altLang="ko-KR" sz="2400" smtClean="0"/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endParaRPr lang="en-US" altLang="ko-KR" sz="2400" smtClean="0"/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endParaRPr lang="en-US" altLang="ko-KR" sz="2400" smtClean="0"/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endParaRPr lang="en-US" altLang="ko-KR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ko-KR" sz="2400" smtClean="0"/>
              <a:t>Used to determine level and amount of monopoly power held by certain firms in antitrust cases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3429000"/>
          <a:ext cx="6096000" cy="14859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Elasticity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Goods are considered…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kumimoji="0" lang="en-US" sz="18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Qa,Pb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&gt; 0 (+)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Substitutes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Qa,Pb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= 0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Independent goods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r>
                        <a:rPr kumimoji="0" lang="en-US" sz="18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Qa,Pb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&lt; 0 (-)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88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Complements</a:t>
                      </a:r>
                    </a:p>
                  </a:txBody>
                  <a:tcPr marL="76200" marR="7620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429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Elasticity: more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0500"/>
            <a:ext cx="8229600" cy="5024438"/>
          </a:xfrm>
        </p:spPr>
        <p:txBody>
          <a:bodyPr>
            <a:normAutofit lnSpcReduction="10000"/>
          </a:bodyPr>
          <a:lstStyle/>
          <a:p>
            <a:pPr algn="just">
              <a:defRPr/>
            </a:pPr>
            <a:r>
              <a:rPr lang="en-US" dirty="0" smtClean="0"/>
              <a:t>The </a:t>
            </a:r>
            <a:r>
              <a:rPr lang="en-US" i="1" dirty="0" smtClean="0">
                <a:solidFill>
                  <a:srgbClr val="25A9A6"/>
                </a:solidFill>
              </a:rPr>
              <a:t>income elasticity of demand </a:t>
            </a:r>
            <a:r>
              <a:rPr lang="en-US" dirty="0" smtClean="0"/>
              <a:t>is the percent increase in the</a:t>
            </a:r>
            <a:r>
              <a:rPr lang="en-US" i="1" dirty="0" smtClean="0"/>
              <a:t> quantity demanded</a:t>
            </a:r>
            <a:r>
              <a:rPr lang="en-US" dirty="0" smtClean="0"/>
              <a:t> of a product when there is a one percent increase in the </a:t>
            </a:r>
            <a:r>
              <a:rPr lang="en-US" i="1" dirty="0" smtClean="0"/>
              <a:t>buyers’ income</a:t>
            </a:r>
          </a:p>
          <a:p>
            <a:pPr marL="342900" lvl="1" indent="-342900" algn="just">
              <a:buFontTx/>
              <a:buChar char="•"/>
              <a:defRPr/>
            </a:pPr>
            <a:r>
              <a:rPr lang="en-US" sz="3200" dirty="0" smtClean="0"/>
              <a:t>The </a:t>
            </a:r>
            <a:r>
              <a:rPr lang="en-US" sz="3200" i="1" dirty="0" smtClean="0">
                <a:solidFill>
                  <a:srgbClr val="25A9A6"/>
                </a:solidFill>
                <a:ea typeface="+mn-ea"/>
                <a:cs typeface="+mn-cs"/>
              </a:rPr>
              <a:t>cross price elasticity of demand </a:t>
            </a:r>
            <a:r>
              <a:rPr lang="en-US" sz="3200" dirty="0" smtClean="0"/>
              <a:t>is the percent increase in the</a:t>
            </a:r>
            <a:r>
              <a:rPr lang="en-US" sz="3200" i="1" dirty="0" smtClean="0"/>
              <a:t> quantity demanded</a:t>
            </a:r>
            <a:r>
              <a:rPr lang="en-US" sz="3200" dirty="0" smtClean="0"/>
              <a:t> of a product when there is a one percent increase in the </a:t>
            </a:r>
            <a:r>
              <a:rPr lang="en-US" sz="3200" i="1" dirty="0" smtClean="0"/>
              <a:t>price</a:t>
            </a:r>
            <a:r>
              <a:rPr lang="en-US" sz="3200" dirty="0" smtClean="0"/>
              <a:t> of another product</a:t>
            </a:r>
          </a:p>
          <a:p>
            <a:pPr marL="342900" lvl="1" indent="-342900" algn="just">
              <a:buFontTx/>
              <a:buChar char="•"/>
              <a:defRPr/>
            </a:pPr>
            <a:r>
              <a:rPr lang="en-US" sz="3200" dirty="0" smtClean="0"/>
              <a:t>The </a:t>
            </a:r>
            <a:r>
              <a:rPr lang="en-US" sz="3200" i="1" dirty="0" smtClean="0">
                <a:solidFill>
                  <a:srgbClr val="25A9A6"/>
                </a:solidFill>
                <a:ea typeface="+mn-ea"/>
                <a:cs typeface="+mn-cs"/>
              </a:rPr>
              <a:t>price elasticity of supply </a:t>
            </a:r>
            <a:r>
              <a:rPr lang="en-US" sz="3200" dirty="0" smtClean="0"/>
              <a:t>is the percent increase in the</a:t>
            </a:r>
            <a:r>
              <a:rPr lang="en-US" sz="3200" i="1" dirty="0" smtClean="0"/>
              <a:t> quantity supplied </a:t>
            </a:r>
            <a:r>
              <a:rPr lang="en-US" sz="3200" dirty="0" smtClean="0"/>
              <a:t>of a product when there is a one percent increase in the </a:t>
            </a:r>
            <a:r>
              <a:rPr lang="en-US" sz="3200" i="1" dirty="0" smtClean="0"/>
              <a:t>price</a:t>
            </a:r>
            <a:r>
              <a:rPr lang="en-US" sz="3200" dirty="0" smtClean="0"/>
              <a:t> of the product</a:t>
            </a:r>
          </a:p>
          <a:p>
            <a:pPr>
              <a:defRPr/>
            </a:pPr>
            <a:r>
              <a:rPr lang="en-US" dirty="0" smtClean="0"/>
              <a:t>Notice that in each case the focus is on </a:t>
            </a:r>
            <a:r>
              <a:rPr lang="en-US" i="1" dirty="0" smtClean="0"/>
              <a:t>quantification</a:t>
            </a:r>
            <a:endParaRPr lang="en-US" i="1" dirty="0"/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C6B600E-5963-42A8-9742-2C9E131BC41D}" type="slidenum">
              <a:rPr lang="en-US" smtClean="0"/>
              <a:pPr eaLnBrk="1" hangingPunct="1"/>
              <a:t>31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557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76312" y="381000"/>
            <a:ext cx="7200900" cy="14859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600" b="1" dirty="0" smtClean="0"/>
              <a:t>Determinants of Price Elasticity of Demand</a:t>
            </a:r>
          </a:p>
        </p:txBody>
      </p:sp>
      <p:sp>
        <p:nvSpPr>
          <p:cNvPr id="45059" name="Rectangle 5"/>
          <p:cNvSpPr>
            <a:spLocks noGrp="1" noChangeArrowheads="1"/>
          </p:cNvSpPr>
          <p:nvPr>
            <p:ph idx="1"/>
          </p:nvPr>
        </p:nvSpPr>
        <p:spPr>
          <a:xfrm>
            <a:off x="368300" y="1447800"/>
            <a:ext cx="8416925" cy="50006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PED tends to be higher…</a:t>
            </a:r>
          </a:p>
          <a:p>
            <a:pPr lvl="1" eaLnBrk="1" hangingPunct="1"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larger the number of close substitutes </a:t>
            </a:r>
            <a:r>
              <a:rPr lang="en-US" dirty="0" smtClean="0"/>
              <a:t>there are for a good</a:t>
            </a:r>
          </a:p>
          <a:p>
            <a:pPr lvl="1" eaLnBrk="1" hangingPunct="1">
              <a:defRPr/>
            </a:pPr>
            <a:r>
              <a:rPr lang="en-US" dirty="0" smtClean="0"/>
              <a:t>if the good is a luxury</a:t>
            </a:r>
          </a:p>
          <a:p>
            <a:pPr lvl="2" eaLnBrk="1" hangingPunct="1">
              <a:defRPr/>
            </a:pPr>
            <a:r>
              <a:rPr lang="en-US" dirty="0" smtClean="0"/>
              <a:t>That is, if the good’s income elasticity of demand is high</a:t>
            </a:r>
          </a:p>
          <a:p>
            <a:pPr lvl="1" eaLnBrk="1" hangingPunct="1">
              <a:defRPr/>
            </a:pPr>
            <a:r>
              <a:rPr lang="en-US" dirty="0" smtClean="0"/>
              <a:t>if spending on the good is a large portion of total spending</a:t>
            </a:r>
          </a:p>
          <a:p>
            <a:pPr lvl="1" eaLnBrk="1" hangingPunct="1">
              <a:defRPr/>
            </a:pPr>
            <a:r>
              <a:rPr lang="en-US" dirty="0" smtClean="0"/>
              <a:t>the more narrowly defined the good is</a:t>
            </a:r>
          </a:p>
          <a:p>
            <a:pPr lvl="1" eaLnBrk="1" hangingPunct="1">
              <a:defRPr/>
            </a:pPr>
            <a:r>
              <a:rPr lang="en-US" dirty="0" smtClean="0"/>
              <a:t>the longer the time available to buyers to adjust to a price change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sz="6000" b="1" dirty="0"/>
              <a:t>Cross Price Elasticity of Demand</a:t>
            </a:r>
            <a:endParaRPr lang="en-US" sz="6000" b="1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194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 Elasticity of Demand (</a:t>
            </a:r>
            <a:r>
              <a:rPr lang="en-US" b="1" dirty="0" err="1"/>
              <a:t>CPed</a:t>
            </a:r>
            <a:r>
              <a:rPr lang="en-US" b="1" dirty="0"/>
              <a:t>)</a:t>
            </a:r>
          </a:p>
        </p:txBody>
      </p:sp>
      <p:sp>
        <p:nvSpPr>
          <p:cNvPr id="7176" name="Rectangle 8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90000"/>
              </a:lnSpc>
            </a:pPr>
            <a:r>
              <a:rPr lang="en-US" sz="2800" dirty="0"/>
              <a:t>Cross price elasticity (</a:t>
            </a:r>
            <a:r>
              <a:rPr lang="en-US" sz="2800" dirty="0" err="1"/>
              <a:t>CPed</a:t>
            </a:r>
            <a:r>
              <a:rPr lang="en-US" sz="2800" dirty="0"/>
              <a:t>) measures the responsiveness of demand for good X following a change in the price of good Y (a related good)</a:t>
            </a:r>
          </a:p>
          <a:p>
            <a:pPr>
              <a:lnSpc>
                <a:spcPct val="90000"/>
              </a:lnSpc>
            </a:pPr>
            <a:endParaRPr lang="en-GB" sz="2800" dirty="0"/>
          </a:p>
          <a:p>
            <a:pPr>
              <a:lnSpc>
                <a:spcPct val="90000"/>
              </a:lnSpc>
            </a:pPr>
            <a:r>
              <a:rPr lang="en-GB" sz="2800" dirty="0" err="1"/>
              <a:t>CPeD</a:t>
            </a:r>
            <a:r>
              <a:rPr lang="en-GB" sz="2800" dirty="0"/>
              <a:t> = </a:t>
            </a:r>
            <a:r>
              <a:rPr lang="en-GB" sz="2800" u="sng" dirty="0"/>
              <a:t>% change in </a:t>
            </a:r>
            <a:r>
              <a:rPr lang="en-GB" sz="2800" b="1" u="sng" dirty="0" err="1">
                <a:solidFill>
                  <a:srgbClr val="FF0000"/>
                </a:solidFill>
              </a:rPr>
              <a:t>qty</a:t>
            </a:r>
            <a:r>
              <a:rPr lang="en-GB" sz="2800" b="1" u="sng" dirty="0">
                <a:solidFill>
                  <a:srgbClr val="FF0000"/>
                </a:solidFill>
              </a:rPr>
              <a:t> D</a:t>
            </a:r>
            <a:r>
              <a:rPr lang="en-GB" sz="2800" u="sng" dirty="0"/>
              <a:t> of product </a:t>
            </a:r>
            <a:r>
              <a:rPr lang="en-GB" sz="2800" b="1" u="sng" dirty="0"/>
              <a:t>A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sz="2800" dirty="0"/>
              <a:t>			% change in </a:t>
            </a:r>
            <a:r>
              <a:rPr lang="en-GB" sz="2800" b="1" dirty="0">
                <a:solidFill>
                  <a:srgbClr val="FF0000"/>
                </a:solidFill>
              </a:rPr>
              <a:t>price</a:t>
            </a:r>
            <a:r>
              <a:rPr lang="en-GB" sz="2800" dirty="0"/>
              <a:t> of product </a:t>
            </a:r>
            <a:r>
              <a:rPr lang="en-GB" sz="2800" b="1" dirty="0"/>
              <a:t>B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b="1" dirty="0"/>
          </a:p>
          <a:p>
            <a:pPr algn="just">
              <a:lnSpc>
                <a:spcPct val="90000"/>
              </a:lnSpc>
            </a:pPr>
            <a:r>
              <a:rPr lang="en-US" sz="2800" dirty="0"/>
              <a:t>With cross price elasticity we make an important </a:t>
            </a:r>
            <a:r>
              <a:rPr lang="en-US" sz="2800" b="1" dirty="0"/>
              <a:t>distinction between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substitute</a:t>
            </a:r>
            <a:r>
              <a:rPr lang="en-US" sz="2800" dirty="0"/>
              <a:t> products and </a:t>
            </a:r>
            <a:r>
              <a:rPr lang="en-US" sz="2800" b="1" dirty="0">
                <a:solidFill>
                  <a:srgbClr val="FF0000"/>
                </a:solidFill>
              </a:rPr>
              <a:t>complementary</a:t>
            </a:r>
            <a:r>
              <a:rPr lang="en-US" sz="2800" dirty="0"/>
              <a:t> goods and services.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80527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Identify some Substitutes</a:t>
            </a: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43013" name="Picture 5" descr="docklands_railwa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268413"/>
            <a:ext cx="2952750" cy="197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20" name="Picture 12" descr="Go to fullsize image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284538"/>
            <a:ext cx="1728787" cy="167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24" name="Picture 16" descr="google_logo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4581525"/>
            <a:ext cx="2376487" cy="99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28" name="Picture 20" descr="20070810085337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868863"/>
            <a:ext cx="1800225" cy="135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30" name="Picture 22" descr="Easy%2520Sunder%2520Dinner%2520Roast%2520Chicken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828800"/>
            <a:ext cx="2014538" cy="165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94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Identify some Complements</a:t>
            </a: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45061" name="Picture 5" descr="washing_mach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628775"/>
            <a:ext cx="16383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2" name="Picture 6" descr="strawberrie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196975"/>
            <a:ext cx="2705100" cy="197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67" name="Picture 11" descr="20070810085337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628775"/>
            <a:ext cx="2305050" cy="173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71" name="Picture 15" descr="sony-vaio-n-laptop">
            <a:hlinkClick r:id="rId8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508500"/>
            <a:ext cx="2016125" cy="174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75" name="Picture 19" descr="Go to fullsize image">
            <a:hlinkClick r:id="rId10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4581525"/>
            <a:ext cx="1871662" cy="155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77" name="Picture 21" descr="Go to fullsize image">
            <a:hlinkClick r:id="rId12"/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3573463"/>
            <a:ext cx="1943100" cy="54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79" name="Picture 23" descr="iPOD NANO 8GB - BRAND NEW &amp; BOXED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9" b="11806"/>
          <a:stretch>
            <a:fillRect/>
          </a:stretch>
        </p:blipFill>
        <p:spPr bwMode="auto">
          <a:xfrm>
            <a:off x="6516688" y="4365625"/>
            <a:ext cx="1211262" cy="172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914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6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/>
              <a:t>Cross Elasticity of Demand (</a:t>
            </a:r>
            <a:r>
              <a:rPr lang="en-US" sz="3400" b="1" dirty="0" err="1"/>
              <a:t>CPed</a:t>
            </a:r>
            <a:r>
              <a:rPr lang="en-US" sz="3400" b="1" dirty="0"/>
              <a:t>) </a:t>
            </a:r>
            <a:br>
              <a:rPr lang="en-US" sz="3400" b="1" dirty="0"/>
            </a:br>
            <a:r>
              <a:rPr lang="en-US" sz="3400" b="1" dirty="0"/>
              <a:t>+ =  Substitutes</a:t>
            </a:r>
          </a:p>
        </p:txBody>
      </p:sp>
      <p:pic>
        <p:nvPicPr>
          <p:cNvPr id="1946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9813" y="1600200"/>
            <a:ext cx="3814762" cy="2205038"/>
          </a:xfrm>
          <a:noFill/>
          <a:ln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946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4114800" cy="453072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/>
              <a:t>Substitutes: </a:t>
            </a:r>
          </a:p>
          <a:p>
            <a:pPr lvl="1">
              <a:lnSpc>
                <a:spcPct val="80000"/>
              </a:lnSpc>
            </a:pPr>
            <a:r>
              <a:rPr lang="en-US" sz="2500"/>
              <a:t>With substitute goods such as brands of razors, an increase in the price of one good will lead to an increase in demand for the rival product</a:t>
            </a:r>
          </a:p>
          <a:p>
            <a:pPr lvl="1">
              <a:lnSpc>
                <a:spcPct val="80000"/>
              </a:lnSpc>
            </a:pPr>
            <a:endParaRPr lang="en-US" sz="2500"/>
          </a:p>
          <a:p>
            <a:pPr lvl="1">
              <a:lnSpc>
                <a:spcPct val="80000"/>
              </a:lnSpc>
            </a:pPr>
            <a:r>
              <a:rPr lang="en-GB" sz="2500"/>
              <a:t>Weak substitutes – inelastic CPed</a:t>
            </a:r>
          </a:p>
          <a:p>
            <a:pPr lvl="1">
              <a:lnSpc>
                <a:spcPct val="80000"/>
              </a:lnSpc>
            </a:pPr>
            <a:r>
              <a:rPr lang="en-GB" sz="2500"/>
              <a:t>Close substitutes – elastic CPed</a:t>
            </a:r>
            <a:endParaRPr lang="en-US" sz="2500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5148263" y="3933825"/>
            <a:ext cx="3187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sz="2400" b="1">
                <a:solidFill>
                  <a:srgbClr val="FF0000"/>
                </a:solidFill>
                <a:latin typeface="Times New Roman" pitchFamily="18" charset="0"/>
              </a:rPr>
              <a:t>Cross price elasticity will be positive</a:t>
            </a: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5867400" y="4724400"/>
            <a:ext cx="1008063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GB" sz="9600" b="1">
                <a:latin typeface="Arial Black" pitchFamily="34" charset="0"/>
              </a:rPr>
              <a:t>+</a:t>
            </a:r>
            <a:endParaRPr lang="en-US" sz="9600" b="1">
              <a:latin typeface="Arial Black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85785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/>
              <a:t>Cross Elasticity of Demand (</a:t>
            </a:r>
            <a:r>
              <a:rPr lang="en-US" sz="3400" b="1" dirty="0" err="1"/>
              <a:t>CPed</a:t>
            </a:r>
            <a:r>
              <a:rPr lang="en-US" sz="3400" b="1" dirty="0"/>
              <a:t>) </a:t>
            </a:r>
            <a:br>
              <a:rPr lang="en-US" sz="3400" b="1" dirty="0"/>
            </a:br>
            <a:r>
              <a:rPr lang="en-US" sz="3400" b="1" dirty="0"/>
              <a:t>- =  Complements</a:t>
            </a:r>
          </a:p>
        </p:txBody>
      </p:sp>
      <p:sp>
        <p:nvSpPr>
          <p:cNvPr id="21511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5510213" cy="4530725"/>
          </a:xfrm>
        </p:spPr>
        <p:txBody>
          <a:bodyPr/>
          <a:lstStyle/>
          <a:p>
            <a:r>
              <a:rPr lang="en-US"/>
              <a:t>Complements: </a:t>
            </a:r>
          </a:p>
          <a:p>
            <a:pPr lvl="1"/>
            <a:r>
              <a:rPr lang="en-US"/>
              <a:t>Goods that are in complementary demand</a:t>
            </a:r>
          </a:p>
          <a:p>
            <a:pPr lvl="1"/>
            <a:r>
              <a:rPr lang="en-GB"/>
              <a:t>Weak complements – inelastic CPed</a:t>
            </a:r>
          </a:p>
          <a:p>
            <a:pPr lvl="1"/>
            <a:r>
              <a:rPr lang="en-GB"/>
              <a:t>Close complements – </a:t>
            </a:r>
          </a:p>
          <a:p>
            <a:pPr lvl="1"/>
            <a:r>
              <a:rPr lang="en-GB"/>
              <a:t>elastic CPed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5580063" y="4076700"/>
            <a:ext cx="31877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 eaLnBrk="0" hangingPunct="0">
              <a:spcBef>
                <a:spcPct val="45000"/>
              </a:spcBef>
            </a:pPr>
            <a:r>
              <a:rPr lang="en-US" sz="2400">
                <a:latin typeface="Times New Roman" pitchFamily="18" charset="0"/>
              </a:rPr>
              <a:t>The cross price elasticity of demand for two 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</a:rPr>
              <a:t>complements is negative</a:t>
            </a:r>
          </a:p>
        </p:txBody>
      </p:sp>
      <p:pic>
        <p:nvPicPr>
          <p:cNvPr id="21516" name="Picture 12" descr="istockphoto_881749_burger_bun_1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06" b="16679"/>
          <a:stretch>
            <a:fillRect/>
          </a:stretch>
        </p:blipFill>
        <p:spPr bwMode="auto">
          <a:xfrm>
            <a:off x="6227763" y="1700213"/>
            <a:ext cx="2155825" cy="216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99781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4367" y="430213"/>
            <a:ext cx="7200900" cy="1485900"/>
          </a:xfrm>
        </p:spPr>
        <p:txBody>
          <a:bodyPr>
            <a:normAutofit/>
          </a:bodyPr>
          <a:lstStyle/>
          <a:p>
            <a:pPr algn="ctr"/>
            <a:r>
              <a:rPr lang="en-GB" sz="3400" b="1" dirty="0"/>
              <a:t>Calculate the </a:t>
            </a:r>
            <a:r>
              <a:rPr lang="en-GB" sz="3400" b="1" dirty="0" err="1"/>
              <a:t>CPeD</a:t>
            </a:r>
            <a:r>
              <a:rPr lang="en-GB" sz="3400" b="1" dirty="0"/>
              <a:t> and state whether the goods are complements or substitutes?</a:t>
            </a:r>
            <a:endParaRPr lang="en-US" sz="3400" b="1" dirty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16113"/>
            <a:ext cx="8229600" cy="4214812"/>
          </a:xfrm>
        </p:spPr>
        <p:txBody>
          <a:bodyPr>
            <a:normAutofit/>
          </a:bodyPr>
          <a:lstStyle/>
          <a:p>
            <a:pPr marL="533400" indent="-533400">
              <a:lnSpc>
                <a:spcPct val="80000"/>
              </a:lnSpc>
              <a:spcAft>
                <a:spcPct val="10000"/>
              </a:spcAft>
              <a:buClr>
                <a:srgbClr val="3366CC"/>
              </a:buClr>
              <a:buFont typeface="Wingdings" pitchFamily="2" charset="2"/>
              <a:buAutoNum type="arabicPeriod"/>
            </a:pPr>
            <a:r>
              <a:rPr lang="en-GB" sz="2800"/>
              <a:t>A 10% rise in the price of fish may cause demand for chicken to increase by 2%.</a:t>
            </a:r>
          </a:p>
          <a:p>
            <a:pPr marL="533400" indent="-533400">
              <a:lnSpc>
                <a:spcPct val="80000"/>
              </a:lnSpc>
              <a:spcAft>
                <a:spcPct val="10000"/>
              </a:spcAft>
              <a:buClr>
                <a:srgbClr val="3366CC"/>
              </a:buClr>
              <a:buFont typeface="Wingdings" pitchFamily="2" charset="2"/>
              <a:buAutoNum type="arabicPeriod"/>
            </a:pPr>
            <a:r>
              <a:rPr lang="en-GB" sz="2800"/>
              <a:t>The fall in the price of paper by 20% causes the demand for pens to increase by 5%.</a:t>
            </a:r>
          </a:p>
          <a:p>
            <a:pPr marL="533400" indent="-533400">
              <a:lnSpc>
                <a:spcPct val="80000"/>
              </a:lnSpc>
              <a:spcAft>
                <a:spcPct val="10000"/>
              </a:spcAft>
              <a:buClr>
                <a:srgbClr val="3366CC"/>
              </a:buClr>
              <a:buFont typeface="Wingdings" pitchFamily="2" charset="2"/>
              <a:buAutoNum type="arabicPeriod"/>
            </a:pPr>
            <a:r>
              <a:rPr lang="en-GB" sz="2800"/>
              <a:t>A 20% rise in the price of ice cream causes demand for sweets to increase by 4%.</a:t>
            </a:r>
          </a:p>
          <a:p>
            <a:pPr marL="533400" indent="-533400">
              <a:lnSpc>
                <a:spcPct val="80000"/>
              </a:lnSpc>
              <a:spcAft>
                <a:spcPct val="10000"/>
              </a:spcAft>
              <a:buClr>
                <a:srgbClr val="3366CC"/>
              </a:buClr>
              <a:buFont typeface="Wingdings" pitchFamily="2" charset="2"/>
              <a:buAutoNum type="arabicPeriod"/>
            </a:pPr>
            <a:r>
              <a:rPr lang="en-GB" sz="2800"/>
              <a:t>A 12% fall in the price of air fares leads to a 30% rise in the demand for foreign holidays.</a:t>
            </a:r>
          </a:p>
          <a:p>
            <a:pPr marL="533400" indent="-533400">
              <a:lnSpc>
                <a:spcPct val="80000"/>
              </a:lnSpc>
              <a:spcAft>
                <a:spcPct val="10000"/>
              </a:spcAft>
              <a:buClr>
                <a:srgbClr val="3366CC"/>
              </a:buClr>
              <a:buFont typeface="Wingdings" pitchFamily="2" charset="2"/>
              <a:buAutoNum type="arabicPeriod"/>
            </a:pPr>
            <a:r>
              <a:rPr lang="en-GB" sz="2800"/>
              <a:t>A 10% rise in bikes will leave the demand for cheese unaffected.</a:t>
            </a:r>
            <a:endParaRPr 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5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xfrm>
            <a:off x="858044" y="381000"/>
            <a:ext cx="7200900" cy="14859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Importance of Cross Price Elasticity</a:t>
            </a:r>
            <a:endParaRPr lang="en-US" b="1" dirty="0"/>
          </a:p>
        </p:txBody>
      </p:sp>
      <p:sp>
        <p:nvSpPr>
          <p:cNvPr id="18437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002588" cy="4530725"/>
          </a:xfrm>
        </p:spPr>
        <p:txBody>
          <a:bodyPr>
            <a:normAutofit/>
          </a:bodyPr>
          <a:lstStyle/>
          <a:p>
            <a:r>
              <a:rPr lang="en-GB" sz="2400" dirty="0"/>
              <a:t>Importance of </a:t>
            </a:r>
            <a:r>
              <a:rPr lang="en-GB" sz="2400" dirty="0" err="1"/>
              <a:t>CPed</a:t>
            </a:r>
            <a:r>
              <a:rPr lang="en-GB" sz="2400" dirty="0"/>
              <a:t> for </a:t>
            </a:r>
            <a:r>
              <a:rPr lang="en-GB" sz="2400" dirty="0" smtClean="0"/>
              <a:t>businesses</a:t>
            </a:r>
          </a:p>
          <a:p>
            <a:pPr>
              <a:buNone/>
            </a:pPr>
            <a:r>
              <a:rPr lang="en-GB" sz="2400" dirty="0" smtClean="0"/>
              <a:t>  - Managerial decision making for formulating proper price strategy in a multi product firms</a:t>
            </a:r>
          </a:p>
          <a:p>
            <a:pPr>
              <a:buNone/>
            </a:pPr>
            <a:r>
              <a:rPr lang="en-GB" sz="2400" dirty="0" smtClean="0"/>
              <a:t>- To define the boundaries of an industry and in measuring  interrelationship  between industries.</a:t>
            </a:r>
          </a:p>
          <a:p>
            <a:pPr marL="0" indent="0">
              <a:buNone/>
            </a:pPr>
            <a:endParaRPr lang="en-GB" sz="2400" dirty="0" smtClean="0"/>
          </a:p>
          <a:p>
            <a:r>
              <a:rPr lang="en-GB" sz="2400" dirty="0" smtClean="0"/>
              <a:t>Importance of </a:t>
            </a:r>
            <a:r>
              <a:rPr lang="en-GB" sz="2400" dirty="0" err="1" smtClean="0"/>
              <a:t>Cped</a:t>
            </a:r>
            <a:r>
              <a:rPr lang="en-GB" sz="2400" dirty="0" smtClean="0"/>
              <a:t> for Government</a:t>
            </a:r>
          </a:p>
          <a:p>
            <a:pPr>
              <a:buNone/>
            </a:pPr>
            <a:r>
              <a:rPr lang="en-GB" sz="2400" dirty="0" smtClean="0"/>
              <a:t>- Deciding cases relating to Antitrust laws and monopolistic practices used by firms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40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437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6"/>
          <p:cNvSpPr>
            <a:spLocks noGrp="1" noChangeArrowheads="1"/>
          </p:cNvSpPr>
          <p:nvPr>
            <p:ph type="title"/>
          </p:nvPr>
        </p:nvSpPr>
        <p:spPr>
          <a:xfrm>
            <a:off x="1130688" y="-76200"/>
            <a:ext cx="7200900" cy="1485900"/>
          </a:xfrm>
        </p:spPr>
        <p:txBody>
          <a:bodyPr/>
          <a:lstStyle/>
          <a:p>
            <a:pPr algn="ctr"/>
            <a:r>
              <a:rPr lang="en-US" b="1" dirty="0"/>
              <a:t>Applications of Cross Elasticity </a:t>
            </a:r>
          </a:p>
        </p:txBody>
      </p:sp>
      <p:pic>
        <p:nvPicPr>
          <p:cNvPr id="2560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05525" y="1676400"/>
            <a:ext cx="2228850" cy="2363788"/>
          </a:xfrm>
          <a:noFill/>
          <a:ln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4813300" cy="4530725"/>
          </a:xfrm>
        </p:spPr>
        <p:txBody>
          <a:bodyPr>
            <a:normAutofit/>
          </a:bodyPr>
          <a:lstStyle/>
          <a:p>
            <a:r>
              <a:rPr lang="en-US" sz="2600" dirty="0"/>
              <a:t>Effect on demand for different modes of mass transport following introduction of road pricing schemes in urban </a:t>
            </a:r>
            <a:r>
              <a:rPr lang="en-US" sz="2600" dirty="0" smtClean="0"/>
              <a:t>areas</a:t>
            </a:r>
          </a:p>
          <a:p>
            <a:pPr marL="0" indent="0">
              <a:buNone/>
            </a:pPr>
            <a:r>
              <a:rPr lang="en-US" sz="2600" dirty="0" smtClean="0"/>
              <a:t> </a:t>
            </a:r>
          </a:p>
          <a:p>
            <a:r>
              <a:rPr lang="en-US" sz="2600" dirty="0" smtClean="0"/>
              <a:t>Rise </a:t>
            </a:r>
            <a:r>
              <a:rPr lang="en-US" sz="2600" dirty="0"/>
              <a:t>in the price of natural gas – effect on the demand for coal used in power generation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322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895600"/>
            <a:ext cx="8229600" cy="444976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Thank You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BE99D-ECB1-4FCE-9054-66FB2E623C70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8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1"/>
  <p:tag name="ARTICULATE_NAV_LEVEL" val="1"/>
  <p:tag name="ARTICULATE_PLAYLIST_ID" val="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1"/>
  <p:tag name="ARTICULATE_NAV_LEVEL" val="1"/>
  <p:tag name="ARTICULATE_PLAYLIST_ID" val="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1"/>
  <p:tag name="ARTICULATE_NAV_LEVEL" val="1"/>
  <p:tag name="ARTICULATE_PLAYLIST_ID" val="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1"/>
  <p:tag name="ARTICULATE_NAV_LEVEL" val="1"/>
  <p:tag name="ARTICULATE_PLAYLIST_ID" val="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1"/>
  <p:tag name="ARTICULATE_NAV_LEVEL" val="1"/>
  <p:tag name="ARTICULATE_PLAYLIST_ID" val="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1"/>
  <p:tag name="ARTICULATE_NAV_LEVEL" val="1"/>
  <p:tag name="ARTICULATE_PLAYLIST_ID" val="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1"/>
  <p:tag name="ARTICULATE_NAV_LEVEL" val="1"/>
  <p:tag name="ARTICULATE_PLAYLIST_ID" val="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PAUSE" val="1"/>
  <p:tag name="ARTICULATE_NAV_LEVEL" val="1"/>
  <p:tag name="ARTICULATE_PLAYLIST_ID" val="-1"/>
</p:tagLst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1109</TotalTime>
  <Words>2046</Words>
  <Application>Microsoft Office PowerPoint</Application>
  <PresentationFormat>On-screen Show (4:3)</PresentationFormat>
  <Paragraphs>427</Paragraphs>
  <Slides>42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맑은 고딕</vt:lpstr>
      <vt:lpstr>Arial</vt:lpstr>
      <vt:lpstr>Arial Black</vt:lpstr>
      <vt:lpstr>Calibri</vt:lpstr>
      <vt:lpstr>돋움</vt:lpstr>
      <vt:lpstr>Franklin Gothic Book</vt:lpstr>
      <vt:lpstr>Symbol</vt:lpstr>
      <vt:lpstr>Times New Roman</vt:lpstr>
      <vt:lpstr>Wingdings</vt:lpstr>
      <vt:lpstr>Crop</vt:lpstr>
      <vt:lpstr>Equation</vt:lpstr>
      <vt:lpstr> Fundamentals of Economics</vt:lpstr>
      <vt:lpstr>   Lesson 03      Concept of Elasticity   </vt:lpstr>
      <vt:lpstr>Elasticity of Demand</vt:lpstr>
      <vt:lpstr>Price Elasticity of Demand</vt:lpstr>
      <vt:lpstr>Price Elasticity of Demand</vt:lpstr>
      <vt:lpstr>More about Price Elasticity</vt:lpstr>
      <vt:lpstr>The Elasticity of Demand</vt:lpstr>
      <vt:lpstr>More about Price Elasticity</vt:lpstr>
      <vt:lpstr>Figure 1 The Price Elasticity of Demand</vt:lpstr>
      <vt:lpstr>Figure 1 The Price Elasticity of Demand</vt:lpstr>
      <vt:lpstr>Figure 1 The Price Elasticity of Demand</vt:lpstr>
      <vt:lpstr>Figure 1 The Price Elasticity of Demand</vt:lpstr>
      <vt:lpstr>Figure 1 The Price Elasticity of Demand</vt:lpstr>
      <vt:lpstr>Total Revenue and the Price Elasticity of Demand</vt:lpstr>
      <vt:lpstr>Figure 2 Total Revenue</vt:lpstr>
      <vt:lpstr>Elasticity and Total Revenue along a Linear Demand Curve</vt:lpstr>
      <vt:lpstr>Figure 3 How Total Revenue Changes When Price Changes: Inelastic Demand</vt:lpstr>
      <vt:lpstr>Elasticity and Total Revenue along a Linear Demand Curve</vt:lpstr>
      <vt:lpstr>Figure 4 How Total Revenue Changes When Price Changes: Elastic Demand</vt:lpstr>
      <vt:lpstr>Elasticity of a Linear Demand Curve</vt:lpstr>
      <vt:lpstr>The Price Elasticity of Demand and Its Determinants</vt:lpstr>
      <vt:lpstr>Importance of price elasticity of Demand</vt:lpstr>
      <vt:lpstr>Income Elasticity</vt:lpstr>
      <vt:lpstr>Income Elasticity of Demand</vt:lpstr>
      <vt:lpstr>Income Elasticity</vt:lpstr>
      <vt:lpstr>PowerPoint Presentation</vt:lpstr>
      <vt:lpstr>Necessities and Luxuries</vt:lpstr>
      <vt:lpstr>High Income Elasticity Implies High Price Elasticity </vt:lpstr>
      <vt:lpstr>Importance of Income Elasticity of Demand</vt:lpstr>
      <vt:lpstr>Cross Elasticity of Demand</vt:lpstr>
      <vt:lpstr>Elasticity: more examples</vt:lpstr>
      <vt:lpstr>Determinants of Price Elasticity of Demand</vt:lpstr>
      <vt:lpstr>Cross Price Elasticity of Demand</vt:lpstr>
      <vt:lpstr>Cross Elasticity of Demand (CPed)</vt:lpstr>
      <vt:lpstr>Identify some Substitutes</vt:lpstr>
      <vt:lpstr>Identify some Complements</vt:lpstr>
      <vt:lpstr>Cross Elasticity of Demand (CPed)  + =  Substitutes</vt:lpstr>
      <vt:lpstr>Cross Elasticity of Demand (CPed)  - =  Complements</vt:lpstr>
      <vt:lpstr>Calculate the CPeD and state whether the goods are complements or substitutes?</vt:lpstr>
      <vt:lpstr>Importance of Cross Price Elasticity</vt:lpstr>
      <vt:lpstr>Applications of Cross Elasticity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</dc:title>
  <dc:creator>DELL</dc:creator>
  <cp:lastModifiedBy>Lahiru Gunathilake</cp:lastModifiedBy>
  <cp:revision>59</cp:revision>
  <dcterms:created xsi:type="dcterms:W3CDTF">2006-08-16T00:00:00Z</dcterms:created>
  <dcterms:modified xsi:type="dcterms:W3CDTF">2021-06-09T02:59:45Z</dcterms:modified>
</cp:coreProperties>
</file>