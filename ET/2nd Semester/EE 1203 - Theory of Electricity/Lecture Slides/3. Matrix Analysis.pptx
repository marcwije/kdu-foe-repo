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9"/>
  </p:notesMasterIdLst>
  <p:sldIdLst>
    <p:sldId id="301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55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432" r:id="rId24"/>
    <p:sldId id="433" r:id="rId25"/>
    <p:sldId id="434" r:id="rId26"/>
    <p:sldId id="435" r:id="rId27"/>
    <p:sldId id="436" r:id="rId28"/>
    <p:sldId id="437" r:id="rId29"/>
    <p:sldId id="438" r:id="rId30"/>
    <p:sldId id="439" r:id="rId31"/>
    <p:sldId id="440" r:id="rId32"/>
    <p:sldId id="441" r:id="rId33"/>
    <p:sldId id="442" r:id="rId34"/>
    <p:sldId id="443" r:id="rId35"/>
    <p:sldId id="444" r:id="rId36"/>
    <p:sldId id="445" r:id="rId37"/>
    <p:sldId id="446" r:id="rId38"/>
    <p:sldId id="447" r:id="rId39"/>
    <p:sldId id="448" r:id="rId40"/>
    <p:sldId id="449" r:id="rId41"/>
    <p:sldId id="450" r:id="rId42"/>
    <p:sldId id="451" r:id="rId43"/>
    <p:sldId id="452" r:id="rId44"/>
    <p:sldId id="453" r:id="rId45"/>
    <p:sldId id="457" r:id="rId46"/>
    <p:sldId id="454" r:id="rId47"/>
    <p:sldId id="456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as" initials="J R" lastIdx="1" clrIdx="0">
    <p:extLst>
      <p:ext uri="{19B8F6BF-5375-455C-9EA6-DF929625EA0E}">
        <p15:presenceInfo xmlns:p15="http://schemas.microsoft.com/office/powerpoint/2012/main" userId="Luc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4" autoAdjust="0"/>
    <p:restoredTop sz="90093" autoAdjust="0"/>
  </p:normalViewPr>
  <p:slideViewPr>
    <p:cSldViewPr snapToGrid="0">
      <p:cViewPr>
        <p:scale>
          <a:sx n="80" d="100"/>
          <a:sy n="80" d="100"/>
        </p:scale>
        <p:origin x="84" y="-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4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13385-33B6-432C-BCB5-D28242722B6F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4AAFD-141F-4056-A367-1845A08BF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24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E7AF17-32A2-4BCF-8664-2B97A4DCC40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34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AAFD-141F-4056-A367-1845A08BF13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332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AAFD-141F-4056-A367-1845A08BF13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552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AAFD-141F-4056-A367-1845A08BF13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956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AAFD-141F-4056-A367-1845A08BF13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0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AAFD-141F-4056-A367-1845A08BF13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576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AAFD-141F-4056-A367-1845A08BF13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85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AAFD-141F-4056-A367-1845A08BF13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208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AAFD-141F-4056-A367-1845A08BF13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742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988DE-CD73-4994-BB42-9A633DA0A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D3E0B-20EC-4D0C-BDEC-5F64CC445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574F8-A3DB-48D2-9728-3D6E3664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C6304-CDC6-49A6-B285-393CB018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A9079-5455-4256-A07C-9493AC33F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975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90CB-4690-4A91-8AF9-083DC561B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634543"/>
            <a:ext cx="10924085" cy="482745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4F62-959D-4731-9C9B-E08757CDB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15" y="1208323"/>
            <a:ext cx="11360503" cy="4024078"/>
          </a:xfrm>
        </p:spPr>
        <p:txBody>
          <a:bodyPr>
            <a:normAutofit/>
          </a:bodyPr>
          <a:lstStyle>
            <a:lvl1pPr>
              <a:defRPr sz="3600">
                <a:solidFill>
                  <a:srgbClr val="002060"/>
                </a:solidFill>
              </a:defRPr>
            </a:lvl1pPr>
            <a:lvl2pPr>
              <a:defRPr sz="3200">
                <a:solidFill>
                  <a:srgbClr val="002060"/>
                </a:solidFill>
              </a:defRPr>
            </a:lvl2pPr>
            <a:lvl3pPr>
              <a:defRPr sz="2800">
                <a:solidFill>
                  <a:srgbClr val="002060"/>
                </a:solidFill>
              </a:defRPr>
            </a:lvl3pPr>
            <a:lvl4pPr>
              <a:defRPr sz="2400">
                <a:solidFill>
                  <a:srgbClr val="002060"/>
                </a:solidFill>
              </a:defRPr>
            </a:lvl4pPr>
            <a:lvl5pPr>
              <a:defRPr sz="2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B1DDA2E2-A596-4428-8BCB-4DAC8028B274}"/>
              </a:ext>
            </a:extLst>
          </p:cNvPr>
          <p:cNvSpPr txBox="1"/>
          <p:nvPr userDrawn="1"/>
        </p:nvSpPr>
        <p:spPr>
          <a:xfrm>
            <a:off x="566702" y="313267"/>
            <a:ext cx="8989252" cy="230242"/>
          </a:xfrm>
          <a:prstGeom prst="rect">
            <a:avLst/>
          </a:prstGeom>
        </p:spPr>
        <p:txBody>
          <a:bodyPr vert="horz" wrap="square" lIns="0" tIns="11289" rIns="0" bIns="0" rtlCol="0">
            <a:spAutoFit/>
          </a:bodyPr>
          <a:lstStyle/>
          <a:p>
            <a:pPr marL="11289" marR="0" lvl="0" indent="0" algn="l" defTabSz="914400" rtl="0" eaLnBrk="1" fontAlgn="auto" latinLnBrk="0" hangingPunct="1">
              <a:lnSpc>
                <a:spcPct val="100000"/>
              </a:lnSpc>
              <a:spcBef>
                <a:spcPts val="89"/>
              </a:spcBef>
              <a:spcAft>
                <a:spcPts val="0"/>
              </a:spcAft>
              <a:buClrTx/>
              <a:buSzTx/>
              <a:buFontTx/>
              <a:buNone/>
              <a:tabLst>
                <a:tab pos="4765664" algn="l"/>
              </a:tabLst>
              <a:defRPr/>
            </a:pPr>
            <a:r>
              <a:rPr kumimoji="0" sz="1422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EE </a:t>
            </a:r>
            <a:r>
              <a:rPr kumimoji="0" sz="1422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  <a:r>
              <a:rPr kumimoji="0" lang="en-US" sz="1422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203Theory of Electricity</a:t>
            </a:r>
            <a:r>
              <a:rPr kumimoji="0" sz="1422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	</a:t>
            </a:r>
            <a:r>
              <a:rPr kumimoji="0" lang="en-US" sz="1422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 Circuits</a:t>
            </a:r>
            <a:endParaRPr kumimoji="0" sz="142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D9290862-A2B6-4690-8DD9-3E247011FE75}"/>
              </a:ext>
            </a:extLst>
          </p:cNvPr>
          <p:cNvSpPr txBox="1">
            <a:spLocks/>
          </p:cNvSpPr>
          <p:nvPr userDrawn="1"/>
        </p:nvSpPr>
        <p:spPr>
          <a:xfrm>
            <a:off x="429714" y="6630501"/>
            <a:ext cx="3340181" cy="1692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89">
              <a:spcBef>
                <a:spcPts val="22"/>
              </a:spcBef>
            </a:pPr>
            <a:r>
              <a:rPr lang="en-US" sz="1100" spc="-5" dirty="0" err="1">
                <a:solidFill>
                  <a:prstClr val="black"/>
                </a:solidFill>
              </a:rPr>
              <a:t>KDU</a:t>
            </a:r>
            <a:r>
              <a:rPr lang="en-US" sz="1100" spc="-5" dirty="0">
                <a:solidFill>
                  <a:prstClr val="black"/>
                </a:solidFill>
              </a:rPr>
              <a:t> </a:t>
            </a:r>
            <a:r>
              <a:rPr lang="en-US" sz="1100" dirty="0">
                <a:solidFill>
                  <a:prstClr val="black"/>
                </a:solidFill>
              </a:rPr>
              <a:t>– </a:t>
            </a:r>
            <a:r>
              <a:rPr lang="en-US" sz="1100" spc="-10" dirty="0">
                <a:solidFill>
                  <a:prstClr val="black"/>
                </a:solidFill>
              </a:rPr>
              <a:t>Prepared </a:t>
            </a:r>
            <a:r>
              <a:rPr lang="en-US" sz="1100" spc="-5" dirty="0">
                <a:solidFill>
                  <a:prstClr val="black"/>
                </a:solidFill>
              </a:rPr>
              <a:t>by Prof </a:t>
            </a:r>
            <a:r>
              <a:rPr lang="en-US" sz="1100" dirty="0">
                <a:solidFill>
                  <a:prstClr val="black"/>
                </a:solidFill>
              </a:rPr>
              <a:t>J R</a:t>
            </a:r>
            <a:r>
              <a:rPr lang="en-US" sz="1100" spc="-155" dirty="0">
                <a:solidFill>
                  <a:prstClr val="black"/>
                </a:solidFill>
              </a:rPr>
              <a:t> </a:t>
            </a:r>
            <a:r>
              <a:rPr lang="en-US" sz="1100" spc="-10" dirty="0">
                <a:solidFill>
                  <a:prstClr val="black"/>
                </a:solidFill>
              </a:rPr>
              <a:t>Lucas/September2020</a:t>
            </a:r>
            <a:endParaRPr lang="en-US" sz="3600" spc="-9" dirty="0">
              <a:solidFill>
                <a:prstClr val="black"/>
              </a:solidFill>
            </a:endParaRP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BFB1319B-F2FE-4D02-B2A1-51D353FC80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309" y="138184"/>
            <a:ext cx="1051611" cy="795982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3A613AA-8F10-44E5-AAA9-2159C98886DB}"/>
              </a:ext>
            </a:extLst>
          </p:cNvPr>
          <p:cNvSpPr txBox="1">
            <a:spLocks/>
          </p:cNvSpPr>
          <p:nvPr userDrawn="1"/>
        </p:nvSpPr>
        <p:spPr>
          <a:xfrm>
            <a:off x="11637817" y="110691"/>
            <a:ext cx="512853" cy="307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7F8B81-7D3C-44E4-9993-3F1024D0C961}" type="slidenum">
              <a:rPr lang="en-GB" sz="1400" smtClean="0"/>
              <a:pPr/>
              <a:t>‹#›</a:t>
            </a:fld>
            <a:endParaRPr lang="en-GB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902206-91A7-4F27-8D6F-DA5FC0BA6D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9169" y="5232400"/>
            <a:ext cx="2172831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25FC7-0220-494A-9380-3FBEF410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E399F-8B54-4C68-AA8A-F518B4A43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1D7DB-7938-42F5-8AC4-1A18F581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C3806-1652-46C9-A784-4DC2410C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83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33952-F54C-43E4-819D-E16478102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74AF4-CC19-45AD-BA31-BED4748D7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6F291-4585-4782-8547-310F87E4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327DE-B30C-42C9-B7F5-4107AFDD0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C9D24-28C4-4CDF-82AB-BFFA36B7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21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0785-4E88-4CA2-86E1-86F019D30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5146F-9A20-4634-9640-DB923FED5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E1E9F-3BB5-44DD-A7F5-F54E36A6A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0C717-C07F-4031-A0F0-BAE1EEFCA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FA273-9C20-4607-AD9E-99C9F5690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07630-0514-4117-81AB-6B4018D2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340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C5A7-54A7-4DDC-BB19-624450B5F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D6B91-9629-487B-AA04-CDED3F814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1CE11-EE39-4B9B-925C-25BE906A8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CF800F-415A-4BE4-9485-23101109D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2BBA2A-D453-44D5-90E0-47E5362B0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80A6E-D560-419B-A121-807D0C751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09A7F8-AD71-4A41-A741-E440CD2C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BB6CE-2807-4B5B-B8BB-E21F862A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378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D43D5-1AD2-44DC-A040-294715C3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D243E-AF43-4039-89E5-CF4D8852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7C297-C40C-44D3-8032-A4875A95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CF6B9-3852-4AB0-9E24-47771C0E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10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6DF0A-F9D7-4518-84D5-290CE445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CD8973-3D6F-42B1-A1AA-89176276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E5179-0F07-4B63-A286-49069319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53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BA1F-9150-473A-8179-BB707ACC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7237B-6B76-456F-A365-74A8010A5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D164E-D222-4FEB-B058-997535A22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AD164-BB85-4771-B7C0-3CEEC9A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253B4-F02B-474A-B457-522B68AB9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8DA2B-F10B-4BE0-A4CB-E0D3DF97A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16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355D-14D5-4CE8-BB15-D9137835D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DCF38-A697-4AC3-AFA1-21F44E5EC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2E1C3-C4B0-4713-BDD3-7F6ADF946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44945-6CC2-49CB-9F2B-64AF3DFF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13277-DD44-44D3-956A-3948B0CF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9D035-B381-4A65-98B9-23F2454C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16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D4A1-573C-456E-BAEE-0617E376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35CBB-1999-49D0-BC17-D62602C06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771CE-65C1-49EF-9BB0-45D931504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7AAD9-C744-4ED3-9B87-A10F28CC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1EE95-F3AB-4292-B883-9FAD20BD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174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7A9D67-6881-40C8-BAAE-17422572D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F3D56-53A9-471F-A0FB-A30BC215A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32E34-4E88-42F4-8442-4C31BEEA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EDB72-6935-4C96-80FE-AF9B3EA3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3DF53-2727-4665-9B73-B2DDACA0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699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FA2A1-591B-4525-9A26-A18AED4DC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E6A4F-729B-4436-8F5E-55DFD4A14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25BD1-818C-4266-A714-74055694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A9F59-2071-42B4-974A-410C75514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12B14-469F-42C5-9784-59A4F89F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843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51A8-FDF3-4778-B628-0633EA827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725"/>
          </a:xfrm>
        </p:spPr>
        <p:txBody>
          <a:bodyPr>
            <a:normAutofit/>
          </a:bodyPr>
          <a:lstStyle>
            <a:lvl1pPr algn="ctr">
              <a:defRPr lang="en-GB" sz="3600" b="1" kern="1200" dirty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599F8-A323-410E-962C-BADABB098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91" y="1257300"/>
            <a:ext cx="11514859" cy="4919663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>
                <a:solidFill>
                  <a:srgbClr val="002060"/>
                </a:solidFill>
              </a:defRPr>
            </a:lvl2pPr>
            <a:lvl3pPr>
              <a:defRPr sz="2400">
                <a:solidFill>
                  <a:srgbClr val="002060"/>
                </a:solidFill>
              </a:defRPr>
            </a:lvl3pPr>
            <a:lvl4pPr>
              <a:defRPr sz="2000">
                <a:solidFill>
                  <a:srgbClr val="002060"/>
                </a:solidFill>
              </a:defRPr>
            </a:lvl4pPr>
            <a:lvl5pPr>
              <a:defRPr sz="20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8C8AB-55D8-450E-B38C-9B132FC0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894F9-5A70-4F72-9BD0-F1E7EEE0F927}"/>
              </a:ext>
            </a:extLst>
          </p:cNvPr>
          <p:cNvSpPr txBox="1"/>
          <p:nvPr userDrawn="1"/>
        </p:nvSpPr>
        <p:spPr>
          <a:xfrm>
            <a:off x="143740" y="6480729"/>
            <a:ext cx="2648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Prof J Rohan Lucas/April 2020</a:t>
            </a:r>
            <a:endParaRPr lang="en-GB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12622-06DF-4C31-A9A3-DB231A498E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50" y="0"/>
            <a:ext cx="723810" cy="5523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854FF0-A8F4-4774-BAD1-37B4DF796C39}"/>
              </a:ext>
            </a:extLst>
          </p:cNvPr>
          <p:cNvSpPr txBox="1"/>
          <p:nvPr userDrawn="1"/>
        </p:nvSpPr>
        <p:spPr>
          <a:xfrm>
            <a:off x="554182" y="53395"/>
            <a:ext cx="11000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4825" indent="0">
              <a:tabLst>
                <a:tab pos="5029200" algn="ctr"/>
                <a:tab pos="10683875" algn="r"/>
              </a:tabLst>
            </a:pPr>
            <a:r>
              <a:rPr lang="en-US" sz="1600" dirty="0"/>
              <a:t>High Voltage Engineering 1	</a:t>
            </a:r>
            <a:r>
              <a:rPr lang="en-GB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Voltage Cables	</a:t>
            </a:r>
            <a:endParaRPr lang="en-GB" sz="1600" b="0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92F4B8B1-3073-4763-B6CE-A6611013B9DE}"/>
              </a:ext>
            </a:extLst>
          </p:cNvPr>
          <p:cNvSpPr txBox="1">
            <a:spLocks/>
          </p:cNvSpPr>
          <p:nvPr userDrawn="1"/>
        </p:nvSpPr>
        <p:spPr>
          <a:xfrm>
            <a:off x="11637818" y="110690"/>
            <a:ext cx="432304" cy="312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7F8B81-7D3C-44E4-9993-3F1024D0C961}" type="slidenum">
              <a:rPr lang="en-GB" sz="1400" smtClean="0"/>
              <a:pPr/>
              <a:t>‹#›</a:t>
            </a:fld>
            <a:endParaRPr lang="en-GB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687116-A6FA-4EC4-948A-D5634ECDB4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9169" y="5232400"/>
            <a:ext cx="2172831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74FA-E26A-46D6-B929-7C613C02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B014E-7DE2-42F2-8765-04FB4315E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DD7B5-4E82-4D07-B029-61A00ECC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7D658-8E41-4E37-939A-0B2CA6CD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F8D6-07DA-48D8-AD18-D0A4207F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736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A24BB-E08A-475F-A889-2C85385F8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726D-4738-401F-83C1-3D2FC8A65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8BD1-B507-4610-8F81-599055BEA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7EE15-D73D-47C9-A475-65326FE6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6A158-340E-492B-96F4-52E6D771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08F35-AA19-42B6-BCF9-412E2808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087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EA92-B2E9-48AC-B4F8-BC4E24D30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20C0-AE32-4E35-9EBB-0FF6C9230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16D27-7723-45F1-836F-7E8EFC3AF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35F67-EE6A-4834-9E32-DA60C5424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73E882-BBD2-46E6-8452-EE99AF7A8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2560D-52A9-4A51-A6D3-19198DF9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7E41DA-510B-4EDC-9016-B9BE5508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55B01-722C-46E7-9A92-31988959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9301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6D5DD-50BE-4538-9755-1B5CE79B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16EF5-F518-4D8F-ACAA-1C6F0912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DA837-E573-4AFA-9AC2-49D707184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7314E-E4DE-4A9B-9CFB-F54340891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104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A4D9F-3842-4C3A-AEFC-01B03C3B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C0069-0AF0-4465-96F0-D7270CE9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8CEB6-044C-4FC9-ADBC-1D11BE21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9340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1AEB-D33F-4EAD-8CA0-87B8E8F47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3AE9-01D9-48D7-B5CB-57ED1822A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0CEF0-5868-43E6-BEB2-097B0E4AD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5C560-2623-4603-A6A1-8614FDE9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C8641-D0C0-40F8-BE2B-B72395C45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D1BC4-C0F9-491C-ADCF-A858A0ED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914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E6EF-6F8D-487C-AF39-D8AAB5B5F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493A3A-E94A-4380-8589-4570807DB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02534-C727-408D-ABD2-825C1D286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D1941-7764-49DA-B982-7D13931B2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E193D-2426-4637-866B-85A4B7826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56C82-5DCB-4DBE-9E04-DE8850D2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1069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6FCA-C8A0-450D-8598-11900CCB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FAAD8-BD77-45BD-81A6-3AEDC1F81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ABCCD-B3E7-40A3-8FA2-5E4D883B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F2CD6-9931-4769-8A66-6D1326D6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8A456-274C-4878-8F46-E30F7F84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80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BC83E-2BBC-4268-931E-5E665CB5E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460F5-020D-4420-AD3A-13BE41E22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F72C6-35B3-489D-97CB-3E931F42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2E2DE-5E4B-4C7A-9BD0-33CE1973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B8065-7935-4361-B392-4F7C0919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10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A80AE-56DA-4AB7-9F2F-CAF70E8B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876FA-7FD7-48E2-9162-474962FFE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D6BE8-40DB-4B93-B86D-D09A1134D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C8808-64BE-459B-935E-D1C096534883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6C5ED-8273-4F75-992D-3AE99237D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1DED9-22D4-402C-BD05-2B367BB21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72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2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0B399-2484-4E11-AB1D-336B7A94C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2A8F-ABED-4C45-AB22-31F9BCA2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5EFC3-8B1C-4A71-B826-F69E2780C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FAEEA-68D7-4B77-8C31-8040F6854DA5}" type="datetimeFigureOut">
              <a:rPr lang="en-GB" smtClean="0"/>
              <a:t>11/09/2020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3293F-9F6A-49A9-B93F-35FDCF582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94848-02A4-4E8A-8941-4F7E81352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22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14.png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3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0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24.png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5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8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2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3.wmf"/><Relationship Id="rId9" Type="http://schemas.openxmlformats.org/officeDocument/2006/relationships/image" Target="../media/image4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0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51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52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54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7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60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DD01-B154-455A-B4D9-DFF01AC0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485" y="1926373"/>
            <a:ext cx="7169821" cy="1315844"/>
          </a:xfrm>
        </p:spPr>
        <p:txBody>
          <a:bodyPr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 </a:t>
            </a:r>
            <a:r>
              <a:rPr lang="en-GB" sz="40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Analysis of Networks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518F5-E001-45B5-84BF-6CF8CE6D0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267" y="790703"/>
            <a:ext cx="9654258" cy="6565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EE1203 – Theory of Electricity</a:t>
            </a:r>
            <a:endParaRPr lang="en-GB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C65E412-7FA8-4B5C-8E61-D0C3D1CE11B4}"/>
              </a:ext>
            </a:extLst>
          </p:cNvPr>
          <p:cNvSpPr txBox="1">
            <a:spLocks/>
          </p:cNvSpPr>
          <p:nvPr/>
        </p:nvSpPr>
        <p:spPr>
          <a:xfrm>
            <a:off x="1447123" y="3721298"/>
            <a:ext cx="8197380" cy="2865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56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Prof J. Rohan Lucas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lucas@kdu.ac.lk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556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Department of Electrical, Electronic &amp; Telecommunication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4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General Sir John Kotelawala </a:t>
            </a:r>
            <a:r>
              <a:rPr kumimoji="0" lang="en-US" sz="2844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Defence</a:t>
            </a:r>
            <a:r>
              <a:rPr kumimoji="0" lang="en-US" sz="284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University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September 2020</a:t>
            </a:r>
            <a:endParaRPr kumimoji="0" lang="en-GB" sz="2133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176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03D9-5BBE-47E4-8F66-CC176CE6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82715"/>
            <a:ext cx="10924085" cy="482745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19" name="Text Box 2347">
            <a:extLst>
              <a:ext uri="{FF2B5EF4-FFF2-40B4-BE49-F238E27FC236}">
                <a16:creationId xmlns:a16="http://schemas.microsoft.com/office/drawing/2014/main" id="{E9381B68-0349-40D5-BA33-56730954E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8266" y="2607656"/>
            <a:ext cx="442844" cy="369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24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endParaRPr lang="en-GB" sz="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9D7BD7-3FA6-4E36-8065-73CFE61DD22E}"/>
              </a:ext>
            </a:extLst>
          </p:cNvPr>
          <p:cNvSpPr/>
          <p:nvPr/>
        </p:nvSpPr>
        <p:spPr>
          <a:xfrm>
            <a:off x="429715" y="944402"/>
            <a:ext cx="11409359" cy="5785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51255" indent="-1151255">
              <a:lnSpc>
                <a:spcPct val="115000"/>
              </a:lnSpc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Latha" panose="02000400000000000000" pitchFamily="2"/>
              </a:rPr>
              <a:t>On completion of module, student will be able to 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Latha" panose="02000400000000000000" pitchFamily="2"/>
            </a:endParaRPr>
          </a:p>
          <a:p>
            <a:pPr marL="1151255" indent="-1151255">
              <a:lnSpc>
                <a:spcPct val="115000"/>
              </a:lnSpc>
            </a:pP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LO1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performances of AC circuits</a:t>
            </a:r>
            <a:r>
              <a:rPr lang="en-GB" sz="36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51255" indent="-1151255"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</a:rPr>
              <a:t>	</a:t>
            </a:r>
            <a:r>
              <a:rPr lang="en-GB" sz="3600" b="1" dirty="0">
                <a:solidFill>
                  <a:srgbClr val="C00000"/>
                </a:solidFill>
                <a:latin typeface="Times New Roman" panose="02020603050405020304" pitchFamily="18" charset="0"/>
                <a:cs typeface="Latha" panose="02000400000000000000" pitchFamily="2"/>
              </a:rPr>
              <a:t>Analyse circuits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sz="3600" b="1" dirty="0">
                <a:solidFill>
                  <a:srgbClr val="C00000"/>
                </a:solidFill>
                <a:latin typeface="Times New Roman" panose="02020603050405020304" pitchFamily="18" charset="0"/>
                <a:cs typeface="Latha" panose="02000400000000000000" pitchFamily="2"/>
              </a:rPr>
              <a:t>using nodal and mesh theory</a:t>
            </a:r>
          </a:p>
          <a:p>
            <a:pPr marL="1151255" indent="-1151255">
              <a:lnSpc>
                <a:spcPct val="115000"/>
              </a:lnSpc>
            </a:pP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Latha" panose="02000400000000000000" pitchFamily="2"/>
              </a:rPr>
              <a:t>LO2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Latha" panose="02000400000000000000" pitchFamily="2"/>
              </a:rPr>
              <a:t>: </a:t>
            </a: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Latha" panose="02000400000000000000" pitchFamily="2"/>
              </a:rPr>
              <a:t>Analyse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Latha" panose="02000400000000000000" pitchFamily="2"/>
              </a:rPr>
              <a:t> two port networks using different models. 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Latha" panose="02000400000000000000" pitchFamily="2"/>
            </a:endParaRPr>
          </a:p>
          <a:p>
            <a:pPr marL="1151255" indent="-1151255">
              <a:lnSpc>
                <a:spcPct val="115000"/>
              </a:lnSpc>
            </a:pP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LO3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transfer functions of </a:t>
            </a:r>
            <a:r>
              <a:rPr lang="en-GB" sz="36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RLC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networks for transients. 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255" indent="-1151255">
              <a:lnSpc>
                <a:spcPct val="115000"/>
              </a:lnSpc>
            </a:pP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LO4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waveforms for its harmonics.</a:t>
            </a:r>
          </a:p>
          <a:p>
            <a:pPr marL="1151255" indent="-1151255">
              <a:lnSpc>
                <a:spcPct val="115000"/>
              </a:lnSpc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LO5: Perform </a:t>
            </a: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calculations in three phase circuits    including unbalanced waveforms.</a:t>
            </a:r>
            <a:endParaRPr lang="en-GB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963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574"/>
    </mc:Choice>
    <mc:Fallback xmlns="">
      <p:transition spd="slow" advTm="14957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27F69-66E4-47D0-B792-FA8332BF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28218"/>
            <a:ext cx="10924085" cy="482745"/>
          </a:xfrm>
        </p:spPr>
        <p:txBody>
          <a:bodyPr>
            <a:normAutofit fontScale="90000"/>
          </a:bodyPr>
          <a:lstStyle/>
          <a:p>
            <a:r>
              <a:rPr lang="en-GB" dirty="0"/>
              <a:t>Matrix Analysis of Networks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784270-73CF-4D01-A708-CB20FBC4E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96259" name="Picture 3">
            <a:extLst>
              <a:ext uri="{FF2B5EF4-FFF2-40B4-BE49-F238E27FC236}">
                <a16:creationId xmlns:a16="http://schemas.microsoft.com/office/drawing/2014/main" id="{128E1A6A-7588-4278-85C5-7FFEE2BA1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140" y="957408"/>
            <a:ext cx="5419725" cy="417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3A329B6D-74D1-4BA8-B023-4D1778C63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15" y="910959"/>
            <a:ext cx="672214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Large networks are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tedious to analyse using normal equations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more convenient to formulate in matrix form.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Gives a compact and neat form of solution.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necessary to know the structure of a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formulate the problem based on the structure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342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06953"/>
            <a:ext cx="10924085" cy="482745"/>
          </a:xfrm>
        </p:spPr>
        <p:txBody>
          <a:bodyPr>
            <a:normAutofit fontScale="90000"/>
          </a:bodyPr>
          <a:lstStyle/>
          <a:p>
            <a:r>
              <a:rPr lang="en-GB" dirty="0"/>
              <a:t>Topology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6E7B96-B4CA-446A-BD75-AD3531F605CC}"/>
              </a:ext>
            </a:extLst>
          </p:cNvPr>
          <p:cNvSpPr/>
          <p:nvPr/>
        </p:nvSpPr>
        <p:spPr>
          <a:xfrm>
            <a:off x="99996" y="947168"/>
            <a:ext cx="911047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algn="just">
              <a:spcBef>
                <a:spcPts val="0"/>
              </a:spcBef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Deals with structure of interconnected system.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 algn="just">
              <a:spcBef>
                <a:spcPts val="0"/>
              </a:spcBef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Formulates the problem based on non-measurable geometric properties of network.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 algn="just">
              <a:spcBef>
                <a:spcPts val="0"/>
              </a:spcBef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Interconnection of elements completely characterises 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buFont typeface="Symbol" panose="05050102010706020507" pitchFamily="18" charset="2"/>
              <a:buChar char=""/>
              <a:tabLst>
                <a:tab pos="857250" algn="l"/>
              </a:tabLst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number of independent loop currents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buFont typeface="Symbol" panose="05050102010706020507" pitchFamily="18" charset="2"/>
              <a:buChar char=""/>
              <a:tabLst>
                <a:tab pos="857250" algn="l"/>
              </a:tabLst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number of independent node-pair voltages </a:t>
            </a:r>
            <a:endParaRPr lang="en-GB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37E20D-4868-4CA1-9873-42153A5757F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5ECFC"/>
              </a:clrFrom>
              <a:clrTo>
                <a:srgbClr val="D5EC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48804" y="1024771"/>
            <a:ext cx="2743200" cy="41306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A01A53-5015-401F-ACB0-F0D550C38CE1}"/>
              </a:ext>
            </a:extLst>
          </p:cNvPr>
          <p:cNvSpPr txBox="1"/>
          <p:nvPr/>
        </p:nvSpPr>
        <p:spPr>
          <a:xfrm>
            <a:off x="884130" y="4737115"/>
            <a:ext cx="911047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Radial Road Network from Kandy to Colombo, Puttalam, Anuradhapura, Trincomalee, Polonnaruwa, Batticaloa, Badulla and </a:t>
            </a:r>
            <a:r>
              <a:rPr lang="en-US" sz="29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Ratnapura</a:t>
            </a:r>
            <a:endParaRPr lang="en-US" sz="29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Mesh Network between same cities without touching Kandy</a:t>
            </a:r>
            <a:endParaRPr lang="en-GB" sz="29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755F3D-2274-4EC5-A5D0-3DCDF1A98C9D}"/>
              </a:ext>
            </a:extLst>
          </p:cNvPr>
          <p:cNvCxnSpPr/>
          <p:nvPr/>
        </p:nvCxnSpPr>
        <p:spPr>
          <a:xfrm>
            <a:off x="302125" y="4997302"/>
            <a:ext cx="457200" cy="0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09B0E9-0D66-4141-8043-7B1D9A729A0E}"/>
              </a:ext>
            </a:extLst>
          </p:cNvPr>
          <p:cNvCxnSpPr/>
          <p:nvPr/>
        </p:nvCxnSpPr>
        <p:spPr>
          <a:xfrm>
            <a:off x="326935" y="6340543"/>
            <a:ext cx="457200" cy="0"/>
          </a:xfrm>
          <a:prstGeom prst="line">
            <a:avLst/>
          </a:prstGeom>
          <a:ln w="5715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631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Structure of the network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C513F1-A2B3-409E-8404-51DB890F5361}"/>
              </a:ext>
            </a:extLst>
          </p:cNvPr>
          <p:cNvSpPr/>
          <p:nvPr/>
        </p:nvSpPr>
        <p:spPr>
          <a:xfrm>
            <a:off x="0" y="4582156"/>
            <a:ext cx="10313582" cy="1914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Figure 1 – Structure of the network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1(a) and (b) have the same structure (topology). 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However, as can be seen, elements are quite different.</a:t>
            </a:r>
            <a:endParaRPr lang="en-GB" sz="3600" dirty="0"/>
          </a:p>
        </p:txBody>
      </p:sp>
      <p:grpSp>
        <p:nvGrpSpPr>
          <p:cNvPr id="899" name="Group 898">
            <a:extLst>
              <a:ext uri="{FF2B5EF4-FFF2-40B4-BE49-F238E27FC236}">
                <a16:creationId xmlns:a16="http://schemas.microsoft.com/office/drawing/2014/main" id="{70AF2FB8-064F-46D4-910E-531CB3256232}"/>
              </a:ext>
            </a:extLst>
          </p:cNvPr>
          <p:cNvGrpSpPr/>
          <p:nvPr/>
        </p:nvGrpSpPr>
        <p:grpSpPr>
          <a:xfrm>
            <a:off x="813148" y="1257300"/>
            <a:ext cx="8407052" cy="3467100"/>
            <a:chOff x="3065925" y="2208203"/>
            <a:chExt cx="5824984" cy="2439360"/>
          </a:xfrm>
        </p:grpSpPr>
        <p:sp>
          <p:nvSpPr>
            <p:cNvPr id="733" name="Text Box 37">
              <a:extLst>
                <a:ext uri="{FF2B5EF4-FFF2-40B4-BE49-F238E27FC236}">
                  <a16:creationId xmlns:a16="http://schemas.microsoft.com/office/drawing/2014/main" id="{C6C13950-7CA3-4B98-8F23-AAD0DE663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9154" y="3576324"/>
              <a:ext cx="359810" cy="366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r>
                <a:rPr lang="en-GB" sz="2800" baseline="-250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22" name="Line 8">
              <a:extLst>
                <a:ext uri="{FF2B5EF4-FFF2-40B4-BE49-F238E27FC236}">
                  <a16:creationId xmlns:a16="http://schemas.microsoft.com/office/drawing/2014/main" id="{83081E91-A37F-46E1-BFCB-944DCAF55D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891402" y="4090713"/>
              <a:ext cx="428506" cy="7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3" name="Text Box 9">
              <a:extLst>
                <a:ext uri="{FF2B5EF4-FFF2-40B4-BE49-F238E27FC236}">
                  <a16:creationId xmlns:a16="http://schemas.microsoft.com/office/drawing/2014/main" id="{2141317D-8FB8-4937-86D3-54C69F232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889" y="4243235"/>
              <a:ext cx="524631" cy="404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(a)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24" name="Text Box 10">
              <a:extLst>
                <a:ext uri="{FF2B5EF4-FFF2-40B4-BE49-F238E27FC236}">
                  <a16:creationId xmlns:a16="http://schemas.microsoft.com/office/drawing/2014/main" id="{AB8C1697-0C9F-4FE7-8C4E-1C7C24D73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4063" y="4260345"/>
              <a:ext cx="514937" cy="366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(b)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25" name="Text Box 11">
              <a:extLst>
                <a:ext uri="{FF2B5EF4-FFF2-40B4-BE49-F238E27FC236}">
                  <a16:creationId xmlns:a16="http://schemas.microsoft.com/office/drawing/2014/main" id="{493FD80D-BB24-4076-BFFF-52584033F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0133" y="2798131"/>
              <a:ext cx="385086" cy="366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r>
                <a:rPr lang="en-GB" sz="2800" baseline="-250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26" name="Line 12">
              <a:extLst>
                <a:ext uri="{FF2B5EF4-FFF2-40B4-BE49-F238E27FC236}">
                  <a16:creationId xmlns:a16="http://schemas.microsoft.com/office/drawing/2014/main" id="{605726EE-B529-4326-B362-FDE47CD6B5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3694193">
              <a:off x="4229707" y="2652788"/>
              <a:ext cx="1116" cy="3978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" name="Line 13">
              <a:extLst>
                <a:ext uri="{FF2B5EF4-FFF2-40B4-BE49-F238E27FC236}">
                  <a16:creationId xmlns:a16="http://schemas.microsoft.com/office/drawing/2014/main" id="{FC41262F-0673-44DD-AEB5-503813977C3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3985011" y="2401626"/>
              <a:ext cx="2582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28" name="Group 727">
              <a:extLst>
                <a:ext uri="{FF2B5EF4-FFF2-40B4-BE49-F238E27FC236}">
                  <a16:creationId xmlns:a16="http://schemas.microsoft.com/office/drawing/2014/main" id="{821CC95D-DF29-4B3C-8FB5-118DD6C6A7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52949" y="2208203"/>
              <a:ext cx="515713" cy="381266"/>
              <a:chOff x="2018" y="2138"/>
              <a:chExt cx="1200" cy="357"/>
            </a:xfrm>
          </p:grpSpPr>
          <p:cxnSp>
            <p:nvCxnSpPr>
              <p:cNvPr id="885" name="Line 15">
                <a:extLst>
                  <a:ext uri="{FF2B5EF4-FFF2-40B4-BE49-F238E27FC236}">
                    <a16:creationId xmlns:a16="http://schemas.microsoft.com/office/drawing/2014/main" id="{006A1C52-2F83-419D-9E9D-7EA0C2AC7A2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01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6" name="Line 16">
                <a:extLst>
                  <a:ext uri="{FF2B5EF4-FFF2-40B4-BE49-F238E27FC236}">
                    <a16:creationId xmlns:a16="http://schemas.microsoft.com/office/drawing/2014/main" id="{30FED4CA-5830-4D68-A34F-5CDD387A49A8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309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7" name="Line 17">
                <a:extLst>
                  <a:ext uri="{FF2B5EF4-FFF2-40B4-BE49-F238E27FC236}">
                    <a16:creationId xmlns:a16="http://schemas.microsoft.com/office/drawing/2014/main" id="{0D2D6701-1895-4071-8673-FF7A607001D3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12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8" name="Line 18">
                <a:extLst>
                  <a:ext uri="{FF2B5EF4-FFF2-40B4-BE49-F238E27FC236}">
                    <a16:creationId xmlns:a16="http://schemas.microsoft.com/office/drawing/2014/main" id="{6A409070-5EFC-4727-8B7A-706B5E1D949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38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9" name="Line 19">
                <a:extLst>
                  <a:ext uri="{FF2B5EF4-FFF2-40B4-BE49-F238E27FC236}">
                    <a16:creationId xmlns:a16="http://schemas.microsoft.com/office/drawing/2014/main" id="{C6EF3F86-3D85-49BE-84A6-AE89E86C0955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60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0" name="Line 20">
                <a:extLst>
                  <a:ext uri="{FF2B5EF4-FFF2-40B4-BE49-F238E27FC236}">
                    <a16:creationId xmlns:a16="http://schemas.microsoft.com/office/drawing/2014/main" id="{57C4F2D1-91BB-4218-94E6-B57039ABCE0C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86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729" name="Line 21">
              <a:extLst>
                <a:ext uri="{FF2B5EF4-FFF2-40B4-BE49-F238E27FC236}">
                  <a16:creationId xmlns:a16="http://schemas.microsoft.com/office/drawing/2014/main" id="{25E510DD-59A9-46D7-913D-0B97E27A8BB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775641" y="2401626"/>
              <a:ext cx="6103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30" name="Group 729">
              <a:extLst>
                <a:ext uri="{FF2B5EF4-FFF2-40B4-BE49-F238E27FC236}">
                  <a16:creationId xmlns:a16="http://schemas.microsoft.com/office/drawing/2014/main" id="{A9511609-3DBC-41D8-92D8-A999DE5222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3788" y="4000340"/>
              <a:ext cx="635529" cy="183008"/>
              <a:chOff x="8378" y="8272"/>
              <a:chExt cx="1080" cy="355"/>
            </a:xfrm>
          </p:grpSpPr>
          <p:sp>
            <p:nvSpPr>
              <p:cNvPr id="873" name="Arc 23">
                <a:extLst>
                  <a:ext uri="{FF2B5EF4-FFF2-40B4-BE49-F238E27FC236}">
                    <a16:creationId xmlns:a16="http://schemas.microsoft.com/office/drawing/2014/main" id="{9470C639-3598-4254-8A9C-5F0606EA49F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8378" y="8447"/>
                <a:ext cx="320" cy="169"/>
              </a:xfrm>
              <a:custGeom>
                <a:avLst/>
                <a:gdLst>
                  <a:gd name="G0" fmla="+- 19973 0 0"/>
                  <a:gd name="G1" fmla="+- 21600 0 0"/>
                  <a:gd name="G2" fmla="+- 21600 0 0"/>
                  <a:gd name="T0" fmla="*/ 0 w 41573"/>
                  <a:gd name="T1" fmla="*/ 13377 h 22566"/>
                  <a:gd name="T2" fmla="*/ 41551 w 41573"/>
                  <a:gd name="T3" fmla="*/ 22566 h 22566"/>
                  <a:gd name="T4" fmla="*/ 19973 w 41573"/>
                  <a:gd name="T5" fmla="*/ 21600 h 2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573" h="22566" fill="none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w="41573" h="22566" stroke="0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874" name="Group 873">
                <a:extLst>
                  <a:ext uri="{FF2B5EF4-FFF2-40B4-BE49-F238E27FC236}">
                    <a16:creationId xmlns:a16="http://schemas.microsoft.com/office/drawing/2014/main" id="{5A4E0815-B49C-45C1-8A36-161DD82E70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56" y="8282"/>
                <a:ext cx="328" cy="345"/>
                <a:chOff x="2020" y="8243"/>
                <a:chExt cx="1768" cy="960"/>
              </a:xfrm>
            </p:grpSpPr>
            <p:sp>
              <p:nvSpPr>
                <p:cNvPr id="883" name="Arc 25">
                  <a:extLst>
                    <a:ext uri="{FF2B5EF4-FFF2-40B4-BE49-F238E27FC236}">
                      <a16:creationId xmlns:a16="http://schemas.microsoft.com/office/drawing/2014/main" id="{476CB027-CB80-42DD-9846-39D62A6785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84" name="Arc 26">
                  <a:extLst>
                    <a:ext uri="{FF2B5EF4-FFF2-40B4-BE49-F238E27FC236}">
                      <a16:creationId xmlns:a16="http://schemas.microsoft.com/office/drawing/2014/main" id="{992FCBBF-5F23-411B-ADBB-9558E0FCD1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875" name="Group 874">
                <a:extLst>
                  <a:ext uri="{FF2B5EF4-FFF2-40B4-BE49-F238E27FC236}">
                    <a16:creationId xmlns:a16="http://schemas.microsoft.com/office/drawing/2014/main" id="{5E7BA1E5-058A-427F-BCB2-BCF0CA6583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45" y="8272"/>
                <a:ext cx="328" cy="345"/>
                <a:chOff x="2020" y="8243"/>
                <a:chExt cx="1768" cy="960"/>
              </a:xfrm>
            </p:grpSpPr>
            <p:sp>
              <p:nvSpPr>
                <p:cNvPr id="881" name="Arc 28">
                  <a:extLst>
                    <a:ext uri="{FF2B5EF4-FFF2-40B4-BE49-F238E27FC236}">
                      <a16:creationId xmlns:a16="http://schemas.microsoft.com/office/drawing/2014/main" id="{B2CE289A-505E-4A31-8B25-4E8FA6740A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82" name="Arc 29">
                  <a:extLst>
                    <a:ext uri="{FF2B5EF4-FFF2-40B4-BE49-F238E27FC236}">
                      <a16:creationId xmlns:a16="http://schemas.microsoft.com/office/drawing/2014/main" id="{A580AA9F-ED12-4667-A8D1-C2175058DF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876" name="Group 875">
                <a:extLst>
                  <a:ext uri="{FF2B5EF4-FFF2-40B4-BE49-F238E27FC236}">
                    <a16:creationId xmlns:a16="http://schemas.microsoft.com/office/drawing/2014/main" id="{3E19256E-81E2-4FAC-A4F5-420C8C4B5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31" y="8278"/>
                <a:ext cx="328" cy="345"/>
                <a:chOff x="2020" y="8243"/>
                <a:chExt cx="1768" cy="960"/>
              </a:xfrm>
            </p:grpSpPr>
            <p:sp>
              <p:nvSpPr>
                <p:cNvPr id="879" name="Arc 31">
                  <a:extLst>
                    <a:ext uri="{FF2B5EF4-FFF2-40B4-BE49-F238E27FC236}">
                      <a16:creationId xmlns:a16="http://schemas.microsoft.com/office/drawing/2014/main" id="{1080FDBF-A40B-4F80-AEEA-BED290DB74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80" name="Arc 32">
                  <a:extLst>
                    <a:ext uri="{FF2B5EF4-FFF2-40B4-BE49-F238E27FC236}">
                      <a16:creationId xmlns:a16="http://schemas.microsoft.com/office/drawing/2014/main" id="{D4D56F79-F7C1-4199-9951-4D15AAF88A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877" name="Arc 33">
                <a:extLst>
                  <a:ext uri="{FF2B5EF4-FFF2-40B4-BE49-F238E27FC236}">
                    <a16:creationId xmlns:a16="http://schemas.microsoft.com/office/drawing/2014/main" id="{6B15F6A4-240F-4DA1-9650-F2F63C4BB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18" y="8274"/>
                <a:ext cx="156" cy="24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649 w 43200"/>
                  <a:gd name="T1" fmla="*/ 34987 h 34987"/>
                  <a:gd name="T2" fmla="*/ 39113 w 43200"/>
                  <a:gd name="T3" fmla="*/ 34243 h 34987"/>
                  <a:gd name="T4" fmla="*/ 21600 w 43200"/>
                  <a:gd name="T5" fmla="*/ 21600 h 34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987" fill="none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</a:path>
                  <a:path w="43200" h="34987" stroke="0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878" name="Arc 34">
                <a:extLst>
                  <a:ext uri="{FF2B5EF4-FFF2-40B4-BE49-F238E27FC236}">
                    <a16:creationId xmlns:a16="http://schemas.microsoft.com/office/drawing/2014/main" id="{4EA471B8-3E55-4424-89C4-C4D0A7B6777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9136" y="8454"/>
                <a:ext cx="322" cy="16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 w 41896"/>
                  <a:gd name="T1" fmla="*/ 22008 h 22008"/>
                  <a:gd name="T2" fmla="*/ 41896 w 41896"/>
                  <a:gd name="T3" fmla="*/ 14208 h 22008"/>
                  <a:gd name="T4" fmla="*/ 21600 w 41896"/>
                  <a:gd name="T5" fmla="*/ 21600 h 22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896" h="22008" fill="none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w="41896" h="22008" stroke="0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731" name="Line 35">
              <a:extLst>
                <a:ext uri="{FF2B5EF4-FFF2-40B4-BE49-F238E27FC236}">
                  <a16:creationId xmlns:a16="http://schemas.microsoft.com/office/drawing/2014/main" id="{86B3D2C9-18B1-43BF-AB96-03BC746CF0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95908" y="4087753"/>
              <a:ext cx="6541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2" name="Line 36">
              <a:extLst>
                <a:ext uri="{FF2B5EF4-FFF2-40B4-BE49-F238E27FC236}">
                  <a16:creationId xmlns:a16="http://schemas.microsoft.com/office/drawing/2014/main" id="{945E9658-DF5D-4622-B4D6-3B81396DE4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6727" y="4087753"/>
              <a:ext cx="21287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34" name="Group 733">
              <a:extLst>
                <a:ext uri="{FF2B5EF4-FFF2-40B4-BE49-F238E27FC236}">
                  <a16:creationId xmlns:a16="http://schemas.microsoft.com/office/drawing/2014/main" id="{EE9D3649-F699-41BC-B70C-0376946F65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4883666">
              <a:off x="2691723" y="3448029"/>
              <a:ext cx="1009891" cy="261488"/>
              <a:chOff x="6218" y="1958"/>
              <a:chExt cx="1320" cy="360"/>
            </a:xfrm>
          </p:grpSpPr>
          <p:cxnSp>
            <p:nvCxnSpPr>
              <p:cNvPr id="869" name="Line 39">
                <a:extLst>
                  <a:ext uri="{FF2B5EF4-FFF2-40B4-BE49-F238E27FC236}">
                    <a16:creationId xmlns:a16="http://schemas.microsoft.com/office/drawing/2014/main" id="{2A811D7D-C355-4741-B40E-B11C729D6B9C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218" y="2138"/>
                <a:ext cx="60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70" name="Line 40">
                <a:extLst>
                  <a:ext uri="{FF2B5EF4-FFF2-40B4-BE49-F238E27FC236}">
                    <a16:creationId xmlns:a16="http://schemas.microsoft.com/office/drawing/2014/main" id="{D265D331-69C1-44B8-8713-40598D0D51BC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938" y="2138"/>
                <a:ext cx="60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71" name="Line 41">
                <a:extLst>
                  <a:ext uri="{FF2B5EF4-FFF2-40B4-BE49-F238E27FC236}">
                    <a16:creationId xmlns:a16="http://schemas.microsoft.com/office/drawing/2014/main" id="{FDF012BA-141D-44E5-972D-6379C31CF3D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818" y="1958"/>
                <a:ext cx="0" cy="3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72" name="Line 42">
                <a:extLst>
                  <a:ext uri="{FF2B5EF4-FFF2-40B4-BE49-F238E27FC236}">
                    <a16:creationId xmlns:a16="http://schemas.microsoft.com/office/drawing/2014/main" id="{234B9DB9-7544-437A-A2EC-CFA87D15D8A0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938" y="1958"/>
                <a:ext cx="0" cy="3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35" name="Text Box 43">
              <a:extLst>
                <a:ext uri="{FF2B5EF4-FFF2-40B4-BE49-F238E27FC236}">
                  <a16:creationId xmlns:a16="http://schemas.microsoft.com/office/drawing/2014/main" id="{FDBC5B2F-C7C3-4DF3-9A9D-4F3BEB368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3689" y="3295000"/>
              <a:ext cx="355423" cy="483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36" name="Group 735">
              <a:extLst>
                <a:ext uri="{FF2B5EF4-FFF2-40B4-BE49-F238E27FC236}">
                  <a16:creationId xmlns:a16="http://schemas.microsoft.com/office/drawing/2014/main" id="{7564BB8E-2641-4A17-B975-56508C898CD6}"/>
                </a:ext>
              </a:extLst>
            </p:cNvPr>
            <p:cNvGrpSpPr>
              <a:grpSpLocks/>
            </p:cNvGrpSpPr>
            <p:nvPr/>
          </p:nvGrpSpPr>
          <p:grpSpPr bwMode="auto">
            <a:xfrm rot="18497047">
              <a:off x="3433809" y="2506691"/>
              <a:ext cx="392425" cy="375346"/>
              <a:chOff x="7298" y="6218"/>
              <a:chExt cx="600" cy="600"/>
            </a:xfrm>
          </p:grpSpPr>
          <p:grpSp>
            <p:nvGrpSpPr>
              <p:cNvPr id="865" name="Group 864">
                <a:extLst>
                  <a:ext uri="{FF2B5EF4-FFF2-40B4-BE49-F238E27FC236}">
                    <a16:creationId xmlns:a16="http://schemas.microsoft.com/office/drawing/2014/main" id="{30CAF0F8-771E-4C57-8DEC-15FA402D7DC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7414" y="6366"/>
                <a:ext cx="362" cy="272"/>
                <a:chOff x="4778" y="6098"/>
                <a:chExt cx="2880" cy="1440"/>
              </a:xfrm>
            </p:grpSpPr>
            <p:sp>
              <p:nvSpPr>
                <p:cNvPr id="867" name="Arc 46">
                  <a:extLst>
                    <a:ext uri="{FF2B5EF4-FFF2-40B4-BE49-F238E27FC236}">
                      <a16:creationId xmlns:a16="http://schemas.microsoft.com/office/drawing/2014/main" id="{42716B34-9AC5-44EC-924E-AF997E5A010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>
                  <a:off x="4778" y="6098"/>
                  <a:ext cx="1439" cy="720"/>
                </a:xfrm>
                <a:custGeom>
                  <a:avLst/>
                  <a:gdLst>
                    <a:gd name="G0" fmla="+- 21595 0 0"/>
                    <a:gd name="G1" fmla="+- 21600 0 0"/>
                    <a:gd name="G2" fmla="+- 21600 0 0"/>
                    <a:gd name="T0" fmla="*/ 0 w 43195"/>
                    <a:gd name="T1" fmla="*/ 21149 h 21600"/>
                    <a:gd name="T2" fmla="*/ 43195 w 43195"/>
                    <a:gd name="T3" fmla="*/ 21600 h 21600"/>
                    <a:gd name="T4" fmla="*/ 21595 w 4319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5" h="21600" fill="none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</a:path>
                    <a:path w="43195" h="21600" stroke="0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  <a:lnTo>
                        <a:pt x="21595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68" name="Arc 47">
                  <a:extLst>
                    <a:ext uri="{FF2B5EF4-FFF2-40B4-BE49-F238E27FC236}">
                      <a16:creationId xmlns:a16="http://schemas.microsoft.com/office/drawing/2014/main" id="{11560FC4-861F-41CD-BB8E-AA6D320C4D4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6219" y="6818"/>
                  <a:ext cx="1439" cy="720"/>
                </a:xfrm>
                <a:custGeom>
                  <a:avLst/>
                  <a:gdLst>
                    <a:gd name="G0" fmla="+- 21595 0 0"/>
                    <a:gd name="G1" fmla="+- 21600 0 0"/>
                    <a:gd name="G2" fmla="+- 21600 0 0"/>
                    <a:gd name="T0" fmla="*/ 0 w 43195"/>
                    <a:gd name="T1" fmla="*/ 21149 h 21600"/>
                    <a:gd name="T2" fmla="*/ 43195 w 43195"/>
                    <a:gd name="T3" fmla="*/ 21600 h 21600"/>
                    <a:gd name="T4" fmla="*/ 21595 w 4319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5" h="21600" fill="none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</a:path>
                    <a:path w="43195" h="21600" stroke="0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  <a:lnTo>
                        <a:pt x="21595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866" name="Oval 865">
                <a:extLst>
                  <a:ext uri="{FF2B5EF4-FFF2-40B4-BE49-F238E27FC236}">
                    <a16:creationId xmlns:a16="http://schemas.microsoft.com/office/drawing/2014/main" id="{F50D7D9F-F76A-4AEE-B304-7E42CE157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98" y="6218"/>
                <a:ext cx="600" cy="60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737" name="Line 49">
              <a:extLst>
                <a:ext uri="{FF2B5EF4-FFF2-40B4-BE49-F238E27FC236}">
                  <a16:creationId xmlns:a16="http://schemas.microsoft.com/office/drawing/2014/main" id="{424DD31C-2928-4498-8E4B-DE701B30C8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3694193">
              <a:off x="3522832" y="2180018"/>
              <a:ext cx="1116" cy="3978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8" name="Line 50">
              <a:extLst>
                <a:ext uri="{FF2B5EF4-FFF2-40B4-BE49-F238E27FC236}">
                  <a16:creationId xmlns:a16="http://schemas.microsoft.com/office/drawing/2014/main" id="{DC065445-4D0E-46F9-BB70-FDD79E1C38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136605" y="2828644"/>
              <a:ext cx="353632" cy="28195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9" name="Line 51">
              <a:extLst>
                <a:ext uri="{FF2B5EF4-FFF2-40B4-BE49-F238E27FC236}">
                  <a16:creationId xmlns:a16="http://schemas.microsoft.com/office/drawing/2014/main" id="{EBA8589E-4E41-411F-8140-E2046058E7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788419" y="2405718"/>
              <a:ext cx="198918" cy="15548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40" name="Group 739">
              <a:extLst>
                <a:ext uri="{FF2B5EF4-FFF2-40B4-BE49-F238E27FC236}">
                  <a16:creationId xmlns:a16="http://schemas.microsoft.com/office/drawing/2014/main" id="{586112B2-0680-48CD-87BC-38F154FA12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06674">
              <a:off x="3123574" y="3138585"/>
              <a:ext cx="839100" cy="221263"/>
              <a:chOff x="1658" y="2144"/>
              <a:chExt cx="1440" cy="361"/>
            </a:xfrm>
          </p:grpSpPr>
          <p:cxnSp>
            <p:nvCxnSpPr>
              <p:cNvPr id="856" name="Line 53">
                <a:extLst>
                  <a:ext uri="{FF2B5EF4-FFF2-40B4-BE49-F238E27FC236}">
                    <a16:creationId xmlns:a16="http://schemas.microsoft.com/office/drawing/2014/main" id="{927F79B1-3E58-4B63-B15D-D6B3A049272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857" name="Group 856">
                <a:extLst>
                  <a:ext uri="{FF2B5EF4-FFF2-40B4-BE49-F238E27FC236}">
                    <a16:creationId xmlns:a16="http://schemas.microsoft.com/office/drawing/2014/main" id="{4D6440FB-FCE0-4E58-B78C-B9B2E7EBEBF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859" name="Line 55">
                  <a:extLst>
                    <a:ext uri="{FF2B5EF4-FFF2-40B4-BE49-F238E27FC236}">
                      <a16:creationId xmlns:a16="http://schemas.microsoft.com/office/drawing/2014/main" id="{2588A1A7-74CD-4FEA-8631-40484D42533D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60" name="Line 56">
                  <a:extLst>
                    <a:ext uri="{FF2B5EF4-FFF2-40B4-BE49-F238E27FC236}">
                      <a16:creationId xmlns:a16="http://schemas.microsoft.com/office/drawing/2014/main" id="{585CC5F0-A678-4ABA-8762-7D7C3EA555CF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61" name="Line 57">
                  <a:extLst>
                    <a:ext uri="{FF2B5EF4-FFF2-40B4-BE49-F238E27FC236}">
                      <a16:creationId xmlns:a16="http://schemas.microsoft.com/office/drawing/2014/main" id="{DF63EF98-B3DF-4B94-8A07-6E71C0024808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62" name="Line 58">
                  <a:extLst>
                    <a:ext uri="{FF2B5EF4-FFF2-40B4-BE49-F238E27FC236}">
                      <a16:creationId xmlns:a16="http://schemas.microsoft.com/office/drawing/2014/main" id="{EEEA897B-489E-401E-8653-AB6FE01565F5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63" name="Line 59">
                  <a:extLst>
                    <a:ext uri="{FF2B5EF4-FFF2-40B4-BE49-F238E27FC236}">
                      <a16:creationId xmlns:a16="http://schemas.microsoft.com/office/drawing/2014/main" id="{8EF17C71-EB82-40EF-A136-1B17E4A38654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64" name="Line 60">
                  <a:extLst>
                    <a:ext uri="{FF2B5EF4-FFF2-40B4-BE49-F238E27FC236}">
                      <a16:creationId xmlns:a16="http://schemas.microsoft.com/office/drawing/2014/main" id="{5FFA0306-9F82-4801-9FC9-0C856423AF5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858" name="Line 61">
                <a:extLst>
                  <a:ext uri="{FF2B5EF4-FFF2-40B4-BE49-F238E27FC236}">
                    <a16:creationId xmlns:a16="http://schemas.microsoft.com/office/drawing/2014/main" id="{3D327473-C4CC-41E1-9422-554E2D5F3390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1" name="Group 740">
              <a:extLst>
                <a:ext uri="{FF2B5EF4-FFF2-40B4-BE49-F238E27FC236}">
                  <a16:creationId xmlns:a16="http://schemas.microsoft.com/office/drawing/2014/main" id="{70FE8F56-B02E-4AD7-81B2-A609A2E48DB1}"/>
                </a:ext>
              </a:extLst>
            </p:cNvPr>
            <p:cNvGrpSpPr>
              <a:grpSpLocks/>
            </p:cNvGrpSpPr>
            <p:nvPr/>
          </p:nvGrpSpPr>
          <p:grpSpPr bwMode="auto">
            <a:xfrm rot="18394808">
              <a:off x="4158770" y="2884238"/>
              <a:ext cx="477234" cy="375346"/>
              <a:chOff x="7298" y="6218"/>
              <a:chExt cx="600" cy="600"/>
            </a:xfrm>
          </p:grpSpPr>
          <p:grpSp>
            <p:nvGrpSpPr>
              <p:cNvPr id="852" name="Group 851">
                <a:extLst>
                  <a:ext uri="{FF2B5EF4-FFF2-40B4-BE49-F238E27FC236}">
                    <a16:creationId xmlns:a16="http://schemas.microsoft.com/office/drawing/2014/main" id="{7E306F27-2A1B-4BD3-B833-9B5840A9DBD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7414" y="6366"/>
                <a:ext cx="362" cy="272"/>
                <a:chOff x="4778" y="6098"/>
                <a:chExt cx="2880" cy="1440"/>
              </a:xfrm>
            </p:grpSpPr>
            <p:sp>
              <p:nvSpPr>
                <p:cNvPr id="854" name="Arc 64">
                  <a:extLst>
                    <a:ext uri="{FF2B5EF4-FFF2-40B4-BE49-F238E27FC236}">
                      <a16:creationId xmlns:a16="http://schemas.microsoft.com/office/drawing/2014/main" id="{BFC41616-5C48-4649-BCBC-B976F76ACFF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>
                  <a:off x="4778" y="6098"/>
                  <a:ext cx="1439" cy="720"/>
                </a:xfrm>
                <a:custGeom>
                  <a:avLst/>
                  <a:gdLst>
                    <a:gd name="G0" fmla="+- 21595 0 0"/>
                    <a:gd name="G1" fmla="+- 21600 0 0"/>
                    <a:gd name="G2" fmla="+- 21600 0 0"/>
                    <a:gd name="T0" fmla="*/ 0 w 43195"/>
                    <a:gd name="T1" fmla="*/ 21149 h 21600"/>
                    <a:gd name="T2" fmla="*/ 43195 w 43195"/>
                    <a:gd name="T3" fmla="*/ 21600 h 21600"/>
                    <a:gd name="T4" fmla="*/ 21595 w 4319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5" h="21600" fill="none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</a:path>
                    <a:path w="43195" h="21600" stroke="0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  <a:lnTo>
                        <a:pt x="21595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55" name="Arc 65">
                  <a:extLst>
                    <a:ext uri="{FF2B5EF4-FFF2-40B4-BE49-F238E27FC236}">
                      <a16:creationId xmlns:a16="http://schemas.microsoft.com/office/drawing/2014/main" id="{50053D8E-04C3-4807-AF79-0EA2FCFFE13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6219" y="6818"/>
                  <a:ext cx="1439" cy="720"/>
                </a:xfrm>
                <a:custGeom>
                  <a:avLst/>
                  <a:gdLst>
                    <a:gd name="G0" fmla="+- 21595 0 0"/>
                    <a:gd name="G1" fmla="+- 21600 0 0"/>
                    <a:gd name="G2" fmla="+- 21600 0 0"/>
                    <a:gd name="T0" fmla="*/ 0 w 43195"/>
                    <a:gd name="T1" fmla="*/ 21149 h 21600"/>
                    <a:gd name="T2" fmla="*/ 43195 w 43195"/>
                    <a:gd name="T3" fmla="*/ 21600 h 21600"/>
                    <a:gd name="T4" fmla="*/ 21595 w 4319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5" h="21600" fill="none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</a:path>
                    <a:path w="43195" h="21600" stroke="0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  <a:lnTo>
                        <a:pt x="21595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853" name="Oval 852">
                <a:extLst>
                  <a:ext uri="{FF2B5EF4-FFF2-40B4-BE49-F238E27FC236}">
                    <a16:creationId xmlns:a16="http://schemas.microsoft.com/office/drawing/2014/main" id="{CC2D78E3-B50F-4949-B1E5-77B62B90F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98" y="6218"/>
                <a:ext cx="600" cy="60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742" name="Line 67">
              <a:extLst>
                <a:ext uri="{FF2B5EF4-FFF2-40B4-BE49-F238E27FC236}">
                  <a16:creationId xmlns:a16="http://schemas.microsoft.com/office/drawing/2014/main" id="{D10022A8-7870-4DEA-901D-4AFA291656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43133" y="3202099"/>
              <a:ext cx="265224" cy="1833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3" name="Line 68">
              <a:extLst>
                <a:ext uri="{FF2B5EF4-FFF2-40B4-BE49-F238E27FC236}">
                  <a16:creationId xmlns:a16="http://schemas.microsoft.com/office/drawing/2014/main" id="{63917D59-3273-4824-A726-2E1888AF52F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20030966">
              <a:off x="4545703" y="2869188"/>
              <a:ext cx="19969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44" name="Group 743">
              <a:extLst>
                <a:ext uri="{FF2B5EF4-FFF2-40B4-BE49-F238E27FC236}">
                  <a16:creationId xmlns:a16="http://schemas.microsoft.com/office/drawing/2014/main" id="{A90FB313-BAEE-4332-93E0-1D376BB4FA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20030966">
              <a:off x="4708948" y="2593189"/>
              <a:ext cx="399387" cy="276000"/>
              <a:chOff x="2018" y="2138"/>
              <a:chExt cx="1200" cy="357"/>
            </a:xfrm>
          </p:grpSpPr>
          <p:cxnSp>
            <p:nvCxnSpPr>
              <p:cNvPr id="846" name="Line 70">
                <a:extLst>
                  <a:ext uri="{FF2B5EF4-FFF2-40B4-BE49-F238E27FC236}">
                    <a16:creationId xmlns:a16="http://schemas.microsoft.com/office/drawing/2014/main" id="{EF47D826-53C3-4E82-A46A-A76390823A15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01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7" name="Line 71">
                <a:extLst>
                  <a:ext uri="{FF2B5EF4-FFF2-40B4-BE49-F238E27FC236}">
                    <a16:creationId xmlns:a16="http://schemas.microsoft.com/office/drawing/2014/main" id="{66E40A76-1E78-411F-851C-0B46DF0A1D0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309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8" name="Line 72">
                <a:extLst>
                  <a:ext uri="{FF2B5EF4-FFF2-40B4-BE49-F238E27FC236}">
                    <a16:creationId xmlns:a16="http://schemas.microsoft.com/office/drawing/2014/main" id="{C637B315-9B7B-414F-9963-31492EAB00F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12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9" name="Line 73">
                <a:extLst>
                  <a:ext uri="{FF2B5EF4-FFF2-40B4-BE49-F238E27FC236}">
                    <a16:creationId xmlns:a16="http://schemas.microsoft.com/office/drawing/2014/main" id="{FCBA7E8E-7E4B-41C9-95A8-0898E7D188EC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38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0" name="Line 74">
                <a:extLst>
                  <a:ext uri="{FF2B5EF4-FFF2-40B4-BE49-F238E27FC236}">
                    <a16:creationId xmlns:a16="http://schemas.microsoft.com/office/drawing/2014/main" id="{12BB6D68-31A3-4F02-AF26-4E4240CEC55B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60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1" name="Line 75">
                <a:extLst>
                  <a:ext uri="{FF2B5EF4-FFF2-40B4-BE49-F238E27FC236}">
                    <a16:creationId xmlns:a16="http://schemas.microsoft.com/office/drawing/2014/main" id="{F97A4C8A-758B-43B6-9664-89865E51E7B3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86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745" name="Line 76">
              <a:extLst>
                <a:ext uri="{FF2B5EF4-FFF2-40B4-BE49-F238E27FC236}">
                  <a16:creationId xmlns:a16="http://schemas.microsoft.com/office/drawing/2014/main" id="{A63FF8D8-30A5-4F04-91A8-CA4661D2D2F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20030966">
              <a:off x="5039702" y="2530326"/>
              <a:ext cx="438938" cy="1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46" name="Group 745">
              <a:extLst>
                <a:ext uri="{FF2B5EF4-FFF2-40B4-BE49-F238E27FC236}">
                  <a16:creationId xmlns:a16="http://schemas.microsoft.com/office/drawing/2014/main" id="{65F535D8-A67C-4ABA-AA61-26B39671BFC7}"/>
                </a:ext>
              </a:extLst>
            </p:cNvPr>
            <p:cNvGrpSpPr>
              <a:grpSpLocks/>
            </p:cNvGrpSpPr>
            <p:nvPr/>
          </p:nvGrpSpPr>
          <p:grpSpPr bwMode="auto">
            <a:xfrm rot="2791635">
              <a:off x="3834161" y="3613767"/>
              <a:ext cx="986085" cy="205897"/>
              <a:chOff x="1778" y="4127"/>
              <a:chExt cx="1800" cy="355"/>
            </a:xfrm>
          </p:grpSpPr>
          <p:grpSp>
            <p:nvGrpSpPr>
              <p:cNvPr id="831" name="Group 830">
                <a:extLst>
                  <a:ext uri="{FF2B5EF4-FFF2-40B4-BE49-F238E27FC236}">
                    <a16:creationId xmlns:a16="http://schemas.microsoft.com/office/drawing/2014/main" id="{8344284A-9372-49E8-8DE3-6A857D2BCE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8" y="4127"/>
                <a:ext cx="1080" cy="355"/>
                <a:chOff x="8378" y="8272"/>
                <a:chExt cx="1080" cy="355"/>
              </a:xfrm>
            </p:grpSpPr>
            <p:sp>
              <p:nvSpPr>
                <p:cNvPr id="834" name="Arc 79">
                  <a:extLst>
                    <a:ext uri="{FF2B5EF4-FFF2-40B4-BE49-F238E27FC236}">
                      <a16:creationId xmlns:a16="http://schemas.microsoft.com/office/drawing/2014/main" id="{10F3511F-B3E5-4360-8DE4-8EBBED4E20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8378" y="8447"/>
                  <a:ext cx="320" cy="169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1573"/>
                    <a:gd name="T1" fmla="*/ 13377 h 22566"/>
                    <a:gd name="T2" fmla="*/ 41551 w 41573"/>
                    <a:gd name="T3" fmla="*/ 22566 h 22566"/>
                    <a:gd name="T4" fmla="*/ 19973 w 41573"/>
                    <a:gd name="T5" fmla="*/ 21600 h 225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573" h="22566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w="41573" h="22566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grpSp>
              <p:nvGrpSpPr>
                <p:cNvPr id="835" name="Group 834">
                  <a:extLst>
                    <a:ext uri="{FF2B5EF4-FFF2-40B4-BE49-F238E27FC236}">
                      <a16:creationId xmlns:a16="http://schemas.microsoft.com/office/drawing/2014/main" id="{9B3B82F2-21DD-4CD9-AA7F-3C261AD469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556" y="8282"/>
                  <a:ext cx="328" cy="345"/>
                  <a:chOff x="2020" y="8243"/>
                  <a:chExt cx="1768" cy="960"/>
                </a:xfrm>
              </p:grpSpPr>
              <p:sp>
                <p:nvSpPr>
                  <p:cNvPr id="844" name="Arc 81">
                    <a:extLst>
                      <a:ext uri="{FF2B5EF4-FFF2-40B4-BE49-F238E27FC236}">
                        <a16:creationId xmlns:a16="http://schemas.microsoft.com/office/drawing/2014/main" id="{DDB5AED6-D5FF-4BA3-BC5E-0250C066A9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8243"/>
                    <a:ext cx="842" cy="674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4649 w 43200"/>
                      <a:gd name="T1" fmla="*/ 34987 h 34987"/>
                      <a:gd name="T2" fmla="*/ 39113 w 43200"/>
                      <a:gd name="T3" fmla="*/ 34243 h 34987"/>
                      <a:gd name="T4" fmla="*/ 21600 w 43200"/>
                      <a:gd name="T5" fmla="*/ 21600 h 3498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3200" h="34987" fill="none" extrusionOk="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6139"/>
                          <a:pt x="41770" y="30562"/>
                          <a:pt x="39113" y="34243"/>
                        </a:cubicBezTo>
                      </a:path>
                      <a:path w="43200" h="34987" stroke="0" extrusionOk="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845" name="Arc 82">
                    <a:extLst>
                      <a:ext uri="{FF2B5EF4-FFF2-40B4-BE49-F238E27FC236}">
                        <a16:creationId xmlns:a16="http://schemas.microsoft.com/office/drawing/2014/main" id="{7AC5DBA0-B5FC-48C6-9848-5DF164B647B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2117" y="8753"/>
                    <a:ext cx="1671" cy="450"/>
                  </a:xfrm>
                  <a:custGeom>
                    <a:avLst/>
                    <a:gdLst>
                      <a:gd name="G0" fmla="+- 19973 0 0"/>
                      <a:gd name="G1" fmla="+- 21600 0 0"/>
                      <a:gd name="G2" fmla="+- 21600 0 0"/>
                      <a:gd name="T0" fmla="*/ 0 w 40269"/>
                      <a:gd name="T1" fmla="*/ 13377 h 21600"/>
                      <a:gd name="T2" fmla="*/ 40269 w 40269"/>
                      <a:gd name="T3" fmla="*/ 14208 h 21600"/>
                      <a:gd name="T4" fmla="*/ 19973 w 40269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0269" h="21600" fill="none" extrusionOk="0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w="40269" h="21600" stroke="0" extrusionOk="0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836" name="Group 835">
                  <a:extLst>
                    <a:ext uri="{FF2B5EF4-FFF2-40B4-BE49-F238E27FC236}">
                      <a16:creationId xmlns:a16="http://schemas.microsoft.com/office/drawing/2014/main" id="{BBAD85DC-E6AF-4163-B5DA-B5F02370CFA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745" y="8272"/>
                  <a:ext cx="328" cy="345"/>
                  <a:chOff x="2020" y="8243"/>
                  <a:chExt cx="1768" cy="960"/>
                </a:xfrm>
              </p:grpSpPr>
              <p:sp>
                <p:nvSpPr>
                  <p:cNvPr id="842" name="Arc 84">
                    <a:extLst>
                      <a:ext uri="{FF2B5EF4-FFF2-40B4-BE49-F238E27FC236}">
                        <a16:creationId xmlns:a16="http://schemas.microsoft.com/office/drawing/2014/main" id="{CF87545E-2435-4FE6-8290-1DBAB60D3E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8243"/>
                    <a:ext cx="842" cy="674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4649 w 43200"/>
                      <a:gd name="T1" fmla="*/ 34987 h 34987"/>
                      <a:gd name="T2" fmla="*/ 39113 w 43200"/>
                      <a:gd name="T3" fmla="*/ 34243 h 34987"/>
                      <a:gd name="T4" fmla="*/ 21600 w 43200"/>
                      <a:gd name="T5" fmla="*/ 21600 h 3498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3200" h="34987" fill="none" extrusionOk="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6139"/>
                          <a:pt x="41770" y="30562"/>
                          <a:pt x="39113" y="34243"/>
                        </a:cubicBezTo>
                      </a:path>
                      <a:path w="43200" h="34987" stroke="0" extrusionOk="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843" name="Arc 85">
                    <a:extLst>
                      <a:ext uri="{FF2B5EF4-FFF2-40B4-BE49-F238E27FC236}">
                        <a16:creationId xmlns:a16="http://schemas.microsoft.com/office/drawing/2014/main" id="{D114AE4E-9ED6-464F-B515-12FC50BEFD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2117" y="8753"/>
                    <a:ext cx="1671" cy="450"/>
                  </a:xfrm>
                  <a:custGeom>
                    <a:avLst/>
                    <a:gdLst>
                      <a:gd name="G0" fmla="+- 19973 0 0"/>
                      <a:gd name="G1" fmla="+- 21600 0 0"/>
                      <a:gd name="G2" fmla="+- 21600 0 0"/>
                      <a:gd name="T0" fmla="*/ 0 w 40269"/>
                      <a:gd name="T1" fmla="*/ 13377 h 21600"/>
                      <a:gd name="T2" fmla="*/ 40269 w 40269"/>
                      <a:gd name="T3" fmla="*/ 14208 h 21600"/>
                      <a:gd name="T4" fmla="*/ 19973 w 40269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0269" h="21600" fill="none" extrusionOk="0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w="40269" h="21600" stroke="0" extrusionOk="0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837" name="Group 836">
                  <a:extLst>
                    <a:ext uri="{FF2B5EF4-FFF2-40B4-BE49-F238E27FC236}">
                      <a16:creationId xmlns:a16="http://schemas.microsoft.com/office/drawing/2014/main" id="{49600229-9880-4733-A47A-D82B2BDFC1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31" y="8278"/>
                  <a:ext cx="328" cy="345"/>
                  <a:chOff x="2020" y="8243"/>
                  <a:chExt cx="1768" cy="960"/>
                </a:xfrm>
              </p:grpSpPr>
              <p:sp>
                <p:nvSpPr>
                  <p:cNvPr id="840" name="Arc 87">
                    <a:extLst>
                      <a:ext uri="{FF2B5EF4-FFF2-40B4-BE49-F238E27FC236}">
                        <a16:creationId xmlns:a16="http://schemas.microsoft.com/office/drawing/2014/main" id="{613A04C9-B9D7-460A-9CF1-8EFF6E2AB8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8243"/>
                    <a:ext cx="842" cy="674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4649 w 43200"/>
                      <a:gd name="T1" fmla="*/ 34987 h 34987"/>
                      <a:gd name="T2" fmla="*/ 39113 w 43200"/>
                      <a:gd name="T3" fmla="*/ 34243 h 34987"/>
                      <a:gd name="T4" fmla="*/ 21600 w 43200"/>
                      <a:gd name="T5" fmla="*/ 21600 h 3498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3200" h="34987" fill="none" extrusionOk="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6139"/>
                          <a:pt x="41770" y="30562"/>
                          <a:pt x="39113" y="34243"/>
                        </a:cubicBezTo>
                      </a:path>
                      <a:path w="43200" h="34987" stroke="0" extrusionOk="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841" name="Arc 88">
                    <a:extLst>
                      <a:ext uri="{FF2B5EF4-FFF2-40B4-BE49-F238E27FC236}">
                        <a16:creationId xmlns:a16="http://schemas.microsoft.com/office/drawing/2014/main" id="{64E49C07-BA8D-43D5-8C58-18A3C08963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2117" y="8753"/>
                    <a:ext cx="1671" cy="450"/>
                  </a:xfrm>
                  <a:custGeom>
                    <a:avLst/>
                    <a:gdLst>
                      <a:gd name="G0" fmla="+- 19973 0 0"/>
                      <a:gd name="G1" fmla="+- 21600 0 0"/>
                      <a:gd name="G2" fmla="+- 21600 0 0"/>
                      <a:gd name="T0" fmla="*/ 0 w 40269"/>
                      <a:gd name="T1" fmla="*/ 13377 h 21600"/>
                      <a:gd name="T2" fmla="*/ 40269 w 40269"/>
                      <a:gd name="T3" fmla="*/ 14208 h 21600"/>
                      <a:gd name="T4" fmla="*/ 19973 w 40269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0269" h="21600" fill="none" extrusionOk="0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w="40269" h="21600" stroke="0" extrusionOk="0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</p:grpSp>
            <p:sp>
              <p:nvSpPr>
                <p:cNvPr id="838" name="Arc 89">
                  <a:extLst>
                    <a:ext uri="{FF2B5EF4-FFF2-40B4-BE49-F238E27FC236}">
                      <a16:creationId xmlns:a16="http://schemas.microsoft.com/office/drawing/2014/main" id="{EBBD2DDF-45CC-45D5-9D7B-A255B6D96A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18" y="8274"/>
                  <a:ext cx="156" cy="242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39" name="Arc 90">
                  <a:extLst>
                    <a:ext uri="{FF2B5EF4-FFF2-40B4-BE49-F238E27FC236}">
                      <a16:creationId xmlns:a16="http://schemas.microsoft.com/office/drawing/2014/main" id="{673166B0-D8C5-42B2-B992-22CA941BB8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9136" y="8454"/>
                  <a:ext cx="322" cy="16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 w 41896"/>
                    <a:gd name="T1" fmla="*/ 22008 h 22008"/>
                    <a:gd name="T2" fmla="*/ 41896 w 41896"/>
                    <a:gd name="T3" fmla="*/ 14208 h 22008"/>
                    <a:gd name="T4" fmla="*/ 21600 w 41896"/>
                    <a:gd name="T5" fmla="*/ 21600 h 220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896" h="22008" fill="none" extrusionOk="0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w="41896" h="22008" stroke="0" extrusionOk="0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cxnSp>
            <p:nvCxnSpPr>
              <p:cNvPr id="832" name="Line 91">
                <a:extLst>
                  <a:ext uri="{FF2B5EF4-FFF2-40B4-BE49-F238E27FC236}">
                    <a16:creationId xmlns:a16="http://schemas.microsoft.com/office/drawing/2014/main" id="{D4FEC23D-B205-4FAE-BDE5-7A2B9CA8159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218" y="429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3" name="Line 92">
                <a:extLst>
                  <a:ext uri="{FF2B5EF4-FFF2-40B4-BE49-F238E27FC236}">
                    <a16:creationId xmlns:a16="http://schemas.microsoft.com/office/drawing/2014/main" id="{81196027-00D4-4D83-B837-ECA1BF9AC8B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778" y="429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7" name="Group 746">
              <a:extLst>
                <a:ext uri="{FF2B5EF4-FFF2-40B4-BE49-F238E27FC236}">
                  <a16:creationId xmlns:a16="http://schemas.microsoft.com/office/drawing/2014/main" id="{7EA6B81E-22E9-4258-A906-2703C08475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470641">
              <a:off x="5133308" y="3074697"/>
              <a:ext cx="764764" cy="293800"/>
              <a:chOff x="1658" y="2144"/>
              <a:chExt cx="1440" cy="361"/>
            </a:xfrm>
          </p:grpSpPr>
          <p:cxnSp>
            <p:nvCxnSpPr>
              <p:cNvPr id="822" name="Line 94">
                <a:extLst>
                  <a:ext uri="{FF2B5EF4-FFF2-40B4-BE49-F238E27FC236}">
                    <a16:creationId xmlns:a16="http://schemas.microsoft.com/office/drawing/2014/main" id="{3419B415-5DCE-49BC-A9A4-2D30927CA21A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823" name="Group 822">
                <a:extLst>
                  <a:ext uri="{FF2B5EF4-FFF2-40B4-BE49-F238E27FC236}">
                    <a16:creationId xmlns:a16="http://schemas.microsoft.com/office/drawing/2014/main" id="{4FCADD74-A49F-4EDE-987D-CFC08212F3C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825" name="Line 96">
                  <a:extLst>
                    <a:ext uri="{FF2B5EF4-FFF2-40B4-BE49-F238E27FC236}">
                      <a16:creationId xmlns:a16="http://schemas.microsoft.com/office/drawing/2014/main" id="{700BE836-B913-4D0A-A419-E8284F241014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26" name="Line 97">
                  <a:extLst>
                    <a:ext uri="{FF2B5EF4-FFF2-40B4-BE49-F238E27FC236}">
                      <a16:creationId xmlns:a16="http://schemas.microsoft.com/office/drawing/2014/main" id="{7F1E67DC-E4C8-47F1-82A4-9295547241E1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27" name="Line 98">
                  <a:extLst>
                    <a:ext uri="{FF2B5EF4-FFF2-40B4-BE49-F238E27FC236}">
                      <a16:creationId xmlns:a16="http://schemas.microsoft.com/office/drawing/2014/main" id="{667C42DE-B434-46D1-843F-92533679D390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28" name="Line 99">
                  <a:extLst>
                    <a:ext uri="{FF2B5EF4-FFF2-40B4-BE49-F238E27FC236}">
                      <a16:creationId xmlns:a16="http://schemas.microsoft.com/office/drawing/2014/main" id="{AD1E802C-4B65-4C76-BA10-5F33ED45A742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29" name="Line 100">
                  <a:extLst>
                    <a:ext uri="{FF2B5EF4-FFF2-40B4-BE49-F238E27FC236}">
                      <a16:creationId xmlns:a16="http://schemas.microsoft.com/office/drawing/2014/main" id="{138018F0-2C07-4799-87A3-87442906BA07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30" name="Line 101">
                  <a:extLst>
                    <a:ext uri="{FF2B5EF4-FFF2-40B4-BE49-F238E27FC236}">
                      <a16:creationId xmlns:a16="http://schemas.microsoft.com/office/drawing/2014/main" id="{91CBDE24-B953-4824-ADFB-E10F9A1FDB22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824" name="Line 102">
                <a:extLst>
                  <a:ext uri="{FF2B5EF4-FFF2-40B4-BE49-F238E27FC236}">
                    <a16:creationId xmlns:a16="http://schemas.microsoft.com/office/drawing/2014/main" id="{35733159-13E1-417F-B9E2-246B719B8698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48" name="Freeform 103">
              <a:extLst>
                <a:ext uri="{FF2B5EF4-FFF2-40B4-BE49-F238E27FC236}">
                  <a16:creationId xmlns:a16="http://schemas.microsoft.com/office/drawing/2014/main" id="{85F40B00-C38B-48F5-BD7B-48349C217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5191" y="2400882"/>
              <a:ext cx="448631" cy="534889"/>
            </a:xfrm>
            <a:custGeom>
              <a:avLst/>
              <a:gdLst>
                <a:gd name="T0" fmla="*/ 0 w 1157"/>
                <a:gd name="T1" fmla="*/ 0 h 1438"/>
                <a:gd name="T2" fmla="*/ 996 w 1157"/>
                <a:gd name="T3" fmla="*/ 820 h 1438"/>
                <a:gd name="T4" fmla="*/ 968 w 1157"/>
                <a:gd name="T5" fmla="*/ 1438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7" h="1438">
                  <a:moveTo>
                    <a:pt x="0" y="0"/>
                  </a:moveTo>
                  <a:cubicBezTo>
                    <a:pt x="171" y="142"/>
                    <a:pt x="835" y="580"/>
                    <a:pt x="996" y="820"/>
                  </a:cubicBezTo>
                  <a:cubicBezTo>
                    <a:pt x="1157" y="1060"/>
                    <a:pt x="974" y="1309"/>
                    <a:pt x="968" y="1438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grpSp>
          <p:nvGrpSpPr>
            <p:cNvPr id="749" name="Group 748">
              <a:extLst>
                <a:ext uri="{FF2B5EF4-FFF2-40B4-BE49-F238E27FC236}">
                  <a16:creationId xmlns:a16="http://schemas.microsoft.com/office/drawing/2014/main" id="{B49647A3-2D0F-498E-8792-D848BA7514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66573" y="2208203"/>
              <a:ext cx="515713" cy="380522"/>
              <a:chOff x="2018" y="2138"/>
              <a:chExt cx="1200" cy="357"/>
            </a:xfrm>
          </p:grpSpPr>
          <p:cxnSp>
            <p:nvCxnSpPr>
              <p:cNvPr id="816" name="Line 105">
                <a:extLst>
                  <a:ext uri="{FF2B5EF4-FFF2-40B4-BE49-F238E27FC236}">
                    <a16:creationId xmlns:a16="http://schemas.microsoft.com/office/drawing/2014/main" id="{6F3F6C45-731C-48F6-A611-8109367C20A7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01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7" name="Line 106">
                <a:extLst>
                  <a:ext uri="{FF2B5EF4-FFF2-40B4-BE49-F238E27FC236}">
                    <a16:creationId xmlns:a16="http://schemas.microsoft.com/office/drawing/2014/main" id="{2B67D9F1-0E99-4C78-BE2D-F732D31E8DDB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309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8" name="Line 107">
                <a:extLst>
                  <a:ext uri="{FF2B5EF4-FFF2-40B4-BE49-F238E27FC236}">
                    <a16:creationId xmlns:a16="http://schemas.microsoft.com/office/drawing/2014/main" id="{87979685-F508-46CB-B700-8D05C837782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12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9" name="Line 108">
                <a:extLst>
                  <a:ext uri="{FF2B5EF4-FFF2-40B4-BE49-F238E27FC236}">
                    <a16:creationId xmlns:a16="http://schemas.microsoft.com/office/drawing/2014/main" id="{F26A5942-F5A2-41D5-93E2-D838AAA2A22C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38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0" name="Line 109">
                <a:extLst>
                  <a:ext uri="{FF2B5EF4-FFF2-40B4-BE49-F238E27FC236}">
                    <a16:creationId xmlns:a16="http://schemas.microsoft.com/office/drawing/2014/main" id="{3A7DB45C-2B08-4AE2-9516-A1C33A67DB73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60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1" name="Line 110">
                <a:extLst>
                  <a:ext uri="{FF2B5EF4-FFF2-40B4-BE49-F238E27FC236}">
                    <a16:creationId xmlns:a16="http://schemas.microsoft.com/office/drawing/2014/main" id="{AA3A6301-6A29-4B41-BE1B-7A79D3DFBAF7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86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750" name="Line 111">
              <a:extLst>
                <a:ext uri="{FF2B5EF4-FFF2-40B4-BE49-F238E27FC236}">
                  <a16:creationId xmlns:a16="http://schemas.microsoft.com/office/drawing/2014/main" id="{0282EC0E-B9A6-46D1-98D8-DF4762FC3E9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7780347" y="2401626"/>
              <a:ext cx="6111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1" name="Line 112">
              <a:extLst>
                <a:ext uri="{FF2B5EF4-FFF2-40B4-BE49-F238E27FC236}">
                  <a16:creationId xmlns:a16="http://schemas.microsoft.com/office/drawing/2014/main" id="{3564579D-D2E2-447C-BE74-7174C9B51D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09533" y="4087753"/>
              <a:ext cx="6541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2" name="Oval 751">
              <a:extLst>
                <a:ext uri="{FF2B5EF4-FFF2-40B4-BE49-F238E27FC236}">
                  <a16:creationId xmlns:a16="http://schemas.microsoft.com/office/drawing/2014/main" id="{AEA26F3B-82CC-4BE0-8EC1-4DCA0710271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570668">
              <a:off x="8288305" y="3481074"/>
              <a:ext cx="367591" cy="32323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753" name="Line 114">
              <a:extLst>
                <a:ext uri="{FF2B5EF4-FFF2-40B4-BE49-F238E27FC236}">
                  <a16:creationId xmlns:a16="http://schemas.microsoft.com/office/drawing/2014/main" id="{90A92204-F9D8-4DDC-9A47-1E9220A292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9851450">
              <a:off x="7707837" y="3918508"/>
              <a:ext cx="669263" cy="7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4" name="Line 115">
              <a:extLst>
                <a:ext uri="{FF2B5EF4-FFF2-40B4-BE49-F238E27FC236}">
                  <a16:creationId xmlns:a16="http://schemas.microsoft.com/office/drawing/2014/main" id="{B6592664-2644-423A-B808-529BAA27C2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150617" y="2792935"/>
              <a:ext cx="397836" cy="3176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55" name="Group 754">
              <a:extLst>
                <a:ext uri="{FF2B5EF4-FFF2-40B4-BE49-F238E27FC236}">
                  <a16:creationId xmlns:a16="http://schemas.microsoft.com/office/drawing/2014/main" id="{DF8D780C-5588-4AB2-9B13-A8746644FF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791116">
              <a:off x="6148074" y="3106074"/>
              <a:ext cx="809630" cy="237729"/>
              <a:chOff x="1658" y="2144"/>
              <a:chExt cx="1440" cy="361"/>
            </a:xfrm>
          </p:grpSpPr>
          <p:cxnSp>
            <p:nvCxnSpPr>
              <p:cNvPr id="807" name="Line 117">
                <a:extLst>
                  <a:ext uri="{FF2B5EF4-FFF2-40B4-BE49-F238E27FC236}">
                    <a16:creationId xmlns:a16="http://schemas.microsoft.com/office/drawing/2014/main" id="{9BBA67DF-505F-4B9E-8E04-0C2211496C72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808" name="Group 807">
                <a:extLst>
                  <a:ext uri="{FF2B5EF4-FFF2-40B4-BE49-F238E27FC236}">
                    <a16:creationId xmlns:a16="http://schemas.microsoft.com/office/drawing/2014/main" id="{251FEC8A-9175-48DF-92EB-AB5A216C4AA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810" name="Line 119">
                  <a:extLst>
                    <a:ext uri="{FF2B5EF4-FFF2-40B4-BE49-F238E27FC236}">
                      <a16:creationId xmlns:a16="http://schemas.microsoft.com/office/drawing/2014/main" id="{FF40C876-A761-40F5-A32D-284D91A2DE4D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11" name="Line 120">
                  <a:extLst>
                    <a:ext uri="{FF2B5EF4-FFF2-40B4-BE49-F238E27FC236}">
                      <a16:creationId xmlns:a16="http://schemas.microsoft.com/office/drawing/2014/main" id="{40C8A3AE-7939-4DCA-A621-464CFEC8633A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12" name="Line 121">
                  <a:extLst>
                    <a:ext uri="{FF2B5EF4-FFF2-40B4-BE49-F238E27FC236}">
                      <a16:creationId xmlns:a16="http://schemas.microsoft.com/office/drawing/2014/main" id="{E7F0CA05-D516-42B3-864C-A8003A859821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13" name="Line 122">
                  <a:extLst>
                    <a:ext uri="{FF2B5EF4-FFF2-40B4-BE49-F238E27FC236}">
                      <a16:creationId xmlns:a16="http://schemas.microsoft.com/office/drawing/2014/main" id="{4F9DBC1C-B607-49ED-BD4B-CB4C166F69A4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14" name="Line 123">
                  <a:extLst>
                    <a:ext uri="{FF2B5EF4-FFF2-40B4-BE49-F238E27FC236}">
                      <a16:creationId xmlns:a16="http://schemas.microsoft.com/office/drawing/2014/main" id="{1583FA38-87D4-46BC-9607-595C728B8F86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15" name="Line 124">
                  <a:extLst>
                    <a:ext uri="{FF2B5EF4-FFF2-40B4-BE49-F238E27FC236}">
                      <a16:creationId xmlns:a16="http://schemas.microsoft.com/office/drawing/2014/main" id="{CEAAA9AE-B6E5-4DE2-B819-BE0CBFF3FAFF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809" name="Line 125">
                <a:extLst>
                  <a:ext uri="{FF2B5EF4-FFF2-40B4-BE49-F238E27FC236}">
                    <a16:creationId xmlns:a16="http://schemas.microsoft.com/office/drawing/2014/main" id="{50B44821-00E0-4FA9-9E74-FC3B27053B25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756" name="Line 126">
              <a:extLst>
                <a:ext uri="{FF2B5EF4-FFF2-40B4-BE49-F238E27FC236}">
                  <a16:creationId xmlns:a16="http://schemas.microsoft.com/office/drawing/2014/main" id="{B97F42CA-1261-4BE5-80D5-C09F34E3A1E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9440000">
              <a:off x="6894717" y="3121010"/>
              <a:ext cx="670039" cy="3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57" name="Group 756">
              <a:extLst>
                <a:ext uri="{FF2B5EF4-FFF2-40B4-BE49-F238E27FC236}">
                  <a16:creationId xmlns:a16="http://schemas.microsoft.com/office/drawing/2014/main" id="{1719A311-1706-4D87-857B-842E716CAE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20030966">
              <a:off x="7475572" y="2711846"/>
              <a:ext cx="399387" cy="276000"/>
              <a:chOff x="2018" y="2138"/>
              <a:chExt cx="1200" cy="357"/>
            </a:xfrm>
          </p:grpSpPr>
          <p:cxnSp>
            <p:nvCxnSpPr>
              <p:cNvPr id="801" name="Line 128">
                <a:extLst>
                  <a:ext uri="{FF2B5EF4-FFF2-40B4-BE49-F238E27FC236}">
                    <a16:creationId xmlns:a16="http://schemas.microsoft.com/office/drawing/2014/main" id="{FAE2E067-7E55-47CD-8E22-E51AB6512C9A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01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2" name="Line 129">
                <a:extLst>
                  <a:ext uri="{FF2B5EF4-FFF2-40B4-BE49-F238E27FC236}">
                    <a16:creationId xmlns:a16="http://schemas.microsoft.com/office/drawing/2014/main" id="{98198D19-6D94-4F5F-A852-0B7950D1BC97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309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3" name="Line 130">
                <a:extLst>
                  <a:ext uri="{FF2B5EF4-FFF2-40B4-BE49-F238E27FC236}">
                    <a16:creationId xmlns:a16="http://schemas.microsoft.com/office/drawing/2014/main" id="{318F3E7E-94B3-4925-9ABF-8D8E4A67C78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12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4" name="Line 131">
                <a:extLst>
                  <a:ext uri="{FF2B5EF4-FFF2-40B4-BE49-F238E27FC236}">
                    <a16:creationId xmlns:a16="http://schemas.microsoft.com/office/drawing/2014/main" id="{5F3B304C-07F8-4F82-8856-E66227569332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38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5" name="Line 132">
                <a:extLst>
                  <a:ext uri="{FF2B5EF4-FFF2-40B4-BE49-F238E27FC236}">
                    <a16:creationId xmlns:a16="http://schemas.microsoft.com/office/drawing/2014/main" id="{FFF014D1-E1C8-4CF0-A394-A3BC5983D94F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60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6" name="Line 133">
                <a:extLst>
                  <a:ext uri="{FF2B5EF4-FFF2-40B4-BE49-F238E27FC236}">
                    <a16:creationId xmlns:a16="http://schemas.microsoft.com/office/drawing/2014/main" id="{FC881303-6B60-40A8-A457-6A7894DBAAFE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86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758" name="Line 134">
              <a:extLst>
                <a:ext uri="{FF2B5EF4-FFF2-40B4-BE49-F238E27FC236}">
                  <a16:creationId xmlns:a16="http://schemas.microsoft.com/office/drawing/2014/main" id="{0008BC51-2CF9-4ED3-A5D6-A7090E2D5A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20030966" flipV="1">
              <a:off x="7792755" y="2560456"/>
              <a:ext cx="662284" cy="53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59" name="Group 758">
              <a:extLst>
                <a:ext uri="{FF2B5EF4-FFF2-40B4-BE49-F238E27FC236}">
                  <a16:creationId xmlns:a16="http://schemas.microsoft.com/office/drawing/2014/main" id="{950EBF55-2C9A-4F0C-BACF-3B67EC93D8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9007713">
              <a:off x="8093687" y="2791073"/>
              <a:ext cx="797222" cy="323469"/>
              <a:chOff x="1658" y="2144"/>
              <a:chExt cx="1440" cy="361"/>
            </a:xfrm>
          </p:grpSpPr>
          <p:cxnSp>
            <p:nvCxnSpPr>
              <p:cNvPr id="792" name="Line 136">
                <a:extLst>
                  <a:ext uri="{FF2B5EF4-FFF2-40B4-BE49-F238E27FC236}">
                    <a16:creationId xmlns:a16="http://schemas.microsoft.com/office/drawing/2014/main" id="{89995C1C-EA12-4BE2-AE0D-3373446117EC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793" name="Group 792">
                <a:extLst>
                  <a:ext uri="{FF2B5EF4-FFF2-40B4-BE49-F238E27FC236}">
                    <a16:creationId xmlns:a16="http://schemas.microsoft.com/office/drawing/2014/main" id="{7BBAAC63-09CE-4FF7-BE0C-B62F7C5EB53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795" name="Line 138">
                  <a:extLst>
                    <a:ext uri="{FF2B5EF4-FFF2-40B4-BE49-F238E27FC236}">
                      <a16:creationId xmlns:a16="http://schemas.microsoft.com/office/drawing/2014/main" id="{34E3D310-5A1B-47A5-ACB8-D5DBD99ABC20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96" name="Line 139">
                  <a:extLst>
                    <a:ext uri="{FF2B5EF4-FFF2-40B4-BE49-F238E27FC236}">
                      <a16:creationId xmlns:a16="http://schemas.microsoft.com/office/drawing/2014/main" id="{5BDE4CD3-FC20-4564-8BA1-8DDD5CEC8E2F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97" name="Line 140">
                  <a:extLst>
                    <a:ext uri="{FF2B5EF4-FFF2-40B4-BE49-F238E27FC236}">
                      <a16:creationId xmlns:a16="http://schemas.microsoft.com/office/drawing/2014/main" id="{60D2E1E3-5B4E-4357-B405-37644D000C33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98" name="Line 141">
                  <a:extLst>
                    <a:ext uri="{FF2B5EF4-FFF2-40B4-BE49-F238E27FC236}">
                      <a16:creationId xmlns:a16="http://schemas.microsoft.com/office/drawing/2014/main" id="{94C3A05B-82FA-424E-B7F0-EAAD4969E9C5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99" name="Line 142">
                  <a:extLst>
                    <a:ext uri="{FF2B5EF4-FFF2-40B4-BE49-F238E27FC236}">
                      <a16:creationId xmlns:a16="http://schemas.microsoft.com/office/drawing/2014/main" id="{B21F0537-D16F-4ECA-A0CC-B4E6A94E70EC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00" name="Line 143">
                  <a:extLst>
                    <a:ext uri="{FF2B5EF4-FFF2-40B4-BE49-F238E27FC236}">
                      <a16:creationId xmlns:a16="http://schemas.microsoft.com/office/drawing/2014/main" id="{05635EF6-849F-4AF3-A977-481739FCC741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794" name="Line 144">
                <a:extLst>
                  <a:ext uri="{FF2B5EF4-FFF2-40B4-BE49-F238E27FC236}">
                    <a16:creationId xmlns:a16="http://schemas.microsoft.com/office/drawing/2014/main" id="{5496DBE6-BF02-493C-8C0C-534569AA9DCD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760" name="Line 145">
              <a:extLst>
                <a:ext uri="{FF2B5EF4-FFF2-40B4-BE49-F238E27FC236}">
                  <a16:creationId xmlns:a16="http://schemas.microsoft.com/office/drawing/2014/main" id="{8323A9E4-C39D-4A21-9414-6CE477B34C3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7678047">
              <a:off x="7594264" y="3876847"/>
              <a:ext cx="45863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1" name="Line 146">
              <a:extLst>
                <a:ext uri="{FF2B5EF4-FFF2-40B4-BE49-F238E27FC236}">
                  <a16:creationId xmlns:a16="http://schemas.microsoft.com/office/drawing/2014/main" id="{97D7B633-50C8-4E01-BD1A-CE24267B05A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7678047">
              <a:off x="7915285" y="3530490"/>
              <a:ext cx="0" cy="2950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2" name="Line 147">
              <a:extLst>
                <a:ext uri="{FF2B5EF4-FFF2-40B4-BE49-F238E27FC236}">
                  <a16:creationId xmlns:a16="http://schemas.microsoft.com/office/drawing/2014/main" id="{FFC165C4-C1EC-46CB-A922-18B9036DBE7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7678047">
              <a:off x="7945174" y="3538112"/>
              <a:ext cx="1488" cy="1582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3" name="Freeform 148">
              <a:extLst>
                <a:ext uri="{FF2B5EF4-FFF2-40B4-BE49-F238E27FC236}">
                  <a16:creationId xmlns:a16="http://schemas.microsoft.com/office/drawing/2014/main" id="{332B5051-6249-4C20-8F6D-B80007CE3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8815" y="2400510"/>
              <a:ext cx="417223" cy="1096931"/>
            </a:xfrm>
            <a:custGeom>
              <a:avLst/>
              <a:gdLst>
                <a:gd name="T0" fmla="*/ 0 w 567"/>
                <a:gd name="T1" fmla="*/ 0 h 900"/>
                <a:gd name="T2" fmla="*/ 525 w 567"/>
                <a:gd name="T3" fmla="*/ 300 h 900"/>
                <a:gd name="T4" fmla="*/ 255 w 567"/>
                <a:gd name="T5" fmla="*/ 900 h 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7" h="900">
                  <a:moveTo>
                    <a:pt x="0" y="0"/>
                  </a:moveTo>
                  <a:cubicBezTo>
                    <a:pt x="90" y="52"/>
                    <a:pt x="483" y="150"/>
                    <a:pt x="525" y="300"/>
                  </a:cubicBezTo>
                  <a:cubicBezTo>
                    <a:pt x="567" y="450"/>
                    <a:pt x="311" y="775"/>
                    <a:pt x="255" y="90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764" name="Line 149">
              <a:extLst>
                <a:ext uri="{FF2B5EF4-FFF2-40B4-BE49-F238E27FC236}">
                  <a16:creationId xmlns:a16="http://schemas.microsoft.com/office/drawing/2014/main" id="{AEA0CC66-51DB-40E9-81F9-7D509AF778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44922" y="2669070"/>
              <a:ext cx="223346" cy="2678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5" name="Line 150">
              <a:extLst>
                <a:ext uri="{FF2B5EF4-FFF2-40B4-BE49-F238E27FC236}">
                  <a16:creationId xmlns:a16="http://schemas.microsoft.com/office/drawing/2014/main" id="{E693AB89-F056-42B0-8790-CA1C5FEC4D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48453" y="2704407"/>
              <a:ext cx="95000" cy="11605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6" name="Line 151">
              <a:extLst>
                <a:ext uri="{FF2B5EF4-FFF2-40B4-BE49-F238E27FC236}">
                  <a16:creationId xmlns:a16="http://schemas.microsoft.com/office/drawing/2014/main" id="{3635A48E-2C5F-4543-852F-60333FD95B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957841" y="4092208"/>
              <a:ext cx="160690" cy="38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67" name="Group 766">
              <a:extLst>
                <a:ext uri="{FF2B5EF4-FFF2-40B4-BE49-F238E27FC236}">
                  <a16:creationId xmlns:a16="http://schemas.microsoft.com/office/drawing/2014/main" id="{0134A018-89F7-4E2D-B355-9364DD5502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58391">
              <a:off x="7129696" y="3646600"/>
              <a:ext cx="399387" cy="276000"/>
              <a:chOff x="2018" y="2138"/>
              <a:chExt cx="1200" cy="357"/>
            </a:xfrm>
          </p:grpSpPr>
          <p:cxnSp>
            <p:nvCxnSpPr>
              <p:cNvPr id="786" name="Line 153">
                <a:extLst>
                  <a:ext uri="{FF2B5EF4-FFF2-40B4-BE49-F238E27FC236}">
                    <a16:creationId xmlns:a16="http://schemas.microsoft.com/office/drawing/2014/main" id="{EC6968B6-C069-4DCA-B15A-17B31D749EA0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01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7" name="Line 154">
                <a:extLst>
                  <a:ext uri="{FF2B5EF4-FFF2-40B4-BE49-F238E27FC236}">
                    <a16:creationId xmlns:a16="http://schemas.microsoft.com/office/drawing/2014/main" id="{B8ECF1DC-A451-47FE-93EB-79E256BF3C4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309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" name="Line 155">
                <a:extLst>
                  <a:ext uri="{FF2B5EF4-FFF2-40B4-BE49-F238E27FC236}">
                    <a16:creationId xmlns:a16="http://schemas.microsoft.com/office/drawing/2014/main" id="{6FFC3895-9F5F-4FE5-A336-22ADAA2F414B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12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9" name="Line 156">
                <a:extLst>
                  <a:ext uri="{FF2B5EF4-FFF2-40B4-BE49-F238E27FC236}">
                    <a16:creationId xmlns:a16="http://schemas.microsoft.com/office/drawing/2014/main" id="{7ED99A4F-0F41-4893-82EF-D4FBE498D8E3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38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0" name="Line 157">
                <a:extLst>
                  <a:ext uri="{FF2B5EF4-FFF2-40B4-BE49-F238E27FC236}">
                    <a16:creationId xmlns:a16="http://schemas.microsoft.com/office/drawing/2014/main" id="{764ACED1-F19C-4959-B58C-6C233F05129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60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1" name="Line 158">
                <a:extLst>
                  <a:ext uri="{FF2B5EF4-FFF2-40B4-BE49-F238E27FC236}">
                    <a16:creationId xmlns:a16="http://schemas.microsoft.com/office/drawing/2014/main" id="{4FF03D9B-C755-4174-90EF-EC7800B8D51D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86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768" name="Line 159">
              <a:extLst>
                <a:ext uri="{FF2B5EF4-FFF2-40B4-BE49-F238E27FC236}">
                  <a16:creationId xmlns:a16="http://schemas.microsoft.com/office/drawing/2014/main" id="{89B8CD90-5A94-45F8-B3DE-46281C3B0FA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2700000">
              <a:off x="7454562" y="3993273"/>
              <a:ext cx="30724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9" name="AutoShape 160">
              <a:extLst>
                <a:ext uri="{FF2B5EF4-FFF2-40B4-BE49-F238E27FC236}">
                  <a16:creationId xmlns:a16="http://schemas.microsoft.com/office/drawing/2014/main" id="{D8F921F4-18A1-4BBB-A3DB-5379A1C6CE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63737" y="3315549"/>
              <a:ext cx="213652" cy="36676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0" name="AutoShape 161">
              <a:extLst>
                <a:ext uri="{FF2B5EF4-FFF2-40B4-BE49-F238E27FC236}">
                  <a16:creationId xmlns:a16="http://schemas.microsoft.com/office/drawing/2014/main" id="{1746CEC7-186E-4327-A0E2-8BBF2576566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8419753" y="3575554"/>
              <a:ext cx="150061" cy="131676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1" name="Line 162">
              <a:extLst>
                <a:ext uri="{FF2B5EF4-FFF2-40B4-BE49-F238E27FC236}">
                  <a16:creationId xmlns:a16="http://schemas.microsoft.com/office/drawing/2014/main" id="{A5347F62-CC4D-45B0-B31A-9858C12DFF6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8650387">
              <a:off x="4683686" y="3892470"/>
              <a:ext cx="4906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2" name="Line 163">
              <a:extLst>
                <a:ext uri="{FF2B5EF4-FFF2-40B4-BE49-F238E27FC236}">
                  <a16:creationId xmlns:a16="http://schemas.microsoft.com/office/drawing/2014/main" id="{FDF981F8-5B3A-4167-B97F-4C8602A37DD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8650387">
              <a:off x="5110889" y="3510080"/>
              <a:ext cx="321380" cy="3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3" name="Line 164">
              <a:extLst>
                <a:ext uri="{FF2B5EF4-FFF2-40B4-BE49-F238E27FC236}">
                  <a16:creationId xmlns:a16="http://schemas.microsoft.com/office/drawing/2014/main" id="{F8D11A0A-338C-4566-AC8A-D44D8097C29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8650387">
              <a:off x="5096314" y="3607213"/>
              <a:ext cx="0" cy="1989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4" name="Line 165">
              <a:extLst>
                <a:ext uri="{FF2B5EF4-FFF2-40B4-BE49-F238E27FC236}">
                  <a16:creationId xmlns:a16="http://schemas.microsoft.com/office/drawing/2014/main" id="{FB95143E-963B-4DCF-964B-37005352FB5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8650387">
              <a:off x="5163395" y="3533192"/>
              <a:ext cx="0" cy="1989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5" name="Freeform 166">
              <a:extLst>
                <a:ext uri="{FF2B5EF4-FFF2-40B4-BE49-F238E27FC236}">
                  <a16:creationId xmlns:a16="http://schemas.microsoft.com/office/drawing/2014/main" id="{93C10D2D-C2CD-4B01-A54B-9EE418F2C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1575" y="2400510"/>
              <a:ext cx="658019" cy="347417"/>
            </a:xfrm>
            <a:custGeom>
              <a:avLst/>
              <a:gdLst>
                <a:gd name="T0" fmla="*/ 0 w 1697"/>
                <a:gd name="T1" fmla="*/ 934 h 934"/>
                <a:gd name="T2" fmla="*/ 617 w 1697"/>
                <a:gd name="T3" fmla="*/ 379 h 934"/>
                <a:gd name="T4" fmla="*/ 1697 w 1697"/>
                <a:gd name="T5" fmla="*/ 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97" h="934">
                  <a:moveTo>
                    <a:pt x="0" y="934"/>
                  </a:moveTo>
                  <a:cubicBezTo>
                    <a:pt x="167" y="734"/>
                    <a:pt x="334" y="535"/>
                    <a:pt x="617" y="379"/>
                  </a:cubicBezTo>
                  <a:cubicBezTo>
                    <a:pt x="900" y="223"/>
                    <a:pt x="1517" y="63"/>
                    <a:pt x="1697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776" name="Freeform 167">
              <a:extLst>
                <a:ext uri="{FF2B5EF4-FFF2-40B4-BE49-F238E27FC236}">
                  <a16:creationId xmlns:a16="http://schemas.microsoft.com/office/drawing/2014/main" id="{B593F4BA-E631-4F6F-9E40-24B76FA60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3204" y="3227765"/>
              <a:ext cx="253979" cy="389821"/>
            </a:xfrm>
            <a:custGeom>
              <a:avLst/>
              <a:gdLst>
                <a:gd name="T0" fmla="*/ 0 w 655"/>
                <a:gd name="T1" fmla="*/ 1048 h 1048"/>
                <a:gd name="T2" fmla="*/ 318 w 655"/>
                <a:gd name="T3" fmla="*/ 505 h 1048"/>
                <a:gd name="T4" fmla="*/ 655 w 655"/>
                <a:gd name="T5" fmla="*/ 0 h 1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5" h="1048">
                  <a:moveTo>
                    <a:pt x="0" y="1048"/>
                  </a:moveTo>
                  <a:cubicBezTo>
                    <a:pt x="53" y="958"/>
                    <a:pt x="209" y="680"/>
                    <a:pt x="318" y="505"/>
                  </a:cubicBezTo>
                  <a:cubicBezTo>
                    <a:pt x="427" y="330"/>
                    <a:pt x="585" y="105"/>
                    <a:pt x="655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777" name="Line 168">
              <a:extLst>
                <a:ext uri="{FF2B5EF4-FFF2-40B4-BE49-F238E27FC236}">
                  <a16:creationId xmlns:a16="http://schemas.microsoft.com/office/drawing/2014/main" id="{B91FFAD8-240D-4B36-BB4A-6D5B414012C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4580584">
              <a:off x="6033295" y="3218094"/>
              <a:ext cx="2637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78" name="Group 777">
              <a:extLst>
                <a:ext uri="{FF2B5EF4-FFF2-40B4-BE49-F238E27FC236}">
                  <a16:creationId xmlns:a16="http://schemas.microsoft.com/office/drawing/2014/main" id="{708A6DE9-26AF-4523-A8EA-A13A059257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4580584">
              <a:off x="5996642" y="3508808"/>
              <a:ext cx="528193" cy="190775"/>
              <a:chOff x="2018" y="2138"/>
              <a:chExt cx="1200" cy="357"/>
            </a:xfrm>
          </p:grpSpPr>
          <p:cxnSp>
            <p:nvCxnSpPr>
              <p:cNvPr id="780" name="Line 170">
                <a:extLst>
                  <a:ext uri="{FF2B5EF4-FFF2-40B4-BE49-F238E27FC236}">
                    <a16:creationId xmlns:a16="http://schemas.microsoft.com/office/drawing/2014/main" id="{48AA2275-228B-4A28-AEC7-6B6CB2711FA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01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1" name="Line 171">
                <a:extLst>
                  <a:ext uri="{FF2B5EF4-FFF2-40B4-BE49-F238E27FC236}">
                    <a16:creationId xmlns:a16="http://schemas.microsoft.com/office/drawing/2014/main" id="{8B6ACB7F-AD39-4264-9927-30D634B11BF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309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2" name="Line 172">
                <a:extLst>
                  <a:ext uri="{FF2B5EF4-FFF2-40B4-BE49-F238E27FC236}">
                    <a16:creationId xmlns:a16="http://schemas.microsoft.com/office/drawing/2014/main" id="{876A063C-BE1C-4F69-961E-1DBBBF57BB5E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12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3" name="Line 173">
                <a:extLst>
                  <a:ext uri="{FF2B5EF4-FFF2-40B4-BE49-F238E27FC236}">
                    <a16:creationId xmlns:a16="http://schemas.microsoft.com/office/drawing/2014/main" id="{5AB95CC8-2302-4B00-ABFA-418E8847D746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38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4" name="Line 174">
                <a:extLst>
                  <a:ext uri="{FF2B5EF4-FFF2-40B4-BE49-F238E27FC236}">
                    <a16:creationId xmlns:a16="http://schemas.microsoft.com/office/drawing/2014/main" id="{0EF1B9A8-8E49-4A08-9407-18DB7FCF7B8D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60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5" name="Line 175">
                <a:extLst>
                  <a:ext uri="{FF2B5EF4-FFF2-40B4-BE49-F238E27FC236}">
                    <a16:creationId xmlns:a16="http://schemas.microsoft.com/office/drawing/2014/main" id="{243D28CE-09FA-4CAE-BA39-D01CEB23E72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86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79" name="Freeform 176">
              <a:extLst>
                <a:ext uri="{FF2B5EF4-FFF2-40B4-BE49-F238E27FC236}">
                  <a16:creationId xmlns:a16="http://schemas.microsoft.com/office/drawing/2014/main" id="{E637E8E3-965E-421C-9A52-47910E8C1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4494" y="3859737"/>
              <a:ext cx="693304" cy="239547"/>
            </a:xfrm>
            <a:custGeom>
              <a:avLst/>
              <a:gdLst>
                <a:gd name="T0" fmla="*/ 0 w 1788"/>
                <a:gd name="T1" fmla="*/ 0 h 644"/>
                <a:gd name="T2" fmla="*/ 140 w 1788"/>
                <a:gd name="T3" fmla="*/ 415 h 644"/>
                <a:gd name="T4" fmla="*/ 719 w 1788"/>
                <a:gd name="T5" fmla="*/ 583 h 644"/>
                <a:gd name="T6" fmla="*/ 1788 w 1788"/>
                <a:gd name="T7" fmla="*/ 64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8" h="644">
                  <a:moveTo>
                    <a:pt x="0" y="0"/>
                  </a:moveTo>
                  <a:cubicBezTo>
                    <a:pt x="23" y="69"/>
                    <a:pt x="20" y="318"/>
                    <a:pt x="140" y="415"/>
                  </a:cubicBezTo>
                  <a:cubicBezTo>
                    <a:pt x="260" y="512"/>
                    <a:pt x="444" y="545"/>
                    <a:pt x="719" y="583"/>
                  </a:cubicBezTo>
                  <a:cubicBezTo>
                    <a:pt x="994" y="621"/>
                    <a:pt x="1565" y="631"/>
                    <a:pt x="1788" y="644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grpSp>
          <p:nvGrpSpPr>
            <p:cNvPr id="891" name="Group 890">
              <a:extLst>
                <a:ext uri="{FF2B5EF4-FFF2-40B4-BE49-F238E27FC236}">
                  <a16:creationId xmlns:a16="http://schemas.microsoft.com/office/drawing/2014/main" id="{919CF5E6-CC91-4DFB-BF89-4C6DEB3686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7582" y="2385268"/>
              <a:ext cx="2560320" cy="1785620"/>
              <a:chOff x="534" y="948"/>
              <a:chExt cx="7427" cy="5099"/>
            </a:xfrm>
          </p:grpSpPr>
          <p:sp>
            <p:nvSpPr>
              <p:cNvPr id="896" name="Freeform 4">
                <a:extLst>
                  <a:ext uri="{FF2B5EF4-FFF2-40B4-BE49-F238E27FC236}">
                    <a16:creationId xmlns:a16="http://schemas.microsoft.com/office/drawing/2014/main" id="{A9249FFD-3DB8-4A4E-AADA-4B2639425C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" y="948"/>
                <a:ext cx="7427" cy="5099"/>
              </a:xfrm>
              <a:custGeom>
                <a:avLst/>
                <a:gdLst>
                  <a:gd name="T0" fmla="*/ 6423 w 7427"/>
                  <a:gd name="T1" fmla="*/ 230 h 5099"/>
                  <a:gd name="T2" fmla="*/ 7302 w 7427"/>
                  <a:gd name="T3" fmla="*/ 1296 h 5099"/>
                  <a:gd name="T4" fmla="*/ 5675 w 7427"/>
                  <a:gd name="T5" fmla="*/ 2755 h 5099"/>
                  <a:gd name="T6" fmla="*/ 4590 w 7427"/>
                  <a:gd name="T7" fmla="*/ 4793 h 5099"/>
                  <a:gd name="T8" fmla="*/ 1229 w 7427"/>
                  <a:gd name="T9" fmla="*/ 4591 h 5099"/>
                  <a:gd name="T10" fmla="*/ 233 w 7427"/>
                  <a:gd name="T11" fmla="*/ 2063 h 5099"/>
                  <a:gd name="T12" fmla="*/ 2627 w 7427"/>
                  <a:gd name="T13" fmla="*/ 305 h 5099"/>
                  <a:gd name="T14" fmla="*/ 6423 w 7427"/>
                  <a:gd name="T15" fmla="*/ 230 h 50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427" h="5099">
                    <a:moveTo>
                      <a:pt x="6423" y="230"/>
                    </a:moveTo>
                    <a:cubicBezTo>
                      <a:pt x="7202" y="395"/>
                      <a:pt x="7427" y="875"/>
                      <a:pt x="7302" y="1296"/>
                    </a:cubicBezTo>
                    <a:cubicBezTo>
                      <a:pt x="7177" y="1717"/>
                      <a:pt x="6127" y="2172"/>
                      <a:pt x="5675" y="2755"/>
                    </a:cubicBezTo>
                    <a:cubicBezTo>
                      <a:pt x="5223" y="3338"/>
                      <a:pt x="5331" y="4487"/>
                      <a:pt x="4590" y="4793"/>
                    </a:cubicBezTo>
                    <a:cubicBezTo>
                      <a:pt x="3849" y="5099"/>
                      <a:pt x="1955" y="5046"/>
                      <a:pt x="1229" y="4591"/>
                    </a:cubicBezTo>
                    <a:cubicBezTo>
                      <a:pt x="503" y="4136"/>
                      <a:pt x="0" y="2777"/>
                      <a:pt x="233" y="2063"/>
                    </a:cubicBezTo>
                    <a:cubicBezTo>
                      <a:pt x="466" y="1349"/>
                      <a:pt x="1595" y="610"/>
                      <a:pt x="2627" y="305"/>
                    </a:cubicBezTo>
                    <a:cubicBezTo>
                      <a:pt x="3659" y="0"/>
                      <a:pt x="5632" y="246"/>
                      <a:pt x="6423" y="230"/>
                    </a:cubicBezTo>
                    <a:close/>
                  </a:path>
                </a:pathLst>
              </a:custGeom>
              <a:noFill/>
              <a:ln w="28575">
                <a:solidFill>
                  <a:srgbClr val="C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897" name="Freeform 5">
                <a:extLst>
                  <a:ext uri="{FF2B5EF4-FFF2-40B4-BE49-F238E27FC236}">
                    <a16:creationId xmlns:a16="http://schemas.microsoft.com/office/drawing/2014/main" id="{4DC95402-37E6-4BFD-BE97-B8295E214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" y="3045"/>
                <a:ext cx="4130" cy="2640"/>
              </a:xfrm>
              <a:custGeom>
                <a:avLst/>
                <a:gdLst>
                  <a:gd name="T0" fmla="*/ 0 w 4130"/>
                  <a:gd name="T1" fmla="*/ 0 h 2640"/>
                  <a:gd name="T2" fmla="*/ 2252 w 4130"/>
                  <a:gd name="T3" fmla="*/ 673 h 2640"/>
                  <a:gd name="T4" fmla="*/ 4130 w 4130"/>
                  <a:gd name="T5" fmla="*/ 2640 h 2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30" h="2640">
                    <a:moveTo>
                      <a:pt x="0" y="0"/>
                    </a:moveTo>
                    <a:cubicBezTo>
                      <a:pt x="782" y="116"/>
                      <a:pt x="1564" y="233"/>
                      <a:pt x="2252" y="673"/>
                    </a:cubicBezTo>
                    <a:cubicBezTo>
                      <a:pt x="2940" y="1113"/>
                      <a:pt x="3535" y="1876"/>
                      <a:pt x="4130" y="2640"/>
                    </a:cubicBezTo>
                  </a:path>
                </a:pathLst>
              </a:custGeom>
              <a:noFill/>
              <a:ln w="28575">
                <a:solidFill>
                  <a:srgbClr val="C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898" name="Freeform 6">
                <a:extLst>
                  <a:ext uri="{FF2B5EF4-FFF2-40B4-BE49-F238E27FC236}">
                    <a16:creationId xmlns:a16="http://schemas.microsoft.com/office/drawing/2014/main" id="{EC3E56EA-2F05-402A-ABC2-F995F379B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8" y="1141"/>
                <a:ext cx="3919" cy="2548"/>
              </a:xfrm>
              <a:custGeom>
                <a:avLst/>
                <a:gdLst>
                  <a:gd name="T0" fmla="*/ 0 w 3919"/>
                  <a:gd name="T1" fmla="*/ 2548 h 2548"/>
                  <a:gd name="T2" fmla="*/ 1683 w 3919"/>
                  <a:gd name="T3" fmla="*/ 991 h 2548"/>
                  <a:gd name="T4" fmla="*/ 3919 w 3919"/>
                  <a:gd name="T5" fmla="*/ 0 h 2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19" h="2548">
                    <a:moveTo>
                      <a:pt x="0" y="2548"/>
                    </a:moveTo>
                    <a:cubicBezTo>
                      <a:pt x="280" y="2289"/>
                      <a:pt x="1030" y="1416"/>
                      <a:pt x="1683" y="991"/>
                    </a:cubicBezTo>
                    <a:cubicBezTo>
                      <a:pt x="2336" y="566"/>
                      <a:pt x="3453" y="207"/>
                      <a:pt x="3919" y="0"/>
                    </a:cubicBezTo>
                  </a:path>
                </a:pathLst>
              </a:custGeom>
              <a:noFill/>
              <a:ln w="28575">
                <a:solidFill>
                  <a:srgbClr val="C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grpSp>
          <p:nvGrpSpPr>
            <p:cNvPr id="892" name="Group 891">
              <a:extLst>
                <a:ext uri="{FF2B5EF4-FFF2-40B4-BE49-F238E27FC236}">
                  <a16:creationId xmlns:a16="http://schemas.microsoft.com/office/drawing/2014/main" id="{D4D02F98-ACDC-47AA-84E4-648FABDC3B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1437" y="2368123"/>
              <a:ext cx="2560320" cy="1785620"/>
              <a:chOff x="534" y="948"/>
              <a:chExt cx="7427" cy="5099"/>
            </a:xfrm>
          </p:grpSpPr>
          <p:sp>
            <p:nvSpPr>
              <p:cNvPr id="893" name="Freeform 178">
                <a:extLst>
                  <a:ext uri="{FF2B5EF4-FFF2-40B4-BE49-F238E27FC236}">
                    <a16:creationId xmlns:a16="http://schemas.microsoft.com/office/drawing/2014/main" id="{C4311D22-4497-4C58-85DD-B127F9A68D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" y="948"/>
                <a:ext cx="7427" cy="5099"/>
              </a:xfrm>
              <a:custGeom>
                <a:avLst/>
                <a:gdLst>
                  <a:gd name="T0" fmla="*/ 6423 w 7427"/>
                  <a:gd name="T1" fmla="*/ 230 h 5099"/>
                  <a:gd name="T2" fmla="*/ 7302 w 7427"/>
                  <a:gd name="T3" fmla="*/ 1296 h 5099"/>
                  <a:gd name="T4" fmla="*/ 5675 w 7427"/>
                  <a:gd name="T5" fmla="*/ 2755 h 5099"/>
                  <a:gd name="T6" fmla="*/ 4590 w 7427"/>
                  <a:gd name="T7" fmla="*/ 4793 h 5099"/>
                  <a:gd name="T8" fmla="*/ 1229 w 7427"/>
                  <a:gd name="T9" fmla="*/ 4591 h 5099"/>
                  <a:gd name="T10" fmla="*/ 233 w 7427"/>
                  <a:gd name="T11" fmla="*/ 2063 h 5099"/>
                  <a:gd name="T12" fmla="*/ 2627 w 7427"/>
                  <a:gd name="T13" fmla="*/ 305 h 5099"/>
                  <a:gd name="T14" fmla="*/ 6423 w 7427"/>
                  <a:gd name="T15" fmla="*/ 230 h 50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427" h="5099">
                    <a:moveTo>
                      <a:pt x="6423" y="230"/>
                    </a:moveTo>
                    <a:cubicBezTo>
                      <a:pt x="7202" y="395"/>
                      <a:pt x="7427" y="875"/>
                      <a:pt x="7302" y="1296"/>
                    </a:cubicBezTo>
                    <a:cubicBezTo>
                      <a:pt x="7177" y="1717"/>
                      <a:pt x="6127" y="2172"/>
                      <a:pt x="5675" y="2755"/>
                    </a:cubicBezTo>
                    <a:cubicBezTo>
                      <a:pt x="5223" y="3338"/>
                      <a:pt x="5331" y="4487"/>
                      <a:pt x="4590" y="4793"/>
                    </a:cubicBezTo>
                    <a:cubicBezTo>
                      <a:pt x="3849" y="5099"/>
                      <a:pt x="1955" y="5046"/>
                      <a:pt x="1229" y="4591"/>
                    </a:cubicBezTo>
                    <a:cubicBezTo>
                      <a:pt x="503" y="4136"/>
                      <a:pt x="0" y="2777"/>
                      <a:pt x="233" y="2063"/>
                    </a:cubicBezTo>
                    <a:cubicBezTo>
                      <a:pt x="466" y="1349"/>
                      <a:pt x="1595" y="610"/>
                      <a:pt x="2627" y="305"/>
                    </a:cubicBezTo>
                    <a:cubicBezTo>
                      <a:pt x="3659" y="0"/>
                      <a:pt x="5632" y="246"/>
                      <a:pt x="6423" y="230"/>
                    </a:cubicBezTo>
                    <a:close/>
                  </a:path>
                </a:pathLst>
              </a:custGeom>
              <a:noFill/>
              <a:ln w="28575">
                <a:solidFill>
                  <a:srgbClr val="C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894" name="Freeform 179">
                <a:extLst>
                  <a:ext uri="{FF2B5EF4-FFF2-40B4-BE49-F238E27FC236}">
                    <a16:creationId xmlns:a16="http://schemas.microsoft.com/office/drawing/2014/main" id="{6DA7809F-490F-4EBD-9EA9-A6BA8C52E8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" y="3045"/>
                <a:ext cx="4130" cy="2640"/>
              </a:xfrm>
              <a:custGeom>
                <a:avLst/>
                <a:gdLst>
                  <a:gd name="T0" fmla="*/ 0 w 4130"/>
                  <a:gd name="T1" fmla="*/ 0 h 2640"/>
                  <a:gd name="T2" fmla="*/ 2252 w 4130"/>
                  <a:gd name="T3" fmla="*/ 673 h 2640"/>
                  <a:gd name="T4" fmla="*/ 4130 w 4130"/>
                  <a:gd name="T5" fmla="*/ 2640 h 2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30" h="2640">
                    <a:moveTo>
                      <a:pt x="0" y="0"/>
                    </a:moveTo>
                    <a:cubicBezTo>
                      <a:pt x="782" y="116"/>
                      <a:pt x="1564" y="233"/>
                      <a:pt x="2252" y="673"/>
                    </a:cubicBezTo>
                    <a:cubicBezTo>
                      <a:pt x="2940" y="1113"/>
                      <a:pt x="3535" y="1876"/>
                      <a:pt x="4130" y="2640"/>
                    </a:cubicBezTo>
                  </a:path>
                </a:pathLst>
              </a:custGeom>
              <a:noFill/>
              <a:ln w="28575">
                <a:solidFill>
                  <a:srgbClr val="C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895" name="Freeform 180">
                <a:extLst>
                  <a:ext uri="{FF2B5EF4-FFF2-40B4-BE49-F238E27FC236}">
                    <a16:creationId xmlns:a16="http://schemas.microsoft.com/office/drawing/2014/main" id="{FF335C0A-FC70-442A-89A2-4371E1B070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8" y="1141"/>
                <a:ext cx="3919" cy="2548"/>
              </a:xfrm>
              <a:custGeom>
                <a:avLst/>
                <a:gdLst>
                  <a:gd name="T0" fmla="*/ 0 w 3919"/>
                  <a:gd name="T1" fmla="*/ 2548 h 2548"/>
                  <a:gd name="T2" fmla="*/ 1683 w 3919"/>
                  <a:gd name="T3" fmla="*/ 991 h 2548"/>
                  <a:gd name="T4" fmla="*/ 3919 w 3919"/>
                  <a:gd name="T5" fmla="*/ 0 h 2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19" h="2548">
                    <a:moveTo>
                      <a:pt x="0" y="2548"/>
                    </a:moveTo>
                    <a:cubicBezTo>
                      <a:pt x="280" y="2289"/>
                      <a:pt x="1030" y="1416"/>
                      <a:pt x="1683" y="991"/>
                    </a:cubicBezTo>
                    <a:cubicBezTo>
                      <a:pt x="2336" y="566"/>
                      <a:pt x="3453" y="207"/>
                      <a:pt x="3919" y="0"/>
                    </a:cubicBezTo>
                  </a:path>
                </a:pathLst>
              </a:custGeom>
              <a:noFill/>
              <a:ln w="28575">
                <a:solidFill>
                  <a:srgbClr val="C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3592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012" y="577564"/>
            <a:ext cx="4861553" cy="482745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/>
              <a:t>Graph of Network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ADE5733-C876-483B-A4B0-4FC7520E549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81420" y="906206"/>
            <a:ext cx="5796529" cy="2272517"/>
            <a:chOff x="2082" y="4892"/>
            <a:chExt cx="11035" cy="3799"/>
          </a:xfrm>
        </p:grpSpPr>
        <p:sp>
          <p:nvSpPr>
            <p:cNvPr id="9" name="Text Box 182">
              <a:extLst>
                <a:ext uri="{FF2B5EF4-FFF2-40B4-BE49-F238E27FC236}">
                  <a16:creationId xmlns:a16="http://schemas.microsoft.com/office/drawing/2014/main" id="{7309C6C2-3948-4C24-9D3E-C7D3318760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5" y="8050"/>
              <a:ext cx="3437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(a) Network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183">
              <a:extLst>
                <a:ext uri="{FF2B5EF4-FFF2-40B4-BE49-F238E27FC236}">
                  <a16:creationId xmlns:a16="http://schemas.microsoft.com/office/drawing/2014/main" id="{DC249D41-8317-4011-B33C-27C423337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2" y="8110"/>
              <a:ext cx="4843" cy="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(b) Graph of Network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82FF86B-488E-4A8A-8A33-6E1C7C52B2B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704" y="6731"/>
              <a:ext cx="346" cy="2470"/>
              <a:chOff x="9878" y="1418"/>
              <a:chExt cx="360" cy="18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CCA143E-3840-4CB7-9697-DF22AC742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45" name="Line 186">
                <a:extLst>
                  <a:ext uri="{FF2B5EF4-FFF2-40B4-BE49-F238E27FC236}">
                    <a16:creationId xmlns:a16="http://schemas.microsoft.com/office/drawing/2014/main" id="{7E89F05F-9543-4D1D-AE42-A8CAF95CBC2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" name="Line 187">
                <a:extLst>
                  <a:ext uri="{FF2B5EF4-FFF2-40B4-BE49-F238E27FC236}">
                    <a16:creationId xmlns:a16="http://schemas.microsoft.com/office/drawing/2014/main" id="{DC874E21-639E-4CEA-A18F-376260D1CCA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A475A57-7059-430C-A357-EDCACF4BE2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715" y="5983"/>
              <a:ext cx="411" cy="1993"/>
              <a:chOff x="9878" y="1418"/>
              <a:chExt cx="360" cy="18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C4D8742-A0B7-4D19-809E-7B7294129E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42" name="Line 190">
                <a:extLst>
                  <a:ext uri="{FF2B5EF4-FFF2-40B4-BE49-F238E27FC236}">
                    <a16:creationId xmlns:a16="http://schemas.microsoft.com/office/drawing/2014/main" id="{921E5BF1-92D3-4378-BA00-DC19386D0FC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Line 191">
                <a:extLst>
                  <a:ext uri="{FF2B5EF4-FFF2-40B4-BE49-F238E27FC236}">
                    <a16:creationId xmlns:a16="http://schemas.microsoft.com/office/drawing/2014/main" id="{C78AF3DC-9DBA-40EF-ACD8-D1529D8E39D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3" name="Line 192">
              <a:extLst>
                <a:ext uri="{FF2B5EF4-FFF2-40B4-BE49-F238E27FC236}">
                  <a16:creationId xmlns:a16="http://schemas.microsoft.com/office/drawing/2014/main" id="{293F2032-4871-433B-B463-A56E73FEA2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82" y="7191"/>
              <a:ext cx="1222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193">
              <a:extLst>
                <a:ext uri="{FF2B5EF4-FFF2-40B4-BE49-F238E27FC236}">
                  <a16:creationId xmlns:a16="http://schemas.microsoft.com/office/drawing/2014/main" id="{B21A97E4-D997-4A14-BE39-7ED92AC035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10" y="7336"/>
              <a:ext cx="2" cy="64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194">
              <a:extLst>
                <a:ext uri="{FF2B5EF4-FFF2-40B4-BE49-F238E27FC236}">
                  <a16:creationId xmlns:a16="http://schemas.microsoft.com/office/drawing/2014/main" id="{F3F5B8BC-44F4-4266-9E22-D75FFA9513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46" y="7331"/>
              <a:ext cx="42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Line 195">
              <a:extLst>
                <a:ext uri="{FF2B5EF4-FFF2-40B4-BE49-F238E27FC236}">
                  <a16:creationId xmlns:a16="http://schemas.microsoft.com/office/drawing/2014/main" id="{5E8D8374-41EE-47B8-B7F9-3F77DF82CC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51" y="5037"/>
              <a:ext cx="0" cy="21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830F1A3-5790-438C-B594-F9220EA52A5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726" y="4792"/>
              <a:ext cx="346" cy="2470"/>
              <a:chOff x="9878" y="1418"/>
              <a:chExt cx="360" cy="18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10BD8F0-8A6D-4A7A-A3DA-5CDE49FA9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39" name="Line 198">
                <a:extLst>
                  <a:ext uri="{FF2B5EF4-FFF2-40B4-BE49-F238E27FC236}">
                    <a16:creationId xmlns:a16="http://schemas.microsoft.com/office/drawing/2014/main" id="{5B0C3A37-ECE7-44B7-ADFD-BB209F7C23E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" name="Line 199">
                <a:extLst>
                  <a:ext uri="{FF2B5EF4-FFF2-40B4-BE49-F238E27FC236}">
                    <a16:creationId xmlns:a16="http://schemas.microsoft.com/office/drawing/2014/main" id="{E7786D4F-23FC-413F-AF39-5639ED1710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C80382A-7757-4F8C-A8C3-620B5AF140A1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6197" y="4792"/>
              <a:ext cx="346" cy="2470"/>
              <a:chOff x="9878" y="1418"/>
              <a:chExt cx="360" cy="18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8B1621C-97C6-482E-918F-1715C000D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36" name="Line 202">
                <a:extLst>
                  <a:ext uri="{FF2B5EF4-FFF2-40B4-BE49-F238E27FC236}">
                    <a16:creationId xmlns:a16="http://schemas.microsoft.com/office/drawing/2014/main" id="{B7ED3013-93E7-4D50-9DC1-932E3E7617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Line 203">
                <a:extLst>
                  <a:ext uri="{FF2B5EF4-FFF2-40B4-BE49-F238E27FC236}">
                    <a16:creationId xmlns:a16="http://schemas.microsoft.com/office/drawing/2014/main" id="{E8514456-347D-4DC0-873A-F3E5F569FE1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EB278F0-77AF-4B94-8995-D0B826041A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7417" y="6515"/>
              <a:ext cx="421" cy="80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20" name="Line 205">
              <a:extLst>
                <a:ext uri="{FF2B5EF4-FFF2-40B4-BE49-F238E27FC236}">
                  <a16:creationId xmlns:a16="http://schemas.microsoft.com/office/drawing/2014/main" id="{A81F31FB-ECD1-4904-9B7D-536E3AFE3B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626" y="7315"/>
              <a:ext cx="0" cy="6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Line 206">
              <a:extLst>
                <a:ext uri="{FF2B5EF4-FFF2-40B4-BE49-F238E27FC236}">
                  <a16:creationId xmlns:a16="http://schemas.microsoft.com/office/drawing/2014/main" id="{5BF686DB-63F1-4C96-B4AF-66008F0F1A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626" y="5037"/>
              <a:ext cx="0" cy="15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Line 207">
              <a:extLst>
                <a:ext uri="{FF2B5EF4-FFF2-40B4-BE49-F238E27FC236}">
                  <a16:creationId xmlns:a16="http://schemas.microsoft.com/office/drawing/2014/main" id="{70423C0B-198F-48A6-A3A5-9250272B0A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73" y="7998"/>
              <a:ext cx="258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625BBB9-59CE-4885-8BAB-9FC0CFC721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84" y="4571"/>
              <a:ext cx="347" cy="98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24" name="Line 209">
              <a:extLst>
                <a:ext uri="{FF2B5EF4-FFF2-40B4-BE49-F238E27FC236}">
                  <a16:creationId xmlns:a16="http://schemas.microsoft.com/office/drawing/2014/main" id="{238C480E-B019-46ED-BA7D-347CBE0768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622" y="4053"/>
              <a:ext cx="0" cy="20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Line 210">
              <a:extLst>
                <a:ext uri="{FF2B5EF4-FFF2-40B4-BE49-F238E27FC236}">
                  <a16:creationId xmlns:a16="http://schemas.microsoft.com/office/drawing/2014/main" id="{C75F43A2-6C88-4A00-AD9B-943D445D52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649" y="4055"/>
              <a:ext cx="0" cy="202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Freeform 211">
              <a:extLst>
                <a:ext uri="{FF2B5EF4-FFF2-40B4-BE49-F238E27FC236}">
                  <a16:creationId xmlns:a16="http://schemas.microsoft.com/office/drawing/2014/main" id="{008145AF-236D-461D-A1DF-D60EEA71D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4" y="6178"/>
              <a:ext cx="525" cy="1769"/>
            </a:xfrm>
            <a:custGeom>
              <a:avLst/>
              <a:gdLst>
                <a:gd name="T0" fmla="*/ 232 w 256"/>
                <a:gd name="T1" fmla="*/ 0 h 1223"/>
                <a:gd name="T2" fmla="*/ 217 w 256"/>
                <a:gd name="T3" fmla="*/ 525 h 1223"/>
                <a:gd name="T4" fmla="*/ 0 w 256"/>
                <a:gd name="T5" fmla="*/ 1223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6" h="1223">
                  <a:moveTo>
                    <a:pt x="232" y="0"/>
                  </a:moveTo>
                  <a:cubicBezTo>
                    <a:pt x="230" y="87"/>
                    <a:pt x="256" y="321"/>
                    <a:pt x="217" y="525"/>
                  </a:cubicBezTo>
                  <a:cubicBezTo>
                    <a:pt x="178" y="729"/>
                    <a:pt x="45" y="1078"/>
                    <a:pt x="0" y="1223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27" name="Freeform 212">
              <a:extLst>
                <a:ext uri="{FF2B5EF4-FFF2-40B4-BE49-F238E27FC236}">
                  <a16:creationId xmlns:a16="http://schemas.microsoft.com/office/drawing/2014/main" id="{DD4E5C93-C89D-4C5B-836F-26FAB631A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2" y="6033"/>
              <a:ext cx="4425" cy="303"/>
            </a:xfrm>
            <a:custGeom>
              <a:avLst/>
              <a:gdLst>
                <a:gd name="T0" fmla="*/ 0 w 2160"/>
                <a:gd name="T1" fmla="*/ 30 h 210"/>
                <a:gd name="T2" fmla="*/ 840 w 2160"/>
                <a:gd name="T3" fmla="*/ 30 h 210"/>
                <a:gd name="T4" fmla="*/ 2160 w 2160"/>
                <a:gd name="T5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" h="210">
                  <a:moveTo>
                    <a:pt x="0" y="30"/>
                  </a:moveTo>
                  <a:cubicBezTo>
                    <a:pt x="240" y="15"/>
                    <a:pt x="480" y="0"/>
                    <a:pt x="840" y="30"/>
                  </a:cubicBezTo>
                  <a:cubicBezTo>
                    <a:pt x="1200" y="60"/>
                    <a:pt x="1680" y="135"/>
                    <a:pt x="2160" y="21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28" name="Freeform 213">
              <a:extLst>
                <a:ext uri="{FF2B5EF4-FFF2-40B4-BE49-F238E27FC236}">
                  <a16:creationId xmlns:a16="http://schemas.microsoft.com/office/drawing/2014/main" id="{FC348FF0-2A89-40EC-9439-F12986895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2" y="5022"/>
              <a:ext cx="4425" cy="1228"/>
            </a:xfrm>
            <a:custGeom>
              <a:avLst/>
              <a:gdLst>
                <a:gd name="T0" fmla="*/ 0 w 2160"/>
                <a:gd name="T1" fmla="*/ 840 h 1020"/>
                <a:gd name="T2" fmla="*/ 720 w 2160"/>
                <a:gd name="T3" fmla="*/ 300 h 1020"/>
                <a:gd name="T4" fmla="*/ 1680 w 2160"/>
                <a:gd name="T5" fmla="*/ 120 h 1020"/>
                <a:gd name="T6" fmla="*/ 2160 w 2160"/>
                <a:gd name="T7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" h="1020">
                  <a:moveTo>
                    <a:pt x="0" y="840"/>
                  </a:moveTo>
                  <a:cubicBezTo>
                    <a:pt x="220" y="630"/>
                    <a:pt x="440" y="420"/>
                    <a:pt x="720" y="300"/>
                  </a:cubicBezTo>
                  <a:cubicBezTo>
                    <a:pt x="1000" y="180"/>
                    <a:pt x="1440" y="0"/>
                    <a:pt x="1680" y="120"/>
                  </a:cubicBezTo>
                  <a:cubicBezTo>
                    <a:pt x="1920" y="240"/>
                    <a:pt x="2040" y="630"/>
                    <a:pt x="2160" y="102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29" name="Freeform 214">
              <a:extLst>
                <a:ext uri="{FF2B5EF4-FFF2-40B4-BE49-F238E27FC236}">
                  <a16:creationId xmlns:a16="http://schemas.microsoft.com/office/drawing/2014/main" id="{5ABB3966-BA9E-4083-9300-948CD283B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8" y="6118"/>
              <a:ext cx="1901" cy="1823"/>
            </a:xfrm>
            <a:custGeom>
              <a:avLst/>
              <a:gdLst>
                <a:gd name="T0" fmla="*/ 88 w 928"/>
                <a:gd name="T1" fmla="*/ 0 h 1260"/>
                <a:gd name="T2" fmla="*/ 140 w 928"/>
                <a:gd name="T3" fmla="*/ 667 h 1260"/>
                <a:gd name="T4" fmla="*/ 928 w 928"/>
                <a:gd name="T5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8" h="1260">
                  <a:moveTo>
                    <a:pt x="88" y="0"/>
                  </a:moveTo>
                  <a:cubicBezTo>
                    <a:pt x="97" y="111"/>
                    <a:pt x="0" y="457"/>
                    <a:pt x="140" y="667"/>
                  </a:cubicBezTo>
                  <a:cubicBezTo>
                    <a:pt x="280" y="877"/>
                    <a:pt x="764" y="1137"/>
                    <a:pt x="928" y="126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0" name="Freeform 215">
              <a:extLst>
                <a:ext uri="{FF2B5EF4-FFF2-40B4-BE49-F238E27FC236}">
                  <a16:creationId xmlns:a16="http://schemas.microsoft.com/office/drawing/2014/main" id="{07B71DCF-343D-4E47-A3CC-1B526A55A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6" y="6344"/>
              <a:ext cx="2705" cy="1563"/>
            </a:xfrm>
            <a:custGeom>
              <a:avLst/>
              <a:gdLst>
                <a:gd name="T0" fmla="*/ 0 w 1320"/>
                <a:gd name="T1" fmla="*/ 1080 h 1080"/>
                <a:gd name="T2" fmla="*/ 840 w 1320"/>
                <a:gd name="T3" fmla="*/ 900 h 1080"/>
                <a:gd name="T4" fmla="*/ 1320 w 1320"/>
                <a:gd name="T5" fmla="*/ 0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0" h="1080">
                  <a:moveTo>
                    <a:pt x="0" y="1080"/>
                  </a:moveTo>
                  <a:cubicBezTo>
                    <a:pt x="310" y="1080"/>
                    <a:pt x="620" y="1080"/>
                    <a:pt x="840" y="900"/>
                  </a:cubicBezTo>
                  <a:cubicBezTo>
                    <a:pt x="1060" y="720"/>
                    <a:pt x="1190" y="360"/>
                    <a:pt x="132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81EC3D-4EC4-4556-BBEE-6C35FB561F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5269" y="6592"/>
              <a:ext cx="626" cy="761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32" name="Line 217">
              <a:extLst>
                <a:ext uri="{FF2B5EF4-FFF2-40B4-BE49-F238E27FC236}">
                  <a16:creationId xmlns:a16="http://schemas.microsoft.com/office/drawing/2014/main" id="{4C7DACDD-A3E0-461C-95EF-8292C0E2DEC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5242" y="7677"/>
              <a:ext cx="6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Line 218">
              <a:extLst>
                <a:ext uri="{FF2B5EF4-FFF2-40B4-BE49-F238E27FC236}">
                  <a16:creationId xmlns:a16="http://schemas.microsoft.com/office/drawing/2014/main" id="{2861293A-A736-4848-BC57-EBE3942E62F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5242" y="6326"/>
              <a:ext cx="6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AutoShape 219">
              <a:extLst>
                <a:ext uri="{FF2B5EF4-FFF2-40B4-BE49-F238E27FC236}">
                  <a16:creationId xmlns:a16="http://schemas.microsoft.com/office/drawing/2014/main" id="{0922C628-2496-4300-BE03-BB97D8F650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77" y="6772"/>
              <a:ext cx="0" cy="403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B3AE23D0-F64E-4B20-91F3-93E29A7B4332}"/>
              </a:ext>
            </a:extLst>
          </p:cNvPr>
          <p:cNvSpPr/>
          <p:nvPr/>
        </p:nvSpPr>
        <p:spPr>
          <a:xfrm>
            <a:off x="994423" y="1009710"/>
            <a:ext cx="478508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Circuit of figure 2(a) also has the same topology as figures 1(a) and 1(b).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C988658-AD92-4FCF-B4A8-BF108FA9701E}"/>
              </a:ext>
            </a:extLst>
          </p:cNvPr>
          <p:cNvSpPr/>
          <p:nvPr/>
        </p:nvSpPr>
        <p:spPr>
          <a:xfrm>
            <a:off x="8867195" y="3101870"/>
            <a:ext cx="12186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Figure 2</a:t>
            </a:r>
            <a:endParaRPr lang="en-GB" sz="2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C371F61-36C9-4941-953F-63680D201E16}"/>
              </a:ext>
            </a:extLst>
          </p:cNvPr>
          <p:cNvSpPr/>
          <p:nvPr/>
        </p:nvSpPr>
        <p:spPr>
          <a:xfrm>
            <a:off x="1068568" y="2384385"/>
            <a:ext cx="48615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Figure 2(b) shows structure corresponding to all 3 circuits.</a:t>
            </a:r>
            <a:endParaRPr lang="en-GB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63AF51-A728-42AC-93E0-C2252A214EBD}"/>
              </a:ext>
            </a:extLst>
          </p:cNvPr>
          <p:cNvSpPr/>
          <p:nvPr/>
        </p:nvSpPr>
        <p:spPr>
          <a:xfrm>
            <a:off x="1109169" y="3300392"/>
            <a:ext cx="8318713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Does not indicate any of the elements in the networks.  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Known as the graph of the network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– Has all the nodes of the original network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 obtaining the graph, 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SzPts val="3600"/>
              <a:buFont typeface="Symbol" panose="05050102010706020507" pitchFamily="18" charset="2"/>
              <a:buChar char=""/>
            </a:pPr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each element of the network is represented by a line 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SzPts val="3600"/>
              <a:buFont typeface="Symbol" panose="05050102010706020507" pitchFamily="18" charset="2"/>
              <a:buChar char=""/>
            </a:pPr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each voltage source by a short-circuit 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and each current source by an open circuit.</a:t>
            </a:r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02045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Tree of a Network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A9BA78DF-BC68-4027-9797-A3F38CA08310}"/>
              </a:ext>
            </a:extLst>
          </p:cNvPr>
          <p:cNvGrpSpPr>
            <a:grpSpLocks/>
          </p:cNvGrpSpPr>
          <p:nvPr/>
        </p:nvGrpSpPr>
        <p:grpSpPr bwMode="auto">
          <a:xfrm>
            <a:off x="2984500" y="1307788"/>
            <a:ext cx="1920240" cy="2011680"/>
            <a:chOff x="1793" y="14738"/>
            <a:chExt cx="1185" cy="1176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8B8310D7-2F29-48BE-AE9D-3F7CD5985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8" y="15194"/>
              <a:ext cx="0" cy="72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7B81B31B-E927-4531-9CAC-3983998D77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8" y="15014"/>
              <a:ext cx="720" cy="18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87B88E18-189B-445E-AFA8-C983DDB6C5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98" y="14834"/>
              <a:ext cx="360" cy="36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BF65A0A7-C6CE-4534-8E34-091C809322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8" y="14738"/>
              <a:ext cx="240" cy="36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5A13190B-0B5B-46ED-B82B-12E18BE30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8" y="14903"/>
              <a:ext cx="0" cy="18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EE05A71C-C980-4E42-8375-AA76C78911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38" y="14948"/>
              <a:ext cx="360" cy="18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06280C78-B433-409E-A724-C656AA3643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8" y="14768"/>
              <a:ext cx="0" cy="36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BCE568B8-8057-47B4-B97B-3FB9A22C90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8" y="14738"/>
              <a:ext cx="120" cy="18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56C07F2B-E617-459D-A8BA-CD8A3CC6A6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8" y="14993"/>
              <a:ext cx="120" cy="18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81AE7267-1D6F-4261-A9EA-0E94CFA2AB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8" y="14768"/>
              <a:ext cx="150" cy="2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F9B765A9-02AA-4F8E-A0AA-1749C67F4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9" y="15128"/>
              <a:ext cx="338" cy="4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AE1D1C37-43FE-4736-8B35-DA1AE28A51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6" y="14834"/>
              <a:ext cx="37" cy="249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C74C5DE8-24FE-4F3F-92F0-A2F0DBA70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0" y="14903"/>
              <a:ext cx="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E00CB8E2-7612-4C35-A26E-C24F0F39E7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26" y="14738"/>
              <a:ext cx="0" cy="21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D2EB356D-881E-4386-8ADF-17E8B82DDA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93" y="15014"/>
              <a:ext cx="18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053E48DB-5565-4DD6-923A-675222AD87D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DFFFF"/>
              </a:clrFrom>
              <a:clrTo>
                <a:srgbClr val="C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8682" y="634543"/>
            <a:ext cx="2352381" cy="2923809"/>
          </a:xfrm>
          <a:prstGeom prst="rect">
            <a:avLst/>
          </a:prstGeom>
        </p:spPr>
      </p:pic>
      <p:grpSp>
        <p:nvGrpSpPr>
          <p:cNvPr id="21" name="Group 18">
            <a:extLst>
              <a:ext uri="{FF2B5EF4-FFF2-40B4-BE49-F238E27FC236}">
                <a16:creationId xmlns:a16="http://schemas.microsoft.com/office/drawing/2014/main" id="{A947D454-9B5C-4AD6-BDFD-81CCB688356F}"/>
              </a:ext>
            </a:extLst>
          </p:cNvPr>
          <p:cNvGrpSpPr>
            <a:grpSpLocks/>
          </p:cNvGrpSpPr>
          <p:nvPr/>
        </p:nvGrpSpPr>
        <p:grpSpPr bwMode="auto">
          <a:xfrm>
            <a:off x="5736104" y="1283132"/>
            <a:ext cx="2209800" cy="1982787"/>
            <a:chOff x="5947" y="3702"/>
            <a:chExt cx="3479" cy="3123"/>
          </a:xfrm>
        </p:grpSpPr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5F0D719D-24C7-4A1C-AE91-17A3FAB237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67" y="5082"/>
              <a:ext cx="0" cy="174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DDC987BF-1D8C-4603-9A09-76BD8317C0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67" y="4377"/>
              <a:ext cx="1659" cy="70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8D56F57C-32E8-4228-AC0C-35C70CC301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29" y="4414"/>
              <a:ext cx="397" cy="108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50A6C5F4-2F8C-40F3-9DE8-7FD042C540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220" y="4922"/>
              <a:ext cx="809" cy="57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C044E7F9-E559-4331-A277-2173B25200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12" y="4210"/>
              <a:ext cx="1448" cy="87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FB63B596-9EA4-41DE-84C3-82ABC72A4C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47" y="4595"/>
              <a:ext cx="917" cy="5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334705AA-A084-45B1-B997-3A3D109F5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86" y="3702"/>
              <a:ext cx="7" cy="111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32432CF0-C889-4B15-9389-880739B998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3" y="3702"/>
              <a:ext cx="772" cy="27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CAFAFB2B-73C5-4B34-A7D9-236D5C7A6B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6" y="3978"/>
              <a:ext cx="811" cy="43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31" name="Group 28">
            <a:extLst>
              <a:ext uri="{FF2B5EF4-FFF2-40B4-BE49-F238E27FC236}">
                <a16:creationId xmlns:a16="http://schemas.microsoft.com/office/drawing/2014/main" id="{1F2B334C-E359-4608-B41F-74242AAA4F45}"/>
              </a:ext>
            </a:extLst>
          </p:cNvPr>
          <p:cNvGrpSpPr>
            <a:grpSpLocks/>
          </p:cNvGrpSpPr>
          <p:nvPr/>
        </p:nvGrpSpPr>
        <p:grpSpPr bwMode="auto">
          <a:xfrm>
            <a:off x="8698364" y="1159028"/>
            <a:ext cx="2489200" cy="2103438"/>
            <a:chOff x="11752" y="3702"/>
            <a:chExt cx="3920" cy="3312"/>
          </a:xfrm>
        </p:grpSpPr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E4D432E4-B249-425E-8831-47D30B009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72" y="5082"/>
              <a:ext cx="0" cy="193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86C1C602-3468-4804-B40E-295445BA06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72" y="3978"/>
              <a:ext cx="1753" cy="110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87100894-18B6-4BB2-839E-69D4A9BF9F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864" y="4051"/>
              <a:ext cx="1208" cy="98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5D871C0D-DFD8-4A84-A67A-AAFBC43F94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6" y="3702"/>
              <a:ext cx="53" cy="89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DF3172AE-5C8F-4068-8FB6-1F590F63A1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752" y="4595"/>
              <a:ext cx="1071" cy="25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8407E939-0D6C-40CE-B8BB-45F4A18E00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77" y="3978"/>
              <a:ext cx="366" cy="94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5A19433B-108E-4B85-9755-6D3A69C0FD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832" y="3702"/>
              <a:ext cx="298" cy="78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EB2B6FDA-47C8-46A2-874D-BFB075923C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49" y="3775"/>
              <a:ext cx="399" cy="78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18E7BD6D-9751-4C4A-B3A4-22A962593D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93" y="4813"/>
              <a:ext cx="944" cy="37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C3D70407-0A5F-4864-BF50-16AB4EE333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18" y="4646"/>
              <a:ext cx="927" cy="112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ACC91BE4-ABD3-4DA4-876F-C9CA877773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372" y="5046"/>
              <a:ext cx="760" cy="41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6241AA67-F446-4C9F-8183-6D67C57E9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88" y="5256"/>
              <a:ext cx="884" cy="37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D434673-5F8C-4A2A-B918-CDB33F413E26}"/>
              </a:ext>
            </a:extLst>
          </p:cNvPr>
          <p:cNvSpPr txBox="1"/>
          <p:nvPr/>
        </p:nvSpPr>
        <p:spPr>
          <a:xfrm>
            <a:off x="4151062" y="2750456"/>
            <a:ext cx="7152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srgbClr val="00B050"/>
                </a:solidFill>
                <a:sym typeface="Wingdings 2" panose="05020102010507070707" pitchFamily="18" charset="2"/>
              </a:rPr>
              <a:t></a:t>
            </a:r>
            <a:endParaRPr lang="en-GB" sz="5400" dirty="0">
              <a:solidFill>
                <a:srgbClr val="00B05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DB60BAD-28CC-4C0C-9CCA-95F06AFD0561}"/>
              </a:ext>
            </a:extLst>
          </p:cNvPr>
          <p:cNvSpPr/>
          <p:nvPr/>
        </p:nvSpPr>
        <p:spPr>
          <a:xfrm>
            <a:off x="7096006" y="2689897"/>
            <a:ext cx="68159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6000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en-GB" sz="6000" dirty="0">
              <a:solidFill>
                <a:srgbClr val="FF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7A07E0-A189-4F2D-AA81-306A70F6791B}"/>
              </a:ext>
            </a:extLst>
          </p:cNvPr>
          <p:cNvSpPr/>
          <p:nvPr/>
        </p:nvSpPr>
        <p:spPr>
          <a:xfrm>
            <a:off x="9680467" y="2689897"/>
            <a:ext cx="68159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6000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en-GB" sz="6000" dirty="0">
              <a:solidFill>
                <a:srgbClr val="FF000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A70CBF-6D6F-4063-9CFC-1AC782B6B478}"/>
              </a:ext>
            </a:extLst>
          </p:cNvPr>
          <p:cNvSpPr/>
          <p:nvPr/>
        </p:nvSpPr>
        <p:spPr>
          <a:xfrm>
            <a:off x="302124" y="3722520"/>
            <a:ext cx="117622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Which line diagrams would represent a normal tree (without leaves) ? and why ?</a:t>
            </a:r>
            <a:endParaRPr lang="en-GB" sz="28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F2F51EB-C997-486D-A7DA-BA58FF54A34D}"/>
              </a:ext>
            </a:extLst>
          </p:cNvPr>
          <p:cNvSpPr/>
          <p:nvPr/>
        </p:nvSpPr>
        <p:spPr>
          <a:xfrm>
            <a:off x="302124" y="4219996"/>
            <a:ext cx="9898650" cy="2046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Only first diagram would fully satisfy the requirements.   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Second diagram has branches closing on itself 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600"/>
              </a:spcBef>
              <a:buFont typeface="Symbol" panose="05050102010706020507" pitchFamily="18" charset="2"/>
              <a:buChar char=""/>
            </a:pPr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only a tree like </a:t>
            </a:r>
            <a:r>
              <a:rPr lang="en-GB" sz="28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Nuga</a:t>
            </a:r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might appear to close on itself 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Third diagram has branches in mid air not joined to main tree.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10579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Properties associated with trees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BD4C03-BD79-46E0-B215-1F6BBBC5F67E}"/>
              </a:ext>
            </a:extLst>
          </p:cNvPr>
          <p:cNvSpPr/>
          <p:nvPr/>
        </p:nvSpPr>
        <p:spPr>
          <a:xfrm>
            <a:off x="365920" y="1134090"/>
            <a:ext cx="11223569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All branches must be part of the tree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There cannot be closed loops formed from branches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There cannot be branches isolated from the tree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Same properties apply in defining a tree of a network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can be many trees associated with a given network.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need not have a trunk coming from the ground and branches coming from the trunk.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 reduced graph of network with some of the links removed so as to leave all the nodes connected together, but not to have          any loop left.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830372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485688"/>
            <a:ext cx="10924085" cy="482745"/>
          </a:xfrm>
        </p:spPr>
        <p:txBody>
          <a:bodyPr>
            <a:normAutofit fontScale="90000"/>
          </a:bodyPr>
          <a:lstStyle/>
          <a:p>
            <a:r>
              <a:rPr lang="en-GB" dirty="0"/>
              <a:t>Possible trees for the Graph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50748C-ED62-43BF-A0BB-6FD3467DEC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19757" y="926087"/>
            <a:ext cx="9144000" cy="1981135"/>
            <a:chOff x="865" y="1441"/>
            <a:chExt cx="18249" cy="3955"/>
          </a:xfrm>
        </p:grpSpPr>
        <p:sp>
          <p:nvSpPr>
            <p:cNvPr id="7" name="Text Box 234">
              <a:extLst>
                <a:ext uri="{FF2B5EF4-FFF2-40B4-BE49-F238E27FC236}">
                  <a16:creationId xmlns:a16="http://schemas.microsoft.com/office/drawing/2014/main" id="{D9BDD81C-3A87-4302-9CB4-87ABC105AA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5" y="4296"/>
              <a:ext cx="5538" cy="1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Graph of Network</a:t>
              </a:r>
              <a:endPara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E6560C4-3FEF-4B26-90BB-E8F593A02A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1441"/>
              <a:ext cx="17710" cy="2692"/>
              <a:chOff x="513" y="8865"/>
              <a:chExt cx="8754" cy="131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0C8B068-6CD0-43FC-9BB5-3008967FA75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513" y="8868"/>
                <a:ext cx="1346" cy="1259"/>
                <a:chOff x="1501" y="6263"/>
                <a:chExt cx="2251" cy="2100"/>
              </a:xfrm>
            </p:grpSpPr>
            <p:sp>
              <p:nvSpPr>
                <p:cNvPr id="24" name="Freeform 237">
                  <a:extLst>
                    <a:ext uri="{FF2B5EF4-FFF2-40B4-BE49-F238E27FC236}">
                      <a16:creationId xmlns:a16="http://schemas.microsoft.com/office/drawing/2014/main" id="{287A36F3-154C-4DDA-A224-17937FE5A1C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429" y="7065"/>
                  <a:ext cx="256" cy="1298"/>
                </a:xfrm>
                <a:custGeom>
                  <a:avLst/>
                  <a:gdLst>
                    <a:gd name="T0" fmla="*/ 232 w 256"/>
                    <a:gd name="T1" fmla="*/ 0 h 1223"/>
                    <a:gd name="T2" fmla="*/ 217 w 256"/>
                    <a:gd name="T3" fmla="*/ 525 h 1223"/>
                    <a:gd name="T4" fmla="*/ 0 w 256"/>
                    <a:gd name="T5" fmla="*/ 1223 h 1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6" h="1223">
                      <a:moveTo>
                        <a:pt x="232" y="0"/>
                      </a:moveTo>
                      <a:cubicBezTo>
                        <a:pt x="230" y="87"/>
                        <a:pt x="256" y="321"/>
                        <a:pt x="217" y="525"/>
                      </a:cubicBezTo>
                      <a:cubicBezTo>
                        <a:pt x="178" y="729"/>
                        <a:pt x="45" y="1078"/>
                        <a:pt x="0" y="1223"/>
                      </a:cubicBez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5" name="Freeform 238">
                  <a:extLst>
                    <a:ext uri="{FF2B5EF4-FFF2-40B4-BE49-F238E27FC236}">
                      <a16:creationId xmlns:a16="http://schemas.microsoft.com/office/drawing/2014/main" id="{2E2A0F0B-3D0C-4138-BE43-B5C041AEBC0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589" y="6263"/>
                  <a:ext cx="2160" cy="1020"/>
                </a:xfrm>
                <a:custGeom>
                  <a:avLst/>
                  <a:gdLst>
                    <a:gd name="T0" fmla="*/ 0 w 2160"/>
                    <a:gd name="T1" fmla="*/ 840 h 1020"/>
                    <a:gd name="T2" fmla="*/ 720 w 2160"/>
                    <a:gd name="T3" fmla="*/ 300 h 1020"/>
                    <a:gd name="T4" fmla="*/ 1680 w 2160"/>
                    <a:gd name="T5" fmla="*/ 120 h 1020"/>
                    <a:gd name="T6" fmla="*/ 2160 w 2160"/>
                    <a:gd name="T7" fmla="*/ 1020 h 10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" h="1020">
                      <a:moveTo>
                        <a:pt x="0" y="840"/>
                      </a:moveTo>
                      <a:cubicBezTo>
                        <a:pt x="220" y="630"/>
                        <a:pt x="440" y="420"/>
                        <a:pt x="720" y="300"/>
                      </a:cubicBezTo>
                      <a:cubicBezTo>
                        <a:pt x="1000" y="180"/>
                        <a:pt x="1440" y="0"/>
                        <a:pt x="1680" y="120"/>
                      </a:cubicBezTo>
                      <a:cubicBezTo>
                        <a:pt x="1920" y="240"/>
                        <a:pt x="2040" y="630"/>
                        <a:pt x="2160" y="1020"/>
                      </a:cubicBez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6" name="Freeform 239">
                  <a:extLst>
                    <a:ext uri="{FF2B5EF4-FFF2-40B4-BE49-F238E27FC236}">
                      <a16:creationId xmlns:a16="http://schemas.microsoft.com/office/drawing/2014/main" id="{4506EEF7-35DB-4602-8B07-0F94D5F3494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501" y="7103"/>
                  <a:ext cx="928" cy="1260"/>
                </a:xfrm>
                <a:custGeom>
                  <a:avLst/>
                  <a:gdLst>
                    <a:gd name="T0" fmla="*/ 88 w 928"/>
                    <a:gd name="T1" fmla="*/ 0 h 1260"/>
                    <a:gd name="T2" fmla="*/ 140 w 928"/>
                    <a:gd name="T3" fmla="*/ 667 h 1260"/>
                    <a:gd name="T4" fmla="*/ 928 w 928"/>
                    <a:gd name="T5" fmla="*/ 1260 h 1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28" h="1260">
                      <a:moveTo>
                        <a:pt x="88" y="0"/>
                      </a:moveTo>
                      <a:cubicBezTo>
                        <a:pt x="97" y="111"/>
                        <a:pt x="0" y="457"/>
                        <a:pt x="140" y="667"/>
                      </a:cubicBezTo>
                      <a:cubicBezTo>
                        <a:pt x="280" y="877"/>
                        <a:pt x="764" y="1137"/>
                        <a:pt x="928" y="1260"/>
                      </a:cubicBez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7" name="Freeform 240">
                  <a:extLst>
                    <a:ext uri="{FF2B5EF4-FFF2-40B4-BE49-F238E27FC236}">
                      <a16:creationId xmlns:a16="http://schemas.microsoft.com/office/drawing/2014/main" id="{DDA678EC-F178-4E0E-A323-AFDDEC1D0DD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429" y="7283"/>
                  <a:ext cx="1320" cy="1080"/>
                </a:xfrm>
                <a:custGeom>
                  <a:avLst/>
                  <a:gdLst>
                    <a:gd name="T0" fmla="*/ 0 w 1320"/>
                    <a:gd name="T1" fmla="*/ 1080 h 1080"/>
                    <a:gd name="T2" fmla="*/ 840 w 1320"/>
                    <a:gd name="T3" fmla="*/ 900 h 1080"/>
                    <a:gd name="T4" fmla="*/ 1320 w 1320"/>
                    <a:gd name="T5" fmla="*/ 0 h 10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20" h="1080">
                      <a:moveTo>
                        <a:pt x="0" y="1080"/>
                      </a:moveTo>
                      <a:cubicBezTo>
                        <a:pt x="310" y="1080"/>
                        <a:pt x="620" y="1080"/>
                        <a:pt x="840" y="900"/>
                      </a:cubicBezTo>
                      <a:cubicBezTo>
                        <a:pt x="1060" y="720"/>
                        <a:pt x="1190" y="360"/>
                        <a:pt x="1320" y="0"/>
                      </a:cubicBez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8" name="Freeform 241">
                  <a:extLst>
                    <a:ext uri="{FF2B5EF4-FFF2-40B4-BE49-F238E27FC236}">
                      <a16:creationId xmlns:a16="http://schemas.microsoft.com/office/drawing/2014/main" id="{E7F80ECB-F51A-4A52-BB6F-F5ADEBD1D61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589" y="7065"/>
                  <a:ext cx="1066" cy="75"/>
                </a:xfrm>
                <a:custGeom>
                  <a:avLst/>
                  <a:gdLst>
                    <a:gd name="T0" fmla="*/ 0 w 1066"/>
                    <a:gd name="T1" fmla="*/ 75 h 75"/>
                    <a:gd name="T2" fmla="*/ 511 w 1066"/>
                    <a:gd name="T3" fmla="*/ 15 h 75"/>
                    <a:gd name="T4" fmla="*/ 1066 w 1066"/>
                    <a:gd name="T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66" h="75">
                      <a:moveTo>
                        <a:pt x="0" y="75"/>
                      </a:moveTo>
                      <a:cubicBezTo>
                        <a:pt x="85" y="65"/>
                        <a:pt x="333" y="27"/>
                        <a:pt x="511" y="15"/>
                      </a:cubicBezTo>
                      <a:cubicBezTo>
                        <a:pt x="689" y="3"/>
                        <a:pt x="951" y="3"/>
                        <a:pt x="1066" y="0"/>
                      </a:cubicBez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 type="oval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9" name="Freeform 242">
                  <a:extLst>
                    <a:ext uri="{FF2B5EF4-FFF2-40B4-BE49-F238E27FC236}">
                      <a16:creationId xmlns:a16="http://schemas.microsoft.com/office/drawing/2014/main" id="{99000D8E-3935-4D63-8D50-C2E464A3B4A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643" y="7059"/>
                  <a:ext cx="1109" cy="224"/>
                </a:xfrm>
                <a:custGeom>
                  <a:avLst/>
                  <a:gdLst>
                    <a:gd name="T0" fmla="*/ 0 w 1109"/>
                    <a:gd name="T1" fmla="*/ 6 h 224"/>
                    <a:gd name="T2" fmla="*/ 645 w 1109"/>
                    <a:gd name="T3" fmla="*/ 36 h 224"/>
                    <a:gd name="T4" fmla="*/ 1109 w 1109"/>
                    <a:gd name="T5" fmla="*/ 22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09" h="224">
                      <a:moveTo>
                        <a:pt x="0" y="6"/>
                      </a:moveTo>
                      <a:cubicBezTo>
                        <a:pt x="107" y="11"/>
                        <a:pt x="460" y="0"/>
                        <a:pt x="645" y="36"/>
                      </a:cubicBezTo>
                      <a:cubicBezTo>
                        <a:pt x="830" y="72"/>
                        <a:pt x="1012" y="185"/>
                        <a:pt x="1109" y="224"/>
                      </a:cubicBez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cxnSp>
            <p:nvCxnSpPr>
              <p:cNvPr id="11" name="Line 243">
                <a:extLst>
                  <a:ext uri="{FF2B5EF4-FFF2-40B4-BE49-F238E27FC236}">
                    <a16:creationId xmlns:a16="http://schemas.microsoft.com/office/drawing/2014/main" id="{30AD26F4-8534-4128-B8E1-CFABA89A879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136" y="9475"/>
                <a:ext cx="513" cy="0"/>
              </a:xfrm>
              <a:prstGeom prst="line">
                <a:avLst/>
              </a:prstGeom>
              <a:noFill/>
              <a:ln w="38100" cmpd="dbl">
                <a:solidFill>
                  <a:srgbClr val="C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2" name="Freeform 244">
                <a:extLst>
                  <a:ext uri="{FF2B5EF4-FFF2-40B4-BE49-F238E27FC236}">
                    <a16:creationId xmlns:a16="http://schemas.microsoft.com/office/drawing/2014/main" id="{89FDA50D-2AA9-47AB-BFBE-05D19A5AFC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01" y="9260"/>
                <a:ext cx="154" cy="778"/>
              </a:xfrm>
              <a:custGeom>
                <a:avLst/>
                <a:gdLst>
                  <a:gd name="T0" fmla="*/ 232 w 256"/>
                  <a:gd name="T1" fmla="*/ 0 h 1223"/>
                  <a:gd name="T2" fmla="*/ 217 w 256"/>
                  <a:gd name="T3" fmla="*/ 525 h 1223"/>
                  <a:gd name="T4" fmla="*/ 0 w 256"/>
                  <a:gd name="T5" fmla="*/ 1223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6" h="1223">
                    <a:moveTo>
                      <a:pt x="232" y="0"/>
                    </a:moveTo>
                    <a:cubicBezTo>
                      <a:pt x="230" y="87"/>
                      <a:pt x="256" y="321"/>
                      <a:pt x="217" y="525"/>
                    </a:cubicBezTo>
                    <a:cubicBezTo>
                      <a:pt x="178" y="729"/>
                      <a:pt x="45" y="1078"/>
                      <a:pt x="0" y="1223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3" name="Freeform 245">
                <a:extLst>
                  <a:ext uri="{FF2B5EF4-FFF2-40B4-BE49-F238E27FC236}">
                    <a16:creationId xmlns:a16="http://schemas.microsoft.com/office/drawing/2014/main" id="{B62D22B7-5C40-4F61-B37B-B943E2BC5A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98" y="9260"/>
                <a:ext cx="639" cy="45"/>
              </a:xfrm>
              <a:custGeom>
                <a:avLst/>
                <a:gdLst>
                  <a:gd name="T0" fmla="*/ 0 w 1066"/>
                  <a:gd name="T1" fmla="*/ 75 h 75"/>
                  <a:gd name="T2" fmla="*/ 511 w 1066"/>
                  <a:gd name="T3" fmla="*/ 15 h 75"/>
                  <a:gd name="T4" fmla="*/ 1066 w 1066"/>
                  <a:gd name="T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66" h="75">
                    <a:moveTo>
                      <a:pt x="0" y="75"/>
                    </a:moveTo>
                    <a:cubicBezTo>
                      <a:pt x="85" y="65"/>
                      <a:pt x="333" y="27"/>
                      <a:pt x="511" y="15"/>
                    </a:cubicBezTo>
                    <a:cubicBezTo>
                      <a:pt x="689" y="3"/>
                      <a:pt x="951" y="3"/>
                      <a:pt x="1066" y="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4" name="Freeform 246">
                <a:extLst>
                  <a:ext uri="{FF2B5EF4-FFF2-40B4-BE49-F238E27FC236}">
                    <a16:creationId xmlns:a16="http://schemas.microsoft.com/office/drawing/2014/main" id="{4E9944AD-F29B-4DAF-BF4B-C535A7FBB4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29" y="9257"/>
                <a:ext cx="665" cy="134"/>
              </a:xfrm>
              <a:custGeom>
                <a:avLst/>
                <a:gdLst>
                  <a:gd name="T0" fmla="*/ 0 w 1109"/>
                  <a:gd name="T1" fmla="*/ 6 h 224"/>
                  <a:gd name="T2" fmla="*/ 645 w 1109"/>
                  <a:gd name="T3" fmla="*/ 36 h 224"/>
                  <a:gd name="T4" fmla="*/ 1109 w 1109"/>
                  <a:gd name="T5" fmla="*/ 22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9" h="224">
                    <a:moveTo>
                      <a:pt x="0" y="6"/>
                    </a:moveTo>
                    <a:cubicBezTo>
                      <a:pt x="107" y="11"/>
                      <a:pt x="460" y="0"/>
                      <a:pt x="645" y="36"/>
                    </a:cubicBezTo>
                    <a:cubicBezTo>
                      <a:pt x="830" y="72"/>
                      <a:pt x="1012" y="185"/>
                      <a:pt x="1109" y="224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5" name="Freeform 247">
                <a:extLst>
                  <a:ext uri="{FF2B5EF4-FFF2-40B4-BE49-F238E27FC236}">
                    <a16:creationId xmlns:a16="http://schemas.microsoft.com/office/drawing/2014/main" id="{C56E43E1-EB25-482F-B891-2EBA41D18F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611" y="8865"/>
                <a:ext cx="1294" cy="611"/>
              </a:xfrm>
              <a:custGeom>
                <a:avLst/>
                <a:gdLst>
                  <a:gd name="T0" fmla="*/ 0 w 2160"/>
                  <a:gd name="T1" fmla="*/ 840 h 1020"/>
                  <a:gd name="T2" fmla="*/ 720 w 2160"/>
                  <a:gd name="T3" fmla="*/ 300 h 1020"/>
                  <a:gd name="T4" fmla="*/ 1680 w 2160"/>
                  <a:gd name="T5" fmla="*/ 120 h 1020"/>
                  <a:gd name="T6" fmla="*/ 2160 w 2160"/>
                  <a:gd name="T7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" h="1020">
                    <a:moveTo>
                      <a:pt x="0" y="840"/>
                    </a:moveTo>
                    <a:cubicBezTo>
                      <a:pt x="220" y="630"/>
                      <a:pt x="440" y="420"/>
                      <a:pt x="720" y="300"/>
                    </a:cubicBezTo>
                    <a:cubicBezTo>
                      <a:pt x="1000" y="180"/>
                      <a:pt x="1440" y="0"/>
                      <a:pt x="1680" y="120"/>
                    </a:cubicBezTo>
                    <a:cubicBezTo>
                      <a:pt x="1920" y="240"/>
                      <a:pt x="2040" y="630"/>
                      <a:pt x="2160" y="102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6" name="Freeform 248">
                <a:extLst>
                  <a:ext uri="{FF2B5EF4-FFF2-40B4-BE49-F238E27FC236}">
                    <a16:creationId xmlns:a16="http://schemas.microsoft.com/office/drawing/2014/main" id="{9E634C90-0914-43EB-9C18-65EBB7530E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11" y="9476"/>
                <a:ext cx="791" cy="647"/>
              </a:xfrm>
              <a:custGeom>
                <a:avLst/>
                <a:gdLst>
                  <a:gd name="T0" fmla="*/ 0 w 1320"/>
                  <a:gd name="T1" fmla="*/ 1080 h 1080"/>
                  <a:gd name="T2" fmla="*/ 840 w 1320"/>
                  <a:gd name="T3" fmla="*/ 900 h 1080"/>
                  <a:gd name="T4" fmla="*/ 1320 w 1320"/>
                  <a:gd name="T5" fmla="*/ 0 h 10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20" h="1080">
                    <a:moveTo>
                      <a:pt x="0" y="1080"/>
                    </a:moveTo>
                    <a:cubicBezTo>
                      <a:pt x="310" y="1080"/>
                      <a:pt x="620" y="1080"/>
                      <a:pt x="840" y="900"/>
                    </a:cubicBezTo>
                    <a:cubicBezTo>
                      <a:pt x="1060" y="720"/>
                      <a:pt x="1190" y="360"/>
                      <a:pt x="1320" y="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7" name="Freeform 249">
                <a:extLst>
                  <a:ext uri="{FF2B5EF4-FFF2-40B4-BE49-F238E27FC236}">
                    <a16:creationId xmlns:a16="http://schemas.microsoft.com/office/drawing/2014/main" id="{8C711E52-C4D1-4621-BCAD-9779C628C7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239" y="9342"/>
                <a:ext cx="665" cy="134"/>
              </a:xfrm>
              <a:custGeom>
                <a:avLst/>
                <a:gdLst>
                  <a:gd name="T0" fmla="*/ 0 w 1109"/>
                  <a:gd name="T1" fmla="*/ 6 h 224"/>
                  <a:gd name="T2" fmla="*/ 645 w 1109"/>
                  <a:gd name="T3" fmla="*/ 36 h 224"/>
                  <a:gd name="T4" fmla="*/ 1109 w 1109"/>
                  <a:gd name="T5" fmla="*/ 22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9" h="224">
                    <a:moveTo>
                      <a:pt x="0" y="6"/>
                    </a:moveTo>
                    <a:cubicBezTo>
                      <a:pt x="107" y="11"/>
                      <a:pt x="460" y="0"/>
                      <a:pt x="645" y="36"/>
                    </a:cubicBezTo>
                    <a:cubicBezTo>
                      <a:pt x="830" y="72"/>
                      <a:pt x="1012" y="185"/>
                      <a:pt x="1109" y="224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8" name="Freeform 250">
                <a:extLst>
                  <a:ext uri="{FF2B5EF4-FFF2-40B4-BE49-F238E27FC236}">
                    <a16:creationId xmlns:a16="http://schemas.microsoft.com/office/drawing/2014/main" id="{60EC2769-8D19-427A-9BAC-6A4F358A8C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65" y="9425"/>
                <a:ext cx="556" cy="755"/>
              </a:xfrm>
              <a:custGeom>
                <a:avLst/>
                <a:gdLst>
                  <a:gd name="T0" fmla="*/ 88 w 928"/>
                  <a:gd name="T1" fmla="*/ 0 h 1260"/>
                  <a:gd name="T2" fmla="*/ 140 w 928"/>
                  <a:gd name="T3" fmla="*/ 667 h 1260"/>
                  <a:gd name="T4" fmla="*/ 928 w 928"/>
                  <a:gd name="T5" fmla="*/ 1260 h 1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8" h="1260">
                    <a:moveTo>
                      <a:pt x="88" y="0"/>
                    </a:moveTo>
                    <a:cubicBezTo>
                      <a:pt x="97" y="111"/>
                      <a:pt x="0" y="457"/>
                      <a:pt x="140" y="667"/>
                    </a:cubicBezTo>
                    <a:cubicBezTo>
                      <a:pt x="280" y="877"/>
                      <a:pt x="764" y="1137"/>
                      <a:pt x="928" y="126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9" name="Freeform 251">
                <a:extLst>
                  <a:ext uri="{FF2B5EF4-FFF2-40B4-BE49-F238E27FC236}">
                    <a16:creationId xmlns:a16="http://schemas.microsoft.com/office/drawing/2014/main" id="{547676CF-067C-4F34-AA30-F8FDEFF6F0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21" y="9533"/>
                <a:ext cx="791" cy="647"/>
              </a:xfrm>
              <a:custGeom>
                <a:avLst/>
                <a:gdLst>
                  <a:gd name="T0" fmla="*/ 0 w 1320"/>
                  <a:gd name="T1" fmla="*/ 1080 h 1080"/>
                  <a:gd name="T2" fmla="*/ 840 w 1320"/>
                  <a:gd name="T3" fmla="*/ 900 h 1080"/>
                  <a:gd name="T4" fmla="*/ 1320 w 1320"/>
                  <a:gd name="T5" fmla="*/ 0 h 10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20" h="1080">
                    <a:moveTo>
                      <a:pt x="0" y="1080"/>
                    </a:moveTo>
                    <a:cubicBezTo>
                      <a:pt x="310" y="1080"/>
                      <a:pt x="620" y="1080"/>
                      <a:pt x="840" y="900"/>
                    </a:cubicBezTo>
                    <a:cubicBezTo>
                      <a:pt x="1060" y="720"/>
                      <a:pt x="1190" y="360"/>
                      <a:pt x="1320" y="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0" name="Freeform 252">
                <a:extLst>
                  <a:ext uri="{FF2B5EF4-FFF2-40B4-BE49-F238E27FC236}">
                    <a16:creationId xmlns:a16="http://schemas.microsoft.com/office/drawing/2014/main" id="{B3938D56-3BD4-4C01-98C8-DA546AE086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49" y="9399"/>
                <a:ext cx="665" cy="134"/>
              </a:xfrm>
              <a:custGeom>
                <a:avLst/>
                <a:gdLst>
                  <a:gd name="T0" fmla="*/ 0 w 1109"/>
                  <a:gd name="T1" fmla="*/ 6 h 224"/>
                  <a:gd name="T2" fmla="*/ 645 w 1109"/>
                  <a:gd name="T3" fmla="*/ 36 h 224"/>
                  <a:gd name="T4" fmla="*/ 1109 w 1109"/>
                  <a:gd name="T5" fmla="*/ 22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9" h="224">
                    <a:moveTo>
                      <a:pt x="0" y="6"/>
                    </a:moveTo>
                    <a:cubicBezTo>
                      <a:pt x="107" y="11"/>
                      <a:pt x="460" y="0"/>
                      <a:pt x="645" y="36"/>
                    </a:cubicBezTo>
                    <a:cubicBezTo>
                      <a:pt x="830" y="72"/>
                      <a:pt x="1012" y="185"/>
                      <a:pt x="1109" y="224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1" name="Freeform 253">
                <a:extLst>
                  <a:ext uri="{FF2B5EF4-FFF2-40B4-BE49-F238E27FC236}">
                    <a16:creationId xmlns:a16="http://schemas.microsoft.com/office/drawing/2014/main" id="{8DA40DD9-2C5F-4D9B-9166-ABBF306BE6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918" y="9425"/>
                <a:ext cx="556" cy="755"/>
              </a:xfrm>
              <a:custGeom>
                <a:avLst/>
                <a:gdLst>
                  <a:gd name="T0" fmla="*/ 88 w 928"/>
                  <a:gd name="T1" fmla="*/ 0 h 1260"/>
                  <a:gd name="T2" fmla="*/ 140 w 928"/>
                  <a:gd name="T3" fmla="*/ 667 h 1260"/>
                  <a:gd name="T4" fmla="*/ 928 w 928"/>
                  <a:gd name="T5" fmla="*/ 1260 h 1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8" h="1260">
                    <a:moveTo>
                      <a:pt x="88" y="0"/>
                    </a:moveTo>
                    <a:cubicBezTo>
                      <a:pt x="97" y="111"/>
                      <a:pt x="0" y="457"/>
                      <a:pt x="140" y="667"/>
                    </a:cubicBezTo>
                    <a:cubicBezTo>
                      <a:pt x="280" y="877"/>
                      <a:pt x="764" y="1137"/>
                      <a:pt x="928" y="126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2" name="Freeform 254">
                <a:extLst>
                  <a:ext uri="{FF2B5EF4-FFF2-40B4-BE49-F238E27FC236}">
                    <a16:creationId xmlns:a16="http://schemas.microsoft.com/office/drawing/2014/main" id="{EAB928DD-5185-4673-A81A-2A4CF0569E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971" y="9402"/>
                <a:ext cx="639" cy="45"/>
              </a:xfrm>
              <a:custGeom>
                <a:avLst/>
                <a:gdLst>
                  <a:gd name="T0" fmla="*/ 0 w 1066"/>
                  <a:gd name="T1" fmla="*/ 75 h 75"/>
                  <a:gd name="T2" fmla="*/ 511 w 1066"/>
                  <a:gd name="T3" fmla="*/ 15 h 75"/>
                  <a:gd name="T4" fmla="*/ 1066 w 1066"/>
                  <a:gd name="T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66" h="75">
                    <a:moveTo>
                      <a:pt x="0" y="75"/>
                    </a:moveTo>
                    <a:cubicBezTo>
                      <a:pt x="85" y="65"/>
                      <a:pt x="333" y="27"/>
                      <a:pt x="511" y="15"/>
                    </a:cubicBezTo>
                    <a:cubicBezTo>
                      <a:pt x="689" y="3"/>
                      <a:pt x="951" y="3"/>
                      <a:pt x="1066" y="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3" name="Freeform 255">
                <a:extLst>
                  <a:ext uri="{FF2B5EF4-FFF2-40B4-BE49-F238E27FC236}">
                    <a16:creationId xmlns:a16="http://schemas.microsoft.com/office/drawing/2014/main" id="{5D5F8E1E-339C-4F2B-A043-6F88144EF9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602" y="9399"/>
                <a:ext cx="665" cy="134"/>
              </a:xfrm>
              <a:custGeom>
                <a:avLst/>
                <a:gdLst>
                  <a:gd name="T0" fmla="*/ 0 w 1109"/>
                  <a:gd name="T1" fmla="*/ 6 h 224"/>
                  <a:gd name="T2" fmla="*/ 645 w 1109"/>
                  <a:gd name="T3" fmla="*/ 36 h 224"/>
                  <a:gd name="T4" fmla="*/ 1109 w 1109"/>
                  <a:gd name="T5" fmla="*/ 22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9" h="224">
                    <a:moveTo>
                      <a:pt x="0" y="6"/>
                    </a:moveTo>
                    <a:cubicBezTo>
                      <a:pt x="107" y="11"/>
                      <a:pt x="460" y="0"/>
                      <a:pt x="645" y="36"/>
                    </a:cubicBezTo>
                    <a:cubicBezTo>
                      <a:pt x="830" y="72"/>
                      <a:pt x="1012" y="185"/>
                      <a:pt x="1109" y="224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sp>
          <p:nvSpPr>
            <p:cNvPr id="9" name="Text Box 256">
              <a:extLst>
                <a:ext uri="{FF2B5EF4-FFF2-40B4-BE49-F238E27FC236}">
                  <a16:creationId xmlns:a16="http://schemas.microsoft.com/office/drawing/2014/main" id="{6AFB221E-B9FF-46D1-9B36-5FB220EC30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5" y="4316"/>
              <a:ext cx="8481" cy="8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Some of the possible trees</a:t>
              </a:r>
              <a:endPara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D03B439-EBAE-4E2C-9146-6D0AB8BDB17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05791" y="3486591"/>
            <a:ext cx="6654794" cy="1463040"/>
            <a:chOff x="3774" y="9451"/>
            <a:chExt cx="6401" cy="1323"/>
          </a:xfrm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2D197B01-D50B-42AB-8924-2C77DD3FE11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27" y="9451"/>
              <a:ext cx="1294" cy="611"/>
            </a:xfrm>
            <a:custGeom>
              <a:avLst/>
              <a:gdLst>
                <a:gd name="T0" fmla="*/ 0 w 2160"/>
                <a:gd name="T1" fmla="*/ 840 h 1020"/>
                <a:gd name="T2" fmla="*/ 720 w 2160"/>
                <a:gd name="T3" fmla="*/ 300 h 1020"/>
                <a:gd name="T4" fmla="*/ 1680 w 2160"/>
                <a:gd name="T5" fmla="*/ 120 h 1020"/>
                <a:gd name="T6" fmla="*/ 2160 w 2160"/>
                <a:gd name="T7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" h="1020">
                  <a:moveTo>
                    <a:pt x="0" y="840"/>
                  </a:moveTo>
                  <a:cubicBezTo>
                    <a:pt x="220" y="630"/>
                    <a:pt x="440" y="420"/>
                    <a:pt x="720" y="300"/>
                  </a:cubicBezTo>
                  <a:cubicBezTo>
                    <a:pt x="1000" y="180"/>
                    <a:pt x="1440" y="0"/>
                    <a:pt x="1680" y="120"/>
                  </a:cubicBezTo>
                  <a:cubicBezTo>
                    <a:pt x="1920" y="240"/>
                    <a:pt x="2040" y="630"/>
                    <a:pt x="2160" y="102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E024131-045A-4B92-ABD9-A13D0D827A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74" y="9954"/>
              <a:ext cx="556" cy="755"/>
            </a:xfrm>
            <a:custGeom>
              <a:avLst/>
              <a:gdLst>
                <a:gd name="T0" fmla="*/ 88 w 928"/>
                <a:gd name="T1" fmla="*/ 0 h 1260"/>
                <a:gd name="T2" fmla="*/ 140 w 928"/>
                <a:gd name="T3" fmla="*/ 667 h 1260"/>
                <a:gd name="T4" fmla="*/ 928 w 928"/>
                <a:gd name="T5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8" h="1260">
                  <a:moveTo>
                    <a:pt x="88" y="0"/>
                  </a:moveTo>
                  <a:cubicBezTo>
                    <a:pt x="97" y="111"/>
                    <a:pt x="0" y="457"/>
                    <a:pt x="140" y="667"/>
                  </a:cubicBezTo>
                  <a:cubicBezTo>
                    <a:pt x="280" y="877"/>
                    <a:pt x="764" y="1137"/>
                    <a:pt x="928" y="126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3" name="Freeform 223">
              <a:extLst>
                <a:ext uri="{FF2B5EF4-FFF2-40B4-BE49-F238E27FC236}">
                  <a16:creationId xmlns:a16="http://schemas.microsoft.com/office/drawing/2014/main" id="{84898D15-AF72-4A06-A821-30097AB190B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30" y="10059"/>
              <a:ext cx="791" cy="647"/>
            </a:xfrm>
            <a:custGeom>
              <a:avLst/>
              <a:gdLst>
                <a:gd name="T0" fmla="*/ 0 w 1320"/>
                <a:gd name="T1" fmla="*/ 1080 h 1080"/>
                <a:gd name="T2" fmla="*/ 840 w 1320"/>
                <a:gd name="T3" fmla="*/ 900 h 1080"/>
                <a:gd name="T4" fmla="*/ 1320 w 1320"/>
                <a:gd name="T5" fmla="*/ 0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0" h="1080">
                  <a:moveTo>
                    <a:pt x="0" y="1080"/>
                  </a:moveTo>
                  <a:cubicBezTo>
                    <a:pt x="310" y="1080"/>
                    <a:pt x="620" y="1080"/>
                    <a:pt x="840" y="900"/>
                  </a:cubicBezTo>
                  <a:cubicBezTo>
                    <a:pt x="1060" y="720"/>
                    <a:pt x="1190" y="360"/>
                    <a:pt x="132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F0856E0B-1432-417B-A8B8-2FAE6D257A4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983" y="9992"/>
              <a:ext cx="154" cy="778"/>
            </a:xfrm>
            <a:custGeom>
              <a:avLst/>
              <a:gdLst>
                <a:gd name="T0" fmla="*/ 232 w 256"/>
                <a:gd name="T1" fmla="*/ 0 h 1223"/>
                <a:gd name="T2" fmla="*/ 217 w 256"/>
                <a:gd name="T3" fmla="*/ 525 h 1223"/>
                <a:gd name="T4" fmla="*/ 0 w 256"/>
                <a:gd name="T5" fmla="*/ 1223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6" h="1223">
                  <a:moveTo>
                    <a:pt x="232" y="0"/>
                  </a:moveTo>
                  <a:cubicBezTo>
                    <a:pt x="230" y="87"/>
                    <a:pt x="256" y="321"/>
                    <a:pt x="217" y="525"/>
                  </a:cubicBezTo>
                  <a:cubicBezTo>
                    <a:pt x="178" y="729"/>
                    <a:pt x="45" y="1078"/>
                    <a:pt x="0" y="1223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36B18BF0-40F7-492E-8D72-AC59271CC03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27" y="10015"/>
              <a:ext cx="556" cy="755"/>
            </a:xfrm>
            <a:custGeom>
              <a:avLst/>
              <a:gdLst>
                <a:gd name="T0" fmla="*/ 88 w 928"/>
                <a:gd name="T1" fmla="*/ 0 h 1260"/>
                <a:gd name="T2" fmla="*/ 140 w 928"/>
                <a:gd name="T3" fmla="*/ 667 h 1260"/>
                <a:gd name="T4" fmla="*/ 928 w 928"/>
                <a:gd name="T5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8" h="1260">
                  <a:moveTo>
                    <a:pt x="88" y="0"/>
                  </a:moveTo>
                  <a:cubicBezTo>
                    <a:pt x="97" y="111"/>
                    <a:pt x="0" y="457"/>
                    <a:pt x="140" y="667"/>
                  </a:cubicBezTo>
                  <a:cubicBezTo>
                    <a:pt x="280" y="877"/>
                    <a:pt x="764" y="1137"/>
                    <a:pt x="928" y="126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28BCA2AA-F7B1-4566-A7C9-2064BB889C1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80" y="9992"/>
              <a:ext cx="639" cy="45"/>
            </a:xfrm>
            <a:custGeom>
              <a:avLst/>
              <a:gdLst>
                <a:gd name="T0" fmla="*/ 0 w 1066"/>
                <a:gd name="T1" fmla="*/ 75 h 75"/>
                <a:gd name="T2" fmla="*/ 511 w 1066"/>
                <a:gd name="T3" fmla="*/ 15 h 75"/>
                <a:gd name="T4" fmla="*/ 1066 w 1066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6" h="75">
                  <a:moveTo>
                    <a:pt x="0" y="75"/>
                  </a:moveTo>
                  <a:cubicBezTo>
                    <a:pt x="85" y="65"/>
                    <a:pt x="333" y="27"/>
                    <a:pt x="511" y="15"/>
                  </a:cubicBezTo>
                  <a:cubicBezTo>
                    <a:pt x="689" y="3"/>
                    <a:pt x="951" y="3"/>
                    <a:pt x="1066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F088741-8D34-4062-B42C-13A74AA5CE7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731" y="9935"/>
              <a:ext cx="154" cy="778"/>
            </a:xfrm>
            <a:custGeom>
              <a:avLst/>
              <a:gdLst>
                <a:gd name="T0" fmla="*/ 232 w 256"/>
                <a:gd name="T1" fmla="*/ 0 h 1223"/>
                <a:gd name="T2" fmla="*/ 217 w 256"/>
                <a:gd name="T3" fmla="*/ 525 h 1223"/>
                <a:gd name="T4" fmla="*/ 0 w 256"/>
                <a:gd name="T5" fmla="*/ 1223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6" h="1223">
                  <a:moveTo>
                    <a:pt x="232" y="0"/>
                  </a:moveTo>
                  <a:cubicBezTo>
                    <a:pt x="230" y="87"/>
                    <a:pt x="256" y="321"/>
                    <a:pt x="217" y="525"/>
                  </a:cubicBezTo>
                  <a:cubicBezTo>
                    <a:pt x="178" y="729"/>
                    <a:pt x="45" y="1078"/>
                    <a:pt x="0" y="1223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147811C-8B3F-4AC3-B677-41CE387CF9A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8" y="9455"/>
              <a:ext cx="1294" cy="611"/>
            </a:xfrm>
            <a:custGeom>
              <a:avLst/>
              <a:gdLst>
                <a:gd name="T0" fmla="*/ 0 w 2160"/>
                <a:gd name="T1" fmla="*/ 840 h 1020"/>
                <a:gd name="T2" fmla="*/ 720 w 2160"/>
                <a:gd name="T3" fmla="*/ 300 h 1020"/>
                <a:gd name="T4" fmla="*/ 1680 w 2160"/>
                <a:gd name="T5" fmla="*/ 120 h 1020"/>
                <a:gd name="T6" fmla="*/ 2160 w 2160"/>
                <a:gd name="T7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" h="1020">
                  <a:moveTo>
                    <a:pt x="0" y="840"/>
                  </a:moveTo>
                  <a:cubicBezTo>
                    <a:pt x="220" y="630"/>
                    <a:pt x="440" y="420"/>
                    <a:pt x="720" y="300"/>
                  </a:cubicBezTo>
                  <a:cubicBezTo>
                    <a:pt x="1000" y="180"/>
                    <a:pt x="1440" y="0"/>
                    <a:pt x="1680" y="120"/>
                  </a:cubicBezTo>
                  <a:cubicBezTo>
                    <a:pt x="1920" y="240"/>
                    <a:pt x="2040" y="630"/>
                    <a:pt x="2160" y="102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7B0DFC2A-883C-494D-98C8-CD0BFFE36BA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8" y="9935"/>
              <a:ext cx="639" cy="45"/>
            </a:xfrm>
            <a:custGeom>
              <a:avLst/>
              <a:gdLst>
                <a:gd name="T0" fmla="*/ 0 w 1066"/>
                <a:gd name="T1" fmla="*/ 75 h 75"/>
                <a:gd name="T2" fmla="*/ 511 w 1066"/>
                <a:gd name="T3" fmla="*/ 15 h 75"/>
                <a:gd name="T4" fmla="*/ 1066 w 1066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6" h="75">
                  <a:moveTo>
                    <a:pt x="0" y="75"/>
                  </a:moveTo>
                  <a:cubicBezTo>
                    <a:pt x="85" y="65"/>
                    <a:pt x="333" y="27"/>
                    <a:pt x="511" y="15"/>
                  </a:cubicBezTo>
                  <a:cubicBezTo>
                    <a:pt x="689" y="3"/>
                    <a:pt x="951" y="3"/>
                    <a:pt x="1066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306BA422-A3FD-4D7A-9CBB-7934A9FEFE8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384" y="9996"/>
              <a:ext cx="154" cy="778"/>
            </a:xfrm>
            <a:custGeom>
              <a:avLst/>
              <a:gdLst>
                <a:gd name="T0" fmla="*/ 232 w 256"/>
                <a:gd name="T1" fmla="*/ 0 h 1223"/>
                <a:gd name="T2" fmla="*/ 217 w 256"/>
                <a:gd name="T3" fmla="*/ 525 h 1223"/>
                <a:gd name="T4" fmla="*/ 0 w 256"/>
                <a:gd name="T5" fmla="*/ 1223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6" h="1223">
                  <a:moveTo>
                    <a:pt x="232" y="0"/>
                  </a:moveTo>
                  <a:cubicBezTo>
                    <a:pt x="230" y="87"/>
                    <a:pt x="256" y="321"/>
                    <a:pt x="217" y="525"/>
                  </a:cubicBezTo>
                  <a:cubicBezTo>
                    <a:pt x="178" y="729"/>
                    <a:pt x="45" y="1078"/>
                    <a:pt x="0" y="1223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1AC1AADC-5536-4D4A-B87C-D375F03EB1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881" y="9516"/>
              <a:ext cx="1294" cy="611"/>
            </a:xfrm>
            <a:custGeom>
              <a:avLst/>
              <a:gdLst>
                <a:gd name="T0" fmla="*/ 0 w 2160"/>
                <a:gd name="T1" fmla="*/ 840 h 1020"/>
                <a:gd name="T2" fmla="*/ 720 w 2160"/>
                <a:gd name="T3" fmla="*/ 300 h 1020"/>
                <a:gd name="T4" fmla="*/ 1680 w 2160"/>
                <a:gd name="T5" fmla="*/ 120 h 1020"/>
                <a:gd name="T6" fmla="*/ 2160 w 2160"/>
                <a:gd name="T7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" h="1020">
                  <a:moveTo>
                    <a:pt x="0" y="840"/>
                  </a:moveTo>
                  <a:cubicBezTo>
                    <a:pt x="220" y="630"/>
                    <a:pt x="440" y="420"/>
                    <a:pt x="720" y="300"/>
                  </a:cubicBezTo>
                  <a:cubicBezTo>
                    <a:pt x="1000" y="180"/>
                    <a:pt x="1440" y="0"/>
                    <a:pt x="1680" y="120"/>
                  </a:cubicBezTo>
                  <a:cubicBezTo>
                    <a:pt x="1920" y="240"/>
                    <a:pt x="2040" y="630"/>
                    <a:pt x="2160" y="102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51EEFE2E-2EB9-4542-BBEC-A663FB3A09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384" y="10127"/>
              <a:ext cx="791" cy="647"/>
            </a:xfrm>
            <a:custGeom>
              <a:avLst/>
              <a:gdLst>
                <a:gd name="T0" fmla="*/ 0 w 1320"/>
                <a:gd name="T1" fmla="*/ 1080 h 1080"/>
                <a:gd name="T2" fmla="*/ 840 w 1320"/>
                <a:gd name="T3" fmla="*/ 900 h 1080"/>
                <a:gd name="T4" fmla="*/ 1320 w 1320"/>
                <a:gd name="T5" fmla="*/ 0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0" h="1080">
                  <a:moveTo>
                    <a:pt x="0" y="1080"/>
                  </a:moveTo>
                  <a:cubicBezTo>
                    <a:pt x="310" y="1080"/>
                    <a:pt x="620" y="1080"/>
                    <a:pt x="840" y="900"/>
                  </a:cubicBezTo>
                  <a:cubicBezTo>
                    <a:pt x="1060" y="720"/>
                    <a:pt x="1190" y="360"/>
                    <a:pt x="132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E1DCFAE3-1FC0-426F-A7AE-987C9DAAC322}"/>
              </a:ext>
            </a:extLst>
          </p:cNvPr>
          <p:cNvSpPr/>
          <p:nvPr/>
        </p:nvSpPr>
        <p:spPr>
          <a:xfrm>
            <a:off x="447081" y="2912140"/>
            <a:ext cx="113125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When tree is removed from graph, what remains is called co-tree</a:t>
            </a:r>
            <a:endParaRPr lang="en-GB" sz="32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6CA597C-8E01-4751-985E-C3782402BC22}"/>
              </a:ext>
            </a:extLst>
          </p:cNvPr>
          <p:cNvSpPr/>
          <p:nvPr/>
        </p:nvSpPr>
        <p:spPr>
          <a:xfrm>
            <a:off x="243699" y="5031768"/>
            <a:ext cx="9793436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Co-tree is graph of removed links –compliment of the tree.  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 co-tree may contain closed loops, and disconnected branches.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2189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4">
            <a:extLst>
              <a:ext uri="{FF2B5EF4-FFF2-40B4-BE49-F238E27FC236}">
                <a16:creationId xmlns:a16="http://schemas.microsoft.com/office/drawing/2014/main" id="{C05E42F0-BE0C-499D-8192-6E6C69CCE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081298"/>
            <a:ext cx="1186711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Joining each additional node would require an additional branch.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Analysis of structure of network</a:t>
            </a: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AABC2725-4031-4F9E-9098-A8ED859C3EEB}"/>
              </a:ext>
            </a:extLst>
          </p:cNvPr>
          <p:cNvGrpSpPr>
            <a:grpSpLocks/>
          </p:cNvGrpSpPr>
          <p:nvPr/>
        </p:nvGrpSpPr>
        <p:grpSpPr bwMode="auto">
          <a:xfrm>
            <a:off x="1275908" y="1644869"/>
            <a:ext cx="5929572" cy="576262"/>
            <a:chOff x="3034" y="9448"/>
            <a:chExt cx="8682" cy="908"/>
          </a:xfrm>
        </p:grpSpPr>
        <p:sp>
          <p:nvSpPr>
            <p:cNvPr id="4" name="AutoShape 10">
              <a:extLst>
                <a:ext uri="{FF2B5EF4-FFF2-40B4-BE49-F238E27FC236}">
                  <a16:creationId xmlns:a16="http://schemas.microsoft.com/office/drawing/2014/main" id="{7DC3E6D9-7660-4831-A7F5-CA264F23C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8" y="9880"/>
              <a:ext cx="4009" cy="0"/>
            </a:xfrm>
            <a:prstGeom prst="straightConnector1">
              <a:avLst/>
            </a:prstGeom>
            <a:noFill/>
            <a:ln w="38100">
              <a:solidFill>
                <a:srgbClr val="C00000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" name="Text Box 9">
              <a:extLst>
                <a:ext uri="{FF2B5EF4-FFF2-40B4-BE49-F238E27FC236}">
                  <a16:creationId xmlns:a16="http://schemas.microsoft.com/office/drawing/2014/main" id="{92F40F2A-9F68-4236-AEA6-C5EE8659B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" y="9448"/>
              <a:ext cx="2060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Node 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Text Box 8">
              <a:extLst>
                <a:ext uri="{FF2B5EF4-FFF2-40B4-BE49-F238E27FC236}">
                  <a16:creationId xmlns:a16="http://schemas.microsoft.com/office/drawing/2014/main" id="{3F1820D1-182C-4AE5-9401-5B5BC0119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6" y="9492"/>
              <a:ext cx="2060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Node 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1">
            <a:extLst>
              <a:ext uri="{FF2B5EF4-FFF2-40B4-BE49-F238E27FC236}">
                <a16:creationId xmlns:a16="http://schemas.microsoft.com/office/drawing/2014/main" id="{1D1023CC-B9D8-430B-A970-A0F90AF398DD}"/>
              </a:ext>
            </a:extLst>
          </p:cNvPr>
          <p:cNvGrpSpPr>
            <a:grpSpLocks/>
          </p:cNvGrpSpPr>
          <p:nvPr/>
        </p:nvGrpSpPr>
        <p:grpSpPr bwMode="auto">
          <a:xfrm>
            <a:off x="6067425" y="2703435"/>
            <a:ext cx="5952092" cy="1238250"/>
            <a:chOff x="3432" y="2216"/>
            <a:chExt cx="8682" cy="1949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9019A5B4-3EEB-4E09-9C4C-BE538798B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90" y="2614"/>
              <a:ext cx="4009" cy="0"/>
            </a:xfrm>
            <a:prstGeom prst="straightConnector1">
              <a:avLst/>
            </a:prstGeom>
            <a:noFill/>
            <a:ln w="38100">
              <a:solidFill>
                <a:srgbClr val="C00000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F0DC6FA8-FA20-42FC-A390-0CB2C7BE18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88" y="2614"/>
              <a:ext cx="2211" cy="1196"/>
            </a:xfrm>
            <a:prstGeom prst="straightConnector1">
              <a:avLst/>
            </a:prstGeom>
            <a:noFill/>
            <a:ln w="38100">
              <a:solidFill>
                <a:srgbClr val="C00000"/>
              </a:solidFill>
              <a:prstDash val="dash"/>
              <a:round/>
              <a:headEnd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47A1A370-51D5-4E0B-9D90-0978453D0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2" y="2216"/>
              <a:ext cx="2060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Node 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407AAF7D-63D9-48A3-9E56-D40971912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4" y="2260"/>
              <a:ext cx="2060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Node 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Text Box 2">
              <a:extLst>
                <a:ext uri="{FF2B5EF4-FFF2-40B4-BE49-F238E27FC236}">
                  <a16:creationId xmlns:a16="http://schemas.microsoft.com/office/drawing/2014/main" id="{416F1D8C-DD26-4A36-B048-EA417BC72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2" y="3468"/>
              <a:ext cx="3051" cy="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New Node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3" name="Rectangle 11">
            <a:extLst>
              <a:ext uri="{FF2B5EF4-FFF2-40B4-BE49-F238E27FC236}">
                <a16:creationId xmlns:a16="http://schemas.microsoft.com/office/drawing/2014/main" id="{3D6F340B-D89D-4864-B7FC-0133759D5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62535"/>
            <a:ext cx="11201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single branch is required to join two nodes.  </a:t>
            </a:r>
            <a:endParaRPr kumimoji="0" lang="en-GB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F4145E41-AA50-41FD-B9C6-4B1C143B8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83" y="3522578"/>
            <a:ext cx="118872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Let	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	number of branches in the network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	number of nodes in the network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	number of independent loops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Then, number of branches in tree	=	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 – 1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number of links removed =	 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 – (n – 1)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 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 – n + 1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103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70748"/>
            <a:ext cx="10924085" cy="482745"/>
          </a:xfrm>
        </p:spPr>
        <p:txBody>
          <a:bodyPr>
            <a:normAutofit fontScale="90000"/>
          </a:bodyPr>
          <a:lstStyle/>
          <a:p>
            <a:r>
              <a:rPr lang="en-GB" dirty="0"/>
              <a:t>Formation of Independent Loops</a:t>
            </a:r>
          </a:p>
        </p:txBody>
      </p:sp>
      <p:sp>
        <p:nvSpPr>
          <p:cNvPr id="16" name="Rectangle 40">
            <a:extLst>
              <a:ext uri="{FF2B5EF4-FFF2-40B4-BE49-F238E27FC236}">
                <a16:creationId xmlns:a16="http://schemas.microsoft.com/office/drawing/2014/main" id="{B0E6F277-D4D3-47F6-BB67-3F83B37C7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57" y="1083743"/>
            <a:ext cx="7081285" cy="4099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628650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If any one of removed links is added to the tree, then a new loop is formed.  </a:t>
            </a:r>
            <a:endParaRPr kumimoji="0" lang="en-GB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628650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number of links removed from graph to form the tree is equal to the number of independent loops.</a:t>
            </a:r>
            <a:endParaRPr kumimoji="0" lang="en-GB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" name="Rectangle 48">
            <a:extLst>
              <a:ext uri="{FF2B5EF4-FFF2-40B4-BE49-F238E27FC236}">
                <a16:creationId xmlns:a16="http://schemas.microsoft.com/office/drawing/2014/main" id="{F1AF614C-667D-4750-AF0B-315E6CD3F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41" y="5213449"/>
            <a:ext cx="367853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40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 = b – n + 1</a:t>
            </a:r>
            <a:endParaRPr kumimoji="0" lang="en-GB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B9E25F0-69EF-4227-A1D0-F766D62B3CBC}"/>
              </a:ext>
            </a:extLst>
          </p:cNvPr>
          <p:cNvGrpSpPr/>
          <p:nvPr/>
        </p:nvGrpSpPr>
        <p:grpSpPr>
          <a:xfrm>
            <a:off x="9668554" y="1083743"/>
            <a:ext cx="2020706" cy="1293042"/>
            <a:chOff x="7435716" y="1647041"/>
            <a:chExt cx="2020706" cy="129304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3999EDB-9709-4367-B7DB-4FFEA31248F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58776" y="1647041"/>
              <a:ext cx="1897646" cy="1188720"/>
              <a:chOff x="7558778" y="1328066"/>
              <a:chExt cx="1313754" cy="800880"/>
            </a:xfrm>
          </p:grpSpPr>
          <p:sp>
            <p:nvSpPr>
              <p:cNvPr id="39" name="Freeform 244">
                <a:extLst>
                  <a:ext uri="{FF2B5EF4-FFF2-40B4-BE49-F238E27FC236}">
                    <a16:creationId xmlns:a16="http://schemas.microsoft.com/office/drawing/2014/main" id="{F22B6D8F-E737-4F53-9A6F-E72C1361C6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068669" y="1331142"/>
                <a:ext cx="156110" cy="797804"/>
              </a:xfrm>
              <a:custGeom>
                <a:avLst/>
                <a:gdLst>
                  <a:gd name="T0" fmla="*/ 232 w 256"/>
                  <a:gd name="T1" fmla="*/ 0 h 1223"/>
                  <a:gd name="T2" fmla="*/ 217 w 256"/>
                  <a:gd name="T3" fmla="*/ 525 h 1223"/>
                  <a:gd name="T4" fmla="*/ 0 w 256"/>
                  <a:gd name="T5" fmla="*/ 1223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6" h="1223">
                    <a:moveTo>
                      <a:pt x="232" y="0"/>
                    </a:moveTo>
                    <a:cubicBezTo>
                      <a:pt x="230" y="87"/>
                      <a:pt x="256" y="321"/>
                      <a:pt x="217" y="525"/>
                    </a:cubicBezTo>
                    <a:cubicBezTo>
                      <a:pt x="178" y="729"/>
                      <a:pt x="45" y="1078"/>
                      <a:pt x="0" y="1223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40" name="Freeform 245">
                <a:extLst>
                  <a:ext uri="{FF2B5EF4-FFF2-40B4-BE49-F238E27FC236}">
                    <a16:creationId xmlns:a16="http://schemas.microsoft.com/office/drawing/2014/main" id="{022C07B8-C42A-48ED-8E02-B6B7231ADE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558778" y="1331142"/>
                <a:ext cx="647754" cy="46145"/>
              </a:xfrm>
              <a:custGeom>
                <a:avLst/>
                <a:gdLst>
                  <a:gd name="T0" fmla="*/ 0 w 1066"/>
                  <a:gd name="T1" fmla="*/ 75 h 75"/>
                  <a:gd name="T2" fmla="*/ 511 w 1066"/>
                  <a:gd name="T3" fmla="*/ 15 h 75"/>
                  <a:gd name="T4" fmla="*/ 1066 w 1066"/>
                  <a:gd name="T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66" h="75">
                    <a:moveTo>
                      <a:pt x="0" y="75"/>
                    </a:moveTo>
                    <a:cubicBezTo>
                      <a:pt x="85" y="65"/>
                      <a:pt x="333" y="27"/>
                      <a:pt x="511" y="15"/>
                    </a:cubicBezTo>
                    <a:cubicBezTo>
                      <a:pt x="689" y="3"/>
                      <a:pt x="951" y="3"/>
                      <a:pt x="1066" y="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41" name="Freeform 246">
                <a:extLst>
                  <a:ext uri="{FF2B5EF4-FFF2-40B4-BE49-F238E27FC236}">
                    <a16:creationId xmlns:a16="http://schemas.microsoft.com/office/drawing/2014/main" id="{73FD9059-7BC3-41EE-9EEA-549DB72E0F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198422" y="1328066"/>
                <a:ext cx="674110" cy="137411"/>
              </a:xfrm>
              <a:custGeom>
                <a:avLst/>
                <a:gdLst>
                  <a:gd name="T0" fmla="*/ 0 w 1109"/>
                  <a:gd name="T1" fmla="*/ 6 h 224"/>
                  <a:gd name="T2" fmla="*/ 645 w 1109"/>
                  <a:gd name="T3" fmla="*/ 36 h 224"/>
                  <a:gd name="T4" fmla="*/ 1109 w 1109"/>
                  <a:gd name="T5" fmla="*/ 22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9" h="224">
                    <a:moveTo>
                      <a:pt x="0" y="6"/>
                    </a:moveTo>
                    <a:cubicBezTo>
                      <a:pt x="107" y="11"/>
                      <a:pt x="460" y="0"/>
                      <a:pt x="645" y="36"/>
                    </a:cubicBezTo>
                    <a:cubicBezTo>
                      <a:pt x="830" y="72"/>
                      <a:pt x="1012" y="185"/>
                      <a:pt x="1109" y="224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838FB9FD-FD54-4C0F-B312-AEA71827E71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435716" y="1699550"/>
              <a:ext cx="914400" cy="1240533"/>
            </a:xfrm>
            <a:custGeom>
              <a:avLst/>
              <a:gdLst>
                <a:gd name="T0" fmla="*/ 88 w 928"/>
                <a:gd name="T1" fmla="*/ 0 h 1260"/>
                <a:gd name="T2" fmla="*/ 140 w 928"/>
                <a:gd name="T3" fmla="*/ 667 h 1260"/>
                <a:gd name="T4" fmla="*/ 928 w 928"/>
                <a:gd name="T5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8" h="1260">
                  <a:moveTo>
                    <a:pt x="88" y="0"/>
                  </a:moveTo>
                  <a:cubicBezTo>
                    <a:pt x="97" y="111"/>
                    <a:pt x="0" y="457"/>
                    <a:pt x="140" y="667"/>
                  </a:cubicBezTo>
                  <a:cubicBezTo>
                    <a:pt x="280" y="877"/>
                    <a:pt x="764" y="1137"/>
                    <a:pt x="928" y="126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25125AB-706E-4F20-B738-A9A3A4B27C0E}"/>
                </a:ext>
              </a:extLst>
            </p:cNvPr>
            <p:cNvSpPr/>
            <p:nvPr/>
          </p:nvSpPr>
          <p:spPr>
            <a:xfrm>
              <a:off x="7740463" y="1849995"/>
              <a:ext cx="668685" cy="552963"/>
            </a:xfrm>
            <a:custGeom>
              <a:avLst/>
              <a:gdLst>
                <a:gd name="connsiteX0" fmla="*/ 361546 w 668685"/>
                <a:gd name="connsiteY0" fmla="*/ 552963 h 552963"/>
                <a:gd name="connsiteX1" fmla="*/ 39 w 668685"/>
                <a:gd name="connsiteY1" fmla="*/ 212721 h 552963"/>
                <a:gd name="connsiteX2" fmla="*/ 340281 w 668685"/>
                <a:gd name="connsiteY2" fmla="*/ 70 h 552963"/>
                <a:gd name="connsiteX3" fmla="*/ 659258 w 668685"/>
                <a:gd name="connsiteY3" fmla="*/ 191456 h 552963"/>
                <a:gd name="connsiteX4" fmla="*/ 552932 w 668685"/>
                <a:gd name="connsiteY4" fmla="*/ 382842 h 5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8685" h="552963">
                  <a:moveTo>
                    <a:pt x="361546" y="552963"/>
                  </a:moveTo>
                  <a:cubicBezTo>
                    <a:pt x="182564" y="428916"/>
                    <a:pt x="3583" y="304870"/>
                    <a:pt x="39" y="212721"/>
                  </a:cubicBezTo>
                  <a:cubicBezTo>
                    <a:pt x="-3505" y="120572"/>
                    <a:pt x="230411" y="3614"/>
                    <a:pt x="340281" y="70"/>
                  </a:cubicBezTo>
                  <a:cubicBezTo>
                    <a:pt x="450151" y="-3474"/>
                    <a:pt x="623816" y="127661"/>
                    <a:pt x="659258" y="191456"/>
                  </a:cubicBezTo>
                  <a:cubicBezTo>
                    <a:pt x="694700" y="255251"/>
                    <a:pt x="623816" y="319046"/>
                    <a:pt x="552932" y="382842"/>
                  </a:cubicBezTo>
                </a:path>
              </a:pathLst>
            </a:custGeom>
            <a:noFill/>
            <a:ln w="38100"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6DAA76A-02FA-4E73-81DC-7074949D924E}"/>
              </a:ext>
            </a:extLst>
          </p:cNvPr>
          <p:cNvGrpSpPr/>
          <p:nvPr/>
        </p:nvGrpSpPr>
        <p:grpSpPr>
          <a:xfrm>
            <a:off x="7435716" y="2111229"/>
            <a:ext cx="2020706" cy="2062224"/>
            <a:chOff x="7435716" y="2111229"/>
            <a:chExt cx="2020706" cy="2062224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F7D4CAE-1295-45C4-910F-C283E234ADC6}"/>
                </a:ext>
              </a:extLst>
            </p:cNvPr>
            <p:cNvGrpSpPr/>
            <p:nvPr/>
          </p:nvGrpSpPr>
          <p:grpSpPr>
            <a:xfrm>
              <a:off x="7435716" y="2880411"/>
              <a:ext cx="2020706" cy="1293042"/>
              <a:chOff x="7435716" y="1647041"/>
              <a:chExt cx="2020706" cy="1293042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7569EB7-8062-444E-86E3-818C8A7B2A9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558776" y="1647041"/>
                <a:ext cx="1897646" cy="1188720"/>
                <a:chOff x="7558778" y="1328066"/>
                <a:chExt cx="1313754" cy="800880"/>
              </a:xfrm>
            </p:grpSpPr>
            <p:sp>
              <p:nvSpPr>
                <p:cNvPr id="51" name="Freeform 244">
                  <a:extLst>
                    <a:ext uri="{FF2B5EF4-FFF2-40B4-BE49-F238E27FC236}">
                      <a16:creationId xmlns:a16="http://schemas.microsoft.com/office/drawing/2014/main" id="{8E149CA1-9469-45B9-BA5E-BA986779BCA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068669" y="1331142"/>
                  <a:ext cx="156110" cy="797804"/>
                </a:xfrm>
                <a:custGeom>
                  <a:avLst/>
                  <a:gdLst>
                    <a:gd name="T0" fmla="*/ 232 w 256"/>
                    <a:gd name="T1" fmla="*/ 0 h 1223"/>
                    <a:gd name="T2" fmla="*/ 217 w 256"/>
                    <a:gd name="T3" fmla="*/ 525 h 1223"/>
                    <a:gd name="T4" fmla="*/ 0 w 256"/>
                    <a:gd name="T5" fmla="*/ 1223 h 1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6" h="1223">
                      <a:moveTo>
                        <a:pt x="232" y="0"/>
                      </a:moveTo>
                      <a:cubicBezTo>
                        <a:pt x="230" y="87"/>
                        <a:pt x="256" y="321"/>
                        <a:pt x="217" y="525"/>
                      </a:cubicBezTo>
                      <a:cubicBezTo>
                        <a:pt x="178" y="729"/>
                        <a:pt x="45" y="1078"/>
                        <a:pt x="0" y="1223"/>
                      </a:cubicBez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2" name="Freeform 245">
                  <a:extLst>
                    <a:ext uri="{FF2B5EF4-FFF2-40B4-BE49-F238E27FC236}">
                      <a16:creationId xmlns:a16="http://schemas.microsoft.com/office/drawing/2014/main" id="{C4408EBD-EBCB-41BD-AB81-254CB9C67E0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7558778" y="1331142"/>
                  <a:ext cx="647754" cy="46145"/>
                </a:xfrm>
                <a:custGeom>
                  <a:avLst/>
                  <a:gdLst>
                    <a:gd name="T0" fmla="*/ 0 w 1066"/>
                    <a:gd name="T1" fmla="*/ 75 h 75"/>
                    <a:gd name="T2" fmla="*/ 511 w 1066"/>
                    <a:gd name="T3" fmla="*/ 15 h 75"/>
                    <a:gd name="T4" fmla="*/ 1066 w 1066"/>
                    <a:gd name="T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66" h="75">
                      <a:moveTo>
                        <a:pt x="0" y="75"/>
                      </a:moveTo>
                      <a:cubicBezTo>
                        <a:pt x="85" y="65"/>
                        <a:pt x="333" y="27"/>
                        <a:pt x="511" y="15"/>
                      </a:cubicBezTo>
                      <a:cubicBezTo>
                        <a:pt x="689" y="3"/>
                        <a:pt x="951" y="3"/>
                        <a:pt x="1066" y="0"/>
                      </a:cubicBez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 type="oval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3" name="Freeform 246">
                  <a:extLst>
                    <a:ext uri="{FF2B5EF4-FFF2-40B4-BE49-F238E27FC236}">
                      <a16:creationId xmlns:a16="http://schemas.microsoft.com/office/drawing/2014/main" id="{B129940D-5B72-4841-B833-6189CD80367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198422" y="1328066"/>
                  <a:ext cx="674110" cy="137411"/>
                </a:xfrm>
                <a:custGeom>
                  <a:avLst/>
                  <a:gdLst>
                    <a:gd name="T0" fmla="*/ 0 w 1109"/>
                    <a:gd name="T1" fmla="*/ 6 h 224"/>
                    <a:gd name="T2" fmla="*/ 645 w 1109"/>
                    <a:gd name="T3" fmla="*/ 36 h 224"/>
                    <a:gd name="T4" fmla="*/ 1109 w 1109"/>
                    <a:gd name="T5" fmla="*/ 22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09" h="224">
                      <a:moveTo>
                        <a:pt x="0" y="6"/>
                      </a:moveTo>
                      <a:cubicBezTo>
                        <a:pt x="107" y="11"/>
                        <a:pt x="460" y="0"/>
                        <a:pt x="645" y="36"/>
                      </a:cubicBezTo>
                      <a:cubicBezTo>
                        <a:pt x="830" y="72"/>
                        <a:pt x="1012" y="185"/>
                        <a:pt x="1109" y="224"/>
                      </a:cubicBez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49" name="Freeform 36">
                <a:extLst>
                  <a:ext uri="{FF2B5EF4-FFF2-40B4-BE49-F238E27FC236}">
                    <a16:creationId xmlns:a16="http://schemas.microsoft.com/office/drawing/2014/main" id="{08A62807-1A47-44C6-89D9-FE60366840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35716" y="1699550"/>
                <a:ext cx="914400" cy="1240533"/>
              </a:xfrm>
              <a:custGeom>
                <a:avLst/>
                <a:gdLst>
                  <a:gd name="T0" fmla="*/ 88 w 928"/>
                  <a:gd name="T1" fmla="*/ 0 h 1260"/>
                  <a:gd name="T2" fmla="*/ 140 w 928"/>
                  <a:gd name="T3" fmla="*/ 667 h 1260"/>
                  <a:gd name="T4" fmla="*/ 928 w 928"/>
                  <a:gd name="T5" fmla="*/ 1260 h 1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8" h="1260">
                    <a:moveTo>
                      <a:pt x="88" y="0"/>
                    </a:moveTo>
                    <a:cubicBezTo>
                      <a:pt x="97" y="111"/>
                      <a:pt x="0" y="457"/>
                      <a:pt x="140" y="667"/>
                    </a:cubicBezTo>
                    <a:cubicBezTo>
                      <a:pt x="280" y="877"/>
                      <a:pt x="764" y="1137"/>
                      <a:pt x="928" y="1260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77A5E32-AE07-40D6-8684-3917DD1882FF}"/>
                  </a:ext>
                </a:extLst>
              </p:cNvPr>
              <p:cNvSpPr/>
              <p:nvPr/>
            </p:nvSpPr>
            <p:spPr>
              <a:xfrm>
                <a:off x="7740463" y="1849995"/>
                <a:ext cx="668685" cy="552963"/>
              </a:xfrm>
              <a:custGeom>
                <a:avLst/>
                <a:gdLst>
                  <a:gd name="connsiteX0" fmla="*/ 361546 w 668685"/>
                  <a:gd name="connsiteY0" fmla="*/ 552963 h 552963"/>
                  <a:gd name="connsiteX1" fmla="*/ 39 w 668685"/>
                  <a:gd name="connsiteY1" fmla="*/ 212721 h 552963"/>
                  <a:gd name="connsiteX2" fmla="*/ 340281 w 668685"/>
                  <a:gd name="connsiteY2" fmla="*/ 70 h 552963"/>
                  <a:gd name="connsiteX3" fmla="*/ 659258 w 668685"/>
                  <a:gd name="connsiteY3" fmla="*/ 191456 h 552963"/>
                  <a:gd name="connsiteX4" fmla="*/ 552932 w 668685"/>
                  <a:gd name="connsiteY4" fmla="*/ 382842 h 552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8685" h="552963">
                    <a:moveTo>
                      <a:pt x="361546" y="552963"/>
                    </a:moveTo>
                    <a:cubicBezTo>
                      <a:pt x="182564" y="428916"/>
                      <a:pt x="3583" y="304870"/>
                      <a:pt x="39" y="212721"/>
                    </a:cubicBezTo>
                    <a:cubicBezTo>
                      <a:pt x="-3505" y="120572"/>
                      <a:pt x="230411" y="3614"/>
                      <a:pt x="340281" y="70"/>
                    </a:cubicBezTo>
                    <a:cubicBezTo>
                      <a:pt x="450151" y="-3474"/>
                      <a:pt x="623816" y="127661"/>
                      <a:pt x="659258" y="191456"/>
                    </a:cubicBezTo>
                    <a:cubicBezTo>
                      <a:pt x="694700" y="255251"/>
                      <a:pt x="623816" y="319046"/>
                      <a:pt x="552932" y="382842"/>
                    </a:cubicBezTo>
                  </a:path>
                </a:pathLst>
              </a:custGeom>
              <a:noFill/>
              <a:ln w="38100"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4" name="Freeform 221">
              <a:extLst>
                <a:ext uri="{FF2B5EF4-FFF2-40B4-BE49-F238E27FC236}">
                  <a16:creationId xmlns:a16="http://schemas.microsoft.com/office/drawing/2014/main" id="{5C82987F-B38F-458E-A336-AA39B3373B1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04029" y="2111229"/>
              <a:ext cx="1920240" cy="964434"/>
            </a:xfrm>
            <a:custGeom>
              <a:avLst/>
              <a:gdLst>
                <a:gd name="T0" fmla="*/ 0 w 2160"/>
                <a:gd name="T1" fmla="*/ 840 h 1020"/>
                <a:gd name="T2" fmla="*/ 720 w 2160"/>
                <a:gd name="T3" fmla="*/ 300 h 1020"/>
                <a:gd name="T4" fmla="*/ 1680 w 2160"/>
                <a:gd name="T5" fmla="*/ 120 h 1020"/>
                <a:gd name="T6" fmla="*/ 2160 w 2160"/>
                <a:gd name="T7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" h="1020">
                  <a:moveTo>
                    <a:pt x="0" y="840"/>
                  </a:moveTo>
                  <a:cubicBezTo>
                    <a:pt x="220" y="630"/>
                    <a:pt x="440" y="420"/>
                    <a:pt x="720" y="300"/>
                  </a:cubicBezTo>
                  <a:cubicBezTo>
                    <a:pt x="1000" y="180"/>
                    <a:pt x="1440" y="0"/>
                    <a:pt x="1680" y="120"/>
                  </a:cubicBezTo>
                  <a:cubicBezTo>
                    <a:pt x="1920" y="240"/>
                    <a:pt x="2040" y="630"/>
                    <a:pt x="2160" y="102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5E2A5E6-8B7E-4F09-81A6-1B19F3A1BF0D}"/>
                </a:ext>
              </a:extLst>
            </p:cNvPr>
            <p:cNvSpPr/>
            <p:nvPr/>
          </p:nvSpPr>
          <p:spPr>
            <a:xfrm>
              <a:off x="8167582" y="2360352"/>
              <a:ext cx="912623" cy="382848"/>
            </a:xfrm>
            <a:custGeom>
              <a:avLst/>
              <a:gdLst>
                <a:gd name="connsiteX0" fmla="*/ 529851 w 912623"/>
                <a:gd name="connsiteY0" fmla="*/ 382848 h 382848"/>
                <a:gd name="connsiteX1" fmla="*/ 83283 w 912623"/>
                <a:gd name="connsiteY1" fmla="*/ 319052 h 382848"/>
                <a:gd name="connsiteX2" fmla="*/ 40753 w 912623"/>
                <a:gd name="connsiteY2" fmla="*/ 170197 h 382848"/>
                <a:gd name="connsiteX3" fmla="*/ 529851 w 912623"/>
                <a:gd name="connsiteY3" fmla="*/ 76 h 382848"/>
                <a:gd name="connsiteX4" fmla="*/ 806297 w 912623"/>
                <a:gd name="connsiteY4" fmla="*/ 191462 h 382848"/>
                <a:gd name="connsiteX5" fmla="*/ 912623 w 912623"/>
                <a:gd name="connsiteY5" fmla="*/ 382848 h 38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2623" h="382848">
                  <a:moveTo>
                    <a:pt x="529851" y="382848"/>
                  </a:moveTo>
                  <a:cubicBezTo>
                    <a:pt x="347325" y="368671"/>
                    <a:pt x="164799" y="354494"/>
                    <a:pt x="83283" y="319052"/>
                  </a:cubicBezTo>
                  <a:cubicBezTo>
                    <a:pt x="1767" y="283610"/>
                    <a:pt x="-33675" y="223360"/>
                    <a:pt x="40753" y="170197"/>
                  </a:cubicBezTo>
                  <a:cubicBezTo>
                    <a:pt x="115181" y="117034"/>
                    <a:pt x="402260" y="-3468"/>
                    <a:pt x="529851" y="76"/>
                  </a:cubicBezTo>
                  <a:cubicBezTo>
                    <a:pt x="657442" y="3620"/>
                    <a:pt x="742502" y="127667"/>
                    <a:pt x="806297" y="191462"/>
                  </a:cubicBezTo>
                  <a:cubicBezTo>
                    <a:pt x="870092" y="255257"/>
                    <a:pt x="891357" y="319052"/>
                    <a:pt x="912623" y="382848"/>
                  </a:cubicBezTo>
                </a:path>
              </a:pathLst>
            </a:custGeom>
            <a:noFill/>
            <a:ln w="38100"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21A6979-4986-4F66-9C07-96EB35553FD1}"/>
              </a:ext>
            </a:extLst>
          </p:cNvPr>
          <p:cNvGrpSpPr/>
          <p:nvPr/>
        </p:nvGrpSpPr>
        <p:grpSpPr>
          <a:xfrm>
            <a:off x="9653710" y="2743200"/>
            <a:ext cx="2035550" cy="2062224"/>
            <a:chOff x="9653710" y="2743200"/>
            <a:chExt cx="2035550" cy="2062224"/>
          </a:xfrm>
        </p:grpSpPr>
        <p:sp>
          <p:nvSpPr>
            <p:cNvPr id="56" name="Freeform 223">
              <a:extLst>
                <a:ext uri="{FF2B5EF4-FFF2-40B4-BE49-F238E27FC236}">
                  <a16:creationId xmlns:a16="http://schemas.microsoft.com/office/drawing/2014/main" id="{6C994344-A4E8-4225-A85B-42B43057126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33171" y="3734490"/>
              <a:ext cx="1156089" cy="1005840"/>
            </a:xfrm>
            <a:custGeom>
              <a:avLst/>
              <a:gdLst>
                <a:gd name="T0" fmla="*/ 0 w 1320"/>
                <a:gd name="T1" fmla="*/ 1080 h 1080"/>
                <a:gd name="T2" fmla="*/ 840 w 1320"/>
                <a:gd name="T3" fmla="*/ 900 h 1080"/>
                <a:gd name="T4" fmla="*/ 1320 w 1320"/>
                <a:gd name="T5" fmla="*/ 0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0" h="1080">
                  <a:moveTo>
                    <a:pt x="0" y="1080"/>
                  </a:moveTo>
                  <a:cubicBezTo>
                    <a:pt x="310" y="1080"/>
                    <a:pt x="620" y="1080"/>
                    <a:pt x="840" y="900"/>
                  </a:cubicBezTo>
                  <a:cubicBezTo>
                    <a:pt x="1060" y="720"/>
                    <a:pt x="1190" y="360"/>
                    <a:pt x="1320" y="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AB2D27E-7AD3-46CE-BA5D-5EF18D18C92E}"/>
                </a:ext>
              </a:extLst>
            </p:cNvPr>
            <p:cNvGrpSpPr/>
            <p:nvPr/>
          </p:nvGrpSpPr>
          <p:grpSpPr>
            <a:xfrm>
              <a:off x="9653710" y="2743200"/>
              <a:ext cx="2020706" cy="2062224"/>
              <a:chOff x="7435716" y="2111229"/>
              <a:chExt cx="2020706" cy="2062224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714472D-4FEC-4ACB-BC58-2FB5D02A0C84}"/>
                  </a:ext>
                </a:extLst>
              </p:cNvPr>
              <p:cNvGrpSpPr/>
              <p:nvPr/>
            </p:nvGrpSpPr>
            <p:grpSpPr>
              <a:xfrm>
                <a:off x="7435716" y="2880411"/>
                <a:ext cx="2020706" cy="1293042"/>
                <a:chOff x="7435716" y="1647041"/>
                <a:chExt cx="2020706" cy="1293042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AFCA2B9F-A8AA-4A67-B5F9-C40C941B0B5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558776" y="1647041"/>
                  <a:ext cx="1897646" cy="1188720"/>
                  <a:chOff x="7558778" y="1328066"/>
                  <a:chExt cx="1313754" cy="800880"/>
                </a:xfrm>
              </p:grpSpPr>
              <p:sp>
                <p:nvSpPr>
                  <p:cNvPr id="65" name="Freeform 244">
                    <a:extLst>
                      <a:ext uri="{FF2B5EF4-FFF2-40B4-BE49-F238E27FC236}">
                        <a16:creationId xmlns:a16="http://schemas.microsoft.com/office/drawing/2014/main" id="{FEEE0050-6903-44E1-A8EE-7F3EEBB9B56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068669" y="1331142"/>
                    <a:ext cx="156110" cy="797804"/>
                  </a:xfrm>
                  <a:custGeom>
                    <a:avLst/>
                    <a:gdLst>
                      <a:gd name="T0" fmla="*/ 232 w 256"/>
                      <a:gd name="T1" fmla="*/ 0 h 1223"/>
                      <a:gd name="T2" fmla="*/ 217 w 256"/>
                      <a:gd name="T3" fmla="*/ 525 h 1223"/>
                      <a:gd name="T4" fmla="*/ 0 w 256"/>
                      <a:gd name="T5" fmla="*/ 1223 h 12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56" h="1223">
                        <a:moveTo>
                          <a:pt x="232" y="0"/>
                        </a:moveTo>
                        <a:cubicBezTo>
                          <a:pt x="230" y="87"/>
                          <a:pt x="256" y="321"/>
                          <a:pt x="217" y="525"/>
                        </a:cubicBezTo>
                        <a:cubicBezTo>
                          <a:pt x="178" y="729"/>
                          <a:pt x="45" y="1078"/>
                          <a:pt x="0" y="1223"/>
                        </a:cubicBezTo>
                      </a:path>
                    </a:pathLst>
                  </a:custGeom>
                  <a:noFill/>
                  <a:ln w="38100">
                    <a:solidFill>
                      <a:srgbClr val="C00000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66" name="Freeform 245">
                    <a:extLst>
                      <a:ext uri="{FF2B5EF4-FFF2-40B4-BE49-F238E27FC236}">
                        <a16:creationId xmlns:a16="http://schemas.microsoft.com/office/drawing/2014/main" id="{2BF15279-973C-4C36-BB3C-3A40B11013A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7558778" y="1331142"/>
                    <a:ext cx="647754" cy="46145"/>
                  </a:xfrm>
                  <a:custGeom>
                    <a:avLst/>
                    <a:gdLst>
                      <a:gd name="T0" fmla="*/ 0 w 1066"/>
                      <a:gd name="T1" fmla="*/ 75 h 75"/>
                      <a:gd name="T2" fmla="*/ 511 w 1066"/>
                      <a:gd name="T3" fmla="*/ 15 h 75"/>
                      <a:gd name="T4" fmla="*/ 1066 w 1066"/>
                      <a:gd name="T5" fmla="*/ 0 h 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66" h="75">
                        <a:moveTo>
                          <a:pt x="0" y="75"/>
                        </a:moveTo>
                        <a:cubicBezTo>
                          <a:pt x="85" y="65"/>
                          <a:pt x="333" y="27"/>
                          <a:pt x="511" y="15"/>
                        </a:cubicBezTo>
                        <a:cubicBezTo>
                          <a:pt x="689" y="3"/>
                          <a:pt x="951" y="3"/>
                          <a:pt x="1066" y="0"/>
                        </a:cubicBezTo>
                      </a:path>
                    </a:pathLst>
                  </a:custGeom>
                  <a:noFill/>
                  <a:ln w="38100">
                    <a:solidFill>
                      <a:srgbClr val="C00000"/>
                    </a:solidFill>
                    <a:round/>
                    <a:headEnd type="oval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67" name="Freeform 246">
                    <a:extLst>
                      <a:ext uri="{FF2B5EF4-FFF2-40B4-BE49-F238E27FC236}">
                        <a16:creationId xmlns:a16="http://schemas.microsoft.com/office/drawing/2014/main" id="{9CBA4D41-A56A-4F59-86F2-86583D6EBA9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198422" y="1328066"/>
                    <a:ext cx="674110" cy="137411"/>
                  </a:xfrm>
                  <a:custGeom>
                    <a:avLst/>
                    <a:gdLst>
                      <a:gd name="T0" fmla="*/ 0 w 1109"/>
                      <a:gd name="T1" fmla="*/ 6 h 224"/>
                      <a:gd name="T2" fmla="*/ 645 w 1109"/>
                      <a:gd name="T3" fmla="*/ 36 h 224"/>
                      <a:gd name="T4" fmla="*/ 1109 w 1109"/>
                      <a:gd name="T5" fmla="*/ 224 h 2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109" h="224">
                        <a:moveTo>
                          <a:pt x="0" y="6"/>
                        </a:moveTo>
                        <a:cubicBezTo>
                          <a:pt x="107" y="11"/>
                          <a:pt x="460" y="0"/>
                          <a:pt x="645" y="36"/>
                        </a:cubicBezTo>
                        <a:cubicBezTo>
                          <a:pt x="830" y="72"/>
                          <a:pt x="1012" y="185"/>
                          <a:pt x="1109" y="224"/>
                        </a:cubicBezTo>
                      </a:path>
                    </a:pathLst>
                  </a:custGeom>
                  <a:noFill/>
                  <a:ln w="38100">
                    <a:solidFill>
                      <a:srgbClr val="C00000"/>
                    </a:solidFill>
                    <a:round/>
                    <a:headEnd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</p:grpSp>
            <p:sp>
              <p:nvSpPr>
                <p:cNvPr id="63" name="Freeform 36">
                  <a:extLst>
                    <a:ext uri="{FF2B5EF4-FFF2-40B4-BE49-F238E27FC236}">
                      <a16:creationId xmlns:a16="http://schemas.microsoft.com/office/drawing/2014/main" id="{37D073BC-6DAC-4D84-8EC1-8CEF68C8B59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7435716" y="1699550"/>
                  <a:ext cx="914400" cy="1240533"/>
                </a:xfrm>
                <a:custGeom>
                  <a:avLst/>
                  <a:gdLst>
                    <a:gd name="T0" fmla="*/ 88 w 928"/>
                    <a:gd name="T1" fmla="*/ 0 h 1260"/>
                    <a:gd name="T2" fmla="*/ 140 w 928"/>
                    <a:gd name="T3" fmla="*/ 667 h 1260"/>
                    <a:gd name="T4" fmla="*/ 928 w 928"/>
                    <a:gd name="T5" fmla="*/ 1260 h 1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28" h="1260">
                      <a:moveTo>
                        <a:pt x="88" y="0"/>
                      </a:moveTo>
                      <a:cubicBezTo>
                        <a:pt x="97" y="111"/>
                        <a:pt x="0" y="457"/>
                        <a:pt x="140" y="667"/>
                      </a:cubicBezTo>
                      <a:cubicBezTo>
                        <a:pt x="280" y="877"/>
                        <a:pt x="764" y="1137"/>
                        <a:pt x="928" y="1260"/>
                      </a:cubicBezTo>
                    </a:path>
                  </a:pathLst>
                </a:custGeom>
                <a:noFill/>
                <a:ln w="38100">
                  <a:solidFill>
                    <a:srgbClr val="0070C0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A2C38E24-6B2C-4B97-AD87-14FE24BBEF3E}"/>
                    </a:ext>
                  </a:extLst>
                </p:cNvPr>
                <p:cNvSpPr/>
                <p:nvPr/>
              </p:nvSpPr>
              <p:spPr>
                <a:xfrm>
                  <a:off x="7740463" y="1849995"/>
                  <a:ext cx="668685" cy="552963"/>
                </a:xfrm>
                <a:custGeom>
                  <a:avLst/>
                  <a:gdLst>
                    <a:gd name="connsiteX0" fmla="*/ 361546 w 668685"/>
                    <a:gd name="connsiteY0" fmla="*/ 552963 h 552963"/>
                    <a:gd name="connsiteX1" fmla="*/ 39 w 668685"/>
                    <a:gd name="connsiteY1" fmla="*/ 212721 h 552963"/>
                    <a:gd name="connsiteX2" fmla="*/ 340281 w 668685"/>
                    <a:gd name="connsiteY2" fmla="*/ 70 h 552963"/>
                    <a:gd name="connsiteX3" fmla="*/ 659258 w 668685"/>
                    <a:gd name="connsiteY3" fmla="*/ 191456 h 552963"/>
                    <a:gd name="connsiteX4" fmla="*/ 552932 w 668685"/>
                    <a:gd name="connsiteY4" fmla="*/ 382842 h 552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685" h="552963">
                      <a:moveTo>
                        <a:pt x="361546" y="552963"/>
                      </a:moveTo>
                      <a:cubicBezTo>
                        <a:pt x="182564" y="428916"/>
                        <a:pt x="3583" y="304870"/>
                        <a:pt x="39" y="212721"/>
                      </a:cubicBezTo>
                      <a:cubicBezTo>
                        <a:pt x="-3505" y="120572"/>
                        <a:pt x="230411" y="3614"/>
                        <a:pt x="340281" y="70"/>
                      </a:cubicBezTo>
                      <a:cubicBezTo>
                        <a:pt x="450151" y="-3474"/>
                        <a:pt x="623816" y="127661"/>
                        <a:pt x="659258" y="191456"/>
                      </a:cubicBezTo>
                      <a:cubicBezTo>
                        <a:pt x="694700" y="255251"/>
                        <a:pt x="623816" y="319046"/>
                        <a:pt x="552932" y="382842"/>
                      </a:cubicBezTo>
                    </a:path>
                  </a:pathLst>
                </a:custGeom>
                <a:noFill/>
                <a:ln w="38100">
                  <a:headEnd type="none" w="med" len="med"/>
                  <a:tailEnd type="arrow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60" name="Freeform 221">
                <a:extLst>
                  <a:ext uri="{FF2B5EF4-FFF2-40B4-BE49-F238E27FC236}">
                    <a16:creationId xmlns:a16="http://schemas.microsoft.com/office/drawing/2014/main" id="{1F2A9636-CF65-4F58-8E57-8A5765034C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504029" y="2111229"/>
                <a:ext cx="1920240" cy="964434"/>
              </a:xfrm>
              <a:custGeom>
                <a:avLst/>
                <a:gdLst>
                  <a:gd name="T0" fmla="*/ 0 w 2160"/>
                  <a:gd name="T1" fmla="*/ 840 h 1020"/>
                  <a:gd name="T2" fmla="*/ 720 w 2160"/>
                  <a:gd name="T3" fmla="*/ 300 h 1020"/>
                  <a:gd name="T4" fmla="*/ 1680 w 2160"/>
                  <a:gd name="T5" fmla="*/ 120 h 1020"/>
                  <a:gd name="T6" fmla="*/ 2160 w 2160"/>
                  <a:gd name="T7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" h="1020">
                    <a:moveTo>
                      <a:pt x="0" y="840"/>
                    </a:moveTo>
                    <a:cubicBezTo>
                      <a:pt x="220" y="630"/>
                      <a:pt x="440" y="420"/>
                      <a:pt x="720" y="300"/>
                    </a:cubicBezTo>
                    <a:cubicBezTo>
                      <a:pt x="1000" y="180"/>
                      <a:pt x="1440" y="0"/>
                      <a:pt x="1680" y="120"/>
                    </a:cubicBezTo>
                    <a:cubicBezTo>
                      <a:pt x="1920" y="240"/>
                      <a:pt x="2040" y="630"/>
                      <a:pt x="2160" y="1020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prstDash val="sys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ECD4C1B-983C-40DB-BC8D-010415064F7E}"/>
                  </a:ext>
                </a:extLst>
              </p:cNvPr>
              <p:cNvSpPr/>
              <p:nvPr/>
            </p:nvSpPr>
            <p:spPr>
              <a:xfrm>
                <a:off x="8167582" y="2360352"/>
                <a:ext cx="912623" cy="382848"/>
              </a:xfrm>
              <a:custGeom>
                <a:avLst/>
                <a:gdLst>
                  <a:gd name="connsiteX0" fmla="*/ 529851 w 912623"/>
                  <a:gd name="connsiteY0" fmla="*/ 382848 h 382848"/>
                  <a:gd name="connsiteX1" fmla="*/ 83283 w 912623"/>
                  <a:gd name="connsiteY1" fmla="*/ 319052 h 382848"/>
                  <a:gd name="connsiteX2" fmla="*/ 40753 w 912623"/>
                  <a:gd name="connsiteY2" fmla="*/ 170197 h 382848"/>
                  <a:gd name="connsiteX3" fmla="*/ 529851 w 912623"/>
                  <a:gd name="connsiteY3" fmla="*/ 76 h 382848"/>
                  <a:gd name="connsiteX4" fmla="*/ 806297 w 912623"/>
                  <a:gd name="connsiteY4" fmla="*/ 191462 h 382848"/>
                  <a:gd name="connsiteX5" fmla="*/ 912623 w 912623"/>
                  <a:gd name="connsiteY5" fmla="*/ 382848 h 382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12623" h="382848">
                    <a:moveTo>
                      <a:pt x="529851" y="382848"/>
                    </a:moveTo>
                    <a:cubicBezTo>
                      <a:pt x="347325" y="368671"/>
                      <a:pt x="164799" y="354494"/>
                      <a:pt x="83283" y="319052"/>
                    </a:cubicBezTo>
                    <a:cubicBezTo>
                      <a:pt x="1767" y="283610"/>
                      <a:pt x="-33675" y="223360"/>
                      <a:pt x="40753" y="170197"/>
                    </a:cubicBezTo>
                    <a:cubicBezTo>
                      <a:pt x="115181" y="117034"/>
                      <a:pt x="402260" y="-3468"/>
                      <a:pt x="529851" y="76"/>
                    </a:cubicBezTo>
                    <a:cubicBezTo>
                      <a:pt x="657442" y="3620"/>
                      <a:pt x="742502" y="127667"/>
                      <a:pt x="806297" y="191462"/>
                    </a:cubicBezTo>
                    <a:cubicBezTo>
                      <a:pt x="870092" y="255257"/>
                      <a:pt x="891357" y="319052"/>
                      <a:pt x="912623" y="382848"/>
                    </a:cubicBezTo>
                  </a:path>
                </a:pathLst>
              </a:custGeom>
              <a:noFill/>
              <a:ln w="38100"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76EFF1A-4978-427E-95BC-99A46C1AF4AC}"/>
                </a:ext>
              </a:extLst>
            </p:cNvPr>
            <p:cNvSpPr/>
            <p:nvPr/>
          </p:nvSpPr>
          <p:spPr>
            <a:xfrm>
              <a:off x="10842087" y="3700002"/>
              <a:ext cx="561503" cy="680612"/>
            </a:xfrm>
            <a:custGeom>
              <a:avLst/>
              <a:gdLst>
                <a:gd name="connsiteX0" fmla="*/ 353694 w 656893"/>
                <a:gd name="connsiteY0" fmla="*/ 706542 h 706542"/>
                <a:gd name="connsiteX1" fmla="*/ 13452 w 656893"/>
                <a:gd name="connsiteY1" fmla="*/ 600216 h 706542"/>
                <a:gd name="connsiteX2" fmla="*/ 77247 w 656893"/>
                <a:gd name="connsiteY2" fmla="*/ 302505 h 706542"/>
                <a:gd name="connsiteX3" fmla="*/ 162308 w 656893"/>
                <a:gd name="connsiteY3" fmla="*/ 26058 h 706542"/>
                <a:gd name="connsiteX4" fmla="*/ 460019 w 656893"/>
                <a:gd name="connsiteY4" fmla="*/ 26058 h 706542"/>
                <a:gd name="connsiteX5" fmla="*/ 651405 w 656893"/>
                <a:gd name="connsiteY5" fmla="*/ 153649 h 706542"/>
                <a:gd name="connsiteX6" fmla="*/ 608875 w 656893"/>
                <a:gd name="connsiteY6" fmla="*/ 387565 h 706542"/>
                <a:gd name="connsiteX7" fmla="*/ 587610 w 656893"/>
                <a:gd name="connsiteY7" fmla="*/ 451361 h 706542"/>
                <a:gd name="connsiteX0" fmla="*/ 360859 w 664058"/>
                <a:gd name="connsiteY0" fmla="*/ 684630 h 684630"/>
                <a:gd name="connsiteX1" fmla="*/ 20617 w 664058"/>
                <a:gd name="connsiteY1" fmla="*/ 578304 h 684630"/>
                <a:gd name="connsiteX2" fmla="*/ 84412 w 664058"/>
                <a:gd name="connsiteY2" fmla="*/ 280593 h 684630"/>
                <a:gd name="connsiteX3" fmla="*/ 467184 w 664058"/>
                <a:gd name="connsiteY3" fmla="*/ 4146 h 684630"/>
                <a:gd name="connsiteX4" fmla="*/ 658570 w 664058"/>
                <a:gd name="connsiteY4" fmla="*/ 131737 h 684630"/>
                <a:gd name="connsiteX5" fmla="*/ 616040 w 664058"/>
                <a:gd name="connsiteY5" fmla="*/ 365653 h 684630"/>
                <a:gd name="connsiteX6" fmla="*/ 594775 w 664058"/>
                <a:gd name="connsiteY6" fmla="*/ 429449 h 684630"/>
                <a:gd name="connsiteX0" fmla="*/ 348298 w 651497"/>
                <a:gd name="connsiteY0" fmla="*/ 680612 h 680612"/>
                <a:gd name="connsiteX1" fmla="*/ 8056 w 651497"/>
                <a:gd name="connsiteY1" fmla="*/ 574286 h 680612"/>
                <a:gd name="connsiteX2" fmla="*/ 135647 w 651497"/>
                <a:gd name="connsiteY2" fmla="*/ 148984 h 680612"/>
                <a:gd name="connsiteX3" fmla="*/ 454623 w 651497"/>
                <a:gd name="connsiteY3" fmla="*/ 128 h 680612"/>
                <a:gd name="connsiteX4" fmla="*/ 646009 w 651497"/>
                <a:gd name="connsiteY4" fmla="*/ 127719 h 680612"/>
                <a:gd name="connsiteX5" fmla="*/ 603479 w 651497"/>
                <a:gd name="connsiteY5" fmla="*/ 361635 h 680612"/>
                <a:gd name="connsiteX6" fmla="*/ 582214 w 651497"/>
                <a:gd name="connsiteY6" fmla="*/ 425431 h 680612"/>
                <a:gd name="connsiteX0" fmla="*/ 258304 w 561503"/>
                <a:gd name="connsiteY0" fmla="*/ 680612 h 680612"/>
                <a:gd name="connsiteX1" fmla="*/ 24388 w 561503"/>
                <a:gd name="connsiteY1" fmla="*/ 531756 h 680612"/>
                <a:gd name="connsiteX2" fmla="*/ 45653 w 561503"/>
                <a:gd name="connsiteY2" fmla="*/ 148984 h 680612"/>
                <a:gd name="connsiteX3" fmla="*/ 364629 w 561503"/>
                <a:gd name="connsiteY3" fmla="*/ 128 h 680612"/>
                <a:gd name="connsiteX4" fmla="*/ 556015 w 561503"/>
                <a:gd name="connsiteY4" fmla="*/ 127719 h 680612"/>
                <a:gd name="connsiteX5" fmla="*/ 513485 w 561503"/>
                <a:gd name="connsiteY5" fmla="*/ 361635 h 680612"/>
                <a:gd name="connsiteX6" fmla="*/ 492220 w 561503"/>
                <a:gd name="connsiteY6" fmla="*/ 425431 h 68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1503" h="680612">
                  <a:moveTo>
                    <a:pt x="258304" y="680612"/>
                  </a:moveTo>
                  <a:cubicBezTo>
                    <a:pt x="111220" y="661119"/>
                    <a:pt x="59830" y="620361"/>
                    <a:pt x="24388" y="531756"/>
                  </a:cubicBezTo>
                  <a:cubicBezTo>
                    <a:pt x="-11054" y="443151"/>
                    <a:pt x="-11054" y="237589"/>
                    <a:pt x="45653" y="148984"/>
                  </a:cubicBezTo>
                  <a:cubicBezTo>
                    <a:pt x="102360" y="60379"/>
                    <a:pt x="279569" y="3672"/>
                    <a:pt x="364629" y="128"/>
                  </a:cubicBezTo>
                  <a:cubicBezTo>
                    <a:pt x="449689" y="-3416"/>
                    <a:pt x="531206" y="67468"/>
                    <a:pt x="556015" y="127719"/>
                  </a:cubicBezTo>
                  <a:cubicBezTo>
                    <a:pt x="580824" y="187970"/>
                    <a:pt x="513485" y="361635"/>
                    <a:pt x="513485" y="361635"/>
                  </a:cubicBezTo>
                  <a:cubicBezTo>
                    <a:pt x="502853" y="411254"/>
                    <a:pt x="497536" y="418342"/>
                    <a:pt x="492220" y="425431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205538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271" y="804704"/>
            <a:ext cx="10924085" cy="482745"/>
          </a:xfrm>
        </p:spPr>
        <p:txBody>
          <a:bodyPr>
            <a:noAutofit/>
          </a:bodyPr>
          <a:lstStyle/>
          <a:p>
            <a:r>
              <a:rPr lang="en-GB" altLang="en-US" sz="3600" dirty="0">
                <a:latin typeface="Arial" panose="020B0604020202020204" pitchFamily="34" charset="0"/>
                <a:ea typeface="Times New Roman" panose="02020603050405020304" pitchFamily="18" charset="0"/>
              </a:rPr>
              <a:t>Oriented Graph</a:t>
            </a:r>
            <a:endParaRPr lang="en-GB" sz="3600" dirty="0"/>
          </a:p>
        </p:txBody>
      </p:sp>
      <p:grpSp>
        <p:nvGrpSpPr>
          <p:cNvPr id="17" name="Group 19">
            <a:extLst>
              <a:ext uri="{FF2B5EF4-FFF2-40B4-BE49-F238E27FC236}">
                <a16:creationId xmlns:a16="http://schemas.microsoft.com/office/drawing/2014/main" id="{FFB41997-3A9A-4A67-AE8F-C94C626D4B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19403" y="1053493"/>
            <a:ext cx="3334397" cy="4114800"/>
            <a:chOff x="8657" y="1400"/>
            <a:chExt cx="2024" cy="2526"/>
          </a:xfrm>
        </p:grpSpPr>
        <p:sp>
          <p:nvSpPr>
            <p:cNvPr id="18" name="Text Box 39">
              <a:extLst>
                <a:ext uri="{FF2B5EF4-FFF2-40B4-BE49-F238E27FC236}">
                  <a16:creationId xmlns:a16="http://schemas.microsoft.com/office/drawing/2014/main" id="{7D03B8F3-2368-43AE-AC4F-A01D450F1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7" y="3566"/>
              <a:ext cx="174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Oriented Graph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9" name="Group 32">
              <a:extLst>
                <a:ext uri="{FF2B5EF4-FFF2-40B4-BE49-F238E27FC236}">
                  <a16:creationId xmlns:a16="http://schemas.microsoft.com/office/drawing/2014/main" id="{0AEC5E30-272C-48FF-8590-2211C7865C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657" y="1589"/>
              <a:ext cx="2024" cy="1887"/>
              <a:chOff x="1501" y="6263"/>
              <a:chExt cx="2251" cy="2100"/>
            </a:xfrm>
          </p:grpSpPr>
          <p:sp>
            <p:nvSpPr>
              <p:cNvPr id="32" name="Freeform 38">
                <a:extLst>
                  <a:ext uri="{FF2B5EF4-FFF2-40B4-BE49-F238E27FC236}">
                    <a16:creationId xmlns:a16="http://schemas.microsoft.com/office/drawing/2014/main" id="{1DEE34CB-3A13-49B2-880F-EA44AF530C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29" y="7065"/>
                <a:ext cx="256" cy="1298"/>
              </a:xfrm>
              <a:custGeom>
                <a:avLst/>
                <a:gdLst>
                  <a:gd name="T0" fmla="*/ 232 w 256"/>
                  <a:gd name="T1" fmla="*/ 0 h 1223"/>
                  <a:gd name="T2" fmla="*/ 217 w 256"/>
                  <a:gd name="T3" fmla="*/ 525 h 1223"/>
                  <a:gd name="T4" fmla="*/ 0 w 256"/>
                  <a:gd name="T5" fmla="*/ 1223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6" h="1223">
                    <a:moveTo>
                      <a:pt x="232" y="0"/>
                    </a:moveTo>
                    <a:cubicBezTo>
                      <a:pt x="230" y="87"/>
                      <a:pt x="256" y="321"/>
                      <a:pt x="217" y="525"/>
                    </a:cubicBezTo>
                    <a:cubicBezTo>
                      <a:pt x="178" y="729"/>
                      <a:pt x="45" y="1078"/>
                      <a:pt x="0" y="1223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" name="Freeform 37">
                <a:extLst>
                  <a:ext uri="{FF2B5EF4-FFF2-40B4-BE49-F238E27FC236}">
                    <a16:creationId xmlns:a16="http://schemas.microsoft.com/office/drawing/2014/main" id="{A04BDC03-BC51-4526-921F-990DAE4E6C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89" y="6263"/>
                <a:ext cx="2160" cy="1020"/>
              </a:xfrm>
              <a:custGeom>
                <a:avLst/>
                <a:gdLst>
                  <a:gd name="T0" fmla="*/ 0 w 2160"/>
                  <a:gd name="T1" fmla="*/ 840 h 1020"/>
                  <a:gd name="T2" fmla="*/ 720 w 2160"/>
                  <a:gd name="T3" fmla="*/ 300 h 1020"/>
                  <a:gd name="T4" fmla="*/ 1680 w 2160"/>
                  <a:gd name="T5" fmla="*/ 120 h 1020"/>
                  <a:gd name="T6" fmla="*/ 2160 w 2160"/>
                  <a:gd name="T7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" h="1020">
                    <a:moveTo>
                      <a:pt x="0" y="840"/>
                    </a:moveTo>
                    <a:cubicBezTo>
                      <a:pt x="220" y="630"/>
                      <a:pt x="440" y="420"/>
                      <a:pt x="720" y="300"/>
                    </a:cubicBezTo>
                    <a:cubicBezTo>
                      <a:pt x="1000" y="180"/>
                      <a:pt x="1440" y="0"/>
                      <a:pt x="1680" y="120"/>
                    </a:cubicBezTo>
                    <a:cubicBezTo>
                      <a:pt x="1920" y="240"/>
                      <a:pt x="2040" y="630"/>
                      <a:pt x="2160" y="102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59831BD4-DDFA-4921-B7B0-DB96795175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01" y="7103"/>
                <a:ext cx="928" cy="1260"/>
              </a:xfrm>
              <a:custGeom>
                <a:avLst/>
                <a:gdLst>
                  <a:gd name="T0" fmla="*/ 88 w 928"/>
                  <a:gd name="T1" fmla="*/ 0 h 1260"/>
                  <a:gd name="T2" fmla="*/ 140 w 928"/>
                  <a:gd name="T3" fmla="*/ 667 h 1260"/>
                  <a:gd name="T4" fmla="*/ 928 w 928"/>
                  <a:gd name="T5" fmla="*/ 1260 h 1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8" h="1260">
                    <a:moveTo>
                      <a:pt x="88" y="0"/>
                    </a:moveTo>
                    <a:cubicBezTo>
                      <a:pt x="97" y="111"/>
                      <a:pt x="0" y="457"/>
                      <a:pt x="140" y="667"/>
                    </a:cubicBezTo>
                    <a:cubicBezTo>
                      <a:pt x="280" y="877"/>
                      <a:pt x="764" y="1137"/>
                      <a:pt x="928" y="126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603F9B5F-EC0B-4E2B-8B7B-7F45A2842C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29" y="7283"/>
                <a:ext cx="1320" cy="1080"/>
              </a:xfrm>
              <a:custGeom>
                <a:avLst/>
                <a:gdLst>
                  <a:gd name="T0" fmla="*/ 0 w 1320"/>
                  <a:gd name="T1" fmla="*/ 1080 h 1080"/>
                  <a:gd name="T2" fmla="*/ 840 w 1320"/>
                  <a:gd name="T3" fmla="*/ 900 h 1080"/>
                  <a:gd name="T4" fmla="*/ 1320 w 1320"/>
                  <a:gd name="T5" fmla="*/ 0 h 10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20" h="1080">
                    <a:moveTo>
                      <a:pt x="0" y="1080"/>
                    </a:moveTo>
                    <a:cubicBezTo>
                      <a:pt x="310" y="1080"/>
                      <a:pt x="620" y="1080"/>
                      <a:pt x="840" y="900"/>
                    </a:cubicBezTo>
                    <a:cubicBezTo>
                      <a:pt x="1060" y="720"/>
                      <a:pt x="1190" y="360"/>
                      <a:pt x="1320" y="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" name="Freeform 34">
                <a:extLst>
                  <a:ext uri="{FF2B5EF4-FFF2-40B4-BE49-F238E27FC236}">
                    <a16:creationId xmlns:a16="http://schemas.microsoft.com/office/drawing/2014/main" id="{DBB09F22-1F67-4A97-9E2B-30F2A019B6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89" y="7065"/>
                <a:ext cx="1066" cy="75"/>
              </a:xfrm>
              <a:custGeom>
                <a:avLst/>
                <a:gdLst>
                  <a:gd name="T0" fmla="*/ 0 w 1066"/>
                  <a:gd name="T1" fmla="*/ 75 h 75"/>
                  <a:gd name="T2" fmla="*/ 511 w 1066"/>
                  <a:gd name="T3" fmla="*/ 15 h 75"/>
                  <a:gd name="T4" fmla="*/ 1066 w 1066"/>
                  <a:gd name="T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66" h="75">
                    <a:moveTo>
                      <a:pt x="0" y="75"/>
                    </a:moveTo>
                    <a:cubicBezTo>
                      <a:pt x="85" y="65"/>
                      <a:pt x="333" y="27"/>
                      <a:pt x="511" y="15"/>
                    </a:cubicBezTo>
                    <a:cubicBezTo>
                      <a:pt x="689" y="3"/>
                      <a:pt x="951" y="3"/>
                      <a:pt x="1066" y="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" name="Freeform 33">
                <a:extLst>
                  <a:ext uri="{FF2B5EF4-FFF2-40B4-BE49-F238E27FC236}">
                    <a16:creationId xmlns:a16="http://schemas.microsoft.com/office/drawing/2014/main" id="{9E8494A5-0BAC-4412-BF0B-C210D15F38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43" y="7059"/>
                <a:ext cx="1109" cy="224"/>
              </a:xfrm>
              <a:custGeom>
                <a:avLst/>
                <a:gdLst>
                  <a:gd name="T0" fmla="*/ 0 w 1109"/>
                  <a:gd name="T1" fmla="*/ 6 h 224"/>
                  <a:gd name="T2" fmla="*/ 645 w 1109"/>
                  <a:gd name="T3" fmla="*/ 36 h 224"/>
                  <a:gd name="T4" fmla="*/ 1109 w 1109"/>
                  <a:gd name="T5" fmla="*/ 22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9" h="224">
                    <a:moveTo>
                      <a:pt x="0" y="6"/>
                    </a:moveTo>
                    <a:cubicBezTo>
                      <a:pt x="107" y="11"/>
                      <a:pt x="460" y="0"/>
                      <a:pt x="645" y="36"/>
                    </a:cubicBezTo>
                    <a:cubicBezTo>
                      <a:pt x="830" y="72"/>
                      <a:pt x="1012" y="185"/>
                      <a:pt x="1109" y="224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0" name="Line 31">
              <a:extLst>
                <a:ext uri="{FF2B5EF4-FFF2-40B4-BE49-F238E27FC236}">
                  <a16:creationId xmlns:a16="http://schemas.microsoft.com/office/drawing/2014/main" id="{295E9634-D0C6-4FF3-B072-6C0C60557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91" y="1673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Line 30">
              <a:extLst>
                <a:ext uri="{FF2B5EF4-FFF2-40B4-BE49-F238E27FC236}">
                  <a16:creationId xmlns:a16="http://schemas.microsoft.com/office/drawing/2014/main" id="{4E68B15C-84F2-4B07-BE01-60AC6DCE71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19" y="2330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Line 29">
              <a:extLst>
                <a:ext uri="{FF2B5EF4-FFF2-40B4-BE49-F238E27FC236}">
                  <a16:creationId xmlns:a16="http://schemas.microsoft.com/office/drawing/2014/main" id="{FC624FDA-A87F-4DF7-A2B2-D6D406833C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32" y="2345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Line 28">
              <a:extLst>
                <a:ext uri="{FF2B5EF4-FFF2-40B4-BE49-F238E27FC236}">
                  <a16:creationId xmlns:a16="http://schemas.microsoft.com/office/drawing/2014/main" id="{425E65FA-3B20-447B-AE76-7748027CA1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623" y="2669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1EF08134-014E-4200-9F59-C5D65430F6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 flipH="1">
              <a:off x="8786" y="3014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20202F39-F61B-40E0-9F38-3C664283491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0250" y="3239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E66A8116-18A8-4462-89CC-99B4502ECB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8" y="140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2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37AB1156-77AE-4BC2-823F-D2FE3EABC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07" y="1943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2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ext Box 23">
              <a:extLst>
                <a:ext uri="{FF2B5EF4-FFF2-40B4-BE49-F238E27FC236}">
                  <a16:creationId xmlns:a16="http://schemas.microsoft.com/office/drawing/2014/main" id="{9ABB676A-C941-48A7-B3AF-A42AF7CAD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7" y="1988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2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ext Box 22">
              <a:extLst>
                <a:ext uri="{FF2B5EF4-FFF2-40B4-BE49-F238E27FC236}">
                  <a16:creationId xmlns:a16="http://schemas.microsoft.com/office/drawing/2014/main" id="{15A21EE4-0510-4CED-9531-48F42EA4F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7" y="254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2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Text Box 21">
              <a:extLst>
                <a:ext uri="{FF2B5EF4-FFF2-40B4-BE49-F238E27FC236}">
                  <a16:creationId xmlns:a16="http://schemas.microsoft.com/office/drawing/2014/main" id="{9E65BB08-F70D-4AFA-AE3C-01B8BD9E1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2" y="2939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2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Text Box 20">
              <a:extLst>
                <a:ext uri="{FF2B5EF4-FFF2-40B4-BE49-F238E27FC236}">
                  <a16:creationId xmlns:a16="http://schemas.microsoft.com/office/drawing/2014/main" id="{B6502EF4-624B-4899-B562-48F0F8485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5" y="2711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2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8" name="Rectangle 48">
            <a:extLst>
              <a:ext uri="{FF2B5EF4-FFF2-40B4-BE49-F238E27FC236}">
                <a16:creationId xmlns:a16="http://schemas.microsoft.com/office/drawing/2014/main" id="{F1AF614C-667D-4750-AF0B-315E6CD3F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65" y="1616773"/>
            <a:ext cx="8575860" cy="3772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>
                <a:tab pos="457200" algn="r"/>
                <a:tab pos="2743200" algn="ctr"/>
                <a:tab pos="5486400" algn="r"/>
              </a:tabLst>
            </a:pPr>
            <a:r>
              <a:rPr lang="en-GB" altLang="en-US" sz="3600" dirty="0">
                <a:solidFill>
                  <a:srgbClr val="002060"/>
                </a:solidFill>
                <a:ea typeface="Times New Roman" panose="02020603050405020304" pitchFamily="18" charset="0"/>
              </a:rPr>
              <a:t>Graph of a Network</a:t>
            </a:r>
            <a:endParaRPr kumimoji="0" lang="en-GB" altLang="en-US" sz="36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  <a:buFontTx/>
              <a:buChar char="•"/>
            </a:pPr>
            <a:r>
              <a:rPr lang="en-GB" altLang="en-US" sz="3600" dirty="0">
                <a:solidFill>
                  <a:srgbClr val="002060"/>
                </a:solidFill>
                <a:ea typeface="Times New Roman" panose="02020603050405020304" pitchFamily="18" charset="0"/>
              </a:rPr>
              <a:t>Branches n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umbered with assigned directions to currents. </a:t>
            </a:r>
            <a:endParaRPr kumimoji="0" lang="en-GB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Voltage considered to increase in  direction opposite to flow of current </a:t>
            </a:r>
            <a:endParaRPr kumimoji="0" lang="en-GB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40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Matrix Analysis of Networks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C00FDE-999D-4561-9CCE-918AFAC25CEE}"/>
              </a:ext>
            </a:extLst>
          </p:cNvPr>
          <p:cNvSpPr/>
          <p:nvPr/>
        </p:nvSpPr>
        <p:spPr>
          <a:xfrm>
            <a:off x="429715" y="1092954"/>
            <a:ext cx="10924085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 algn="just">
              <a:spcBef>
                <a:spcPts val="1200"/>
              </a:spcBef>
              <a:spcAft>
                <a:spcPts val="600"/>
              </a:spcAft>
              <a:tabLst>
                <a:tab pos="2743200" algn="ctr"/>
                <a:tab pos="5486400" algn="r"/>
                <a:tab pos="457200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 solve circuit problems, 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5080" algn="just">
              <a:spcAft>
                <a:spcPts val="600"/>
              </a:spcAft>
              <a:tabLst>
                <a:tab pos="2743200" algn="ctr"/>
                <a:tab pos="5486400" algn="r"/>
                <a:tab pos="457200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need to write the equations corresponding to 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5080" lvl="0" indent="-342900" algn="just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2743200" algn="ctr"/>
                <a:tab pos="5486400" algn="r"/>
                <a:tab pos="457200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Ohm’s Law, and 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5080" lvl="0" indent="-342900" algn="just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2743200" algn="ctr"/>
                <a:tab pos="5486400" algn="r"/>
                <a:tab pos="457200" algn="l"/>
              </a:tabLst>
            </a:pPr>
            <a:r>
              <a:rPr lang="en-GB" sz="36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Kirchoff’s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Current Law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5080" lvl="0" indent="-342900" algn="just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2743200" algn="ctr"/>
                <a:tab pos="5486400" algn="r"/>
                <a:tab pos="457200" algn="l"/>
              </a:tabLst>
            </a:pPr>
            <a:r>
              <a:rPr lang="en-GB" sz="36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Kirchoff’s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Voltage Law 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5080" algn="just">
              <a:spcBef>
                <a:spcPts val="1200"/>
              </a:spcBef>
              <a:spcAft>
                <a:spcPts val="600"/>
              </a:spcAft>
              <a:tabLst>
                <a:tab pos="2743200" algn="ctr"/>
                <a:tab pos="5486400" algn="r"/>
                <a:tab pos="457200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Same is true even when there are a large number of branches.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5080" lvl="0" indent="-342900" algn="just">
              <a:spcBef>
                <a:spcPts val="1200"/>
              </a:spcBef>
              <a:spcAft>
                <a:spcPts val="600"/>
              </a:spcAft>
              <a:buFont typeface="Symbol" panose="05050102010706020507" pitchFamily="18" charset="2"/>
              <a:buChar char=""/>
              <a:tabLst>
                <a:tab pos="2743200" algn="ctr"/>
                <a:tab pos="5486400" algn="r"/>
                <a:tab pos="457200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use matrix analysis</a:t>
            </a:r>
            <a:endParaRPr lang="en-GB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639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 err="1"/>
              <a:t>Kirchoff’s</a:t>
            </a:r>
            <a:r>
              <a:rPr lang="en-GB" sz="3600" dirty="0"/>
              <a:t> current Law in matrix form</a:t>
            </a:r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76E61045-C310-42A4-89F8-55A31FD62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717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pSp>
        <p:nvGrpSpPr>
          <p:cNvPr id="4" name="Group 1">
            <a:extLst>
              <a:ext uri="{FF2B5EF4-FFF2-40B4-BE49-F238E27FC236}">
                <a16:creationId xmlns:a16="http://schemas.microsoft.com/office/drawing/2014/main" id="{FCF2F84F-C8F0-471D-AB67-627FDA25EA9F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1419338"/>
            <a:ext cx="6581775" cy="2957512"/>
            <a:chOff x="7356" y="1527"/>
            <a:chExt cx="9115" cy="3891"/>
          </a:xfrm>
        </p:grpSpPr>
        <p:sp>
          <p:nvSpPr>
            <p:cNvPr id="5" name="Line 29">
              <a:extLst>
                <a:ext uri="{FF2B5EF4-FFF2-40B4-BE49-F238E27FC236}">
                  <a16:creationId xmlns:a16="http://schemas.microsoft.com/office/drawing/2014/main" id="{5825EC71-E076-4FB7-A8DB-D08F53826B8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356" y="2524"/>
              <a:ext cx="3133" cy="997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" name="Line 28">
              <a:extLst>
                <a:ext uri="{FF2B5EF4-FFF2-40B4-BE49-F238E27FC236}">
                  <a16:creationId xmlns:a16="http://schemas.microsoft.com/office/drawing/2014/main" id="{8F5052CF-6F8D-4DC7-B479-2F3F689BDE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0527" y="2777"/>
              <a:ext cx="400" cy="739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56ACEB1D-DEAC-4823-A700-DDDD086AFA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9350" y="3521"/>
              <a:ext cx="1139" cy="171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Line 26">
              <a:extLst>
                <a:ext uri="{FF2B5EF4-FFF2-40B4-BE49-F238E27FC236}">
                  <a16:creationId xmlns:a16="http://schemas.microsoft.com/office/drawing/2014/main" id="{2AF76E16-CCAD-486C-B7B9-CB86DC4578B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489" y="3521"/>
              <a:ext cx="1479" cy="171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Line 25">
              <a:extLst>
                <a:ext uri="{FF2B5EF4-FFF2-40B4-BE49-F238E27FC236}">
                  <a16:creationId xmlns:a16="http://schemas.microsoft.com/office/drawing/2014/main" id="{0A52C57E-85E6-4185-83BB-E287158CA13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0917" y="1812"/>
              <a:ext cx="597" cy="111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10" name="Group 22">
              <a:extLst>
                <a:ext uri="{FF2B5EF4-FFF2-40B4-BE49-F238E27FC236}">
                  <a16:creationId xmlns:a16="http://schemas.microsoft.com/office/drawing/2014/main" id="{941624BC-E1FC-484F-AF2E-1620DAC597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27" y="3274"/>
              <a:ext cx="2234" cy="287"/>
              <a:chOff x="8159" y="6620"/>
              <a:chExt cx="894" cy="115"/>
            </a:xfrm>
          </p:grpSpPr>
          <p:sp>
            <p:nvSpPr>
              <p:cNvPr id="31" name="Line 24">
                <a:extLst>
                  <a:ext uri="{FF2B5EF4-FFF2-40B4-BE49-F238E27FC236}">
                    <a16:creationId xmlns:a16="http://schemas.microsoft.com/office/drawing/2014/main" id="{58ECD5A6-6BC6-46A5-8CC4-60A1F3BEB38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159" y="6689"/>
                <a:ext cx="355" cy="46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" name="Line 23">
                <a:extLst>
                  <a:ext uri="{FF2B5EF4-FFF2-40B4-BE49-F238E27FC236}">
                    <a16:creationId xmlns:a16="http://schemas.microsoft.com/office/drawing/2014/main" id="{227F038C-7009-4E06-AA27-8B2715B1E0A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520" y="6620"/>
                <a:ext cx="533" cy="6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1" name="Line 21">
              <a:extLst>
                <a:ext uri="{FF2B5EF4-FFF2-40B4-BE49-F238E27FC236}">
                  <a16:creationId xmlns:a16="http://schemas.microsoft.com/office/drawing/2014/main" id="{4E585D22-A16A-48B1-924A-F7E50BFA9A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3525" y="4166"/>
              <a:ext cx="887" cy="49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20">
              <a:extLst>
                <a:ext uri="{FF2B5EF4-FFF2-40B4-BE49-F238E27FC236}">
                  <a16:creationId xmlns:a16="http://schemas.microsoft.com/office/drawing/2014/main" id="{7D8AE31D-3EED-41C5-929D-6D094A0A40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4427" y="3424"/>
              <a:ext cx="1332" cy="73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70874C68-03FC-42C5-947D-0164D84CEC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flipV="1">
              <a:off x="14125" y="1669"/>
              <a:ext cx="2234" cy="1237"/>
              <a:chOff x="8159" y="6620"/>
              <a:chExt cx="894" cy="115"/>
            </a:xfrm>
          </p:grpSpPr>
          <p:sp>
            <p:nvSpPr>
              <p:cNvPr id="29" name="Line 19">
                <a:extLst>
                  <a:ext uri="{FF2B5EF4-FFF2-40B4-BE49-F238E27FC236}">
                    <a16:creationId xmlns:a16="http://schemas.microsoft.com/office/drawing/2014/main" id="{A7634F37-49AC-403E-AB27-4F1FFBDB3CD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159" y="6689"/>
                <a:ext cx="355" cy="46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" name="Line 18">
                <a:extLst>
                  <a:ext uri="{FF2B5EF4-FFF2-40B4-BE49-F238E27FC236}">
                    <a16:creationId xmlns:a16="http://schemas.microsoft.com/office/drawing/2014/main" id="{619196F5-25C2-4FC4-A365-18EA09256D9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520" y="6620"/>
                <a:ext cx="533" cy="6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D15BAB10-CEF3-4284-80B6-022B12149C5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159" y="2622"/>
              <a:ext cx="518" cy="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k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7AB29E2F-C06A-41AF-80A4-A297D469714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299" y="2097"/>
              <a:ext cx="899" cy="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FB33A90C-9674-4885-A629-D9CCC78FAB7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1" y="2592"/>
              <a:ext cx="900" cy="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49F1F1B7-7744-461D-8296-23B051A9494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629" y="4046"/>
              <a:ext cx="899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+1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13CFBA09-B7ED-4CDE-AC54-3A3631F27FB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777" y="4518"/>
              <a:ext cx="90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+1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4359F9D3-F482-4CB6-9CB5-80F4FBE367F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783" y="1812"/>
              <a:ext cx="90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+1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FE8FE633-0011-4C89-BBF0-4B5AF98DEC0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432" y="4233"/>
              <a:ext cx="90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Text Box 9">
              <a:extLst>
                <a:ext uri="{FF2B5EF4-FFF2-40B4-BE49-F238E27FC236}">
                  <a16:creationId xmlns:a16="http://schemas.microsoft.com/office/drawing/2014/main" id="{DC0C441E-FDCA-4787-B0C2-B5E2631D0B8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762" y="2239"/>
              <a:ext cx="899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Text Box 8">
              <a:extLst>
                <a:ext uri="{FF2B5EF4-FFF2-40B4-BE49-F238E27FC236}">
                  <a16:creationId xmlns:a16="http://schemas.microsoft.com/office/drawing/2014/main" id="{ACCC2CA8-FEA1-4D13-987B-E0A097533A1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356" y="2764"/>
              <a:ext cx="90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1" i="1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r>
                <a:rPr kumimoji="0" lang="en-US" altLang="en-US" sz="3600" b="1" i="1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Text Box 7">
              <a:extLst>
                <a:ext uri="{FF2B5EF4-FFF2-40B4-BE49-F238E27FC236}">
                  <a16:creationId xmlns:a16="http://schemas.microsoft.com/office/drawing/2014/main" id="{D417F7A2-1C16-46F5-9377-F3E4169D9CC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878" y="4046"/>
              <a:ext cx="899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1" i="1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r>
                <a:rPr kumimoji="0" lang="en-US" altLang="en-US" sz="3600" b="1" i="1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Text Box 6">
              <a:extLst>
                <a:ext uri="{FF2B5EF4-FFF2-40B4-BE49-F238E27FC236}">
                  <a16:creationId xmlns:a16="http://schemas.microsoft.com/office/drawing/2014/main" id="{FA628023-96F9-45D4-8FB8-434C3F79509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571" y="1527"/>
              <a:ext cx="90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1" i="1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r>
                <a:rPr kumimoji="0" lang="en-US" altLang="en-US" sz="3600" b="1" i="1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Text Box 5">
              <a:extLst>
                <a:ext uri="{FF2B5EF4-FFF2-40B4-BE49-F238E27FC236}">
                  <a16:creationId xmlns:a16="http://schemas.microsoft.com/office/drawing/2014/main" id="{76F88D9D-E70D-428D-9329-89E3D7E8CA1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014" y="4473"/>
              <a:ext cx="90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1" i="1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r>
                <a:rPr kumimoji="0" lang="en-US" altLang="en-US" sz="3600" b="1" i="1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id="{2AA799E1-D09E-44D0-AA0D-EB73FB5B393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869" y="3364"/>
              <a:ext cx="899" cy="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1" i="1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r>
                <a:rPr kumimoji="0" lang="en-US" altLang="en-US" sz="3600" b="1" i="1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Text Box 3">
              <a:extLst>
                <a:ext uri="{FF2B5EF4-FFF2-40B4-BE49-F238E27FC236}">
                  <a16:creationId xmlns:a16="http://schemas.microsoft.com/office/drawing/2014/main" id="{05EC94EC-3B14-4EE2-8357-67E419951F9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347" y="1954"/>
              <a:ext cx="899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1" i="1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r>
                <a:rPr kumimoji="0" lang="en-US" altLang="en-US" sz="3600" b="1" i="1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7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ext Box 2">
              <a:extLst>
                <a:ext uri="{FF2B5EF4-FFF2-40B4-BE49-F238E27FC236}">
                  <a16:creationId xmlns:a16="http://schemas.microsoft.com/office/drawing/2014/main" id="{2C82A760-C727-4B7D-BACC-F24D1AC5AD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435" y="3364"/>
              <a:ext cx="900" cy="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1" i="1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r>
                <a:rPr kumimoji="0" lang="en-US" altLang="en-US" sz="3600" b="1" i="1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3" name="Rectangle 46">
            <a:extLst>
              <a:ext uri="{FF2B5EF4-FFF2-40B4-BE49-F238E27FC236}">
                <a16:creationId xmlns:a16="http://schemas.microsoft.com/office/drawing/2014/main" id="{B3272957-5318-4279-8F11-5275930DB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55" y="972167"/>
            <a:ext cx="9853646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For any node k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-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-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-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4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6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7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 = 0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or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+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+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4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=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6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7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or	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4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–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6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–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7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 = 0	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or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+1 .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+ 1 .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+ 0 .i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3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+ 1 .i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4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+ 0 .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5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– 1 .i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6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– 1 .i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7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 = 0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Last form is preferred for matrix implementation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all currents in network are included in equation with different coefficients.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83979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3445ED-CA49-482F-8310-BE99CF4BB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445" y="1116376"/>
            <a:ext cx="1167722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There must be a unique way of obtaining the coefficients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kumimoji="0" lang="en-GB" altLang="en-US" sz="3200" b="0" i="1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– current in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</a:t>
            </a:r>
            <a:r>
              <a:rPr kumimoji="0" lang="en-GB" altLang="en-US" sz="3200" b="0" i="0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branch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</a:t>
            </a:r>
            <a:r>
              <a:rPr kumimoji="0" lang="en-GB" altLang="en-US" sz="3200" b="0" i="0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branch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directed away from k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node: 	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kumimoji="0" lang="en-GB" altLang="en-US" sz="3200" b="0" i="1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+1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directed  towards k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node: 	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kumimoji="0" lang="en-GB" altLang="en-US" sz="3200" b="0" i="1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–1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not incident on the k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node: 	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kumimoji="0" lang="en-GB" altLang="en-US" sz="3200" b="0" i="1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  0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Kirchoff’s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current law may be written, for the k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node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.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a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.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a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.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a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.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...... ....... ..... a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7k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.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7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0	or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 Computer Implementation</a:t>
            </a:r>
            <a:endParaRPr lang="en-GB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2EF0DCF-0B70-4A21-97A3-01AF1F59C6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039734"/>
              </p:ext>
            </p:extLst>
          </p:nvPr>
        </p:nvGraphicFramePr>
        <p:xfrm>
          <a:off x="472245" y="5273865"/>
          <a:ext cx="2781300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03" r:id="rId3" imgW="825142" imgH="406224" progId="Equation.3">
                  <p:embed/>
                </p:oleObj>
              </mc:Choice>
              <mc:Fallback>
                <p:oleObj r:id="rId3" imgW="825142" imgH="406224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45" y="5273865"/>
                        <a:ext cx="2781300" cy="1362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A9A90A41-204D-410B-A638-32E15899B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2457" y="5545112"/>
            <a:ext cx="6096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	at  k</a:t>
            </a:r>
            <a:r>
              <a:rPr kumimoji="0" lang="en-GB" altLang="en-US" sz="36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node, for all k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898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8EACA09F-5366-4978-8BA1-404442F7F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30" y="2370797"/>
            <a:ext cx="11780874" cy="417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In [A]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, row vectors are dependant, since sum is zero. 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[A]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written with one row less, giving only (n-1) rows.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[A]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– node-branch incidence matrix, (n-1)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b.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[A] – branch-node incidence matrix, b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(n-1)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jk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= +1	if 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kumimoji="0" lang="en-GB" altLang="en-US" sz="3200" b="0" i="0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current is </a:t>
            </a:r>
            <a:r>
              <a:rPr kumimoji="0" lang="en-GB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directed away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from the k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node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jk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if 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kumimoji="0" lang="en-GB" altLang="en-US" sz="3200" b="0" i="0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current is </a:t>
            </a:r>
            <a:r>
              <a:rPr kumimoji="0" lang="en-GB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directed towards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 the k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node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jk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= 0		if 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kumimoji="0" lang="en-GB" altLang="en-US" sz="3200" b="0" i="0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current is </a:t>
            </a:r>
            <a:r>
              <a:rPr kumimoji="0" lang="en-GB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not incident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on the k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node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4E18CB-3C7E-4663-87D1-13EB17701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60" y="489677"/>
            <a:ext cx="110791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Collection of equations, for each node k, would give </a:t>
            </a:r>
            <a:endParaRPr kumimoji="0" lang="en-GB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288CE1A-DA40-4181-8F8C-6173A5CD5C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719616"/>
              </p:ext>
            </p:extLst>
          </p:nvPr>
        </p:nvGraphicFramePr>
        <p:xfrm>
          <a:off x="489095" y="988822"/>
          <a:ext cx="360045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27" r:id="rId3" imgW="1104900" imgH="469900" progId="Equation.3">
                  <p:embed/>
                </p:oleObj>
              </mc:Choice>
              <mc:Fallback>
                <p:oleObj r:id="rId3" imgW="1104900" imgH="469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095" y="988822"/>
                        <a:ext cx="3600450" cy="155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1399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6" y="506954"/>
            <a:ext cx="6362874" cy="280110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Kirchoff’s</a:t>
            </a:r>
            <a:r>
              <a:rPr lang="en-GB" dirty="0"/>
              <a:t> voltage Law in matrix form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3E22D91-D5F1-4950-9211-96C6F413DC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230778"/>
              </p:ext>
            </p:extLst>
          </p:nvPr>
        </p:nvGraphicFramePr>
        <p:xfrm>
          <a:off x="1063855" y="693012"/>
          <a:ext cx="276225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45" r:id="rId3" imgW="812447" imgH="380835" progId="Equation.3">
                  <p:embed/>
                </p:oleObj>
              </mc:Choice>
              <mc:Fallback>
                <p:oleObj r:id="rId3" imgW="812447" imgH="38083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855" y="693012"/>
                        <a:ext cx="2762250" cy="1276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376F1A1-B189-4AC6-BCC0-DF2CD710F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559815"/>
              </p:ext>
            </p:extLst>
          </p:nvPr>
        </p:nvGraphicFramePr>
        <p:xfrm>
          <a:off x="1046163" y="2773363"/>
          <a:ext cx="253365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46" r:id="rId5" imgW="952087" imgH="406224" progId="Equation.3">
                  <p:embed/>
                </p:oleObj>
              </mc:Choice>
              <mc:Fallback>
                <p:oleObj r:id="rId5" imgW="952087" imgH="406224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2773363"/>
                        <a:ext cx="2533650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">
            <a:extLst>
              <a:ext uri="{FF2B5EF4-FFF2-40B4-BE49-F238E27FC236}">
                <a16:creationId xmlns:a16="http://schemas.microsoft.com/office/drawing/2014/main" id="{EABA349D-3928-42BF-A994-03C14E2D1B60}"/>
              </a:ext>
            </a:extLst>
          </p:cNvPr>
          <p:cNvGrpSpPr>
            <a:grpSpLocks/>
          </p:cNvGrpSpPr>
          <p:nvPr/>
        </p:nvGrpSpPr>
        <p:grpSpPr bwMode="auto">
          <a:xfrm>
            <a:off x="5211763" y="465138"/>
            <a:ext cx="6356350" cy="3303587"/>
            <a:chOff x="6956" y="1595"/>
            <a:chExt cx="9618" cy="4999"/>
          </a:xfrm>
        </p:grpSpPr>
        <p:grpSp>
          <p:nvGrpSpPr>
            <p:cNvPr id="6" name="Group 51">
              <a:extLst>
                <a:ext uri="{FF2B5EF4-FFF2-40B4-BE49-F238E27FC236}">
                  <a16:creationId xmlns:a16="http://schemas.microsoft.com/office/drawing/2014/main" id="{E262BF32-F24C-42F0-9C09-A44E42D764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07" y="2954"/>
              <a:ext cx="3106" cy="903"/>
              <a:chOff x="8159" y="6620"/>
              <a:chExt cx="894" cy="115"/>
            </a:xfrm>
          </p:grpSpPr>
          <p:sp>
            <p:nvSpPr>
              <p:cNvPr id="54" name="Line 53">
                <a:extLst>
                  <a:ext uri="{FF2B5EF4-FFF2-40B4-BE49-F238E27FC236}">
                    <a16:creationId xmlns:a16="http://schemas.microsoft.com/office/drawing/2014/main" id="{FF4C2EDC-9F0E-4CE9-932E-FFD62FD1CC5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159" y="6689"/>
                <a:ext cx="355" cy="46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" name="Line 52">
                <a:extLst>
                  <a:ext uri="{FF2B5EF4-FFF2-40B4-BE49-F238E27FC236}">
                    <a16:creationId xmlns:a16="http://schemas.microsoft.com/office/drawing/2014/main" id="{7963871C-2370-4BE6-83EE-BDB1EB0B4BD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520" y="6620"/>
                <a:ext cx="533" cy="6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7" name="Group 48">
              <a:extLst>
                <a:ext uri="{FF2B5EF4-FFF2-40B4-BE49-F238E27FC236}">
                  <a16:creationId xmlns:a16="http://schemas.microsoft.com/office/drawing/2014/main" id="{6574422E-A2A9-4595-ADFF-15D376FED7B5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3646" y="2043"/>
              <a:ext cx="1822" cy="911"/>
              <a:chOff x="8159" y="6620"/>
              <a:chExt cx="894" cy="115"/>
            </a:xfrm>
          </p:grpSpPr>
          <p:sp>
            <p:nvSpPr>
              <p:cNvPr id="52" name="Line 50">
                <a:extLst>
                  <a:ext uri="{FF2B5EF4-FFF2-40B4-BE49-F238E27FC236}">
                    <a16:creationId xmlns:a16="http://schemas.microsoft.com/office/drawing/2014/main" id="{D2B79658-F52E-4709-8043-A76E4840F4C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159" y="6689"/>
                <a:ext cx="355" cy="46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" name="Line 49">
                <a:extLst>
                  <a:ext uri="{FF2B5EF4-FFF2-40B4-BE49-F238E27FC236}">
                    <a16:creationId xmlns:a16="http://schemas.microsoft.com/office/drawing/2014/main" id="{63ECFCC1-4AE4-4261-9A9C-70578EE0C68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520" y="6620"/>
                <a:ext cx="533" cy="6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8" name="Text Box 47">
              <a:extLst>
                <a:ext uri="{FF2B5EF4-FFF2-40B4-BE49-F238E27FC236}">
                  <a16:creationId xmlns:a16="http://schemas.microsoft.com/office/drawing/2014/main" id="{5415A8C1-5968-4A82-8DDD-30858B0B1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93" y="2672"/>
              <a:ext cx="734" cy="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9" name="Group 43">
              <a:extLst>
                <a:ext uri="{FF2B5EF4-FFF2-40B4-BE49-F238E27FC236}">
                  <a16:creationId xmlns:a16="http://schemas.microsoft.com/office/drawing/2014/main" id="{3FB09BCE-12CB-405A-A110-6A6A65A09F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52" y="3756"/>
              <a:ext cx="1822" cy="1259"/>
              <a:chOff x="9599" y="5084"/>
              <a:chExt cx="894" cy="684"/>
            </a:xfrm>
          </p:grpSpPr>
          <p:sp>
            <p:nvSpPr>
              <p:cNvPr id="49" name="Line 46">
                <a:extLst>
                  <a:ext uri="{FF2B5EF4-FFF2-40B4-BE49-F238E27FC236}">
                    <a16:creationId xmlns:a16="http://schemas.microsoft.com/office/drawing/2014/main" id="{1E86BAC1-CAB1-4C7B-9A9D-503168E2D37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9599" y="5381"/>
                <a:ext cx="355" cy="19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B2AB8A8C-265F-4EC0-A131-7F240015B19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9960" y="5084"/>
                <a:ext cx="533" cy="293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" name="Text Box 44">
                <a:extLst>
                  <a:ext uri="{FF2B5EF4-FFF2-40B4-BE49-F238E27FC236}">
                    <a16:creationId xmlns:a16="http://schemas.microsoft.com/office/drawing/2014/main" id="{8B0580D1-C646-4D86-A3E9-4051D50AC1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62" y="5408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r"/>
                    <a:tab pos="2743200" algn="ctr"/>
                    <a:tab pos="5486400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r"/>
                    <a:tab pos="2743200" algn="ctr"/>
                    <a:tab pos="5486400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r"/>
                    <a:tab pos="2743200" algn="ctr"/>
                    <a:tab pos="5486400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r"/>
                    <a:tab pos="2743200" algn="ctr"/>
                    <a:tab pos="5486400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r"/>
                    <a:tab pos="2743200" algn="ctr"/>
                    <a:tab pos="5486400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r"/>
                    <a:tab pos="2743200" algn="ctr"/>
                    <a:tab pos="5486400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r"/>
                    <a:tab pos="2743200" algn="ctr"/>
                    <a:tab pos="5486400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r"/>
                    <a:tab pos="2743200" algn="ctr"/>
                    <a:tab pos="5486400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r"/>
                    <a:tab pos="2743200" algn="ctr"/>
                    <a:tab pos="5486400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r"/>
                    <a:tab pos="2743200" algn="ctr"/>
                    <a:tab pos="5486400" algn="r"/>
                  </a:tabLst>
                </a:pPr>
                <a:r>
                  <a:rPr kumimoji="0" lang="en-US" altLang="en-US" sz="2800" b="0" i="0" u="none" strike="noStrike" cap="none" normalizeH="0" baseline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" name="Text Box 42">
              <a:extLst>
                <a:ext uri="{FF2B5EF4-FFF2-40B4-BE49-F238E27FC236}">
                  <a16:creationId xmlns:a16="http://schemas.microsoft.com/office/drawing/2014/main" id="{189708DC-8EF5-4908-90C4-BE47AB3AC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51" y="2463"/>
              <a:ext cx="734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1" name="Group 39">
              <a:extLst>
                <a:ext uri="{FF2B5EF4-FFF2-40B4-BE49-F238E27FC236}">
                  <a16:creationId xmlns:a16="http://schemas.microsoft.com/office/drawing/2014/main" id="{6D0E34BF-CA87-4803-9611-3BAE24A79A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00" y="2435"/>
              <a:ext cx="1626" cy="1072"/>
              <a:chOff x="6776" y="4439"/>
              <a:chExt cx="894" cy="495"/>
            </a:xfrm>
          </p:grpSpPr>
          <p:sp>
            <p:nvSpPr>
              <p:cNvPr id="47" name="Line 41">
                <a:extLst>
                  <a:ext uri="{FF2B5EF4-FFF2-40B4-BE49-F238E27FC236}">
                    <a16:creationId xmlns:a16="http://schemas.microsoft.com/office/drawing/2014/main" id="{CE081728-240B-4047-8F28-00E7D28D008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776" y="4736"/>
                <a:ext cx="355" cy="19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" name="Line 40">
                <a:extLst>
                  <a:ext uri="{FF2B5EF4-FFF2-40B4-BE49-F238E27FC236}">
                    <a16:creationId xmlns:a16="http://schemas.microsoft.com/office/drawing/2014/main" id="{06693715-CE5F-43B0-B3D9-C0FED3204BB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7137" y="4439"/>
                <a:ext cx="533" cy="293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2" name="Text Box 38">
              <a:extLst>
                <a:ext uri="{FF2B5EF4-FFF2-40B4-BE49-F238E27FC236}">
                  <a16:creationId xmlns:a16="http://schemas.microsoft.com/office/drawing/2014/main" id="{503319CB-48D7-493C-88F8-C451F1733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6" y="2429"/>
              <a:ext cx="734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+1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3" name="Group 35">
              <a:extLst>
                <a:ext uri="{FF2B5EF4-FFF2-40B4-BE49-F238E27FC236}">
                  <a16:creationId xmlns:a16="http://schemas.microsoft.com/office/drawing/2014/main" id="{8A13BE63-1B9F-4ED9-B692-60F7FF8CF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88" y="3816"/>
              <a:ext cx="980" cy="1454"/>
              <a:chOff x="6776" y="4439"/>
              <a:chExt cx="894" cy="495"/>
            </a:xfrm>
          </p:grpSpPr>
          <p:sp>
            <p:nvSpPr>
              <p:cNvPr id="45" name="Line 37">
                <a:extLst>
                  <a:ext uri="{FF2B5EF4-FFF2-40B4-BE49-F238E27FC236}">
                    <a16:creationId xmlns:a16="http://schemas.microsoft.com/office/drawing/2014/main" id="{0929284B-10DC-481B-818F-F734D0DB6A3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776" y="4736"/>
                <a:ext cx="355" cy="19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" name="Line 36">
                <a:extLst>
                  <a:ext uri="{FF2B5EF4-FFF2-40B4-BE49-F238E27FC236}">
                    <a16:creationId xmlns:a16="http://schemas.microsoft.com/office/drawing/2014/main" id="{98049C5E-D450-4B3B-8DC1-CEA22789AC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7137" y="4439"/>
                <a:ext cx="533" cy="293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4" name="Text Box 34">
              <a:extLst>
                <a:ext uri="{FF2B5EF4-FFF2-40B4-BE49-F238E27FC236}">
                  <a16:creationId xmlns:a16="http://schemas.microsoft.com/office/drawing/2014/main" id="{04AC285F-985F-4EC0-BE29-79E628F38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9" y="4424"/>
              <a:ext cx="734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5" name="Group 31">
              <a:extLst>
                <a:ext uri="{FF2B5EF4-FFF2-40B4-BE49-F238E27FC236}">
                  <a16:creationId xmlns:a16="http://schemas.microsoft.com/office/drawing/2014/main" id="{BEB58B05-A056-4362-90E0-5ADEA87A3F2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601" y="2463"/>
              <a:ext cx="1737" cy="1394"/>
              <a:chOff x="6776" y="4439"/>
              <a:chExt cx="894" cy="495"/>
            </a:xfrm>
          </p:grpSpPr>
          <p:sp>
            <p:nvSpPr>
              <p:cNvPr id="43" name="Line 33">
                <a:extLst>
                  <a:ext uri="{FF2B5EF4-FFF2-40B4-BE49-F238E27FC236}">
                    <a16:creationId xmlns:a16="http://schemas.microsoft.com/office/drawing/2014/main" id="{B87F562E-F98B-45CB-8E72-32451781349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776" y="4736"/>
                <a:ext cx="355" cy="19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" name="Line 32">
                <a:extLst>
                  <a:ext uri="{FF2B5EF4-FFF2-40B4-BE49-F238E27FC236}">
                    <a16:creationId xmlns:a16="http://schemas.microsoft.com/office/drawing/2014/main" id="{167BA259-A3F7-4918-BDE4-7EECC83D8BD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7137" y="4439"/>
                <a:ext cx="533" cy="293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6" name="Text Box 30">
              <a:extLst>
                <a:ext uri="{FF2B5EF4-FFF2-40B4-BE49-F238E27FC236}">
                  <a16:creationId xmlns:a16="http://schemas.microsoft.com/office/drawing/2014/main" id="{8FAD77A9-DBA7-4D56-A29E-F1EB62A04E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" y="2672"/>
              <a:ext cx="734" cy="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7" name="Group 27">
              <a:extLst>
                <a:ext uri="{FF2B5EF4-FFF2-40B4-BE49-F238E27FC236}">
                  <a16:creationId xmlns:a16="http://schemas.microsoft.com/office/drawing/2014/main" id="{892E9E9D-0BB6-41D9-96E0-E6664F7048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22" y="5314"/>
              <a:ext cx="1626" cy="1072"/>
              <a:chOff x="6776" y="4439"/>
              <a:chExt cx="894" cy="495"/>
            </a:xfrm>
          </p:grpSpPr>
          <p:sp>
            <p:nvSpPr>
              <p:cNvPr id="41" name="Line 29">
                <a:extLst>
                  <a:ext uri="{FF2B5EF4-FFF2-40B4-BE49-F238E27FC236}">
                    <a16:creationId xmlns:a16="http://schemas.microsoft.com/office/drawing/2014/main" id="{14D353BD-B133-4194-99B5-A30184057A1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776" y="4736"/>
                <a:ext cx="355" cy="19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" name="Line 28">
                <a:extLst>
                  <a:ext uri="{FF2B5EF4-FFF2-40B4-BE49-F238E27FC236}">
                    <a16:creationId xmlns:a16="http://schemas.microsoft.com/office/drawing/2014/main" id="{4ABD0216-7B69-430A-BC44-E2463A0385B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7137" y="4439"/>
                <a:ext cx="533" cy="293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8" name="Text Box 26">
              <a:extLst>
                <a:ext uri="{FF2B5EF4-FFF2-40B4-BE49-F238E27FC236}">
                  <a16:creationId xmlns:a16="http://schemas.microsoft.com/office/drawing/2014/main" id="{592E5EA8-1308-4440-876E-D06C22236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2" y="5894"/>
              <a:ext cx="733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2EAF1278-B238-46EA-8222-55F9D9FA7E31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8969" y="3534"/>
              <a:ext cx="379" cy="1763"/>
              <a:chOff x="6776" y="4439"/>
              <a:chExt cx="894" cy="495"/>
            </a:xfrm>
          </p:grpSpPr>
          <p:sp>
            <p:nvSpPr>
              <p:cNvPr id="39" name="Line 25">
                <a:extLst>
                  <a:ext uri="{FF2B5EF4-FFF2-40B4-BE49-F238E27FC236}">
                    <a16:creationId xmlns:a16="http://schemas.microsoft.com/office/drawing/2014/main" id="{570D672D-BBCE-498D-980D-5E86A2F4DAC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776" y="4736"/>
                <a:ext cx="355" cy="19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" name="Line 24">
                <a:extLst>
                  <a:ext uri="{FF2B5EF4-FFF2-40B4-BE49-F238E27FC236}">
                    <a16:creationId xmlns:a16="http://schemas.microsoft.com/office/drawing/2014/main" id="{F6EB656F-B6F7-434A-9C32-575840C45E0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7137" y="4439"/>
                <a:ext cx="533" cy="293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0" name="Text Box 22">
              <a:extLst>
                <a:ext uri="{FF2B5EF4-FFF2-40B4-BE49-F238E27FC236}">
                  <a16:creationId xmlns:a16="http://schemas.microsoft.com/office/drawing/2014/main" id="{30BB60FE-513B-4F39-8285-5D9184421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3" y="3794"/>
              <a:ext cx="734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21" name="Group 19">
              <a:extLst>
                <a:ext uri="{FF2B5EF4-FFF2-40B4-BE49-F238E27FC236}">
                  <a16:creationId xmlns:a16="http://schemas.microsoft.com/office/drawing/2014/main" id="{69259262-3FD0-4985-AACF-9399A869CC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48" y="5286"/>
              <a:ext cx="2044" cy="11"/>
              <a:chOff x="8159" y="6620"/>
              <a:chExt cx="894" cy="115"/>
            </a:xfrm>
          </p:grpSpPr>
          <p:sp>
            <p:nvSpPr>
              <p:cNvPr id="37" name="Line 21">
                <a:extLst>
                  <a:ext uri="{FF2B5EF4-FFF2-40B4-BE49-F238E27FC236}">
                    <a16:creationId xmlns:a16="http://schemas.microsoft.com/office/drawing/2014/main" id="{2EFDD985-533B-4C7F-AAED-2578676577E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159" y="6689"/>
                <a:ext cx="355" cy="46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" name="Line 20">
                <a:extLst>
                  <a:ext uri="{FF2B5EF4-FFF2-40B4-BE49-F238E27FC236}">
                    <a16:creationId xmlns:a16="http://schemas.microsoft.com/office/drawing/2014/main" id="{DFD80AE3-5CE3-4CF1-AE75-03184CD5684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520" y="6620"/>
                <a:ext cx="533" cy="6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2" name="Group 16">
              <a:extLst>
                <a:ext uri="{FF2B5EF4-FFF2-40B4-BE49-F238E27FC236}">
                  <a16:creationId xmlns:a16="http://schemas.microsoft.com/office/drawing/2014/main" id="{FAFCA8E9-EED0-44CE-8AD1-718CEBF2102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1347" y="5247"/>
              <a:ext cx="966" cy="710"/>
              <a:chOff x="6776" y="4439"/>
              <a:chExt cx="894" cy="495"/>
            </a:xfrm>
          </p:grpSpPr>
          <p:sp>
            <p:nvSpPr>
              <p:cNvPr id="35" name="Line 18">
                <a:extLst>
                  <a:ext uri="{FF2B5EF4-FFF2-40B4-BE49-F238E27FC236}">
                    <a16:creationId xmlns:a16="http://schemas.microsoft.com/office/drawing/2014/main" id="{D396DCC8-2DD7-4BE7-B136-649DBB31AA9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776" y="4736"/>
                <a:ext cx="355" cy="19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" name="Line 17">
                <a:extLst>
                  <a:ext uri="{FF2B5EF4-FFF2-40B4-BE49-F238E27FC236}">
                    <a16:creationId xmlns:a16="http://schemas.microsoft.com/office/drawing/2014/main" id="{EF75B648-DCF2-436D-A288-AA65EC177A7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7137" y="4439"/>
                <a:ext cx="533" cy="293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3" name="Group 13">
              <a:extLst>
                <a:ext uri="{FF2B5EF4-FFF2-40B4-BE49-F238E27FC236}">
                  <a16:creationId xmlns:a16="http://schemas.microsoft.com/office/drawing/2014/main" id="{3CE8D776-57DA-4CAA-9691-632CE5A277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01" y="1595"/>
              <a:ext cx="296" cy="847"/>
              <a:chOff x="6776" y="4439"/>
              <a:chExt cx="894" cy="495"/>
            </a:xfrm>
          </p:grpSpPr>
          <p:sp>
            <p:nvSpPr>
              <p:cNvPr id="33" name="Line 15">
                <a:extLst>
                  <a:ext uri="{FF2B5EF4-FFF2-40B4-BE49-F238E27FC236}">
                    <a16:creationId xmlns:a16="http://schemas.microsoft.com/office/drawing/2014/main" id="{2740E201-A90C-435B-A97C-0957DE899A0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776" y="4736"/>
                <a:ext cx="355" cy="19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" name="Line 14">
                <a:extLst>
                  <a:ext uri="{FF2B5EF4-FFF2-40B4-BE49-F238E27FC236}">
                    <a16:creationId xmlns:a16="http://schemas.microsoft.com/office/drawing/2014/main" id="{B60E920B-906E-4964-AE7D-902595A696B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7137" y="4439"/>
                <a:ext cx="533" cy="293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4" name="Group 10">
              <a:extLst>
                <a:ext uri="{FF2B5EF4-FFF2-40B4-BE49-F238E27FC236}">
                  <a16:creationId xmlns:a16="http://schemas.microsoft.com/office/drawing/2014/main" id="{7288E637-2235-4511-B2F3-586D29F92AB9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6956" y="3164"/>
              <a:ext cx="2044" cy="348"/>
              <a:chOff x="8159" y="6620"/>
              <a:chExt cx="894" cy="115"/>
            </a:xfrm>
          </p:grpSpPr>
          <p:sp>
            <p:nvSpPr>
              <p:cNvPr id="31" name="Line 12">
                <a:extLst>
                  <a:ext uri="{FF2B5EF4-FFF2-40B4-BE49-F238E27FC236}">
                    <a16:creationId xmlns:a16="http://schemas.microsoft.com/office/drawing/2014/main" id="{3D8F348A-6A6D-41C0-9E84-443F93222F3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159" y="6689"/>
                <a:ext cx="355" cy="46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" name="Line 11">
                <a:extLst>
                  <a:ext uri="{FF2B5EF4-FFF2-40B4-BE49-F238E27FC236}">
                    <a16:creationId xmlns:a16="http://schemas.microsoft.com/office/drawing/2014/main" id="{DE830FA0-376C-48AE-9A05-052DAAF66F3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520" y="6620"/>
                <a:ext cx="533" cy="6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5" name="Text Box 9">
              <a:extLst>
                <a:ext uri="{FF2B5EF4-FFF2-40B4-BE49-F238E27FC236}">
                  <a16:creationId xmlns:a16="http://schemas.microsoft.com/office/drawing/2014/main" id="{5CC1986E-20D3-45AD-969B-99178D5333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29" y="5369"/>
              <a:ext cx="733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+1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86CB849F-C1C8-4559-BCAF-BB10A0566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0" y="3164"/>
              <a:ext cx="1803" cy="1897"/>
            </a:xfrm>
            <a:custGeom>
              <a:avLst/>
              <a:gdLst>
                <a:gd name="T0" fmla="*/ 168 w 885"/>
                <a:gd name="T1" fmla="*/ 95 h 861"/>
                <a:gd name="T2" fmla="*/ 360 w 885"/>
                <a:gd name="T3" fmla="*/ 17 h 861"/>
                <a:gd name="T4" fmla="*/ 600 w 885"/>
                <a:gd name="T5" fmla="*/ 32 h 861"/>
                <a:gd name="T6" fmla="*/ 789 w 885"/>
                <a:gd name="T7" fmla="*/ 207 h 861"/>
                <a:gd name="T8" fmla="*/ 789 w 885"/>
                <a:gd name="T9" fmla="*/ 629 h 861"/>
                <a:gd name="T10" fmla="*/ 213 w 885"/>
                <a:gd name="T11" fmla="*/ 836 h 861"/>
                <a:gd name="T12" fmla="*/ 0 w 885"/>
                <a:gd name="T13" fmla="*/ 476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5" h="861">
                  <a:moveTo>
                    <a:pt x="168" y="95"/>
                  </a:moveTo>
                  <a:cubicBezTo>
                    <a:pt x="228" y="61"/>
                    <a:pt x="288" y="28"/>
                    <a:pt x="360" y="17"/>
                  </a:cubicBezTo>
                  <a:cubicBezTo>
                    <a:pt x="432" y="6"/>
                    <a:pt x="528" y="0"/>
                    <a:pt x="600" y="32"/>
                  </a:cubicBezTo>
                  <a:cubicBezTo>
                    <a:pt x="672" y="64"/>
                    <a:pt x="758" y="108"/>
                    <a:pt x="789" y="207"/>
                  </a:cubicBezTo>
                  <a:cubicBezTo>
                    <a:pt x="820" y="306"/>
                    <a:pt x="885" y="524"/>
                    <a:pt x="789" y="629"/>
                  </a:cubicBezTo>
                  <a:cubicBezTo>
                    <a:pt x="693" y="734"/>
                    <a:pt x="344" y="861"/>
                    <a:pt x="213" y="836"/>
                  </a:cubicBezTo>
                  <a:cubicBezTo>
                    <a:pt x="82" y="811"/>
                    <a:pt x="35" y="536"/>
                    <a:pt x="0" y="476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type="none" w="sm" len="sm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Text Box 7">
              <a:extLst>
                <a:ext uri="{FF2B5EF4-FFF2-40B4-BE49-F238E27FC236}">
                  <a16:creationId xmlns:a16="http://schemas.microsoft.com/office/drawing/2014/main" id="{AC1995AC-6F91-4040-A666-538915813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4" y="3756"/>
              <a:ext cx="733" cy="7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3600" b="1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ext Box 6">
              <a:extLst>
                <a:ext uri="{FF2B5EF4-FFF2-40B4-BE49-F238E27FC236}">
                  <a16:creationId xmlns:a16="http://schemas.microsoft.com/office/drawing/2014/main" id="{14237859-956D-4A94-89FE-7AE0E4BCC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34" y="5931"/>
              <a:ext cx="733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ext Box 5">
              <a:extLst>
                <a:ext uri="{FF2B5EF4-FFF2-40B4-BE49-F238E27FC236}">
                  <a16:creationId xmlns:a16="http://schemas.microsoft.com/office/drawing/2014/main" id="{0FB7C7DC-6701-4291-9F7A-E9205932F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4" y="2654"/>
              <a:ext cx="733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Text Box 4">
              <a:extLst>
                <a:ext uri="{FF2B5EF4-FFF2-40B4-BE49-F238E27FC236}">
                  <a16:creationId xmlns:a16="http://schemas.microsoft.com/office/drawing/2014/main" id="{EF61DF20-C53B-41C6-B2D9-5DE559D1D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18" y="1705"/>
              <a:ext cx="733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r"/>
                  <a:tab pos="2743200" algn="ctr"/>
                  <a:tab pos="54864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r"/>
                  <a:tab pos="2743200" algn="ctr"/>
                  <a:tab pos="5486400" algn="r"/>
                </a:tabLst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56" name="Rectangle 54">
            <a:extLst>
              <a:ext uri="{FF2B5EF4-FFF2-40B4-BE49-F238E27FC236}">
                <a16:creationId xmlns:a16="http://schemas.microsoft.com/office/drawing/2014/main" id="{DB1707DF-D5CA-47A3-B833-9C0EFB471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7" name="Rectangle 68">
            <a:extLst>
              <a:ext uri="{FF2B5EF4-FFF2-40B4-BE49-F238E27FC236}">
                <a16:creationId xmlns:a16="http://schemas.microsoft.com/office/drawing/2014/main" id="{3CDA88A7-CA11-44D5-837C-67077DECC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8" name="Rectangle 69">
            <a:extLst>
              <a:ext uri="{FF2B5EF4-FFF2-40B4-BE49-F238E27FC236}">
                <a16:creationId xmlns:a16="http://schemas.microsoft.com/office/drawing/2014/main" id="{764A0825-BF6A-4EAF-AAC1-6A9DFCB45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57" y="1796766"/>
            <a:ext cx="556978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for 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s</a:t>
            </a:r>
            <a:r>
              <a:rPr kumimoji="0" lang="en-GB" altLang="en-US" sz="3200" b="0" i="0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loop, for all s; 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where 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b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rs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=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-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1, 0, or +1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9" name="Rectangle 70">
            <a:extLst>
              <a:ext uri="{FF2B5EF4-FFF2-40B4-BE49-F238E27FC236}">
                <a16:creationId xmlns:a16="http://schemas.microsoft.com/office/drawing/2014/main" id="{8A5E2A3A-5DF9-4F03-ACBA-260C81F43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90" y="3665415"/>
            <a:ext cx="9991693" cy="2995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[B]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– mesh-branch incidence matrix, (</a:t>
            </a: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l</a:t>
            </a: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b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)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[B] – branch-mesh incidence matrix, (</a:t>
            </a: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b</a:t>
            </a: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l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)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GB" altLang="en-US" sz="3200" b="0" i="1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rs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= +1	if  </a:t>
            </a: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0" lang="en-GB" altLang="en-US" sz="3200" b="0" i="1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current is in </a:t>
            </a:r>
            <a:r>
              <a:rPr kumimoji="0" lang="en-GB" altLang="en-US" sz="32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same direction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as </a:t>
            </a: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GB" altLang="en-US" sz="3200" b="0" i="1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loop </a:t>
            </a:r>
            <a:endParaRPr kumimoji="0" lang="en-GB" altLang="en-US" sz="3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GB" altLang="en-US" sz="3200" b="0" i="1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rs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if  </a:t>
            </a: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0" lang="en-GB" altLang="en-US" sz="3200" b="0" i="1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current is in </a:t>
            </a:r>
            <a:r>
              <a:rPr kumimoji="0" lang="en-GB" altLang="en-US" sz="32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opposite direction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to </a:t>
            </a: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GB" altLang="en-US" sz="3200" b="0" i="1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loop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GB" altLang="en-US" sz="3200" b="0" i="1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rs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= 0 	if  </a:t>
            </a: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0" lang="en-GB" altLang="en-US" sz="3200" b="0" i="1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current is in the </a:t>
            </a:r>
            <a:r>
              <a:rPr kumimoji="0" lang="en-GB" altLang="en-US" sz="32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not part of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the </a:t>
            </a:r>
            <a:r>
              <a:rPr kumimoji="0" lang="en-GB" altLang="en-US" sz="3200" b="0" i="1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GB" altLang="en-US" sz="3200" b="0" i="1" u="none" strike="noStrike" cap="none" normalizeH="0" baseline="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loop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en-GB" altLang="en-US" sz="3200" b="0" i="1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24566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rmAutofit fontScale="90000"/>
          </a:bodyPr>
          <a:lstStyle/>
          <a:p>
            <a:r>
              <a:rPr lang="en-GB" dirty="0"/>
              <a:t>Ohm’s Law in matrix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EAE98-FF8F-407C-A61C-9B91799F7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524" y="916820"/>
            <a:ext cx="7780952" cy="3238095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EA3D8D6D-3730-41F7-8761-A50B382B7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201" y="3971390"/>
            <a:ext cx="4075112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</a:rPr>
              <a:t>Figure - General branch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A0AC4D-9DF0-43A5-9388-E872F832E7CF}"/>
              </a:ext>
            </a:extLst>
          </p:cNvPr>
          <p:cNvSpPr/>
          <p:nvPr/>
        </p:nvSpPr>
        <p:spPr>
          <a:xfrm>
            <a:off x="429715" y="4522252"/>
            <a:ext cx="955676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tabLst>
                <a:tab pos="2743200" algn="ctr"/>
                <a:tab pos="5486400" algn="r"/>
                <a:tab pos="457200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 all branches  k = 1, 2, .... ... b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  <a:tabLst>
                <a:tab pos="2743200" algn="ctr"/>
                <a:tab pos="5486400" algn="r"/>
                <a:tab pos="457200" algn="l"/>
              </a:tabLst>
            </a:pPr>
            <a:r>
              <a:rPr lang="en-GB" sz="32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GB" sz="3200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– </a:t>
            </a:r>
            <a:r>
              <a:rPr lang="en-GB" sz="32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GB" sz="3200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gk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GB" sz="32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GB" sz="3200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GB" sz="3200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gk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GB" sz="32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GB" sz="3200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GB" sz="3200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Either voltage source or current source would normally be used.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495704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28218"/>
            <a:ext cx="10924085" cy="482745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Conversion to either voltage source or current source only</a:t>
            </a:r>
            <a:endParaRPr lang="en-GB" dirty="0"/>
          </a:p>
        </p:txBody>
      </p:sp>
      <p:pic>
        <p:nvPicPr>
          <p:cNvPr id="4" name="Picture 3" descr="A screen shot of a clock&#10;&#10;Description automatically generated">
            <a:extLst>
              <a:ext uri="{FF2B5EF4-FFF2-40B4-BE49-F238E27FC236}">
                <a16:creationId xmlns:a16="http://schemas.microsoft.com/office/drawing/2014/main" id="{A554830B-C7EF-4D43-B7F0-D6951984F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855" y="777048"/>
            <a:ext cx="3796937" cy="1828800"/>
          </a:xfrm>
          <a:prstGeom prst="rect">
            <a:avLst/>
          </a:prstGeom>
        </p:spPr>
      </p:pic>
      <p:pic>
        <p:nvPicPr>
          <p:cNvPr id="6" name="Picture 5" descr="A picture containing clock, dark, meter&#10;&#10;Description automatically generated">
            <a:extLst>
              <a:ext uri="{FF2B5EF4-FFF2-40B4-BE49-F238E27FC236}">
                <a16:creationId xmlns:a16="http://schemas.microsoft.com/office/drawing/2014/main" id="{C6244AAF-E90C-4743-83D4-36B7CBEF2B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940" y="2726354"/>
            <a:ext cx="3288901" cy="2468880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4F5C096-58EB-4163-A7F0-A46722509D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451429"/>
              </p:ext>
            </p:extLst>
          </p:nvPr>
        </p:nvGraphicFramePr>
        <p:xfrm>
          <a:off x="4198531" y="2926317"/>
          <a:ext cx="33718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28" r:id="rId5" imgW="1205977" imgH="266584" progId="Equation.3">
                  <p:embed/>
                </p:oleObj>
              </mc:Choice>
              <mc:Fallback>
                <p:oleObj r:id="rId5" imgW="1205977" imgH="26658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531" y="2926317"/>
                        <a:ext cx="337185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92AD655-4F4D-4F28-ACF3-925693E6A6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4972"/>
              </p:ext>
            </p:extLst>
          </p:nvPr>
        </p:nvGraphicFramePr>
        <p:xfrm>
          <a:off x="323850" y="5716331"/>
          <a:ext cx="3048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29" r:id="rId7" imgW="1143000" imgH="266700" progId="Equation.3">
                  <p:embed/>
                </p:oleObj>
              </mc:Choice>
              <mc:Fallback>
                <p:oleObj r:id="rId7" imgW="1143000" imgH="266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716331"/>
                        <a:ext cx="30480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1D9928BD-99CF-4074-B13F-B08B38BAE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60" y="887019"/>
            <a:ext cx="8247855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Conversion with either Thevenin’s Theorem or Norton’s Theorem.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With a voltage source only  	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–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 all branches  k = 1, 2, ....... b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and in matrix form as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4C6C3BC-4FE7-4C57-A572-4DCA22CC6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74" y="3586235"/>
            <a:ext cx="879039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With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 current source only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	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 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–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	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 all branches  k = 1, 2, .... ... b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and in matrix form as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75E02174-F915-4E46-AA97-822FC8520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911" y="5755115"/>
            <a:ext cx="45294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,	where	[</a:t>
            </a: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GB" altLang="en-US" sz="36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 = [</a:t>
            </a: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6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r>
              <a:rPr kumimoji="0" lang="en-GB" altLang="en-US" sz="36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016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 Summary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72FE670-22D9-4A9F-AF95-E8B17A67D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970407"/>
              </p:ext>
            </p:extLst>
          </p:nvPr>
        </p:nvGraphicFramePr>
        <p:xfrm>
          <a:off x="531625" y="1329065"/>
          <a:ext cx="2324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14" r:id="rId3" imgW="1054100" imgH="444500" progId="Equation.3">
                  <p:embed/>
                </p:oleObj>
              </mc:Choice>
              <mc:Fallback>
                <p:oleObj r:id="rId3" imgW="10541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625" y="1329065"/>
                        <a:ext cx="23241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FB32637-052D-4A79-9683-F09E242591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563061"/>
              </p:ext>
            </p:extLst>
          </p:nvPr>
        </p:nvGraphicFramePr>
        <p:xfrm>
          <a:off x="510360" y="2213340"/>
          <a:ext cx="2324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15" r:id="rId5" imgW="1040948" imgH="444307" progId="Equation.3">
                  <p:embed/>
                </p:oleObj>
              </mc:Choice>
              <mc:Fallback>
                <p:oleObj r:id="rId5" imgW="1040948" imgH="44430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360" y="2213340"/>
                        <a:ext cx="23241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E322845-BC07-4152-B7E1-C67A5216EE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217539"/>
              </p:ext>
            </p:extLst>
          </p:nvPr>
        </p:nvGraphicFramePr>
        <p:xfrm>
          <a:off x="574155" y="3501650"/>
          <a:ext cx="3352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16" r:id="rId7" imgW="1167893" imgH="266584" progId="Equation.3">
                  <p:embed/>
                </p:oleObj>
              </mc:Choice>
              <mc:Fallback>
                <p:oleObj r:id="rId7" imgW="1167893" imgH="26658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155" y="3501650"/>
                        <a:ext cx="33528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4BDF37F-D3C2-45C7-988A-0FAA66480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317645"/>
              </p:ext>
            </p:extLst>
          </p:nvPr>
        </p:nvGraphicFramePr>
        <p:xfrm>
          <a:off x="552890" y="4114795"/>
          <a:ext cx="33528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17" r:id="rId9" imgW="1143000" imgH="266700" progId="Equation.3">
                  <p:embed/>
                </p:oleObj>
              </mc:Choice>
              <mc:Fallback>
                <p:oleObj r:id="rId9" imgW="1143000" imgH="266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890" y="4114795"/>
                        <a:ext cx="3352800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FA64A2B3-DFB9-4567-9CF3-64DA84079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90" y="778309"/>
            <a:ext cx="11632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From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Kirchoff’s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Laws</a:t>
            </a:r>
            <a:endParaRPr kumimoji="0" lang="en-GB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F915894-9057-4FE2-BDA2-0DAEF7E06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9488" y="1455209"/>
            <a:ext cx="77883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(1)	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(n-1)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independent equations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50F6E04-A1EA-4C31-BA4F-B43019E2E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102" y="2365457"/>
            <a:ext cx="76129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297113" algn="l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(2)	   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   independent equations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31E2D7D3-A631-4B9A-8A00-3B456D167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102" y="3501650"/>
            <a:ext cx="81161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743200" algn="ctr"/>
                <a:tab pos="4000500" algn="r"/>
                <a:tab pos="5200650" algn="ctr"/>
                <a:tab pos="5486400" algn="r"/>
                <a:tab pos="5886450" algn="l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(3)	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 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independent equations	or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91014C66-3E4A-48A8-B8D2-C9EDDE204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545" y="4177983"/>
            <a:ext cx="7853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(3)*	    	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 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independent equations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2A912388-924C-4C80-B30D-555BCFD63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06" y="3025774"/>
            <a:ext cx="691116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and from Ohm’s Law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76509F2-C957-47B6-8191-C6034EBA8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15" y="5025003"/>
            <a:ext cx="912273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Thus total number of independent equations is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294063" algn="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	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 – 1 + l + b = b + b = </a:t>
            </a:r>
            <a:r>
              <a:rPr kumimoji="0" lang="en-GB" altLang="en-US" sz="32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 b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2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05D3D3-269D-442D-B820-AA0E3F99FAF5}"/>
              </a:ext>
            </a:extLst>
          </p:cNvPr>
          <p:cNvSpPr/>
          <p:nvPr/>
        </p:nvSpPr>
        <p:spPr>
          <a:xfrm>
            <a:off x="333153" y="822786"/>
            <a:ext cx="11525693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tabLst>
                <a:tab pos="2743200" algn="ctr"/>
                <a:tab pos="5486400" algn="r"/>
                <a:tab pos="434340" algn="l"/>
                <a:tab pos="2171700" algn="l"/>
                <a:tab pos="3293745" algn="l"/>
              </a:tabLst>
            </a:pPr>
            <a:r>
              <a:rPr lang="en-GB" sz="3400" i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2b</a:t>
            </a:r>
            <a:r>
              <a:rPr lang="en-GB" sz="34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independent equations</a:t>
            </a:r>
            <a:endParaRPr lang="en-GB" sz="340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tabLst>
                <a:tab pos="2743200" algn="ctr"/>
                <a:tab pos="5486400" algn="r"/>
                <a:tab pos="434340" algn="l"/>
                <a:tab pos="2171700" algn="l"/>
                <a:tab pos="3293745" algn="l"/>
              </a:tabLst>
            </a:pPr>
            <a:r>
              <a:rPr lang="en-GB" sz="3400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2b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unknowns (</a:t>
            </a:r>
            <a:r>
              <a:rPr lang="en-GB" sz="3400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branch currents and </a:t>
            </a:r>
            <a:r>
              <a:rPr lang="en-GB" sz="3400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branch  voltages)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tabLst>
                <a:tab pos="2743200" algn="ctr"/>
                <a:tab pos="5486400" algn="r"/>
                <a:tab pos="434340" algn="l"/>
                <a:tab pos="2171700" algn="l"/>
                <a:tab pos="3293745" algn="l"/>
              </a:tabLst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can be solved.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tabLst>
                <a:tab pos="2743200" algn="ctr"/>
                <a:tab pos="5486400" algn="r"/>
                <a:tab pos="434340" algn="l"/>
                <a:tab pos="2171700" algn="l"/>
                <a:tab pos="3293745" algn="l"/>
              </a:tabLst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Not usual to solve for both current and voltage simultaneously.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tabLst>
                <a:tab pos="2743200" algn="ctr"/>
                <a:tab pos="5486400" algn="r"/>
                <a:tab pos="434340" algn="l"/>
                <a:tab pos="2171700" algn="l"/>
                <a:tab pos="3293745" algn="l"/>
              </a:tabLst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Reductions can be done in two ways.  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tabLst>
                <a:tab pos="2743200" algn="ctr"/>
                <a:tab pos="5486400" algn="r"/>
                <a:tab pos="914400" algn="l"/>
                <a:tab pos="2171700" algn="l"/>
                <a:tab pos="3293745" algn="l"/>
              </a:tabLst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Eliminate voltages and solve for currents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"/>
              <a:tabLst>
                <a:tab pos="2743200" algn="ctr"/>
                <a:tab pos="5486400" algn="r"/>
                <a:tab pos="914400" algn="l"/>
                <a:tab pos="1485900" algn="l"/>
              </a:tabLst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mesh analysis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tabLst>
                <a:tab pos="2743200" algn="ctr"/>
                <a:tab pos="5486400" algn="r"/>
                <a:tab pos="914400" algn="l"/>
                <a:tab pos="2171700" algn="l"/>
                <a:tab pos="3293745" algn="l"/>
              </a:tabLst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Eliminate currents and solve for voltages.  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"/>
              <a:tabLst>
                <a:tab pos="2743200" algn="ctr"/>
                <a:tab pos="5486400" algn="r"/>
                <a:tab pos="914400" algn="l"/>
                <a:tab pos="1485900" algn="l"/>
              </a:tabLst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nodal analysis.</a:t>
            </a:r>
            <a:endParaRPr lang="en-GB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601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2">
            <a:extLst>
              <a:ext uri="{FF2B5EF4-FFF2-40B4-BE49-F238E27FC236}">
                <a16:creationId xmlns:a16="http://schemas.microsoft.com/office/drawing/2014/main" id="{A14196DE-2CFD-468E-A1F8-FF8B0080C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4714875" cy="660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8070ED-D119-4EF3-8BD7-8F406AF89076}"/>
              </a:ext>
            </a:extLst>
          </p:cNvPr>
          <p:cNvSpPr/>
          <p:nvPr/>
        </p:nvSpPr>
        <p:spPr>
          <a:xfrm>
            <a:off x="4791739" y="681221"/>
            <a:ext cx="7074195" cy="5759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tabLst>
                <a:tab pos="2743200" algn="ctr"/>
                <a:tab pos="5486400" algn="r"/>
                <a:tab pos="434340" algn="l"/>
                <a:tab pos="2171700" algn="l"/>
                <a:tab pos="3293745" algn="l"/>
              </a:tabLst>
            </a:pPr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Nodal analysis is like travelling between places, always starting from a central point, like </a:t>
            </a:r>
            <a:r>
              <a:rPr lang="en-GB" sz="28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Kandy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"/>
              <a:tabLst>
                <a:tab pos="2743200" algn="ctr"/>
                <a:tab pos="5486400" algn="r"/>
                <a:tab pos="514350" algn="l"/>
                <a:tab pos="2171700" algn="l"/>
                <a:tab pos="3293745" algn="l"/>
              </a:tabLst>
            </a:pPr>
            <a:r>
              <a:rPr lang="en-GB" sz="24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Kegalla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Kurunegala, </a:t>
            </a:r>
            <a:r>
              <a:rPr lang="en-GB" sz="24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Habarana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Batticaloa, Badulla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600"/>
              </a:spcAft>
              <a:tabLst>
                <a:tab pos="2743200" algn="ctr"/>
                <a:tab pos="5486400" algn="r"/>
                <a:tab pos="514350" algn="l"/>
                <a:tab pos="2171700" algn="l"/>
                <a:tab pos="3293745" algn="l"/>
              </a:tabLst>
            </a:pPr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Mesh analysis is like travelling between places, without having a central point but between all places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"/>
              <a:tabLst>
                <a:tab pos="2743200" algn="ctr"/>
                <a:tab pos="5486400" algn="r"/>
                <a:tab pos="514350" algn="l"/>
                <a:tab pos="2171700" algn="l"/>
                <a:tab pos="3293745" algn="l"/>
              </a:tabLst>
            </a:pPr>
            <a:r>
              <a:rPr lang="en-GB" sz="24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Kegalla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-Kurunegala, </a:t>
            </a:r>
            <a:r>
              <a:rPr lang="en-GB" sz="24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Kegalla-Habarana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marR="0"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2743200" algn="ctr"/>
                <a:tab pos="5486400" algn="r"/>
                <a:tab pos="514350" algn="l"/>
                <a:tab pos="2171700" algn="l"/>
                <a:tab pos="3293745" algn="l"/>
              </a:tabLst>
            </a:pPr>
            <a:r>
              <a:rPr lang="en-GB" sz="24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Kegalla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-Batticaloa, </a:t>
            </a:r>
            <a:r>
              <a:rPr lang="en-GB" sz="24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Kegalla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-Badulla, </a:t>
            </a:r>
          </a:p>
          <a:p>
            <a:pPr marR="0"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2743200" algn="ctr"/>
                <a:tab pos="5486400" algn="r"/>
                <a:tab pos="514350" algn="l"/>
                <a:tab pos="2171700" algn="l"/>
                <a:tab pos="3293745" algn="l"/>
              </a:tabLst>
            </a:pP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Kurunegala-</a:t>
            </a:r>
            <a:r>
              <a:rPr lang="en-GB" sz="24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Habarana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Kurunegala-Batticaloa, Kurunegala-Badulla, </a:t>
            </a:r>
            <a:r>
              <a:rPr lang="en-GB" sz="24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Habarana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-Batticaloa, </a:t>
            </a:r>
          </a:p>
          <a:p>
            <a:pPr marR="0"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2743200" algn="ctr"/>
                <a:tab pos="5486400" algn="r"/>
                <a:tab pos="514350" algn="l"/>
                <a:tab pos="2171700" algn="l"/>
                <a:tab pos="3293745" algn="l"/>
              </a:tabLst>
            </a:pPr>
            <a:r>
              <a:rPr lang="en-GB" sz="24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Habarana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-Badulla, Batticaloa-Badulla</a:t>
            </a:r>
            <a:endParaRPr lang="en-GB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507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B55048E9-2FDB-4D3D-8881-1A4B78AB4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05" y="846874"/>
            <a:ext cx="11975352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Eliminate the branch voltages from the equations.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Using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Kirchoff’s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current law reduce remaining currents              to  minimum.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Apply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Kirchoff’s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voltage law for solution.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Define a set of mesh currents,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Mesh Analysis</a:t>
            </a:r>
          </a:p>
        </p:txBody>
      </p:sp>
      <p:pic>
        <p:nvPicPr>
          <p:cNvPr id="4" name="Picture 3" descr="A picture containing light&#10;&#10;Description automatically generated">
            <a:extLst>
              <a:ext uri="{FF2B5EF4-FFF2-40B4-BE49-F238E27FC236}">
                <a16:creationId xmlns:a16="http://schemas.microsoft.com/office/drawing/2014/main" id="{0183909C-DD2F-4860-8429-C0D808082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947" y="1641462"/>
            <a:ext cx="3419048" cy="3476190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43EAD0A-7CE0-4A26-9A93-27E1DEA9AE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52889"/>
              </p:ext>
            </p:extLst>
          </p:nvPr>
        </p:nvGraphicFramePr>
        <p:xfrm>
          <a:off x="5693814" y="2869607"/>
          <a:ext cx="797499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6" r:id="rId4" imgW="203024" imgH="253780" progId="Equation.3">
                  <p:embed/>
                </p:oleObj>
              </mc:Choice>
              <mc:Fallback>
                <p:oleObj r:id="rId4" imgW="203024" imgH="2537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3814" y="2869607"/>
                        <a:ext cx="797499" cy="895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E130B73-04FC-41F4-AECF-B0F9C7C2D9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447030"/>
              </p:ext>
            </p:extLst>
          </p:nvPr>
        </p:nvGraphicFramePr>
        <p:xfrm>
          <a:off x="3186777" y="3614082"/>
          <a:ext cx="6477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7" r:id="rId6" imgW="177569" imgH="253670" progId="Equation.3">
                  <p:embed/>
                </p:oleObj>
              </mc:Choice>
              <mc:Fallback>
                <p:oleObj r:id="rId6" imgW="177569" imgH="25367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777" y="3614082"/>
                        <a:ext cx="647700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FA067C9-65E7-43DE-AF08-2825A190A9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342819"/>
              </p:ext>
            </p:extLst>
          </p:nvPr>
        </p:nvGraphicFramePr>
        <p:xfrm>
          <a:off x="275835" y="4378610"/>
          <a:ext cx="7429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8" r:id="rId8" imgW="203024" imgH="253780" progId="Equation.3">
                  <p:embed/>
                </p:oleObj>
              </mc:Choice>
              <mc:Fallback>
                <p:oleObj r:id="rId8" imgW="203024" imgH="2537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835" y="4378610"/>
                        <a:ext cx="74295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D562D44-8F8A-437E-950B-AD3E14D3EA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742916"/>
              </p:ext>
            </p:extLst>
          </p:nvPr>
        </p:nvGraphicFramePr>
        <p:xfrm>
          <a:off x="629963" y="5356589"/>
          <a:ext cx="22288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9" r:id="rId10" imgW="672808" imgH="253890" progId="Equation.3">
                  <p:embed/>
                </p:oleObj>
              </mc:Choice>
              <mc:Fallback>
                <p:oleObj r:id="rId10" imgW="672808" imgH="25389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63" y="5356589"/>
                        <a:ext cx="2228850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>
            <a:extLst>
              <a:ext uri="{FF2B5EF4-FFF2-40B4-BE49-F238E27FC236}">
                <a16:creationId xmlns:a16="http://schemas.microsoft.com/office/drawing/2014/main" id="{38AF6E27-FE39-4454-B2AF-AF58DBE17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40" y="3366984"/>
            <a:ext cx="319029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Branch currents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38B0546F-8408-4131-94F3-6DCDFB8F2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1717" y="3793835"/>
            <a:ext cx="48285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related to mesh currents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25077386-D7CD-47DC-9DE3-824810B27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750" y="4590396"/>
            <a:ext cx="53479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by an algebraic summation.  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7D8D8E6F-FE5B-4FC7-A834-9E93BF672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22635"/>
            <a:ext cx="2984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2293A6-0803-411E-B06D-375C98D468D7}"/>
              </a:ext>
            </a:extLst>
          </p:cNvPr>
          <p:cNvSpPr/>
          <p:nvPr/>
        </p:nvSpPr>
        <p:spPr>
          <a:xfrm>
            <a:off x="6091115" y="5517276"/>
            <a:ext cx="6623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(4)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39326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DD1DFE6-54B2-42DB-ADEC-3A37D01B6E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774241"/>
              </p:ext>
            </p:extLst>
          </p:nvPr>
        </p:nvGraphicFramePr>
        <p:xfrm>
          <a:off x="829340" y="1786940"/>
          <a:ext cx="5753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1" r:id="rId3" imgW="1943100" imgH="292100" progId="Equation.3">
                  <p:embed/>
                </p:oleObj>
              </mc:Choice>
              <mc:Fallback>
                <p:oleObj r:id="rId3" imgW="1943100" imgH="292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340" y="1786940"/>
                        <a:ext cx="57531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DC473BC-C15C-4DD4-8F87-BAEDD7A8DF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028094"/>
              </p:ext>
            </p:extLst>
          </p:nvPr>
        </p:nvGraphicFramePr>
        <p:xfrm>
          <a:off x="1128712" y="3137086"/>
          <a:ext cx="22002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2" r:id="rId5" imgW="660113" imgH="253890" progId="Equation.3">
                  <p:embed/>
                </p:oleObj>
              </mc:Choice>
              <mc:Fallback>
                <p:oleObj r:id="rId5" imgW="660113" imgH="25389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2" y="3137086"/>
                        <a:ext cx="220027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8E9E6B4-E334-4EC0-B136-FE7BA06FE9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080662"/>
              </p:ext>
            </p:extLst>
          </p:nvPr>
        </p:nvGraphicFramePr>
        <p:xfrm>
          <a:off x="1100137" y="3811770"/>
          <a:ext cx="44577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3" r:id="rId7" imgW="1435100" imgH="292100" progId="Equation.3">
                  <p:embed/>
                </p:oleObj>
              </mc:Choice>
              <mc:Fallback>
                <p:oleObj r:id="rId7" imgW="1435100" imgH="292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7" y="3811770"/>
                        <a:ext cx="44577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CC627B75-7DBE-438B-A7F5-B691C36B5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70" y="686216"/>
            <a:ext cx="1114292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Eliminate </a:t>
            </a:r>
            <a:r>
              <a:rPr kumimoji="0" lang="en-GB" altLang="en-US" sz="32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from the equations,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Pre-multiply equation (3) by [B]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FE005F0-0864-4F0E-AAEC-BAB9B7C88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70" y="2504696"/>
            <a:ext cx="11972260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from equation (2),   [B]</a:t>
            </a:r>
            <a:r>
              <a:rPr kumimoji="0" lang="en-GB" altLang="en-US" sz="36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en-GB" altLang="en-US" sz="36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0. 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Also 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CECC578-B80A-47CA-BBE5-8B235CC5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34" y="3844130"/>
            <a:ext cx="8718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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67A0EDA-791E-4AAD-8682-ED5C767EA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65656"/>
            <a:ext cx="1197226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[B]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V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b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= 0 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sum of voltages around a loop is zero.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i.e.   [B]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sum of voltages around a loop.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 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[B]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gb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sum of source voltages around a loop.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Defined as mesh source voltage vector </a:t>
            </a:r>
            <a:r>
              <a:rPr kumimoji="0" lang="en-GB" altLang="en-US" sz="32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gm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3985477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E24A18A-0D84-45EB-8E94-A5149006B6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670312"/>
              </p:ext>
            </p:extLst>
          </p:nvPr>
        </p:nvGraphicFramePr>
        <p:xfrm>
          <a:off x="2521689" y="1704762"/>
          <a:ext cx="47244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0" r:id="rId3" imgW="1435100" imgH="279400" progId="Equation.3">
                  <p:embed/>
                </p:oleObj>
              </mc:Choice>
              <mc:Fallback>
                <p:oleObj r:id="rId3" imgW="1435100" imgH="279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1689" y="1704762"/>
                        <a:ext cx="4724400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2923CB4-1A74-4E75-B12C-1A6202529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711401"/>
              </p:ext>
            </p:extLst>
          </p:nvPr>
        </p:nvGraphicFramePr>
        <p:xfrm>
          <a:off x="3444685" y="2791452"/>
          <a:ext cx="24574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1" r:id="rId5" imgW="723586" imgH="253890" progId="Equation.3">
                  <p:embed/>
                </p:oleObj>
              </mc:Choice>
              <mc:Fallback>
                <p:oleObj r:id="rId5" imgW="723586" imgH="25389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685" y="2791452"/>
                        <a:ext cx="245745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BB2590DB-EC93-4E4F-B3C0-D5EF20DA7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56" y="857733"/>
            <a:ext cx="572464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r"/>
                <a:tab pos="1658938" algn="ctr"/>
                <a:tab pos="2168525" algn="l"/>
                <a:tab pos="2636838" algn="l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i.e.	</a:t>
            </a:r>
            <a:r>
              <a:rPr kumimoji="0" lang="en-GB" altLang="en-US" sz="32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E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gm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=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[B]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E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gb</a:t>
            </a:r>
            <a:endParaRPr kumimoji="0" lang="en-GB" altLang="en-US" sz="3200" b="0" i="0" u="none" strike="noStrike" cap="none" normalizeH="0" baseline="-30000" dirty="0">
              <a:ln>
                <a:noFill/>
              </a:ln>
              <a:solidFill>
                <a:srgbClr val="002060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r"/>
                <a:tab pos="1658938" algn="ctr"/>
                <a:tab pos="2168525" algn="l"/>
                <a:tab pos="2636838" algn="l"/>
                <a:tab pos="5486400" algn="r"/>
              </a:tabLst>
            </a:pP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r"/>
                <a:tab pos="1722438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</a:t>
            </a:r>
            <a:r>
              <a:rPr kumimoji="0" lang="en-GB" altLang="en-US" sz="3200" b="0" i="1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GB" altLang="en-US" sz="3200" b="0" i="1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gm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=	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92733CD-29F5-4E20-B86B-39EB0C449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092" y="2927009"/>
            <a:ext cx="33185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where	[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  =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9A73F43-7EF0-4A98-B89B-9064D2A26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97" y="3528700"/>
            <a:ext cx="9429184" cy="2994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[B] 	also known as the  tie-set matrix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	(as its elements </a:t>
            </a:r>
            <a:r>
              <a:rPr kumimoji="0" lang="en-GB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tie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the loop together)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Unknowns are 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values of current </a:t>
            </a:r>
            <a:r>
              <a:rPr kumimoji="0" lang="en-GB" altLang="en-US" sz="3200" b="0" i="1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1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Original 2b equations and 2b unknowns reduced to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r"/>
                <a:tab pos="2743200" algn="ctr"/>
                <a:tab pos="5486400" algn="r"/>
              </a:tabLst>
            </a:pP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equations and </a:t>
            </a: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unknowns.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54D4F6-2636-4254-9284-367CEFDD30CF}"/>
              </a:ext>
            </a:extLst>
          </p:cNvPr>
          <p:cNvSpPr/>
          <p:nvPr/>
        </p:nvSpPr>
        <p:spPr>
          <a:xfrm>
            <a:off x="6159795" y="2961170"/>
            <a:ext cx="49888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3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corresponds to </a:t>
            </a:r>
            <a:r>
              <a:rPr lang="en-GB" altLang="en-US" sz="3200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GB" altLang="en-US" sz="3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equations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80109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7B4076-0A06-4BAE-A72C-2B41D29D32C8}"/>
              </a:ext>
            </a:extLst>
          </p:cNvPr>
          <p:cNvSpPr/>
          <p:nvPr/>
        </p:nvSpPr>
        <p:spPr>
          <a:xfrm>
            <a:off x="535172" y="661336"/>
            <a:ext cx="11121655" cy="6047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tabLst>
                <a:tab pos="2743200" algn="ctr"/>
                <a:tab pos="5486400" algn="r"/>
                <a:tab pos="457200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Elements of [</a:t>
            </a:r>
            <a:r>
              <a:rPr lang="en-GB" sz="32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GB" sz="3200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] can be obtained either from above mathematics, or by inspection as follows.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tabLst>
                <a:tab pos="850900" algn="l"/>
                <a:tab pos="2743200" algn="ctr"/>
                <a:tab pos="5486400" algn="r"/>
                <a:tab pos="0" algn="l"/>
              </a:tabLst>
            </a:pPr>
            <a:r>
              <a:rPr lang="en-GB" sz="32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GB" sz="3200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jj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=	self impedance of mesh j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  <a:tabLst>
                <a:tab pos="850900" algn="l"/>
                <a:tab pos="2743200" algn="ctr"/>
                <a:tab pos="5486400" algn="r"/>
                <a:tab pos="0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=	sum of all branch impedances in mesh j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tabLst>
                <a:tab pos="850900" algn="l"/>
                <a:tab pos="2743200" algn="ctr"/>
                <a:tab pos="5486400" algn="r"/>
                <a:tab pos="0" algn="l"/>
              </a:tabLst>
            </a:pPr>
            <a:r>
              <a:rPr lang="en-GB" sz="32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GB" sz="3200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jk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=	mutual impedance between mesh j and mesh k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69010" marR="0" indent="-969010" algn="just">
              <a:spcBef>
                <a:spcPts val="0"/>
              </a:spcBef>
              <a:spcAft>
                <a:spcPts val="0"/>
              </a:spcAft>
              <a:tabLst>
                <a:tab pos="2743200" algn="ctr"/>
                <a:tab pos="5486400" algn="r"/>
                <a:tab pos="571500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=	sum of all branch impedances common to mesh j and mesh k and traversed in mesh direction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69010" marR="0" indent="-969010" algn="just">
              <a:spcBef>
                <a:spcPts val="0"/>
              </a:spcBef>
              <a:spcAft>
                <a:spcPts val="1200"/>
              </a:spcAft>
              <a:tabLst>
                <a:tab pos="2743200" algn="ctr"/>
                <a:tab pos="5486400" algn="r"/>
                <a:tab pos="571500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</a:t>
            </a:r>
            <a:r>
              <a:rPr lang="en-GB" sz="3200" dirty="0">
                <a:solidFill>
                  <a:srgbClr val="002060"/>
                </a:solidFill>
                <a:latin typeface="Symbol" panose="05050102010706020507" pitchFamily="18" charset="2"/>
                <a:ea typeface="Times New Roman" panose="02020603050405020304" pitchFamily="18" charset="0"/>
              </a:rPr>
              <a:t>-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sum of all branch impedances common to mesh j and mesh k, and traversed in opposite direction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71550" marR="0" indent="-971550">
              <a:spcBef>
                <a:spcPts val="0"/>
              </a:spcBef>
              <a:spcAft>
                <a:spcPts val="600"/>
              </a:spcAft>
              <a:tabLst>
                <a:tab pos="2743200" algn="ctr"/>
                <a:tab pos="5486400" algn="r"/>
                <a:tab pos="571500" algn="l"/>
              </a:tabLst>
            </a:pPr>
            <a:r>
              <a:rPr lang="en-GB" sz="32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GB" sz="3200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=	algebraic sum of the branch voltage sources in              mesh j in mesh direction.</a:t>
            </a:r>
            <a:endParaRPr lang="en-GB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851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4B16C4D-7DF2-49B3-81C9-D8C6266955A3}"/>
              </a:ext>
            </a:extLst>
          </p:cNvPr>
          <p:cNvGrpSpPr/>
          <p:nvPr/>
        </p:nvGrpSpPr>
        <p:grpSpPr>
          <a:xfrm>
            <a:off x="2329926" y="996585"/>
            <a:ext cx="7375728" cy="2183390"/>
            <a:chOff x="2329926" y="2334075"/>
            <a:chExt cx="7375728" cy="2183390"/>
          </a:xfrm>
        </p:grpSpPr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22CB740E-7F43-4D4A-830A-96F381875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2834" y="2346997"/>
              <a:ext cx="660707" cy="434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4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j6 </a:t>
              </a:r>
              <a:r>
                <a:rPr lang="en-GB" sz="2400" dirty="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B7E9C99-A8E4-409D-91FA-AB405A6C3A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7359" y="4168310"/>
              <a:ext cx="257476" cy="349155"/>
              <a:chOff x="4701" y="3904"/>
              <a:chExt cx="240" cy="360"/>
            </a:xfrm>
          </p:grpSpPr>
          <p:cxnSp>
            <p:nvCxnSpPr>
              <p:cNvPr id="96" name="Line 6">
                <a:extLst>
                  <a:ext uri="{FF2B5EF4-FFF2-40B4-BE49-F238E27FC236}">
                    <a16:creationId xmlns:a16="http://schemas.microsoft.com/office/drawing/2014/main" id="{FE721328-E67D-4B41-9112-A2D98867434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21" y="3904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7" name="Line 7">
                <a:extLst>
                  <a:ext uri="{FF2B5EF4-FFF2-40B4-BE49-F238E27FC236}">
                    <a16:creationId xmlns:a16="http://schemas.microsoft.com/office/drawing/2014/main" id="{337D3128-A89A-4190-8BD9-14B483BEBCE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01" y="4144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8" name="Line 8">
                <a:extLst>
                  <a:ext uri="{FF2B5EF4-FFF2-40B4-BE49-F238E27FC236}">
                    <a16:creationId xmlns:a16="http://schemas.microsoft.com/office/drawing/2014/main" id="{104819E6-EC84-48A6-BAB4-E630F794D24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46" y="4204"/>
                <a:ext cx="14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9" name="Line 9">
                <a:extLst>
                  <a:ext uri="{FF2B5EF4-FFF2-40B4-BE49-F238E27FC236}">
                    <a16:creationId xmlns:a16="http://schemas.microsoft.com/office/drawing/2014/main" id="{BD938543-EABD-48CC-9B7C-C964010A142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91" y="4264"/>
                <a:ext cx="85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258D68-9A6B-4EE1-8A75-0AD3B03C3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9926" y="2529346"/>
              <a:ext cx="1259611" cy="801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</a:t>
              </a:r>
              <a:r>
                <a:rPr lang="en-GB" sz="2400" baseline="-250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100</a:t>
              </a:r>
              <a:r>
                <a:rPr lang="en-GB" sz="24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</a:t>
              </a:r>
              <a:r>
                <a:rPr lang="en-GB" sz="24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GB" sz="2400" baseline="300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GB" sz="24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V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D755F595-BCCA-4A28-9904-5A2D3FE04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4790" y="2334075"/>
              <a:ext cx="784756" cy="434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4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j20 </a:t>
              </a:r>
              <a:r>
                <a:rPr lang="en-GB" sz="2400" dirty="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125C3098-931E-4D85-BAE5-CD8A9215A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3865" y="3332706"/>
              <a:ext cx="1018182" cy="434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GB" sz="24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-j120 </a:t>
              </a:r>
              <a:r>
                <a:rPr lang="en-GB" sz="24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Times New Roman" panose="02020603050405020304" pitchFamily="18" charset="0"/>
                </a:rPr>
                <a:t>W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2" name="Line 13">
              <a:extLst>
                <a:ext uri="{FF2B5EF4-FFF2-40B4-BE49-F238E27FC236}">
                  <a16:creationId xmlns:a16="http://schemas.microsoft.com/office/drawing/2014/main" id="{07081D3B-7076-4562-9B08-63A4222739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04564" y="4137764"/>
              <a:ext cx="45351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ABC123B-1E56-4BDF-B979-3315F1371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6400" y="2692662"/>
              <a:ext cx="1479254" cy="69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</a:t>
              </a:r>
              <a:r>
                <a:rPr lang="en-GB" sz="2400" baseline="-250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100</a:t>
              </a:r>
              <a:r>
                <a:rPr lang="en-GB" sz="24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</a:t>
              </a:r>
              <a:r>
                <a:rPr lang="en-GB" sz="24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30</a:t>
              </a:r>
              <a:r>
                <a:rPr lang="en-GB" sz="2400" baseline="300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GB" sz="24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V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AB0FDA8-A4BE-4449-A93A-A5EB27B566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1138" y="2823429"/>
              <a:ext cx="469075" cy="1313001"/>
              <a:chOff x="4040" y="1988"/>
              <a:chExt cx="600" cy="1680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A8580DA6-1E5F-43E3-9358-C1A66923F3B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156" y="2676"/>
                <a:ext cx="362" cy="272"/>
                <a:chOff x="4778" y="6098"/>
                <a:chExt cx="2880" cy="1440"/>
              </a:xfrm>
            </p:grpSpPr>
            <p:sp>
              <p:nvSpPr>
                <p:cNvPr id="94" name="Arc 17">
                  <a:extLst>
                    <a:ext uri="{FF2B5EF4-FFF2-40B4-BE49-F238E27FC236}">
                      <a16:creationId xmlns:a16="http://schemas.microsoft.com/office/drawing/2014/main" id="{B0C75F5D-A1D7-4956-A3C6-AB996930F69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>
                  <a:off x="4778" y="6098"/>
                  <a:ext cx="1439" cy="720"/>
                </a:xfrm>
                <a:custGeom>
                  <a:avLst/>
                  <a:gdLst>
                    <a:gd name="G0" fmla="+- 21595 0 0"/>
                    <a:gd name="G1" fmla="+- 21600 0 0"/>
                    <a:gd name="G2" fmla="+- 21600 0 0"/>
                    <a:gd name="T0" fmla="*/ 0 w 43195"/>
                    <a:gd name="T1" fmla="*/ 21149 h 21600"/>
                    <a:gd name="T2" fmla="*/ 43195 w 43195"/>
                    <a:gd name="T3" fmla="*/ 21600 h 21600"/>
                    <a:gd name="T4" fmla="*/ 21595 w 4319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5" h="21600" fill="none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</a:path>
                    <a:path w="43195" h="21600" stroke="0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  <a:lnTo>
                        <a:pt x="21595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95" name="Arc 18">
                  <a:extLst>
                    <a:ext uri="{FF2B5EF4-FFF2-40B4-BE49-F238E27FC236}">
                      <a16:creationId xmlns:a16="http://schemas.microsoft.com/office/drawing/2014/main" id="{428BCAF2-3A50-47D0-AE53-0A2B682EB5C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6219" y="6818"/>
                  <a:ext cx="1439" cy="720"/>
                </a:xfrm>
                <a:custGeom>
                  <a:avLst/>
                  <a:gdLst>
                    <a:gd name="G0" fmla="+- 21595 0 0"/>
                    <a:gd name="G1" fmla="+- 21600 0 0"/>
                    <a:gd name="G2" fmla="+- 21600 0 0"/>
                    <a:gd name="T0" fmla="*/ 0 w 43195"/>
                    <a:gd name="T1" fmla="*/ 21149 h 21600"/>
                    <a:gd name="T2" fmla="*/ 43195 w 43195"/>
                    <a:gd name="T3" fmla="*/ 21600 h 21600"/>
                    <a:gd name="T4" fmla="*/ 21595 w 4319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5" h="21600" fill="none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</a:path>
                    <a:path w="43195" h="21600" stroke="0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  <a:lnTo>
                        <a:pt x="21595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A957029-D6AD-49F3-8A50-89DBACBF2A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40" y="2528"/>
                <a:ext cx="600" cy="600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92" name="Line 20">
                <a:extLst>
                  <a:ext uri="{FF2B5EF4-FFF2-40B4-BE49-F238E27FC236}">
                    <a16:creationId xmlns:a16="http://schemas.microsoft.com/office/drawing/2014/main" id="{5487B42E-AA08-479F-89D1-F840CA5273DD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4340" y="198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Line 21">
                <a:extLst>
                  <a:ext uri="{FF2B5EF4-FFF2-40B4-BE49-F238E27FC236}">
                    <a16:creationId xmlns:a16="http://schemas.microsoft.com/office/drawing/2014/main" id="{4960E7B1-97D2-4865-800F-23B569E28AA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4340" y="312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6209636-4279-46C4-815B-94244A9465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975189" y="3595573"/>
              <a:ext cx="283668" cy="212607"/>
              <a:chOff x="4778" y="6098"/>
              <a:chExt cx="2880" cy="1440"/>
            </a:xfrm>
          </p:grpSpPr>
          <p:sp>
            <p:nvSpPr>
              <p:cNvPr id="88" name="Arc 23">
                <a:extLst>
                  <a:ext uri="{FF2B5EF4-FFF2-40B4-BE49-F238E27FC236}">
                    <a16:creationId xmlns:a16="http://schemas.microsoft.com/office/drawing/2014/main" id="{ADB45FB1-C2A7-4C27-B8C7-F53D074B88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>
                <a:off x="4778" y="6098"/>
                <a:ext cx="1439" cy="72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0 w 43195"/>
                  <a:gd name="T1" fmla="*/ 21149 h 21600"/>
                  <a:gd name="T2" fmla="*/ 43195 w 43195"/>
                  <a:gd name="T3" fmla="*/ 21600 h 21600"/>
                  <a:gd name="T4" fmla="*/ 21595 w 4319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21600" fill="none" extrusionOk="0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</a:path>
                  <a:path w="43195" h="21600" stroke="0" extrusionOk="0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89" name="Arc 24">
                <a:extLst>
                  <a:ext uri="{FF2B5EF4-FFF2-40B4-BE49-F238E27FC236}">
                    <a16:creationId xmlns:a16="http://schemas.microsoft.com/office/drawing/2014/main" id="{1D89A028-660B-475D-B31B-E5A35286D3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6219" y="6818"/>
                <a:ext cx="1439" cy="72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0 w 43195"/>
                  <a:gd name="T1" fmla="*/ 21149 h 21600"/>
                  <a:gd name="T2" fmla="*/ 43195 w 43195"/>
                  <a:gd name="T3" fmla="*/ 21600 h 21600"/>
                  <a:gd name="T4" fmla="*/ 21595 w 4319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21600" fill="none" extrusionOk="0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</a:path>
                  <a:path w="43195" h="21600" stroke="0" extrusionOk="0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B75E64E-B691-4024-883F-8377CF7E34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884042" y="3480374"/>
              <a:ext cx="469075" cy="468357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17" name="Line 26">
              <a:extLst>
                <a:ext uri="{FF2B5EF4-FFF2-40B4-BE49-F238E27FC236}">
                  <a16:creationId xmlns:a16="http://schemas.microsoft.com/office/drawing/2014/main" id="{35DB7CD5-3452-492B-BBEE-DDF58EA1015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8105907" y="3948731"/>
              <a:ext cx="0" cy="18903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632C2CC-76E1-4A54-A6F6-4B18E6DDD5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7814558" y="3086325"/>
              <a:ext cx="670734" cy="160508"/>
              <a:chOff x="1658" y="2144"/>
              <a:chExt cx="1440" cy="361"/>
            </a:xfrm>
          </p:grpSpPr>
          <p:cxnSp>
            <p:nvCxnSpPr>
              <p:cNvPr id="79" name="Line 28">
                <a:extLst>
                  <a:ext uri="{FF2B5EF4-FFF2-40B4-BE49-F238E27FC236}">
                    <a16:creationId xmlns:a16="http://schemas.microsoft.com/office/drawing/2014/main" id="{EE92F6C2-EC12-4D5C-BD73-948097F155BF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6D9F2191-36E8-4DF2-AC3C-08FEBFD7193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82" name="Line 30">
                  <a:extLst>
                    <a:ext uri="{FF2B5EF4-FFF2-40B4-BE49-F238E27FC236}">
                      <a16:creationId xmlns:a16="http://schemas.microsoft.com/office/drawing/2014/main" id="{201990CE-B6D3-4849-8C97-F391D5AC735C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3" name="Line 31">
                  <a:extLst>
                    <a:ext uri="{FF2B5EF4-FFF2-40B4-BE49-F238E27FC236}">
                      <a16:creationId xmlns:a16="http://schemas.microsoft.com/office/drawing/2014/main" id="{FEC1ADE0-A943-4A9D-8B67-0119B74AE0FC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4" name="Line 32">
                  <a:extLst>
                    <a:ext uri="{FF2B5EF4-FFF2-40B4-BE49-F238E27FC236}">
                      <a16:creationId xmlns:a16="http://schemas.microsoft.com/office/drawing/2014/main" id="{CC0DDCC6-51E3-48EF-802F-1B54F875400E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5" name="Line 33">
                  <a:extLst>
                    <a:ext uri="{FF2B5EF4-FFF2-40B4-BE49-F238E27FC236}">
                      <a16:creationId xmlns:a16="http://schemas.microsoft.com/office/drawing/2014/main" id="{484F498E-1377-40DB-A3B8-6389D6F15E23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6" name="Line 34">
                  <a:extLst>
                    <a:ext uri="{FF2B5EF4-FFF2-40B4-BE49-F238E27FC236}">
                      <a16:creationId xmlns:a16="http://schemas.microsoft.com/office/drawing/2014/main" id="{2DF060D8-9C5F-46BA-AC2E-DFDF634E5438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7" name="Line 35">
                  <a:extLst>
                    <a:ext uri="{FF2B5EF4-FFF2-40B4-BE49-F238E27FC236}">
                      <a16:creationId xmlns:a16="http://schemas.microsoft.com/office/drawing/2014/main" id="{DE137B37-ADE2-435B-B0AB-68C3D954EF25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81" name="Line 36">
                <a:extLst>
                  <a:ext uri="{FF2B5EF4-FFF2-40B4-BE49-F238E27FC236}">
                    <a16:creationId xmlns:a16="http://schemas.microsoft.com/office/drawing/2014/main" id="{8659D4BC-F1BF-4478-B712-5507C5D1DFC0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3A05F81-E122-40CE-840E-498DBD75455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971679" y="2706895"/>
              <a:ext cx="779865" cy="257085"/>
              <a:chOff x="8378" y="8272"/>
              <a:chExt cx="1080" cy="355"/>
            </a:xfrm>
          </p:grpSpPr>
          <p:sp>
            <p:nvSpPr>
              <p:cNvPr id="67" name="Arc 38">
                <a:extLst>
                  <a:ext uri="{FF2B5EF4-FFF2-40B4-BE49-F238E27FC236}">
                    <a16:creationId xmlns:a16="http://schemas.microsoft.com/office/drawing/2014/main" id="{F78503C9-115B-4B85-8CB8-C6D63EFD25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8378" y="8447"/>
                <a:ext cx="320" cy="169"/>
              </a:xfrm>
              <a:custGeom>
                <a:avLst/>
                <a:gdLst>
                  <a:gd name="G0" fmla="+- 19973 0 0"/>
                  <a:gd name="G1" fmla="+- 21600 0 0"/>
                  <a:gd name="G2" fmla="+- 21600 0 0"/>
                  <a:gd name="T0" fmla="*/ 0 w 41573"/>
                  <a:gd name="T1" fmla="*/ 13377 h 22566"/>
                  <a:gd name="T2" fmla="*/ 41551 w 41573"/>
                  <a:gd name="T3" fmla="*/ 22566 h 22566"/>
                  <a:gd name="T4" fmla="*/ 19973 w 41573"/>
                  <a:gd name="T5" fmla="*/ 21600 h 2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573" h="22566" fill="none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w="41573" h="22566" stroke="0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8CC99B1A-FDE7-43A7-83D8-A75470E901E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556" y="8282"/>
                <a:ext cx="328" cy="345"/>
                <a:chOff x="2020" y="8243"/>
                <a:chExt cx="1768" cy="960"/>
              </a:xfrm>
            </p:grpSpPr>
            <p:sp>
              <p:nvSpPr>
                <p:cNvPr id="77" name="Arc 40">
                  <a:extLst>
                    <a:ext uri="{FF2B5EF4-FFF2-40B4-BE49-F238E27FC236}">
                      <a16:creationId xmlns:a16="http://schemas.microsoft.com/office/drawing/2014/main" id="{467C13D7-F70C-4898-83B6-D8331629ED6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8" name="Arc 41">
                  <a:extLst>
                    <a:ext uri="{FF2B5EF4-FFF2-40B4-BE49-F238E27FC236}">
                      <a16:creationId xmlns:a16="http://schemas.microsoft.com/office/drawing/2014/main" id="{F6796DFE-6C15-4E01-84B9-005A16382AE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850ACFC4-ACC6-4D0B-9C05-B1BF62D8C4C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745" y="8272"/>
                <a:ext cx="328" cy="345"/>
                <a:chOff x="2020" y="8243"/>
                <a:chExt cx="1768" cy="960"/>
              </a:xfrm>
            </p:grpSpPr>
            <p:sp>
              <p:nvSpPr>
                <p:cNvPr id="75" name="Arc 43">
                  <a:extLst>
                    <a:ext uri="{FF2B5EF4-FFF2-40B4-BE49-F238E27FC236}">
                      <a16:creationId xmlns:a16="http://schemas.microsoft.com/office/drawing/2014/main" id="{72B7B6B7-AEC2-45DE-AED8-8AB83D4B149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6" name="Arc 44">
                  <a:extLst>
                    <a:ext uri="{FF2B5EF4-FFF2-40B4-BE49-F238E27FC236}">
                      <a16:creationId xmlns:a16="http://schemas.microsoft.com/office/drawing/2014/main" id="{637A95C3-30E5-411B-92C9-04036D90659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1C147316-D265-4A30-A5AD-96F1703A591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931" y="8278"/>
                <a:ext cx="328" cy="345"/>
                <a:chOff x="2020" y="8243"/>
                <a:chExt cx="1768" cy="960"/>
              </a:xfrm>
            </p:grpSpPr>
            <p:sp>
              <p:nvSpPr>
                <p:cNvPr id="73" name="Arc 46">
                  <a:extLst>
                    <a:ext uri="{FF2B5EF4-FFF2-40B4-BE49-F238E27FC236}">
                      <a16:creationId xmlns:a16="http://schemas.microsoft.com/office/drawing/2014/main" id="{655907F3-D3AF-42F7-97C6-5F62B72DD14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4" name="Arc 47">
                  <a:extLst>
                    <a:ext uri="{FF2B5EF4-FFF2-40B4-BE49-F238E27FC236}">
                      <a16:creationId xmlns:a16="http://schemas.microsoft.com/office/drawing/2014/main" id="{5E71C2FA-5A98-4ED6-902F-09C64C4FDB7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71" name="Arc 48">
                <a:extLst>
                  <a:ext uri="{FF2B5EF4-FFF2-40B4-BE49-F238E27FC236}">
                    <a16:creationId xmlns:a16="http://schemas.microsoft.com/office/drawing/2014/main" id="{16337825-4196-4360-8532-66B90D72B8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18" y="8274"/>
                <a:ext cx="156" cy="24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649 w 43200"/>
                  <a:gd name="T1" fmla="*/ 34987 h 34987"/>
                  <a:gd name="T2" fmla="*/ 39113 w 43200"/>
                  <a:gd name="T3" fmla="*/ 34243 h 34987"/>
                  <a:gd name="T4" fmla="*/ 21600 w 43200"/>
                  <a:gd name="T5" fmla="*/ 21600 h 34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987" fill="none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</a:path>
                  <a:path w="43200" h="34987" stroke="0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72" name="Arc 49">
                <a:extLst>
                  <a:ext uri="{FF2B5EF4-FFF2-40B4-BE49-F238E27FC236}">
                    <a16:creationId xmlns:a16="http://schemas.microsoft.com/office/drawing/2014/main" id="{9BAEBF90-B4E0-48B5-B7F5-2E05F1299F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9136" y="8454"/>
                <a:ext cx="322" cy="16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 w 41896"/>
                  <a:gd name="T1" fmla="*/ 22008 h 22008"/>
                  <a:gd name="T2" fmla="*/ 41896 w 41896"/>
                  <a:gd name="T3" fmla="*/ 14208 h 22008"/>
                  <a:gd name="T4" fmla="*/ 21600 w 41896"/>
                  <a:gd name="T5" fmla="*/ 21600 h 22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896" h="22008" fill="none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w="41896" h="22008" stroke="0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20" name="Line 50">
              <a:extLst>
                <a:ext uri="{FF2B5EF4-FFF2-40B4-BE49-F238E27FC236}">
                  <a16:creationId xmlns:a16="http://schemas.microsoft.com/office/drawing/2014/main" id="{86F7FEF6-62DE-4DED-8F43-9AA4FAC5B13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6530615" y="2824318"/>
              <a:ext cx="46863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Line 51">
              <a:extLst>
                <a:ext uri="{FF2B5EF4-FFF2-40B4-BE49-F238E27FC236}">
                  <a16:creationId xmlns:a16="http://schemas.microsoft.com/office/drawing/2014/main" id="{6DACDA0C-91E0-4B4F-BD1B-AC8335361A6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7743541" y="2826097"/>
              <a:ext cx="35925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84B2B7E-C0F3-4993-8749-FA968651A6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6200000">
              <a:off x="4429603" y="3270065"/>
              <a:ext cx="1313001" cy="378819"/>
              <a:chOff x="6218" y="1958"/>
              <a:chExt cx="1320" cy="360"/>
            </a:xfrm>
          </p:grpSpPr>
          <p:cxnSp>
            <p:nvCxnSpPr>
              <p:cNvPr id="63" name="Line 53">
                <a:extLst>
                  <a:ext uri="{FF2B5EF4-FFF2-40B4-BE49-F238E27FC236}">
                    <a16:creationId xmlns:a16="http://schemas.microsoft.com/office/drawing/2014/main" id="{30B8FB4A-D6F2-4350-B357-B285254EDC0D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218" y="2138"/>
                <a:ext cx="60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4" name="Line 54">
                <a:extLst>
                  <a:ext uri="{FF2B5EF4-FFF2-40B4-BE49-F238E27FC236}">
                    <a16:creationId xmlns:a16="http://schemas.microsoft.com/office/drawing/2014/main" id="{3FA76AA7-A755-42DF-871C-C378B1513233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938" y="2138"/>
                <a:ext cx="60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5" name="Line 55">
                <a:extLst>
                  <a:ext uri="{FF2B5EF4-FFF2-40B4-BE49-F238E27FC236}">
                    <a16:creationId xmlns:a16="http://schemas.microsoft.com/office/drawing/2014/main" id="{FDF975A6-14B3-4C43-A166-504990C8762E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818" y="1958"/>
                <a:ext cx="0" cy="36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6" name="Line 56">
                <a:extLst>
                  <a:ext uri="{FF2B5EF4-FFF2-40B4-BE49-F238E27FC236}">
                    <a16:creationId xmlns:a16="http://schemas.microsoft.com/office/drawing/2014/main" id="{B3935E51-91D1-436B-9942-E0950C8977A5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938" y="1958"/>
                <a:ext cx="0" cy="36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DD1A3EC-351E-4667-A5E3-8207EA5957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2777" y="2685762"/>
              <a:ext cx="1511712" cy="304676"/>
              <a:chOff x="1658" y="2144"/>
              <a:chExt cx="1440" cy="361"/>
            </a:xfrm>
          </p:grpSpPr>
          <p:cxnSp>
            <p:nvCxnSpPr>
              <p:cNvPr id="54" name="Line 58">
                <a:extLst>
                  <a:ext uri="{FF2B5EF4-FFF2-40B4-BE49-F238E27FC236}">
                    <a16:creationId xmlns:a16="http://schemas.microsoft.com/office/drawing/2014/main" id="{CF912B95-9915-48E1-B02C-ADC5E97949A5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EC70618-9976-4820-83C6-44708A4E285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57" name="Line 60">
                  <a:extLst>
                    <a:ext uri="{FF2B5EF4-FFF2-40B4-BE49-F238E27FC236}">
                      <a16:creationId xmlns:a16="http://schemas.microsoft.com/office/drawing/2014/main" id="{9FBAE18B-7844-456C-A485-8A9DEB6FD88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8" name="Line 61">
                  <a:extLst>
                    <a:ext uri="{FF2B5EF4-FFF2-40B4-BE49-F238E27FC236}">
                      <a16:creationId xmlns:a16="http://schemas.microsoft.com/office/drawing/2014/main" id="{4C44579A-427A-4650-89B5-9102BA49EBFE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Line 62">
                  <a:extLst>
                    <a:ext uri="{FF2B5EF4-FFF2-40B4-BE49-F238E27FC236}">
                      <a16:creationId xmlns:a16="http://schemas.microsoft.com/office/drawing/2014/main" id="{195F8F16-9D97-4C12-8BCB-EFA5336107D1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0" name="Line 63">
                  <a:extLst>
                    <a:ext uri="{FF2B5EF4-FFF2-40B4-BE49-F238E27FC236}">
                      <a16:creationId xmlns:a16="http://schemas.microsoft.com/office/drawing/2014/main" id="{994A8CB4-FB3E-4393-82E6-B07BA6A12A0C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1" name="Line 64">
                  <a:extLst>
                    <a:ext uri="{FF2B5EF4-FFF2-40B4-BE49-F238E27FC236}">
                      <a16:creationId xmlns:a16="http://schemas.microsoft.com/office/drawing/2014/main" id="{3D2CC043-54C1-4446-A991-42E91F2239CA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" name="Line 65">
                  <a:extLst>
                    <a:ext uri="{FF2B5EF4-FFF2-40B4-BE49-F238E27FC236}">
                      <a16:creationId xmlns:a16="http://schemas.microsoft.com/office/drawing/2014/main" id="{6EFC3E97-AA47-4ABB-8D2A-C05A93F88CD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56" name="Line 66">
                <a:extLst>
                  <a:ext uri="{FF2B5EF4-FFF2-40B4-BE49-F238E27FC236}">
                    <a16:creationId xmlns:a16="http://schemas.microsoft.com/office/drawing/2014/main" id="{7DCEFEFE-AEB8-438D-B35D-6ECC656166C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D5ACE4B-538A-4EB4-AAAB-51E0B4F4B40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6064807" y="3274077"/>
              <a:ext cx="1300547" cy="381379"/>
              <a:chOff x="1658" y="2142"/>
              <a:chExt cx="1440" cy="363"/>
            </a:xfrm>
          </p:grpSpPr>
          <p:cxnSp>
            <p:nvCxnSpPr>
              <p:cNvPr id="45" name="Line 68">
                <a:extLst>
                  <a:ext uri="{FF2B5EF4-FFF2-40B4-BE49-F238E27FC236}">
                    <a16:creationId xmlns:a16="http://schemas.microsoft.com/office/drawing/2014/main" id="{D5D3541A-A860-4858-AA55-AC772949E9D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91B9694F-8F82-4295-A961-0D69AD227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8" y="2142"/>
                <a:ext cx="720" cy="363"/>
                <a:chOff x="2018" y="2136"/>
                <a:chExt cx="1200" cy="359"/>
              </a:xfrm>
            </p:grpSpPr>
            <p:cxnSp>
              <p:nvCxnSpPr>
                <p:cNvPr id="48" name="Line 70">
                  <a:extLst>
                    <a:ext uri="{FF2B5EF4-FFF2-40B4-BE49-F238E27FC236}">
                      <a16:creationId xmlns:a16="http://schemas.microsoft.com/office/drawing/2014/main" id="{5E39D01B-81EF-455C-8647-345D96127D7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9" name="Line 71">
                  <a:extLst>
                    <a:ext uri="{FF2B5EF4-FFF2-40B4-BE49-F238E27FC236}">
                      <a16:creationId xmlns:a16="http://schemas.microsoft.com/office/drawing/2014/main" id="{375B691A-3E77-4A52-8745-E30453F5C52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0" name="Line 72">
                  <a:extLst>
                    <a:ext uri="{FF2B5EF4-FFF2-40B4-BE49-F238E27FC236}">
                      <a16:creationId xmlns:a16="http://schemas.microsoft.com/office/drawing/2014/main" id="{4875299F-44D7-420B-9021-53EF035DC3B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" name="Line 73">
                  <a:extLst>
                    <a:ext uri="{FF2B5EF4-FFF2-40B4-BE49-F238E27FC236}">
                      <a16:creationId xmlns:a16="http://schemas.microsoft.com/office/drawing/2014/main" id="{212EF639-2EE9-448C-AE78-F060BAB55F77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2" name="Line 74">
                  <a:extLst>
                    <a:ext uri="{FF2B5EF4-FFF2-40B4-BE49-F238E27FC236}">
                      <a16:creationId xmlns:a16="http://schemas.microsoft.com/office/drawing/2014/main" id="{D23BA6EB-BECB-4EEC-99D3-F9C21886B990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3" name="Line 75">
                  <a:extLst>
                    <a:ext uri="{FF2B5EF4-FFF2-40B4-BE49-F238E27FC236}">
                      <a16:creationId xmlns:a16="http://schemas.microsoft.com/office/drawing/2014/main" id="{C8BD3664-06E5-4F47-8324-5545AE4890D3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6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47" name="Line 76">
                <a:extLst>
                  <a:ext uri="{FF2B5EF4-FFF2-40B4-BE49-F238E27FC236}">
                    <a16:creationId xmlns:a16="http://schemas.microsoft.com/office/drawing/2014/main" id="{1838F5EE-369C-4D37-A2BF-2EB35CB5AC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5" name="Text Box 77">
              <a:extLst>
                <a:ext uri="{FF2B5EF4-FFF2-40B4-BE49-F238E27FC236}">
                  <a16:creationId xmlns:a16="http://schemas.microsoft.com/office/drawing/2014/main" id="{677F14D0-DFED-4E15-BDFF-89E2B0C6F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2326" y="3310467"/>
              <a:ext cx="660707" cy="434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 </a:t>
              </a:r>
              <a:r>
                <a:rPr lang="en-GB" sz="24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78">
              <a:extLst>
                <a:ext uri="{FF2B5EF4-FFF2-40B4-BE49-F238E27FC236}">
                  <a16:creationId xmlns:a16="http://schemas.microsoft.com/office/drawing/2014/main" id="{2A0949C7-6432-4606-9A30-402CE3598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9078" y="2382203"/>
              <a:ext cx="770084" cy="434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20 </a:t>
              </a:r>
              <a:r>
                <a:rPr lang="en-GB" sz="24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79">
              <a:extLst>
                <a:ext uri="{FF2B5EF4-FFF2-40B4-BE49-F238E27FC236}">
                  <a16:creationId xmlns:a16="http://schemas.microsoft.com/office/drawing/2014/main" id="{B026F1AB-290E-4D40-AF03-73EC04FFA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2501" y="3052937"/>
              <a:ext cx="896356" cy="434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 </a:t>
              </a:r>
              <a:r>
                <a:rPr lang="en-GB" sz="24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Line 80">
              <a:extLst>
                <a:ext uri="{FF2B5EF4-FFF2-40B4-BE49-F238E27FC236}">
                  <a16:creationId xmlns:a16="http://schemas.microsoft.com/office/drawing/2014/main" id="{C6AF4A42-2093-421E-914A-CD7DC9D391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89327" y="3233074"/>
              <a:ext cx="0" cy="51283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Line 81">
              <a:extLst>
                <a:ext uri="{FF2B5EF4-FFF2-40B4-BE49-F238E27FC236}">
                  <a16:creationId xmlns:a16="http://schemas.microsoft.com/office/drawing/2014/main" id="{4622C9D7-CA30-4F6D-876A-799565814F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08250" y="3471478"/>
              <a:ext cx="0" cy="51283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17C5BD0-0214-4907-94CE-271F7AADA9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3956704" y="2706895"/>
              <a:ext cx="779865" cy="257085"/>
              <a:chOff x="8378" y="8272"/>
              <a:chExt cx="1080" cy="355"/>
            </a:xfrm>
          </p:grpSpPr>
          <p:sp>
            <p:nvSpPr>
              <p:cNvPr id="33" name="Arc 83">
                <a:extLst>
                  <a:ext uri="{FF2B5EF4-FFF2-40B4-BE49-F238E27FC236}">
                    <a16:creationId xmlns:a16="http://schemas.microsoft.com/office/drawing/2014/main" id="{B074708C-B5B0-4444-B542-AB5E65FD86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8378" y="8447"/>
                <a:ext cx="320" cy="169"/>
              </a:xfrm>
              <a:custGeom>
                <a:avLst/>
                <a:gdLst>
                  <a:gd name="G0" fmla="+- 19973 0 0"/>
                  <a:gd name="G1" fmla="+- 21600 0 0"/>
                  <a:gd name="G2" fmla="+- 21600 0 0"/>
                  <a:gd name="T0" fmla="*/ 0 w 41573"/>
                  <a:gd name="T1" fmla="*/ 13377 h 22566"/>
                  <a:gd name="T2" fmla="*/ 41551 w 41573"/>
                  <a:gd name="T3" fmla="*/ 22566 h 22566"/>
                  <a:gd name="T4" fmla="*/ 19973 w 41573"/>
                  <a:gd name="T5" fmla="*/ 21600 h 2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573" h="22566" fill="none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w="41573" h="22566" stroke="0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C700C38-D757-459D-8927-FAE7A602BB2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556" y="8282"/>
                <a:ext cx="328" cy="345"/>
                <a:chOff x="2020" y="8243"/>
                <a:chExt cx="1768" cy="960"/>
              </a:xfrm>
            </p:grpSpPr>
            <p:sp>
              <p:nvSpPr>
                <p:cNvPr id="43" name="Arc 85">
                  <a:extLst>
                    <a:ext uri="{FF2B5EF4-FFF2-40B4-BE49-F238E27FC236}">
                      <a16:creationId xmlns:a16="http://schemas.microsoft.com/office/drawing/2014/main" id="{7CFB45DF-DC3B-4B5B-BBE6-0641591C8FC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44" name="Arc 86">
                  <a:extLst>
                    <a:ext uri="{FF2B5EF4-FFF2-40B4-BE49-F238E27FC236}">
                      <a16:creationId xmlns:a16="http://schemas.microsoft.com/office/drawing/2014/main" id="{A9A03D14-8C7C-4E56-9E6E-F70356DB842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81AC57C-B23E-44A0-B1C4-7C26267B898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745" y="8272"/>
                <a:ext cx="328" cy="345"/>
                <a:chOff x="2020" y="8243"/>
                <a:chExt cx="1768" cy="960"/>
              </a:xfrm>
            </p:grpSpPr>
            <p:sp>
              <p:nvSpPr>
                <p:cNvPr id="41" name="Arc 88">
                  <a:extLst>
                    <a:ext uri="{FF2B5EF4-FFF2-40B4-BE49-F238E27FC236}">
                      <a16:creationId xmlns:a16="http://schemas.microsoft.com/office/drawing/2014/main" id="{EDF25DDA-F65A-4273-BDB1-0662475B549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42" name="Arc 89">
                  <a:extLst>
                    <a:ext uri="{FF2B5EF4-FFF2-40B4-BE49-F238E27FC236}">
                      <a16:creationId xmlns:a16="http://schemas.microsoft.com/office/drawing/2014/main" id="{B97CFA7C-A451-433A-8F08-379C8CCE920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163489E-9B2A-4081-86C3-AAD4CFB836C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931" y="8278"/>
                <a:ext cx="328" cy="345"/>
                <a:chOff x="2020" y="8243"/>
                <a:chExt cx="1768" cy="960"/>
              </a:xfrm>
            </p:grpSpPr>
            <p:sp>
              <p:nvSpPr>
                <p:cNvPr id="39" name="Arc 91">
                  <a:extLst>
                    <a:ext uri="{FF2B5EF4-FFF2-40B4-BE49-F238E27FC236}">
                      <a16:creationId xmlns:a16="http://schemas.microsoft.com/office/drawing/2014/main" id="{71E48719-8D83-4FE4-BDA6-970BE71FD40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40" name="Arc 92">
                  <a:extLst>
                    <a:ext uri="{FF2B5EF4-FFF2-40B4-BE49-F238E27FC236}">
                      <a16:creationId xmlns:a16="http://schemas.microsoft.com/office/drawing/2014/main" id="{731E8E3F-0F9D-40E6-A2A3-F0EF9CA7BB3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37" name="Arc 93">
                <a:extLst>
                  <a:ext uri="{FF2B5EF4-FFF2-40B4-BE49-F238E27FC236}">
                    <a16:creationId xmlns:a16="http://schemas.microsoft.com/office/drawing/2014/main" id="{55E43BBC-3949-43CD-A771-B35929AC8A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18" y="8274"/>
                <a:ext cx="156" cy="24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649 w 43200"/>
                  <a:gd name="T1" fmla="*/ 34987 h 34987"/>
                  <a:gd name="T2" fmla="*/ 39113 w 43200"/>
                  <a:gd name="T3" fmla="*/ 34243 h 34987"/>
                  <a:gd name="T4" fmla="*/ 21600 w 43200"/>
                  <a:gd name="T5" fmla="*/ 21600 h 34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987" fill="none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</a:path>
                  <a:path w="43200" h="34987" stroke="0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38" name="Arc 94">
                <a:extLst>
                  <a:ext uri="{FF2B5EF4-FFF2-40B4-BE49-F238E27FC236}">
                    <a16:creationId xmlns:a16="http://schemas.microsoft.com/office/drawing/2014/main" id="{6A40F408-71B3-49F6-BB30-B5C3233003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9136" y="8454"/>
                <a:ext cx="322" cy="16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 w 41896"/>
                  <a:gd name="T1" fmla="*/ 22008 h 22008"/>
                  <a:gd name="T2" fmla="*/ 41896 w 41896"/>
                  <a:gd name="T3" fmla="*/ 14208 h 22008"/>
                  <a:gd name="T4" fmla="*/ 21600 w 41896"/>
                  <a:gd name="T5" fmla="*/ 21600 h 22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896" h="22008" fill="none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w="41896" h="22008" stroke="0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31" name="Line 95">
              <a:extLst>
                <a:ext uri="{FF2B5EF4-FFF2-40B4-BE49-F238E27FC236}">
                  <a16:creationId xmlns:a16="http://schemas.microsoft.com/office/drawing/2014/main" id="{98AE17F1-F4D4-4E9C-8690-AC5845E39A6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3604564" y="2838996"/>
              <a:ext cx="35747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Line 96">
              <a:extLst>
                <a:ext uri="{FF2B5EF4-FFF2-40B4-BE49-F238E27FC236}">
                  <a16:creationId xmlns:a16="http://schemas.microsoft.com/office/drawing/2014/main" id="{4C7E4EF9-EC9E-4A4A-B188-D9C2056E304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4706335" y="2826097"/>
              <a:ext cx="35925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8445A33-9445-478E-923D-393715A8FE2E}"/>
              </a:ext>
            </a:extLst>
          </p:cNvPr>
          <p:cNvSpPr/>
          <p:nvPr/>
        </p:nvSpPr>
        <p:spPr>
          <a:xfrm>
            <a:off x="2171956" y="3246645"/>
            <a:ext cx="7533681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7705" marR="0" indent="-687705" algn="just">
              <a:spcBef>
                <a:spcPts val="0"/>
              </a:spcBef>
              <a:spcAft>
                <a:spcPts val="6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Solve the circuit using Mesh matrix analysis.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7705" marR="0" indent="-687705" algn="just">
              <a:spcBef>
                <a:spcPts val="0"/>
              </a:spcBef>
              <a:spcAft>
                <a:spcPts val="6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Work from first principles.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7705" marR="0" indent="-687705" algn="just">
              <a:spcBef>
                <a:spcPts val="0"/>
              </a:spcBef>
              <a:spcAft>
                <a:spcPts val="6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200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Solution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Number the branches and the loops.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522659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D5B3DE2-D82F-4EE5-848F-E111DA42210F}"/>
              </a:ext>
            </a:extLst>
          </p:cNvPr>
          <p:cNvGrpSpPr/>
          <p:nvPr/>
        </p:nvGrpSpPr>
        <p:grpSpPr>
          <a:xfrm>
            <a:off x="462838" y="539200"/>
            <a:ext cx="9589041" cy="2420022"/>
            <a:chOff x="1361195" y="2207579"/>
            <a:chExt cx="9589041" cy="242002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4A5D3E9-A619-4234-9E90-108D20A289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7325" y="4234575"/>
              <a:ext cx="299210" cy="393026"/>
              <a:chOff x="4701" y="3904"/>
              <a:chExt cx="240" cy="360"/>
            </a:xfrm>
          </p:grpSpPr>
          <p:cxnSp>
            <p:nvCxnSpPr>
              <p:cNvPr id="112" name="Line 99">
                <a:extLst>
                  <a:ext uri="{FF2B5EF4-FFF2-40B4-BE49-F238E27FC236}">
                    <a16:creationId xmlns:a16="http://schemas.microsoft.com/office/drawing/2014/main" id="{A0D6FC52-B091-4B52-9AD2-7376DF9490C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21" y="3904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3" name="Line 100">
                <a:extLst>
                  <a:ext uri="{FF2B5EF4-FFF2-40B4-BE49-F238E27FC236}">
                    <a16:creationId xmlns:a16="http://schemas.microsoft.com/office/drawing/2014/main" id="{59DA9B80-F1DD-45C2-82B8-61853E6DD4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01" y="4144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4" name="Line 101">
                <a:extLst>
                  <a:ext uri="{FF2B5EF4-FFF2-40B4-BE49-F238E27FC236}">
                    <a16:creationId xmlns:a16="http://schemas.microsoft.com/office/drawing/2014/main" id="{37A84713-E0DB-464B-8C4A-57E4456DD47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46" y="4204"/>
                <a:ext cx="14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5" name="Line 102">
                <a:extLst>
                  <a:ext uri="{FF2B5EF4-FFF2-40B4-BE49-F238E27FC236}">
                    <a16:creationId xmlns:a16="http://schemas.microsoft.com/office/drawing/2014/main" id="{E6E95BEE-4CAC-451A-B9EE-E31F40CB79E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91" y="4264"/>
                <a:ext cx="85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6" name="Line 104">
              <a:extLst>
                <a:ext uri="{FF2B5EF4-FFF2-40B4-BE49-F238E27FC236}">
                  <a16:creationId xmlns:a16="http://schemas.microsoft.com/office/drawing/2014/main" id="{F074F35E-1FC0-40FD-9F5F-89A2C32B30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59860" y="2778100"/>
              <a:ext cx="13468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Line 105">
              <a:extLst>
                <a:ext uri="{FF2B5EF4-FFF2-40B4-BE49-F238E27FC236}">
                  <a16:creationId xmlns:a16="http://schemas.microsoft.com/office/drawing/2014/main" id="{1225299B-D0CC-46D7-8AB0-AA6D113965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791216" y="3076799"/>
              <a:ext cx="13134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106">
              <a:extLst>
                <a:ext uri="{FF2B5EF4-FFF2-40B4-BE49-F238E27FC236}">
                  <a16:creationId xmlns:a16="http://schemas.microsoft.com/office/drawing/2014/main" id="{912DA79E-945A-4B99-9673-323EAD7B9A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321473" y="2841491"/>
              <a:ext cx="13084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Arc 107">
              <a:extLst>
                <a:ext uri="{FF2B5EF4-FFF2-40B4-BE49-F238E27FC236}">
                  <a16:creationId xmlns:a16="http://schemas.microsoft.com/office/drawing/2014/main" id="{B3F8AC23-9989-4DF4-9DD4-32474C33C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8899" y="3093028"/>
              <a:ext cx="1041898" cy="875306"/>
            </a:xfrm>
            <a:custGeom>
              <a:avLst/>
              <a:gdLst>
                <a:gd name="G0" fmla="+- 21155 0 0"/>
                <a:gd name="G1" fmla="+- 21600 0 0"/>
                <a:gd name="G2" fmla="+- 21600 0 0"/>
                <a:gd name="T0" fmla="*/ 16442 w 42755"/>
                <a:gd name="T1" fmla="*/ 520 h 43200"/>
                <a:gd name="T2" fmla="*/ 0 w 42755"/>
                <a:gd name="T3" fmla="*/ 25962 h 43200"/>
                <a:gd name="T4" fmla="*/ 21155 w 4275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55" h="43200" fill="none" extrusionOk="0">
                  <a:moveTo>
                    <a:pt x="16442" y="520"/>
                  </a:moveTo>
                  <a:cubicBezTo>
                    <a:pt x="17989" y="174"/>
                    <a:pt x="19569" y="0"/>
                    <a:pt x="21155" y="0"/>
                  </a:cubicBezTo>
                  <a:cubicBezTo>
                    <a:pt x="33084" y="0"/>
                    <a:pt x="42755" y="9670"/>
                    <a:pt x="42755" y="21600"/>
                  </a:cubicBezTo>
                  <a:cubicBezTo>
                    <a:pt x="42755" y="33529"/>
                    <a:pt x="33084" y="43200"/>
                    <a:pt x="21155" y="43200"/>
                  </a:cubicBezTo>
                  <a:cubicBezTo>
                    <a:pt x="10906" y="43200"/>
                    <a:pt x="2069" y="35998"/>
                    <a:pt x="0" y="25961"/>
                  </a:cubicBezTo>
                </a:path>
                <a:path w="42755" h="43200" stroke="0" extrusionOk="0">
                  <a:moveTo>
                    <a:pt x="16442" y="520"/>
                  </a:moveTo>
                  <a:cubicBezTo>
                    <a:pt x="17989" y="174"/>
                    <a:pt x="19569" y="0"/>
                    <a:pt x="21155" y="0"/>
                  </a:cubicBezTo>
                  <a:cubicBezTo>
                    <a:pt x="33084" y="0"/>
                    <a:pt x="42755" y="9670"/>
                    <a:pt x="42755" y="21600"/>
                  </a:cubicBezTo>
                  <a:cubicBezTo>
                    <a:pt x="42755" y="33529"/>
                    <a:pt x="33084" y="43200"/>
                    <a:pt x="21155" y="43200"/>
                  </a:cubicBezTo>
                  <a:cubicBezTo>
                    <a:pt x="10906" y="43200"/>
                    <a:pt x="2069" y="35998"/>
                    <a:pt x="0" y="25961"/>
                  </a:cubicBezTo>
                  <a:lnTo>
                    <a:pt x="21155" y="21600"/>
                  </a:lnTo>
                  <a:close/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10" name="Arc 108">
              <a:extLst>
                <a:ext uri="{FF2B5EF4-FFF2-40B4-BE49-F238E27FC236}">
                  <a16:creationId xmlns:a16="http://schemas.microsoft.com/office/drawing/2014/main" id="{90223749-49DE-4590-A4F4-61E12CD31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854" y="3093028"/>
              <a:ext cx="1041390" cy="875306"/>
            </a:xfrm>
            <a:custGeom>
              <a:avLst/>
              <a:gdLst>
                <a:gd name="G0" fmla="+- 21155 0 0"/>
                <a:gd name="G1" fmla="+- 21600 0 0"/>
                <a:gd name="G2" fmla="+- 21600 0 0"/>
                <a:gd name="T0" fmla="*/ 16442 w 42755"/>
                <a:gd name="T1" fmla="*/ 520 h 43200"/>
                <a:gd name="T2" fmla="*/ 0 w 42755"/>
                <a:gd name="T3" fmla="*/ 25962 h 43200"/>
                <a:gd name="T4" fmla="*/ 21155 w 4275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55" h="43200" fill="none" extrusionOk="0">
                  <a:moveTo>
                    <a:pt x="16442" y="520"/>
                  </a:moveTo>
                  <a:cubicBezTo>
                    <a:pt x="17989" y="174"/>
                    <a:pt x="19569" y="0"/>
                    <a:pt x="21155" y="0"/>
                  </a:cubicBezTo>
                  <a:cubicBezTo>
                    <a:pt x="33084" y="0"/>
                    <a:pt x="42755" y="9670"/>
                    <a:pt x="42755" y="21600"/>
                  </a:cubicBezTo>
                  <a:cubicBezTo>
                    <a:pt x="42755" y="33529"/>
                    <a:pt x="33084" y="43200"/>
                    <a:pt x="21155" y="43200"/>
                  </a:cubicBezTo>
                  <a:cubicBezTo>
                    <a:pt x="10906" y="43200"/>
                    <a:pt x="2069" y="35998"/>
                    <a:pt x="0" y="25961"/>
                  </a:cubicBezTo>
                </a:path>
                <a:path w="42755" h="43200" stroke="0" extrusionOk="0">
                  <a:moveTo>
                    <a:pt x="16442" y="520"/>
                  </a:moveTo>
                  <a:cubicBezTo>
                    <a:pt x="17989" y="174"/>
                    <a:pt x="19569" y="0"/>
                    <a:pt x="21155" y="0"/>
                  </a:cubicBezTo>
                  <a:cubicBezTo>
                    <a:pt x="33084" y="0"/>
                    <a:pt x="42755" y="9670"/>
                    <a:pt x="42755" y="21600"/>
                  </a:cubicBezTo>
                  <a:cubicBezTo>
                    <a:pt x="42755" y="33529"/>
                    <a:pt x="33084" y="43200"/>
                    <a:pt x="21155" y="43200"/>
                  </a:cubicBezTo>
                  <a:cubicBezTo>
                    <a:pt x="10906" y="43200"/>
                    <a:pt x="2069" y="35998"/>
                    <a:pt x="0" y="25961"/>
                  </a:cubicBezTo>
                  <a:lnTo>
                    <a:pt x="21155" y="21600"/>
                  </a:lnTo>
                  <a:close/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11" name="Arc 109">
              <a:extLst>
                <a:ext uri="{FF2B5EF4-FFF2-40B4-BE49-F238E27FC236}">
                  <a16:creationId xmlns:a16="http://schemas.microsoft.com/office/drawing/2014/main" id="{7A1C37D8-6EC1-40F6-ABE2-921B2BD7E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9883" y="3132077"/>
              <a:ext cx="1041898" cy="875814"/>
            </a:xfrm>
            <a:custGeom>
              <a:avLst/>
              <a:gdLst>
                <a:gd name="G0" fmla="+- 21155 0 0"/>
                <a:gd name="G1" fmla="+- 21600 0 0"/>
                <a:gd name="G2" fmla="+- 21600 0 0"/>
                <a:gd name="T0" fmla="*/ 16442 w 42755"/>
                <a:gd name="T1" fmla="*/ 520 h 43200"/>
                <a:gd name="T2" fmla="*/ 0 w 42755"/>
                <a:gd name="T3" fmla="*/ 25962 h 43200"/>
                <a:gd name="T4" fmla="*/ 21155 w 4275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55" h="43200" fill="none" extrusionOk="0">
                  <a:moveTo>
                    <a:pt x="16442" y="520"/>
                  </a:moveTo>
                  <a:cubicBezTo>
                    <a:pt x="17989" y="174"/>
                    <a:pt x="19569" y="0"/>
                    <a:pt x="21155" y="0"/>
                  </a:cubicBezTo>
                  <a:cubicBezTo>
                    <a:pt x="33084" y="0"/>
                    <a:pt x="42755" y="9670"/>
                    <a:pt x="42755" y="21600"/>
                  </a:cubicBezTo>
                  <a:cubicBezTo>
                    <a:pt x="42755" y="33529"/>
                    <a:pt x="33084" y="43200"/>
                    <a:pt x="21155" y="43200"/>
                  </a:cubicBezTo>
                  <a:cubicBezTo>
                    <a:pt x="10906" y="43200"/>
                    <a:pt x="2069" y="35998"/>
                    <a:pt x="0" y="25961"/>
                  </a:cubicBezTo>
                </a:path>
                <a:path w="42755" h="43200" stroke="0" extrusionOk="0">
                  <a:moveTo>
                    <a:pt x="16442" y="520"/>
                  </a:moveTo>
                  <a:cubicBezTo>
                    <a:pt x="17989" y="174"/>
                    <a:pt x="19569" y="0"/>
                    <a:pt x="21155" y="0"/>
                  </a:cubicBezTo>
                  <a:cubicBezTo>
                    <a:pt x="33084" y="0"/>
                    <a:pt x="42755" y="9670"/>
                    <a:pt x="42755" y="21600"/>
                  </a:cubicBezTo>
                  <a:cubicBezTo>
                    <a:pt x="42755" y="33529"/>
                    <a:pt x="33084" y="43200"/>
                    <a:pt x="21155" y="43200"/>
                  </a:cubicBezTo>
                  <a:cubicBezTo>
                    <a:pt x="10906" y="43200"/>
                    <a:pt x="2069" y="35998"/>
                    <a:pt x="0" y="25961"/>
                  </a:cubicBezTo>
                  <a:lnTo>
                    <a:pt x="21155" y="21600"/>
                  </a:lnTo>
                  <a:close/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12" name="Line 110">
              <a:extLst>
                <a:ext uri="{FF2B5EF4-FFF2-40B4-BE49-F238E27FC236}">
                  <a16:creationId xmlns:a16="http://schemas.microsoft.com/office/drawing/2014/main" id="{BD78D735-C5AB-4677-8D24-05CB595943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549229" y="3014422"/>
              <a:ext cx="13134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Line 111">
              <a:extLst>
                <a:ext uri="{FF2B5EF4-FFF2-40B4-BE49-F238E27FC236}">
                  <a16:creationId xmlns:a16="http://schemas.microsoft.com/office/drawing/2014/main" id="{1DFC2567-5DD8-4D9D-AD66-ED4176C6BE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91444" y="2761872"/>
              <a:ext cx="134176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112">
              <a:extLst>
                <a:ext uri="{FF2B5EF4-FFF2-40B4-BE49-F238E27FC236}">
                  <a16:creationId xmlns:a16="http://schemas.microsoft.com/office/drawing/2014/main" id="{95F52E02-BD25-4768-9E4D-321914D268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816929" y="2761872"/>
              <a:ext cx="13468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113">
              <a:extLst>
                <a:ext uri="{FF2B5EF4-FFF2-40B4-BE49-F238E27FC236}">
                  <a16:creationId xmlns:a16="http://schemas.microsoft.com/office/drawing/2014/main" id="{67E7D836-A0DC-493F-94FB-F8D49F858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4173" y="3735022"/>
              <a:ext cx="403545" cy="393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114">
              <a:extLst>
                <a:ext uri="{FF2B5EF4-FFF2-40B4-BE49-F238E27FC236}">
                  <a16:creationId xmlns:a16="http://schemas.microsoft.com/office/drawing/2014/main" id="{37F0CEA1-8E4E-4DF3-B3C6-126DF37D0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5799" y="3676381"/>
              <a:ext cx="403545" cy="393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115">
              <a:extLst>
                <a:ext uri="{FF2B5EF4-FFF2-40B4-BE49-F238E27FC236}">
                  <a16:creationId xmlns:a16="http://schemas.microsoft.com/office/drawing/2014/main" id="{A6924644-C22F-461C-BB00-CF61B54EC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7245" y="3745197"/>
              <a:ext cx="404053" cy="393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116">
              <a:extLst>
                <a:ext uri="{FF2B5EF4-FFF2-40B4-BE49-F238E27FC236}">
                  <a16:creationId xmlns:a16="http://schemas.microsoft.com/office/drawing/2014/main" id="{6B29E653-B373-47AA-890F-9ED51F4CF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8527" y="2261572"/>
              <a:ext cx="403545" cy="393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117">
              <a:extLst>
                <a:ext uri="{FF2B5EF4-FFF2-40B4-BE49-F238E27FC236}">
                  <a16:creationId xmlns:a16="http://schemas.microsoft.com/office/drawing/2014/main" id="{1749357A-7ABB-4C33-90B6-3540B8288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3683" y="2261572"/>
              <a:ext cx="404053" cy="393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118">
              <a:extLst>
                <a:ext uri="{FF2B5EF4-FFF2-40B4-BE49-F238E27FC236}">
                  <a16:creationId xmlns:a16="http://schemas.microsoft.com/office/drawing/2014/main" id="{A9E3DE24-97FD-4CD3-A35F-E5905D6D7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4012" y="2866848"/>
              <a:ext cx="403545" cy="393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119">
              <a:extLst>
                <a:ext uri="{FF2B5EF4-FFF2-40B4-BE49-F238E27FC236}">
                  <a16:creationId xmlns:a16="http://schemas.microsoft.com/office/drawing/2014/main" id="{7C196441-151D-4D97-B681-DC5E6C04C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2422" y="2742094"/>
              <a:ext cx="403545" cy="393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 Box 120">
              <a:extLst>
                <a:ext uri="{FF2B5EF4-FFF2-40B4-BE49-F238E27FC236}">
                  <a16:creationId xmlns:a16="http://schemas.microsoft.com/office/drawing/2014/main" id="{06A8D634-A8DC-44F1-A583-6F0E7C254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638" y="2275823"/>
              <a:ext cx="403545" cy="393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121">
              <a:extLst>
                <a:ext uri="{FF2B5EF4-FFF2-40B4-BE49-F238E27FC236}">
                  <a16:creationId xmlns:a16="http://schemas.microsoft.com/office/drawing/2014/main" id="{8B752BDA-0505-459E-8962-22A78DC8F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93239" y="2699495"/>
              <a:ext cx="403545" cy="393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B6C9381-BEB9-43A0-B8DF-D3884576C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1195" y="3217274"/>
              <a:ext cx="1538196" cy="10710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</a:t>
              </a:r>
              <a:r>
                <a:rPr lang="en-GB" sz="2800" baseline="-250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100</a:t>
              </a: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</a:t>
              </a: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GB" sz="2800" baseline="300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V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123">
              <a:extLst>
                <a:ext uri="{FF2B5EF4-FFF2-40B4-BE49-F238E27FC236}">
                  <a16:creationId xmlns:a16="http://schemas.microsoft.com/office/drawing/2014/main" id="{440D1C47-7296-416A-B575-759B151AD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6757" y="2269956"/>
              <a:ext cx="909247" cy="489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j20 </a:t>
              </a:r>
              <a:r>
                <a:rPr lang="en-GB" sz="28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124">
              <a:extLst>
                <a:ext uri="{FF2B5EF4-FFF2-40B4-BE49-F238E27FC236}">
                  <a16:creationId xmlns:a16="http://schemas.microsoft.com/office/drawing/2014/main" id="{94E9E455-29AF-4C5F-A5D8-B7DAEE9A6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7260" y="2207579"/>
              <a:ext cx="985483" cy="48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j6 </a:t>
              </a:r>
              <a:r>
                <a:rPr lang="en-GB" sz="28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125">
              <a:extLst>
                <a:ext uri="{FF2B5EF4-FFF2-40B4-BE49-F238E27FC236}">
                  <a16:creationId xmlns:a16="http://schemas.microsoft.com/office/drawing/2014/main" id="{3D830F54-41C4-46A6-A172-180EB62DE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7919" y="3013530"/>
              <a:ext cx="1257035" cy="48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GB" sz="280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–j120 </a:t>
              </a:r>
              <a:r>
                <a:rPr lang="en-GB" sz="2800" dirty="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Times New Roman" panose="02020603050405020304" pitchFamily="18" charset="0"/>
                </a:rPr>
                <a:t>W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8" name="Line 126">
              <a:extLst>
                <a:ext uri="{FF2B5EF4-FFF2-40B4-BE49-F238E27FC236}">
                  <a16:creationId xmlns:a16="http://schemas.microsoft.com/office/drawing/2014/main" id="{30E371FC-48E4-48A7-B9D8-5FB759713B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81466" y="4249284"/>
              <a:ext cx="52491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670514-EA6B-46A2-9554-F92CC5E93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899" y="3448932"/>
              <a:ext cx="2948337" cy="1104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</a:t>
              </a:r>
              <a:r>
                <a:rPr lang="en-GB" sz="2800" baseline="-250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100</a:t>
              </a: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</a:t>
              </a: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36.87</a:t>
              </a:r>
              <a:r>
                <a:rPr lang="en-GB" sz="2800" baseline="300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GB" sz="28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V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7784D8B-CFCF-438A-9F60-432C1FC1E1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08032" y="2768971"/>
              <a:ext cx="542804" cy="1481327"/>
              <a:chOff x="4040" y="1988"/>
              <a:chExt cx="600" cy="1680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22AF145A-8902-4441-A528-B37647266B2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156" y="2676"/>
                <a:ext cx="362" cy="272"/>
                <a:chOff x="4778" y="6098"/>
                <a:chExt cx="2880" cy="1440"/>
              </a:xfrm>
            </p:grpSpPr>
            <p:sp>
              <p:nvSpPr>
                <p:cNvPr id="110" name="Arc 130">
                  <a:extLst>
                    <a:ext uri="{FF2B5EF4-FFF2-40B4-BE49-F238E27FC236}">
                      <a16:creationId xmlns:a16="http://schemas.microsoft.com/office/drawing/2014/main" id="{432E555C-4835-4472-B221-80B39D53353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>
                  <a:off x="4778" y="6098"/>
                  <a:ext cx="1439" cy="720"/>
                </a:xfrm>
                <a:custGeom>
                  <a:avLst/>
                  <a:gdLst>
                    <a:gd name="G0" fmla="+- 21595 0 0"/>
                    <a:gd name="G1" fmla="+- 21600 0 0"/>
                    <a:gd name="G2" fmla="+- 21600 0 0"/>
                    <a:gd name="T0" fmla="*/ 0 w 43195"/>
                    <a:gd name="T1" fmla="*/ 21149 h 21600"/>
                    <a:gd name="T2" fmla="*/ 43195 w 43195"/>
                    <a:gd name="T3" fmla="*/ 21600 h 21600"/>
                    <a:gd name="T4" fmla="*/ 21595 w 4319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5" h="21600" fill="none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</a:path>
                    <a:path w="43195" h="21600" stroke="0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  <a:lnTo>
                        <a:pt x="21595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11" name="Arc 131">
                  <a:extLst>
                    <a:ext uri="{FF2B5EF4-FFF2-40B4-BE49-F238E27FC236}">
                      <a16:creationId xmlns:a16="http://schemas.microsoft.com/office/drawing/2014/main" id="{F2EACA44-44DB-451E-AB63-EA692E0F70D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6219" y="6818"/>
                  <a:ext cx="1439" cy="720"/>
                </a:xfrm>
                <a:custGeom>
                  <a:avLst/>
                  <a:gdLst>
                    <a:gd name="G0" fmla="+- 21595 0 0"/>
                    <a:gd name="G1" fmla="+- 21600 0 0"/>
                    <a:gd name="G2" fmla="+- 21600 0 0"/>
                    <a:gd name="T0" fmla="*/ 0 w 43195"/>
                    <a:gd name="T1" fmla="*/ 21149 h 21600"/>
                    <a:gd name="T2" fmla="*/ 43195 w 43195"/>
                    <a:gd name="T3" fmla="*/ 21600 h 21600"/>
                    <a:gd name="T4" fmla="*/ 21595 w 4319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5" h="21600" fill="none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</a:path>
                    <a:path w="43195" h="21600" stroke="0" extrusionOk="0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  <a:lnTo>
                        <a:pt x="21595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88B21E04-3850-492F-AD4B-3E7BF8543F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40" y="2528"/>
                <a:ext cx="600" cy="600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108" name="Line 133">
                <a:extLst>
                  <a:ext uri="{FF2B5EF4-FFF2-40B4-BE49-F238E27FC236}">
                    <a16:creationId xmlns:a16="http://schemas.microsoft.com/office/drawing/2014/main" id="{FA2E0698-E80C-4B28-941D-9917D592E1CF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4340" y="198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9" name="Line 134">
                <a:extLst>
                  <a:ext uri="{FF2B5EF4-FFF2-40B4-BE49-F238E27FC236}">
                    <a16:creationId xmlns:a16="http://schemas.microsoft.com/office/drawing/2014/main" id="{3911509B-2719-48B9-AC6F-77B71ABE706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4340" y="312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BDF2666-A0DB-4F29-85E8-9D515A092D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240010" y="3638192"/>
              <a:ext cx="328325" cy="239365"/>
              <a:chOff x="4778" y="6098"/>
              <a:chExt cx="2880" cy="1440"/>
            </a:xfrm>
          </p:grpSpPr>
          <p:sp>
            <p:nvSpPr>
              <p:cNvPr id="104" name="Arc 136">
                <a:extLst>
                  <a:ext uri="{FF2B5EF4-FFF2-40B4-BE49-F238E27FC236}">
                    <a16:creationId xmlns:a16="http://schemas.microsoft.com/office/drawing/2014/main" id="{75ADABB2-0B85-4F0D-A464-7236F93BE7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>
                <a:off x="4778" y="6098"/>
                <a:ext cx="1439" cy="72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0 w 43195"/>
                  <a:gd name="T1" fmla="*/ 21149 h 21600"/>
                  <a:gd name="T2" fmla="*/ 43195 w 43195"/>
                  <a:gd name="T3" fmla="*/ 21600 h 21600"/>
                  <a:gd name="T4" fmla="*/ 21595 w 4319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21600" fill="none" extrusionOk="0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</a:path>
                  <a:path w="43195" h="21600" stroke="0" extrusionOk="0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05" name="Arc 137">
                <a:extLst>
                  <a:ext uri="{FF2B5EF4-FFF2-40B4-BE49-F238E27FC236}">
                    <a16:creationId xmlns:a16="http://schemas.microsoft.com/office/drawing/2014/main" id="{54E3581B-25C5-404B-B81B-27E2EBF09F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6219" y="6818"/>
                <a:ext cx="1439" cy="72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0 w 43195"/>
                  <a:gd name="T1" fmla="*/ 21149 h 21600"/>
                  <a:gd name="T2" fmla="*/ 43195 w 43195"/>
                  <a:gd name="T3" fmla="*/ 21600 h 21600"/>
                  <a:gd name="T4" fmla="*/ 21595 w 4319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21600" fill="none" extrusionOk="0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</a:path>
                  <a:path w="43195" h="21600" stroke="0" extrusionOk="0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8DE0348-7BF2-454D-9D41-948D855108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34296" y="3508367"/>
              <a:ext cx="542804" cy="527922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33" name="Line 139">
              <a:extLst>
                <a:ext uri="{FF2B5EF4-FFF2-40B4-BE49-F238E27FC236}">
                  <a16:creationId xmlns:a16="http://schemas.microsoft.com/office/drawing/2014/main" id="{F6430C06-E0C3-49B9-9B60-D1A8C2AD4BE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8391467" y="4036289"/>
              <a:ext cx="0" cy="21299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8279395-D46C-42BA-B079-BEC15ADEF0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8015051" y="3063920"/>
              <a:ext cx="756638" cy="183476"/>
              <a:chOff x="1658" y="2144"/>
              <a:chExt cx="1440" cy="361"/>
            </a:xfrm>
          </p:grpSpPr>
          <p:cxnSp>
            <p:nvCxnSpPr>
              <p:cNvPr id="95" name="Line 141">
                <a:extLst>
                  <a:ext uri="{FF2B5EF4-FFF2-40B4-BE49-F238E27FC236}">
                    <a16:creationId xmlns:a16="http://schemas.microsoft.com/office/drawing/2014/main" id="{61FC68FF-0034-4108-8643-1801379E763E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BEB04E4A-EB6C-4FC9-800F-D1C755AB876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98" name="Line 143">
                  <a:extLst>
                    <a:ext uri="{FF2B5EF4-FFF2-40B4-BE49-F238E27FC236}">
                      <a16:creationId xmlns:a16="http://schemas.microsoft.com/office/drawing/2014/main" id="{C5C34616-D2A1-4927-A0D5-1C31771BD19B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9" name="Line 144">
                  <a:extLst>
                    <a:ext uri="{FF2B5EF4-FFF2-40B4-BE49-F238E27FC236}">
                      <a16:creationId xmlns:a16="http://schemas.microsoft.com/office/drawing/2014/main" id="{48E33468-E1D9-4C10-9B84-55C43C9CF68C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0" name="Line 145">
                  <a:extLst>
                    <a:ext uri="{FF2B5EF4-FFF2-40B4-BE49-F238E27FC236}">
                      <a16:creationId xmlns:a16="http://schemas.microsoft.com/office/drawing/2014/main" id="{F846135C-6F43-4476-B485-AA8FDB1BACEB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1" name="Line 146">
                  <a:extLst>
                    <a:ext uri="{FF2B5EF4-FFF2-40B4-BE49-F238E27FC236}">
                      <a16:creationId xmlns:a16="http://schemas.microsoft.com/office/drawing/2014/main" id="{04A8C5EC-996E-4E2F-8749-50AF07740667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2" name="Line 147">
                  <a:extLst>
                    <a:ext uri="{FF2B5EF4-FFF2-40B4-BE49-F238E27FC236}">
                      <a16:creationId xmlns:a16="http://schemas.microsoft.com/office/drawing/2014/main" id="{4ADA6FBE-7030-4989-8D52-FFA952002F3B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3" name="Line 148">
                  <a:extLst>
                    <a:ext uri="{FF2B5EF4-FFF2-40B4-BE49-F238E27FC236}">
                      <a16:creationId xmlns:a16="http://schemas.microsoft.com/office/drawing/2014/main" id="{DD6B0671-51C8-4E60-BA3D-FAB5DC71A0AF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97" name="Line 149">
                <a:extLst>
                  <a:ext uri="{FF2B5EF4-FFF2-40B4-BE49-F238E27FC236}">
                    <a16:creationId xmlns:a16="http://schemas.microsoft.com/office/drawing/2014/main" id="{1E8A3240-7335-4F2A-B37D-4C7B12B54C42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86C697F-FF0E-4D84-9200-48166F7B60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070543" y="2636103"/>
              <a:ext cx="903656" cy="289571"/>
              <a:chOff x="8378" y="8272"/>
              <a:chExt cx="1080" cy="355"/>
            </a:xfrm>
          </p:grpSpPr>
          <p:sp>
            <p:nvSpPr>
              <p:cNvPr id="83" name="Arc 151">
                <a:extLst>
                  <a:ext uri="{FF2B5EF4-FFF2-40B4-BE49-F238E27FC236}">
                    <a16:creationId xmlns:a16="http://schemas.microsoft.com/office/drawing/2014/main" id="{4E524F1C-96F6-4016-B4ED-297E95F0EF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8378" y="8447"/>
                <a:ext cx="320" cy="169"/>
              </a:xfrm>
              <a:custGeom>
                <a:avLst/>
                <a:gdLst>
                  <a:gd name="G0" fmla="+- 19973 0 0"/>
                  <a:gd name="G1" fmla="+- 21600 0 0"/>
                  <a:gd name="G2" fmla="+- 21600 0 0"/>
                  <a:gd name="T0" fmla="*/ 0 w 41573"/>
                  <a:gd name="T1" fmla="*/ 13377 h 22566"/>
                  <a:gd name="T2" fmla="*/ 41551 w 41573"/>
                  <a:gd name="T3" fmla="*/ 22566 h 22566"/>
                  <a:gd name="T4" fmla="*/ 19973 w 41573"/>
                  <a:gd name="T5" fmla="*/ 21600 h 2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573" h="22566" fill="none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w="41573" h="22566" stroke="0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79548899-308A-4C65-918B-76153B8B3C1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556" y="8282"/>
                <a:ext cx="328" cy="345"/>
                <a:chOff x="2020" y="8243"/>
                <a:chExt cx="1768" cy="960"/>
              </a:xfrm>
            </p:grpSpPr>
            <p:sp>
              <p:nvSpPr>
                <p:cNvPr id="93" name="Arc 153">
                  <a:extLst>
                    <a:ext uri="{FF2B5EF4-FFF2-40B4-BE49-F238E27FC236}">
                      <a16:creationId xmlns:a16="http://schemas.microsoft.com/office/drawing/2014/main" id="{842F9C16-3FF7-4675-934B-FCEB797051D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94" name="Arc 154">
                  <a:extLst>
                    <a:ext uri="{FF2B5EF4-FFF2-40B4-BE49-F238E27FC236}">
                      <a16:creationId xmlns:a16="http://schemas.microsoft.com/office/drawing/2014/main" id="{482F752C-DBB3-4D17-91E1-1D36B5F7B37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593329DF-1FA8-4725-AFF6-96A73754BE9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745" y="8272"/>
                <a:ext cx="328" cy="345"/>
                <a:chOff x="2020" y="8243"/>
                <a:chExt cx="1768" cy="960"/>
              </a:xfrm>
            </p:grpSpPr>
            <p:sp>
              <p:nvSpPr>
                <p:cNvPr id="91" name="Arc 156">
                  <a:extLst>
                    <a:ext uri="{FF2B5EF4-FFF2-40B4-BE49-F238E27FC236}">
                      <a16:creationId xmlns:a16="http://schemas.microsoft.com/office/drawing/2014/main" id="{A348F350-AF54-46F0-876D-2C4159C75B1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92" name="Arc 157">
                  <a:extLst>
                    <a:ext uri="{FF2B5EF4-FFF2-40B4-BE49-F238E27FC236}">
                      <a16:creationId xmlns:a16="http://schemas.microsoft.com/office/drawing/2014/main" id="{5CBABAB2-99D2-43FC-B8A1-0EEC81A3E32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4BB23397-34B1-4C37-9DDF-C7B8F7D9EFF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931" y="8278"/>
                <a:ext cx="328" cy="345"/>
                <a:chOff x="2020" y="8243"/>
                <a:chExt cx="1768" cy="960"/>
              </a:xfrm>
            </p:grpSpPr>
            <p:sp>
              <p:nvSpPr>
                <p:cNvPr id="89" name="Arc 159">
                  <a:extLst>
                    <a:ext uri="{FF2B5EF4-FFF2-40B4-BE49-F238E27FC236}">
                      <a16:creationId xmlns:a16="http://schemas.microsoft.com/office/drawing/2014/main" id="{AC00C43F-23AA-4B39-AC00-D8BB12B5867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90" name="Arc 160">
                  <a:extLst>
                    <a:ext uri="{FF2B5EF4-FFF2-40B4-BE49-F238E27FC236}">
                      <a16:creationId xmlns:a16="http://schemas.microsoft.com/office/drawing/2014/main" id="{A966AA43-9C6A-44FF-AB5D-9983D726BDF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87" name="Arc 161">
                <a:extLst>
                  <a:ext uri="{FF2B5EF4-FFF2-40B4-BE49-F238E27FC236}">
                    <a16:creationId xmlns:a16="http://schemas.microsoft.com/office/drawing/2014/main" id="{F0E71013-ABFE-428D-99DC-D17705C0EA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18" y="8274"/>
                <a:ext cx="156" cy="24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649 w 43200"/>
                  <a:gd name="T1" fmla="*/ 34987 h 34987"/>
                  <a:gd name="T2" fmla="*/ 39113 w 43200"/>
                  <a:gd name="T3" fmla="*/ 34243 h 34987"/>
                  <a:gd name="T4" fmla="*/ 21600 w 43200"/>
                  <a:gd name="T5" fmla="*/ 21600 h 34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987" fill="none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</a:path>
                  <a:path w="43200" h="34987" stroke="0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88" name="Arc 162">
                <a:extLst>
                  <a:ext uri="{FF2B5EF4-FFF2-40B4-BE49-F238E27FC236}">
                    <a16:creationId xmlns:a16="http://schemas.microsoft.com/office/drawing/2014/main" id="{9A70ADFA-E01C-4C32-9A53-938C0518D6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9136" y="8454"/>
                <a:ext cx="322" cy="16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 w 41896"/>
                  <a:gd name="T1" fmla="*/ 22008 h 22008"/>
                  <a:gd name="T2" fmla="*/ 41896 w 41896"/>
                  <a:gd name="T3" fmla="*/ 14208 h 22008"/>
                  <a:gd name="T4" fmla="*/ 21600 w 41896"/>
                  <a:gd name="T5" fmla="*/ 21600 h 22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896" h="22008" fill="none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w="41896" h="22008" stroke="0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36" name="Line 163">
              <a:extLst>
                <a:ext uri="{FF2B5EF4-FFF2-40B4-BE49-F238E27FC236}">
                  <a16:creationId xmlns:a16="http://schemas.microsoft.com/office/drawing/2014/main" id="{550E6F5C-19FC-492F-B52B-463CD41F55F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6567890" y="2768464"/>
              <a:ext cx="54280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Line 164">
              <a:extLst>
                <a:ext uri="{FF2B5EF4-FFF2-40B4-BE49-F238E27FC236}">
                  <a16:creationId xmlns:a16="http://schemas.microsoft.com/office/drawing/2014/main" id="{9593B73A-0938-4B6B-BCFB-E335319B967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7972166" y="2770493"/>
              <a:ext cx="41574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4D5F482-26CE-4299-A5A4-5BC3CAB36C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6200000">
              <a:off x="4116309" y="3285876"/>
              <a:ext cx="1480313" cy="451068"/>
              <a:chOff x="6218" y="1958"/>
              <a:chExt cx="1320" cy="360"/>
            </a:xfrm>
          </p:grpSpPr>
          <p:cxnSp>
            <p:nvCxnSpPr>
              <p:cNvPr id="79" name="Line 166">
                <a:extLst>
                  <a:ext uri="{FF2B5EF4-FFF2-40B4-BE49-F238E27FC236}">
                    <a16:creationId xmlns:a16="http://schemas.microsoft.com/office/drawing/2014/main" id="{EF2B1525-F81B-4E6B-8685-E526229E62FB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218" y="2138"/>
                <a:ext cx="60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Line 167">
                <a:extLst>
                  <a:ext uri="{FF2B5EF4-FFF2-40B4-BE49-F238E27FC236}">
                    <a16:creationId xmlns:a16="http://schemas.microsoft.com/office/drawing/2014/main" id="{6CFD7E82-7EF6-4DB5-9C25-B5A9053E69F7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938" y="2138"/>
                <a:ext cx="60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Line 168">
                <a:extLst>
                  <a:ext uri="{FF2B5EF4-FFF2-40B4-BE49-F238E27FC236}">
                    <a16:creationId xmlns:a16="http://schemas.microsoft.com/office/drawing/2014/main" id="{A5C3FE7C-9EC2-4FA8-9FE3-52B1DE78C09A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818" y="1958"/>
                <a:ext cx="0" cy="36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Line 169">
                <a:extLst>
                  <a:ext uri="{FF2B5EF4-FFF2-40B4-BE49-F238E27FC236}">
                    <a16:creationId xmlns:a16="http://schemas.microsoft.com/office/drawing/2014/main" id="{7718F3E4-E60D-4975-8750-E9DEAF478BEB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938" y="1958"/>
                <a:ext cx="0" cy="36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08F3E75-737F-4440-AADB-B13F0EB408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83573" y="2571215"/>
              <a:ext cx="1750389" cy="380530"/>
              <a:chOff x="1658" y="2144"/>
              <a:chExt cx="1440" cy="361"/>
            </a:xfrm>
          </p:grpSpPr>
          <p:cxnSp>
            <p:nvCxnSpPr>
              <p:cNvPr id="70" name="Line 171">
                <a:extLst>
                  <a:ext uri="{FF2B5EF4-FFF2-40B4-BE49-F238E27FC236}">
                    <a16:creationId xmlns:a16="http://schemas.microsoft.com/office/drawing/2014/main" id="{DE4EF86C-0998-425D-BE00-1581EE124F6A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9BB09B92-49CC-4689-AC64-A0859104041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73" name="Line 173">
                  <a:extLst>
                    <a:ext uri="{FF2B5EF4-FFF2-40B4-BE49-F238E27FC236}">
                      <a16:creationId xmlns:a16="http://schemas.microsoft.com/office/drawing/2014/main" id="{41A5D1C4-3A15-4F1D-B916-D30703EB7644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4" name="Line 174">
                  <a:extLst>
                    <a:ext uri="{FF2B5EF4-FFF2-40B4-BE49-F238E27FC236}">
                      <a16:creationId xmlns:a16="http://schemas.microsoft.com/office/drawing/2014/main" id="{CB201F1B-5CD8-4122-98F1-20FE72BB3FC1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5" name="Line 175">
                  <a:extLst>
                    <a:ext uri="{FF2B5EF4-FFF2-40B4-BE49-F238E27FC236}">
                      <a16:creationId xmlns:a16="http://schemas.microsoft.com/office/drawing/2014/main" id="{9D143E07-8DF6-4F47-802E-D6D7D28E081A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6" name="Line 176">
                  <a:extLst>
                    <a:ext uri="{FF2B5EF4-FFF2-40B4-BE49-F238E27FC236}">
                      <a16:creationId xmlns:a16="http://schemas.microsoft.com/office/drawing/2014/main" id="{2EA8710F-07EA-409B-81A8-ADD31B73F7D0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7" name="Line 177">
                  <a:extLst>
                    <a:ext uri="{FF2B5EF4-FFF2-40B4-BE49-F238E27FC236}">
                      <a16:creationId xmlns:a16="http://schemas.microsoft.com/office/drawing/2014/main" id="{67382062-6C07-4DED-BCE9-1FB96A3432E8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8" name="Line 178">
                  <a:extLst>
                    <a:ext uri="{FF2B5EF4-FFF2-40B4-BE49-F238E27FC236}">
                      <a16:creationId xmlns:a16="http://schemas.microsoft.com/office/drawing/2014/main" id="{B7EE17B0-CD9E-47B4-8DF5-B805CB7BE476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72" name="Line 179">
                <a:extLst>
                  <a:ext uri="{FF2B5EF4-FFF2-40B4-BE49-F238E27FC236}">
                    <a16:creationId xmlns:a16="http://schemas.microsoft.com/office/drawing/2014/main" id="{166DF58F-2F8B-4642-9331-5AC9D7BCF0CE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30758F2-80A4-4B74-B795-6BA73E28596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871670" y="3306905"/>
              <a:ext cx="1466620" cy="419660"/>
              <a:chOff x="1658" y="2144"/>
              <a:chExt cx="1440" cy="361"/>
            </a:xfrm>
          </p:grpSpPr>
          <p:cxnSp>
            <p:nvCxnSpPr>
              <p:cNvPr id="61" name="Line 181">
                <a:extLst>
                  <a:ext uri="{FF2B5EF4-FFF2-40B4-BE49-F238E27FC236}">
                    <a16:creationId xmlns:a16="http://schemas.microsoft.com/office/drawing/2014/main" id="{5A34BD29-19AC-40A2-A1E7-29FEFABC6D7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D4D8412B-2A7C-439F-B356-66834067B3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64" name="Line 183">
                  <a:extLst>
                    <a:ext uri="{FF2B5EF4-FFF2-40B4-BE49-F238E27FC236}">
                      <a16:creationId xmlns:a16="http://schemas.microsoft.com/office/drawing/2014/main" id="{C54029B5-ED5E-4237-880F-73C3A9B5AA0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5" name="Line 184">
                  <a:extLst>
                    <a:ext uri="{FF2B5EF4-FFF2-40B4-BE49-F238E27FC236}">
                      <a16:creationId xmlns:a16="http://schemas.microsoft.com/office/drawing/2014/main" id="{4AAA3AC0-8887-413D-84E7-839DF7F1FA5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6" name="Line 185">
                  <a:extLst>
                    <a:ext uri="{FF2B5EF4-FFF2-40B4-BE49-F238E27FC236}">
                      <a16:creationId xmlns:a16="http://schemas.microsoft.com/office/drawing/2014/main" id="{6AD3EE0E-FFA5-45D2-AC41-929E5226959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7" name="Line 186">
                  <a:extLst>
                    <a:ext uri="{FF2B5EF4-FFF2-40B4-BE49-F238E27FC236}">
                      <a16:creationId xmlns:a16="http://schemas.microsoft.com/office/drawing/2014/main" id="{19E48120-028A-459D-AA49-AA83CD96DFB0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8" name="Line 187">
                  <a:extLst>
                    <a:ext uri="{FF2B5EF4-FFF2-40B4-BE49-F238E27FC236}">
                      <a16:creationId xmlns:a16="http://schemas.microsoft.com/office/drawing/2014/main" id="{49811544-3962-409A-B5D4-20C9DFF96644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9" name="Line 188">
                  <a:extLst>
                    <a:ext uri="{FF2B5EF4-FFF2-40B4-BE49-F238E27FC236}">
                      <a16:creationId xmlns:a16="http://schemas.microsoft.com/office/drawing/2014/main" id="{ECD0E665-942C-467E-AC8A-C2A184499D91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63" name="Line 189">
                <a:extLst>
                  <a:ext uri="{FF2B5EF4-FFF2-40B4-BE49-F238E27FC236}">
                    <a16:creationId xmlns:a16="http://schemas.microsoft.com/office/drawing/2014/main" id="{2C7EAE1E-4A17-4770-B101-0A7EE2E7581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1" name="Text Box 190">
              <a:extLst>
                <a:ext uri="{FF2B5EF4-FFF2-40B4-BE49-F238E27FC236}">
                  <a16:creationId xmlns:a16="http://schemas.microsoft.com/office/drawing/2014/main" id="{2E937ED0-004D-4308-BFAB-2B796487A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1984" y="3337464"/>
              <a:ext cx="869096" cy="48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 </a:t>
              </a:r>
              <a:r>
                <a:rPr lang="en-GB" sz="28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191">
              <a:extLst>
                <a:ext uri="{FF2B5EF4-FFF2-40B4-BE49-F238E27FC236}">
                  <a16:creationId xmlns:a16="http://schemas.microsoft.com/office/drawing/2014/main" id="{D495AF3E-FB76-437A-B239-6334D3120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5676" y="2269956"/>
              <a:ext cx="793876" cy="489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20 </a:t>
              </a:r>
              <a:r>
                <a:rPr lang="en-GB" sz="28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192">
              <a:extLst>
                <a:ext uri="{FF2B5EF4-FFF2-40B4-BE49-F238E27FC236}">
                  <a16:creationId xmlns:a16="http://schemas.microsoft.com/office/drawing/2014/main" id="{58378AE2-8F68-47E6-B27E-A928675E3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9901" y="3026086"/>
              <a:ext cx="831994" cy="48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 </a:t>
              </a:r>
              <a:r>
                <a:rPr lang="en-GB" sz="28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Line 193">
              <a:extLst>
                <a:ext uri="{FF2B5EF4-FFF2-40B4-BE49-F238E27FC236}">
                  <a16:creationId xmlns:a16="http://schemas.microsoft.com/office/drawing/2014/main" id="{ABEF692D-548F-4CFE-AA74-A444316E82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26204" y="3229446"/>
              <a:ext cx="0" cy="57812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Line 194">
              <a:extLst>
                <a:ext uri="{FF2B5EF4-FFF2-40B4-BE49-F238E27FC236}">
                  <a16:creationId xmlns:a16="http://schemas.microsoft.com/office/drawing/2014/main" id="{9460D24E-0DC8-41D2-B43A-862B260A22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741138" y="3498225"/>
              <a:ext cx="0" cy="57812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3C86C0F-9AEB-418E-B0AF-18C55D329F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3580945" y="2636103"/>
              <a:ext cx="903656" cy="289571"/>
              <a:chOff x="8378" y="8272"/>
              <a:chExt cx="1080" cy="355"/>
            </a:xfrm>
          </p:grpSpPr>
          <p:sp>
            <p:nvSpPr>
              <p:cNvPr id="49" name="Arc 196">
                <a:extLst>
                  <a:ext uri="{FF2B5EF4-FFF2-40B4-BE49-F238E27FC236}">
                    <a16:creationId xmlns:a16="http://schemas.microsoft.com/office/drawing/2014/main" id="{527FC882-65C0-4A90-BADA-EF764D9E69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8378" y="8447"/>
                <a:ext cx="320" cy="169"/>
              </a:xfrm>
              <a:custGeom>
                <a:avLst/>
                <a:gdLst>
                  <a:gd name="G0" fmla="+- 19973 0 0"/>
                  <a:gd name="G1" fmla="+- 21600 0 0"/>
                  <a:gd name="G2" fmla="+- 21600 0 0"/>
                  <a:gd name="T0" fmla="*/ 0 w 41573"/>
                  <a:gd name="T1" fmla="*/ 13377 h 22566"/>
                  <a:gd name="T2" fmla="*/ 41551 w 41573"/>
                  <a:gd name="T3" fmla="*/ 22566 h 22566"/>
                  <a:gd name="T4" fmla="*/ 19973 w 41573"/>
                  <a:gd name="T5" fmla="*/ 21600 h 2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573" h="22566" fill="none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w="41573" h="22566" stroke="0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958D533C-EE44-4233-B42D-8481C431B44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556" y="8282"/>
                <a:ext cx="328" cy="345"/>
                <a:chOff x="2020" y="8243"/>
                <a:chExt cx="1768" cy="960"/>
              </a:xfrm>
            </p:grpSpPr>
            <p:sp>
              <p:nvSpPr>
                <p:cNvPr id="59" name="Arc 198">
                  <a:extLst>
                    <a:ext uri="{FF2B5EF4-FFF2-40B4-BE49-F238E27FC236}">
                      <a16:creationId xmlns:a16="http://schemas.microsoft.com/office/drawing/2014/main" id="{458ECC4F-9133-4534-8155-2A730716A46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0" name="Arc 199">
                  <a:extLst>
                    <a:ext uri="{FF2B5EF4-FFF2-40B4-BE49-F238E27FC236}">
                      <a16:creationId xmlns:a16="http://schemas.microsoft.com/office/drawing/2014/main" id="{6D16AC11-FB48-414A-82AC-BB8CA7FD4B5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F24A605-430D-4A17-83E5-14E7144A271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745" y="8272"/>
                <a:ext cx="328" cy="345"/>
                <a:chOff x="2020" y="8243"/>
                <a:chExt cx="1768" cy="960"/>
              </a:xfrm>
            </p:grpSpPr>
            <p:sp>
              <p:nvSpPr>
                <p:cNvPr id="57" name="Arc 201">
                  <a:extLst>
                    <a:ext uri="{FF2B5EF4-FFF2-40B4-BE49-F238E27FC236}">
                      <a16:creationId xmlns:a16="http://schemas.microsoft.com/office/drawing/2014/main" id="{2BDB8424-E053-44D5-97E5-1C7DBB9918E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8" name="Arc 202">
                  <a:extLst>
                    <a:ext uri="{FF2B5EF4-FFF2-40B4-BE49-F238E27FC236}">
                      <a16:creationId xmlns:a16="http://schemas.microsoft.com/office/drawing/2014/main" id="{C4173BD0-450C-42DF-9070-1437560D1E2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4CD7D3B-E83A-4E2F-89DA-E30B0DA8AD6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931" y="8278"/>
                <a:ext cx="328" cy="345"/>
                <a:chOff x="2020" y="8243"/>
                <a:chExt cx="1768" cy="960"/>
              </a:xfrm>
            </p:grpSpPr>
            <p:sp>
              <p:nvSpPr>
                <p:cNvPr id="55" name="Arc 204">
                  <a:extLst>
                    <a:ext uri="{FF2B5EF4-FFF2-40B4-BE49-F238E27FC236}">
                      <a16:creationId xmlns:a16="http://schemas.microsoft.com/office/drawing/2014/main" id="{134F0861-DC85-40FC-8C79-F52A6B979C9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6" name="Arc 205">
                  <a:extLst>
                    <a:ext uri="{FF2B5EF4-FFF2-40B4-BE49-F238E27FC236}">
                      <a16:creationId xmlns:a16="http://schemas.microsoft.com/office/drawing/2014/main" id="{0502DB9C-D65B-4047-8E72-A35C48F5AD6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53" name="Arc 206">
                <a:extLst>
                  <a:ext uri="{FF2B5EF4-FFF2-40B4-BE49-F238E27FC236}">
                    <a16:creationId xmlns:a16="http://schemas.microsoft.com/office/drawing/2014/main" id="{08DC18E7-D919-4B1A-8C20-A2931375ED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18" y="8274"/>
                <a:ext cx="156" cy="24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649 w 43200"/>
                  <a:gd name="T1" fmla="*/ 34987 h 34987"/>
                  <a:gd name="T2" fmla="*/ 39113 w 43200"/>
                  <a:gd name="T3" fmla="*/ 34243 h 34987"/>
                  <a:gd name="T4" fmla="*/ 21600 w 43200"/>
                  <a:gd name="T5" fmla="*/ 21600 h 34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987" fill="none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</a:path>
                  <a:path w="43200" h="34987" stroke="0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54" name="Arc 207">
                <a:extLst>
                  <a:ext uri="{FF2B5EF4-FFF2-40B4-BE49-F238E27FC236}">
                    <a16:creationId xmlns:a16="http://schemas.microsoft.com/office/drawing/2014/main" id="{B1992700-829E-4E0D-97AB-B6A244939C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9136" y="8454"/>
                <a:ext cx="322" cy="16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 w 41896"/>
                  <a:gd name="T1" fmla="*/ 22008 h 22008"/>
                  <a:gd name="T2" fmla="*/ 41896 w 41896"/>
                  <a:gd name="T3" fmla="*/ 14208 h 22008"/>
                  <a:gd name="T4" fmla="*/ 21600 w 41896"/>
                  <a:gd name="T5" fmla="*/ 21600 h 22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896" h="22008" fill="none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w="41896" h="22008" stroke="0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47" name="Line 208">
              <a:extLst>
                <a:ext uri="{FF2B5EF4-FFF2-40B4-BE49-F238E27FC236}">
                  <a16:creationId xmlns:a16="http://schemas.microsoft.com/office/drawing/2014/main" id="{88120FEA-39E1-4619-871E-137F25E95D6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3181466" y="2784693"/>
              <a:ext cx="41371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Line 209">
              <a:extLst>
                <a:ext uri="{FF2B5EF4-FFF2-40B4-BE49-F238E27FC236}">
                  <a16:creationId xmlns:a16="http://schemas.microsoft.com/office/drawing/2014/main" id="{459D05DF-C553-4B28-973A-FF3645919AA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4456648" y="2770493"/>
              <a:ext cx="41574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7" name="Text Box 1">
            <a:extLst>
              <a:ext uri="{FF2B5EF4-FFF2-40B4-BE49-F238E27FC236}">
                <a16:creationId xmlns:a16="http://schemas.microsoft.com/office/drawing/2014/main" id="{A8F032B2-B2A8-4483-83DE-755C90246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479" y="4571969"/>
            <a:ext cx="2344641" cy="782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  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matrix form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EB79D2BA-49C4-41D1-89DB-15E6B5697F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105854"/>
              </p:ext>
            </p:extLst>
          </p:nvPr>
        </p:nvGraphicFramePr>
        <p:xfrm>
          <a:off x="5594071" y="3599502"/>
          <a:ext cx="3428763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39" r:id="rId3" imgW="1498600" imgH="1397000" progId="Equation.3">
                  <p:embed/>
                </p:oleObj>
              </mc:Choice>
              <mc:Fallback>
                <p:oleObj r:id="rId3" imgW="1498600" imgH="139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071" y="3599502"/>
                        <a:ext cx="3428763" cy="320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Rectangle 4">
            <a:extLst>
              <a:ext uri="{FF2B5EF4-FFF2-40B4-BE49-F238E27FC236}">
                <a16:creationId xmlns:a16="http://schemas.microsoft.com/office/drawing/2014/main" id="{AA348293-7E9E-4C3D-B7C6-63A6E7608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12" y="2981566"/>
            <a:ext cx="76202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Write the loop currents in terms of the branch currents.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3" name="Rectangle 7">
            <a:extLst>
              <a:ext uri="{FF2B5EF4-FFF2-40B4-BE49-F238E27FC236}">
                <a16:creationId xmlns:a16="http://schemas.microsoft.com/office/drawing/2014/main" id="{62E62A6C-54C8-4539-931A-F5CF25628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65" y="3539690"/>
            <a:ext cx="295465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GB" altLang="en-US" sz="3200" dirty="0">
                <a:solidFill>
                  <a:srgbClr val="002060"/>
                </a:solidFill>
                <a:ea typeface="Times New Roman" panose="02020603050405020304" pitchFamily="18" charset="0"/>
              </a:rPr>
              <a:t>i</a:t>
            </a:r>
            <a:r>
              <a:rPr lang="en-GB" altLang="en-US" sz="3200" baseline="-30000" dirty="0">
                <a:solidFill>
                  <a:srgbClr val="002060"/>
                </a:solidFill>
                <a:ea typeface="Times New Roman" panose="02020603050405020304" pitchFamily="18" charset="0"/>
              </a:rPr>
              <a:t>1</a:t>
            </a:r>
            <a:r>
              <a:rPr lang="en-GB" altLang="en-US" sz="3200" dirty="0">
                <a:solidFill>
                  <a:srgbClr val="002060"/>
                </a:solidFill>
                <a:ea typeface="Times New Roman" panose="02020603050405020304" pitchFamily="18" charset="0"/>
              </a:rPr>
              <a:t> 	=	I</a:t>
            </a:r>
            <a:r>
              <a:rPr lang="en-GB" altLang="en-US" sz="3200" baseline="-30000" dirty="0">
                <a:solidFill>
                  <a:srgbClr val="002060"/>
                </a:solidFill>
                <a:ea typeface="Times New Roman" panose="02020603050405020304" pitchFamily="18" charset="0"/>
              </a:rPr>
              <a:t>1</a:t>
            </a:r>
            <a:endParaRPr lang="en-GB" altLang="en-US" sz="3200" dirty="0">
              <a:solidFill>
                <a:srgbClr val="002060"/>
              </a:solidFill>
            </a:endParaRPr>
          </a:p>
          <a:p>
            <a:pPr algn="just"/>
            <a:r>
              <a:rPr lang="en-GB" altLang="en-US" sz="3200" dirty="0">
                <a:solidFill>
                  <a:srgbClr val="002060"/>
                </a:solidFill>
              </a:rPr>
              <a:t>i</a:t>
            </a:r>
            <a:r>
              <a:rPr lang="en-GB" altLang="en-US" sz="3200" baseline="-30000" dirty="0">
                <a:solidFill>
                  <a:srgbClr val="002060"/>
                </a:solidFill>
              </a:rPr>
              <a:t>2</a:t>
            </a:r>
            <a:r>
              <a:rPr lang="en-GB" altLang="en-US" sz="3200" dirty="0">
                <a:solidFill>
                  <a:srgbClr val="002060"/>
                </a:solidFill>
              </a:rPr>
              <a:t> 	= – I</a:t>
            </a:r>
            <a:r>
              <a:rPr lang="en-GB" altLang="en-US" sz="3200" baseline="-30000" dirty="0">
                <a:solidFill>
                  <a:srgbClr val="002060"/>
                </a:solidFill>
              </a:rPr>
              <a:t>3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	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</a:rPr>
              <a:t>3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 	=	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</a:rPr>
              <a:t>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 –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</a:rPr>
              <a:t>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	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4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	=	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5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	=	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–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3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6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	=	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3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53629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118ACC7-3636-4FAE-96A5-2851385CF7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28280"/>
              </p:ext>
            </p:extLst>
          </p:nvPr>
        </p:nvGraphicFramePr>
        <p:xfrm>
          <a:off x="625642" y="3248526"/>
          <a:ext cx="5883988" cy="2133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84" r:id="rId3" imgW="1981200" imgH="711200" progId="Equation.3">
                  <p:embed/>
                </p:oleObj>
              </mc:Choice>
              <mc:Fallback>
                <p:oleObj r:id="rId3" imgW="1981200" imgH="71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42" y="3248526"/>
                        <a:ext cx="5883988" cy="21335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3D6B264B-226D-436D-80AA-398E8A44A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4" y="660364"/>
            <a:ext cx="1186313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gives the </a:t>
            </a:r>
            <a:r>
              <a:rPr kumimoji="0" lang="en-GB" altLang="en-US" sz="3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Branch-Mesh incidence matrix 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[B].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Mesh–Branch incidence matrix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[B]</a:t>
            </a:r>
            <a:r>
              <a:rPr kumimoji="0" lang="en-GB" altLang="en-US" sz="36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can also independently by writing the relation between the mesh direction and the branch direction.</a:t>
            </a:r>
            <a:r>
              <a:rPr kumimoji="0" lang="en-GB" altLang="en-US" sz="1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C986BFF-3A2C-472B-ABE8-D230F42A5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		</a:t>
            </a: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F558998-8139-4569-AA54-28B12B10A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94" y="5382033"/>
            <a:ext cx="952901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Notice that this corresponds to the transpose of the earlier written matrix.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664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17E343E-83CB-4F26-B29C-1C006ACA3D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639521"/>
              </p:ext>
            </p:extLst>
          </p:nvPr>
        </p:nvGraphicFramePr>
        <p:xfrm>
          <a:off x="7631194" y="223777"/>
          <a:ext cx="3080528" cy="3257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23" r:id="rId3" imgW="1320800" imgH="1422400" progId="">
                  <p:embed/>
                </p:oleObj>
              </mc:Choice>
              <mc:Fallback>
                <p:oleObj r:id="rId3" imgW="1320800" imgH="14224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1194" y="223777"/>
                        <a:ext cx="3080528" cy="32575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>
            <a:extLst>
              <a:ext uri="{FF2B5EF4-FFF2-40B4-BE49-F238E27FC236}">
                <a16:creationId xmlns:a16="http://schemas.microsoft.com/office/drawing/2014/main" id="{FE4A77AC-03AC-4D82-B877-077B87A61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727" y="1457954"/>
            <a:ext cx="68098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Vector of branch source voltages is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771F5A6-3BBC-4B41-92BC-0553014ACA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990102"/>
              </p:ext>
            </p:extLst>
          </p:nvPr>
        </p:nvGraphicFramePr>
        <p:xfrm>
          <a:off x="409575" y="2990850"/>
          <a:ext cx="6373813" cy="353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24" r:id="rId5" imgW="2489200" imgH="1371600" progId="Equation.3">
                  <p:embed/>
                </p:oleObj>
              </mc:Choice>
              <mc:Fallback>
                <p:oleObj r:id="rId5" imgW="2489200" imgH="1371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" y="2990850"/>
                        <a:ext cx="6373813" cy="3538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E5C7EB0-8A01-40DD-92FD-54C20E4F6728}"/>
              </a:ext>
            </a:extLst>
          </p:cNvPr>
          <p:cNvSpPr/>
          <p:nvPr/>
        </p:nvSpPr>
        <p:spPr>
          <a:xfrm>
            <a:off x="409071" y="2406771"/>
            <a:ext cx="53543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3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Branch impedance matrix is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453717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8C7771A-95F4-49B5-AAE2-D16D95CEAB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279300"/>
              </p:ext>
            </p:extLst>
          </p:nvPr>
        </p:nvGraphicFramePr>
        <p:xfrm>
          <a:off x="247899" y="1105708"/>
          <a:ext cx="5873020" cy="2834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66" r:id="rId3" imgW="2882900" imgH="1397000" progId="Equation.3">
                  <p:embed/>
                </p:oleObj>
              </mc:Choice>
              <mc:Fallback>
                <p:oleObj r:id="rId3" imgW="2882900" imgH="139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99" y="1105708"/>
                        <a:ext cx="5873020" cy="28346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5DEF466-C7A3-4533-9EA2-A3BF53037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107818"/>
              </p:ext>
            </p:extLst>
          </p:nvPr>
        </p:nvGraphicFramePr>
        <p:xfrm>
          <a:off x="8734425" y="1857681"/>
          <a:ext cx="222885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67" r:id="rId5" imgW="1041400" imgH="736600" progId="Equation.3">
                  <p:embed/>
                </p:oleObj>
              </mc:Choice>
              <mc:Fallback>
                <p:oleObj r:id="rId5" imgW="1041400" imgH="736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4425" y="1857681"/>
                        <a:ext cx="2228850" cy="155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A369372-9480-461A-863F-D560E1E1E1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116561"/>
              </p:ext>
            </p:extLst>
          </p:nvPr>
        </p:nvGraphicFramePr>
        <p:xfrm>
          <a:off x="0" y="3926812"/>
          <a:ext cx="10069971" cy="2834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68" r:id="rId7" imgW="4902200" imgH="1371600" progId="Equation.3">
                  <p:embed/>
                </p:oleObj>
              </mc:Choice>
              <mc:Fallback>
                <p:oleObj r:id="rId7" imgW="4902200" imgH="1371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926812"/>
                        <a:ext cx="10069971" cy="2834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B0AE7801-9A79-4EC6-AD16-D7099E51A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899" y="506144"/>
            <a:ext cx="100751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kumimoji="0" lang="en-GB" altLang="en-US" sz="32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</a:t>
            </a:r>
            <a:r>
              <a:rPr kumimoji="0" lang="en-GB" altLang="en-US" sz="3200" b="0" i="0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gm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 [B]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</a:t>
            </a:r>
            <a:r>
              <a:rPr kumimoji="0" lang="en-GB" altLang="en-US" sz="3200" b="0" i="0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gb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    and	[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  =  [B]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[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 [B]</a:t>
            </a:r>
            <a:endParaRPr kumimoji="0" lang="en-GB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BC1A8D1-6C91-47C2-BF8C-69A70E4C7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470" y="2337320"/>
            <a:ext cx="26228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	</a:t>
            </a:r>
            <a:r>
              <a:rPr kumimoji="0" lang="en-GB" altLang="en-US" sz="32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</a:t>
            </a:r>
            <a:r>
              <a:rPr kumimoji="0" lang="en-GB" altLang="en-US" sz="3200" b="0" i="0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gm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 </a:t>
            </a: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F20193D-5628-4D26-B848-347C2EC99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57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909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3220038-0F5B-46A5-A7D0-D170E62098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811609"/>
              </p:ext>
            </p:extLst>
          </p:nvPr>
        </p:nvGraphicFramePr>
        <p:xfrm>
          <a:off x="216567" y="553452"/>
          <a:ext cx="6296025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02" r:id="rId3" imgW="3390900" imgH="1371600" progId="Equation.3">
                  <p:embed/>
                </p:oleObj>
              </mc:Choice>
              <mc:Fallback>
                <p:oleObj r:id="rId3" imgW="3390900" imgH="1371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67" y="553452"/>
                        <a:ext cx="6296025" cy="2533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A9EEB6F-BFC3-450B-B532-5C9A99A9DA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212788"/>
              </p:ext>
            </p:extLst>
          </p:nvPr>
        </p:nvGraphicFramePr>
        <p:xfrm>
          <a:off x="7051004" y="953502"/>
          <a:ext cx="4619625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03" r:id="rId5" imgW="1905000" imgH="711200" progId="Equation.3">
                  <p:embed/>
                </p:oleObj>
              </mc:Choice>
              <mc:Fallback>
                <p:oleObj r:id="rId5" imgW="1905000" imgH="71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1004" y="953502"/>
                        <a:ext cx="4619625" cy="173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558C617-DF70-4E9C-A5A1-72BED688C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86113"/>
              </p:ext>
            </p:extLst>
          </p:nvPr>
        </p:nvGraphicFramePr>
        <p:xfrm>
          <a:off x="214312" y="4243782"/>
          <a:ext cx="2733675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04" r:id="rId7" imgW="1041400" imgH="736600" progId="Equation.3">
                  <p:embed/>
                </p:oleObj>
              </mc:Choice>
              <mc:Fallback>
                <p:oleObj r:id="rId7" imgW="1041400" imgH="736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" y="4243782"/>
                        <a:ext cx="2733675" cy="191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9045122-DEEF-4DAE-AB74-B11B24934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88311"/>
              </p:ext>
            </p:extLst>
          </p:nvPr>
        </p:nvGraphicFramePr>
        <p:xfrm>
          <a:off x="3348037" y="4203260"/>
          <a:ext cx="5895975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05" r:id="rId9" imgW="2184400" imgH="711200" progId="Equation.3">
                  <p:embed/>
                </p:oleObj>
              </mc:Choice>
              <mc:Fallback>
                <p:oleObj r:id="rId9" imgW="2184400" imgH="71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7" y="4203260"/>
                        <a:ext cx="5895975" cy="193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5968806C-E27F-4255-A371-C1F97E1A7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61EFB88-F9A4-4ADB-83F5-D53E83A1D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592" y="1480764"/>
            <a:ext cx="15400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6049139-622F-46A0-B511-30D70CA98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43" y="3121421"/>
            <a:ext cx="1145406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Both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gm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and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could have been written by inspection.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Thus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0C539C8-E539-4FFF-BECA-CDB68C5E6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264" y="4869799"/>
            <a:ext cx="12780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E9DCF89B-08C9-474B-8B5A-39550E60B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43" y="6136835"/>
            <a:ext cx="96359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Equations may be solved by inversion  or otherwise.</a:t>
            </a: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803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E7C7E52-BC0D-48D1-8D85-33B524DAE1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228778"/>
              </p:ext>
            </p:extLst>
          </p:nvPr>
        </p:nvGraphicFramePr>
        <p:xfrm>
          <a:off x="144378" y="457200"/>
          <a:ext cx="10993120" cy="128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92" r:id="rId3" imgW="6311900" imgH="736600" progId="Equation.3">
                  <p:embed/>
                </p:oleObj>
              </mc:Choice>
              <mc:Fallback>
                <p:oleObj r:id="rId3" imgW="6311900" imgH="736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78" y="457200"/>
                        <a:ext cx="10993120" cy="1280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F9D1BE6-189C-4EBA-84C9-B090235AB8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398759"/>
              </p:ext>
            </p:extLst>
          </p:nvPr>
        </p:nvGraphicFramePr>
        <p:xfrm>
          <a:off x="120316" y="1657351"/>
          <a:ext cx="9229259" cy="128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93" r:id="rId5" imgW="5181600" imgH="711200" progId="Equation.3">
                  <p:embed/>
                </p:oleObj>
              </mc:Choice>
              <mc:Fallback>
                <p:oleObj r:id="rId5" imgW="5181600" imgH="71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16" y="1657351"/>
                        <a:ext cx="9229259" cy="1280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CAD75687-FAA6-4671-9999-4BE7DAB2A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133B178-4B02-4304-8786-1AF60159B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57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F49FB3E-66C3-407D-99C6-BB8448D5F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15" y="2889222"/>
            <a:ext cx="1030605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D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= (1220 – j2220)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(–j100) + (720 – j2400)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(j120) + (–j1200)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0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= – j122000 – 222000 + j 86400 + 288000 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=  66000 – j 35600 = 74989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-28.34</a:t>
            </a:r>
            <a:r>
              <a:rPr kumimoji="0" lang="en-GB" altLang="en-US" sz="24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GB" altLang="en-US" sz="24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	= (122000 – j 222000 + 0 + j 96000 – 72000)/74989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-28.34</a:t>
            </a:r>
            <a:r>
              <a:rPr kumimoji="0" lang="en-GB" altLang="en-US" sz="24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= (50000 – j 126000)/ 74989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-28.34</a:t>
            </a:r>
            <a:r>
              <a:rPr kumimoji="0" lang="en-GB" altLang="en-US" sz="24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= 135558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-68.36</a:t>
            </a:r>
            <a:r>
              <a:rPr kumimoji="0" lang="en-GB" altLang="en-US" sz="24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/74989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-28.34</a:t>
            </a:r>
            <a:r>
              <a:rPr kumimoji="0" lang="en-GB" altLang="en-US" sz="24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=	1.808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-40.02</a:t>
            </a:r>
            <a:r>
              <a:rPr kumimoji="0" lang="en-GB" altLang="en-US" sz="24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A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GB" altLang="en-US" sz="24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Note: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Inversion has not been checked so answers may be in error.]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Currents I</a:t>
            </a:r>
            <a:r>
              <a:rPr kumimoji="0" lang="en-GB" altLang="en-US" sz="24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 and  I</a:t>
            </a:r>
            <a:r>
              <a:rPr kumimoji="0" lang="en-GB" altLang="en-US" sz="24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 can be similarly determined.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The branch currents i</a:t>
            </a:r>
            <a:r>
              <a:rPr kumimoji="0" lang="en-GB" altLang="en-US" sz="24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, i</a:t>
            </a:r>
            <a:r>
              <a:rPr kumimoji="0" lang="en-GB" altLang="en-US" sz="24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, ..... may then be determined from the matrix equation.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[Normally branch 6 would have been marked as part of branch 2]</a:t>
            </a:r>
          </a:p>
        </p:txBody>
      </p:sp>
    </p:spTree>
    <p:extLst>
      <p:ext uri="{BB962C8B-B14F-4D97-AF65-F5344CB8AC3E}">
        <p14:creationId xmlns:p14="http://schemas.microsoft.com/office/powerpoint/2010/main" val="892803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Nodal Analysis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00E6F1-3330-4595-9F31-10AFBBE4B3A2}"/>
              </a:ext>
            </a:extLst>
          </p:cNvPr>
          <p:cNvGrpSpPr>
            <a:grpSpLocks/>
          </p:cNvGrpSpPr>
          <p:nvPr/>
        </p:nvGrpSpPr>
        <p:grpSpPr bwMode="auto">
          <a:xfrm>
            <a:off x="7857085" y="1117288"/>
            <a:ext cx="4098290" cy="3246120"/>
            <a:chOff x="10673" y="688"/>
            <a:chExt cx="6454" cy="511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EB4A76-93B9-4EE8-9EA8-FB532F2681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479" y="1091"/>
              <a:ext cx="4318" cy="4025"/>
              <a:chOff x="1501" y="6263"/>
              <a:chExt cx="2251" cy="2100"/>
            </a:xfrm>
          </p:grpSpPr>
          <p:sp>
            <p:nvSpPr>
              <p:cNvPr id="23" name="Freeform 212">
                <a:extLst>
                  <a:ext uri="{FF2B5EF4-FFF2-40B4-BE49-F238E27FC236}">
                    <a16:creationId xmlns:a16="http://schemas.microsoft.com/office/drawing/2014/main" id="{E5033526-07D2-4DDD-A3A0-0676318DAA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29" y="7065"/>
                <a:ext cx="256" cy="1298"/>
              </a:xfrm>
              <a:custGeom>
                <a:avLst/>
                <a:gdLst>
                  <a:gd name="T0" fmla="*/ 232 w 256"/>
                  <a:gd name="T1" fmla="*/ 0 h 1223"/>
                  <a:gd name="T2" fmla="*/ 217 w 256"/>
                  <a:gd name="T3" fmla="*/ 525 h 1223"/>
                  <a:gd name="T4" fmla="*/ 0 w 256"/>
                  <a:gd name="T5" fmla="*/ 1223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6" h="1223">
                    <a:moveTo>
                      <a:pt x="232" y="0"/>
                    </a:moveTo>
                    <a:cubicBezTo>
                      <a:pt x="230" y="87"/>
                      <a:pt x="256" y="321"/>
                      <a:pt x="217" y="525"/>
                    </a:cubicBezTo>
                    <a:cubicBezTo>
                      <a:pt x="178" y="729"/>
                      <a:pt x="45" y="1078"/>
                      <a:pt x="0" y="1223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4" name="Freeform 213">
                <a:extLst>
                  <a:ext uri="{FF2B5EF4-FFF2-40B4-BE49-F238E27FC236}">
                    <a16:creationId xmlns:a16="http://schemas.microsoft.com/office/drawing/2014/main" id="{310400A5-725C-4122-A51D-C0D0BF5DAE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89" y="6263"/>
                <a:ext cx="2160" cy="1020"/>
              </a:xfrm>
              <a:custGeom>
                <a:avLst/>
                <a:gdLst>
                  <a:gd name="T0" fmla="*/ 0 w 2160"/>
                  <a:gd name="T1" fmla="*/ 840 h 1020"/>
                  <a:gd name="T2" fmla="*/ 720 w 2160"/>
                  <a:gd name="T3" fmla="*/ 300 h 1020"/>
                  <a:gd name="T4" fmla="*/ 1680 w 2160"/>
                  <a:gd name="T5" fmla="*/ 120 h 1020"/>
                  <a:gd name="T6" fmla="*/ 2160 w 2160"/>
                  <a:gd name="T7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" h="1020">
                    <a:moveTo>
                      <a:pt x="0" y="840"/>
                    </a:moveTo>
                    <a:cubicBezTo>
                      <a:pt x="220" y="630"/>
                      <a:pt x="440" y="420"/>
                      <a:pt x="720" y="300"/>
                    </a:cubicBezTo>
                    <a:cubicBezTo>
                      <a:pt x="1000" y="180"/>
                      <a:pt x="1440" y="0"/>
                      <a:pt x="1680" y="120"/>
                    </a:cubicBezTo>
                    <a:cubicBezTo>
                      <a:pt x="1920" y="240"/>
                      <a:pt x="2040" y="630"/>
                      <a:pt x="2160" y="102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5" name="Freeform 214">
                <a:extLst>
                  <a:ext uri="{FF2B5EF4-FFF2-40B4-BE49-F238E27FC236}">
                    <a16:creationId xmlns:a16="http://schemas.microsoft.com/office/drawing/2014/main" id="{A26503FB-616D-4A92-95FA-2CE9618537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01" y="7103"/>
                <a:ext cx="928" cy="1260"/>
              </a:xfrm>
              <a:custGeom>
                <a:avLst/>
                <a:gdLst>
                  <a:gd name="T0" fmla="*/ 88 w 928"/>
                  <a:gd name="T1" fmla="*/ 0 h 1260"/>
                  <a:gd name="T2" fmla="*/ 140 w 928"/>
                  <a:gd name="T3" fmla="*/ 667 h 1260"/>
                  <a:gd name="T4" fmla="*/ 928 w 928"/>
                  <a:gd name="T5" fmla="*/ 1260 h 1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8" h="1260">
                    <a:moveTo>
                      <a:pt x="88" y="0"/>
                    </a:moveTo>
                    <a:cubicBezTo>
                      <a:pt x="97" y="111"/>
                      <a:pt x="0" y="457"/>
                      <a:pt x="140" y="667"/>
                    </a:cubicBezTo>
                    <a:cubicBezTo>
                      <a:pt x="280" y="877"/>
                      <a:pt x="764" y="1137"/>
                      <a:pt x="928" y="126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6" name="Freeform 215">
                <a:extLst>
                  <a:ext uri="{FF2B5EF4-FFF2-40B4-BE49-F238E27FC236}">
                    <a16:creationId xmlns:a16="http://schemas.microsoft.com/office/drawing/2014/main" id="{FC7C9300-ED88-4B93-B6D8-8FDAE18D2C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29" y="7283"/>
                <a:ext cx="1320" cy="1080"/>
              </a:xfrm>
              <a:custGeom>
                <a:avLst/>
                <a:gdLst>
                  <a:gd name="T0" fmla="*/ 0 w 1320"/>
                  <a:gd name="T1" fmla="*/ 1080 h 1080"/>
                  <a:gd name="T2" fmla="*/ 840 w 1320"/>
                  <a:gd name="T3" fmla="*/ 900 h 1080"/>
                  <a:gd name="T4" fmla="*/ 1320 w 1320"/>
                  <a:gd name="T5" fmla="*/ 0 h 10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20" h="1080">
                    <a:moveTo>
                      <a:pt x="0" y="1080"/>
                    </a:moveTo>
                    <a:cubicBezTo>
                      <a:pt x="310" y="1080"/>
                      <a:pt x="620" y="1080"/>
                      <a:pt x="840" y="900"/>
                    </a:cubicBezTo>
                    <a:cubicBezTo>
                      <a:pt x="1060" y="720"/>
                      <a:pt x="1190" y="360"/>
                      <a:pt x="1320" y="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7" name="Freeform 216">
                <a:extLst>
                  <a:ext uri="{FF2B5EF4-FFF2-40B4-BE49-F238E27FC236}">
                    <a16:creationId xmlns:a16="http://schemas.microsoft.com/office/drawing/2014/main" id="{B122BC5B-5F96-426C-80CA-81583A1CF7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89" y="7065"/>
                <a:ext cx="1066" cy="75"/>
              </a:xfrm>
              <a:custGeom>
                <a:avLst/>
                <a:gdLst>
                  <a:gd name="T0" fmla="*/ 0 w 1066"/>
                  <a:gd name="T1" fmla="*/ 75 h 75"/>
                  <a:gd name="T2" fmla="*/ 511 w 1066"/>
                  <a:gd name="T3" fmla="*/ 15 h 75"/>
                  <a:gd name="T4" fmla="*/ 1066 w 1066"/>
                  <a:gd name="T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66" h="75">
                    <a:moveTo>
                      <a:pt x="0" y="75"/>
                    </a:moveTo>
                    <a:cubicBezTo>
                      <a:pt x="85" y="65"/>
                      <a:pt x="333" y="27"/>
                      <a:pt x="511" y="15"/>
                    </a:cubicBezTo>
                    <a:cubicBezTo>
                      <a:pt x="689" y="3"/>
                      <a:pt x="951" y="3"/>
                      <a:pt x="1066" y="0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8" name="Freeform 217">
                <a:extLst>
                  <a:ext uri="{FF2B5EF4-FFF2-40B4-BE49-F238E27FC236}">
                    <a16:creationId xmlns:a16="http://schemas.microsoft.com/office/drawing/2014/main" id="{00E9A652-D36A-4B32-8446-B505BCD225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43" y="7059"/>
                <a:ext cx="1109" cy="224"/>
              </a:xfrm>
              <a:custGeom>
                <a:avLst/>
                <a:gdLst>
                  <a:gd name="T0" fmla="*/ 0 w 1109"/>
                  <a:gd name="T1" fmla="*/ 6 h 224"/>
                  <a:gd name="T2" fmla="*/ 645 w 1109"/>
                  <a:gd name="T3" fmla="*/ 36 h 224"/>
                  <a:gd name="T4" fmla="*/ 1109 w 1109"/>
                  <a:gd name="T5" fmla="*/ 22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9" h="224">
                    <a:moveTo>
                      <a:pt x="0" y="6"/>
                    </a:moveTo>
                    <a:cubicBezTo>
                      <a:pt x="107" y="11"/>
                      <a:pt x="460" y="0"/>
                      <a:pt x="645" y="36"/>
                    </a:cubicBezTo>
                    <a:cubicBezTo>
                      <a:pt x="830" y="72"/>
                      <a:pt x="1012" y="185"/>
                      <a:pt x="1109" y="224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7" name="Line 218">
              <a:extLst>
                <a:ext uri="{FF2B5EF4-FFF2-40B4-BE49-F238E27FC236}">
                  <a16:creationId xmlns:a16="http://schemas.microsoft.com/office/drawing/2014/main" id="{8B494780-CA79-4306-9B3C-A05368F9E0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898" y="1327"/>
              <a:ext cx="256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219">
              <a:extLst>
                <a:ext uri="{FF2B5EF4-FFF2-40B4-BE49-F238E27FC236}">
                  <a16:creationId xmlns:a16="http://schemas.microsoft.com/office/drawing/2014/main" id="{C9F2A0C6-4C33-4152-8E1B-8D72B1BE43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384" y="2672"/>
              <a:ext cx="256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220">
              <a:extLst>
                <a:ext uri="{FF2B5EF4-FFF2-40B4-BE49-F238E27FC236}">
                  <a16:creationId xmlns:a16="http://schemas.microsoft.com/office/drawing/2014/main" id="{064FEE17-3E52-4EA9-B6ED-A940991C1D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279" y="2685"/>
              <a:ext cx="256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221">
              <a:extLst>
                <a:ext uri="{FF2B5EF4-FFF2-40B4-BE49-F238E27FC236}">
                  <a16:creationId xmlns:a16="http://schemas.microsoft.com/office/drawing/2014/main" id="{C341FE6A-20BA-440F-9C57-FF84904AD0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6000000" flipH="1">
              <a:off x="13501" y="3927"/>
              <a:ext cx="256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222">
              <a:extLst>
                <a:ext uri="{FF2B5EF4-FFF2-40B4-BE49-F238E27FC236}">
                  <a16:creationId xmlns:a16="http://schemas.microsoft.com/office/drawing/2014/main" id="{A1FCF729-A55F-455F-9932-52CAE26DA6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2700000" flipH="1">
              <a:off x="11754" y="4131"/>
              <a:ext cx="256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223">
              <a:extLst>
                <a:ext uri="{FF2B5EF4-FFF2-40B4-BE49-F238E27FC236}">
                  <a16:creationId xmlns:a16="http://schemas.microsoft.com/office/drawing/2014/main" id="{A3B8F329-AE8E-43BC-AAB4-12FC8D58CE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8900000" flipH="1">
              <a:off x="14877" y="4611"/>
              <a:ext cx="256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Text Box 224">
              <a:extLst>
                <a:ext uri="{FF2B5EF4-FFF2-40B4-BE49-F238E27FC236}">
                  <a16:creationId xmlns:a16="http://schemas.microsoft.com/office/drawing/2014/main" id="{2DF19975-B7C1-4C38-96E5-C8BA503B3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3" y="688"/>
              <a:ext cx="491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225">
              <a:extLst>
                <a:ext uri="{FF2B5EF4-FFF2-40B4-BE49-F238E27FC236}">
                  <a16:creationId xmlns:a16="http://schemas.microsoft.com/office/drawing/2014/main" id="{34D27747-933B-43C2-91DD-37989CA5D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44" y="2568"/>
              <a:ext cx="768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226">
              <a:extLst>
                <a:ext uri="{FF2B5EF4-FFF2-40B4-BE49-F238E27FC236}">
                  <a16:creationId xmlns:a16="http://schemas.microsoft.com/office/drawing/2014/main" id="{DA006432-0363-4CBA-82E3-1A5711829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87" y="2569"/>
              <a:ext cx="768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227">
              <a:extLst>
                <a:ext uri="{FF2B5EF4-FFF2-40B4-BE49-F238E27FC236}">
                  <a16:creationId xmlns:a16="http://schemas.microsoft.com/office/drawing/2014/main" id="{1210BC1D-2C0A-4EB5-B070-37E1236B3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54" y="3576"/>
              <a:ext cx="767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228">
              <a:extLst>
                <a:ext uri="{FF2B5EF4-FFF2-40B4-BE49-F238E27FC236}">
                  <a16:creationId xmlns:a16="http://schemas.microsoft.com/office/drawing/2014/main" id="{5C912A8A-78C1-46F3-9B5A-BA335EABE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2" y="4180"/>
              <a:ext cx="487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229">
              <a:extLst>
                <a:ext uri="{FF2B5EF4-FFF2-40B4-BE49-F238E27FC236}">
                  <a16:creationId xmlns:a16="http://schemas.microsoft.com/office/drawing/2014/main" id="{0A065D0C-B9AB-44D6-8C23-EB197F481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99" y="4149"/>
              <a:ext cx="356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230">
              <a:extLst>
                <a:ext uri="{FF2B5EF4-FFF2-40B4-BE49-F238E27FC236}">
                  <a16:creationId xmlns:a16="http://schemas.microsoft.com/office/drawing/2014/main" id="{B194A821-4DCA-4AE3-BBA2-2E554C5B5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3" y="1859"/>
              <a:ext cx="1411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231">
              <a:extLst>
                <a:ext uri="{FF2B5EF4-FFF2-40B4-BE49-F238E27FC236}">
                  <a16:creationId xmlns:a16="http://schemas.microsoft.com/office/drawing/2014/main" id="{FC042B1D-1920-4A37-990B-9D1A1A748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26" y="1282"/>
              <a:ext cx="1629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232">
              <a:extLst>
                <a:ext uri="{FF2B5EF4-FFF2-40B4-BE49-F238E27FC236}">
                  <a16:creationId xmlns:a16="http://schemas.microsoft.com/office/drawing/2014/main" id="{5992C5BD-E25D-43CE-8663-CA9A2180D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27" y="2512"/>
              <a:ext cx="1400" cy="1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1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1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 Box 233">
              <a:extLst>
                <a:ext uri="{FF2B5EF4-FFF2-40B4-BE49-F238E27FC236}">
                  <a16:creationId xmlns:a16="http://schemas.microsoft.com/office/drawing/2014/main" id="{0DE8D98E-EE34-452A-AB4A-401822F07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38" y="5032"/>
              <a:ext cx="2146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 b="1" i="1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ref. node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CA6A53A4-56EF-49F1-8ECF-7FFA25442A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160426"/>
              </p:ext>
            </p:extLst>
          </p:nvPr>
        </p:nvGraphicFramePr>
        <p:xfrm>
          <a:off x="5245768" y="2574754"/>
          <a:ext cx="542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4" r:id="rId3" imgW="228501" imgH="253890" progId="Equation.3">
                  <p:embed/>
                </p:oleObj>
              </mc:Choice>
              <mc:Fallback>
                <p:oleObj r:id="rId3" imgW="228501" imgH="25389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768" y="2574754"/>
                        <a:ext cx="542925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53135107-5FAA-4769-A099-860B94048E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297974"/>
              </p:ext>
            </p:extLst>
          </p:nvPr>
        </p:nvGraphicFramePr>
        <p:xfrm>
          <a:off x="3104175" y="3865015"/>
          <a:ext cx="4762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5" r:id="rId5" imgW="190417" imgH="253890" progId="Equation.3">
                  <p:embed/>
                </p:oleObj>
              </mc:Choice>
              <mc:Fallback>
                <p:oleObj r:id="rId5" imgW="190417" imgH="25389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4175" y="3865015"/>
                        <a:ext cx="47625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03338A10-0D32-4DE5-A759-F5DBD9B79C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096580"/>
              </p:ext>
            </p:extLst>
          </p:nvPr>
        </p:nvGraphicFramePr>
        <p:xfrm>
          <a:off x="8205872" y="3896060"/>
          <a:ext cx="542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6" r:id="rId7" imgW="228501" imgH="253890" progId="Equation.3">
                  <p:embed/>
                </p:oleObj>
              </mc:Choice>
              <mc:Fallback>
                <p:oleObj r:id="rId7" imgW="228501" imgH="25389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5872" y="3896060"/>
                        <a:ext cx="542925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D78EAE96-4C00-4B03-8554-68B6B34150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962407"/>
              </p:ext>
            </p:extLst>
          </p:nvPr>
        </p:nvGraphicFramePr>
        <p:xfrm>
          <a:off x="1115547" y="4327587"/>
          <a:ext cx="20097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7" r:id="rId8" imgW="723586" imgH="253890" progId="Equation.3">
                  <p:embed/>
                </p:oleObj>
              </mc:Choice>
              <mc:Fallback>
                <p:oleObj r:id="rId8" imgW="723586" imgH="25389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547" y="4327587"/>
                        <a:ext cx="200977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5">
            <a:extLst>
              <a:ext uri="{FF2B5EF4-FFF2-40B4-BE49-F238E27FC236}">
                <a16:creationId xmlns:a16="http://schemas.microsoft.com/office/drawing/2014/main" id="{8D68BAD6-1F89-4D26-B514-6BDFAB0E7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41" y="959655"/>
            <a:ext cx="742509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Eliminate branch currents from  equations.  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Reduce number of remaining voltages to a minimum using </a:t>
            </a:r>
            <a:r>
              <a:rPr kumimoji="0" lang="en-GB" altLang="en-US" sz="28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Kirchoff’s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voltage law.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Apply </a:t>
            </a:r>
            <a:r>
              <a:rPr kumimoji="0" lang="en-GB" altLang="en-US" sz="28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Kirchoff’s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current law.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Define a set of nodal voltages, 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BE31C893-FD3F-4973-B339-3E79F9D08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60" y="3045306"/>
            <a:ext cx="734921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which are node pair voltages (i.e. voltage across a pair of nodes)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Branch voltages 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FC6D2508-8664-4C8E-A450-54B599970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186" y="3917352"/>
            <a:ext cx="49247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are related to nodal voltages 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63C005E4-07F0-4F0B-9B04-8200B2655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65" y="4415819"/>
            <a:ext cx="76335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by  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4975" algn="r"/>
                <a:tab pos="2171700" algn="r"/>
                <a:tab pos="2743200" algn="ctr"/>
                <a:tab pos="3330575" algn="ctr"/>
                <a:tab pos="3692525" algn="l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FBF3541B-319C-4E80-A901-16B5C3B60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65" y="5155762"/>
            <a:ext cx="690124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[A] too does not have the reference node. 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Pre-multiply equation (3)* by [A]</a:t>
            </a:r>
            <a:r>
              <a:rPr kumimoji="0" lang="en-GB" altLang="en-US" sz="28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 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A633EB1-D266-4C96-8078-6B04ABCB298C}"/>
              </a:ext>
            </a:extLst>
          </p:cNvPr>
          <p:cNvSpPr/>
          <p:nvPr/>
        </p:nvSpPr>
        <p:spPr>
          <a:xfrm>
            <a:off x="6974673" y="4448557"/>
            <a:ext cx="625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lang="en-GB" alt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	(5)</a:t>
            </a:r>
            <a:endParaRPr lang="en-GB" alt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979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3E0E175-6CB3-4E70-8D68-4EBB1D04D0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806993"/>
              </p:ext>
            </p:extLst>
          </p:nvPr>
        </p:nvGraphicFramePr>
        <p:xfrm>
          <a:off x="1010646" y="601578"/>
          <a:ext cx="50673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96" r:id="rId3" imgW="1803400" imgH="292100" progId="Equation.3">
                  <p:embed/>
                </p:oleObj>
              </mc:Choice>
              <mc:Fallback>
                <p:oleObj r:id="rId3" imgW="1803400" imgH="292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646" y="601578"/>
                        <a:ext cx="5067300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2C4FA7D-D01B-440B-B2EC-14F6A185EC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51980"/>
              </p:ext>
            </p:extLst>
          </p:nvPr>
        </p:nvGraphicFramePr>
        <p:xfrm>
          <a:off x="1106899" y="2359188"/>
          <a:ext cx="4838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97" r:id="rId5" imgW="1764534" imgH="317362" progId="Equation.3">
                  <p:embed/>
                </p:oleObj>
              </mc:Choice>
              <mc:Fallback>
                <p:oleObj r:id="rId5" imgW="1764534" imgH="31736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899" y="2359188"/>
                        <a:ext cx="483870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5A13AB2-D607-4E8A-9970-615881263A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637539"/>
              </p:ext>
            </p:extLst>
          </p:nvPr>
        </p:nvGraphicFramePr>
        <p:xfrm>
          <a:off x="957260" y="3200395"/>
          <a:ext cx="36671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98" r:id="rId7" imgW="1422400" imgH="292100" progId="Equation.3">
                  <p:embed/>
                </p:oleObj>
              </mc:Choice>
              <mc:Fallback>
                <p:oleObj r:id="rId7" imgW="1422400" imgH="292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0" y="3200395"/>
                        <a:ext cx="366712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5EFA13A-87C8-49E3-9532-62C01B367B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362152"/>
              </p:ext>
            </p:extLst>
          </p:nvPr>
        </p:nvGraphicFramePr>
        <p:xfrm>
          <a:off x="1577389" y="4479282"/>
          <a:ext cx="18764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99" r:id="rId9" imgW="825142" imgH="317362" progId="Equation.3">
                  <p:embed/>
                </p:oleObj>
              </mc:Choice>
              <mc:Fallback>
                <p:oleObj r:id="rId9" imgW="825142" imgH="31736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389" y="4479282"/>
                        <a:ext cx="187642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2E01981-5709-4848-B1FE-C0CB4F85EE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977790"/>
              </p:ext>
            </p:extLst>
          </p:nvPr>
        </p:nvGraphicFramePr>
        <p:xfrm>
          <a:off x="976312" y="5048777"/>
          <a:ext cx="33528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00" r:id="rId11" imgW="1104421" imgH="266584" progId="Equation.3">
                  <p:embed/>
                </p:oleObj>
              </mc:Choice>
              <mc:Fallback>
                <p:oleObj r:id="rId11" imgW="1104421" imgH="266584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2" y="5048777"/>
                        <a:ext cx="3352800" cy="78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>
            <a:extLst>
              <a:ext uri="{FF2B5EF4-FFF2-40B4-BE49-F238E27FC236}">
                <a16:creationId xmlns:a16="http://schemas.microsoft.com/office/drawing/2014/main" id="{05146544-2A62-4A3D-B0FD-69008460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1DD8B12-26E2-408B-8DFA-30403E271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071" y="1436965"/>
            <a:ext cx="666750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from equation (1),  [A]</a:t>
            </a:r>
            <a:r>
              <a:rPr kumimoji="0" lang="en-GB" altLang="en-US" sz="28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28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2800" b="0" i="0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</a:t>
            </a:r>
            <a:r>
              <a:rPr kumimoji="0" lang="en-GB" altLang="en-US" sz="2800" b="0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.  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Substituting from (5) 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2EE02F48-F4FA-417C-A14A-F8AEFF4B0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98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12A10B2-9A9A-4D91-A0F1-C2E5AE20C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75" y="3972884"/>
            <a:ext cx="335280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914400" algn="r"/>
                <a:tab pos="2743200" algn="ctr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      </a:t>
            </a:r>
            <a:r>
              <a:rPr kumimoji="0" lang="en-GB" altLang="en-US" sz="28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2800" b="0" i="0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gN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 [</a:t>
            </a:r>
            <a:r>
              <a:rPr kumimoji="0" lang="en-GB" altLang="en-US" sz="28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GB" altLang="en-US" sz="28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r>
              <a:rPr kumimoji="0" lang="en-GB" altLang="en-US" sz="28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en-GB" altLang="en-US" sz="2800" b="0" i="0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914400" algn="r"/>
                <a:tab pos="2743200" algn="ctr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where	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8296418D-CD8B-4506-9594-B473AFE27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405" y="3894507"/>
            <a:ext cx="18764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716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	and	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207A58EB-5A88-4674-B0CA-47E01D87C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93" y="5717534"/>
            <a:ext cx="988995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Source nodal current vector </a:t>
            </a:r>
            <a:r>
              <a:rPr kumimoji="0" lang="en-GB" altLang="en-US" sz="28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2800" b="0" i="0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gN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and the nodal admittance matrix [</a:t>
            </a:r>
            <a:r>
              <a:rPr kumimoji="0" lang="en-GB" altLang="en-US" sz="28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GB" altLang="en-US" sz="28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 could be written by inspection.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6924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0">
            <a:extLst>
              <a:ext uri="{FF2B5EF4-FFF2-40B4-BE49-F238E27FC236}">
                <a16:creationId xmlns:a16="http://schemas.microsoft.com/office/drawing/2014/main" id="{01955878-646F-42F7-815B-6E925BE01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47" y="2164137"/>
            <a:ext cx="11983453" cy="2216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Reason for negative sign can be understood as follows: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US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US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en-US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US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(V</a:t>
            </a:r>
            <a:r>
              <a:rPr kumimoji="0" lang="en-US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–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en-US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 any node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injected current 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gi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 = S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S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US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(V</a:t>
            </a:r>
            <a:r>
              <a:rPr kumimoji="0" lang="en-US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–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en-US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0B7F2E4-769F-4C1A-9909-A145C57817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963033"/>
              </p:ext>
            </p:extLst>
          </p:nvPr>
        </p:nvGraphicFramePr>
        <p:xfrm>
          <a:off x="278839" y="4374997"/>
          <a:ext cx="431482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65" r:id="rId3" imgW="1396394" imgH="495085" progId="Equation.3">
                  <p:embed/>
                </p:oleObj>
              </mc:Choice>
              <mc:Fallback>
                <p:oleObj r:id="rId3" imgW="1396394" imgH="495085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839" y="4374997"/>
                        <a:ext cx="4314825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">
            <a:extLst>
              <a:ext uri="{FF2B5EF4-FFF2-40B4-BE49-F238E27FC236}">
                <a16:creationId xmlns:a16="http://schemas.microsoft.com/office/drawing/2014/main" id="{63896275-F423-4C7F-A108-24904154B7B3}"/>
              </a:ext>
            </a:extLst>
          </p:cNvPr>
          <p:cNvGrpSpPr>
            <a:grpSpLocks/>
          </p:cNvGrpSpPr>
          <p:nvPr/>
        </p:nvGrpSpPr>
        <p:grpSpPr bwMode="auto">
          <a:xfrm>
            <a:off x="8530135" y="2617119"/>
            <a:ext cx="3105150" cy="1552575"/>
            <a:chOff x="11057" y="1517"/>
            <a:chExt cx="4891" cy="2444"/>
          </a:xfrm>
        </p:grpSpPr>
        <p:sp>
          <p:nvSpPr>
            <p:cNvPr id="5" name="Text Box 13">
              <a:extLst>
                <a:ext uri="{FF2B5EF4-FFF2-40B4-BE49-F238E27FC236}">
                  <a16:creationId xmlns:a16="http://schemas.microsoft.com/office/drawing/2014/main" id="{F12A123E-C343-4AA6-974F-310199EB2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34" y="2955"/>
              <a:ext cx="1287" cy="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v</a:t>
              </a:r>
              <a:r>
                <a:rPr kumimoji="0" lang="en-US" altLang="en-US" sz="36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k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Text Box 12">
              <a:extLst>
                <a:ext uri="{FF2B5EF4-FFF2-40B4-BE49-F238E27FC236}">
                  <a16:creationId xmlns:a16="http://schemas.microsoft.com/office/drawing/2014/main" id="{F2E0026F-CF9A-4E44-9E0D-237D743FD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43" y="2899"/>
              <a:ext cx="505" cy="9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j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C86237CE-62D2-4EBF-B6CE-2A5B5B7D977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3036" y="708"/>
              <a:ext cx="769" cy="4518"/>
              <a:chOff x="9878" y="1418"/>
              <a:chExt cx="360" cy="1800"/>
            </a:xfrm>
          </p:grpSpPr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B39E9D5C-77D0-456E-9BD0-FAD25617B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dirty="0"/>
              </a:p>
            </p:txBody>
          </p:sp>
          <p:sp>
            <p:nvSpPr>
              <p:cNvPr id="14" name="Line 10">
                <a:extLst>
                  <a:ext uri="{FF2B5EF4-FFF2-40B4-BE49-F238E27FC236}">
                    <a16:creationId xmlns:a16="http://schemas.microsoft.com/office/drawing/2014/main" id="{69BECD65-FB17-4AD4-9F1A-CB88133224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" name="Line 9">
                <a:extLst>
                  <a:ext uri="{FF2B5EF4-FFF2-40B4-BE49-F238E27FC236}">
                    <a16:creationId xmlns:a16="http://schemas.microsoft.com/office/drawing/2014/main" id="{EDDA5467-94BF-4774-9529-67E1CDA321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54115575-32BF-4C9B-9934-3E8751B5C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57" y="2891"/>
              <a:ext cx="445" cy="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E9C4A7D7-3843-4D9A-9B33-88407F7DE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8" y="1517"/>
              <a:ext cx="1287" cy="1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y</a:t>
              </a:r>
              <a:r>
                <a:rPr kumimoji="0" lang="en-US" altLang="en-US" sz="36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k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AF2382C5-8876-4D0C-A43B-B38FC60BC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16" y="2943"/>
              <a:ext cx="42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296CCE6E-CBD9-4374-82BE-701FF65EB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52" y="1860"/>
              <a:ext cx="1286" cy="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r>
                <a:rPr kumimoji="0" lang="en-US" altLang="en-US" sz="36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k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Line 3">
              <a:extLst>
                <a:ext uri="{FF2B5EF4-FFF2-40B4-BE49-F238E27FC236}">
                  <a16:creationId xmlns:a16="http://schemas.microsoft.com/office/drawing/2014/main" id="{B9900DCE-4BE3-4DB4-8A6D-03DDBB5F9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52" y="3940"/>
              <a:ext cx="332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6" name="Rectangle 14">
            <a:extLst>
              <a:ext uri="{FF2B5EF4-FFF2-40B4-BE49-F238E27FC236}">
                <a16:creationId xmlns:a16="http://schemas.microsoft.com/office/drawing/2014/main" id="{07716BF1-3A59-43EA-BF51-B87749D27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74" y="664508"/>
            <a:ext cx="1152625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914400" marR="0" lvl="0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		sum of all branch admittances incident at node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0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ij</a:t>
            </a:r>
            <a:r>
              <a:rPr lang="en-GB" altLang="en-US" sz="3200" dirty="0">
                <a:solidFill>
                  <a:srgbClr val="002060"/>
                </a:solidFill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		negative of the sum of all branch admittances connecting node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and node j 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0FE975D7-435C-4899-95AB-D6A5AF0E8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41" y="5181710"/>
            <a:ext cx="9014135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                                            for all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Since V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is a constant for a given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0235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2FF70FE-5AA8-4981-B2DC-429A3CEC4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796663"/>
              </p:ext>
            </p:extLst>
          </p:nvPr>
        </p:nvGraphicFramePr>
        <p:xfrm>
          <a:off x="264695" y="456157"/>
          <a:ext cx="915352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4" r:id="rId3" imgW="2921000" imgH="635000" progId="Equation.3">
                  <p:embed/>
                </p:oleObj>
              </mc:Choice>
              <mc:Fallback>
                <p:oleObj r:id="rId3" imgW="2921000" imgH="635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95" y="456157"/>
                        <a:ext cx="9153525" cy="198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F5D091D-8C62-43E7-A5A7-9CBE49411A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555100"/>
              </p:ext>
            </p:extLst>
          </p:nvPr>
        </p:nvGraphicFramePr>
        <p:xfrm>
          <a:off x="264695" y="2422358"/>
          <a:ext cx="6448425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5" r:id="rId5" imgW="1841500" imgH="546100" progId="Equation.3">
                  <p:embed/>
                </p:oleObj>
              </mc:Choice>
              <mc:Fallback>
                <p:oleObj r:id="rId5" imgW="1841500" imgH="546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95" y="2422358"/>
                        <a:ext cx="6448425" cy="188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A5F4E993-05EE-4176-8FBA-BCA38F6DE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EC53F93-22A8-44C5-A412-615587053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93" y="3679160"/>
            <a:ext cx="1073216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corresponds to nodal equation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 in the case of mesh analysis,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kumimoji="0" lang="en-GB" altLang="en-US" sz="32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200" b="0" i="0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gN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 [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r>
              <a:rPr kumimoji="0" lang="en-GB" altLang="en-US" sz="32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en-GB" altLang="en-US" sz="3200" b="0" i="0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is first solved to give </a:t>
            </a:r>
            <a:r>
              <a:rPr kumimoji="0" lang="en-GB" altLang="en-US" sz="32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en-GB" altLang="en-US" sz="3200" b="0" i="0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and the branch voltages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and branch currents then obtained using the matrix equations.</a:t>
            </a:r>
            <a:endParaRPr kumimoji="0" lang="en-GB" altLang="en-US" sz="3200" b="1" i="1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5243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/>
              <a:t>Example 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6B925D-D962-4A38-B0F5-EE1EC9D04511}"/>
              </a:ext>
            </a:extLst>
          </p:cNvPr>
          <p:cNvGrpSpPr/>
          <p:nvPr/>
        </p:nvGrpSpPr>
        <p:grpSpPr>
          <a:xfrm>
            <a:off x="838200" y="852595"/>
            <a:ext cx="11117178" cy="3240226"/>
            <a:chOff x="838200" y="852595"/>
            <a:chExt cx="11117178" cy="3240226"/>
          </a:xfrm>
        </p:grpSpPr>
        <p:cxnSp>
          <p:nvCxnSpPr>
            <p:cNvPr id="4" name="Line 235">
              <a:extLst>
                <a:ext uri="{FF2B5EF4-FFF2-40B4-BE49-F238E27FC236}">
                  <a16:creationId xmlns:a16="http://schemas.microsoft.com/office/drawing/2014/main" id="{4DD1C70D-7C83-4706-AEB9-FC6BEC3D7D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78499" y="1626853"/>
              <a:ext cx="13680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" name="Line 236">
              <a:extLst>
                <a:ext uri="{FF2B5EF4-FFF2-40B4-BE49-F238E27FC236}">
                  <a16:creationId xmlns:a16="http://schemas.microsoft.com/office/drawing/2014/main" id="{41380726-ABAC-4DC6-BA6A-7C4F2CB7FA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466526" y="2014602"/>
              <a:ext cx="17033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903E03-273C-4E31-9A85-E7FA0138B6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8020" y="3381201"/>
              <a:ext cx="599168" cy="711620"/>
              <a:chOff x="4701" y="3904"/>
              <a:chExt cx="240" cy="360"/>
            </a:xfrm>
          </p:grpSpPr>
          <p:cxnSp>
            <p:nvCxnSpPr>
              <p:cNvPr id="104" name="Line 238">
                <a:extLst>
                  <a:ext uri="{FF2B5EF4-FFF2-40B4-BE49-F238E27FC236}">
                    <a16:creationId xmlns:a16="http://schemas.microsoft.com/office/drawing/2014/main" id="{7E4E7BB7-9F1B-4A06-9F73-2042A740753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21" y="3904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5" name="Line 239">
                <a:extLst>
                  <a:ext uri="{FF2B5EF4-FFF2-40B4-BE49-F238E27FC236}">
                    <a16:creationId xmlns:a16="http://schemas.microsoft.com/office/drawing/2014/main" id="{26180FBC-0118-4161-B507-085E9B567D1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01" y="4144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6" name="Line 240">
                <a:extLst>
                  <a:ext uri="{FF2B5EF4-FFF2-40B4-BE49-F238E27FC236}">
                    <a16:creationId xmlns:a16="http://schemas.microsoft.com/office/drawing/2014/main" id="{ABDEFE61-BA9F-4A96-83DD-A5DDF8B9CFB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46" y="4204"/>
                <a:ext cx="14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" name="Line 241">
                <a:extLst>
                  <a:ext uri="{FF2B5EF4-FFF2-40B4-BE49-F238E27FC236}">
                    <a16:creationId xmlns:a16="http://schemas.microsoft.com/office/drawing/2014/main" id="{9BE334F4-1ED8-469A-B0FC-9CE73141F38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91" y="4264"/>
                <a:ext cx="85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199EBF-DACA-4AC4-825E-387141C3F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2484112"/>
              <a:ext cx="1823302" cy="738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</a:t>
              </a: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-90</a:t>
              </a:r>
              <a:r>
                <a:rPr lang="en-GB" sz="2800" baseline="300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A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Box 243">
              <a:extLst>
                <a:ext uri="{FF2B5EF4-FFF2-40B4-BE49-F238E27FC236}">
                  <a16:creationId xmlns:a16="http://schemas.microsoft.com/office/drawing/2014/main" id="{F7214D4A-7027-45DF-A2EB-9B0B335AB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8287" y="1929124"/>
              <a:ext cx="932780" cy="635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j20 </a:t>
              </a:r>
              <a:r>
                <a:rPr lang="en-GB" sz="28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Box 244">
              <a:extLst>
                <a:ext uri="{FF2B5EF4-FFF2-40B4-BE49-F238E27FC236}">
                  <a16:creationId xmlns:a16="http://schemas.microsoft.com/office/drawing/2014/main" id="{8060DE44-4263-421A-A800-70C167C87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7382" y="970282"/>
              <a:ext cx="1003058" cy="635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j6 </a:t>
              </a:r>
              <a:r>
                <a:rPr lang="en-GB" sz="28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245">
              <a:extLst>
                <a:ext uri="{FF2B5EF4-FFF2-40B4-BE49-F238E27FC236}">
                  <a16:creationId xmlns:a16="http://schemas.microsoft.com/office/drawing/2014/main" id="{810E9623-7D44-4A5A-8A84-4CA88DE2E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2799" y="2656926"/>
              <a:ext cx="1369897" cy="635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-j120 </a:t>
              </a:r>
              <a:r>
                <a:rPr lang="en-GB" sz="28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Times New Roman" panose="02020603050405020304" pitchFamily="18" charset="0"/>
                </a:rPr>
                <a:t>W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1" name="Line 246">
              <a:extLst>
                <a:ext uri="{FF2B5EF4-FFF2-40B4-BE49-F238E27FC236}">
                  <a16:creationId xmlns:a16="http://schemas.microsoft.com/office/drawing/2014/main" id="{3B314837-6DC5-4E51-AA92-53972DBEFB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29182" y="3536484"/>
              <a:ext cx="534338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8D6D53-92E5-40A1-883E-7D2568BE1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4325" y="1556241"/>
              <a:ext cx="2701053" cy="652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8.575</a:t>
              </a: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</a:t>
              </a: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5.91</a:t>
              </a:r>
              <a:r>
                <a:rPr lang="en-GB" sz="2800" baseline="300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A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Line 248">
              <a:extLst>
                <a:ext uri="{FF2B5EF4-FFF2-40B4-BE49-F238E27FC236}">
                  <a16:creationId xmlns:a16="http://schemas.microsoft.com/office/drawing/2014/main" id="{C80632C5-B968-4843-86FF-239CAC7D74B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8150174" y="1605793"/>
              <a:ext cx="0" cy="74762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249">
              <a:extLst>
                <a:ext uri="{FF2B5EF4-FFF2-40B4-BE49-F238E27FC236}">
                  <a16:creationId xmlns:a16="http://schemas.microsoft.com/office/drawing/2014/main" id="{53941CB4-833C-41E3-B0D7-356E7797203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8023899" y="2455000"/>
              <a:ext cx="24528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4AD4F33-D9F1-438E-BE67-F4EF6306D7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7906719" y="2723629"/>
              <a:ext cx="489331" cy="196737"/>
              <a:chOff x="2018" y="2138"/>
              <a:chExt cx="1200" cy="357"/>
            </a:xfrm>
          </p:grpSpPr>
          <p:cxnSp>
            <p:nvCxnSpPr>
              <p:cNvPr id="98" name="Line 251">
                <a:extLst>
                  <a:ext uri="{FF2B5EF4-FFF2-40B4-BE49-F238E27FC236}">
                    <a16:creationId xmlns:a16="http://schemas.microsoft.com/office/drawing/2014/main" id="{2B2453DC-31A4-43D6-A35B-E047ABA66763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01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9" name="Line 252">
                <a:extLst>
                  <a:ext uri="{FF2B5EF4-FFF2-40B4-BE49-F238E27FC236}">
                    <a16:creationId xmlns:a16="http://schemas.microsoft.com/office/drawing/2014/main" id="{00E7AE60-C06E-4963-AEBE-BF0901A26B88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309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0" name="Line 253">
                <a:extLst>
                  <a:ext uri="{FF2B5EF4-FFF2-40B4-BE49-F238E27FC236}">
                    <a16:creationId xmlns:a16="http://schemas.microsoft.com/office/drawing/2014/main" id="{B6D64789-FB8A-4766-A7E1-68E82FE8898B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12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1" name="Line 254">
                <a:extLst>
                  <a:ext uri="{FF2B5EF4-FFF2-40B4-BE49-F238E27FC236}">
                    <a16:creationId xmlns:a16="http://schemas.microsoft.com/office/drawing/2014/main" id="{463DFB5E-B453-47BA-B078-48AF39AA0232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38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" name="Line 255">
                <a:extLst>
                  <a:ext uri="{FF2B5EF4-FFF2-40B4-BE49-F238E27FC236}">
                    <a16:creationId xmlns:a16="http://schemas.microsoft.com/office/drawing/2014/main" id="{9F7020DA-1347-4774-A0FE-594F9668801A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60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" name="Line 256">
                <a:extLst>
                  <a:ext uri="{FF2B5EF4-FFF2-40B4-BE49-F238E27FC236}">
                    <a16:creationId xmlns:a16="http://schemas.microsoft.com/office/drawing/2014/main" id="{48108F2A-2EB9-4C4B-8DA8-451A95A0607F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86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6" name="Line 257">
              <a:extLst>
                <a:ext uri="{FF2B5EF4-FFF2-40B4-BE49-F238E27FC236}">
                  <a16:creationId xmlns:a16="http://schemas.microsoft.com/office/drawing/2014/main" id="{845CD40A-62B4-4A81-8EDA-A43242F90DC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7913032" y="3301729"/>
              <a:ext cx="46641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4003343-C7E2-456A-999F-87C5226487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001227" y="1428643"/>
              <a:ext cx="920126" cy="376599"/>
              <a:chOff x="8378" y="8272"/>
              <a:chExt cx="1080" cy="355"/>
            </a:xfrm>
          </p:grpSpPr>
          <p:sp>
            <p:nvSpPr>
              <p:cNvPr id="86" name="Arc 259">
                <a:extLst>
                  <a:ext uri="{FF2B5EF4-FFF2-40B4-BE49-F238E27FC236}">
                    <a16:creationId xmlns:a16="http://schemas.microsoft.com/office/drawing/2014/main" id="{2CD7CEC0-3529-42E4-9803-4BFE45ACB3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8378" y="8447"/>
                <a:ext cx="320" cy="169"/>
              </a:xfrm>
              <a:custGeom>
                <a:avLst/>
                <a:gdLst>
                  <a:gd name="G0" fmla="+- 19973 0 0"/>
                  <a:gd name="G1" fmla="+- 21600 0 0"/>
                  <a:gd name="G2" fmla="+- 21600 0 0"/>
                  <a:gd name="T0" fmla="*/ 0 w 41573"/>
                  <a:gd name="T1" fmla="*/ 13377 h 22566"/>
                  <a:gd name="T2" fmla="*/ 41551 w 41573"/>
                  <a:gd name="T3" fmla="*/ 22566 h 22566"/>
                  <a:gd name="T4" fmla="*/ 19973 w 41573"/>
                  <a:gd name="T5" fmla="*/ 21600 h 2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573" h="22566" fill="none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w="41573" h="22566" stroke="0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243411D6-AACA-400F-B594-A1D7D403ADF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556" y="8282"/>
                <a:ext cx="328" cy="345"/>
                <a:chOff x="2020" y="8243"/>
                <a:chExt cx="1768" cy="960"/>
              </a:xfrm>
            </p:grpSpPr>
            <p:sp>
              <p:nvSpPr>
                <p:cNvPr id="96" name="Arc 261">
                  <a:extLst>
                    <a:ext uri="{FF2B5EF4-FFF2-40B4-BE49-F238E27FC236}">
                      <a16:creationId xmlns:a16="http://schemas.microsoft.com/office/drawing/2014/main" id="{5FE06866-1CD0-47E7-BF81-EFF91AF411A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97" name="Arc 262">
                  <a:extLst>
                    <a:ext uri="{FF2B5EF4-FFF2-40B4-BE49-F238E27FC236}">
                      <a16:creationId xmlns:a16="http://schemas.microsoft.com/office/drawing/2014/main" id="{4E5F8920-6EA9-4A31-BA7E-FA65CBA1DE0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4075F320-3A30-43CF-B7D0-545CE6C09FF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745" y="8272"/>
                <a:ext cx="328" cy="345"/>
                <a:chOff x="2020" y="8243"/>
                <a:chExt cx="1768" cy="960"/>
              </a:xfrm>
            </p:grpSpPr>
            <p:sp>
              <p:nvSpPr>
                <p:cNvPr id="94" name="Arc 264">
                  <a:extLst>
                    <a:ext uri="{FF2B5EF4-FFF2-40B4-BE49-F238E27FC236}">
                      <a16:creationId xmlns:a16="http://schemas.microsoft.com/office/drawing/2014/main" id="{D985973E-7651-4120-8E9E-E0ACF8240A8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95" name="Arc 265">
                  <a:extLst>
                    <a:ext uri="{FF2B5EF4-FFF2-40B4-BE49-F238E27FC236}">
                      <a16:creationId xmlns:a16="http://schemas.microsoft.com/office/drawing/2014/main" id="{2258276A-D4C4-4A7C-BF2C-8245AA193CA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9EA6FD49-E60A-4BC4-A249-B6FDFEEF81D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931" y="8278"/>
                <a:ext cx="328" cy="345"/>
                <a:chOff x="2020" y="8243"/>
                <a:chExt cx="1768" cy="960"/>
              </a:xfrm>
            </p:grpSpPr>
            <p:sp>
              <p:nvSpPr>
                <p:cNvPr id="92" name="Arc 267">
                  <a:extLst>
                    <a:ext uri="{FF2B5EF4-FFF2-40B4-BE49-F238E27FC236}">
                      <a16:creationId xmlns:a16="http://schemas.microsoft.com/office/drawing/2014/main" id="{9C7D1A5F-44C2-46BD-B59D-A1FD86CBD7C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93" name="Arc 268">
                  <a:extLst>
                    <a:ext uri="{FF2B5EF4-FFF2-40B4-BE49-F238E27FC236}">
                      <a16:creationId xmlns:a16="http://schemas.microsoft.com/office/drawing/2014/main" id="{5EA900A2-9FC2-4685-8366-2C371527A45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90" name="Arc 269">
                <a:extLst>
                  <a:ext uri="{FF2B5EF4-FFF2-40B4-BE49-F238E27FC236}">
                    <a16:creationId xmlns:a16="http://schemas.microsoft.com/office/drawing/2014/main" id="{9069C756-E8E2-4B3D-8257-022C6C8AA1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18" y="8274"/>
                <a:ext cx="156" cy="24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649 w 43200"/>
                  <a:gd name="T1" fmla="*/ 34987 h 34987"/>
                  <a:gd name="T2" fmla="*/ 39113 w 43200"/>
                  <a:gd name="T3" fmla="*/ 34243 h 34987"/>
                  <a:gd name="T4" fmla="*/ 21600 w 43200"/>
                  <a:gd name="T5" fmla="*/ 21600 h 34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987" fill="none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</a:path>
                  <a:path w="43200" h="34987" stroke="0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91" name="Arc 270">
                <a:extLst>
                  <a:ext uri="{FF2B5EF4-FFF2-40B4-BE49-F238E27FC236}">
                    <a16:creationId xmlns:a16="http://schemas.microsoft.com/office/drawing/2014/main" id="{AF33048A-B54F-47E9-A8CA-46D3D20189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9136" y="8454"/>
                <a:ext cx="322" cy="16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 w 41896"/>
                  <a:gd name="T1" fmla="*/ 22008 h 22008"/>
                  <a:gd name="T2" fmla="*/ 41896 w 41896"/>
                  <a:gd name="T3" fmla="*/ 14208 h 22008"/>
                  <a:gd name="T4" fmla="*/ 21600 w 41896"/>
                  <a:gd name="T5" fmla="*/ 21600 h 22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896" h="22008" fill="none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w="41896" h="22008" stroke="0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18" name="Line 271">
              <a:extLst>
                <a:ext uri="{FF2B5EF4-FFF2-40B4-BE49-F238E27FC236}">
                  <a16:creationId xmlns:a16="http://schemas.microsoft.com/office/drawing/2014/main" id="{A11CE5BF-4CCE-4EEF-BE37-02456CA68C6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6293577" y="1614465"/>
              <a:ext cx="70704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272">
              <a:extLst>
                <a:ext uri="{FF2B5EF4-FFF2-40B4-BE49-F238E27FC236}">
                  <a16:creationId xmlns:a16="http://schemas.microsoft.com/office/drawing/2014/main" id="{BD309D9D-8BDD-4A48-BF9C-1C603698D39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7904403" y="1616943"/>
              <a:ext cx="24213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85462E9-6522-49B1-B0C3-F56C7C0D5F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6200000">
              <a:off x="3585489" y="2279297"/>
              <a:ext cx="1921399" cy="599169"/>
              <a:chOff x="6218" y="1958"/>
              <a:chExt cx="1320" cy="360"/>
            </a:xfrm>
          </p:grpSpPr>
          <p:cxnSp>
            <p:nvCxnSpPr>
              <p:cNvPr id="82" name="Line 274">
                <a:extLst>
                  <a:ext uri="{FF2B5EF4-FFF2-40B4-BE49-F238E27FC236}">
                    <a16:creationId xmlns:a16="http://schemas.microsoft.com/office/drawing/2014/main" id="{3EA05F83-F4D9-4C54-82AE-06F437BC608E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218" y="2138"/>
                <a:ext cx="60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Line 275">
                <a:extLst>
                  <a:ext uri="{FF2B5EF4-FFF2-40B4-BE49-F238E27FC236}">
                    <a16:creationId xmlns:a16="http://schemas.microsoft.com/office/drawing/2014/main" id="{D6039CA3-0D39-4571-AA8C-203C80547AAE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938" y="2138"/>
                <a:ext cx="60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Line 276">
                <a:extLst>
                  <a:ext uri="{FF2B5EF4-FFF2-40B4-BE49-F238E27FC236}">
                    <a16:creationId xmlns:a16="http://schemas.microsoft.com/office/drawing/2014/main" id="{F887A12A-5FDD-4729-A382-4D2D0B9163EF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818" y="1958"/>
                <a:ext cx="0" cy="36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Line 277">
                <a:extLst>
                  <a:ext uri="{FF2B5EF4-FFF2-40B4-BE49-F238E27FC236}">
                    <a16:creationId xmlns:a16="http://schemas.microsoft.com/office/drawing/2014/main" id="{E94068B0-A932-4318-8B03-3466C0D802D5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938" y="1958"/>
                <a:ext cx="0" cy="36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C3F8968-D2F9-4A2E-8C24-A124352FA6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579238" y="1373798"/>
              <a:ext cx="1782138" cy="482745"/>
              <a:chOff x="1658" y="2144"/>
              <a:chExt cx="1440" cy="361"/>
            </a:xfrm>
          </p:grpSpPr>
          <p:cxnSp>
            <p:nvCxnSpPr>
              <p:cNvPr id="73" name="Line 279">
                <a:extLst>
                  <a:ext uri="{FF2B5EF4-FFF2-40B4-BE49-F238E27FC236}">
                    <a16:creationId xmlns:a16="http://schemas.microsoft.com/office/drawing/2014/main" id="{206A345B-A12C-444F-82DF-DE8DC1AEAF95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8FB15DE8-24B4-48D6-9435-8A3BD1D132F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76" name="Line 281">
                  <a:extLst>
                    <a:ext uri="{FF2B5EF4-FFF2-40B4-BE49-F238E27FC236}">
                      <a16:creationId xmlns:a16="http://schemas.microsoft.com/office/drawing/2014/main" id="{678398CF-D373-457D-B42C-2A3D1B79E245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7" name="Line 282">
                  <a:extLst>
                    <a:ext uri="{FF2B5EF4-FFF2-40B4-BE49-F238E27FC236}">
                      <a16:creationId xmlns:a16="http://schemas.microsoft.com/office/drawing/2014/main" id="{4BE10C70-C559-4365-B48F-E35E4C2E7EB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8" name="Line 283">
                  <a:extLst>
                    <a:ext uri="{FF2B5EF4-FFF2-40B4-BE49-F238E27FC236}">
                      <a16:creationId xmlns:a16="http://schemas.microsoft.com/office/drawing/2014/main" id="{E813B3A5-6A7F-4FE2-A5BA-4082FA2C1EEC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9" name="Line 284">
                  <a:extLst>
                    <a:ext uri="{FF2B5EF4-FFF2-40B4-BE49-F238E27FC236}">
                      <a16:creationId xmlns:a16="http://schemas.microsoft.com/office/drawing/2014/main" id="{591CAC65-C130-43BC-A262-C6B1511FFCB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0" name="Line 285">
                  <a:extLst>
                    <a:ext uri="{FF2B5EF4-FFF2-40B4-BE49-F238E27FC236}">
                      <a16:creationId xmlns:a16="http://schemas.microsoft.com/office/drawing/2014/main" id="{D759CEC0-2F9E-463F-9E70-EEB98DF23232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1" name="Line 286">
                  <a:extLst>
                    <a:ext uri="{FF2B5EF4-FFF2-40B4-BE49-F238E27FC236}">
                      <a16:creationId xmlns:a16="http://schemas.microsoft.com/office/drawing/2014/main" id="{92A63C68-A2B5-4238-8F9B-19FEED7FB83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75" name="Line 287">
                <a:extLst>
                  <a:ext uri="{FF2B5EF4-FFF2-40B4-BE49-F238E27FC236}">
                    <a16:creationId xmlns:a16="http://schemas.microsoft.com/office/drawing/2014/main" id="{B154DD5F-F870-4C30-8A42-F5BD401EACF6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65A2C08-B069-410D-A0A9-B8A5831DE91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369265" y="2344233"/>
              <a:ext cx="1902817" cy="479828"/>
              <a:chOff x="1658" y="2144"/>
              <a:chExt cx="1440" cy="361"/>
            </a:xfrm>
          </p:grpSpPr>
          <p:cxnSp>
            <p:nvCxnSpPr>
              <p:cNvPr id="64" name="Line 289">
                <a:extLst>
                  <a:ext uri="{FF2B5EF4-FFF2-40B4-BE49-F238E27FC236}">
                    <a16:creationId xmlns:a16="http://schemas.microsoft.com/office/drawing/2014/main" id="{659C85D7-6D0F-483A-AD5C-DF1F34FC31B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35E83112-4BCE-4257-A04B-3C2068A378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67" name="Line 291">
                  <a:extLst>
                    <a:ext uri="{FF2B5EF4-FFF2-40B4-BE49-F238E27FC236}">
                      <a16:creationId xmlns:a16="http://schemas.microsoft.com/office/drawing/2014/main" id="{8D5DFAD1-FFDB-46FE-8C82-7B8F2867306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8" name="Line 292">
                  <a:extLst>
                    <a:ext uri="{FF2B5EF4-FFF2-40B4-BE49-F238E27FC236}">
                      <a16:creationId xmlns:a16="http://schemas.microsoft.com/office/drawing/2014/main" id="{0E697E2B-6225-48A2-B729-3CAEECE20DF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9" name="Line 293">
                  <a:extLst>
                    <a:ext uri="{FF2B5EF4-FFF2-40B4-BE49-F238E27FC236}">
                      <a16:creationId xmlns:a16="http://schemas.microsoft.com/office/drawing/2014/main" id="{793BE623-B9A5-4DB5-AA4B-5AAB2B7BE78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0" name="Line 294">
                  <a:extLst>
                    <a:ext uri="{FF2B5EF4-FFF2-40B4-BE49-F238E27FC236}">
                      <a16:creationId xmlns:a16="http://schemas.microsoft.com/office/drawing/2014/main" id="{1306A13A-E362-48EF-85FE-6D453F63040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1" name="Line 295">
                  <a:extLst>
                    <a:ext uri="{FF2B5EF4-FFF2-40B4-BE49-F238E27FC236}">
                      <a16:creationId xmlns:a16="http://schemas.microsoft.com/office/drawing/2014/main" id="{4D5D791B-BCDC-4DC8-9D11-A84CCA0D5F1E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2" name="Line 296">
                  <a:extLst>
                    <a:ext uri="{FF2B5EF4-FFF2-40B4-BE49-F238E27FC236}">
                      <a16:creationId xmlns:a16="http://schemas.microsoft.com/office/drawing/2014/main" id="{14D32557-9856-4648-9562-627199A59796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66" name="Line 297">
                <a:extLst>
                  <a:ext uri="{FF2B5EF4-FFF2-40B4-BE49-F238E27FC236}">
                    <a16:creationId xmlns:a16="http://schemas.microsoft.com/office/drawing/2014/main" id="{6516E913-2012-497D-8DD6-DCE17C83629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3" name="Text Box 298">
              <a:extLst>
                <a:ext uri="{FF2B5EF4-FFF2-40B4-BE49-F238E27FC236}">
                  <a16:creationId xmlns:a16="http://schemas.microsoft.com/office/drawing/2014/main" id="{404C2271-C071-4337-AD98-B7C37FAED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8138" y="2353417"/>
              <a:ext cx="947972" cy="635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 </a:t>
              </a:r>
              <a:r>
                <a:rPr lang="en-GB" sz="28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299">
              <a:extLst>
                <a:ext uri="{FF2B5EF4-FFF2-40B4-BE49-F238E27FC236}">
                  <a16:creationId xmlns:a16="http://schemas.microsoft.com/office/drawing/2014/main" id="{0A6B94C2-4C12-4C92-91E5-C9185E81C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557" y="967185"/>
              <a:ext cx="914678" cy="635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20 </a:t>
              </a:r>
              <a:r>
                <a:rPr lang="en-GB" sz="28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300">
              <a:extLst>
                <a:ext uri="{FF2B5EF4-FFF2-40B4-BE49-F238E27FC236}">
                  <a16:creationId xmlns:a16="http://schemas.microsoft.com/office/drawing/2014/main" id="{8A8EDB9C-F8A9-4670-8596-DA05E4674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0370" y="2575784"/>
              <a:ext cx="954631" cy="635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 </a:t>
              </a:r>
              <a:r>
                <a:rPr lang="en-GB" sz="2800">
                  <a:solidFill>
                    <a:srgbClr val="002060"/>
                  </a:solidFill>
                  <a:effectLst/>
                  <a:latin typeface="Symbol" panose="05050102010706020507" pitchFamily="18" charset="2"/>
                  <a:ea typeface="Calibri" panose="020F0502020204030204" pitchFamily="34" charset="0"/>
                  <a:cs typeface="Times New Roman" panose="02020603050405020304" pitchFamily="18" charset="0"/>
                </a:rPr>
                <a:t>W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Line 301">
              <a:extLst>
                <a:ext uri="{FF2B5EF4-FFF2-40B4-BE49-F238E27FC236}">
                  <a16:creationId xmlns:a16="http://schemas.microsoft.com/office/drawing/2014/main" id="{ED1A09E4-7FE8-4226-A5E0-747DCE093CD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26156" y="2622859"/>
              <a:ext cx="0" cy="35677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Line 302">
              <a:extLst>
                <a:ext uri="{FF2B5EF4-FFF2-40B4-BE49-F238E27FC236}">
                  <a16:creationId xmlns:a16="http://schemas.microsoft.com/office/drawing/2014/main" id="{D517702B-C84E-4B2B-BBFC-E1A3E1E8F1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31439" y="1941512"/>
              <a:ext cx="0" cy="35677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Line 303">
              <a:extLst>
                <a:ext uri="{FF2B5EF4-FFF2-40B4-BE49-F238E27FC236}">
                  <a16:creationId xmlns:a16="http://schemas.microsoft.com/office/drawing/2014/main" id="{EDC6C93D-7298-460C-9FEB-56C5E3443C7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2844922" y="2072206"/>
              <a:ext cx="720362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Line 304">
              <a:extLst>
                <a:ext uri="{FF2B5EF4-FFF2-40B4-BE49-F238E27FC236}">
                  <a16:creationId xmlns:a16="http://schemas.microsoft.com/office/drawing/2014/main" id="{F02E8CAE-2309-4DA2-82CF-FC3D81D6E2A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3557414" y="1616943"/>
              <a:ext cx="1010322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Line 305">
              <a:extLst>
                <a:ext uri="{FF2B5EF4-FFF2-40B4-BE49-F238E27FC236}">
                  <a16:creationId xmlns:a16="http://schemas.microsoft.com/office/drawing/2014/main" id="{5FED10A9-9F22-4FB5-9842-DA07CE0FB0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256542" y="1933459"/>
              <a:ext cx="16971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Line 306">
              <a:extLst>
                <a:ext uri="{FF2B5EF4-FFF2-40B4-BE49-F238E27FC236}">
                  <a16:creationId xmlns:a16="http://schemas.microsoft.com/office/drawing/2014/main" id="{A1B1DDA7-F286-421B-B3D1-06DD4F019F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90504" y="1605793"/>
              <a:ext cx="13680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" name="Text Box 307">
              <a:extLst>
                <a:ext uri="{FF2B5EF4-FFF2-40B4-BE49-F238E27FC236}">
                  <a16:creationId xmlns:a16="http://schemas.microsoft.com/office/drawing/2014/main" id="{89A632C8-5569-4353-8C6A-09A6B7D68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5833" y="1039656"/>
              <a:ext cx="411030" cy="51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Box 308">
              <a:extLst>
                <a:ext uri="{FF2B5EF4-FFF2-40B4-BE49-F238E27FC236}">
                  <a16:creationId xmlns:a16="http://schemas.microsoft.com/office/drawing/2014/main" id="{4AC57E09-EED4-44B0-BB66-68D766DFD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1809" y="1039656"/>
              <a:ext cx="410425" cy="51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Box 309">
              <a:extLst>
                <a:ext uri="{FF2B5EF4-FFF2-40B4-BE49-F238E27FC236}">
                  <a16:creationId xmlns:a16="http://schemas.microsoft.com/office/drawing/2014/main" id="{FC50452A-F342-46EB-8370-9ECD76281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1786" y="1742063"/>
              <a:ext cx="411030" cy="510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310">
              <a:extLst>
                <a:ext uri="{FF2B5EF4-FFF2-40B4-BE49-F238E27FC236}">
                  <a16:creationId xmlns:a16="http://schemas.microsoft.com/office/drawing/2014/main" id="{2B3F4587-321A-498F-A798-CA36068C0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2697" y="1580398"/>
              <a:ext cx="411030" cy="510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311">
              <a:extLst>
                <a:ext uri="{FF2B5EF4-FFF2-40B4-BE49-F238E27FC236}">
                  <a16:creationId xmlns:a16="http://schemas.microsoft.com/office/drawing/2014/main" id="{A9E15837-3D6F-4A4C-84A5-E31E09A2C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3727" y="1014260"/>
              <a:ext cx="411030" cy="510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122C09A-D185-43AE-91B8-D6DBF77480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934926" y="1962673"/>
              <a:ext cx="406950" cy="32870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38" name="Line 313">
              <a:extLst>
                <a:ext uri="{FF2B5EF4-FFF2-40B4-BE49-F238E27FC236}">
                  <a16:creationId xmlns:a16="http://schemas.microsoft.com/office/drawing/2014/main" id="{9CAC5D38-F406-4BF7-AF18-803E6359F47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8581836" y="2931323"/>
              <a:ext cx="111555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Line 314">
              <a:extLst>
                <a:ext uri="{FF2B5EF4-FFF2-40B4-BE49-F238E27FC236}">
                  <a16:creationId xmlns:a16="http://schemas.microsoft.com/office/drawing/2014/main" id="{3CD5641F-7752-44C4-B5AA-4750E74C87E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8598786" y="1436076"/>
              <a:ext cx="111555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Line 315">
              <a:extLst>
                <a:ext uri="{FF2B5EF4-FFF2-40B4-BE49-F238E27FC236}">
                  <a16:creationId xmlns:a16="http://schemas.microsoft.com/office/drawing/2014/main" id="{3B428C1B-D250-4754-9477-DC05F0B342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814175" y="877991"/>
              <a:ext cx="233905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Line 316">
              <a:extLst>
                <a:ext uri="{FF2B5EF4-FFF2-40B4-BE49-F238E27FC236}">
                  <a16:creationId xmlns:a16="http://schemas.microsoft.com/office/drawing/2014/main" id="{75C03372-9016-4247-BC14-4DCAFEEDDE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146542" y="3529051"/>
              <a:ext cx="100669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372DD98-377A-4000-AD1E-EC8F0274D0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3126082" y="2563680"/>
              <a:ext cx="882035" cy="291171"/>
              <a:chOff x="8378" y="8272"/>
              <a:chExt cx="1080" cy="355"/>
            </a:xfrm>
          </p:grpSpPr>
          <p:sp>
            <p:nvSpPr>
              <p:cNvPr id="52" name="Arc 318">
                <a:extLst>
                  <a:ext uri="{FF2B5EF4-FFF2-40B4-BE49-F238E27FC236}">
                    <a16:creationId xmlns:a16="http://schemas.microsoft.com/office/drawing/2014/main" id="{D3DFAE04-74C6-44BA-B66A-4683B81B3F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8378" y="8447"/>
                <a:ext cx="320" cy="169"/>
              </a:xfrm>
              <a:custGeom>
                <a:avLst/>
                <a:gdLst>
                  <a:gd name="G0" fmla="+- 19973 0 0"/>
                  <a:gd name="G1" fmla="+- 21600 0 0"/>
                  <a:gd name="G2" fmla="+- 21600 0 0"/>
                  <a:gd name="T0" fmla="*/ 0 w 41573"/>
                  <a:gd name="T1" fmla="*/ 13377 h 22566"/>
                  <a:gd name="T2" fmla="*/ 41551 w 41573"/>
                  <a:gd name="T3" fmla="*/ 22566 h 22566"/>
                  <a:gd name="T4" fmla="*/ 19973 w 41573"/>
                  <a:gd name="T5" fmla="*/ 21600 h 2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573" h="22566" fill="none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w="41573" h="22566" stroke="0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DEF2F921-4104-415F-AE35-BF550B4E3E5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556" y="8282"/>
                <a:ext cx="328" cy="345"/>
                <a:chOff x="2020" y="8243"/>
                <a:chExt cx="1768" cy="960"/>
              </a:xfrm>
            </p:grpSpPr>
            <p:sp>
              <p:nvSpPr>
                <p:cNvPr id="62" name="Arc 320">
                  <a:extLst>
                    <a:ext uri="{FF2B5EF4-FFF2-40B4-BE49-F238E27FC236}">
                      <a16:creationId xmlns:a16="http://schemas.microsoft.com/office/drawing/2014/main" id="{B7AE8C82-E39F-4CED-9893-9A4958CAACE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3" name="Arc 321">
                  <a:extLst>
                    <a:ext uri="{FF2B5EF4-FFF2-40B4-BE49-F238E27FC236}">
                      <a16:creationId xmlns:a16="http://schemas.microsoft.com/office/drawing/2014/main" id="{627AD464-C54D-4CFC-9C13-74454F39AFC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53F362EC-1492-42FF-A7C7-216A1A19842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745" y="8272"/>
                <a:ext cx="328" cy="345"/>
                <a:chOff x="2020" y="8243"/>
                <a:chExt cx="1768" cy="960"/>
              </a:xfrm>
            </p:grpSpPr>
            <p:sp>
              <p:nvSpPr>
                <p:cNvPr id="60" name="Arc 323">
                  <a:extLst>
                    <a:ext uri="{FF2B5EF4-FFF2-40B4-BE49-F238E27FC236}">
                      <a16:creationId xmlns:a16="http://schemas.microsoft.com/office/drawing/2014/main" id="{2F47C873-B6AA-461C-8CD4-E6989DFA0D2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1" name="Arc 324">
                  <a:extLst>
                    <a:ext uri="{FF2B5EF4-FFF2-40B4-BE49-F238E27FC236}">
                      <a16:creationId xmlns:a16="http://schemas.microsoft.com/office/drawing/2014/main" id="{40D6F362-F73A-4EE5-A9E3-F6D612EAE7E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AA7ED5DC-E02E-4455-AEDF-8DE64F6AFFC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931" y="8278"/>
                <a:ext cx="328" cy="345"/>
                <a:chOff x="2020" y="8243"/>
                <a:chExt cx="1768" cy="960"/>
              </a:xfrm>
            </p:grpSpPr>
            <p:sp>
              <p:nvSpPr>
                <p:cNvPr id="58" name="Arc 326">
                  <a:extLst>
                    <a:ext uri="{FF2B5EF4-FFF2-40B4-BE49-F238E27FC236}">
                      <a16:creationId xmlns:a16="http://schemas.microsoft.com/office/drawing/2014/main" id="{6ACD7F01-3DE4-4731-8256-0347ED6DE0F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9" name="Arc 327">
                  <a:extLst>
                    <a:ext uri="{FF2B5EF4-FFF2-40B4-BE49-F238E27FC236}">
                      <a16:creationId xmlns:a16="http://schemas.microsoft.com/office/drawing/2014/main" id="{BD05D2F1-D30A-46A7-BFCA-BBE7FF184BA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56" name="Arc 328">
                <a:extLst>
                  <a:ext uri="{FF2B5EF4-FFF2-40B4-BE49-F238E27FC236}">
                    <a16:creationId xmlns:a16="http://schemas.microsoft.com/office/drawing/2014/main" id="{4221AD8A-1589-4AF4-98E4-A40049FB5D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18" y="8274"/>
                <a:ext cx="156" cy="24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649 w 43200"/>
                  <a:gd name="T1" fmla="*/ 34987 h 34987"/>
                  <a:gd name="T2" fmla="*/ 39113 w 43200"/>
                  <a:gd name="T3" fmla="*/ 34243 h 34987"/>
                  <a:gd name="T4" fmla="*/ 21600 w 43200"/>
                  <a:gd name="T5" fmla="*/ 21600 h 34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987" fill="none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</a:path>
                  <a:path w="43200" h="34987" stroke="0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57" name="Arc 329">
                <a:extLst>
                  <a:ext uri="{FF2B5EF4-FFF2-40B4-BE49-F238E27FC236}">
                    <a16:creationId xmlns:a16="http://schemas.microsoft.com/office/drawing/2014/main" id="{51D48A30-63AD-4E1A-9F54-6545931796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9136" y="8454"/>
                <a:ext cx="322" cy="16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 w 41896"/>
                  <a:gd name="T1" fmla="*/ 22008 h 22008"/>
                  <a:gd name="T2" fmla="*/ 41896 w 41896"/>
                  <a:gd name="T3" fmla="*/ 14208 h 22008"/>
                  <a:gd name="T4" fmla="*/ 21600 w 41896"/>
                  <a:gd name="T5" fmla="*/ 21600 h 22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896" h="22008" fill="none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w="41896" h="22008" stroke="0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43" name="Line 330">
              <a:extLst>
                <a:ext uri="{FF2B5EF4-FFF2-40B4-BE49-F238E27FC236}">
                  <a16:creationId xmlns:a16="http://schemas.microsoft.com/office/drawing/2014/main" id="{FFEB7B24-6547-4DC6-9EDC-F861B16229F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3369410" y="3341371"/>
              <a:ext cx="40385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Line 331">
              <a:extLst>
                <a:ext uri="{FF2B5EF4-FFF2-40B4-BE49-F238E27FC236}">
                  <a16:creationId xmlns:a16="http://schemas.microsoft.com/office/drawing/2014/main" id="{5FAD6F3E-85F0-4FEB-B8B1-4325ABDB2B3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3197546" y="1965669"/>
              <a:ext cx="71913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E3D7A98-BC23-43F5-9979-1BD2D8C7CD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2627819" y="2652072"/>
              <a:ext cx="407570" cy="32870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46" name="Line 333">
              <a:extLst>
                <a:ext uri="{FF2B5EF4-FFF2-40B4-BE49-F238E27FC236}">
                  <a16:creationId xmlns:a16="http://schemas.microsoft.com/office/drawing/2014/main" id="{7ED4F700-B435-4406-867B-84E26E8DDBC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2599298" y="3277572"/>
              <a:ext cx="46703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Line 334">
              <a:extLst>
                <a:ext uri="{FF2B5EF4-FFF2-40B4-BE49-F238E27FC236}">
                  <a16:creationId xmlns:a16="http://schemas.microsoft.com/office/drawing/2014/main" id="{06091E8C-63E8-456E-A147-B263281576E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2584046" y="2337932"/>
              <a:ext cx="53083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" name="Text Box 335">
              <a:extLst>
                <a:ext uri="{FF2B5EF4-FFF2-40B4-BE49-F238E27FC236}">
                  <a16:creationId xmlns:a16="http://schemas.microsoft.com/office/drawing/2014/main" id="{ACFEC941-C73C-4994-BB9B-71E06229B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5983" y="852595"/>
              <a:ext cx="561761" cy="510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 Box 336">
              <a:extLst>
                <a:ext uri="{FF2B5EF4-FFF2-40B4-BE49-F238E27FC236}">
                  <a16:creationId xmlns:a16="http://schemas.microsoft.com/office/drawing/2014/main" id="{EA3269D7-78E2-4524-AAA2-8D9C3350A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2697" y="877991"/>
              <a:ext cx="541180" cy="51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Line 337">
              <a:extLst>
                <a:ext uri="{FF2B5EF4-FFF2-40B4-BE49-F238E27FC236}">
                  <a16:creationId xmlns:a16="http://schemas.microsoft.com/office/drawing/2014/main" id="{4A1BAA11-5322-4143-A887-131A6C55A6F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6439441" y="1252732"/>
              <a:ext cx="74886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Line 338">
              <a:extLst>
                <a:ext uri="{FF2B5EF4-FFF2-40B4-BE49-F238E27FC236}">
                  <a16:creationId xmlns:a16="http://schemas.microsoft.com/office/drawing/2014/main" id="{48159C95-1675-47E7-8C16-399A8F772E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17068" y="1605793"/>
              <a:ext cx="13680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8DF68EB-C5E9-4A84-A0CF-F9118794AE34}"/>
              </a:ext>
            </a:extLst>
          </p:cNvPr>
          <p:cNvSpPr/>
          <p:nvPr/>
        </p:nvSpPr>
        <p:spPr>
          <a:xfrm>
            <a:off x="344241" y="4211424"/>
            <a:ext cx="11490822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800"/>
              </a:spcBef>
              <a:spcAft>
                <a:spcPts val="6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1 has been reformulated as a problem with current sources rather than with voltage sources. 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[If voltage sources are present, they would first have to be   converted to current sources].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8580594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7E7F3B6-CA6F-4004-ADB0-BD41F5D4AF94}"/>
              </a:ext>
            </a:extLst>
          </p:cNvPr>
          <p:cNvGrpSpPr/>
          <p:nvPr/>
        </p:nvGrpSpPr>
        <p:grpSpPr>
          <a:xfrm>
            <a:off x="297184" y="623995"/>
            <a:ext cx="11658600" cy="3240226"/>
            <a:chOff x="251464" y="852595"/>
            <a:chExt cx="11658600" cy="3240226"/>
          </a:xfrm>
        </p:grpSpPr>
        <p:cxnSp>
          <p:nvCxnSpPr>
            <p:cNvPr id="4" name="Line 235">
              <a:extLst>
                <a:ext uri="{FF2B5EF4-FFF2-40B4-BE49-F238E27FC236}">
                  <a16:creationId xmlns:a16="http://schemas.microsoft.com/office/drawing/2014/main" id="{8598A567-16C4-4CED-926F-84D246C6FF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3411" y="1626853"/>
              <a:ext cx="1548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" name="Line 236">
              <a:extLst>
                <a:ext uri="{FF2B5EF4-FFF2-40B4-BE49-F238E27FC236}">
                  <a16:creationId xmlns:a16="http://schemas.microsoft.com/office/drawing/2014/main" id="{DC1272C3-7ECB-4B19-85BB-B6DC34B802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030516" y="2014602"/>
              <a:ext cx="17033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47DAA18-B7E6-4837-977A-0862BCCB8E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0759" y="3381201"/>
              <a:ext cx="677962" cy="711620"/>
              <a:chOff x="4701" y="3904"/>
              <a:chExt cx="240" cy="360"/>
            </a:xfrm>
          </p:grpSpPr>
          <p:cxnSp>
            <p:nvCxnSpPr>
              <p:cNvPr id="104" name="Line 238">
                <a:extLst>
                  <a:ext uri="{FF2B5EF4-FFF2-40B4-BE49-F238E27FC236}">
                    <a16:creationId xmlns:a16="http://schemas.microsoft.com/office/drawing/2014/main" id="{C8C8262E-8429-43C4-8D19-D856CA75B6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21" y="3904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5" name="Line 239">
                <a:extLst>
                  <a:ext uri="{FF2B5EF4-FFF2-40B4-BE49-F238E27FC236}">
                    <a16:creationId xmlns:a16="http://schemas.microsoft.com/office/drawing/2014/main" id="{2690F553-83B6-4C53-A794-CF1BBD34466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01" y="4144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6" name="Line 240">
                <a:extLst>
                  <a:ext uri="{FF2B5EF4-FFF2-40B4-BE49-F238E27FC236}">
                    <a16:creationId xmlns:a16="http://schemas.microsoft.com/office/drawing/2014/main" id="{630B50BE-2CB9-4880-ACCB-FDD7742F136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46" y="4204"/>
                <a:ext cx="14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" name="Line 241">
                <a:extLst>
                  <a:ext uri="{FF2B5EF4-FFF2-40B4-BE49-F238E27FC236}">
                    <a16:creationId xmlns:a16="http://schemas.microsoft.com/office/drawing/2014/main" id="{35FD314E-B68A-4A4B-920E-62558321CC5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91" y="4264"/>
                <a:ext cx="85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C62B6C-CFBE-43C6-B9EC-E47EA4785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4" y="2486164"/>
              <a:ext cx="1871340" cy="738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</a:t>
              </a: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-90</a:t>
              </a:r>
              <a:r>
                <a:rPr lang="en-GB" sz="3200" baseline="300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A</a:t>
              </a:r>
              <a:endPara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Box 243">
              <a:extLst>
                <a:ext uri="{FF2B5EF4-FFF2-40B4-BE49-F238E27FC236}">
                  <a16:creationId xmlns:a16="http://schemas.microsoft.com/office/drawing/2014/main" id="{13C9B612-4668-4BE8-99C8-D317252BB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582" y="1929124"/>
              <a:ext cx="1055447" cy="1067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-j0.05 </a:t>
              </a:r>
              <a:r>
                <a:rPr lang="en-GB" sz="320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endPara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245">
              <a:extLst>
                <a:ext uri="{FF2B5EF4-FFF2-40B4-BE49-F238E27FC236}">
                  <a16:creationId xmlns:a16="http://schemas.microsoft.com/office/drawing/2014/main" id="{5E5FD7BD-D5C6-46DC-8369-EB56E5141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3050" y="2611206"/>
              <a:ext cx="1550048" cy="1080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GB" sz="320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j0.00833 S</a:t>
              </a:r>
              <a:endPara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1" name="Line 246">
              <a:extLst>
                <a:ext uri="{FF2B5EF4-FFF2-40B4-BE49-F238E27FC236}">
                  <a16:creationId xmlns:a16="http://schemas.microsoft.com/office/drawing/2014/main" id="{F942DDE0-C3D0-42D2-BB7E-DF7A3ABD43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66650" y="3536484"/>
              <a:ext cx="604608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A59AEC-25F0-4271-9E2B-A6C78174C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3405" y="1556241"/>
              <a:ext cx="2646659" cy="652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8.575</a:t>
              </a: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</a:t>
              </a: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5.91</a:t>
              </a:r>
              <a:r>
                <a:rPr lang="en-GB" sz="3200" baseline="300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A</a:t>
              </a:r>
              <a:endPara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Line 248">
              <a:extLst>
                <a:ext uri="{FF2B5EF4-FFF2-40B4-BE49-F238E27FC236}">
                  <a16:creationId xmlns:a16="http://schemas.microsoft.com/office/drawing/2014/main" id="{B68F4A5B-4934-4264-9CD6-FDCEBCB7588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8187389" y="1605793"/>
              <a:ext cx="0" cy="74762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249">
              <a:extLst>
                <a:ext uri="{FF2B5EF4-FFF2-40B4-BE49-F238E27FC236}">
                  <a16:creationId xmlns:a16="http://schemas.microsoft.com/office/drawing/2014/main" id="{8AE4607E-D1AF-4977-8642-AF0D5C7F8E5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8060636" y="2455000"/>
              <a:ext cx="24528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724968F-CED3-47AB-87FF-6F09F431FE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7944093" y="2710693"/>
              <a:ext cx="489331" cy="222609"/>
              <a:chOff x="2018" y="2138"/>
              <a:chExt cx="1200" cy="357"/>
            </a:xfrm>
          </p:grpSpPr>
          <p:cxnSp>
            <p:nvCxnSpPr>
              <p:cNvPr id="98" name="Line 251">
                <a:extLst>
                  <a:ext uri="{FF2B5EF4-FFF2-40B4-BE49-F238E27FC236}">
                    <a16:creationId xmlns:a16="http://schemas.microsoft.com/office/drawing/2014/main" id="{805CA826-E579-473B-91C8-DC4809D656AC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01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9" name="Line 252">
                <a:extLst>
                  <a:ext uri="{FF2B5EF4-FFF2-40B4-BE49-F238E27FC236}">
                    <a16:creationId xmlns:a16="http://schemas.microsoft.com/office/drawing/2014/main" id="{B63B069D-0F82-4F90-83D9-512726C09030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3098" y="2138"/>
                <a:ext cx="120" cy="18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0" name="Line 253">
                <a:extLst>
                  <a:ext uri="{FF2B5EF4-FFF2-40B4-BE49-F238E27FC236}">
                    <a16:creationId xmlns:a16="http://schemas.microsoft.com/office/drawing/2014/main" id="{DA029CE8-A4D7-483F-9DB4-44097F6DC687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12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1" name="Line 254">
                <a:extLst>
                  <a:ext uri="{FF2B5EF4-FFF2-40B4-BE49-F238E27FC236}">
                    <a16:creationId xmlns:a16="http://schemas.microsoft.com/office/drawing/2014/main" id="{7B5A2EA4-726C-45D6-8259-F1885D89F36E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38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" name="Line 255">
                <a:extLst>
                  <a:ext uri="{FF2B5EF4-FFF2-40B4-BE49-F238E27FC236}">
                    <a16:creationId xmlns:a16="http://schemas.microsoft.com/office/drawing/2014/main" id="{F3082BEB-7850-48A2-9522-D67D70F516B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H="1" flipV="1">
                <a:off x="2605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" name="Line 256">
                <a:extLst>
                  <a:ext uri="{FF2B5EF4-FFF2-40B4-BE49-F238E27FC236}">
                    <a16:creationId xmlns:a16="http://schemas.microsoft.com/office/drawing/2014/main" id="{22C449AC-2113-4124-9FCD-6AACC3AB8678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flipV="1">
                <a:off x="2860" y="2138"/>
                <a:ext cx="238" cy="357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6" name="Line 257">
              <a:extLst>
                <a:ext uri="{FF2B5EF4-FFF2-40B4-BE49-F238E27FC236}">
                  <a16:creationId xmlns:a16="http://schemas.microsoft.com/office/drawing/2014/main" id="{2DFFEE4B-A8FF-475A-BC9E-ADF03040ACD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7949729" y="3301729"/>
              <a:ext cx="46641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A62B5F7-448B-4723-81D5-39A1EA1CAD4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887348" y="1428643"/>
              <a:ext cx="1041129" cy="376599"/>
              <a:chOff x="8378" y="8272"/>
              <a:chExt cx="1080" cy="355"/>
            </a:xfrm>
          </p:grpSpPr>
          <p:sp>
            <p:nvSpPr>
              <p:cNvPr id="86" name="Arc 259">
                <a:extLst>
                  <a:ext uri="{FF2B5EF4-FFF2-40B4-BE49-F238E27FC236}">
                    <a16:creationId xmlns:a16="http://schemas.microsoft.com/office/drawing/2014/main" id="{59244E65-772E-4739-9AC3-8A953CC238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8378" y="8447"/>
                <a:ext cx="320" cy="169"/>
              </a:xfrm>
              <a:custGeom>
                <a:avLst/>
                <a:gdLst>
                  <a:gd name="G0" fmla="+- 19973 0 0"/>
                  <a:gd name="G1" fmla="+- 21600 0 0"/>
                  <a:gd name="G2" fmla="+- 21600 0 0"/>
                  <a:gd name="T0" fmla="*/ 0 w 41573"/>
                  <a:gd name="T1" fmla="*/ 13377 h 22566"/>
                  <a:gd name="T2" fmla="*/ 41551 w 41573"/>
                  <a:gd name="T3" fmla="*/ 22566 h 22566"/>
                  <a:gd name="T4" fmla="*/ 19973 w 41573"/>
                  <a:gd name="T5" fmla="*/ 21600 h 2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573" h="22566" fill="none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w="41573" h="22566" stroke="0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2000"/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91DDFDA0-91B4-4ED7-A982-F56F08AB47A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556" y="8282"/>
                <a:ext cx="328" cy="345"/>
                <a:chOff x="2020" y="8243"/>
                <a:chExt cx="1768" cy="960"/>
              </a:xfrm>
            </p:grpSpPr>
            <p:sp>
              <p:nvSpPr>
                <p:cNvPr id="96" name="Arc 261">
                  <a:extLst>
                    <a:ext uri="{FF2B5EF4-FFF2-40B4-BE49-F238E27FC236}">
                      <a16:creationId xmlns:a16="http://schemas.microsoft.com/office/drawing/2014/main" id="{0E302EAA-8A9B-4A80-A8D7-3AD7C4CCF61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  <p:sp>
              <p:nvSpPr>
                <p:cNvPr id="97" name="Arc 262">
                  <a:extLst>
                    <a:ext uri="{FF2B5EF4-FFF2-40B4-BE49-F238E27FC236}">
                      <a16:creationId xmlns:a16="http://schemas.microsoft.com/office/drawing/2014/main" id="{8D58AA44-1599-4EFB-805F-1981E1D5BD1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EC8C52B-D5C2-4CC0-A83C-30920E0BE25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745" y="8272"/>
                <a:ext cx="328" cy="345"/>
                <a:chOff x="2020" y="8243"/>
                <a:chExt cx="1768" cy="960"/>
              </a:xfrm>
            </p:grpSpPr>
            <p:sp>
              <p:nvSpPr>
                <p:cNvPr id="94" name="Arc 264">
                  <a:extLst>
                    <a:ext uri="{FF2B5EF4-FFF2-40B4-BE49-F238E27FC236}">
                      <a16:creationId xmlns:a16="http://schemas.microsoft.com/office/drawing/2014/main" id="{EB49F1B0-1C13-4FF1-A3D4-6169F883107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  <p:sp>
              <p:nvSpPr>
                <p:cNvPr id="95" name="Arc 265">
                  <a:extLst>
                    <a:ext uri="{FF2B5EF4-FFF2-40B4-BE49-F238E27FC236}">
                      <a16:creationId xmlns:a16="http://schemas.microsoft.com/office/drawing/2014/main" id="{CFF642E1-4068-497E-A77D-F3E41222307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AE569698-FCED-4486-AE60-EB3DCC7873B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931" y="8278"/>
                <a:ext cx="328" cy="345"/>
                <a:chOff x="2020" y="8243"/>
                <a:chExt cx="1768" cy="960"/>
              </a:xfrm>
            </p:grpSpPr>
            <p:sp>
              <p:nvSpPr>
                <p:cNvPr id="92" name="Arc 267">
                  <a:extLst>
                    <a:ext uri="{FF2B5EF4-FFF2-40B4-BE49-F238E27FC236}">
                      <a16:creationId xmlns:a16="http://schemas.microsoft.com/office/drawing/2014/main" id="{19B6451D-F7C2-43C2-851A-47CC1A7C549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  <p:sp>
              <p:nvSpPr>
                <p:cNvPr id="93" name="Arc 268">
                  <a:extLst>
                    <a:ext uri="{FF2B5EF4-FFF2-40B4-BE49-F238E27FC236}">
                      <a16:creationId xmlns:a16="http://schemas.microsoft.com/office/drawing/2014/main" id="{B51039BA-EA1F-4025-BB89-2EEA202F689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</p:grpSp>
          <p:sp>
            <p:nvSpPr>
              <p:cNvPr id="90" name="Arc 269">
                <a:extLst>
                  <a:ext uri="{FF2B5EF4-FFF2-40B4-BE49-F238E27FC236}">
                    <a16:creationId xmlns:a16="http://schemas.microsoft.com/office/drawing/2014/main" id="{8B3D7FC8-6860-4235-ABF2-9F887A498B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18" y="8274"/>
                <a:ext cx="156" cy="24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649 w 43200"/>
                  <a:gd name="T1" fmla="*/ 34987 h 34987"/>
                  <a:gd name="T2" fmla="*/ 39113 w 43200"/>
                  <a:gd name="T3" fmla="*/ 34243 h 34987"/>
                  <a:gd name="T4" fmla="*/ 21600 w 43200"/>
                  <a:gd name="T5" fmla="*/ 21600 h 34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987" fill="none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</a:path>
                  <a:path w="43200" h="34987" stroke="0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2000"/>
              </a:p>
            </p:txBody>
          </p:sp>
          <p:sp>
            <p:nvSpPr>
              <p:cNvPr id="91" name="Arc 270">
                <a:extLst>
                  <a:ext uri="{FF2B5EF4-FFF2-40B4-BE49-F238E27FC236}">
                    <a16:creationId xmlns:a16="http://schemas.microsoft.com/office/drawing/2014/main" id="{3167A051-6386-4C16-A3A4-E7FBC070D1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9136" y="8454"/>
                <a:ext cx="322" cy="16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 w 41896"/>
                  <a:gd name="T1" fmla="*/ 22008 h 22008"/>
                  <a:gd name="T2" fmla="*/ 41896 w 41896"/>
                  <a:gd name="T3" fmla="*/ 14208 h 22008"/>
                  <a:gd name="T4" fmla="*/ 21600 w 41896"/>
                  <a:gd name="T5" fmla="*/ 21600 h 22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896" h="22008" fill="none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w="41896" h="22008" stroke="0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2000"/>
              </a:p>
            </p:txBody>
          </p:sp>
        </p:grpSp>
        <p:cxnSp>
          <p:nvCxnSpPr>
            <p:cNvPr id="18" name="Line 271">
              <a:extLst>
                <a:ext uri="{FF2B5EF4-FFF2-40B4-BE49-F238E27FC236}">
                  <a16:creationId xmlns:a16="http://schemas.microsoft.com/office/drawing/2014/main" id="{D7F8982D-3FA9-48F5-9BF3-CFFB222D0544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6086637" y="1614465"/>
              <a:ext cx="80002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272">
              <a:extLst>
                <a:ext uri="{FF2B5EF4-FFF2-40B4-BE49-F238E27FC236}">
                  <a16:creationId xmlns:a16="http://schemas.microsoft.com/office/drawing/2014/main" id="{C18CE1CC-684E-4F90-9447-13D4D250C9B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7909297" y="1616943"/>
              <a:ext cx="273982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5988D38-9745-4035-A2BD-AEFE6A4045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6200000">
              <a:off x="3148755" y="2239899"/>
              <a:ext cx="1921399" cy="677963"/>
              <a:chOff x="6218" y="1958"/>
              <a:chExt cx="1320" cy="360"/>
            </a:xfrm>
          </p:grpSpPr>
          <p:cxnSp>
            <p:nvCxnSpPr>
              <p:cNvPr id="82" name="Line 274">
                <a:extLst>
                  <a:ext uri="{FF2B5EF4-FFF2-40B4-BE49-F238E27FC236}">
                    <a16:creationId xmlns:a16="http://schemas.microsoft.com/office/drawing/2014/main" id="{0FFAA5B5-AAB0-4B73-AF41-596B60F4086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218" y="2138"/>
                <a:ext cx="60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Line 275">
                <a:extLst>
                  <a:ext uri="{FF2B5EF4-FFF2-40B4-BE49-F238E27FC236}">
                    <a16:creationId xmlns:a16="http://schemas.microsoft.com/office/drawing/2014/main" id="{E0E7F34B-2926-4A7B-BFE2-CEB4000393F5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938" y="2138"/>
                <a:ext cx="60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Line 276">
                <a:extLst>
                  <a:ext uri="{FF2B5EF4-FFF2-40B4-BE49-F238E27FC236}">
                    <a16:creationId xmlns:a16="http://schemas.microsoft.com/office/drawing/2014/main" id="{7816BBD1-EF7A-4BB3-A1DB-9CFEBD8C517F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818" y="1958"/>
                <a:ext cx="0" cy="36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Line 277">
                <a:extLst>
                  <a:ext uri="{FF2B5EF4-FFF2-40B4-BE49-F238E27FC236}">
                    <a16:creationId xmlns:a16="http://schemas.microsoft.com/office/drawing/2014/main" id="{3ED3BF44-9F10-4710-BB1B-849A35C1A4D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6938" y="1958"/>
                <a:ext cx="0" cy="36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5079DB7-A670-4A3F-B574-B2C9A20EF0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146850" y="1373798"/>
              <a:ext cx="2016502" cy="482745"/>
              <a:chOff x="1658" y="2144"/>
              <a:chExt cx="1440" cy="361"/>
            </a:xfrm>
          </p:grpSpPr>
          <p:cxnSp>
            <p:nvCxnSpPr>
              <p:cNvPr id="73" name="Line 279">
                <a:extLst>
                  <a:ext uri="{FF2B5EF4-FFF2-40B4-BE49-F238E27FC236}">
                    <a16:creationId xmlns:a16="http://schemas.microsoft.com/office/drawing/2014/main" id="{E774AB01-EE7C-4880-9010-2E771D35FAA0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F99E3D4D-0BE8-4935-9FAF-D9195656ABA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76" name="Line 281">
                  <a:extLst>
                    <a:ext uri="{FF2B5EF4-FFF2-40B4-BE49-F238E27FC236}">
                      <a16:creationId xmlns:a16="http://schemas.microsoft.com/office/drawing/2014/main" id="{37A9E293-5C5C-4C17-A6E3-DE19277FA50F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7" name="Line 282">
                  <a:extLst>
                    <a:ext uri="{FF2B5EF4-FFF2-40B4-BE49-F238E27FC236}">
                      <a16:creationId xmlns:a16="http://schemas.microsoft.com/office/drawing/2014/main" id="{936B3C93-5C3F-4BE4-9698-94FE62976CC5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8" name="Line 283">
                  <a:extLst>
                    <a:ext uri="{FF2B5EF4-FFF2-40B4-BE49-F238E27FC236}">
                      <a16:creationId xmlns:a16="http://schemas.microsoft.com/office/drawing/2014/main" id="{A3888503-877A-4174-9199-84405EC7DFD7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9" name="Line 284">
                  <a:extLst>
                    <a:ext uri="{FF2B5EF4-FFF2-40B4-BE49-F238E27FC236}">
                      <a16:creationId xmlns:a16="http://schemas.microsoft.com/office/drawing/2014/main" id="{16F6DDE7-4B7F-4E6A-BA91-0C6E0B5DE2B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0" name="Line 285">
                  <a:extLst>
                    <a:ext uri="{FF2B5EF4-FFF2-40B4-BE49-F238E27FC236}">
                      <a16:creationId xmlns:a16="http://schemas.microsoft.com/office/drawing/2014/main" id="{3F3F6F1A-0316-41D7-9597-98EE7D2A09C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1" name="Line 286">
                  <a:extLst>
                    <a:ext uri="{FF2B5EF4-FFF2-40B4-BE49-F238E27FC236}">
                      <a16:creationId xmlns:a16="http://schemas.microsoft.com/office/drawing/2014/main" id="{E98A5C1A-8B61-4945-82E6-2E16C30BB525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75" name="Line 287">
                <a:extLst>
                  <a:ext uri="{FF2B5EF4-FFF2-40B4-BE49-F238E27FC236}">
                    <a16:creationId xmlns:a16="http://schemas.microsoft.com/office/drawing/2014/main" id="{232F2137-3D4B-47F7-B268-75240489D9F7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8A456A1-BA95-494D-935A-9524649C380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196073" y="2378440"/>
              <a:ext cx="1902817" cy="411413"/>
              <a:chOff x="1658" y="2144"/>
              <a:chExt cx="1440" cy="361"/>
            </a:xfrm>
          </p:grpSpPr>
          <p:cxnSp>
            <p:nvCxnSpPr>
              <p:cNvPr id="64" name="Line 289">
                <a:extLst>
                  <a:ext uri="{FF2B5EF4-FFF2-40B4-BE49-F238E27FC236}">
                    <a16:creationId xmlns:a16="http://schemas.microsoft.com/office/drawing/2014/main" id="{C7DC91AA-51E6-4AFA-9EA4-4CD3EF267CD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65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AF759D22-A917-4030-85E9-D70FF111DA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67" name="Line 291">
                  <a:extLst>
                    <a:ext uri="{FF2B5EF4-FFF2-40B4-BE49-F238E27FC236}">
                      <a16:creationId xmlns:a16="http://schemas.microsoft.com/office/drawing/2014/main" id="{541EEAE0-337B-4F9C-A392-9C986BADB3D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201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8" name="Line 292">
                  <a:extLst>
                    <a:ext uri="{FF2B5EF4-FFF2-40B4-BE49-F238E27FC236}">
                      <a16:creationId xmlns:a16="http://schemas.microsoft.com/office/drawing/2014/main" id="{68C633EE-E41D-433C-919D-E9656861816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098" y="2138"/>
                  <a:ext cx="120" cy="18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9" name="Line 293">
                  <a:extLst>
                    <a:ext uri="{FF2B5EF4-FFF2-40B4-BE49-F238E27FC236}">
                      <a16:creationId xmlns:a16="http://schemas.microsoft.com/office/drawing/2014/main" id="{22C0D97C-584E-4056-A4C3-1DC05BA29C64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12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0" name="Line 294">
                  <a:extLst>
                    <a:ext uri="{FF2B5EF4-FFF2-40B4-BE49-F238E27FC236}">
                      <a16:creationId xmlns:a16="http://schemas.microsoft.com/office/drawing/2014/main" id="{36DB8B3C-4734-4B6C-BAFB-3E51DBB979C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38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1" name="Line 295">
                  <a:extLst>
                    <a:ext uri="{FF2B5EF4-FFF2-40B4-BE49-F238E27FC236}">
                      <a16:creationId xmlns:a16="http://schemas.microsoft.com/office/drawing/2014/main" id="{61E3FCA2-A8BC-4E22-9594-242E49FA1EC7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H="1" flipV="1">
                  <a:off x="2605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2" name="Line 296">
                  <a:extLst>
                    <a:ext uri="{FF2B5EF4-FFF2-40B4-BE49-F238E27FC236}">
                      <a16:creationId xmlns:a16="http://schemas.microsoft.com/office/drawing/2014/main" id="{67BB232D-D1FC-449A-BB5F-C30B6AC86A50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flipV="1">
                  <a:off x="2860" y="2138"/>
                  <a:ext cx="238" cy="357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66" name="Line 297">
                <a:extLst>
                  <a:ext uri="{FF2B5EF4-FFF2-40B4-BE49-F238E27FC236}">
                    <a16:creationId xmlns:a16="http://schemas.microsoft.com/office/drawing/2014/main" id="{2E684368-E418-43A2-94D0-E9C48D6EA0C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38" y="2318"/>
                <a:ext cx="36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3" name="Text Box 298">
              <a:extLst>
                <a:ext uri="{FF2B5EF4-FFF2-40B4-BE49-F238E27FC236}">
                  <a16:creationId xmlns:a16="http://schemas.microsoft.com/office/drawing/2014/main" id="{3973E55E-926E-4403-A110-C6FD647B1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3359" y="2353417"/>
              <a:ext cx="1072636" cy="635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0.1 S</a:t>
              </a:r>
              <a:endPara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299">
              <a:extLst>
                <a:ext uri="{FF2B5EF4-FFF2-40B4-BE49-F238E27FC236}">
                  <a16:creationId xmlns:a16="http://schemas.microsoft.com/office/drawing/2014/main" id="{7852B479-524B-44A6-9000-376E33EAF2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5498" y="898605"/>
              <a:ext cx="1139077" cy="635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0.05 S</a:t>
              </a:r>
              <a:endPara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300">
              <a:extLst>
                <a:ext uri="{FF2B5EF4-FFF2-40B4-BE49-F238E27FC236}">
                  <a16:creationId xmlns:a16="http://schemas.microsoft.com/office/drawing/2014/main" id="{70B11ECE-3C3C-454E-8EB7-589C06FA82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8170" y="1709650"/>
              <a:ext cx="1854639" cy="11478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0.0735 –    j 0.00441 S</a:t>
              </a:r>
              <a:endPara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Line 301">
              <a:extLst>
                <a:ext uri="{FF2B5EF4-FFF2-40B4-BE49-F238E27FC236}">
                  <a16:creationId xmlns:a16="http://schemas.microsoft.com/office/drawing/2014/main" id="{05489E6D-695A-4F64-A6B4-5964855531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63226" y="2622859"/>
              <a:ext cx="0" cy="35677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Line 302">
              <a:extLst>
                <a:ext uri="{FF2B5EF4-FFF2-40B4-BE49-F238E27FC236}">
                  <a16:creationId xmlns:a16="http://schemas.microsoft.com/office/drawing/2014/main" id="{EE989F91-C431-4790-8130-817C0C6C74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297697" y="1941512"/>
              <a:ext cx="0" cy="35677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Line 303">
              <a:extLst>
                <a:ext uri="{FF2B5EF4-FFF2-40B4-BE49-F238E27FC236}">
                  <a16:creationId xmlns:a16="http://schemas.microsoft.com/office/drawing/2014/main" id="{43710BA0-2731-40D6-81DA-88425900024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2184460" y="2072206"/>
              <a:ext cx="81509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Line 304">
              <a:extLst>
                <a:ext uri="{FF2B5EF4-FFF2-40B4-BE49-F238E27FC236}">
                  <a16:creationId xmlns:a16="http://schemas.microsoft.com/office/drawing/2014/main" id="{731D14B3-EC31-4E6A-AED8-1AE2AFD3B1A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10800000">
              <a:off x="2990650" y="1616943"/>
              <a:ext cx="1143186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Line 305">
              <a:extLst>
                <a:ext uri="{FF2B5EF4-FFF2-40B4-BE49-F238E27FC236}">
                  <a16:creationId xmlns:a16="http://schemas.microsoft.com/office/drawing/2014/main" id="{EB0A9405-27A2-4B52-8D7A-2078F9F908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055890" y="1933459"/>
              <a:ext cx="16971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Line 306">
              <a:extLst>
                <a:ext uri="{FF2B5EF4-FFF2-40B4-BE49-F238E27FC236}">
                  <a16:creationId xmlns:a16="http://schemas.microsoft.com/office/drawing/2014/main" id="{D34B348D-914A-4DF5-AEA9-8C2956C707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385899" y="1605793"/>
              <a:ext cx="1548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" name="Text Box 307">
              <a:extLst>
                <a:ext uri="{FF2B5EF4-FFF2-40B4-BE49-F238E27FC236}">
                  <a16:creationId xmlns:a16="http://schemas.microsoft.com/office/drawing/2014/main" id="{DACD4038-F228-4B2B-80A5-73E5A17CD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3820" y="1039656"/>
              <a:ext cx="465083" cy="51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32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Box 308">
              <a:extLst>
                <a:ext uri="{FF2B5EF4-FFF2-40B4-BE49-F238E27FC236}">
                  <a16:creationId xmlns:a16="http://schemas.microsoft.com/office/drawing/2014/main" id="{36A67293-1AB0-4BFB-A66F-B9133D8B6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6855" y="1039656"/>
              <a:ext cx="464399" cy="51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32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lang="en-GB" sz="1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Box 309">
              <a:extLst>
                <a:ext uri="{FF2B5EF4-FFF2-40B4-BE49-F238E27FC236}">
                  <a16:creationId xmlns:a16="http://schemas.microsoft.com/office/drawing/2014/main" id="{43AB99F1-1506-4A54-9232-0C074196E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9459" y="1742063"/>
              <a:ext cx="465083" cy="510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32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GB" sz="1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310">
              <a:extLst>
                <a:ext uri="{FF2B5EF4-FFF2-40B4-BE49-F238E27FC236}">
                  <a16:creationId xmlns:a16="http://schemas.microsoft.com/office/drawing/2014/main" id="{C9A49DF3-CB41-4A4C-AC94-2F1E8FC48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8819" y="1580398"/>
              <a:ext cx="465083" cy="510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32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lang="en-GB" sz="1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311">
              <a:extLst>
                <a:ext uri="{FF2B5EF4-FFF2-40B4-BE49-F238E27FC236}">
                  <a16:creationId xmlns:a16="http://schemas.microsoft.com/office/drawing/2014/main" id="{E1B7FC19-DB3B-47D2-B0D7-B372A02F0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3902" y="1014260"/>
              <a:ext cx="465083" cy="510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GB" sz="3200" baseline="-250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0F34F87-28DC-46E1-8FBF-8268D14567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9102099" y="1941059"/>
              <a:ext cx="406950" cy="371929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2000"/>
            </a:p>
          </p:txBody>
        </p:sp>
        <p:cxnSp>
          <p:nvCxnSpPr>
            <p:cNvPr id="38" name="Line 313">
              <a:extLst>
                <a:ext uri="{FF2B5EF4-FFF2-40B4-BE49-F238E27FC236}">
                  <a16:creationId xmlns:a16="http://schemas.microsoft.com/office/drawing/2014/main" id="{6F90A4F1-832A-4187-B2F2-FCB7179ED5E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8749169" y="2931323"/>
              <a:ext cx="111555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Line 314">
              <a:extLst>
                <a:ext uri="{FF2B5EF4-FFF2-40B4-BE49-F238E27FC236}">
                  <a16:creationId xmlns:a16="http://schemas.microsoft.com/office/drawing/2014/main" id="{95D3DDAF-C85F-4558-8D52-8E95F360E0F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8768347" y="1436076"/>
              <a:ext cx="111555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Line 315">
              <a:extLst>
                <a:ext uri="{FF2B5EF4-FFF2-40B4-BE49-F238E27FC236}">
                  <a16:creationId xmlns:a16="http://schemas.microsoft.com/office/drawing/2014/main" id="{F6187DE2-04B6-4A10-BBF0-FB4A890C1D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675697" y="877991"/>
              <a:ext cx="264665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Line 316">
              <a:extLst>
                <a:ext uri="{FF2B5EF4-FFF2-40B4-BE49-F238E27FC236}">
                  <a16:creationId xmlns:a16="http://schemas.microsoft.com/office/drawing/2014/main" id="{FDB97B76-9818-4EF1-8A0F-9D0748E26B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183279" y="3529051"/>
              <a:ext cx="113907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B9FB9A0-A730-4F36-A20D-29ACFC0D8A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2560591" y="2544535"/>
              <a:ext cx="882035" cy="329462"/>
              <a:chOff x="8378" y="8272"/>
              <a:chExt cx="1080" cy="355"/>
            </a:xfrm>
          </p:grpSpPr>
          <p:sp>
            <p:nvSpPr>
              <p:cNvPr id="52" name="Arc 318">
                <a:extLst>
                  <a:ext uri="{FF2B5EF4-FFF2-40B4-BE49-F238E27FC236}">
                    <a16:creationId xmlns:a16="http://schemas.microsoft.com/office/drawing/2014/main" id="{647215F8-94DF-44AB-9DD1-F835EA89AD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8378" y="8447"/>
                <a:ext cx="320" cy="169"/>
              </a:xfrm>
              <a:custGeom>
                <a:avLst/>
                <a:gdLst>
                  <a:gd name="G0" fmla="+- 19973 0 0"/>
                  <a:gd name="G1" fmla="+- 21600 0 0"/>
                  <a:gd name="G2" fmla="+- 21600 0 0"/>
                  <a:gd name="T0" fmla="*/ 0 w 41573"/>
                  <a:gd name="T1" fmla="*/ 13377 h 22566"/>
                  <a:gd name="T2" fmla="*/ 41551 w 41573"/>
                  <a:gd name="T3" fmla="*/ 22566 h 22566"/>
                  <a:gd name="T4" fmla="*/ 19973 w 41573"/>
                  <a:gd name="T5" fmla="*/ 21600 h 2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573" h="22566" fill="none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w="41573" h="22566" stroke="0" extrusionOk="0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200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6B09CEDA-E7AD-4A93-818A-81EC3AAF9ED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556" y="8282"/>
                <a:ext cx="328" cy="345"/>
                <a:chOff x="2020" y="8243"/>
                <a:chExt cx="1768" cy="960"/>
              </a:xfrm>
            </p:grpSpPr>
            <p:sp>
              <p:nvSpPr>
                <p:cNvPr id="62" name="Arc 320">
                  <a:extLst>
                    <a:ext uri="{FF2B5EF4-FFF2-40B4-BE49-F238E27FC236}">
                      <a16:creationId xmlns:a16="http://schemas.microsoft.com/office/drawing/2014/main" id="{867506CE-0DC6-4E1B-84AD-3D0565B50F9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  <p:sp>
              <p:nvSpPr>
                <p:cNvPr id="63" name="Arc 321">
                  <a:extLst>
                    <a:ext uri="{FF2B5EF4-FFF2-40B4-BE49-F238E27FC236}">
                      <a16:creationId xmlns:a16="http://schemas.microsoft.com/office/drawing/2014/main" id="{27594E69-2EE1-4810-B5E4-C6DC68628FB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CCD9165-1AA1-4AD4-95BC-821283A5E5F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745" y="8272"/>
                <a:ext cx="328" cy="345"/>
                <a:chOff x="2020" y="8243"/>
                <a:chExt cx="1768" cy="960"/>
              </a:xfrm>
            </p:grpSpPr>
            <p:sp>
              <p:nvSpPr>
                <p:cNvPr id="60" name="Arc 323">
                  <a:extLst>
                    <a:ext uri="{FF2B5EF4-FFF2-40B4-BE49-F238E27FC236}">
                      <a16:creationId xmlns:a16="http://schemas.microsoft.com/office/drawing/2014/main" id="{8CF24003-D77B-4E20-A43E-F50E4644C25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  <p:sp>
              <p:nvSpPr>
                <p:cNvPr id="61" name="Arc 324">
                  <a:extLst>
                    <a:ext uri="{FF2B5EF4-FFF2-40B4-BE49-F238E27FC236}">
                      <a16:creationId xmlns:a16="http://schemas.microsoft.com/office/drawing/2014/main" id="{18E28B47-0B23-44B4-9EDB-00D38DB82ED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6AB9C79D-4808-4534-99E0-4EA7FCB5B2F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931" y="8278"/>
                <a:ext cx="328" cy="345"/>
                <a:chOff x="2020" y="8243"/>
                <a:chExt cx="1768" cy="960"/>
              </a:xfrm>
            </p:grpSpPr>
            <p:sp>
              <p:nvSpPr>
                <p:cNvPr id="58" name="Arc 326">
                  <a:extLst>
                    <a:ext uri="{FF2B5EF4-FFF2-40B4-BE49-F238E27FC236}">
                      <a16:creationId xmlns:a16="http://schemas.microsoft.com/office/drawing/2014/main" id="{EB35BC12-808D-4B47-B9DE-E412EBD5289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8243"/>
                  <a:ext cx="842" cy="6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4649 w 43200"/>
                    <a:gd name="T1" fmla="*/ 34987 h 34987"/>
                    <a:gd name="T2" fmla="*/ 39113 w 43200"/>
                    <a:gd name="T3" fmla="*/ 34243 h 34987"/>
                    <a:gd name="T4" fmla="*/ 21600 w 43200"/>
                    <a:gd name="T5" fmla="*/ 21600 h 349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987" fill="none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</a:path>
                    <a:path w="43200" h="34987" stroke="0" extrusionOk="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  <p:sp>
              <p:nvSpPr>
                <p:cNvPr id="59" name="Arc 327">
                  <a:extLst>
                    <a:ext uri="{FF2B5EF4-FFF2-40B4-BE49-F238E27FC236}">
                      <a16:creationId xmlns:a16="http://schemas.microsoft.com/office/drawing/2014/main" id="{3510239D-E93D-454E-9ABB-0502809044B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2117" y="8753"/>
                  <a:ext cx="1671" cy="450"/>
                </a:xfrm>
                <a:custGeom>
                  <a:avLst/>
                  <a:gdLst>
                    <a:gd name="G0" fmla="+- 19973 0 0"/>
                    <a:gd name="G1" fmla="+- 21600 0 0"/>
                    <a:gd name="G2" fmla="+- 21600 0 0"/>
                    <a:gd name="T0" fmla="*/ 0 w 40269"/>
                    <a:gd name="T1" fmla="*/ 13377 h 21600"/>
                    <a:gd name="T2" fmla="*/ 40269 w 40269"/>
                    <a:gd name="T3" fmla="*/ 14208 h 21600"/>
                    <a:gd name="T4" fmla="*/ 19973 w 4026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269" h="21600" fill="none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w="40269" h="21600" stroke="0" extrusionOk="0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 sz="2000"/>
                </a:p>
              </p:txBody>
            </p:sp>
          </p:grpSp>
          <p:sp>
            <p:nvSpPr>
              <p:cNvPr id="56" name="Arc 328">
                <a:extLst>
                  <a:ext uri="{FF2B5EF4-FFF2-40B4-BE49-F238E27FC236}">
                    <a16:creationId xmlns:a16="http://schemas.microsoft.com/office/drawing/2014/main" id="{F359EB47-47CD-4165-8C4F-8CF8259EB0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18" y="8274"/>
                <a:ext cx="156" cy="24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649 w 43200"/>
                  <a:gd name="T1" fmla="*/ 34987 h 34987"/>
                  <a:gd name="T2" fmla="*/ 39113 w 43200"/>
                  <a:gd name="T3" fmla="*/ 34243 h 34987"/>
                  <a:gd name="T4" fmla="*/ 21600 w 43200"/>
                  <a:gd name="T5" fmla="*/ 21600 h 34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987" fill="none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</a:path>
                  <a:path w="43200" h="34987" stroke="0" extrusionOk="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2000"/>
              </a:p>
            </p:txBody>
          </p:sp>
          <p:sp>
            <p:nvSpPr>
              <p:cNvPr id="57" name="Arc 329">
                <a:extLst>
                  <a:ext uri="{FF2B5EF4-FFF2-40B4-BE49-F238E27FC236}">
                    <a16:creationId xmlns:a16="http://schemas.microsoft.com/office/drawing/2014/main" id="{F9B415C9-73FE-478E-BF57-00A8BCD132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9136" y="8454"/>
                <a:ext cx="322" cy="16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 w 41896"/>
                  <a:gd name="T1" fmla="*/ 22008 h 22008"/>
                  <a:gd name="T2" fmla="*/ 41896 w 41896"/>
                  <a:gd name="T3" fmla="*/ 14208 h 22008"/>
                  <a:gd name="T4" fmla="*/ 21600 w 41896"/>
                  <a:gd name="T5" fmla="*/ 21600 h 22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896" h="22008" fill="none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w="41896" h="22008" stroke="0" extrusionOk="0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2000"/>
              </a:p>
            </p:txBody>
          </p:sp>
        </p:grpSp>
        <p:cxnSp>
          <p:nvCxnSpPr>
            <p:cNvPr id="43" name="Line 330">
              <a:extLst>
                <a:ext uri="{FF2B5EF4-FFF2-40B4-BE49-F238E27FC236}">
                  <a16:creationId xmlns:a16="http://schemas.microsoft.com/office/drawing/2014/main" id="{DF4500A9-401F-4D04-9218-29F3C55361E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2804476" y="3341371"/>
              <a:ext cx="40385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Line 331">
              <a:extLst>
                <a:ext uri="{FF2B5EF4-FFF2-40B4-BE49-F238E27FC236}">
                  <a16:creationId xmlns:a16="http://schemas.microsoft.com/office/drawing/2014/main" id="{2F7BDC72-9D86-49F2-AE9F-DCA3A7D11B6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2630742" y="1965669"/>
              <a:ext cx="71913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1B4F2DC-73A0-4C3E-8183-F5AB254B6B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965606" y="2630458"/>
              <a:ext cx="407570" cy="371929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2000"/>
            </a:p>
          </p:txBody>
        </p:sp>
        <p:cxnSp>
          <p:nvCxnSpPr>
            <p:cNvPr id="46" name="Line 333">
              <a:extLst>
                <a:ext uri="{FF2B5EF4-FFF2-40B4-BE49-F238E27FC236}">
                  <a16:creationId xmlns:a16="http://schemas.microsoft.com/office/drawing/2014/main" id="{2FB48372-4F20-48B3-BAA3-5AE928D92FA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1937244" y="3277572"/>
              <a:ext cx="46703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Line 334">
              <a:extLst>
                <a:ext uri="{FF2B5EF4-FFF2-40B4-BE49-F238E27FC236}">
                  <a16:creationId xmlns:a16="http://schemas.microsoft.com/office/drawing/2014/main" id="{03E372EE-F0AC-4CAC-B40E-77D9FA56F27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1924181" y="2337932"/>
              <a:ext cx="53083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" name="Text Box 335">
              <a:extLst>
                <a:ext uri="{FF2B5EF4-FFF2-40B4-BE49-F238E27FC236}">
                  <a16:creationId xmlns:a16="http://schemas.microsoft.com/office/drawing/2014/main" id="{0501660E-BE4B-4FA1-84EF-C19E92991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1085" y="852595"/>
              <a:ext cx="635637" cy="510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en-GB" sz="3200" baseline="-250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 Box 336">
              <a:extLst>
                <a:ext uri="{FF2B5EF4-FFF2-40B4-BE49-F238E27FC236}">
                  <a16:creationId xmlns:a16="http://schemas.microsoft.com/office/drawing/2014/main" id="{A380393E-1392-4B9F-9886-4A2C52C2A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8819" y="877991"/>
              <a:ext cx="612349" cy="51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32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en-GB" sz="3200" baseline="-2500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Line 337">
              <a:extLst>
                <a:ext uri="{FF2B5EF4-FFF2-40B4-BE49-F238E27FC236}">
                  <a16:creationId xmlns:a16="http://schemas.microsoft.com/office/drawing/2014/main" id="{1AFA728F-9D57-47B8-8C6B-353B3AC9E464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6300923" y="1252732"/>
              <a:ext cx="74886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Line 338">
              <a:extLst>
                <a:ext uri="{FF2B5EF4-FFF2-40B4-BE49-F238E27FC236}">
                  <a16:creationId xmlns:a16="http://schemas.microsoft.com/office/drawing/2014/main" id="{E3D03449-6A3A-4BAA-9540-E61BEF0A48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26367" y="1605793"/>
              <a:ext cx="1548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E5494BE-AB84-464C-A49D-624C5D65501E}"/>
              </a:ext>
            </a:extLst>
          </p:cNvPr>
          <p:cNvSpPr/>
          <p:nvPr/>
        </p:nvSpPr>
        <p:spPr>
          <a:xfrm>
            <a:off x="410816" y="4015327"/>
            <a:ext cx="912642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branch-node incidence matrix [A],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branch injected current </a:t>
            </a:r>
            <a:r>
              <a:rPr lang="en-GB" sz="3200" u="sng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GB" sz="3200" u="sng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gb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branch admittance matrix  may be written,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with reference selected as earthed node as follows.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4131412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B31F704-CB60-4144-8F74-0F9BD8CB21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855678"/>
              </p:ext>
            </p:extLst>
          </p:nvPr>
        </p:nvGraphicFramePr>
        <p:xfrm>
          <a:off x="640080" y="685797"/>
          <a:ext cx="21717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8" r:id="rId3" imgW="977900" imgH="1143000" progId="Equation.3">
                  <p:embed/>
                </p:oleObj>
              </mc:Choice>
              <mc:Fallback>
                <p:oleObj r:id="rId3" imgW="977900" imgH="1143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" y="685797"/>
                        <a:ext cx="2171700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DA2B91F-BCA9-499D-A6E2-C7419E1CAC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428980"/>
              </p:ext>
            </p:extLst>
          </p:nvPr>
        </p:nvGraphicFramePr>
        <p:xfrm>
          <a:off x="4833937" y="746559"/>
          <a:ext cx="2105025" cy="256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9" r:id="rId5" imgW="952087" imgH="1167893" progId="Equation.3">
                  <p:embed/>
                </p:oleObj>
              </mc:Choice>
              <mc:Fallback>
                <p:oleObj r:id="rId5" imgW="952087" imgH="116789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7" y="746559"/>
                        <a:ext cx="2105025" cy="2562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323F7A6-E8DF-4AA2-8B73-4B0428BB94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27137"/>
              </p:ext>
            </p:extLst>
          </p:nvPr>
        </p:nvGraphicFramePr>
        <p:xfrm>
          <a:off x="210502" y="3408522"/>
          <a:ext cx="8105775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0" r:id="rId7" imgW="3683000" imgH="1143000" progId="Equation.3">
                  <p:embed/>
                </p:oleObj>
              </mc:Choice>
              <mc:Fallback>
                <p:oleObj r:id="rId7" imgW="3683000" imgH="11430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" y="3408522"/>
                        <a:ext cx="8105775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3421423C-3FA6-45B9-BB3C-DEAD0AC52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F5EA206-7338-42F0-BAA4-0BA262158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7490" y="1619931"/>
            <a:ext cx="2971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	</a:t>
            </a:r>
            <a:r>
              <a:rPr kumimoji="0" lang="en-GB" altLang="en-US" sz="3600" b="0" i="0" u="sng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600" b="0" i="0" u="sng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gb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875E4A7-9145-4524-915E-82537507E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2" y="1610617"/>
            <a:ext cx="48006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3FB10DD-29F3-4C5E-937E-C0AE93932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8694" y="1000456"/>
            <a:ext cx="329088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 in mesh analysis, nodal current injection vector and nodal admittance matrix may be written from first principles.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72BC6E-C0A3-4BCF-B0D8-D72AA5CBCCE0}"/>
              </a:ext>
            </a:extLst>
          </p:cNvPr>
          <p:cNvSpPr/>
          <p:nvPr/>
        </p:nvSpPr>
        <p:spPr>
          <a:xfrm>
            <a:off x="65523" y="5999942"/>
            <a:ext cx="72202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lang="en-GB" altLang="en-US" sz="3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Left as an exercise for you to work out.</a:t>
            </a:r>
            <a:endParaRPr lang="en-GB" altLang="en-US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7105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72D2BA-3FDA-4FB2-A8AF-339F6C773B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644443"/>
              </p:ext>
            </p:extLst>
          </p:nvPr>
        </p:nvGraphicFramePr>
        <p:xfrm>
          <a:off x="0" y="982980"/>
          <a:ext cx="122586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29" r:id="rId3" imgW="5600700" imgH="482600" progId="Equation.3">
                  <p:embed/>
                </p:oleObj>
              </mc:Choice>
              <mc:Fallback>
                <p:oleObj r:id="rId3" imgW="56007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82980"/>
                        <a:ext cx="12258675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6B13F42-CE71-47FA-BB60-15D37C3E89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968629"/>
              </p:ext>
            </p:extLst>
          </p:nvPr>
        </p:nvGraphicFramePr>
        <p:xfrm>
          <a:off x="0" y="2154555"/>
          <a:ext cx="121253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30" r:id="rId5" imgW="5156200" imgH="482600" progId="Equation.3">
                  <p:embed/>
                </p:oleObj>
              </mc:Choice>
              <mc:Fallback>
                <p:oleObj r:id="rId5" imgW="51562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154555"/>
                        <a:ext cx="12125325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7FB831D-CE78-4FD0-8EB9-F65B1CA146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894664"/>
              </p:ext>
            </p:extLst>
          </p:nvPr>
        </p:nvGraphicFramePr>
        <p:xfrm>
          <a:off x="0" y="3246120"/>
          <a:ext cx="119253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31" r:id="rId7" imgW="5295900" imgH="482600" progId="Equation.3">
                  <p:embed/>
                </p:oleObj>
              </mc:Choice>
              <mc:Fallback>
                <p:oleObj r:id="rId7" imgW="5295900" imgH="482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46120"/>
                        <a:ext cx="11925300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10A38471-8D6F-4A3E-9BFA-95FA4B08D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" y="490537"/>
            <a:ext cx="445186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is worked by inspection.</a:t>
            </a:r>
            <a:endParaRPr kumimoji="0" lang="en-GB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9F601B7-6CF0-4425-9F89-C3DCA06B8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861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5CD751E-839D-408B-A22E-5569A25B1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" y="4222759"/>
            <a:ext cx="998982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= (–j0.05+j0.00833+0.05)(0.05+0.1+0.0735–j0.0441) – 0.05</a:t>
            </a:r>
            <a:r>
              <a:rPr kumimoji="0" lang="en-GB" altLang="en-US" sz="26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endParaRPr kumimoji="0" lang="en-GB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= (0.05 – j 0.04167)(0.2235 – j 0.0441) – 0.0025   </a:t>
            </a:r>
            <a:endParaRPr kumimoji="0" lang="en-GB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= 0.06509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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-39.81</a:t>
            </a:r>
            <a:r>
              <a:rPr kumimoji="0" lang="en-GB" altLang="en-US" sz="26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0.2278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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-11.16</a:t>
            </a:r>
            <a:r>
              <a:rPr kumimoji="0" lang="en-GB" altLang="en-US" sz="26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– 0.0025</a:t>
            </a:r>
            <a:endParaRPr kumimoji="0" lang="en-GB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= 0.01483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-50.97 – 0.0025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kumimoji="0" lang="en-GB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= 0.00934 – 0.0025 – j 0.01152	= 0.00684 – j 0.01152</a:t>
            </a:r>
            <a:endParaRPr kumimoji="0" lang="en-GB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= 0.0134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-59.30</a:t>
            </a:r>
            <a:r>
              <a:rPr kumimoji="0" lang="en-GB" altLang="en-US" sz="26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353447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97D251A3-E7C1-4E92-8278-82F70E8DF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" y="855303"/>
            <a:ext cx="11887200" cy="3684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V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	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= (0.2278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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-11.16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5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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-90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+0.05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8.575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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5.91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)/0.0134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-59.3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	=  (– 0.2205 – j 1.1175 + 0.4265 + j 0.04415) /0.0134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-59.30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	=  (0.2060 – j 1.0733)/0.0134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-59.30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	=  1.093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-79.14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/0.0134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-59.30</a:t>
            </a:r>
            <a:r>
              <a:rPr kumimoji="0" lang="en-GB" altLang="en-US" sz="32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4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kumimoji="0" lang="en-GB" altLang="en-US" sz="4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GB" altLang="en-US" sz="4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	=	81.6</a:t>
            </a:r>
            <a:r>
              <a:rPr kumimoji="0" lang="en-GB" altLang="en-US" sz="4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-19.84</a:t>
            </a:r>
            <a:r>
              <a:rPr kumimoji="0" lang="en-GB" altLang="en-US" sz="40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GB" altLang="en-US" sz="4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V</a:t>
            </a: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4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kumimoji="0" lang="en-GB" altLang="en-US" sz="4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branch current</a:t>
            </a:r>
            <a:r>
              <a:rPr lang="en-GB" altLang="en-US" sz="4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kumimoji="0" lang="en-GB" altLang="en-US" sz="4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i</a:t>
            </a:r>
            <a:r>
              <a:rPr kumimoji="0" lang="en-GB" altLang="en-US" sz="4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GB" altLang="en-US" sz="4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=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254F990-CB57-4848-852C-876B6FB488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925309"/>
              </p:ext>
            </p:extLst>
          </p:nvPr>
        </p:nvGraphicFramePr>
        <p:xfrm>
          <a:off x="5471160" y="3659780"/>
          <a:ext cx="56769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4" r:id="rId3" imgW="2362200" imgH="444500" progId="Equation.3">
                  <p:embed/>
                </p:oleObj>
              </mc:Choice>
              <mc:Fallback>
                <p:oleObj r:id="rId3" imgW="23622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1160" y="3659780"/>
                        <a:ext cx="5676900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3379D97-865C-4696-9A6C-4E68413E51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768170"/>
              </p:ext>
            </p:extLst>
          </p:nvPr>
        </p:nvGraphicFramePr>
        <p:xfrm>
          <a:off x="1211580" y="4779127"/>
          <a:ext cx="63150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5" r:id="rId5" imgW="2349500" imgH="228600" progId="Equation.3">
                  <p:embed/>
                </p:oleObj>
              </mc:Choice>
              <mc:Fallback>
                <p:oleObj r:id="rId5" imgW="23495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580" y="4779127"/>
                        <a:ext cx="6315075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D6729EA6-6E94-4397-93F3-376D824BE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753034"/>
            <a:ext cx="12344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6144297-DFE6-4D39-A6C4-5488ABE8D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" y="5467945"/>
            <a:ext cx="9677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which is the same answer (to calculation accuracy) that was obtained in example 1.</a:t>
            </a: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0413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EB1-331E-46DA-B8A9-4BC8EDA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Conversion of Ideal sources</a:t>
            </a:r>
          </a:p>
        </p:txBody>
      </p:sp>
      <p:sp>
        <p:nvSpPr>
          <p:cNvPr id="8" name="Rectangle 106">
            <a:extLst>
              <a:ext uri="{FF2B5EF4-FFF2-40B4-BE49-F238E27FC236}">
                <a16:creationId xmlns:a16="http://schemas.microsoft.com/office/drawing/2014/main" id="{5316DC65-F484-4FE5-A79A-869D6905F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" y="1003247"/>
            <a:ext cx="1176228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286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2865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(a) </a:t>
            </a:r>
            <a:r>
              <a:rPr kumimoji="0" lang="en-GB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Ideal Voltage sources to Practical Voltage sources</a:t>
            </a:r>
            <a:endParaRPr kumimoji="0" lang="en-GB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2865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No impedance directly in series with voltage source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9" name="Group 6">
            <a:extLst>
              <a:ext uri="{FF2B5EF4-FFF2-40B4-BE49-F238E27FC236}">
                <a16:creationId xmlns:a16="http://schemas.microsoft.com/office/drawing/2014/main" id="{D31F6282-EBFB-4E40-8011-1F5621BEBD88}"/>
              </a:ext>
            </a:extLst>
          </p:cNvPr>
          <p:cNvGrpSpPr>
            <a:grpSpLocks/>
          </p:cNvGrpSpPr>
          <p:nvPr/>
        </p:nvGrpSpPr>
        <p:grpSpPr bwMode="auto">
          <a:xfrm>
            <a:off x="68580" y="2080465"/>
            <a:ext cx="10926762" cy="3389565"/>
            <a:chOff x="1366" y="6373"/>
            <a:chExt cx="9058" cy="2740"/>
          </a:xfrm>
        </p:grpSpPr>
        <p:sp>
          <p:nvSpPr>
            <p:cNvPr id="10" name="Oval 105">
              <a:extLst>
                <a:ext uri="{FF2B5EF4-FFF2-40B4-BE49-F238E27FC236}">
                  <a16:creationId xmlns:a16="http://schemas.microsoft.com/office/drawing/2014/main" id="{A24DAB8B-3FC0-4F98-AB72-426DD4C5AA5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-5400000">
              <a:off x="2466" y="7633"/>
              <a:ext cx="340" cy="34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Line 104">
              <a:extLst>
                <a:ext uri="{FF2B5EF4-FFF2-40B4-BE49-F238E27FC236}">
                  <a16:creationId xmlns:a16="http://schemas.microsoft.com/office/drawing/2014/main" id="{D4099F0D-825A-428D-B2C3-866C020586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82" y="7485"/>
              <a:ext cx="29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103">
              <a:extLst>
                <a:ext uri="{FF2B5EF4-FFF2-40B4-BE49-F238E27FC236}">
                  <a16:creationId xmlns:a16="http://schemas.microsoft.com/office/drawing/2014/main" id="{43BA4890-D79C-4574-AC88-28531AF70B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28" y="8166"/>
              <a:ext cx="40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Text Box 102">
              <a:extLst>
                <a:ext uri="{FF2B5EF4-FFF2-40B4-BE49-F238E27FC236}">
                  <a16:creationId xmlns:a16="http://schemas.microsoft.com/office/drawing/2014/main" id="{38EB33B1-7B14-4442-A3ED-E05D7351D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" y="7693"/>
              <a:ext cx="32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Line 101">
              <a:extLst>
                <a:ext uri="{FF2B5EF4-FFF2-40B4-BE49-F238E27FC236}">
                  <a16:creationId xmlns:a16="http://schemas.microsoft.com/office/drawing/2014/main" id="{88100D60-A8F8-40BA-878F-32B6B8FCCE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076" y="7832"/>
              <a:ext cx="39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15" name="Group 97">
              <a:extLst>
                <a:ext uri="{FF2B5EF4-FFF2-40B4-BE49-F238E27FC236}">
                  <a16:creationId xmlns:a16="http://schemas.microsoft.com/office/drawing/2014/main" id="{A0A2C3AF-4CE8-41F9-83FD-1175E2D73998}"/>
                </a:ext>
              </a:extLst>
            </p:cNvPr>
            <p:cNvGrpSpPr>
              <a:grpSpLocks/>
            </p:cNvGrpSpPr>
            <p:nvPr/>
          </p:nvGrpSpPr>
          <p:grpSpPr bwMode="auto">
            <a:xfrm rot="6046193">
              <a:off x="3129" y="6827"/>
              <a:ext cx="215" cy="1264"/>
              <a:chOff x="9878" y="1418"/>
              <a:chExt cx="360" cy="1800"/>
            </a:xfrm>
          </p:grpSpPr>
          <p:sp>
            <p:nvSpPr>
              <p:cNvPr id="106" name="Rectangle 100">
                <a:extLst>
                  <a:ext uri="{FF2B5EF4-FFF2-40B4-BE49-F238E27FC236}">
                    <a16:creationId xmlns:a16="http://schemas.microsoft.com/office/drawing/2014/main" id="{2D9D3EE8-8849-438C-8E5F-7BF06ABFA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7" name="Line 99">
                <a:extLst>
                  <a:ext uri="{FF2B5EF4-FFF2-40B4-BE49-F238E27FC236}">
                    <a16:creationId xmlns:a16="http://schemas.microsoft.com/office/drawing/2014/main" id="{D87209C3-551F-45A6-9162-2D11C8ABB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8" name="Line 98">
                <a:extLst>
                  <a:ext uri="{FF2B5EF4-FFF2-40B4-BE49-F238E27FC236}">
                    <a16:creationId xmlns:a16="http://schemas.microsoft.com/office/drawing/2014/main" id="{54E169BC-34DC-4E58-AFCD-374F85EA6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16" name="Group 93">
              <a:extLst>
                <a:ext uri="{FF2B5EF4-FFF2-40B4-BE49-F238E27FC236}">
                  <a16:creationId xmlns:a16="http://schemas.microsoft.com/office/drawing/2014/main" id="{5F736409-AF54-491B-B2AD-6B18BD265968}"/>
                </a:ext>
              </a:extLst>
            </p:cNvPr>
            <p:cNvGrpSpPr>
              <a:grpSpLocks/>
            </p:cNvGrpSpPr>
            <p:nvPr/>
          </p:nvGrpSpPr>
          <p:grpSpPr bwMode="auto">
            <a:xfrm rot="3031718">
              <a:off x="2931" y="6249"/>
              <a:ext cx="225" cy="1237"/>
              <a:chOff x="9688" y="1445"/>
              <a:chExt cx="376" cy="1762"/>
            </a:xfrm>
          </p:grpSpPr>
          <p:sp>
            <p:nvSpPr>
              <p:cNvPr id="103" name="Rectangle 96">
                <a:extLst>
                  <a:ext uri="{FF2B5EF4-FFF2-40B4-BE49-F238E27FC236}">
                    <a16:creationId xmlns:a16="http://schemas.microsoft.com/office/drawing/2014/main" id="{C1F069D7-A5F2-458F-A8F6-E6FD8153D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0942792">
                <a:off x="9704" y="1963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4" name="Line 95">
                <a:extLst>
                  <a:ext uri="{FF2B5EF4-FFF2-40B4-BE49-F238E27FC236}">
                    <a16:creationId xmlns:a16="http://schemas.microsoft.com/office/drawing/2014/main" id="{1F20342A-81BD-4A09-92DF-FD00D51019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300221" flipH="1">
                <a:off x="9688" y="1445"/>
                <a:ext cx="118" cy="53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5" name="Line 94">
                <a:extLst>
                  <a:ext uri="{FF2B5EF4-FFF2-40B4-BE49-F238E27FC236}">
                    <a16:creationId xmlns:a16="http://schemas.microsoft.com/office/drawing/2014/main" id="{54CA1652-9BB1-42A4-B6EF-A7DDA749E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300221" flipH="1">
                <a:off x="9968" y="2693"/>
                <a:ext cx="87" cy="51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17" name="Group 89">
              <a:extLst>
                <a:ext uri="{FF2B5EF4-FFF2-40B4-BE49-F238E27FC236}">
                  <a16:creationId xmlns:a16="http://schemas.microsoft.com/office/drawing/2014/main" id="{E7FAD518-AB96-4DDE-9680-D2DD6C759CC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890" y="6711"/>
              <a:ext cx="215" cy="1264"/>
              <a:chOff x="9878" y="1418"/>
              <a:chExt cx="360" cy="1800"/>
            </a:xfrm>
          </p:grpSpPr>
          <p:sp>
            <p:nvSpPr>
              <p:cNvPr id="100" name="Rectangle 92">
                <a:extLst>
                  <a:ext uri="{FF2B5EF4-FFF2-40B4-BE49-F238E27FC236}">
                    <a16:creationId xmlns:a16="http://schemas.microsoft.com/office/drawing/2014/main" id="{709116B5-E37D-4CBE-969B-22E6F0435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1" name="Line 91">
                <a:extLst>
                  <a:ext uri="{FF2B5EF4-FFF2-40B4-BE49-F238E27FC236}">
                    <a16:creationId xmlns:a16="http://schemas.microsoft.com/office/drawing/2014/main" id="{B369B4E2-D0FD-46AC-B2D1-D336D5122E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2" name="Line 90">
                <a:extLst>
                  <a:ext uri="{FF2B5EF4-FFF2-40B4-BE49-F238E27FC236}">
                    <a16:creationId xmlns:a16="http://schemas.microsoft.com/office/drawing/2014/main" id="{0789F223-E042-48EA-9C56-F610DCC0F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18" name="Group 85">
              <a:extLst>
                <a:ext uri="{FF2B5EF4-FFF2-40B4-BE49-F238E27FC236}">
                  <a16:creationId xmlns:a16="http://schemas.microsoft.com/office/drawing/2014/main" id="{2401EE5F-1864-4998-8BAC-E734B3341621}"/>
                </a:ext>
              </a:extLst>
            </p:cNvPr>
            <p:cNvGrpSpPr>
              <a:grpSpLocks/>
            </p:cNvGrpSpPr>
            <p:nvPr/>
          </p:nvGrpSpPr>
          <p:grpSpPr bwMode="auto">
            <a:xfrm rot="26203575">
              <a:off x="1890" y="7901"/>
              <a:ext cx="215" cy="1264"/>
              <a:chOff x="9878" y="1418"/>
              <a:chExt cx="360" cy="1800"/>
            </a:xfrm>
          </p:grpSpPr>
          <p:sp>
            <p:nvSpPr>
              <p:cNvPr id="97" name="Rectangle 88">
                <a:extLst>
                  <a:ext uri="{FF2B5EF4-FFF2-40B4-BE49-F238E27FC236}">
                    <a16:creationId xmlns:a16="http://schemas.microsoft.com/office/drawing/2014/main" id="{909AA1FA-142E-4A18-8057-775BF5001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8" name="Line 87">
                <a:extLst>
                  <a:ext uri="{FF2B5EF4-FFF2-40B4-BE49-F238E27FC236}">
                    <a16:creationId xmlns:a16="http://schemas.microsoft.com/office/drawing/2014/main" id="{75C6D7AA-9B2E-4CBA-B541-C68A2371E2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9" name="Line 86">
                <a:extLst>
                  <a:ext uri="{FF2B5EF4-FFF2-40B4-BE49-F238E27FC236}">
                    <a16:creationId xmlns:a16="http://schemas.microsoft.com/office/drawing/2014/main" id="{89575AE2-1416-4FCA-B163-1954260D5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19" name="Group 81">
              <a:extLst>
                <a:ext uri="{FF2B5EF4-FFF2-40B4-BE49-F238E27FC236}">
                  <a16:creationId xmlns:a16="http://schemas.microsoft.com/office/drawing/2014/main" id="{F736471C-9871-4FE6-8B46-A40F93E0EEE7}"/>
                </a:ext>
              </a:extLst>
            </p:cNvPr>
            <p:cNvGrpSpPr>
              <a:grpSpLocks/>
            </p:cNvGrpSpPr>
            <p:nvPr/>
          </p:nvGrpSpPr>
          <p:grpSpPr bwMode="auto">
            <a:xfrm rot="16996425" flipH="1">
              <a:off x="3134" y="7901"/>
              <a:ext cx="215" cy="1264"/>
              <a:chOff x="9878" y="1418"/>
              <a:chExt cx="360" cy="1800"/>
            </a:xfrm>
          </p:grpSpPr>
          <p:sp>
            <p:nvSpPr>
              <p:cNvPr id="94" name="Rectangle 84">
                <a:extLst>
                  <a:ext uri="{FF2B5EF4-FFF2-40B4-BE49-F238E27FC236}">
                    <a16:creationId xmlns:a16="http://schemas.microsoft.com/office/drawing/2014/main" id="{A29CB590-EA15-4B94-8F9A-FBFF2E55C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" name="Line 83">
                <a:extLst>
                  <a:ext uri="{FF2B5EF4-FFF2-40B4-BE49-F238E27FC236}">
                    <a16:creationId xmlns:a16="http://schemas.microsoft.com/office/drawing/2014/main" id="{CA8E4754-C9DF-4729-BBA1-69411DCB0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6" name="Line 82">
                <a:extLst>
                  <a:ext uri="{FF2B5EF4-FFF2-40B4-BE49-F238E27FC236}">
                    <a16:creationId xmlns:a16="http://schemas.microsoft.com/office/drawing/2014/main" id="{8AC8D1AB-CA18-4641-A2FC-AEEAF99C7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0" name="Line 80">
              <a:extLst>
                <a:ext uri="{FF2B5EF4-FFF2-40B4-BE49-F238E27FC236}">
                  <a16:creationId xmlns:a16="http://schemas.microsoft.com/office/drawing/2014/main" id="{368386E5-A043-4532-AD1D-D2C4EA4D52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892" y="7693"/>
              <a:ext cx="438" cy="10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Rectangle 79">
              <a:extLst>
                <a:ext uri="{FF2B5EF4-FFF2-40B4-BE49-F238E27FC236}">
                  <a16:creationId xmlns:a16="http://schemas.microsoft.com/office/drawing/2014/main" id="{68584A73-6C2E-4057-AB4A-9827283E29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046193">
              <a:off x="6993" y="7833"/>
              <a:ext cx="215" cy="506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Line 78">
              <a:extLst>
                <a:ext uri="{FF2B5EF4-FFF2-40B4-BE49-F238E27FC236}">
                  <a16:creationId xmlns:a16="http://schemas.microsoft.com/office/drawing/2014/main" id="{0EC7BBCF-3B12-43BF-9C95-3F9673807C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046193">
              <a:off x="7535" y="7978"/>
              <a:ext cx="0" cy="379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Line 77">
              <a:extLst>
                <a:ext uri="{FF2B5EF4-FFF2-40B4-BE49-F238E27FC236}">
                  <a16:creationId xmlns:a16="http://schemas.microsoft.com/office/drawing/2014/main" id="{09B4A40E-9047-4BFD-9927-694808B401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046193">
              <a:off x="6730" y="7893"/>
              <a:ext cx="0" cy="24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24" name="Group 73">
              <a:extLst>
                <a:ext uri="{FF2B5EF4-FFF2-40B4-BE49-F238E27FC236}">
                  <a16:creationId xmlns:a16="http://schemas.microsoft.com/office/drawing/2014/main" id="{B6699BEF-32A5-492A-B966-58DA9C576555}"/>
                </a:ext>
              </a:extLst>
            </p:cNvPr>
            <p:cNvGrpSpPr>
              <a:grpSpLocks/>
            </p:cNvGrpSpPr>
            <p:nvPr/>
          </p:nvGrpSpPr>
          <p:grpSpPr bwMode="auto">
            <a:xfrm rot="3031718">
              <a:off x="6255" y="6269"/>
              <a:ext cx="378" cy="940"/>
              <a:chOff x="9394" y="1778"/>
              <a:chExt cx="633" cy="1339"/>
            </a:xfrm>
          </p:grpSpPr>
          <p:sp>
            <p:nvSpPr>
              <p:cNvPr id="91" name="Rectangle 76">
                <a:extLst>
                  <a:ext uri="{FF2B5EF4-FFF2-40B4-BE49-F238E27FC236}">
                    <a16:creationId xmlns:a16="http://schemas.microsoft.com/office/drawing/2014/main" id="{34C5CCE9-1C8D-4BEA-8478-E0FF30829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799749">
                <a:off x="9481" y="2043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" name="Line 75">
                <a:extLst>
                  <a:ext uri="{FF2B5EF4-FFF2-40B4-BE49-F238E27FC236}">
                    <a16:creationId xmlns:a16="http://schemas.microsoft.com/office/drawing/2014/main" id="{C130E444-CE18-4DBC-84E1-C367F7537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9799749">
                <a:off x="9394" y="1778"/>
                <a:ext cx="0" cy="32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" name="Line 74">
                <a:extLst>
                  <a:ext uri="{FF2B5EF4-FFF2-40B4-BE49-F238E27FC236}">
                    <a16:creationId xmlns:a16="http://schemas.microsoft.com/office/drawing/2014/main" id="{FC5F1F08-6FEB-4369-B3D8-10160D626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9799749">
                <a:off x="10027" y="2685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5" name="Rectangle 72">
              <a:extLst>
                <a:ext uri="{FF2B5EF4-FFF2-40B4-BE49-F238E27FC236}">
                  <a16:creationId xmlns:a16="http://schemas.microsoft.com/office/drawing/2014/main" id="{81674D35-59BF-4643-8291-0859EEB64B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11" y="7717"/>
              <a:ext cx="215" cy="506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Line 71">
              <a:extLst>
                <a:ext uri="{FF2B5EF4-FFF2-40B4-BE49-F238E27FC236}">
                  <a16:creationId xmlns:a16="http://schemas.microsoft.com/office/drawing/2014/main" id="{67323740-77C4-46C1-A762-DCC96C6C52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382" y="7857"/>
              <a:ext cx="0" cy="22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Line 70">
              <a:extLst>
                <a:ext uri="{FF2B5EF4-FFF2-40B4-BE49-F238E27FC236}">
                  <a16:creationId xmlns:a16="http://schemas.microsoft.com/office/drawing/2014/main" id="{2E8894B8-9E22-40FA-8D69-2634036D4F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575" y="7779"/>
              <a:ext cx="0" cy="379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Rectangle 69">
              <a:extLst>
                <a:ext uri="{FF2B5EF4-FFF2-40B4-BE49-F238E27FC236}">
                  <a16:creationId xmlns:a16="http://schemas.microsoft.com/office/drawing/2014/main" id="{E51F4A4A-0345-4AEB-83D3-C77071653E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01099">
              <a:off x="5510" y="8263"/>
              <a:ext cx="220" cy="493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Line 68">
              <a:extLst>
                <a:ext uri="{FF2B5EF4-FFF2-40B4-BE49-F238E27FC236}">
                  <a16:creationId xmlns:a16="http://schemas.microsoft.com/office/drawing/2014/main" id="{F8A06CC0-EFB2-43ED-83A4-E3D2CB5683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603575">
              <a:off x="5786" y="7990"/>
              <a:ext cx="275" cy="32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Line 67">
              <a:extLst>
                <a:ext uri="{FF2B5EF4-FFF2-40B4-BE49-F238E27FC236}">
                  <a16:creationId xmlns:a16="http://schemas.microsoft.com/office/drawing/2014/main" id="{AF86F7E3-30C3-4374-8666-084C6733896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603575">
              <a:off x="5321" y="8717"/>
              <a:ext cx="139" cy="16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Rectangle 66">
              <a:extLst>
                <a:ext uri="{FF2B5EF4-FFF2-40B4-BE49-F238E27FC236}">
                  <a16:creationId xmlns:a16="http://schemas.microsoft.com/office/drawing/2014/main" id="{C93FF003-3E71-4B2D-B208-E2077A3D01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750644" flipH="1">
              <a:off x="6484" y="8269"/>
              <a:ext cx="215" cy="506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Line 65">
              <a:extLst>
                <a:ext uri="{FF2B5EF4-FFF2-40B4-BE49-F238E27FC236}">
                  <a16:creationId xmlns:a16="http://schemas.microsoft.com/office/drawing/2014/main" id="{CBEC2635-2189-4E0E-83A7-5936ECE00A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996425" flipH="1">
              <a:off x="6817" y="8657"/>
              <a:ext cx="125" cy="239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Line 64">
              <a:extLst>
                <a:ext uri="{FF2B5EF4-FFF2-40B4-BE49-F238E27FC236}">
                  <a16:creationId xmlns:a16="http://schemas.microsoft.com/office/drawing/2014/main" id="{A26A8F11-13E4-41EF-B9B4-BA393C22DF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9037" y="7358"/>
              <a:ext cx="29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34" name="Group 60">
              <a:extLst>
                <a:ext uri="{FF2B5EF4-FFF2-40B4-BE49-F238E27FC236}">
                  <a16:creationId xmlns:a16="http://schemas.microsoft.com/office/drawing/2014/main" id="{A8BA4FDA-834F-4215-9590-BD4A6014634A}"/>
                </a:ext>
              </a:extLst>
            </p:cNvPr>
            <p:cNvGrpSpPr>
              <a:grpSpLocks/>
            </p:cNvGrpSpPr>
            <p:nvPr/>
          </p:nvGrpSpPr>
          <p:grpSpPr bwMode="auto">
            <a:xfrm rot="6046193">
              <a:off x="9684" y="6700"/>
              <a:ext cx="215" cy="1264"/>
              <a:chOff x="9878" y="1418"/>
              <a:chExt cx="360" cy="1800"/>
            </a:xfrm>
          </p:grpSpPr>
          <p:sp>
            <p:nvSpPr>
              <p:cNvPr id="88" name="Rectangle 63">
                <a:extLst>
                  <a:ext uri="{FF2B5EF4-FFF2-40B4-BE49-F238E27FC236}">
                    <a16:creationId xmlns:a16="http://schemas.microsoft.com/office/drawing/2014/main" id="{B61DE53B-FA7F-49E1-935D-B74EA0B4F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" name="Line 62">
                <a:extLst>
                  <a:ext uri="{FF2B5EF4-FFF2-40B4-BE49-F238E27FC236}">
                    <a16:creationId xmlns:a16="http://schemas.microsoft.com/office/drawing/2014/main" id="{AB9DA599-74D2-4631-BA0C-9B1A2FFC7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" name="Line 61">
                <a:extLst>
                  <a:ext uri="{FF2B5EF4-FFF2-40B4-BE49-F238E27FC236}">
                    <a16:creationId xmlns:a16="http://schemas.microsoft.com/office/drawing/2014/main" id="{62A50D49-AF31-44A4-B10A-48963B59E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5" name="Group 56">
              <a:extLst>
                <a:ext uri="{FF2B5EF4-FFF2-40B4-BE49-F238E27FC236}">
                  <a16:creationId xmlns:a16="http://schemas.microsoft.com/office/drawing/2014/main" id="{D722F372-E2AC-486B-BC32-3B3D69C61C1C}"/>
                </a:ext>
              </a:extLst>
            </p:cNvPr>
            <p:cNvGrpSpPr>
              <a:grpSpLocks/>
            </p:cNvGrpSpPr>
            <p:nvPr/>
          </p:nvGrpSpPr>
          <p:grpSpPr bwMode="auto">
            <a:xfrm rot="3031718">
              <a:off x="9560" y="6185"/>
              <a:ext cx="215" cy="1264"/>
              <a:chOff x="9878" y="1418"/>
              <a:chExt cx="360" cy="1800"/>
            </a:xfrm>
          </p:grpSpPr>
          <p:sp>
            <p:nvSpPr>
              <p:cNvPr id="85" name="Rectangle 59">
                <a:extLst>
                  <a:ext uri="{FF2B5EF4-FFF2-40B4-BE49-F238E27FC236}">
                    <a16:creationId xmlns:a16="http://schemas.microsoft.com/office/drawing/2014/main" id="{DDA1BC8D-FA94-4D1D-BE8D-50070AC3F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" name="Line 58">
                <a:extLst>
                  <a:ext uri="{FF2B5EF4-FFF2-40B4-BE49-F238E27FC236}">
                    <a16:creationId xmlns:a16="http://schemas.microsoft.com/office/drawing/2014/main" id="{21A392AA-5F05-4B0F-8830-84738096E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" name="Line 57">
                <a:extLst>
                  <a:ext uri="{FF2B5EF4-FFF2-40B4-BE49-F238E27FC236}">
                    <a16:creationId xmlns:a16="http://schemas.microsoft.com/office/drawing/2014/main" id="{BA654D81-64D4-4F7D-9065-348CD520F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6" name="Group 52">
              <a:extLst>
                <a:ext uri="{FF2B5EF4-FFF2-40B4-BE49-F238E27FC236}">
                  <a16:creationId xmlns:a16="http://schemas.microsoft.com/office/drawing/2014/main" id="{EEFD09A8-5541-438D-A768-B50E34A91F4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8445" y="6584"/>
              <a:ext cx="215" cy="1264"/>
              <a:chOff x="9878" y="1418"/>
              <a:chExt cx="360" cy="1800"/>
            </a:xfrm>
          </p:grpSpPr>
          <p:sp>
            <p:nvSpPr>
              <p:cNvPr id="82" name="Rectangle 55">
                <a:extLst>
                  <a:ext uri="{FF2B5EF4-FFF2-40B4-BE49-F238E27FC236}">
                    <a16:creationId xmlns:a16="http://schemas.microsoft.com/office/drawing/2014/main" id="{97C4588F-BD23-479E-8453-483C24C87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" name="Line 54">
                <a:extLst>
                  <a:ext uri="{FF2B5EF4-FFF2-40B4-BE49-F238E27FC236}">
                    <a16:creationId xmlns:a16="http://schemas.microsoft.com/office/drawing/2014/main" id="{0DA2CE28-F6A9-4F5B-A4F3-5557A9018D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" name="Line 53">
                <a:extLst>
                  <a:ext uri="{FF2B5EF4-FFF2-40B4-BE49-F238E27FC236}">
                    <a16:creationId xmlns:a16="http://schemas.microsoft.com/office/drawing/2014/main" id="{C2415035-941B-4143-9515-532A18C229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37" name="Oval 51">
              <a:extLst>
                <a:ext uri="{FF2B5EF4-FFF2-40B4-BE49-F238E27FC236}">
                  <a16:creationId xmlns:a16="http://schemas.microsoft.com/office/drawing/2014/main" id="{A87F2F4C-8689-4103-8BD2-337A3DC8BB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>
              <a:off x="6016" y="7180"/>
              <a:ext cx="340" cy="34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Text Box 50">
              <a:extLst>
                <a:ext uri="{FF2B5EF4-FFF2-40B4-BE49-F238E27FC236}">
                  <a16:creationId xmlns:a16="http://schemas.microsoft.com/office/drawing/2014/main" id="{2FE0AAB7-D273-4F97-B422-3419AC53C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5" y="7066"/>
              <a:ext cx="32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Line 49">
              <a:extLst>
                <a:ext uri="{FF2B5EF4-FFF2-40B4-BE49-F238E27FC236}">
                  <a16:creationId xmlns:a16="http://schemas.microsoft.com/office/drawing/2014/main" id="{2CF1EAC4-C166-4A35-8011-A473153206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628" y="7205"/>
              <a:ext cx="39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Oval 48">
              <a:extLst>
                <a:ext uri="{FF2B5EF4-FFF2-40B4-BE49-F238E27FC236}">
                  <a16:creationId xmlns:a16="http://schemas.microsoft.com/office/drawing/2014/main" id="{E05D63E1-F1A6-4D48-9F1C-9C59A17797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-5400000">
              <a:off x="5500" y="7794"/>
              <a:ext cx="340" cy="34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Oval 47">
              <a:extLst>
                <a:ext uri="{FF2B5EF4-FFF2-40B4-BE49-F238E27FC236}">
                  <a16:creationId xmlns:a16="http://schemas.microsoft.com/office/drawing/2014/main" id="{0F5CF033-F50E-48F8-9D3B-4B4F1960E7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-5400000">
              <a:off x="6268" y="7794"/>
              <a:ext cx="340" cy="34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Line 46">
              <a:extLst>
                <a:ext uri="{FF2B5EF4-FFF2-40B4-BE49-F238E27FC236}">
                  <a16:creationId xmlns:a16="http://schemas.microsoft.com/office/drawing/2014/main" id="{606F37FE-2F5C-4B1B-A766-2F6FFDB2C6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955" y="7851"/>
              <a:ext cx="0" cy="22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Line 45">
              <a:extLst>
                <a:ext uri="{FF2B5EF4-FFF2-40B4-BE49-F238E27FC236}">
                  <a16:creationId xmlns:a16="http://schemas.microsoft.com/office/drawing/2014/main" id="{F7DC8AF7-407B-4D49-B2AF-3D98E1922D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171" y="7845"/>
              <a:ext cx="6" cy="24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A9CF2295-DBC1-4D02-AFE8-12639119D1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996425" flipH="1">
              <a:off x="6069" y="7940"/>
              <a:ext cx="310" cy="43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09222C92-9054-4B05-99EA-533FFD04A9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2" y="7507"/>
              <a:ext cx="32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Line 42">
              <a:extLst>
                <a:ext uri="{FF2B5EF4-FFF2-40B4-BE49-F238E27FC236}">
                  <a16:creationId xmlns:a16="http://schemas.microsoft.com/office/drawing/2014/main" id="{CB96868C-4DAD-4838-AFA0-CC027C1C9C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0800000">
              <a:off x="5439" y="7685"/>
              <a:ext cx="39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9B444398-68C0-40BB-BD1D-10665BB6A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677" y="7489"/>
              <a:ext cx="32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Line 40">
              <a:extLst>
                <a:ext uri="{FF2B5EF4-FFF2-40B4-BE49-F238E27FC236}">
                  <a16:creationId xmlns:a16="http://schemas.microsoft.com/office/drawing/2014/main" id="{C586B684-0BBB-45A3-8C67-1FA5C73314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6268" y="7667"/>
              <a:ext cx="39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Oval 39">
              <a:extLst>
                <a:ext uri="{FF2B5EF4-FFF2-40B4-BE49-F238E27FC236}">
                  <a16:creationId xmlns:a16="http://schemas.microsoft.com/office/drawing/2014/main" id="{92E3F8ED-64BF-4853-AC4B-9B6CB776B21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-5400000">
              <a:off x="8715" y="7740"/>
              <a:ext cx="340" cy="34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Oval 38">
              <a:extLst>
                <a:ext uri="{FF2B5EF4-FFF2-40B4-BE49-F238E27FC236}">
                  <a16:creationId xmlns:a16="http://schemas.microsoft.com/office/drawing/2014/main" id="{C9837E82-AC1D-43E1-A176-C6062CE80C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-5400000">
              <a:off x="9453" y="7740"/>
              <a:ext cx="340" cy="34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Text Box 37">
              <a:extLst>
                <a:ext uri="{FF2B5EF4-FFF2-40B4-BE49-F238E27FC236}">
                  <a16:creationId xmlns:a16="http://schemas.microsoft.com/office/drawing/2014/main" id="{A504C6A0-FB59-4432-859F-C3602EC65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0" y="7341"/>
              <a:ext cx="32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Line 36">
              <a:extLst>
                <a:ext uri="{FF2B5EF4-FFF2-40B4-BE49-F238E27FC236}">
                  <a16:creationId xmlns:a16="http://schemas.microsoft.com/office/drawing/2014/main" id="{26EACDEA-F40D-438C-9B31-BA1CD44646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8623" y="7576"/>
              <a:ext cx="227" cy="23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Text Box 35">
              <a:extLst>
                <a:ext uri="{FF2B5EF4-FFF2-40B4-BE49-F238E27FC236}">
                  <a16:creationId xmlns:a16="http://schemas.microsoft.com/office/drawing/2014/main" id="{8A40CC85-71BA-4908-8B71-17589409C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9385" y="7380"/>
              <a:ext cx="32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Line 34">
              <a:extLst>
                <a:ext uri="{FF2B5EF4-FFF2-40B4-BE49-F238E27FC236}">
                  <a16:creationId xmlns:a16="http://schemas.microsoft.com/office/drawing/2014/main" id="{B179D95B-DB19-43B1-B64B-EC9E58C9947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9614" y="7598"/>
              <a:ext cx="371" cy="31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Line 33">
              <a:extLst>
                <a:ext uri="{FF2B5EF4-FFF2-40B4-BE49-F238E27FC236}">
                  <a16:creationId xmlns:a16="http://schemas.microsoft.com/office/drawing/2014/main" id="{738A3881-8C0D-49C9-9ED4-1F46471112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964" y="7543"/>
              <a:ext cx="227" cy="25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Line 32">
              <a:extLst>
                <a:ext uri="{FF2B5EF4-FFF2-40B4-BE49-F238E27FC236}">
                  <a16:creationId xmlns:a16="http://schemas.microsoft.com/office/drawing/2014/main" id="{E24F1B4E-44FB-4233-9AEF-15EBBD60D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87" y="7507"/>
              <a:ext cx="328" cy="30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57" name="Group 28">
              <a:extLst>
                <a:ext uri="{FF2B5EF4-FFF2-40B4-BE49-F238E27FC236}">
                  <a16:creationId xmlns:a16="http://schemas.microsoft.com/office/drawing/2014/main" id="{C24B1897-441D-46DE-9B14-51FE08139A53}"/>
                </a:ext>
              </a:extLst>
            </p:cNvPr>
            <p:cNvGrpSpPr>
              <a:grpSpLocks/>
            </p:cNvGrpSpPr>
            <p:nvPr/>
          </p:nvGrpSpPr>
          <p:grpSpPr bwMode="auto">
            <a:xfrm rot="2691032">
              <a:off x="8206" y="7844"/>
              <a:ext cx="215" cy="1264"/>
              <a:chOff x="9878" y="1418"/>
              <a:chExt cx="360" cy="1800"/>
            </a:xfrm>
          </p:grpSpPr>
          <p:sp>
            <p:nvSpPr>
              <p:cNvPr id="79" name="Rectangle 31">
                <a:extLst>
                  <a:ext uri="{FF2B5EF4-FFF2-40B4-BE49-F238E27FC236}">
                    <a16:creationId xmlns:a16="http://schemas.microsoft.com/office/drawing/2014/main" id="{7E173CC2-8B64-454D-8DAA-80ACAB186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" name="Line 30">
                <a:extLst>
                  <a:ext uri="{FF2B5EF4-FFF2-40B4-BE49-F238E27FC236}">
                    <a16:creationId xmlns:a16="http://schemas.microsoft.com/office/drawing/2014/main" id="{E6D2DB51-1ADB-4828-9466-3AD286A5F3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" name="Line 29">
                <a:extLst>
                  <a:ext uri="{FF2B5EF4-FFF2-40B4-BE49-F238E27FC236}">
                    <a16:creationId xmlns:a16="http://schemas.microsoft.com/office/drawing/2014/main" id="{6D2287FE-FA5E-4629-BC5A-A8C478C2CE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58" name="Group 24">
              <a:extLst>
                <a:ext uri="{FF2B5EF4-FFF2-40B4-BE49-F238E27FC236}">
                  <a16:creationId xmlns:a16="http://schemas.microsoft.com/office/drawing/2014/main" id="{05F73D1B-C825-480B-9B46-69556619D044}"/>
                </a:ext>
              </a:extLst>
            </p:cNvPr>
            <p:cNvGrpSpPr>
              <a:grpSpLocks/>
            </p:cNvGrpSpPr>
            <p:nvPr/>
          </p:nvGrpSpPr>
          <p:grpSpPr bwMode="auto">
            <a:xfrm rot="18908968" flipH="1">
              <a:off x="10100" y="7849"/>
              <a:ext cx="215" cy="1264"/>
              <a:chOff x="9878" y="1418"/>
              <a:chExt cx="360" cy="1800"/>
            </a:xfrm>
          </p:grpSpPr>
          <p:sp>
            <p:nvSpPr>
              <p:cNvPr id="76" name="Rectangle 27">
                <a:extLst>
                  <a:ext uri="{FF2B5EF4-FFF2-40B4-BE49-F238E27FC236}">
                    <a16:creationId xmlns:a16="http://schemas.microsoft.com/office/drawing/2014/main" id="{B8B01512-B248-4394-9B84-11AC92EFB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" name="Line 26">
                <a:extLst>
                  <a:ext uri="{FF2B5EF4-FFF2-40B4-BE49-F238E27FC236}">
                    <a16:creationId xmlns:a16="http://schemas.microsoft.com/office/drawing/2014/main" id="{FA0EEF40-3EC3-4B0F-BE8D-62D42EACF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" name="Line 25">
                <a:extLst>
                  <a:ext uri="{FF2B5EF4-FFF2-40B4-BE49-F238E27FC236}">
                    <a16:creationId xmlns:a16="http://schemas.microsoft.com/office/drawing/2014/main" id="{7CFDB121-C7C3-4548-882D-F96021D3C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59" name="Text Box 23">
              <a:extLst>
                <a:ext uri="{FF2B5EF4-FFF2-40B4-BE49-F238E27FC236}">
                  <a16:creationId xmlns:a16="http://schemas.microsoft.com/office/drawing/2014/main" id="{0EFD7F2A-78EF-4C1A-B5BB-89FFBEED3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6" y="7342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sym typeface="Symbol" panose="05050102010706020507" pitchFamily="18" charset="2"/>
                </a:rPr>
                <a:t></a:t>
              </a:r>
            </a:p>
          </p:txBody>
        </p:sp>
        <p:sp>
          <p:nvSpPr>
            <p:cNvPr id="60" name="Text Box 22">
              <a:extLst>
                <a:ext uri="{FF2B5EF4-FFF2-40B4-BE49-F238E27FC236}">
                  <a16:creationId xmlns:a16="http://schemas.microsoft.com/office/drawing/2014/main" id="{6889274F-A13E-4F1D-8229-E2B021C6D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5" y="7413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ea typeface="Times New Roman" panose="02020603050405020304" pitchFamily="18" charset="0"/>
                </a:rPr>
                <a:t>or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Text Box 21">
              <a:extLst>
                <a:ext uri="{FF2B5EF4-FFF2-40B4-BE49-F238E27FC236}">
                  <a16:creationId xmlns:a16="http://schemas.microsoft.com/office/drawing/2014/main" id="{8782B24F-4773-45D4-868E-99C81349D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2" y="682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Text Box 20">
              <a:extLst>
                <a:ext uri="{FF2B5EF4-FFF2-40B4-BE49-F238E27FC236}">
                  <a16:creationId xmlns:a16="http://schemas.microsoft.com/office/drawing/2014/main" id="{E649E86A-678E-4CD2-B57C-F9C93D768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9" y="6495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3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Text Box 19">
              <a:extLst>
                <a:ext uri="{FF2B5EF4-FFF2-40B4-BE49-F238E27FC236}">
                  <a16:creationId xmlns:a16="http://schemas.microsoft.com/office/drawing/2014/main" id="{3D0B86EC-6DD9-44C9-88E9-560CDACE8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6" y="702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Text Box 18">
              <a:extLst>
                <a:ext uri="{FF2B5EF4-FFF2-40B4-BE49-F238E27FC236}">
                  <a16:creationId xmlns:a16="http://schemas.microsoft.com/office/drawing/2014/main" id="{15902409-4329-4986-8BE9-7C9EBD8BF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7" y="8076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Text Box 17">
              <a:extLst>
                <a:ext uri="{FF2B5EF4-FFF2-40B4-BE49-F238E27FC236}">
                  <a16:creationId xmlns:a16="http://schemas.microsoft.com/office/drawing/2014/main" id="{01DECC6E-9078-49BF-B390-3FE671438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" y="8027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4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Text Box 16">
              <a:extLst>
                <a:ext uri="{FF2B5EF4-FFF2-40B4-BE49-F238E27FC236}">
                  <a16:creationId xmlns:a16="http://schemas.microsoft.com/office/drawing/2014/main" id="{24C411DF-CCC3-41D0-864E-C6BDEC2137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" y="744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Text Box 15">
              <a:extLst>
                <a:ext uri="{FF2B5EF4-FFF2-40B4-BE49-F238E27FC236}">
                  <a16:creationId xmlns:a16="http://schemas.microsoft.com/office/drawing/2014/main" id="{0F6553C1-9552-4647-B960-85EEB7C2F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" y="6394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3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Text Box 14">
              <a:extLst>
                <a:ext uri="{FF2B5EF4-FFF2-40B4-BE49-F238E27FC236}">
                  <a16:creationId xmlns:a16="http://schemas.microsoft.com/office/drawing/2014/main" id="{9C4B503D-2CA1-4DA3-8D8F-A6ADAE4C7F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8" y="766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Text Box 13">
              <a:extLst>
                <a:ext uri="{FF2B5EF4-FFF2-40B4-BE49-F238E27FC236}">
                  <a16:creationId xmlns:a16="http://schemas.microsoft.com/office/drawing/2014/main" id="{32EDCD54-3A1E-4C59-BA15-1C830205F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6" y="8504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5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Text Box 12">
              <a:extLst>
                <a:ext uri="{FF2B5EF4-FFF2-40B4-BE49-F238E27FC236}">
                  <a16:creationId xmlns:a16="http://schemas.microsoft.com/office/drawing/2014/main" id="{AF70A7C7-AD4E-4E40-8BDA-B4CB773B5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4" y="8203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4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1" name="Text Box 11">
              <a:extLst>
                <a:ext uri="{FF2B5EF4-FFF2-40B4-BE49-F238E27FC236}">
                  <a16:creationId xmlns:a16="http://schemas.microsoft.com/office/drawing/2014/main" id="{A450D9B5-257F-4D28-BF8B-77028A12F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6" y="6766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Text Box 10">
              <a:extLst>
                <a:ext uri="{FF2B5EF4-FFF2-40B4-BE49-F238E27FC236}">
                  <a16:creationId xmlns:a16="http://schemas.microsoft.com/office/drawing/2014/main" id="{E4E4D2FA-9DF1-4746-99CC-534B38E0C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1" y="6373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3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Text Box 9">
              <a:extLst>
                <a:ext uri="{FF2B5EF4-FFF2-40B4-BE49-F238E27FC236}">
                  <a16:creationId xmlns:a16="http://schemas.microsoft.com/office/drawing/2014/main" id="{711BB76E-FEC9-4F5D-B3B1-A5014F1B3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7" y="6887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2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Text Box 8">
              <a:extLst>
                <a:ext uri="{FF2B5EF4-FFF2-40B4-BE49-F238E27FC236}">
                  <a16:creationId xmlns:a16="http://schemas.microsoft.com/office/drawing/2014/main" id="{F9D5CF99-D862-4FD0-811C-AD4F1AF67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84" y="8344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" name="Text Box 7">
              <a:extLst>
                <a:ext uri="{FF2B5EF4-FFF2-40B4-BE49-F238E27FC236}">
                  <a16:creationId xmlns:a16="http://schemas.microsoft.com/office/drawing/2014/main" id="{873A9480-F2A7-4FF2-B0D9-0FCD125C1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5" y="8018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4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09" name="Rectangle 130">
            <a:extLst>
              <a:ext uri="{FF2B5EF4-FFF2-40B4-BE49-F238E27FC236}">
                <a16:creationId xmlns:a16="http://schemas.microsoft.com/office/drawing/2014/main" id="{AA1D797B-19DE-4177-9CBA-4DCD215EB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62" y="5079562"/>
            <a:ext cx="971537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Ideal voltage sources are distributed to branches connected to one of the nodes of original ideal source.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0093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23">
            <a:extLst>
              <a:ext uri="{FF2B5EF4-FFF2-40B4-BE49-F238E27FC236}">
                <a16:creationId xmlns:a16="http://schemas.microsoft.com/office/drawing/2014/main" id="{0EFD7F2A-78EF-4C1A-B5BB-89FFBEED3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0670" y="1761912"/>
            <a:ext cx="708490" cy="74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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0E29F8-2039-4473-B994-7D5314696B7E}"/>
              </a:ext>
            </a:extLst>
          </p:cNvPr>
          <p:cNvGrpSpPr/>
          <p:nvPr/>
        </p:nvGrpSpPr>
        <p:grpSpPr>
          <a:xfrm>
            <a:off x="364019" y="215914"/>
            <a:ext cx="4690218" cy="3211924"/>
            <a:chOff x="4081992" y="872620"/>
            <a:chExt cx="4292123" cy="3472458"/>
          </a:xfrm>
        </p:grpSpPr>
        <p:sp>
          <p:nvSpPr>
            <p:cNvPr id="20" name="Line 80">
              <a:extLst>
                <a:ext uri="{FF2B5EF4-FFF2-40B4-BE49-F238E27FC236}">
                  <a16:creationId xmlns:a16="http://schemas.microsoft.com/office/drawing/2014/main" id="{368386E5-A043-4532-AD1D-D2C4EA4D52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124999" y="2162730"/>
              <a:ext cx="393705" cy="42410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Rectangle 79">
              <a:extLst>
                <a:ext uri="{FF2B5EF4-FFF2-40B4-BE49-F238E27FC236}">
                  <a16:creationId xmlns:a16="http://schemas.microsoft.com/office/drawing/2014/main" id="{68584A73-6C2E-4057-AB4A-9827283E29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046193">
              <a:off x="7488397" y="2663294"/>
              <a:ext cx="265970" cy="610393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Line 78">
              <a:extLst>
                <a:ext uri="{FF2B5EF4-FFF2-40B4-BE49-F238E27FC236}">
                  <a16:creationId xmlns:a16="http://schemas.microsoft.com/office/drawing/2014/main" id="{0EC7BBCF-3B12-43BF-9C95-3F9673807C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046193">
              <a:off x="8145519" y="2840716"/>
              <a:ext cx="0" cy="45719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Line 77">
              <a:extLst>
                <a:ext uri="{FF2B5EF4-FFF2-40B4-BE49-F238E27FC236}">
                  <a16:creationId xmlns:a16="http://schemas.microsoft.com/office/drawing/2014/main" id="{09B4A40E-9047-4BFD-9927-694808B401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046193">
              <a:off x="7174444" y="2733488"/>
              <a:ext cx="0" cy="29434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24" name="Group 73">
              <a:extLst>
                <a:ext uri="{FF2B5EF4-FFF2-40B4-BE49-F238E27FC236}">
                  <a16:creationId xmlns:a16="http://schemas.microsoft.com/office/drawing/2014/main" id="{B6699BEF-32A5-492A-B966-58DA9C576555}"/>
                </a:ext>
              </a:extLst>
            </p:cNvPr>
            <p:cNvGrpSpPr>
              <a:grpSpLocks/>
            </p:cNvGrpSpPr>
            <p:nvPr/>
          </p:nvGrpSpPr>
          <p:grpSpPr bwMode="auto">
            <a:xfrm rot="3031718">
              <a:off x="7272343" y="641874"/>
              <a:ext cx="265970" cy="1433290"/>
              <a:chOff x="10587" y="1070"/>
              <a:chExt cx="360" cy="1692"/>
            </a:xfrm>
          </p:grpSpPr>
          <p:sp>
            <p:nvSpPr>
              <p:cNvPr id="91" name="Rectangle 76">
                <a:extLst>
                  <a:ext uri="{FF2B5EF4-FFF2-40B4-BE49-F238E27FC236}">
                    <a16:creationId xmlns:a16="http://schemas.microsoft.com/office/drawing/2014/main" id="{34C5CCE9-1C8D-4BEA-8478-E0FF30829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87" y="1610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" name="Line 75">
                <a:extLst>
                  <a:ext uri="{FF2B5EF4-FFF2-40B4-BE49-F238E27FC236}">
                    <a16:creationId xmlns:a16="http://schemas.microsoft.com/office/drawing/2014/main" id="{C130E444-CE18-4DBC-84E1-C367F7537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67" y="1070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" name="Line 74">
                <a:extLst>
                  <a:ext uri="{FF2B5EF4-FFF2-40B4-BE49-F238E27FC236}">
                    <a16:creationId xmlns:a16="http://schemas.microsoft.com/office/drawing/2014/main" id="{FC5F1F08-6FEB-4369-B3D8-10160D626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67" y="2330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5" name="Rectangle 72">
              <a:extLst>
                <a:ext uri="{FF2B5EF4-FFF2-40B4-BE49-F238E27FC236}">
                  <a16:creationId xmlns:a16="http://schemas.microsoft.com/office/drawing/2014/main" id="{81674D35-59BF-4643-8291-0859EEB64B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712602" y="2259633"/>
              <a:ext cx="265970" cy="610393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Line 71">
              <a:extLst>
                <a:ext uri="{FF2B5EF4-FFF2-40B4-BE49-F238E27FC236}">
                  <a16:creationId xmlns:a16="http://schemas.microsoft.com/office/drawing/2014/main" id="{67323740-77C4-46C1-A762-DCC96C6C52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284081" y="2428486"/>
              <a:ext cx="0" cy="27021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Line 70">
              <a:extLst>
                <a:ext uri="{FF2B5EF4-FFF2-40B4-BE49-F238E27FC236}">
                  <a16:creationId xmlns:a16="http://schemas.microsoft.com/office/drawing/2014/main" id="{2E8894B8-9E22-40FA-8D69-2634036D4F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310588" y="2334378"/>
              <a:ext cx="0" cy="45719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Rectangle 69">
              <a:extLst>
                <a:ext uri="{FF2B5EF4-FFF2-40B4-BE49-F238E27FC236}">
                  <a16:creationId xmlns:a16="http://schemas.microsoft.com/office/drawing/2014/main" id="{E51F4A4A-0345-4AEB-83D3-C77071653E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2338">
              <a:off x="5472977" y="3188042"/>
              <a:ext cx="225132" cy="721116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Line 68">
              <a:extLst>
                <a:ext uri="{FF2B5EF4-FFF2-40B4-BE49-F238E27FC236}">
                  <a16:creationId xmlns:a16="http://schemas.microsoft.com/office/drawing/2014/main" id="{F8A06CC0-EFB2-43ED-83A4-E3D2CB5683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603575">
              <a:off x="5627735" y="2684684"/>
              <a:ext cx="593792" cy="47408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Line 67">
              <a:extLst>
                <a:ext uri="{FF2B5EF4-FFF2-40B4-BE49-F238E27FC236}">
                  <a16:creationId xmlns:a16="http://schemas.microsoft.com/office/drawing/2014/main" id="{AF86F7E3-30C3-4374-8666-084C6733896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32338">
              <a:off x="5297357" y="3804953"/>
              <a:ext cx="0" cy="5401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Rectangle 66">
              <a:extLst>
                <a:ext uri="{FF2B5EF4-FFF2-40B4-BE49-F238E27FC236}">
                  <a16:creationId xmlns:a16="http://schemas.microsoft.com/office/drawing/2014/main" id="{C93FF003-3E71-4B2D-B208-E2077A3D01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144031" flipH="1">
              <a:off x="6674103" y="3182490"/>
              <a:ext cx="225132" cy="721116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Line 65">
              <a:extLst>
                <a:ext uri="{FF2B5EF4-FFF2-40B4-BE49-F238E27FC236}">
                  <a16:creationId xmlns:a16="http://schemas.microsoft.com/office/drawing/2014/main" id="{CBEC2635-2189-4E0E-83A7-5936ECE00A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144031" flipH="1">
              <a:off x="7120050" y="3758471"/>
              <a:ext cx="21989" cy="5401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Oval 51">
              <a:extLst>
                <a:ext uri="{FF2B5EF4-FFF2-40B4-BE49-F238E27FC236}">
                  <a16:creationId xmlns:a16="http://schemas.microsoft.com/office/drawing/2014/main" id="{A87F2F4C-8689-4103-8BD2-337A3DC8BB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>
              <a:off x="6475201" y="1789639"/>
              <a:ext cx="420603" cy="41014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Text Box 50">
              <a:extLst>
                <a:ext uri="{FF2B5EF4-FFF2-40B4-BE49-F238E27FC236}">
                  <a16:creationId xmlns:a16="http://schemas.microsoft.com/office/drawing/2014/main" id="{2FE0AAB7-D273-4F97-B422-3419AC53C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5640" y="1315127"/>
              <a:ext cx="390845" cy="445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Line 49">
              <a:extLst>
                <a:ext uri="{FF2B5EF4-FFF2-40B4-BE49-F238E27FC236}">
                  <a16:creationId xmlns:a16="http://schemas.microsoft.com/office/drawing/2014/main" id="{2CF1EAC4-C166-4A35-8011-A473153206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273333" y="1614333"/>
              <a:ext cx="361426" cy="264389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Oval 48">
              <a:extLst>
                <a:ext uri="{FF2B5EF4-FFF2-40B4-BE49-F238E27FC236}">
                  <a16:creationId xmlns:a16="http://schemas.microsoft.com/office/drawing/2014/main" id="{E05D63E1-F1A6-4D48-9F1C-9C59A17797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>
              <a:off x="5421197" y="2352334"/>
              <a:ext cx="420603" cy="41014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Oval 47">
              <a:extLst>
                <a:ext uri="{FF2B5EF4-FFF2-40B4-BE49-F238E27FC236}">
                  <a16:creationId xmlns:a16="http://schemas.microsoft.com/office/drawing/2014/main" id="{0F5CF033-F50E-48F8-9D3B-4B4F1960E7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>
              <a:off x="6611898" y="2573471"/>
              <a:ext cx="420603" cy="41014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Line 46">
              <a:extLst>
                <a:ext uri="{FF2B5EF4-FFF2-40B4-BE49-F238E27FC236}">
                  <a16:creationId xmlns:a16="http://schemas.microsoft.com/office/drawing/2014/main" id="{606F37FE-2F5C-4B1B-A766-2F6FFDB2C6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975297" y="2421063"/>
              <a:ext cx="0" cy="27021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Line 45">
              <a:extLst>
                <a:ext uri="{FF2B5EF4-FFF2-40B4-BE49-F238E27FC236}">
                  <a16:creationId xmlns:a16="http://schemas.microsoft.com/office/drawing/2014/main" id="{F7DC8AF7-407B-4D49-B2AF-3D98E1922D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270006" y="2379678"/>
              <a:ext cx="151520" cy="50450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A9CF2295-DBC1-4D02-AFE8-12639119D1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996425" flipH="1">
              <a:off x="6049045" y="2580372"/>
              <a:ext cx="569051" cy="63693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09222C92-9054-4B05-99EA-533FFD04A9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5197" y="1992067"/>
              <a:ext cx="390845" cy="445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Line 42">
              <a:extLst>
                <a:ext uri="{FF2B5EF4-FFF2-40B4-BE49-F238E27FC236}">
                  <a16:creationId xmlns:a16="http://schemas.microsoft.com/office/drawing/2014/main" id="{CB96868C-4DAD-4838-AFA0-CC027C1C9C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352840" y="2212265"/>
              <a:ext cx="47166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9B444398-68C0-40BB-BD1D-10665BB6A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177333" y="2229286"/>
              <a:ext cx="390845" cy="445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Line 40">
              <a:extLst>
                <a:ext uri="{FF2B5EF4-FFF2-40B4-BE49-F238E27FC236}">
                  <a16:creationId xmlns:a16="http://schemas.microsoft.com/office/drawing/2014/main" id="{C586B684-0BBB-45A3-8C67-1FA5C73314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6746591" y="2394646"/>
              <a:ext cx="397254" cy="94537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Text Box 16">
              <a:extLst>
                <a:ext uri="{FF2B5EF4-FFF2-40B4-BE49-F238E27FC236}">
                  <a16:creationId xmlns:a16="http://schemas.microsoft.com/office/drawing/2014/main" id="{24C411DF-CCC3-41D0-864E-C6BDEC2137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639" y="2622943"/>
              <a:ext cx="434272" cy="445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Text Box 15">
              <a:extLst>
                <a:ext uri="{FF2B5EF4-FFF2-40B4-BE49-F238E27FC236}">
                  <a16:creationId xmlns:a16="http://schemas.microsoft.com/office/drawing/2014/main" id="{0F6553C1-9552-4647-B960-85EEB7C2F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9999" y="872620"/>
              <a:ext cx="434272" cy="445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3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Text Box 14">
              <a:extLst>
                <a:ext uri="{FF2B5EF4-FFF2-40B4-BE49-F238E27FC236}">
                  <a16:creationId xmlns:a16="http://schemas.microsoft.com/office/drawing/2014/main" id="{9C4B503D-2CA1-4DA3-8D8F-A6ADAE4C7F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1014" y="3024130"/>
              <a:ext cx="434272" cy="445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Text Box 13">
              <a:extLst>
                <a:ext uri="{FF2B5EF4-FFF2-40B4-BE49-F238E27FC236}">
                  <a16:creationId xmlns:a16="http://schemas.microsoft.com/office/drawing/2014/main" id="{32EDCD54-3A1E-4C59-BA15-1C830205F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1290" y="3527355"/>
              <a:ext cx="434272" cy="445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5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Text Box 12">
              <a:extLst>
                <a:ext uri="{FF2B5EF4-FFF2-40B4-BE49-F238E27FC236}">
                  <a16:creationId xmlns:a16="http://schemas.microsoft.com/office/drawing/2014/main" id="{AF70A7C7-AD4E-4E40-8BDA-B4CB773B5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7218" y="3564874"/>
              <a:ext cx="434272" cy="445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Z</a:t>
              </a:r>
              <a:r>
                <a:rPr kumimoji="0" lang="en-US" altLang="en-US" sz="2800" b="0" i="0" u="none" strike="noStrike" cap="none" normalizeH="0" baseline="-30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4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4CDA5F3-1F16-465D-8A99-5577D621688B}"/>
              </a:ext>
            </a:extLst>
          </p:cNvPr>
          <p:cNvGrpSpPr/>
          <p:nvPr/>
        </p:nvGrpSpPr>
        <p:grpSpPr>
          <a:xfrm>
            <a:off x="7029736" y="114446"/>
            <a:ext cx="3837382" cy="3147510"/>
            <a:chOff x="6091273" y="475405"/>
            <a:chExt cx="3837382" cy="314751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0B21ED04-3B53-4D0A-9275-C6FEDBD9F917}"/>
                </a:ext>
              </a:extLst>
            </p:cNvPr>
            <p:cNvGrpSpPr/>
            <p:nvPr/>
          </p:nvGrpSpPr>
          <p:grpSpPr>
            <a:xfrm>
              <a:off x="6091273" y="475405"/>
              <a:ext cx="3837382" cy="3147510"/>
              <a:chOff x="4081992" y="690594"/>
              <a:chExt cx="3375455" cy="3402849"/>
            </a:xfrm>
          </p:grpSpPr>
          <p:sp>
            <p:nvSpPr>
              <p:cNvPr id="112" name="Line 80">
                <a:extLst>
                  <a:ext uri="{FF2B5EF4-FFF2-40B4-BE49-F238E27FC236}">
                    <a16:creationId xmlns:a16="http://schemas.microsoft.com/office/drawing/2014/main" id="{01F689AB-6DA3-4070-B6BE-B674477F0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5657583" y="2077527"/>
                <a:ext cx="494289" cy="410146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3" name="Rectangle 79">
                <a:extLst>
                  <a:ext uri="{FF2B5EF4-FFF2-40B4-BE49-F238E27FC236}">
                    <a16:creationId xmlns:a16="http://schemas.microsoft.com/office/drawing/2014/main" id="{CF3CC45E-7291-4D99-A096-2EED2CEA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046193">
                <a:off x="6410971" y="2459721"/>
                <a:ext cx="265969" cy="610393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4" name="Line 78">
                <a:extLst>
                  <a:ext uri="{FF2B5EF4-FFF2-40B4-BE49-F238E27FC236}">
                    <a16:creationId xmlns:a16="http://schemas.microsoft.com/office/drawing/2014/main" id="{DE0CF2DD-819B-4FAA-8513-0C2F60D62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046193">
                <a:off x="7068098" y="2614152"/>
                <a:ext cx="0" cy="45719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5" name="Line 77">
                <a:extLst>
                  <a:ext uri="{FF2B5EF4-FFF2-40B4-BE49-F238E27FC236}">
                    <a16:creationId xmlns:a16="http://schemas.microsoft.com/office/drawing/2014/main" id="{D15DD1F9-A0F3-4C88-8D1E-7629ABBA1F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046193" flipH="1">
                <a:off x="5980427" y="2361494"/>
                <a:ext cx="12850" cy="520611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grpSp>
            <p:nvGrpSpPr>
              <p:cNvPr id="116" name="Group 73">
                <a:extLst>
                  <a:ext uri="{FF2B5EF4-FFF2-40B4-BE49-F238E27FC236}">
                    <a16:creationId xmlns:a16="http://schemas.microsoft.com/office/drawing/2014/main" id="{BCEF70B1-2E25-469C-BC6C-282DBC0439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3031718">
                <a:off x="6416241" y="974816"/>
                <a:ext cx="265970" cy="1149514"/>
                <a:chOff x="10050" y="2161"/>
                <a:chExt cx="360" cy="1357"/>
              </a:xfrm>
            </p:grpSpPr>
            <p:sp>
              <p:nvSpPr>
                <p:cNvPr id="142" name="Rectangle 76">
                  <a:extLst>
                    <a:ext uri="{FF2B5EF4-FFF2-40B4-BE49-F238E27FC236}">
                      <a16:creationId xmlns:a16="http://schemas.microsoft.com/office/drawing/2014/main" id="{03E67C07-BEA8-4263-B85B-B26293F309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1309060">
                  <a:off x="10050" y="279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143" name="Line 75">
                  <a:extLst>
                    <a:ext uri="{FF2B5EF4-FFF2-40B4-BE49-F238E27FC236}">
                      <a16:creationId xmlns:a16="http://schemas.microsoft.com/office/drawing/2014/main" id="{A466618A-FD8F-4309-8AAA-69E4312EAC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8" y="2161"/>
                  <a:ext cx="75" cy="639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117" name="Rectangle 72">
                <a:extLst>
                  <a:ext uri="{FF2B5EF4-FFF2-40B4-BE49-F238E27FC236}">
                    <a16:creationId xmlns:a16="http://schemas.microsoft.com/office/drawing/2014/main" id="{9EA3BE9A-F1EF-465A-9CE9-78534A4EC4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712602" y="2259633"/>
                <a:ext cx="265970" cy="610393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8" name="Line 71">
                <a:extLst>
                  <a:ext uri="{FF2B5EF4-FFF2-40B4-BE49-F238E27FC236}">
                    <a16:creationId xmlns:a16="http://schemas.microsoft.com/office/drawing/2014/main" id="{E07D4847-3259-40E2-ABA4-6C8DDC8E3A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437041" y="2277242"/>
                <a:ext cx="9673" cy="56303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9" name="Line 70">
                <a:extLst>
                  <a:ext uri="{FF2B5EF4-FFF2-40B4-BE49-F238E27FC236}">
                    <a16:creationId xmlns:a16="http://schemas.microsoft.com/office/drawing/2014/main" id="{5B383AD4-FA23-41B1-9484-AD39B3CF2A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310588" y="2334378"/>
                <a:ext cx="0" cy="45719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0" name="Rectangle 69">
                <a:extLst>
                  <a:ext uri="{FF2B5EF4-FFF2-40B4-BE49-F238E27FC236}">
                    <a16:creationId xmlns:a16="http://schemas.microsoft.com/office/drawing/2014/main" id="{9F926D74-0814-4956-BA5F-DECF4CBA4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232041">
                <a:off x="5150464" y="2861904"/>
                <a:ext cx="216399" cy="750219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1" name="Line 68">
                <a:extLst>
                  <a:ext uri="{FF2B5EF4-FFF2-40B4-BE49-F238E27FC236}">
                    <a16:creationId xmlns:a16="http://schemas.microsoft.com/office/drawing/2014/main" id="{4847EC8B-15B2-4917-B8A1-E8FB7EA6D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3398465">
                <a:off x="5496646" y="2543034"/>
                <a:ext cx="177965" cy="40583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2" name="Line 67">
                <a:extLst>
                  <a:ext uri="{FF2B5EF4-FFF2-40B4-BE49-F238E27FC236}">
                    <a16:creationId xmlns:a16="http://schemas.microsoft.com/office/drawing/2014/main" id="{B38EC201-02FF-4BB5-821F-454E96C345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3398465">
                <a:off x="4835718" y="3508202"/>
                <a:ext cx="164855" cy="46257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3" name="Rectangle 66">
                <a:extLst>
                  <a:ext uri="{FF2B5EF4-FFF2-40B4-BE49-F238E27FC236}">
                    <a16:creationId xmlns:a16="http://schemas.microsoft.com/office/drawing/2014/main" id="{BD23D261-9A02-4A27-AA53-829E2FD30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8988946" flipH="1">
                <a:off x="6322020" y="3212771"/>
                <a:ext cx="216398" cy="750219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4" name="Line 65">
                <a:extLst>
                  <a:ext uri="{FF2B5EF4-FFF2-40B4-BE49-F238E27FC236}">
                    <a16:creationId xmlns:a16="http://schemas.microsoft.com/office/drawing/2014/main" id="{C40B51AF-B906-4185-95B5-C7CB8FDD02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996425" flipH="1">
                <a:off x="6648012" y="3881732"/>
                <a:ext cx="204980" cy="21844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5" name="Oval 51">
                <a:extLst>
                  <a:ext uri="{FF2B5EF4-FFF2-40B4-BE49-F238E27FC236}">
                    <a16:creationId xmlns:a16="http://schemas.microsoft.com/office/drawing/2014/main" id="{5086467E-84C5-4A41-9516-0E5419BE98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200000">
                <a:off x="5769261" y="1130551"/>
                <a:ext cx="420603" cy="410146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6" name="Text Box 50">
                <a:extLst>
                  <a:ext uri="{FF2B5EF4-FFF2-40B4-BE49-F238E27FC236}">
                    <a16:creationId xmlns:a16="http://schemas.microsoft.com/office/drawing/2014/main" id="{334DCE4B-E2EF-4765-847C-C6FAF5277F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4402" y="690594"/>
                <a:ext cx="685227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E/Z</a:t>
                </a:r>
                <a:r>
                  <a:rPr kumimoji="0" lang="en-US" altLang="en-US" sz="2800" b="0" i="0" u="none" strike="noStrike" cap="none" normalizeH="0" baseline="-25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3</a:t>
                </a:r>
                <a:endParaRPr kumimoji="0" lang="en-US" altLang="en-US" sz="18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7" name="Line 49">
                <a:extLst>
                  <a:ext uri="{FF2B5EF4-FFF2-40B4-BE49-F238E27FC236}">
                    <a16:creationId xmlns:a16="http://schemas.microsoft.com/office/drawing/2014/main" id="{5669818A-289B-481B-9AB8-573BA19142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5893010" y="1249682"/>
                <a:ext cx="223896" cy="158903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8" name="Oval 48">
                <a:extLst>
                  <a:ext uri="{FF2B5EF4-FFF2-40B4-BE49-F238E27FC236}">
                    <a16:creationId xmlns:a16="http://schemas.microsoft.com/office/drawing/2014/main" id="{8B67B429-C07B-4925-830F-E3513DFE87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200000">
                <a:off x="4635569" y="1835051"/>
                <a:ext cx="420603" cy="410146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9" name="Oval 47">
                <a:extLst>
                  <a:ext uri="{FF2B5EF4-FFF2-40B4-BE49-F238E27FC236}">
                    <a16:creationId xmlns:a16="http://schemas.microsoft.com/office/drawing/2014/main" id="{62411298-1009-4865-9395-BA36894B93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200000">
                <a:off x="6401993" y="2081290"/>
                <a:ext cx="420603" cy="410146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2" name="Line 44">
                <a:extLst>
                  <a:ext uri="{FF2B5EF4-FFF2-40B4-BE49-F238E27FC236}">
                    <a16:creationId xmlns:a16="http://schemas.microsoft.com/office/drawing/2014/main" id="{F9EE862B-BC92-4164-AD08-3AF57F6849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996425" flipH="1">
                <a:off x="5674523" y="2615477"/>
                <a:ext cx="569051" cy="63693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3" name="Text Box 43">
                <a:extLst>
                  <a:ext uri="{FF2B5EF4-FFF2-40B4-BE49-F238E27FC236}">
                    <a16:creationId xmlns:a16="http://schemas.microsoft.com/office/drawing/2014/main" id="{94E26DC0-2ED1-445A-81F3-DBEEBFC6C6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81362" y="1303437"/>
                <a:ext cx="662249" cy="448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E/Z</a:t>
                </a:r>
                <a:r>
                  <a:rPr kumimoji="0" lang="en-US" altLang="en-US" sz="2800" b="0" i="0" u="none" strike="noStrike" cap="none" normalizeH="0" baseline="-25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1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Line 42">
                <a:extLst>
                  <a:ext uri="{FF2B5EF4-FFF2-40B4-BE49-F238E27FC236}">
                    <a16:creationId xmlns:a16="http://schemas.microsoft.com/office/drawing/2014/main" id="{669DD5C8-B933-41D0-BFCA-C0F46B687D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4673258" y="2054351"/>
                <a:ext cx="32173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5" name="Text Box 41">
                <a:extLst>
                  <a:ext uri="{FF2B5EF4-FFF2-40B4-BE49-F238E27FC236}">
                    <a16:creationId xmlns:a16="http://schemas.microsoft.com/office/drawing/2014/main" id="{3C7729C5-E208-48C1-8AE6-07083E4C5B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6817367" y="1802029"/>
                <a:ext cx="640080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E/Z</a:t>
                </a:r>
                <a:r>
                  <a:rPr kumimoji="0" lang="en-US" altLang="en-US" sz="2800" b="0" i="0" u="none" strike="noStrike" cap="none" normalizeH="0" baseline="-25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2</a:t>
                </a:r>
                <a:endParaRPr kumimoji="0" lang="en-US" altLang="en-US" sz="18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6" name="Line 40">
                <a:extLst>
                  <a:ext uri="{FF2B5EF4-FFF2-40B4-BE49-F238E27FC236}">
                    <a16:creationId xmlns:a16="http://schemas.microsoft.com/office/drawing/2014/main" id="{4104500C-A4C2-412C-8FF3-CE649A7F0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6512137" y="2280095"/>
                <a:ext cx="262859" cy="4740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7" name="Text Box 16">
                <a:extLst>
                  <a:ext uri="{FF2B5EF4-FFF2-40B4-BE49-F238E27FC236}">
                    <a16:creationId xmlns:a16="http://schemas.microsoft.com/office/drawing/2014/main" id="{82F0D4C8-9B45-4EAE-94EF-16AB51B70D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5874" y="2611441"/>
                <a:ext cx="434272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sz="2800" b="0" i="0" u="none" strike="noStrike" cap="none" normalizeH="0" baseline="-30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1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8" name="Text Box 15">
                <a:extLst>
                  <a:ext uri="{FF2B5EF4-FFF2-40B4-BE49-F238E27FC236}">
                    <a16:creationId xmlns:a16="http://schemas.microsoft.com/office/drawing/2014/main" id="{74DB46C8-6C9C-407E-B68F-11AB46A171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58756" y="922046"/>
                <a:ext cx="434272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sz="2800" b="0" i="0" u="none" strike="noStrike" cap="none" normalizeH="0" baseline="-30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3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Text Box 14">
                <a:extLst>
                  <a:ext uri="{FF2B5EF4-FFF2-40B4-BE49-F238E27FC236}">
                    <a16:creationId xmlns:a16="http://schemas.microsoft.com/office/drawing/2014/main" id="{3AD05F22-7D89-4520-8879-C28B739BFD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15866" y="2867424"/>
                <a:ext cx="434272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sz="2800" b="0" i="0" u="none" strike="noStrike" cap="none" normalizeH="0" baseline="-30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2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0" name="Text Box 13">
                <a:extLst>
                  <a:ext uri="{FF2B5EF4-FFF2-40B4-BE49-F238E27FC236}">
                    <a16:creationId xmlns:a16="http://schemas.microsoft.com/office/drawing/2014/main" id="{0F250F57-B097-4A2B-AAE1-6B4711515E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7866" y="3502053"/>
                <a:ext cx="434272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sz="2800" b="0" i="0" u="none" strike="noStrike" cap="none" normalizeH="0" baseline="-30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5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1" name="Text Box 12">
                <a:extLst>
                  <a:ext uri="{FF2B5EF4-FFF2-40B4-BE49-F238E27FC236}">
                    <a16:creationId xmlns:a16="http://schemas.microsoft.com/office/drawing/2014/main" id="{0355B88D-FDC6-4E0A-A9BF-FAAE53F04D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46632" y="3274615"/>
                <a:ext cx="434272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sz="2800" b="0" i="0" u="none" strike="noStrike" cap="none" normalizeH="0" baseline="-30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4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2CC119F-D157-4D68-994B-E68B431BA983}"/>
                </a:ext>
              </a:extLst>
            </p:cNvPr>
            <p:cNvSpPr/>
            <p:nvPr/>
          </p:nvSpPr>
          <p:spPr>
            <a:xfrm>
              <a:off x="6352673" y="1702352"/>
              <a:ext cx="348557" cy="511459"/>
            </a:xfrm>
            <a:custGeom>
              <a:avLst/>
              <a:gdLst>
                <a:gd name="connsiteX0" fmla="*/ 324852 w 324852"/>
                <a:gd name="connsiteY0" fmla="*/ 24756 h 530083"/>
                <a:gd name="connsiteX1" fmla="*/ 168442 w 324852"/>
                <a:gd name="connsiteY1" fmla="*/ 12725 h 530083"/>
                <a:gd name="connsiteX2" fmla="*/ 48126 w 324852"/>
                <a:gd name="connsiteY2" fmla="*/ 181167 h 530083"/>
                <a:gd name="connsiteX3" fmla="*/ 0 w 324852"/>
                <a:gd name="connsiteY3" fmla="*/ 530083 h 530083"/>
                <a:gd name="connsiteX0" fmla="*/ 324852 w 324852"/>
                <a:gd name="connsiteY0" fmla="*/ 6132 h 511459"/>
                <a:gd name="connsiteX1" fmla="*/ 168442 w 324852"/>
                <a:gd name="connsiteY1" fmla="*/ 42228 h 511459"/>
                <a:gd name="connsiteX2" fmla="*/ 48126 w 324852"/>
                <a:gd name="connsiteY2" fmla="*/ 162543 h 511459"/>
                <a:gd name="connsiteX3" fmla="*/ 0 w 324852"/>
                <a:gd name="connsiteY3" fmla="*/ 511459 h 511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852" h="511459">
                  <a:moveTo>
                    <a:pt x="324852" y="6132"/>
                  </a:moveTo>
                  <a:cubicBezTo>
                    <a:pt x="269707" y="-12918"/>
                    <a:pt x="214563" y="16160"/>
                    <a:pt x="168442" y="42228"/>
                  </a:cubicBezTo>
                  <a:cubicBezTo>
                    <a:pt x="122321" y="68296"/>
                    <a:pt x="76200" y="84338"/>
                    <a:pt x="48126" y="162543"/>
                  </a:cubicBezTo>
                  <a:cubicBezTo>
                    <a:pt x="20052" y="240748"/>
                    <a:pt x="10026" y="380114"/>
                    <a:pt x="0" y="511459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7A6830F-E2CB-4B67-BC12-44537167A45C}"/>
                </a:ext>
              </a:extLst>
            </p:cNvPr>
            <p:cNvSpPr/>
            <p:nvPr/>
          </p:nvSpPr>
          <p:spPr>
            <a:xfrm flipH="1">
              <a:off x="7214474" y="1710188"/>
              <a:ext cx="414869" cy="511459"/>
            </a:xfrm>
            <a:custGeom>
              <a:avLst/>
              <a:gdLst>
                <a:gd name="connsiteX0" fmla="*/ 324852 w 324852"/>
                <a:gd name="connsiteY0" fmla="*/ 24756 h 530083"/>
                <a:gd name="connsiteX1" fmla="*/ 168442 w 324852"/>
                <a:gd name="connsiteY1" fmla="*/ 12725 h 530083"/>
                <a:gd name="connsiteX2" fmla="*/ 48126 w 324852"/>
                <a:gd name="connsiteY2" fmla="*/ 181167 h 530083"/>
                <a:gd name="connsiteX3" fmla="*/ 0 w 324852"/>
                <a:gd name="connsiteY3" fmla="*/ 530083 h 530083"/>
                <a:gd name="connsiteX0" fmla="*/ 324852 w 324852"/>
                <a:gd name="connsiteY0" fmla="*/ 6132 h 511459"/>
                <a:gd name="connsiteX1" fmla="*/ 168442 w 324852"/>
                <a:gd name="connsiteY1" fmla="*/ 42228 h 511459"/>
                <a:gd name="connsiteX2" fmla="*/ 48126 w 324852"/>
                <a:gd name="connsiteY2" fmla="*/ 162543 h 511459"/>
                <a:gd name="connsiteX3" fmla="*/ 0 w 324852"/>
                <a:gd name="connsiteY3" fmla="*/ 511459 h 511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852" h="511459">
                  <a:moveTo>
                    <a:pt x="324852" y="6132"/>
                  </a:moveTo>
                  <a:cubicBezTo>
                    <a:pt x="269707" y="-12918"/>
                    <a:pt x="214563" y="16160"/>
                    <a:pt x="168442" y="42228"/>
                  </a:cubicBezTo>
                  <a:cubicBezTo>
                    <a:pt x="122321" y="68296"/>
                    <a:pt x="76200" y="84338"/>
                    <a:pt x="48126" y="162543"/>
                  </a:cubicBezTo>
                  <a:cubicBezTo>
                    <a:pt x="20052" y="240748"/>
                    <a:pt x="10026" y="380114"/>
                    <a:pt x="0" y="511459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BE183CEE-35AE-4B34-97E5-0A815C33E3B2}"/>
                </a:ext>
              </a:extLst>
            </p:cNvPr>
            <p:cNvSpPr/>
            <p:nvPr/>
          </p:nvSpPr>
          <p:spPr>
            <a:xfrm>
              <a:off x="7983536" y="1227221"/>
              <a:ext cx="234032" cy="649705"/>
            </a:xfrm>
            <a:custGeom>
              <a:avLst/>
              <a:gdLst>
                <a:gd name="connsiteX0" fmla="*/ 113717 w 234032"/>
                <a:gd name="connsiteY0" fmla="*/ 0 h 649705"/>
                <a:gd name="connsiteX1" fmla="*/ 53559 w 234032"/>
                <a:gd name="connsiteY1" fmla="*/ 96253 h 649705"/>
                <a:gd name="connsiteX2" fmla="*/ 17464 w 234032"/>
                <a:gd name="connsiteY2" fmla="*/ 228600 h 649705"/>
                <a:gd name="connsiteX3" fmla="*/ 17464 w 234032"/>
                <a:gd name="connsiteY3" fmla="*/ 409074 h 649705"/>
                <a:gd name="connsiteX4" fmla="*/ 234032 w 234032"/>
                <a:gd name="connsiteY4" fmla="*/ 649705 h 649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32" h="649705">
                  <a:moveTo>
                    <a:pt x="113717" y="0"/>
                  </a:moveTo>
                  <a:cubicBezTo>
                    <a:pt x="91659" y="29076"/>
                    <a:pt x="69601" y="58153"/>
                    <a:pt x="53559" y="96253"/>
                  </a:cubicBezTo>
                  <a:cubicBezTo>
                    <a:pt x="37517" y="134353"/>
                    <a:pt x="23480" y="176463"/>
                    <a:pt x="17464" y="228600"/>
                  </a:cubicBezTo>
                  <a:cubicBezTo>
                    <a:pt x="11448" y="280737"/>
                    <a:pt x="-18631" y="338890"/>
                    <a:pt x="17464" y="409074"/>
                  </a:cubicBezTo>
                  <a:cubicBezTo>
                    <a:pt x="53559" y="479258"/>
                    <a:pt x="143795" y="564481"/>
                    <a:pt x="234032" y="649705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1CDBD56-1ED3-4D34-9D15-2F57AB7EBDF4}"/>
                </a:ext>
              </a:extLst>
            </p:cNvPr>
            <p:cNvSpPr/>
            <p:nvPr/>
          </p:nvSpPr>
          <p:spPr>
            <a:xfrm>
              <a:off x="8410074" y="700079"/>
              <a:ext cx="721894" cy="262447"/>
            </a:xfrm>
            <a:custGeom>
              <a:avLst/>
              <a:gdLst>
                <a:gd name="connsiteX0" fmla="*/ 0 w 721894"/>
                <a:gd name="connsiteY0" fmla="*/ 202289 h 262447"/>
                <a:gd name="connsiteX1" fmla="*/ 192505 w 721894"/>
                <a:gd name="connsiteY1" fmla="*/ 21816 h 262447"/>
                <a:gd name="connsiteX2" fmla="*/ 360947 w 721894"/>
                <a:gd name="connsiteY2" fmla="*/ 9784 h 262447"/>
                <a:gd name="connsiteX3" fmla="*/ 553452 w 721894"/>
                <a:gd name="connsiteY3" fmla="*/ 81974 h 262447"/>
                <a:gd name="connsiteX4" fmla="*/ 721894 w 721894"/>
                <a:gd name="connsiteY4" fmla="*/ 262447 h 26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1894" h="262447">
                  <a:moveTo>
                    <a:pt x="0" y="202289"/>
                  </a:moveTo>
                  <a:cubicBezTo>
                    <a:pt x="66173" y="128094"/>
                    <a:pt x="132347" y="53900"/>
                    <a:pt x="192505" y="21816"/>
                  </a:cubicBezTo>
                  <a:cubicBezTo>
                    <a:pt x="252663" y="-10268"/>
                    <a:pt x="300789" y="-242"/>
                    <a:pt x="360947" y="9784"/>
                  </a:cubicBezTo>
                  <a:cubicBezTo>
                    <a:pt x="421105" y="19810"/>
                    <a:pt x="493294" y="39863"/>
                    <a:pt x="553452" y="81974"/>
                  </a:cubicBezTo>
                  <a:cubicBezTo>
                    <a:pt x="613610" y="124085"/>
                    <a:pt x="667752" y="193266"/>
                    <a:pt x="721894" y="262447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E7DA379-65D0-42B4-981C-92E1DC65B01E}"/>
                </a:ext>
              </a:extLst>
            </p:cNvPr>
            <p:cNvSpPr/>
            <p:nvPr/>
          </p:nvSpPr>
          <p:spPr>
            <a:xfrm>
              <a:off x="8349916" y="1910794"/>
              <a:ext cx="372979" cy="351143"/>
            </a:xfrm>
            <a:custGeom>
              <a:avLst/>
              <a:gdLst>
                <a:gd name="connsiteX0" fmla="*/ 0 w 372979"/>
                <a:gd name="connsiteY0" fmla="*/ 351143 h 351143"/>
                <a:gd name="connsiteX1" fmla="*/ 72189 w 372979"/>
                <a:gd name="connsiteY1" fmla="*/ 98480 h 351143"/>
                <a:gd name="connsiteX2" fmla="*/ 144379 w 372979"/>
                <a:gd name="connsiteY2" fmla="*/ 14259 h 351143"/>
                <a:gd name="connsiteX3" fmla="*/ 216568 w 372979"/>
                <a:gd name="connsiteY3" fmla="*/ 2227 h 351143"/>
                <a:gd name="connsiteX4" fmla="*/ 372979 w 372979"/>
                <a:gd name="connsiteY4" fmla="*/ 38322 h 35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979" h="351143">
                  <a:moveTo>
                    <a:pt x="0" y="351143"/>
                  </a:moveTo>
                  <a:cubicBezTo>
                    <a:pt x="24063" y="252885"/>
                    <a:pt x="48126" y="154627"/>
                    <a:pt x="72189" y="98480"/>
                  </a:cubicBezTo>
                  <a:cubicBezTo>
                    <a:pt x="96252" y="42333"/>
                    <a:pt x="120316" y="30301"/>
                    <a:pt x="144379" y="14259"/>
                  </a:cubicBezTo>
                  <a:cubicBezTo>
                    <a:pt x="168442" y="-1783"/>
                    <a:pt x="178468" y="-1783"/>
                    <a:pt x="216568" y="2227"/>
                  </a:cubicBezTo>
                  <a:cubicBezTo>
                    <a:pt x="254668" y="6237"/>
                    <a:pt x="313823" y="22279"/>
                    <a:pt x="372979" y="38322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75FC646A-C6A2-48D3-B602-AF9600952A37}"/>
                </a:ext>
              </a:extLst>
            </p:cNvPr>
            <p:cNvSpPr/>
            <p:nvPr/>
          </p:nvSpPr>
          <p:spPr>
            <a:xfrm>
              <a:off x="9216189" y="1985211"/>
              <a:ext cx="240632" cy="469231"/>
            </a:xfrm>
            <a:custGeom>
              <a:avLst/>
              <a:gdLst>
                <a:gd name="connsiteX0" fmla="*/ 0 w 240632"/>
                <a:gd name="connsiteY0" fmla="*/ 0 h 469231"/>
                <a:gd name="connsiteX1" fmla="*/ 120316 w 240632"/>
                <a:gd name="connsiteY1" fmla="*/ 36094 h 469231"/>
                <a:gd name="connsiteX2" fmla="*/ 216569 w 240632"/>
                <a:gd name="connsiteY2" fmla="*/ 108284 h 469231"/>
                <a:gd name="connsiteX3" fmla="*/ 240632 w 240632"/>
                <a:gd name="connsiteY3" fmla="*/ 228600 h 469231"/>
                <a:gd name="connsiteX4" fmla="*/ 216569 w 240632"/>
                <a:gd name="connsiteY4" fmla="*/ 469231 h 469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632" h="469231">
                  <a:moveTo>
                    <a:pt x="0" y="0"/>
                  </a:moveTo>
                  <a:cubicBezTo>
                    <a:pt x="42110" y="9023"/>
                    <a:pt x="84221" y="18047"/>
                    <a:pt x="120316" y="36094"/>
                  </a:cubicBezTo>
                  <a:cubicBezTo>
                    <a:pt x="156411" y="54141"/>
                    <a:pt x="196516" y="76200"/>
                    <a:pt x="216569" y="108284"/>
                  </a:cubicBezTo>
                  <a:cubicBezTo>
                    <a:pt x="236622" y="140368"/>
                    <a:pt x="240632" y="168442"/>
                    <a:pt x="240632" y="228600"/>
                  </a:cubicBezTo>
                  <a:cubicBezTo>
                    <a:pt x="240632" y="288758"/>
                    <a:pt x="228600" y="378994"/>
                    <a:pt x="216569" y="469231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5" name="Text Box 23">
            <a:extLst>
              <a:ext uri="{FF2B5EF4-FFF2-40B4-BE49-F238E27FC236}">
                <a16:creationId xmlns:a16="http://schemas.microsoft.com/office/drawing/2014/main" id="{D7BA82FC-287F-47F5-913D-98781F9E8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814" y="4778180"/>
            <a:ext cx="708490" cy="74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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2A936B3A-6CE5-419E-A742-C4B38B57028A}"/>
              </a:ext>
            </a:extLst>
          </p:cNvPr>
          <p:cNvGrpSpPr/>
          <p:nvPr/>
        </p:nvGrpSpPr>
        <p:grpSpPr>
          <a:xfrm>
            <a:off x="2826305" y="2638792"/>
            <a:ext cx="4910276" cy="4068410"/>
            <a:chOff x="3536172" y="2638792"/>
            <a:chExt cx="4910276" cy="4068410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FB05B751-28D9-4F07-8CE5-34FB3B089D76}"/>
                </a:ext>
              </a:extLst>
            </p:cNvPr>
            <p:cNvGrpSpPr/>
            <p:nvPr/>
          </p:nvGrpSpPr>
          <p:grpSpPr>
            <a:xfrm>
              <a:off x="3536172" y="2638792"/>
              <a:ext cx="4910276" cy="3642302"/>
              <a:chOff x="3710303" y="155662"/>
              <a:chExt cx="4319198" cy="3937781"/>
            </a:xfrm>
          </p:grpSpPr>
          <p:sp>
            <p:nvSpPr>
              <p:cNvPr id="195" name="Line 80">
                <a:extLst>
                  <a:ext uri="{FF2B5EF4-FFF2-40B4-BE49-F238E27FC236}">
                    <a16:creationId xmlns:a16="http://schemas.microsoft.com/office/drawing/2014/main" id="{CD1D5104-F42C-40C0-890B-3814321ABD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5657583" y="2077527"/>
                <a:ext cx="494289" cy="410146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6" name="Rectangle 79">
                <a:extLst>
                  <a:ext uri="{FF2B5EF4-FFF2-40B4-BE49-F238E27FC236}">
                    <a16:creationId xmlns:a16="http://schemas.microsoft.com/office/drawing/2014/main" id="{A607B467-E580-40C7-9667-105A0DBAE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046193">
                <a:off x="6410971" y="2459721"/>
                <a:ext cx="265969" cy="610393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7" name="Line 78">
                <a:extLst>
                  <a:ext uri="{FF2B5EF4-FFF2-40B4-BE49-F238E27FC236}">
                    <a16:creationId xmlns:a16="http://schemas.microsoft.com/office/drawing/2014/main" id="{1C79E3D6-4DA9-4CFF-AA57-843782301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046193">
                <a:off x="7068098" y="2614152"/>
                <a:ext cx="0" cy="45719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8" name="Line 77">
                <a:extLst>
                  <a:ext uri="{FF2B5EF4-FFF2-40B4-BE49-F238E27FC236}">
                    <a16:creationId xmlns:a16="http://schemas.microsoft.com/office/drawing/2014/main" id="{004FDB81-79B8-4261-9FAF-0C28830311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046193" flipH="1">
                <a:off x="5980427" y="2361494"/>
                <a:ext cx="12850" cy="520611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grpSp>
            <p:nvGrpSpPr>
              <p:cNvPr id="199" name="Group 73">
                <a:extLst>
                  <a:ext uri="{FF2B5EF4-FFF2-40B4-BE49-F238E27FC236}">
                    <a16:creationId xmlns:a16="http://schemas.microsoft.com/office/drawing/2014/main" id="{7382E754-B8C8-4F1C-8559-519F63C8E8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3031718">
                <a:off x="6416241" y="974816"/>
                <a:ext cx="265970" cy="1149514"/>
                <a:chOff x="10050" y="2161"/>
                <a:chExt cx="360" cy="1357"/>
              </a:xfrm>
            </p:grpSpPr>
            <p:sp>
              <p:nvSpPr>
                <p:cNvPr id="223" name="Rectangle 76">
                  <a:extLst>
                    <a:ext uri="{FF2B5EF4-FFF2-40B4-BE49-F238E27FC236}">
                      <a16:creationId xmlns:a16="http://schemas.microsoft.com/office/drawing/2014/main" id="{00682FF0-2429-4F29-952D-B0D097D1E7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1309060">
                  <a:off x="10050" y="279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4" name="Line 75">
                  <a:extLst>
                    <a:ext uri="{FF2B5EF4-FFF2-40B4-BE49-F238E27FC236}">
                      <a16:creationId xmlns:a16="http://schemas.microsoft.com/office/drawing/2014/main" id="{0B65A05D-F122-4355-B8D1-9CA5BCD5A0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8" y="2161"/>
                  <a:ext cx="75" cy="639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200" name="Rectangle 72">
                <a:extLst>
                  <a:ext uri="{FF2B5EF4-FFF2-40B4-BE49-F238E27FC236}">
                    <a16:creationId xmlns:a16="http://schemas.microsoft.com/office/drawing/2014/main" id="{1F464ECA-8377-4AB5-A370-1434088E8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712602" y="2259633"/>
                <a:ext cx="265970" cy="610393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1" name="Line 71">
                <a:extLst>
                  <a:ext uri="{FF2B5EF4-FFF2-40B4-BE49-F238E27FC236}">
                    <a16:creationId xmlns:a16="http://schemas.microsoft.com/office/drawing/2014/main" id="{89CD1B30-9282-4534-A774-5D2C4DECA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437041" y="2277242"/>
                <a:ext cx="9673" cy="56303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2" name="Line 70">
                <a:extLst>
                  <a:ext uri="{FF2B5EF4-FFF2-40B4-BE49-F238E27FC236}">
                    <a16:creationId xmlns:a16="http://schemas.microsoft.com/office/drawing/2014/main" id="{CF7B3F64-F866-44A7-9E05-413149D8BE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310588" y="2334378"/>
                <a:ext cx="0" cy="45719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3" name="Rectangle 69">
                <a:extLst>
                  <a:ext uri="{FF2B5EF4-FFF2-40B4-BE49-F238E27FC236}">
                    <a16:creationId xmlns:a16="http://schemas.microsoft.com/office/drawing/2014/main" id="{59D4D39D-B988-4185-929A-900FDE3D90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232041">
                <a:off x="5150464" y="2861904"/>
                <a:ext cx="216399" cy="750219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4" name="Line 68">
                <a:extLst>
                  <a:ext uri="{FF2B5EF4-FFF2-40B4-BE49-F238E27FC236}">
                    <a16:creationId xmlns:a16="http://schemas.microsoft.com/office/drawing/2014/main" id="{C499DE7E-DCF0-41D5-945D-541C129FA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3398465">
                <a:off x="5496646" y="2543034"/>
                <a:ext cx="177965" cy="40583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5" name="Line 67">
                <a:extLst>
                  <a:ext uri="{FF2B5EF4-FFF2-40B4-BE49-F238E27FC236}">
                    <a16:creationId xmlns:a16="http://schemas.microsoft.com/office/drawing/2014/main" id="{1A5960FD-92F6-4F52-9656-91223AD017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3398465">
                <a:off x="4835718" y="3508202"/>
                <a:ext cx="164855" cy="46257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6" name="Rectangle 66">
                <a:extLst>
                  <a:ext uri="{FF2B5EF4-FFF2-40B4-BE49-F238E27FC236}">
                    <a16:creationId xmlns:a16="http://schemas.microsoft.com/office/drawing/2014/main" id="{E2043440-DC0E-48A1-90A6-246865559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8988946" flipH="1">
                <a:off x="6322020" y="3212771"/>
                <a:ext cx="216398" cy="750219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7" name="Line 65">
                <a:extLst>
                  <a:ext uri="{FF2B5EF4-FFF2-40B4-BE49-F238E27FC236}">
                    <a16:creationId xmlns:a16="http://schemas.microsoft.com/office/drawing/2014/main" id="{BA9421B1-D556-4237-9529-F43C79822E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996425" flipH="1">
                <a:off x="6648012" y="3881732"/>
                <a:ext cx="204980" cy="21844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9" name="Text Box 50">
                <a:extLst>
                  <a:ext uri="{FF2B5EF4-FFF2-40B4-BE49-F238E27FC236}">
                    <a16:creationId xmlns:a16="http://schemas.microsoft.com/office/drawing/2014/main" id="{4FFEBB6E-7C6C-4B30-8BF5-7D6B02A211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79545" y="155662"/>
                <a:ext cx="685227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E/Z</a:t>
                </a:r>
                <a:r>
                  <a:rPr kumimoji="0" lang="en-US" altLang="en-US" sz="2800" b="0" i="0" u="none" strike="noStrike" cap="none" normalizeH="0" baseline="-25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3</a:t>
                </a:r>
                <a:endParaRPr kumimoji="0" lang="en-US" altLang="en-US" sz="18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0" name="Line 49">
                <a:extLst>
                  <a:ext uri="{FF2B5EF4-FFF2-40B4-BE49-F238E27FC236}">
                    <a16:creationId xmlns:a16="http://schemas.microsoft.com/office/drawing/2014/main" id="{91BF9CEA-D3EF-41E7-8DFD-482B6835E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6411653" y="510807"/>
                <a:ext cx="408951" cy="587941"/>
              </a:xfrm>
              <a:prstGeom prst="line">
                <a:avLst/>
              </a:prstGeom>
              <a:noFill/>
              <a:ln w="57150">
                <a:solidFill>
                  <a:srgbClr val="00206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3" name="Line 44">
                <a:extLst>
                  <a:ext uri="{FF2B5EF4-FFF2-40B4-BE49-F238E27FC236}">
                    <a16:creationId xmlns:a16="http://schemas.microsoft.com/office/drawing/2014/main" id="{562ADDA4-14B7-419C-AB5B-AA3A10610A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996425" flipH="1">
                <a:off x="5674523" y="2615477"/>
                <a:ext cx="569051" cy="63693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4" name="Text Box 43">
                <a:extLst>
                  <a:ext uri="{FF2B5EF4-FFF2-40B4-BE49-F238E27FC236}">
                    <a16:creationId xmlns:a16="http://schemas.microsoft.com/office/drawing/2014/main" id="{8FD9EADA-58AC-4560-92CD-DCDA7C1D0E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0934" y="1534194"/>
                <a:ext cx="662249" cy="448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E/Z</a:t>
                </a:r>
                <a:r>
                  <a:rPr kumimoji="0" lang="en-US" altLang="en-US" sz="2800" b="0" i="0" u="none" strike="noStrike" cap="none" normalizeH="0" baseline="-25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1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5" name="Line 42">
                <a:extLst>
                  <a:ext uri="{FF2B5EF4-FFF2-40B4-BE49-F238E27FC236}">
                    <a16:creationId xmlns:a16="http://schemas.microsoft.com/office/drawing/2014/main" id="{41F80DCF-8105-4FC8-8D12-48A771753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3710303" y="1823764"/>
                <a:ext cx="361263" cy="714032"/>
              </a:xfrm>
              <a:prstGeom prst="line">
                <a:avLst/>
              </a:prstGeom>
              <a:noFill/>
              <a:ln w="57150">
                <a:solidFill>
                  <a:srgbClr val="00206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6" name="Text Box 41">
                <a:extLst>
                  <a:ext uri="{FF2B5EF4-FFF2-40B4-BE49-F238E27FC236}">
                    <a16:creationId xmlns:a16="http://schemas.microsoft.com/office/drawing/2014/main" id="{BCBBA7C0-6D11-4CA9-A982-3A64D5FDEF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7389421" y="1803335"/>
                <a:ext cx="640080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E/Z</a:t>
                </a:r>
                <a:r>
                  <a:rPr kumimoji="0" lang="en-US" altLang="en-US" sz="2800" b="0" i="0" u="none" strike="noStrike" cap="none" normalizeH="0" baseline="-25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2</a:t>
                </a:r>
                <a:endParaRPr kumimoji="0" lang="en-US" altLang="en-US" sz="18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7" name="Line 40">
                <a:extLst>
                  <a:ext uri="{FF2B5EF4-FFF2-40B4-BE49-F238E27FC236}">
                    <a16:creationId xmlns:a16="http://schemas.microsoft.com/office/drawing/2014/main" id="{EC75DF1D-38DF-44E3-97BD-861A9C84A4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7251478" y="2281623"/>
                <a:ext cx="444845" cy="606929"/>
              </a:xfrm>
              <a:prstGeom prst="line">
                <a:avLst/>
              </a:prstGeom>
              <a:noFill/>
              <a:ln w="57150">
                <a:solidFill>
                  <a:srgbClr val="00206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8" name="Text Box 16">
                <a:extLst>
                  <a:ext uri="{FF2B5EF4-FFF2-40B4-BE49-F238E27FC236}">
                    <a16:creationId xmlns:a16="http://schemas.microsoft.com/office/drawing/2014/main" id="{88EC21EE-3828-431A-A2AF-53F81CD0C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5874" y="2611441"/>
                <a:ext cx="434272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sz="2800" b="0" i="0" u="none" strike="noStrike" cap="none" normalizeH="0" baseline="-30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1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9" name="Text Box 15">
                <a:extLst>
                  <a:ext uri="{FF2B5EF4-FFF2-40B4-BE49-F238E27FC236}">
                    <a16:creationId xmlns:a16="http://schemas.microsoft.com/office/drawing/2014/main" id="{E8F034A0-8A96-45DE-8BD4-A3BF8CB35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24469" y="1103388"/>
                <a:ext cx="434272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sz="2800" b="0" i="0" u="none" strike="noStrike" cap="none" normalizeH="0" baseline="-30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3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0" name="Text Box 14">
                <a:extLst>
                  <a:ext uri="{FF2B5EF4-FFF2-40B4-BE49-F238E27FC236}">
                    <a16:creationId xmlns:a16="http://schemas.microsoft.com/office/drawing/2014/main" id="{BF5EA0A6-DAE1-4476-83CF-F3E6E892AA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15866" y="2867424"/>
                <a:ext cx="434272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sz="2800" b="0" i="0" u="none" strike="noStrike" cap="none" normalizeH="0" baseline="-30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2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1" name="Text Box 13">
                <a:extLst>
                  <a:ext uri="{FF2B5EF4-FFF2-40B4-BE49-F238E27FC236}">
                    <a16:creationId xmlns:a16="http://schemas.microsoft.com/office/drawing/2014/main" id="{40064D5E-372C-4ADC-A4EC-A1927A8C68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7866" y="3502053"/>
                <a:ext cx="434272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sz="2800" b="0" i="0" u="none" strike="noStrike" cap="none" normalizeH="0" baseline="-30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5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2" name="Text Box 12">
                <a:extLst>
                  <a:ext uri="{FF2B5EF4-FFF2-40B4-BE49-F238E27FC236}">
                    <a16:creationId xmlns:a16="http://schemas.microsoft.com/office/drawing/2014/main" id="{3E91BB6A-1EE4-447A-9C94-5AF24DDCB0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4881" y="3274615"/>
                <a:ext cx="434272" cy="445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Z</a:t>
                </a:r>
                <a:r>
                  <a:rPr kumimoji="0" lang="en-US" altLang="en-US" sz="2800" b="0" i="0" u="none" strike="noStrike" cap="none" normalizeH="0" baseline="-30000" dirty="0">
                    <a:ln>
                      <a:noFill/>
                    </a:ln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4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6" name="Line 40">
              <a:extLst>
                <a:ext uri="{FF2B5EF4-FFF2-40B4-BE49-F238E27FC236}">
                  <a16:creationId xmlns:a16="http://schemas.microsoft.com/office/drawing/2014/main" id="{F0A8DF46-B834-4FCC-8019-0E5E0110B4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5797763" y="4884014"/>
              <a:ext cx="159854" cy="1423058"/>
            </a:xfrm>
            <a:prstGeom prst="line">
              <a:avLst/>
            </a:prstGeom>
            <a:noFill/>
            <a:ln w="57150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7" name="Text Box 43">
              <a:extLst>
                <a:ext uri="{FF2B5EF4-FFF2-40B4-BE49-F238E27FC236}">
                  <a16:creationId xmlns:a16="http://schemas.microsoft.com/office/drawing/2014/main" id="{B5C33C84-D54C-4DD7-B251-6D6126755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814" y="6292807"/>
              <a:ext cx="2944879" cy="414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E/Z</a:t>
              </a:r>
              <a:r>
                <a:rPr kumimoji="0" lang="en-US" altLang="en-US" sz="2800" b="0" i="0" u="none" strike="noStrike" cap="none" normalizeH="0" baseline="-25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1</a:t>
              </a:r>
              <a:r>
                <a:rPr kumimoji="0" lang="en-US" altLang="en-US" sz="2800" b="0" i="0" u="none" strike="noStrike" cap="none" normalizeH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+</a:t>
              </a:r>
              <a:r>
                <a:rPr lang="en-US" altLang="en-US" sz="2800" dirty="0">
                  <a:solidFill>
                    <a:srgbClr val="002060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 E/Z</a:t>
              </a:r>
              <a:r>
                <a:rPr lang="en-US" altLang="en-US" sz="2800" baseline="-25000" dirty="0">
                  <a:solidFill>
                    <a:srgbClr val="002060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2</a:t>
              </a:r>
              <a:r>
                <a:rPr lang="en-US" altLang="en-US" sz="2800" dirty="0">
                  <a:solidFill>
                    <a:srgbClr val="002060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+ E/Z</a:t>
              </a:r>
              <a:r>
                <a:rPr lang="en-US" altLang="en-US" sz="2800" baseline="-25000" dirty="0">
                  <a:solidFill>
                    <a:srgbClr val="002060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3</a:t>
              </a:r>
              <a:endPara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A1229B90-FDBB-437F-BFA9-20CC605CFDF7}"/>
              </a:ext>
            </a:extLst>
          </p:cNvPr>
          <p:cNvSpPr txBox="1"/>
          <p:nvPr/>
        </p:nvSpPr>
        <p:spPr>
          <a:xfrm>
            <a:off x="1293716" y="3300061"/>
            <a:ext cx="26632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Voltage Source</a:t>
            </a:r>
            <a:endParaRPr lang="en-GB" sz="32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2789A7CE-57ED-49E0-9695-886CD9C2A815}"/>
              </a:ext>
            </a:extLst>
          </p:cNvPr>
          <p:cNvSpPr txBox="1"/>
          <p:nvPr/>
        </p:nvSpPr>
        <p:spPr>
          <a:xfrm>
            <a:off x="8039558" y="3212391"/>
            <a:ext cx="2682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Current Source</a:t>
            </a:r>
            <a:endParaRPr lang="en-GB" sz="32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D6FEE4A-1E45-491C-AA66-7A17D09B6C06}"/>
              </a:ext>
            </a:extLst>
          </p:cNvPr>
          <p:cNvSpPr txBox="1"/>
          <p:nvPr/>
        </p:nvSpPr>
        <p:spPr>
          <a:xfrm>
            <a:off x="6759748" y="5521079"/>
            <a:ext cx="28961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Injected Current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53800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9">
            <a:extLst>
              <a:ext uri="{FF2B5EF4-FFF2-40B4-BE49-F238E27FC236}">
                <a16:creationId xmlns:a16="http://schemas.microsoft.com/office/drawing/2014/main" id="{28C67511-14C6-4F22-A971-4FA236A2F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15" y="758644"/>
            <a:ext cx="1191768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1435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(b) Ideal Current sources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1435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	No admittance appears directly in parallel with current source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1">
            <a:extLst>
              <a:ext uri="{FF2B5EF4-FFF2-40B4-BE49-F238E27FC236}">
                <a16:creationId xmlns:a16="http://schemas.microsoft.com/office/drawing/2014/main" id="{DB575CF2-DB48-417E-82D1-41AAD9B8F902}"/>
              </a:ext>
            </a:extLst>
          </p:cNvPr>
          <p:cNvGrpSpPr>
            <a:grpSpLocks/>
          </p:cNvGrpSpPr>
          <p:nvPr/>
        </p:nvGrpSpPr>
        <p:grpSpPr bwMode="auto">
          <a:xfrm>
            <a:off x="731520" y="1835862"/>
            <a:ext cx="10835640" cy="3594817"/>
            <a:chOff x="333" y="5319"/>
            <a:chExt cx="16106" cy="4433"/>
          </a:xfrm>
        </p:grpSpPr>
        <p:sp>
          <p:nvSpPr>
            <p:cNvPr id="5" name="Text Box 68">
              <a:extLst>
                <a:ext uri="{FF2B5EF4-FFF2-40B4-BE49-F238E27FC236}">
                  <a16:creationId xmlns:a16="http://schemas.microsoft.com/office/drawing/2014/main" id="{CDCEEFD4-58D1-4C28-87FE-1B84D19BE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6" y="7339"/>
              <a:ext cx="669" cy="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sym typeface="Symbol" panose="05050102010706020507" pitchFamily="18" charset="2"/>
                </a:rPr>
                <a:t></a:t>
              </a:r>
            </a:p>
          </p:txBody>
        </p:sp>
        <p:sp>
          <p:nvSpPr>
            <p:cNvPr id="6" name="Rectangle 67">
              <a:extLst>
                <a:ext uri="{FF2B5EF4-FFF2-40B4-BE49-F238E27FC236}">
                  <a16:creationId xmlns:a16="http://schemas.microsoft.com/office/drawing/2014/main" id="{FE70B65A-BB56-4503-92D3-155C717C94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184548">
              <a:off x="6075" y="6703"/>
              <a:ext cx="399" cy="940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" name="Line 66">
              <a:extLst>
                <a:ext uri="{FF2B5EF4-FFF2-40B4-BE49-F238E27FC236}">
                  <a16:creationId xmlns:a16="http://schemas.microsoft.com/office/drawing/2014/main" id="{C850EF31-23E8-4A06-96C7-A758843BF0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8184548">
              <a:off x="6882" y="7430"/>
              <a:ext cx="0" cy="56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Line 65">
              <a:extLst>
                <a:ext uri="{FF2B5EF4-FFF2-40B4-BE49-F238E27FC236}">
                  <a16:creationId xmlns:a16="http://schemas.microsoft.com/office/drawing/2014/main" id="{FEA5F889-E966-4EBF-B841-F778A09952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8184548">
              <a:off x="5652" y="6243"/>
              <a:ext cx="0" cy="677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9" name="Group 61">
              <a:extLst>
                <a:ext uri="{FF2B5EF4-FFF2-40B4-BE49-F238E27FC236}">
                  <a16:creationId xmlns:a16="http://schemas.microsoft.com/office/drawing/2014/main" id="{369139C4-D66B-4BBA-8899-CA29E541D5E9}"/>
                </a:ext>
              </a:extLst>
            </p:cNvPr>
            <p:cNvGrpSpPr>
              <a:grpSpLocks/>
            </p:cNvGrpSpPr>
            <p:nvPr/>
          </p:nvGrpSpPr>
          <p:grpSpPr bwMode="auto">
            <a:xfrm rot="23668872">
              <a:off x="4376" y="6078"/>
              <a:ext cx="399" cy="2348"/>
              <a:chOff x="9774" y="1466"/>
              <a:chExt cx="360" cy="1800"/>
            </a:xfrm>
          </p:grpSpPr>
          <p:sp>
            <p:nvSpPr>
              <p:cNvPr id="69" name="Rectangle 64">
                <a:extLst>
                  <a:ext uri="{FF2B5EF4-FFF2-40B4-BE49-F238E27FC236}">
                    <a16:creationId xmlns:a16="http://schemas.microsoft.com/office/drawing/2014/main" id="{423E648E-32A6-4757-836E-F8C5404CF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4" y="2006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" name="Line 63">
                <a:extLst>
                  <a:ext uri="{FF2B5EF4-FFF2-40B4-BE49-F238E27FC236}">
                    <a16:creationId xmlns:a16="http://schemas.microsoft.com/office/drawing/2014/main" id="{6D38F41A-2615-4593-8267-BCDD569C1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54" y="1466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" name="Line 62">
                <a:extLst>
                  <a:ext uri="{FF2B5EF4-FFF2-40B4-BE49-F238E27FC236}">
                    <a16:creationId xmlns:a16="http://schemas.microsoft.com/office/drawing/2014/main" id="{D868958A-BA89-41C9-BFB0-394FA2F54A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54" y="2726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10" name="Group 57">
              <a:extLst>
                <a:ext uri="{FF2B5EF4-FFF2-40B4-BE49-F238E27FC236}">
                  <a16:creationId xmlns:a16="http://schemas.microsoft.com/office/drawing/2014/main" id="{70EA19DE-D56E-4855-BFE8-3A6D53113E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9" y="8028"/>
              <a:ext cx="2835" cy="395"/>
              <a:chOff x="1743" y="12572"/>
              <a:chExt cx="1189" cy="215"/>
            </a:xfrm>
          </p:grpSpPr>
          <p:sp>
            <p:nvSpPr>
              <p:cNvPr id="66" name="Rectangle 60">
                <a:extLst>
                  <a:ext uri="{FF2B5EF4-FFF2-40B4-BE49-F238E27FC236}">
                    <a16:creationId xmlns:a16="http://schemas.microsoft.com/office/drawing/2014/main" id="{290D6058-0215-4A25-8037-32E46790C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269" y="12427"/>
                <a:ext cx="215" cy="506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" name="Line 59">
                <a:extLst>
                  <a:ext uri="{FF2B5EF4-FFF2-40B4-BE49-F238E27FC236}">
                    <a16:creationId xmlns:a16="http://schemas.microsoft.com/office/drawing/2014/main" id="{48A8E6E3-1407-4275-9634-1490DEA2A7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790" y="12535"/>
                <a:ext cx="0" cy="285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" name="Line 58">
                <a:extLst>
                  <a:ext uri="{FF2B5EF4-FFF2-40B4-BE49-F238E27FC236}">
                    <a16:creationId xmlns:a16="http://schemas.microsoft.com/office/drawing/2014/main" id="{20ACD02D-8ABE-421D-A3FF-5492DBFEBF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933" y="12489"/>
                <a:ext cx="0" cy="379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1" name="Line 56">
              <a:extLst>
                <a:ext uri="{FF2B5EF4-FFF2-40B4-BE49-F238E27FC236}">
                  <a16:creationId xmlns:a16="http://schemas.microsoft.com/office/drawing/2014/main" id="{05869F33-9722-4F27-90E7-A4C45935EB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6203575">
              <a:off x="252" y="8348"/>
              <a:ext cx="892" cy="73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55">
              <a:extLst>
                <a:ext uri="{FF2B5EF4-FFF2-40B4-BE49-F238E27FC236}">
                  <a16:creationId xmlns:a16="http://schemas.microsoft.com/office/drawing/2014/main" id="{81A73B4A-2BC1-4A63-9CCE-FA229DE18E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87448">
              <a:off x="3674" y="8260"/>
              <a:ext cx="767" cy="95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Oval 54">
              <a:extLst>
                <a:ext uri="{FF2B5EF4-FFF2-40B4-BE49-F238E27FC236}">
                  <a16:creationId xmlns:a16="http://schemas.microsoft.com/office/drawing/2014/main" id="{24D717A3-9D38-47B4-932E-1AEA7711A18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-5400000">
              <a:off x="3097" y="5846"/>
              <a:ext cx="878" cy="879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Line 53">
              <a:extLst>
                <a:ext uri="{FF2B5EF4-FFF2-40B4-BE49-F238E27FC236}">
                  <a16:creationId xmlns:a16="http://schemas.microsoft.com/office/drawing/2014/main" id="{088D04F1-7EB2-4FCD-B313-E04A397A00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996425" flipH="1">
              <a:off x="1745" y="5545"/>
              <a:ext cx="624" cy="79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Text Box 52">
              <a:extLst>
                <a:ext uri="{FF2B5EF4-FFF2-40B4-BE49-F238E27FC236}">
                  <a16:creationId xmlns:a16="http://schemas.microsoft.com/office/drawing/2014/main" id="{BED8D0D9-550F-462F-ACCF-D95DCAD47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961" y="5319"/>
              <a:ext cx="602" cy="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ea typeface="Times New Roman" panose="02020603050405020304" pitchFamily="18" charset="0"/>
                </a:rPr>
                <a:t>I</a:t>
              </a:r>
              <a:r>
                <a:rPr kumimoji="0" lang="en-US" altLang="en-US" sz="28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Line 51">
              <a:extLst>
                <a:ext uri="{FF2B5EF4-FFF2-40B4-BE49-F238E27FC236}">
                  <a16:creationId xmlns:a16="http://schemas.microsoft.com/office/drawing/2014/main" id="{085448E7-20ED-4B75-ADDD-BFEBDFA6CE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201" y="6280"/>
              <a:ext cx="72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Line 50">
              <a:extLst>
                <a:ext uri="{FF2B5EF4-FFF2-40B4-BE49-F238E27FC236}">
                  <a16:creationId xmlns:a16="http://schemas.microsoft.com/office/drawing/2014/main" id="{C570ACA9-10C4-4AE3-8BB6-D44730D22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8" y="6298"/>
              <a:ext cx="134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Line 49">
              <a:extLst>
                <a:ext uri="{FF2B5EF4-FFF2-40B4-BE49-F238E27FC236}">
                  <a16:creationId xmlns:a16="http://schemas.microsoft.com/office/drawing/2014/main" id="{B3946B0E-423D-4728-B52E-D587B34C7A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0" y="6298"/>
              <a:ext cx="76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19" name="Group 45">
              <a:extLst>
                <a:ext uri="{FF2B5EF4-FFF2-40B4-BE49-F238E27FC236}">
                  <a16:creationId xmlns:a16="http://schemas.microsoft.com/office/drawing/2014/main" id="{B059A675-AB3F-4F06-B1FD-D9B66ACD9F43}"/>
                </a:ext>
              </a:extLst>
            </p:cNvPr>
            <p:cNvGrpSpPr>
              <a:grpSpLocks/>
            </p:cNvGrpSpPr>
            <p:nvPr/>
          </p:nvGrpSpPr>
          <p:grpSpPr bwMode="auto">
            <a:xfrm rot="418524">
              <a:off x="3826" y="7856"/>
              <a:ext cx="3237" cy="447"/>
              <a:chOff x="3157" y="12340"/>
              <a:chExt cx="1346" cy="241"/>
            </a:xfrm>
          </p:grpSpPr>
          <p:sp>
            <p:nvSpPr>
              <p:cNvPr id="63" name="Rectangle 48">
                <a:extLst>
                  <a:ext uri="{FF2B5EF4-FFF2-40B4-BE49-F238E27FC236}">
                    <a16:creationId xmlns:a16="http://schemas.microsoft.com/office/drawing/2014/main" id="{FD5FCA67-6B29-4FB7-B7AE-08C48EF149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6203575">
                <a:off x="3751" y="12217"/>
                <a:ext cx="215" cy="506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" name="Line 47">
                <a:extLst>
                  <a:ext uri="{FF2B5EF4-FFF2-40B4-BE49-F238E27FC236}">
                    <a16:creationId xmlns:a16="http://schemas.microsoft.com/office/drawing/2014/main" id="{D2F65B7C-F1C1-4081-ABA0-BA4E0C1078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4603575" flipH="1">
                <a:off x="3375" y="12341"/>
                <a:ext cx="22" cy="45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" name="Line 46">
                <a:extLst>
                  <a:ext uri="{FF2B5EF4-FFF2-40B4-BE49-F238E27FC236}">
                    <a16:creationId xmlns:a16="http://schemas.microsoft.com/office/drawing/2014/main" id="{173CCD3D-01A7-435E-B9CF-992074058A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4603575">
                <a:off x="4290" y="12145"/>
                <a:ext cx="18" cy="40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0" name="Group 41">
              <a:extLst>
                <a:ext uri="{FF2B5EF4-FFF2-40B4-BE49-F238E27FC236}">
                  <a16:creationId xmlns:a16="http://schemas.microsoft.com/office/drawing/2014/main" id="{E03C5093-8152-44EA-BF89-9E55C2816180}"/>
                </a:ext>
              </a:extLst>
            </p:cNvPr>
            <p:cNvGrpSpPr>
              <a:grpSpLocks/>
            </p:cNvGrpSpPr>
            <p:nvPr/>
          </p:nvGrpSpPr>
          <p:grpSpPr bwMode="auto">
            <a:xfrm rot="12908032">
              <a:off x="1402" y="6082"/>
              <a:ext cx="399" cy="2281"/>
              <a:chOff x="9913" y="1448"/>
              <a:chExt cx="360" cy="1749"/>
            </a:xfrm>
          </p:grpSpPr>
          <p:sp>
            <p:nvSpPr>
              <p:cNvPr id="60" name="Rectangle 44">
                <a:extLst>
                  <a:ext uri="{FF2B5EF4-FFF2-40B4-BE49-F238E27FC236}">
                    <a16:creationId xmlns:a16="http://schemas.microsoft.com/office/drawing/2014/main" id="{A9E65D89-CD91-4769-84DD-1DA8E6832C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3" y="1953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" name="Line 43">
                <a:extLst>
                  <a:ext uri="{FF2B5EF4-FFF2-40B4-BE49-F238E27FC236}">
                    <a16:creationId xmlns:a16="http://schemas.microsoft.com/office/drawing/2014/main" id="{86853597-7E9D-4222-A659-6367B9AC99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45" y="1448"/>
                <a:ext cx="113" cy="51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" name="Line 42">
                <a:extLst>
                  <a:ext uri="{FF2B5EF4-FFF2-40B4-BE49-F238E27FC236}">
                    <a16:creationId xmlns:a16="http://schemas.microsoft.com/office/drawing/2014/main" id="{CBBAB1D7-80A7-41A3-ABB1-8412C2BE72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97" y="2657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1" name="Line 40">
              <a:extLst>
                <a:ext uri="{FF2B5EF4-FFF2-40B4-BE49-F238E27FC236}">
                  <a16:creationId xmlns:a16="http://schemas.microsoft.com/office/drawing/2014/main" id="{348CDB9C-6245-4605-9770-43704762D2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0" y="7906"/>
              <a:ext cx="414" cy="71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Rectangle 39">
              <a:extLst>
                <a:ext uri="{FF2B5EF4-FFF2-40B4-BE49-F238E27FC236}">
                  <a16:creationId xmlns:a16="http://schemas.microsoft.com/office/drawing/2014/main" id="{7D3D2F4C-0E99-4956-8082-3A885FAB96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184548">
              <a:off x="15093" y="6554"/>
              <a:ext cx="399" cy="940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Line 38">
              <a:extLst>
                <a:ext uri="{FF2B5EF4-FFF2-40B4-BE49-F238E27FC236}">
                  <a16:creationId xmlns:a16="http://schemas.microsoft.com/office/drawing/2014/main" id="{CDA94465-B996-4BEB-9A5D-360561F121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8184548" flipH="1">
              <a:off x="15788" y="7300"/>
              <a:ext cx="159" cy="609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Line 37">
              <a:extLst>
                <a:ext uri="{FF2B5EF4-FFF2-40B4-BE49-F238E27FC236}">
                  <a16:creationId xmlns:a16="http://schemas.microsoft.com/office/drawing/2014/main" id="{CC4E31C2-CD8E-4990-8182-404188A2B4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8184548">
              <a:off x="14699" y="6192"/>
              <a:ext cx="0" cy="56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25" name="Group 33">
              <a:extLst>
                <a:ext uri="{FF2B5EF4-FFF2-40B4-BE49-F238E27FC236}">
                  <a16:creationId xmlns:a16="http://schemas.microsoft.com/office/drawing/2014/main" id="{E9F4387B-405A-4D87-A507-0948BBE0D866}"/>
                </a:ext>
              </a:extLst>
            </p:cNvPr>
            <p:cNvGrpSpPr>
              <a:grpSpLocks/>
            </p:cNvGrpSpPr>
            <p:nvPr/>
          </p:nvGrpSpPr>
          <p:grpSpPr bwMode="auto">
            <a:xfrm rot="23668872">
              <a:off x="13556" y="6081"/>
              <a:ext cx="399" cy="2188"/>
              <a:chOff x="9943" y="1490"/>
              <a:chExt cx="360" cy="1680"/>
            </a:xfrm>
          </p:grpSpPr>
          <p:sp>
            <p:nvSpPr>
              <p:cNvPr id="57" name="Rectangle 36">
                <a:extLst>
                  <a:ext uri="{FF2B5EF4-FFF2-40B4-BE49-F238E27FC236}">
                    <a16:creationId xmlns:a16="http://schemas.microsoft.com/office/drawing/2014/main" id="{A5522C1D-BB53-47A5-B338-41036EF42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3" y="192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" name="Line 35">
                <a:extLst>
                  <a:ext uri="{FF2B5EF4-FFF2-40B4-BE49-F238E27FC236}">
                    <a16:creationId xmlns:a16="http://schemas.microsoft.com/office/drawing/2014/main" id="{CCEEA5E0-0E25-4004-9988-314D3EE296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30" y="1490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" name="Line 34">
                <a:extLst>
                  <a:ext uri="{FF2B5EF4-FFF2-40B4-BE49-F238E27FC236}">
                    <a16:creationId xmlns:a16="http://schemas.microsoft.com/office/drawing/2014/main" id="{735B6EA8-0094-4A29-AB52-3D1E79ED0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62" y="2630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dirty="0"/>
              </a:p>
            </p:txBody>
          </p:sp>
        </p:grpSp>
        <p:grpSp>
          <p:nvGrpSpPr>
            <p:cNvPr id="26" name="Group 29">
              <a:extLst>
                <a:ext uri="{FF2B5EF4-FFF2-40B4-BE49-F238E27FC236}">
                  <a16:creationId xmlns:a16="http://schemas.microsoft.com/office/drawing/2014/main" id="{72C38B2A-45F6-47A1-A82E-D2A0468786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57" y="7879"/>
              <a:ext cx="3177" cy="396"/>
              <a:chOff x="1743" y="12572"/>
              <a:chExt cx="1333" cy="215"/>
            </a:xfrm>
          </p:grpSpPr>
          <p:sp>
            <p:nvSpPr>
              <p:cNvPr id="54" name="Rectangle 32">
                <a:extLst>
                  <a:ext uri="{FF2B5EF4-FFF2-40B4-BE49-F238E27FC236}">
                    <a16:creationId xmlns:a16="http://schemas.microsoft.com/office/drawing/2014/main" id="{70025571-4853-4F4C-851A-D50B3D40E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269" y="12427"/>
                <a:ext cx="215" cy="506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" name="Line 31">
                <a:extLst>
                  <a:ext uri="{FF2B5EF4-FFF2-40B4-BE49-F238E27FC236}">
                    <a16:creationId xmlns:a16="http://schemas.microsoft.com/office/drawing/2014/main" id="{D547F0CE-FD99-48FD-8F02-731DB3EE5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852" y="12455"/>
                <a:ext cx="0" cy="448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" name="Line 30">
                <a:extLst>
                  <a:ext uri="{FF2B5EF4-FFF2-40B4-BE49-F238E27FC236}">
                    <a16:creationId xmlns:a16="http://schemas.microsoft.com/office/drawing/2014/main" id="{3ACDF615-316E-46CB-9F2E-B17943D35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933" y="12489"/>
                <a:ext cx="0" cy="379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91EA4152-2475-404A-8409-CA98824219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6203575">
              <a:off x="9252" y="8200"/>
              <a:ext cx="892" cy="73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CB2B9557-1F82-417C-BE5B-F2D8B8CD5F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20912552">
              <a:off x="12983" y="8083"/>
              <a:ext cx="301" cy="95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5E6DC692-C2F7-4255-9032-3B511C7B05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996425" flipH="1">
              <a:off x="10863" y="5470"/>
              <a:ext cx="589" cy="67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Text Box 25">
              <a:extLst>
                <a:ext uri="{FF2B5EF4-FFF2-40B4-BE49-F238E27FC236}">
                  <a16:creationId xmlns:a16="http://schemas.microsoft.com/office/drawing/2014/main" id="{171B465A-7FB9-48E5-83EF-7379E1E071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1904" y="9083"/>
              <a:ext cx="602" cy="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r>
                <a:rPr kumimoji="0" lang="en-US" altLang="en-US" sz="26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787BBEB0-8539-47A8-B831-9C33960E51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0800000" flipH="1">
              <a:off x="11241" y="9011"/>
              <a:ext cx="544" cy="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32" name="Group 20">
              <a:extLst>
                <a:ext uri="{FF2B5EF4-FFF2-40B4-BE49-F238E27FC236}">
                  <a16:creationId xmlns:a16="http://schemas.microsoft.com/office/drawing/2014/main" id="{D1FD8DDB-CD1D-4E47-A93B-18C655FE7D7B}"/>
                </a:ext>
              </a:extLst>
            </p:cNvPr>
            <p:cNvGrpSpPr>
              <a:grpSpLocks/>
            </p:cNvGrpSpPr>
            <p:nvPr/>
          </p:nvGrpSpPr>
          <p:grpSpPr bwMode="auto">
            <a:xfrm rot="418524">
              <a:off x="13015" y="7769"/>
              <a:ext cx="2980" cy="400"/>
              <a:chOff x="3237" y="12362"/>
              <a:chExt cx="1239" cy="215"/>
            </a:xfrm>
          </p:grpSpPr>
          <p:sp>
            <p:nvSpPr>
              <p:cNvPr id="51" name="Rectangle 23">
                <a:extLst>
                  <a:ext uri="{FF2B5EF4-FFF2-40B4-BE49-F238E27FC236}">
                    <a16:creationId xmlns:a16="http://schemas.microsoft.com/office/drawing/2014/main" id="{76E5241B-7057-4FB8-B5C9-7C4A5ECE5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6203575">
                <a:off x="3751" y="12217"/>
                <a:ext cx="215" cy="506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" name="Line 22">
                <a:extLst>
                  <a:ext uri="{FF2B5EF4-FFF2-40B4-BE49-F238E27FC236}">
                    <a16:creationId xmlns:a16="http://schemas.microsoft.com/office/drawing/2014/main" id="{7C7D4F21-1895-4C5B-BD5A-16C1EE5B0A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6203575">
                <a:off x="3427" y="12381"/>
                <a:ext cx="0" cy="379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" name="Line 21">
                <a:extLst>
                  <a:ext uri="{FF2B5EF4-FFF2-40B4-BE49-F238E27FC236}">
                    <a16:creationId xmlns:a16="http://schemas.microsoft.com/office/drawing/2014/main" id="{3F4FAC9F-7A5B-4261-90AA-D8E6EAED5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6203575">
                <a:off x="4287" y="12172"/>
                <a:ext cx="0" cy="379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3" name="Group 16">
              <a:extLst>
                <a:ext uri="{FF2B5EF4-FFF2-40B4-BE49-F238E27FC236}">
                  <a16:creationId xmlns:a16="http://schemas.microsoft.com/office/drawing/2014/main" id="{8DFEEDC9-8A8D-48C3-9BC7-AB0948B3D74D}"/>
                </a:ext>
              </a:extLst>
            </p:cNvPr>
            <p:cNvGrpSpPr>
              <a:grpSpLocks/>
            </p:cNvGrpSpPr>
            <p:nvPr/>
          </p:nvGrpSpPr>
          <p:grpSpPr bwMode="auto">
            <a:xfrm rot="12908032">
              <a:off x="10448" y="5931"/>
              <a:ext cx="400" cy="2293"/>
              <a:chOff x="9878" y="1461"/>
              <a:chExt cx="360" cy="1757"/>
            </a:xfrm>
          </p:grpSpPr>
          <p:sp>
            <p:nvSpPr>
              <p:cNvPr id="48" name="Rectangle 19">
                <a:extLst>
                  <a:ext uri="{FF2B5EF4-FFF2-40B4-BE49-F238E27FC236}">
                    <a16:creationId xmlns:a16="http://schemas.microsoft.com/office/drawing/2014/main" id="{2B4AC44E-E0F8-4FFF-BB77-E3AEFB214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" name="Line 18">
                <a:extLst>
                  <a:ext uri="{FF2B5EF4-FFF2-40B4-BE49-F238E27FC236}">
                    <a16:creationId xmlns:a16="http://schemas.microsoft.com/office/drawing/2014/main" id="{CB7112A5-2741-4F44-A6D3-E57157A363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6" y="1461"/>
                <a:ext cx="62" cy="497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" name="Line 17">
                <a:extLst>
                  <a:ext uri="{FF2B5EF4-FFF2-40B4-BE49-F238E27FC236}">
                    <a16:creationId xmlns:a16="http://schemas.microsoft.com/office/drawing/2014/main" id="{98519F9C-9F75-4D70-9434-835B13813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34" name="Line 15">
              <a:extLst>
                <a:ext uri="{FF2B5EF4-FFF2-40B4-BE49-F238E27FC236}">
                  <a16:creationId xmlns:a16="http://schemas.microsoft.com/office/drawing/2014/main" id="{509F959B-CE0A-41D2-8C3A-43878B942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25" y="7823"/>
              <a:ext cx="414" cy="71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Oval 14">
              <a:extLst>
                <a:ext uri="{FF2B5EF4-FFF2-40B4-BE49-F238E27FC236}">
                  <a16:creationId xmlns:a16="http://schemas.microsoft.com/office/drawing/2014/main" id="{849512D8-B0D8-4FD4-B85E-EEA65369FF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>
              <a:off x="9528" y="6223"/>
              <a:ext cx="706" cy="834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75A8B498-1E93-44F4-B3DC-5B31A45C774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-5400000">
              <a:off x="12789" y="6340"/>
              <a:ext cx="704" cy="701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C84B31D0-EBF2-4277-870D-0BBB934DC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7" y="6109"/>
              <a:ext cx="1197" cy="227"/>
            </a:xfrm>
            <a:custGeom>
              <a:avLst/>
              <a:gdLst>
                <a:gd name="T0" fmla="*/ 0 w 644"/>
                <a:gd name="T1" fmla="*/ 122 h 122"/>
                <a:gd name="T2" fmla="*/ 199 w 644"/>
                <a:gd name="T3" fmla="*/ 16 h 122"/>
                <a:gd name="T4" fmla="*/ 644 w 644"/>
                <a:gd name="T5" fmla="*/ 2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4" h="122">
                  <a:moveTo>
                    <a:pt x="0" y="122"/>
                  </a:moveTo>
                  <a:cubicBezTo>
                    <a:pt x="33" y="102"/>
                    <a:pt x="92" y="32"/>
                    <a:pt x="199" y="16"/>
                  </a:cubicBezTo>
                  <a:cubicBezTo>
                    <a:pt x="306" y="0"/>
                    <a:pt x="473" y="8"/>
                    <a:pt x="644" y="27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562453C-8D5F-4E8F-9C3D-9AC117215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2" y="6941"/>
              <a:ext cx="515" cy="1107"/>
            </a:xfrm>
            <a:custGeom>
              <a:avLst/>
              <a:gdLst>
                <a:gd name="T0" fmla="*/ 77 w 309"/>
                <a:gd name="T1" fmla="*/ 0 h 564"/>
                <a:gd name="T2" fmla="*/ 39 w 309"/>
                <a:gd name="T3" fmla="*/ 339 h 564"/>
                <a:gd name="T4" fmla="*/ 309 w 309"/>
                <a:gd name="T5" fmla="*/ 564 h 564"/>
                <a:gd name="connsiteX0" fmla="*/ 3631 w 8962"/>
                <a:gd name="connsiteY0" fmla="*/ 0 h 10566"/>
                <a:gd name="connsiteX1" fmla="*/ 224 w 8962"/>
                <a:gd name="connsiteY1" fmla="*/ 6577 h 10566"/>
                <a:gd name="connsiteX2" fmla="*/ 8962 w 8962"/>
                <a:gd name="connsiteY2" fmla="*/ 10566 h 1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62" h="10566">
                  <a:moveTo>
                    <a:pt x="3631" y="0"/>
                  </a:moveTo>
                  <a:cubicBezTo>
                    <a:pt x="3437" y="993"/>
                    <a:pt x="-1038" y="4910"/>
                    <a:pt x="224" y="6577"/>
                  </a:cubicBezTo>
                  <a:cubicBezTo>
                    <a:pt x="1486" y="8243"/>
                    <a:pt x="7150" y="9733"/>
                    <a:pt x="8962" y="10566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2AF90388-2F62-4E69-8C9C-B81E93350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7" y="8076"/>
              <a:ext cx="1170" cy="929"/>
            </a:xfrm>
            <a:custGeom>
              <a:avLst/>
              <a:gdLst>
                <a:gd name="T0" fmla="*/ 0 w 630"/>
                <a:gd name="T1" fmla="*/ 0 h 500"/>
                <a:gd name="T2" fmla="*/ 109 w 630"/>
                <a:gd name="T3" fmla="*/ 364 h 500"/>
                <a:gd name="T4" fmla="*/ 630 w 630"/>
                <a:gd name="T5" fmla="*/ 50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0" h="500">
                  <a:moveTo>
                    <a:pt x="0" y="0"/>
                  </a:moveTo>
                  <a:cubicBezTo>
                    <a:pt x="2" y="140"/>
                    <a:pt x="4" y="281"/>
                    <a:pt x="109" y="364"/>
                  </a:cubicBezTo>
                  <a:cubicBezTo>
                    <a:pt x="214" y="447"/>
                    <a:pt x="422" y="473"/>
                    <a:pt x="630" y="50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9E94F009-2091-4A76-89FD-AE7079E64FD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1874" y="8052"/>
              <a:ext cx="1171" cy="929"/>
            </a:xfrm>
            <a:custGeom>
              <a:avLst/>
              <a:gdLst>
                <a:gd name="T0" fmla="*/ 0 w 630"/>
                <a:gd name="T1" fmla="*/ 0 h 500"/>
                <a:gd name="T2" fmla="*/ 109 w 630"/>
                <a:gd name="T3" fmla="*/ 364 h 500"/>
                <a:gd name="T4" fmla="*/ 630 w 630"/>
                <a:gd name="T5" fmla="*/ 50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0" h="500">
                  <a:moveTo>
                    <a:pt x="0" y="0"/>
                  </a:moveTo>
                  <a:cubicBezTo>
                    <a:pt x="2" y="140"/>
                    <a:pt x="4" y="281"/>
                    <a:pt x="109" y="364"/>
                  </a:cubicBezTo>
                  <a:cubicBezTo>
                    <a:pt x="214" y="447"/>
                    <a:pt x="422" y="473"/>
                    <a:pt x="630" y="50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050D9B45-7890-4FB3-8C03-D3C83E57F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9" y="6066"/>
              <a:ext cx="1098" cy="338"/>
            </a:xfrm>
            <a:custGeom>
              <a:avLst/>
              <a:gdLst>
                <a:gd name="T0" fmla="*/ 0 w 535"/>
                <a:gd name="T1" fmla="*/ 190 h 190"/>
                <a:gd name="T2" fmla="*/ 175 w 535"/>
                <a:gd name="T3" fmla="*/ 23 h 190"/>
                <a:gd name="T4" fmla="*/ 535 w 535"/>
                <a:gd name="T5" fmla="*/ 50 h 190"/>
                <a:gd name="connsiteX0" fmla="*/ 0 w 10000"/>
                <a:gd name="connsiteY0" fmla="*/ 8993 h 8993"/>
                <a:gd name="connsiteX1" fmla="*/ 3271 w 10000"/>
                <a:gd name="connsiteY1" fmla="*/ 204 h 8993"/>
                <a:gd name="connsiteX2" fmla="*/ 10000 w 10000"/>
                <a:gd name="connsiteY2" fmla="*/ 4987 h 8993"/>
                <a:gd name="connsiteX0" fmla="*/ 0 w 10697"/>
                <a:gd name="connsiteY0" fmla="*/ 9964 h 9964"/>
                <a:gd name="connsiteX1" fmla="*/ 3271 w 10697"/>
                <a:gd name="connsiteY1" fmla="*/ 191 h 9964"/>
                <a:gd name="connsiteX2" fmla="*/ 10697 w 10697"/>
                <a:gd name="connsiteY2" fmla="*/ 6674 h 9964"/>
                <a:gd name="connsiteX0" fmla="*/ 0 w 10000"/>
                <a:gd name="connsiteY0" fmla="*/ 8868 h 8868"/>
                <a:gd name="connsiteX1" fmla="*/ 4524 w 10000"/>
                <a:gd name="connsiteY1" fmla="*/ 228 h 8868"/>
                <a:gd name="connsiteX2" fmla="*/ 10000 w 10000"/>
                <a:gd name="connsiteY2" fmla="*/ 5566 h 8868"/>
                <a:gd name="connsiteX0" fmla="*/ 0 w 10000"/>
                <a:gd name="connsiteY0" fmla="*/ 10000 h 10000"/>
                <a:gd name="connsiteX1" fmla="*/ 2089 w 10000"/>
                <a:gd name="connsiteY1" fmla="*/ 4418 h 10000"/>
                <a:gd name="connsiteX2" fmla="*/ 4524 w 10000"/>
                <a:gd name="connsiteY2" fmla="*/ 257 h 10000"/>
                <a:gd name="connsiteX3" fmla="*/ 10000 w 10000"/>
                <a:gd name="connsiteY3" fmla="*/ 6276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348" y="9143"/>
                    <a:pt x="1335" y="6042"/>
                    <a:pt x="2089" y="4418"/>
                  </a:cubicBezTo>
                  <a:cubicBezTo>
                    <a:pt x="2843" y="2794"/>
                    <a:pt x="3206" y="21"/>
                    <a:pt x="4524" y="257"/>
                  </a:cubicBezTo>
                  <a:cubicBezTo>
                    <a:pt x="6079" y="-1267"/>
                    <a:pt x="7606" y="4422"/>
                    <a:pt x="10000" y="6276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40DC9353-99D0-4B8D-9148-2193462DB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0" y="7008"/>
              <a:ext cx="428" cy="1105"/>
            </a:xfrm>
            <a:custGeom>
              <a:avLst/>
              <a:gdLst>
                <a:gd name="T0" fmla="*/ 55 w 145"/>
                <a:gd name="T1" fmla="*/ 0 h 575"/>
                <a:gd name="T2" fmla="*/ 15 w 145"/>
                <a:gd name="T3" fmla="*/ 239 h 575"/>
                <a:gd name="T4" fmla="*/ 145 w 145"/>
                <a:gd name="T5" fmla="*/ 575 h 575"/>
                <a:gd name="connsiteX0" fmla="*/ 5168 w 9097"/>
                <a:gd name="connsiteY0" fmla="*/ 0 h 9868"/>
                <a:gd name="connsiteX1" fmla="*/ 131 w 9097"/>
                <a:gd name="connsiteY1" fmla="*/ 4025 h 9868"/>
                <a:gd name="connsiteX2" fmla="*/ 9097 w 9097"/>
                <a:gd name="connsiteY2" fmla="*/ 9868 h 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97" h="9868">
                  <a:moveTo>
                    <a:pt x="5168" y="0"/>
                  </a:moveTo>
                  <a:cubicBezTo>
                    <a:pt x="4547" y="696"/>
                    <a:pt x="-903" y="2355"/>
                    <a:pt x="131" y="4025"/>
                  </a:cubicBezTo>
                  <a:cubicBezTo>
                    <a:pt x="1166" y="5694"/>
                    <a:pt x="4959" y="7798"/>
                    <a:pt x="9097" y="986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Line 6">
              <a:extLst>
                <a:ext uri="{FF2B5EF4-FFF2-40B4-BE49-F238E27FC236}">
                  <a16:creationId xmlns:a16="http://schemas.microsoft.com/office/drawing/2014/main" id="{7D4E9CC5-7CC3-4736-9D90-8734433AAE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9779" y="6448"/>
              <a:ext cx="230" cy="37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Line 5">
              <a:extLst>
                <a:ext uri="{FF2B5EF4-FFF2-40B4-BE49-F238E27FC236}">
                  <a16:creationId xmlns:a16="http://schemas.microsoft.com/office/drawing/2014/main" id="{9D0D335F-56EF-42AB-90AE-72DFFD88CEC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999" y="6448"/>
              <a:ext cx="255" cy="43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Text Box 4">
              <a:extLst>
                <a:ext uri="{FF2B5EF4-FFF2-40B4-BE49-F238E27FC236}">
                  <a16:creationId xmlns:a16="http://schemas.microsoft.com/office/drawing/2014/main" id="{098940B6-DE8A-41F9-A6E0-8BA8F8470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9026" y="6753"/>
              <a:ext cx="602" cy="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r>
                <a:rPr kumimoji="0" lang="en-US" altLang="en-US" sz="26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Text Box 3">
              <a:extLst>
                <a:ext uri="{FF2B5EF4-FFF2-40B4-BE49-F238E27FC236}">
                  <a16:creationId xmlns:a16="http://schemas.microsoft.com/office/drawing/2014/main" id="{6591E82A-46CE-4FCA-9BEA-145E2370F7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3084" y="5727"/>
              <a:ext cx="602" cy="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600" b="0" i="0" u="none" strike="noStrike" cap="none" normalizeH="0" baseline="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</a:t>
              </a:r>
              <a:r>
                <a:rPr kumimoji="0" lang="en-US" altLang="en-US" sz="2600" b="0" i="0" u="none" strike="noStrike" cap="none" normalizeH="0" baseline="-30000">
                  <a:ln>
                    <a:noFill/>
                  </a:ln>
                  <a:solidFill>
                    <a:srgbClr val="00206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Oval 2">
              <a:extLst>
                <a:ext uri="{FF2B5EF4-FFF2-40B4-BE49-F238E27FC236}">
                  <a16:creationId xmlns:a16="http://schemas.microsoft.com/office/drawing/2014/main" id="{3B67FAFD-3331-4D25-AFEB-CFAF029306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-5400000">
              <a:off x="11097" y="8638"/>
              <a:ext cx="704" cy="701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72" name="Rectangle 75">
            <a:extLst>
              <a:ext uri="{FF2B5EF4-FFF2-40B4-BE49-F238E27FC236}">
                <a16:creationId xmlns:a16="http://schemas.microsoft.com/office/drawing/2014/main" id="{FE01967A-C804-4E47-9E70-88E6AEB8E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27" y="5522722"/>
            <a:ext cx="1005018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Ideal current source has been distributed around a loop connecting the two points of original source.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7533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92F8-88A1-42A6-84C9-2DD244D15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End of Presentation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13703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|26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2.8|4|40.3|24.9|5.6|5.5|5.6|1.8|6.8|7.9|4.8|15.4|8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13151</TotalTime>
  <Words>3093</Words>
  <Application>Microsoft Office PowerPoint</Application>
  <PresentationFormat>Widescreen</PresentationFormat>
  <Paragraphs>506</Paragraphs>
  <Slides>46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Calibri Light</vt:lpstr>
      <vt:lpstr>Symbol</vt:lpstr>
      <vt:lpstr>Times New Roman</vt:lpstr>
      <vt:lpstr>Office Theme</vt:lpstr>
      <vt:lpstr>Custom Design</vt:lpstr>
      <vt:lpstr>Equation.3</vt:lpstr>
      <vt:lpstr>3.0 Matrix Analysis of Networks</vt:lpstr>
      <vt:lpstr>Learning Outcomes</vt:lpstr>
      <vt:lpstr>Matrix Analysis of Networks</vt:lpstr>
      <vt:lpstr>Topology</vt:lpstr>
      <vt:lpstr>Structure of the network</vt:lpstr>
      <vt:lpstr>Graph of Network</vt:lpstr>
      <vt:lpstr>Tree of a Network</vt:lpstr>
      <vt:lpstr>Properties associated with trees</vt:lpstr>
      <vt:lpstr>Possible trees for the Graph</vt:lpstr>
      <vt:lpstr>Analysis of structure of network</vt:lpstr>
      <vt:lpstr>Formation of Independent Loops</vt:lpstr>
      <vt:lpstr>Oriented Graph</vt:lpstr>
      <vt:lpstr>Matrix Analysis of Networks</vt:lpstr>
      <vt:lpstr>Kirchoff’s current Law in matrix form</vt:lpstr>
      <vt:lpstr>For Computer Implementation</vt:lpstr>
      <vt:lpstr>PowerPoint Presentation</vt:lpstr>
      <vt:lpstr>Kirchoff’s voltage Law in matrix form</vt:lpstr>
      <vt:lpstr>Ohm’s Law in matrix form</vt:lpstr>
      <vt:lpstr>Conversion to either voltage source or current source only</vt:lpstr>
      <vt:lpstr>In Summary</vt:lpstr>
      <vt:lpstr>PowerPoint Presentation</vt:lpstr>
      <vt:lpstr>PowerPoint Presentation</vt:lpstr>
      <vt:lpstr>Mesh Analysis</vt:lpstr>
      <vt:lpstr>PowerPoint Presentation</vt:lpstr>
      <vt:lpstr>PowerPoint Presentation</vt:lpstr>
      <vt:lpstr>PowerPoint Presentation</vt:lpstr>
      <vt:lpstr>Example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Nodal Analysis</vt:lpstr>
      <vt:lpstr>PowerPoint Presentation</vt:lpstr>
      <vt:lpstr>PowerPoint Presentation</vt:lpstr>
      <vt:lpstr>PowerPoint Presentation</vt:lpstr>
      <vt:lpstr>Example 2</vt:lpstr>
      <vt:lpstr>PowerPoint Presentation</vt:lpstr>
      <vt:lpstr>PowerPoint Presentation</vt:lpstr>
      <vt:lpstr>PowerPoint Presentation</vt:lpstr>
      <vt:lpstr>PowerPoint Presentation</vt:lpstr>
      <vt:lpstr>Conversion of Ideal sources</vt:lpstr>
      <vt:lpstr>PowerPoint Presentation</vt:lpstr>
      <vt:lpstr>PowerPoint Presentation</vt:lpstr>
      <vt:lpstr>End of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 Waveform Characteristics</dc:title>
  <dc:creator>Lucas</dc:creator>
  <cp:lastModifiedBy>Lucas</cp:lastModifiedBy>
  <cp:revision>346</cp:revision>
  <dcterms:created xsi:type="dcterms:W3CDTF">2020-04-15T07:17:18Z</dcterms:created>
  <dcterms:modified xsi:type="dcterms:W3CDTF">2020-09-11T12:04:41Z</dcterms:modified>
</cp:coreProperties>
</file>