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7" r:id="rId1"/>
  </p:sldMasterIdLst>
  <p:notesMasterIdLst>
    <p:notesMasterId r:id="rId29"/>
  </p:notesMasterIdLst>
  <p:sldIdLst>
    <p:sldId id="337" r:id="rId2"/>
    <p:sldId id="257" r:id="rId3"/>
    <p:sldId id="326" r:id="rId4"/>
    <p:sldId id="328" r:id="rId5"/>
    <p:sldId id="327" r:id="rId6"/>
    <p:sldId id="258" r:id="rId7"/>
    <p:sldId id="276" r:id="rId8"/>
    <p:sldId id="259" r:id="rId9"/>
    <p:sldId id="260" r:id="rId10"/>
    <p:sldId id="277" r:id="rId11"/>
    <p:sldId id="261" r:id="rId12"/>
    <p:sldId id="330" r:id="rId13"/>
    <p:sldId id="329" r:id="rId14"/>
    <p:sldId id="331" r:id="rId15"/>
    <p:sldId id="332" r:id="rId16"/>
    <p:sldId id="273" r:id="rId17"/>
    <p:sldId id="264" r:id="rId18"/>
    <p:sldId id="265" r:id="rId19"/>
    <p:sldId id="266" r:id="rId20"/>
    <p:sldId id="267" r:id="rId21"/>
    <p:sldId id="268" r:id="rId22"/>
    <p:sldId id="333" r:id="rId23"/>
    <p:sldId id="269" r:id="rId24"/>
    <p:sldId id="270" r:id="rId25"/>
    <p:sldId id="271" r:id="rId26"/>
    <p:sldId id="278" r:id="rId27"/>
    <p:sldId id="336"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97" autoAdjust="0"/>
    <p:restoredTop sz="94799" autoAdjust="0"/>
  </p:normalViewPr>
  <p:slideViewPr>
    <p:cSldViewPr>
      <p:cViewPr varScale="1">
        <p:scale>
          <a:sx n="80" d="100"/>
          <a:sy n="80" d="100"/>
        </p:scale>
        <p:origin x="1411"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BA94DFE-9DA0-4BD3-8E8E-C01D64692E75}" type="datetimeFigureOut">
              <a:rPr lang="en-US" smtClean="0"/>
              <a:pPr/>
              <a:t>6/9/2021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A8CCAF4-3671-49DF-A21F-874AA4C88EE1}" type="slidenum">
              <a:rPr lang="en-US" smtClean="0"/>
              <a:pPr/>
              <a:t>‹#›</a:t>
            </a:fld>
            <a:endParaRPr lang="en-US"/>
          </a:p>
        </p:txBody>
      </p:sp>
    </p:spTree>
    <p:extLst>
      <p:ext uri="{BB962C8B-B14F-4D97-AF65-F5344CB8AC3E}">
        <p14:creationId xmlns:p14="http://schemas.microsoft.com/office/powerpoint/2010/main" val="977701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A8CCAF4-3671-49DF-A21F-874AA4C88EE1}" type="slidenum">
              <a:rPr lang="en-US" smtClean="0"/>
              <a:pPr/>
              <a:t>3</a:t>
            </a:fld>
            <a:endParaRPr lang="en-US"/>
          </a:p>
        </p:txBody>
      </p:sp>
    </p:spTree>
    <p:extLst>
      <p:ext uri="{BB962C8B-B14F-4D97-AF65-F5344CB8AC3E}">
        <p14:creationId xmlns:p14="http://schemas.microsoft.com/office/powerpoint/2010/main" val="29884732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A8CCAF4-3671-49DF-A21F-874AA4C88EE1}" type="slidenum">
              <a:rPr lang="en-US" smtClean="0"/>
              <a:pPr/>
              <a:t>5</a:t>
            </a:fld>
            <a:endParaRPr lang="en-US"/>
          </a:p>
        </p:txBody>
      </p:sp>
    </p:spTree>
    <p:extLst>
      <p:ext uri="{BB962C8B-B14F-4D97-AF65-F5344CB8AC3E}">
        <p14:creationId xmlns:p14="http://schemas.microsoft.com/office/powerpoint/2010/main" val="525513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5"/>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fld id="{E0519022-9824-4C52-86C1-C927BC706A45}" type="slidenum">
              <a:rPr lang="en-US" altLang="en-US" smtClean="0">
                <a:latin typeface="Calibri" pitchFamily="34" charset="0"/>
              </a:rPr>
              <a:pPr eaLnBrk="1" fontAlgn="base" hangingPunct="1">
                <a:spcBef>
                  <a:spcPct val="0"/>
                </a:spcBef>
                <a:spcAft>
                  <a:spcPct val="0"/>
                </a:spcAft>
              </a:pPr>
              <a:t>17</a:t>
            </a:fld>
            <a:endParaRPr lang="en-US" altLang="en-US" smtClean="0">
              <a:latin typeface="Calibri" pitchFamily="34" charset="0"/>
            </a:endParaRPr>
          </a:p>
        </p:txBody>
      </p:sp>
      <p:sp>
        <p:nvSpPr>
          <p:cNvPr id="57347" name="Rectangle 2"/>
          <p:cNvSpPr>
            <a:spLocks noChangeArrowheads="1"/>
          </p:cNvSpPr>
          <p:nvPr/>
        </p:nvSpPr>
        <p:spPr bwMode="auto">
          <a:xfrm>
            <a:off x="3884613" y="0"/>
            <a:ext cx="2973387"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atin typeface="Calibri" pitchFamily="34" charset="0"/>
            </a:endParaRPr>
          </a:p>
        </p:txBody>
      </p:sp>
      <p:sp>
        <p:nvSpPr>
          <p:cNvPr id="57348" name="Rectangle 3"/>
          <p:cNvSpPr>
            <a:spLocks noChangeArrowheads="1"/>
          </p:cNvSpPr>
          <p:nvPr/>
        </p:nvSpPr>
        <p:spPr bwMode="auto">
          <a:xfrm>
            <a:off x="3884613" y="8685213"/>
            <a:ext cx="2973387"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49" tIns="0" rIns="19049" bIns="0" anchor="b"/>
          <a:lstStyle/>
          <a:p>
            <a:pPr algn="r" eaLnBrk="0" hangingPunct="0"/>
            <a:r>
              <a:rPr lang="en-US" altLang="en-US" sz="1000" i="1">
                <a:latin typeface="Times New Roman" pitchFamily="18" charset="0"/>
              </a:rPr>
              <a:t>11</a:t>
            </a:r>
          </a:p>
        </p:txBody>
      </p:sp>
      <p:sp>
        <p:nvSpPr>
          <p:cNvPr id="57349" name="Rectangle 4"/>
          <p:cNvSpPr>
            <a:spLocks noChangeArrowheads="1"/>
          </p:cNvSpPr>
          <p:nvPr/>
        </p:nvSpPr>
        <p:spPr bwMode="auto">
          <a:xfrm>
            <a:off x="-1588" y="8685213"/>
            <a:ext cx="2971801"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atin typeface="Calibri" pitchFamily="34" charset="0"/>
            </a:endParaRPr>
          </a:p>
        </p:txBody>
      </p:sp>
      <p:sp>
        <p:nvSpPr>
          <p:cNvPr id="57350" name="Rectangle 5"/>
          <p:cNvSpPr>
            <a:spLocks noChangeArrowheads="1"/>
          </p:cNvSpPr>
          <p:nvPr/>
        </p:nvSpPr>
        <p:spPr bwMode="auto">
          <a:xfrm>
            <a:off x="-1588" y="0"/>
            <a:ext cx="2971801"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atin typeface="Calibri" pitchFamily="34" charset="0"/>
            </a:endParaRPr>
          </a:p>
        </p:txBody>
      </p:sp>
      <p:sp>
        <p:nvSpPr>
          <p:cNvPr id="57351" name="Rectangle 6"/>
          <p:cNvSpPr>
            <a:spLocks noGrp="1" noRot="1" noChangeAspect="1" noChangeArrowheads="1" noTextEdit="1"/>
          </p:cNvSpPr>
          <p:nvPr>
            <p:ph type="sldImg"/>
          </p:nvPr>
        </p:nvSpPr>
        <p:spPr bwMode="auto">
          <a:xfrm>
            <a:off x="1152525" y="692150"/>
            <a:ext cx="4554538" cy="3416300"/>
          </a:xfrm>
          <a:solidFill>
            <a:srgbClr val="FFFFFF"/>
          </a:solidFill>
          <a:ln cap="flat">
            <a:solidFill>
              <a:srgbClr val="000000"/>
            </a:solidFill>
            <a:miter lim="800000"/>
            <a:headEnd/>
            <a:tailEnd/>
          </a:ln>
        </p:spPr>
      </p:sp>
      <p:sp>
        <p:nvSpPr>
          <p:cNvPr id="57352" name="Rectangle 7"/>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66" tIns="46033" rIns="92066" bIns="46033"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3152796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A8CCAF4-3671-49DF-A21F-874AA4C88EE1}" type="slidenum">
              <a:rPr lang="en-US" smtClean="0"/>
              <a:pPr/>
              <a:t>20</a:t>
            </a:fld>
            <a:endParaRPr lang="en-US"/>
          </a:p>
        </p:txBody>
      </p:sp>
    </p:spTree>
    <p:extLst>
      <p:ext uri="{BB962C8B-B14F-4D97-AF65-F5344CB8AC3E}">
        <p14:creationId xmlns:p14="http://schemas.microsoft.com/office/powerpoint/2010/main" val="932682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A8CCAF4-3671-49DF-A21F-874AA4C88EE1}" type="slidenum">
              <a:rPr lang="en-US" smtClean="0"/>
              <a:pPr/>
              <a:t>22</a:t>
            </a:fld>
            <a:endParaRPr lang="en-US"/>
          </a:p>
        </p:txBody>
      </p:sp>
    </p:spTree>
    <p:extLst>
      <p:ext uri="{BB962C8B-B14F-4D97-AF65-F5344CB8AC3E}">
        <p14:creationId xmlns:p14="http://schemas.microsoft.com/office/powerpoint/2010/main" val="10002782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5"/>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fld id="{0D6DA7BC-601A-48AD-97BD-524345EC14EA}" type="slidenum">
              <a:rPr lang="en-US" altLang="en-US" smtClean="0">
                <a:latin typeface="Calibri" pitchFamily="34" charset="0"/>
              </a:rPr>
              <a:pPr eaLnBrk="1" fontAlgn="base" hangingPunct="1">
                <a:spcBef>
                  <a:spcPct val="0"/>
                </a:spcBef>
                <a:spcAft>
                  <a:spcPct val="0"/>
                </a:spcAft>
              </a:pPr>
              <a:t>24</a:t>
            </a:fld>
            <a:endParaRPr lang="en-US" altLang="en-US" smtClean="0">
              <a:latin typeface="Calibri" pitchFamily="34" charset="0"/>
            </a:endParaRPr>
          </a:p>
        </p:txBody>
      </p:sp>
      <p:sp>
        <p:nvSpPr>
          <p:cNvPr id="58371"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Tree>
    <p:extLst>
      <p:ext uri="{BB962C8B-B14F-4D97-AF65-F5344CB8AC3E}">
        <p14:creationId xmlns:p14="http://schemas.microsoft.com/office/powerpoint/2010/main" val="84474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36346" y="1788454"/>
            <a:ext cx="6270922" cy="2098226"/>
          </a:xfrm>
        </p:spPr>
        <p:txBody>
          <a:bodyPr anchor="b">
            <a:noAutofit/>
          </a:bodyPr>
          <a:lstStyle>
            <a:lvl1pPr algn="ctr">
              <a:defRPr sz="6000" cap="all" baseline="0">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009930" y="3956280"/>
            <a:ext cx="5123755" cy="1086237"/>
          </a:xfrm>
        </p:spPr>
        <p:txBody>
          <a:bodyPr>
            <a:normAutofit/>
          </a:bodyPr>
          <a:lstStyle>
            <a:lvl1pPr marL="0" indent="0" algn="ctr">
              <a:lnSpc>
                <a:spcPct val="112000"/>
              </a:lnSpc>
              <a:spcBef>
                <a:spcPts val="0"/>
              </a:spcBef>
              <a:spcAft>
                <a:spcPts val="0"/>
              </a:spcAft>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564644" y="6453386"/>
            <a:ext cx="1205958" cy="404614"/>
          </a:xfrm>
        </p:spPr>
        <p:txBody>
          <a:bodyPr/>
          <a:lstStyle>
            <a:lvl1pPr>
              <a:defRPr baseline="0">
                <a:solidFill>
                  <a:schemeClr val="tx2"/>
                </a:solidFill>
              </a:defRPr>
            </a:lvl1pPr>
          </a:lstStyle>
          <a:p>
            <a:fld id="{1D8BD707-D9CF-40AE-B4C6-C98DA3205C09}" type="datetimeFigureOut">
              <a:rPr lang="en-US" smtClean="0"/>
              <a:pPr/>
              <a:t>6/9/2021</a:t>
            </a:fld>
            <a:endParaRPr lang="en-US"/>
          </a:p>
        </p:txBody>
      </p:sp>
      <p:sp>
        <p:nvSpPr>
          <p:cNvPr id="5" name="Footer Placeholder 4"/>
          <p:cNvSpPr>
            <a:spLocks noGrp="1"/>
          </p:cNvSpPr>
          <p:nvPr>
            <p:ph type="ftr" sz="quarter" idx="11"/>
          </p:nvPr>
        </p:nvSpPr>
        <p:spPr>
          <a:xfrm>
            <a:off x="1938041" y="6453386"/>
            <a:ext cx="5267533"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7373012" y="6453386"/>
            <a:ext cx="1197219" cy="404614"/>
          </a:xfrm>
        </p:spPr>
        <p:txBody>
          <a:bodyPr/>
          <a:lstStyle>
            <a:lvl1pPr>
              <a:defRPr baseline="0">
                <a:solidFill>
                  <a:schemeClr val="tx2"/>
                </a:solidFill>
              </a:defRPr>
            </a:lvl1pPr>
          </a:lstStyle>
          <a:p>
            <a:fld id="{B6F15528-21DE-4FAA-801E-634DDDAF4B2B}" type="slidenum">
              <a:rPr lang="en-US" smtClean="0"/>
              <a:pPr/>
              <a:t>‹#›</a:t>
            </a:fld>
            <a:endParaRPr lang="en-US"/>
          </a:p>
        </p:txBody>
      </p:sp>
      <p:grpSp>
        <p:nvGrpSpPr>
          <p:cNvPr id="8" name="Group 7"/>
          <p:cNvGrpSpPr/>
          <p:nvPr/>
        </p:nvGrpSpPr>
        <p:grpSpPr>
          <a:xfrm>
            <a:off x="564643" y="744469"/>
            <a:ext cx="8005589" cy="5349671"/>
            <a:chOff x="564643" y="744469"/>
            <a:chExt cx="8005589" cy="5349671"/>
          </a:xfrm>
        </p:grpSpPr>
        <p:sp>
          <p:nvSpPr>
            <p:cNvPr id="11" name="Freeform 6"/>
            <p:cNvSpPr/>
            <p:nvPr/>
          </p:nvSpPr>
          <p:spPr bwMode="auto">
            <a:xfrm>
              <a:off x="6113972" y="1685652"/>
              <a:ext cx="2456260" cy="4408488"/>
            </a:xfrm>
            <a:custGeom>
              <a:avLst/>
              <a:gdLst/>
              <a:ahLst/>
              <a:cxnLst/>
              <a:rect l="l" t="t" r="r" b="b"/>
              <a:pathLst>
                <a:path w="10000" h="10000">
                  <a:moveTo>
                    <a:pt x="8761" y="0"/>
                  </a:moveTo>
                  <a:lnTo>
                    <a:pt x="10000" y="0"/>
                  </a:lnTo>
                  <a:lnTo>
                    <a:pt x="10000" y="10000"/>
                  </a:lnTo>
                  <a:lnTo>
                    <a:pt x="0" y="10000"/>
                  </a:lnTo>
                  <a:lnTo>
                    <a:pt x="0" y="9357"/>
                  </a:lnTo>
                  <a:lnTo>
                    <a:pt x="8761" y="935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564643" y="744469"/>
              <a:ext cx="2456505" cy="4408488"/>
            </a:xfrm>
            <a:custGeom>
              <a:avLst/>
              <a:gdLst/>
              <a:ahLst/>
              <a:cxnLst/>
              <a:rect l="l" t="t" r="r" b="b"/>
              <a:pathLst>
                <a:path w="10001" h="10000">
                  <a:moveTo>
                    <a:pt x="8762" y="0"/>
                  </a:moveTo>
                  <a:lnTo>
                    <a:pt x="10001" y="0"/>
                  </a:lnTo>
                  <a:lnTo>
                    <a:pt x="10001" y="10000"/>
                  </a:lnTo>
                  <a:lnTo>
                    <a:pt x="1" y="10000"/>
                  </a:lnTo>
                  <a:cubicBezTo>
                    <a:pt x="-2" y="9766"/>
                    <a:pt x="4" y="9586"/>
                    <a:pt x="1" y="9352"/>
                  </a:cubicBezTo>
                  <a:lnTo>
                    <a:pt x="8762" y="9346"/>
                  </a:lnTo>
                  <a:lnTo>
                    <a:pt x="8762"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171479279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52899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73769" y="1301361"/>
            <a:ext cx="7209728" cy="2852737"/>
          </a:xfrm>
        </p:spPr>
        <p:txBody>
          <a:bodyPr anchor="b">
            <a:normAutofit/>
          </a:bodyPr>
          <a:lstStyle>
            <a:lvl1pPr algn="r">
              <a:defRPr sz="6000" cap="all"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573769" y="4216328"/>
            <a:ext cx="7209728" cy="1143324"/>
          </a:xfrm>
        </p:spPr>
        <p:txBody>
          <a:bodyPr/>
          <a:lstStyle>
            <a:lvl1pPr marL="0" indent="0" algn="r">
              <a:lnSpc>
                <a:spcPct val="112000"/>
              </a:lnSpc>
              <a:spcBef>
                <a:spcPts val="0"/>
              </a:spcBef>
              <a:spcAft>
                <a:spcPts val="0"/>
              </a:spcAft>
              <a:buNone/>
              <a:defRPr sz="1800">
                <a:solidFill>
                  <a:schemeClr val="tx2"/>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554181" y="6453386"/>
            <a:ext cx="1216807" cy="404614"/>
          </a:xfrm>
        </p:spPr>
        <p:txBody>
          <a:bodyPr/>
          <a:lstStyle>
            <a:lvl1pPr>
              <a:defRPr>
                <a:solidFill>
                  <a:schemeClr val="tx2"/>
                </a:solidFill>
              </a:defRPr>
            </a:lvl1pPr>
          </a:lstStyle>
          <a:p>
            <a:fld id="{1D8BD707-D9CF-40AE-B4C6-C98DA3205C09}" type="datetimeFigureOut">
              <a:rPr lang="en-US" smtClean="0"/>
              <a:pPr/>
              <a:t>6/9/2021</a:t>
            </a:fld>
            <a:endParaRPr lang="en-US"/>
          </a:p>
        </p:txBody>
      </p:sp>
      <p:sp>
        <p:nvSpPr>
          <p:cNvPr id="5" name="Footer Placeholder 4"/>
          <p:cNvSpPr>
            <a:spLocks noGrp="1"/>
          </p:cNvSpPr>
          <p:nvPr>
            <p:ph type="ftr" sz="quarter" idx="11"/>
          </p:nvPr>
        </p:nvSpPr>
        <p:spPr>
          <a:xfrm>
            <a:off x="1938234" y="6453386"/>
            <a:ext cx="5267533"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7373012" y="6453386"/>
            <a:ext cx="1197219" cy="404614"/>
          </a:xfrm>
        </p:spPr>
        <p:txBody>
          <a:bodyPr/>
          <a:lstStyle>
            <a:lvl1pPr>
              <a:defRPr>
                <a:solidFill>
                  <a:schemeClr val="tx2"/>
                </a:solidFill>
              </a:defRPr>
            </a:lvl1pPr>
          </a:lstStyle>
          <a:p>
            <a:fld id="{B6F15528-21DE-4FAA-801E-634DDDAF4B2B}" type="slidenum">
              <a:rPr lang="en-US" smtClean="0"/>
              <a:pPr/>
              <a:t>‹#›</a:t>
            </a:fld>
            <a:endParaRPr lang="en-US"/>
          </a:p>
        </p:txBody>
      </p:sp>
      <p:sp>
        <p:nvSpPr>
          <p:cNvPr id="7" name="Freeform 6"/>
          <p:cNvSpPr/>
          <p:nvPr/>
        </p:nvSpPr>
        <p:spPr bwMode="auto">
          <a:xfrm>
            <a:off x="6113972" y="1685652"/>
            <a:ext cx="2456260"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bg2"/>
          </a:solidFill>
          <a:ln w="0">
            <a:noFill/>
            <a:prstDash val="solid"/>
            <a:round/>
            <a:headEnd/>
            <a:tailEnd/>
          </a:ln>
        </p:spPr>
      </p:sp>
      <p:sp>
        <p:nvSpPr>
          <p:cNvPr id="8" name="Freeform 7" title="Crop Mark"/>
          <p:cNvSpPr/>
          <p:nvPr/>
        </p:nvSpPr>
        <p:spPr bwMode="auto">
          <a:xfrm>
            <a:off x="6113972" y="1685652"/>
            <a:ext cx="2456260"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374454514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1028700" y="2286000"/>
            <a:ext cx="3335840"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894052" y="2286000"/>
            <a:ext cx="3335840"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6/9/2021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40288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28700" y="685800"/>
            <a:ext cx="7200900" cy="1485900"/>
          </a:xfrm>
        </p:spPr>
        <p:txBody>
          <a:bodyPr/>
          <a:lstStyle>
            <a:lvl1pPr>
              <a:defRPr>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28700" y="2340230"/>
            <a:ext cx="3335840" cy="823912"/>
          </a:xfrm>
        </p:spPr>
        <p:txBody>
          <a:bodyPr anchor="b">
            <a:noAutofit/>
          </a:bodyPr>
          <a:lstStyle>
            <a:lvl1pPr marL="0" indent="0">
              <a:lnSpc>
                <a:spcPct val="84000"/>
              </a:lnSpc>
              <a:spcBef>
                <a:spcPts val="0"/>
              </a:spcBef>
              <a:spcAft>
                <a:spcPts val="0"/>
              </a:spcAft>
              <a:buNone/>
              <a:defRPr sz="240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1028700" y="3305208"/>
            <a:ext cx="3335839"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893760" y="2349754"/>
            <a:ext cx="3335840" cy="823912"/>
          </a:xfrm>
        </p:spPr>
        <p:txBody>
          <a:bodyPr anchor="b">
            <a:noAutofit/>
          </a:bodyPr>
          <a:lstStyle>
            <a:lvl1pPr marL="0" indent="0">
              <a:lnSpc>
                <a:spcPct val="84000"/>
              </a:lnSpc>
              <a:spcBef>
                <a:spcPts val="0"/>
              </a:spcBef>
              <a:spcAft>
                <a:spcPts val="0"/>
              </a:spcAft>
              <a:buNone/>
              <a:defRPr sz="240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893760" y="3305208"/>
            <a:ext cx="3335840"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6/9/2021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40315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6/9/2021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2240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76711330"/>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397764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685800"/>
            <a:ext cx="2891790" cy="2157884"/>
          </a:xfrm>
        </p:spPr>
        <p:txBody>
          <a:bodyPr anchor="t">
            <a:noAutofit/>
          </a:bodyPr>
          <a:lstStyle>
            <a:lvl1pPr>
              <a:lnSpc>
                <a:spcPct val="84000"/>
              </a:lnSpc>
              <a:defRPr sz="4400" baseline="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692015" y="685801"/>
            <a:ext cx="3909060" cy="5175250"/>
          </a:xfrm>
        </p:spPr>
        <p:txBody>
          <a:bodyPr/>
          <a:lstStyle>
            <a:lvl1pPr>
              <a:defRPr sz="1500"/>
            </a:lvl1pPr>
            <a:lvl2pPr>
              <a:defRPr sz="1500"/>
            </a:lvl2pPr>
            <a:lvl3pPr>
              <a:defRPr sz="1350"/>
            </a:lvl3pPr>
            <a:lvl4pPr>
              <a:defRPr sz="135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42925" y="2856344"/>
            <a:ext cx="2891790" cy="3011056"/>
          </a:xfrm>
        </p:spPr>
        <p:txBody>
          <a:bodyPr>
            <a:normAutofit/>
          </a:bodyPr>
          <a:lstStyle>
            <a:lvl1pPr marL="0" indent="0">
              <a:lnSpc>
                <a:spcPct val="113000"/>
              </a:lnSpc>
              <a:spcBef>
                <a:spcPts val="0"/>
              </a:spcBef>
              <a:spcAft>
                <a:spcPts val="1500"/>
              </a:spcAft>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a:xfrm>
            <a:off x="542925" y="6453386"/>
            <a:ext cx="903429" cy="404614"/>
          </a:xfrm>
        </p:spPr>
        <p:txBody>
          <a:bodyPr/>
          <a:lstStyle>
            <a:lvl1pPr>
              <a:defRPr>
                <a:solidFill>
                  <a:schemeClr val="tx2"/>
                </a:solidFill>
              </a:defRPr>
            </a:lvl1pPr>
          </a:lstStyle>
          <a:p>
            <a:fld id="{1D8BD707-D9CF-40AE-B4C6-C98DA3205C09}" type="datetimeFigureOut">
              <a:rPr lang="en-US" smtClean="0"/>
              <a:pPr/>
              <a:t>6/9/2021</a:t>
            </a:fld>
            <a:endParaRPr lang="en-US"/>
          </a:p>
        </p:txBody>
      </p:sp>
      <p:sp>
        <p:nvSpPr>
          <p:cNvPr id="6" name="Footer Placeholder 5"/>
          <p:cNvSpPr>
            <a:spLocks noGrp="1"/>
          </p:cNvSpPr>
          <p:nvPr>
            <p:ph type="ftr" sz="quarter" idx="11"/>
          </p:nvPr>
        </p:nvSpPr>
        <p:spPr>
          <a:xfrm>
            <a:off x="1654459" y="6453386"/>
            <a:ext cx="1780256"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7412355" y="6453386"/>
            <a:ext cx="1197219" cy="404614"/>
          </a:xfrm>
        </p:spPr>
        <p:txBody>
          <a:bodyPr/>
          <a:lstStyle>
            <a:lvl1pPr>
              <a:defRPr>
                <a:solidFill>
                  <a:schemeClr val="tx2"/>
                </a:solidFill>
              </a:defRPr>
            </a:lvl1pPr>
          </a:lstStyle>
          <a:p>
            <a:fld id="{B6F15528-21DE-4FAA-801E-634DDDAF4B2B}" type="slidenum">
              <a:rPr lang="en-US" smtClean="0"/>
              <a:pPr/>
              <a:t>‹#›</a:t>
            </a:fld>
            <a:endParaRPr lang="en-US"/>
          </a:p>
        </p:txBody>
      </p:sp>
      <p:sp>
        <p:nvSpPr>
          <p:cNvPr id="9" name="Rectangle 8"/>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title="Divider Bar"/>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1353176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397764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685800"/>
            <a:ext cx="2891790" cy="2157884"/>
          </a:xfrm>
        </p:spPr>
        <p:txBody>
          <a:bodyPr anchor="t">
            <a:normAutofit/>
          </a:bodyPr>
          <a:lstStyle>
            <a:lvl1pPr>
              <a:lnSpc>
                <a:spcPct val="84000"/>
              </a:lnSpc>
              <a:defRPr sz="44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149090" y="1"/>
            <a:ext cx="4994910" cy="6857999"/>
          </a:xfrm>
        </p:spPr>
        <p:txBody>
          <a:bodyPr anchor="t">
            <a:normAutofit/>
          </a:bodyPr>
          <a:lstStyle>
            <a:lvl1pPr marL="0" indent="0">
              <a:buNone/>
              <a:defRPr sz="1500"/>
            </a:lvl1pPr>
            <a:lvl2pPr marL="342900" indent="0">
              <a:buNone/>
              <a:defRPr sz="1500"/>
            </a:lvl2pPr>
            <a:lvl3pPr marL="685800" indent="0">
              <a:buNone/>
              <a:defRPr sz="15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542925" y="2855968"/>
            <a:ext cx="2891790" cy="3011432"/>
          </a:xfrm>
        </p:spPr>
        <p:txBody>
          <a:bodyPr>
            <a:normAutofit/>
          </a:bodyPr>
          <a:lstStyle>
            <a:lvl1pPr marL="0" indent="0">
              <a:lnSpc>
                <a:spcPct val="113000"/>
              </a:lnSpc>
              <a:spcBef>
                <a:spcPts val="0"/>
              </a:spcBef>
              <a:spcAft>
                <a:spcPts val="1500"/>
              </a:spcAft>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a:xfrm>
            <a:off x="542925" y="6453386"/>
            <a:ext cx="903429" cy="404614"/>
          </a:xfrm>
        </p:spPr>
        <p:txBody>
          <a:bodyPr/>
          <a:lstStyle>
            <a:lvl1pPr>
              <a:defRPr>
                <a:solidFill>
                  <a:schemeClr val="tx2"/>
                </a:solidFill>
              </a:defRPr>
            </a:lvl1pPr>
          </a:lstStyle>
          <a:p>
            <a:fld id="{1D8BD707-D9CF-40AE-B4C6-C98DA3205C09}" type="datetimeFigureOut">
              <a:rPr lang="en-US" smtClean="0"/>
              <a:pPr/>
              <a:t>6/9/2021</a:t>
            </a:fld>
            <a:endParaRPr lang="en-US"/>
          </a:p>
        </p:txBody>
      </p:sp>
      <p:sp>
        <p:nvSpPr>
          <p:cNvPr id="6" name="Footer Placeholder 5"/>
          <p:cNvSpPr>
            <a:spLocks noGrp="1"/>
          </p:cNvSpPr>
          <p:nvPr>
            <p:ph type="ftr" sz="quarter" idx="11"/>
          </p:nvPr>
        </p:nvSpPr>
        <p:spPr>
          <a:xfrm>
            <a:off x="1654459" y="6453386"/>
            <a:ext cx="1780256"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7412355" y="6453386"/>
            <a:ext cx="1197219" cy="404614"/>
          </a:xfrm>
        </p:spPr>
        <p:txBody>
          <a:bodyPr/>
          <a:lstStyle>
            <a:lvl1pPr>
              <a:defRPr>
                <a:solidFill>
                  <a:schemeClr val="tx2"/>
                </a:solidFill>
              </a:defRPr>
            </a:lvl1pPr>
          </a:lstStyle>
          <a:p>
            <a:fld id="{B6F15528-21DE-4FAA-801E-634DDDAF4B2B}" type="slidenum">
              <a:rPr lang="en-US" smtClean="0"/>
              <a:pPr/>
              <a:t>‹#›</a:t>
            </a:fld>
            <a:endParaRPr lang="en-US"/>
          </a:p>
        </p:txBody>
      </p:sp>
      <p:sp>
        <p:nvSpPr>
          <p:cNvPr id="9" name="Rectangle 8"/>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title="Divider Bar"/>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38410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28700" y="2295526"/>
            <a:ext cx="7200900" cy="35718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73208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80797" y="624156"/>
            <a:ext cx="1490950" cy="524324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28700" y="624156"/>
            <a:ext cx="5724525" cy="52432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28939034"/>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3"/>
          <p:cNvSpPr>
            <a:spLocks noGrp="1"/>
          </p:cNvSpPr>
          <p:nvPr>
            <p:ph type="dt" sz="half" idx="10"/>
          </p:nvPr>
        </p:nvSpPr>
        <p:spPr/>
        <p:txBody>
          <a:bodyPr/>
          <a:lstStyle>
            <a:lvl1pPr>
              <a:defRPr/>
            </a:lvl1pPr>
          </a:lstStyle>
          <a:p>
            <a:pPr>
              <a:defRPr/>
            </a:pPr>
            <a:fld id="{A1833765-EE2E-4E82-9279-F9109757E5B5}" type="datetime1">
              <a:rPr lang="en-US"/>
              <a:pPr>
                <a:defRPr/>
              </a:pPr>
              <a:t>6/9/2021</a:t>
            </a:fld>
            <a:endParaRPr lang="en-US"/>
          </a:p>
        </p:txBody>
      </p:sp>
      <p:sp>
        <p:nvSpPr>
          <p:cNvPr id="7" name="Footer Placeholder 4"/>
          <p:cNvSpPr>
            <a:spLocks noGrp="1"/>
          </p:cNvSpPr>
          <p:nvPr>
            <p:ph type="ftr" sz="quarter" idx="11"/>
          </p:nvPr>
        </p:nvSpPr>
        <p:spPr/>
        <p:txBody>
          <a:bodyPr/>
          <a:lstStyle>
            <a:lvl1pPr>
              <a:defRPr/>
            </a:lvl1pPr>
          </a:lstStyle>
          <a:p>
            <a:pPr>
              <a:defRPr/>
            </a:pPr>
            <a:r>
              <a:rPr lang="en-US"/>
              <a:t>SUPPLY AND DEMAND</a:t>
            </a:r>
          </a:p>
        </p:txBody>
      </p:sp>
      <p:sp>
        <p:nvSpPr>
          <p:cNvPr id="8" name="Slide Number Placeholder 5"/>
          <p:cNvSpPr>
            <a:spLocks noGrp="1"/>
          </p:cNvSpPr>
          <p:nvPr>
            <p:ph type="sldNum" sz="quarter" idx="12"/>
          </p:nvPr>
        </p:nvSpPr>
        <p:spPr/>
        <p:txBody>
          <a:bodyPr/>
          <a:lstStyle>
            <a:lvl1pPr>
              <a:defRPr/>
            </a:lvl1pPr>
          </a:lstStyle>
          <a:p>
            <a:pPr>
              <a:defRPr/>
            </a:pPr>
            <a:fld id="{0B30B74C-5231-43E9-BDCA-038FEBF3F219}" type="slidenum">
              <a:rPr lang="en-US"/>
              <a:pPr>
                <a:defRPr/>
              </a:pPr>
              <a:t>‹#›</a:t>
            </a:fld>
            <a:endParaRPr lang="en-US"/>
          </a:p>
        </p:txBody>
      </p:sp>
    </p:spTree>
    <p:extLst>
      <p:ext uri="{BB962C8B-B14F-4D97-AF65-F5344CB8AC3E}">
        <p14:creationId xmlns:p14="http://schemas.microsoft.com/office/powerpoint/2010/main" val="93803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8700" y="685800"/>
            <a:ext cx="7200900" cy="14859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8700" y="2286000"/>
            <a:ext cx="7200900" cy="35814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42987" y="6453386"/>
            <a:ext cx="903429" cy="404614"/>
          </a:xfrm>
          <a:prstGeom prst="rect">
            <a:avLst/>
          </a:prstGeom>
        </p:spPr>
        <p:txBody>
          <a:bodyPr vert="horz" lIns="91440" tIns="45720" rIns="91440" bIns="45720" rtlCol="0" anchor="ctr"/>
          <a:lstStyle>
            <a:lvl1pPr algn="l">
              <a:defRPr sz="1000" baseline="0">
                <a:solidFill>
                  <a:schemeClr val="tx2"/>
                </a:solidFill>
              </a:defRPr>
            </a:lvl1pPr>
          </a:lstStyle>
          <a:p>
            <a:fld id="{1D8BD707-D9CF-40AE-B4C6-C98DA3205C09}" type="datetimeFigureOut">
              <a:rPr lang="en-US" smtClean="0"/>
              <a:pPr/>
              <a:t>6/9/2021</a:t>
            </a:fld>
            <a:endParaRPr lang="en-US"/>
          </a:p>
        </p:txBody>
      </p:sp>
      <p:sp>
        <p:nvSpPr>
          <p:cNvPr id="5" name="Footer Placeholder 4"/>
          <p:cNvSpPr>
            <a:spLocks noGrp="1"/>
          </p:cNvSpPr>
          <p:nvPr>
            <p:ph type="ftr" sz="quarter" idx="3"/>
          </p:nvPr>
        </p:nvSpPr>
        <p:spPr>
          <a:xfrm>
            <a:off x="2170173" y="6453386"/>
            <a:ext cx="4710623" cy="404614"/>
          </a:xfrm>
          <a:prstGeom prst="rect">
            <a:avLst/>
          </a:prstGeom>
        </p:spPr>
        <p:txBody>
          <a:bodyPr vert="horz" lIns="91440" tIns="45720" rIns="91440" bIns="45720" rtlCol="0" anchor="ctr"/>
          <a:lstStyle>
            <a:lvl1pPr algn="l">
              <a:defRPr sz="1000" baseline="0">
                <a:solidFill>
                  <a:schemeClr val="tx2"/>
                </a:solidFill>
              </a:defRPr>
            </a:lvl1pPr>
          </a:lstStyle>
          <a:p>
            <a:endParaRPr lang="en-US"/>
          </a:p>
        </p:txBody>
      </p:sp>
      <p:sp>
        <p:nvSpPr>
          <p:cNvPr id="6" name="Slide Number Placeholder 5"/>
          <p:cNvSpPr>
            <a:spLocks noGrp="1"/>
          </p:cNvSpPr>
          <p:nvPr>
            <p:ph type="sldNum" sz="quarter" idx="4"/>
          </p:nvPr>
        </p:nvSpPr>
        <p:spPr>
          <a:xfrm>
            <a:off x="7104552" y="6453386"/>
            <a:ext cx="1197219" cy="404614"/>
          </a:xfrm>
          <a:prstGeom prst="rect">
            <a:avLst/>
          </a:prstGeom>
        </p:spPr>
        <p:txBody>
          <a:bodyPr vert="horz" lIns="91440" tIns="45720" rIns="91440" bIns="45720" rtlCol="0" anchor="ctr"/>
          <a:lstStyle>
            <a:lvl1pPr algn="r">
              <a:defRPr sz="1000" baseline="0">
                <a:solidFill>
                  <a:schemeClr val="tx2"/>
                </a:solidFill>
              </a:defRPr>
            </a:lvl1pPr>
          </a:lstStyle>
          <a:p>
            <a:fld id="{B6F15528-21DE-4FAA-801E-634DDDAF4B2B}" type="slidenum">
              <a:rPr lang="en-US" smtClean="0"/>
              <a:pPr/>
              <a:t>‹#›</a:t>
            </a:fld>
            <a:endParaRPr lang="en-US"/>
          </a:p>
        </p:txBody>
      </p:sp>
      <p:sp>
        <p:nvSpPr>
          <p:cNvPr id="9" name="Rectangle 8"/>
          <p:cNvSpPr/>
          <p:nvPr/>
        </p:nvSpPr>
        <p:spPr>
          <a:xfrm>
            <a:off x="358571"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title="Side bar"/>
          <p:cNvSpPr/>
          <p:nvPr/>
        </p:nvSpPr>
        <p:spPr>
          <a:xfrm>
            <a:off x="358571"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12211690"/>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Lst>
  <p:txStyles>
    <p:titleStyle>
      <a:lvl1pPr algn="l" defTabSz="6858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6858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912">
          <p15:clr>
            <a:srgbClr val="F26B43"/>
          </p15:clr>
        </p15:guide>
        <p15:guide id="2" pos="936">
          <p15:clr>
            <a:srgbClr val="F26B43"/>
          </p15:clr>
        </p15:guide>
        <p15:guide id="3" pos="864">
          <p15:clr>
            <a:srgbClr val="F26B43"/>
          </p15:clr>
        </p15:guide>
        <p15:guide id="4" orient="horz" pos="1368">
          <p15:clr>
            <a:srgbClr val="F26B43"/>
          </p15:clr>
        </p15:guide>
        <p15:guide id="5"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5184">
          <p15:clr>
            <a:srgbClr val="F26B43"/>
          </p15:clr>
        </p15:guide>
        <p15:guide id="10" pos="702">
          <p15:clr>
            <a:srgbClr val="F26B43"/>
          </p15:clr>
        </p15:guide>
        <p15:guide id="11" pos="64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26368" y="1186265"/>
            <a:ext cx="6517482" cy="2020957"/>
          </a:xfrm>
        </p:spPr>
        <p:txBody>
          <a:bodyPr/>
          <a:lstStyle/>
          <a:p>
            <a:r>
              <a:rPr lang="en-US" dirty="0" smtClean="0"/>
              <a:t> </a:t>
            </a:r>
            <a:r>
              <a:rPr lang="en-US" dirty="0"/>
              <a:t>Fundamentals of Economics</a:t>
            </a:r>
          </a:p>
        </p:txBody>
      </p:sp>
      <p:sp>
        <p:nvSpPr>
          <p:cNvPr id="3" name="Subtitle 2"/>
          <p:cNvSpPr>
            <a:spLocks noGrp="1"/>
          </p:cNvSpPr>
          <p:nvPr>
            <p:ph type="subTitle" idx="1"/>
          </p:nvPr>
        </p:nvSpPr>
        <p:spPr>
          <a:xfrm>
            <a:off x="1484709" y="3429000"/>
            <a:ext cx="6400800" cy="2209800"/>
          </a:xfrm>
        </p:spPr>
        <p:txBody>
          <a:bodyPr>
            <a:noAutofit/>
          </a:bodyPr>
          <a:lstStyle/>
          <a:p>
            <a:r>
              <a:rPr lang="en-US" sz="2000" b="1" dirty="0" err="1" smtClean="0"/>
              <a:t>M.M.L.C.Gunathilake</a:t>
            </a:r>
            <a:endParaRPr lang="en-US" sz="2000" b="1" dirty="0" smtClean="0"/>
          </a:p>
          <a:p>
            <a:r>
              <a:rPr lang="en-US" sz="2000" b="1" dirty="0" smtClean="0"/>
              <a:t>Senior Lecturer </a:t>
            </a:r>
            <a:r>
              <a:rPr lang="en-US" sz="2000" b="1" dirty="0" smtClean="0"/>
              <a:t>Gr II</a:t>
            </a:r>
            <a:endParaRPr lang="en-US" sz="2000" b="1" dirty="0" smtClean="0"/>
          </a:p>
          <a:p>
            <a:r>
              <a:rPr lang="en-US" sz="2000" b="1" dirty="0" smtClean="0"/>
              <a:t>Department of Management and </a:t>
            </a:r>
            <a:r>
              <a:rPr lang="en-US" sz="2000" b="1" dirty="0"/>
              <a:t>F</a:t>
            </a:r>
            <a:r>
              <a:rPr lang="en-US" sz="2000" b="1" dirty="0" smtClean="0"/>
              <a:t>inance</a:t>
            </a:r>
          </a:p>
          <a:p>
            <a:r>
              <a:rPr lang="en-US" sz="2000" b="1" dirty="0" smtClean="0"/>
              <a:t>General Sir John </a:t>
            </a:r>
            <a:r>
              <a:rPr lang="en-US" sz="2000" b="1" dirty="0" err="1" smtClean="0"/>
              <a:t>Kotelawala</a:t>
            </a:r>
            <a:r>
              <a:rPr lang="en-US" sz="2000" b="1" dirty="0" smtClean="0"/>
              <a:t> </a:t>
            </a:r>
            <a:r>
              <a:rPr lang="en-US" sz="2000" b="1" dirty="0" err="1" smtClean="0"/>
              <a:t>Defence</a:t>
            </a:r>
            <a:r>
              <a:rPr lang="en-US" sz="2000" b="1" dirty="0" smtClean="0"/>
              <a:t> University</a:t>
            </a:r>
          </a:p>
          <a:p>
            <a:r>
              <a:rPr lang="en-US" sz="2000" b="1" dirty="0" smtClean="0"/>
              <a:t> </a:t>
            </a:r>
            <a:r>
              <a:rPr lang="en-US" sz="2000" b="1" dirty="0" err="1" smtClean="0"/>
              <a:t>Ratmalana</a:t>
            </a:r>
            <a:endParaRPr lang="en-US" sz="2000" b="1" dirty="0"/>
          </a:p>
        </p:txBody>
      </p:sp>
      <p:sp>
        <p:nvSpPr>
          <p:cNvPr id="5" name="Slide Number Placeholder 4"/>
          <p:cNvSpPr>
            <a:spLocks noGrp="1"/>
          </p:cNvSpPr>
          <p:nvPr>
            <p:ph type="sldNum" sz="quarter" idx="12"/>
          </p:nvPr>
        </p:nvSpPr>
        <p:spPr/>
        <p:txBody>
          <a:bodyPr/>
          <a:lstStyle/>
          <a:p>
            <a:fld id="{B35BE99D-ECB1-4FCE-9054-66FB2E623C70}" type="slidenum">
              <a:rPr lang="en-US" smtClean="0"/>
              <a:pPr/>
              <a:t>1</a:t>
            </a:fld>
            <a:endParaRPr lang="en-US" dirty="0"/>
          </a:p>
        </p:txBody>
      </p:sp>
      <p:pic>
        <p:nvPicPr>
          <p:cNvPr id="4" name="Picture 3" descr="5"/>
          <p:cNvPicPr/>
          <p:nvPr/>
        </p:nvPicPr>
        <p:blipFill>
          <a:blip r:embed="rId2" cstate="print">
            <a:clrChange>
              <a:clrFrom>
                <a:srgbClr val="F8F8F0"/>
              </a:clrFrom>
              <a:clrTo>
                <a:srgbClr val="F8F8F0">
                  <a:alpha val="0"/>
                </a:srgbClr>
              </a:clrTo>
            </a:clrChange>
            <a:lum bright="-20000" contrast="20000"/>
          </a:blip>
          <a:srcRect/>
          <a:stretch>
            <a:fillRect/>
          </a:stretch>
        </p:blipFill>
        <p:spPr bwMode="auto">
          <a:xfrm>
            <a:off x="3352800" y="0"/>
            <a:ext cx="2133600" cy="1676400"/>
          </a:xfrm>
          <a:prstGeom prst="rect">
            <a:avLst/>
          </a:prstGeom>
          <a:solidFill>
            <a:srgbClr val="FFFFFF"/>
          </a:solidFill>
          <a:ln w="9525">
            <a:solidFill>
              <a:srgbClr val="FFFFFF"/>
            </a:solidFill>
            <a:miter lim="800000"/>
            <a:headEnd/>
            <a:tailEnd/>
          </a:ln>
        </p:spPr>
      </p:pic>
    </p:spTree>
    <p:extLst>
      <p:ext uri="{BB962C8B-B14F-4D97-AF65-F5344CB8AC3E}">
        <p14:creationId xmlns:p14="http://schemas.microsoft.com/office/powerpoint/2010/main" val="28385226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2000"/>
            <a:lum/>
          </a:blip>
          <a:srcRect/>
          <a:stretch>
            <a:fillRect l="-2000" r="-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81539" y="685800"/>
            <a:ext cx="6517482" cy="2509213"/>
          </a:xfrm>
        </p:spPr>
        <p:txBody>
          <a:bodyPr/>
          <a:lstStyle/>
          <a:p>
            <a:r>
              <a:rPr lang="en-US" b="1" dirty="0" smtClean="0">
                <a:solidFill>
                  <a:srgbClr val="FF0000"/>
                </a:solidFill>
              </a:rPr>
              <a:t>Theory of Demand </a:t>
            </a:r>
            <a:endParaRPr lang="en-US" b="1" dirty="0">
              <a:solidFill>
                <a:srgbClr val="FF0000"/>
              </a:solidFill>
            </a:endParaRPr>
          </a:p>
        </p:txBody>
      </p:sp>
      <p:sp>
        <p:nvSpPr>
          <p:cNvPr id="3" name="Subtitle 2"/>
          <p:cNvSpPr>
            <a:spLocks noGrp="1"/>
          </p:cNvSpPr>
          <p:nvPr>
            <p:ph type="subTitle" idx="1"/>
          </p:nvPr>
        </p:nvSpPr>
        <p:spPr>
          <a:xfrm>
            <a:off x="1371600" y="3352800"/>
            <a:ext cx="6400800" cy="1752600"/>
          </a:xfrm>
        </p:spPr>
        <p:txBody>
          <a:bodyPr/>
          <a:lstStyle/>
          <a:p>
            <a:r>
              <a:rPr lang="en-US" b="1" dirty="0">
                <a:solidFill>
                  <a:srgbClr val="FF0000"/>
                </a:solidFill>
              </a:rPr>
              <a:t>Lesson 02</a:t>
            </a:r>
            <a:endParaRPr lang="en-US" dirty="0"/>
          </a:p>
        </p:txBody>
      </p:sp>
    </p:spTree>
    <p:extLst>
      <p:ext uri="{BB962C8B-B14F-4D97-AF65-F5344CB8AC3E}">
        <p14:creationId xmlns:p14="http://schemas.microsoft.com/office/powerpoint/2010/main" val="23349842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Demand</a:t>
            </a:r>
            <a:endParaRPr lang="en-US" dirty="0"/>
          </a:p>
        </p:txBody>
      </p:sp>
      <p:sp>
        <p:nvSpPr>
          <p:cNvPr id="3" name="Content Placeholder 2"/>
          <p:cNvSpPr>
            <a:spLocks noGrp="1"/>
          </p:cNvSpPr>
          <p:nvPr>
            <p:ph idx="1"/>
          </p:nvPr>
        </p:nvSpPr>
        <p:spPr>
          <a:xfrm>
            <a:off x="609600" y="1676400"/>
            <a:ext cx="8534400" cy="5029200"/>
          </a:xfrm>
        </p:spPr>
        <p:txBody>
          <a:bodyPr/>
          <a:lstStyle/>
          <a:p>
            <a:r>
              <a:rPr lang="en-US" altLang="en-US" sz="2800" dirty="0"/>
              <a:t>Demand means the willingness and capacity to pay</a:t>
            </a:r>
            <a:r>
              <a:rPr lang="en-US" altLang="en-US" sz="2800" dirty="0" smtClean="0"/>
              <a:t>.</a:t>
            </a:r>
          </a:p>
          <a:p>
            <a:endParaRPr lang="en-US" altLang="en-US" dirty="0"/>
          </a:p>
          <a:p>
            <a:pPr marL="0" indent="0">
              <a:buNone/>
            </a:pPr>
            <a:r>
              <a:rPr lang="en-US" altLang="en-US" b="1" dirty="0" smtClean="0"/>
              <a:t>Effective Demand </a:t>
            </a:r>
            <a:r>
              <a:rPr lang="en-US" altLang="en-US" dirty="0" smtClean="0"/>
              <a:t>= 	Willingness to  buy + Capacity to buy</a:t>
            </a:r>
          </a:p>
          <a:p>
            <a:pPr marL="0" indent="0">
              <a:buNone/>
            </a:pPr>
            <a:endParaRPr lang="en-US" altLang="en-US" dirty="0"/>
          </a:p>
          <a:p>
            <a:endParaRPr lang="en-US" altLang="en-US" dirty="0" smtClean="0"/>
          </a:p>
          <a:p>
            <a:pPr marL="0" indent="0">
              <a:buNone/>
            </a:pPr>
            <a:endParaRPr lang="en-US" dirty="0"/>
          </a:p>
        </p:txBody>
      </p:sp>
    </p:spTree>
    <p:extLst>
      <p:ext uri="{BB962C8B-B14F-4D97-AF65-F5344CB8AC3E}">
        <p14:creationId xmlns:p14="http://schemas.microsoft.com/office/powerpoint/2010/main" val="407264569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ltLang="en-US" dirty="0"/>
              <a:t>D</a:t>
            </a:r>
            <a:r>
              <a:rPr lang="en-US" altLang="en-US" dirty="0" smtClean="0"/>
              <a:t>eterminants </a:t>
            </a:r>
            <a:r>
              <a:rPr lang="en-US" altLang="en-US" dirty="0"/>
              <a:t>of </a:t>
            </a:r>
            <a:r>
              <a:rPr lang="en-US" altLang="en-US" dirty="0" smtClean="0"/>
              <a:t>Demand</a:t>
            </a:r>
            <a:r>
              <a:rPr lang="en-US" altLang="en-US" dirty="0"/>
              <a:t>.</a:t>
            </a:r>
          </a:p>
        </p:txBody>
      </p:sp>
      <p:sp>
        <p:nvSpPr>
          <p:cNvPr id="36867" name="Rectangle 3"/>
          <p:cNvSpPr>
            <a:spLocks noGrp="1" noChangeArrowheads="1"/>
          </p:cNvSpPr>
          <p:nvPr>
            <p:ph idx="1"/>
          </p:nvPr>
        </p:nvSpPr>
        <p:spPr/>
        <p:txBody>
          <a:bodyPr>
            <a:normAutofit/>
          </a:bodyPr>
          <a:lstStyle/>
          <a:p>
            <a:pPr>
              <a:lnSpc>
                <a:spcPct val="90000"/>
              </a:lnSpc>
            </a:pPr>
            <a:r>
              <a:rPr lang="en-US" altLang="en-US" dirty="0"/>
              <a:t>The following factors determine the demand for a good</a:t>
            </a:r>
            <a:r>
              <a:rPr lang="en-US" altLang="en-US" dirty="0" smtClean="0"/>
              <a:t>:</a:t>
            </a:r>
          </a:p>
          <a:p>
            <a:pPr marL="0" indent="0">
              <a:lnSpc>
                <a:spcPct val="90000"/>
              </a:lnSpc>
              <a:buNone/>
            </a:pPr>
            <a:endParaRPr lang="en-US" altLang="en-US" dirty="0"/>
          </a:p>
          <a:p>
            <a:pPr lvl="1">
              <a:lnSpc>
                <a:spcPct val="90000"/>
              </a:lnSpc>
            </a:pPr>
            <a:r>
              <a:rPr lang="en-US" altLang="en-US" dirty="0"/>
              <a:t>Price of the </a:t>
            </a:r>
            <a:r>
              <a:rPr lang="en-US" altLang="en-US" dirty="0" smtClean="0"/>
              <a:t>good (</a:t>
            </a:r>
            <a:r>
              <a:rPr lang="en-US" altLang="en-US" dirty="0" err="1" smtClean="0">
                <a:solidFill>
                  <a:srgbClr val="FF0000"/>
                </a:solidFill>
              </a:rPr>
              <a:t>P</a:t>
            </a:r>
            <a:r>
              <a:rPr lang="en-US" altLang="en-US" sz="2000" dirty="0" err="1" smtClean="0">
                <a:solidFill>
                  <a:srgbClr val="FF0000"/>
                </a:solidFill>
              </a:rPr>
              <a:t>x</a:t>
            </a:r>
            <a:r>
              <a:rPr lang="en-US" altLang="en-US" dirty="0" smtClean="0"/>
              <a:t>)</a:t>
            </a:r>
            <a:endParaRPr lang="en-US" altLang="en-US" dirty="0"/>
          </a:p>
          <a:p>
            <a:pPr lvl="1">
              <a:lnSpc>
                <a:spcPct val="90000"/>
              </a:lnSpc>
            </a:pPr>
            <a:r>
              <a:rPr lang="en-US" altLang="en-US" dirty="0" smtClean="0"/>
              <a:t>Prices </a:t>
            </a:r>
            <a:r>
              <a:rPr lang="en-US" altLang="en-US" dirty="0"/>
              <a:t>of related </a:t>
            </a:r>
            <a:r>
              <a:rPr lang="en-US" altLang="en-US" dirty="0" smtClean="0"/>
              <a:t>goods(</a:t>
            </a:r>
            <a:r>
              <a:rPr lang="en-US" altLang="en-US" dirty="0" smtClean="0">
                <a:solidFill>
                  <a:srgbClr val="FF0000"/>
                </a:solidFill>
              </a:rPr>
              <a:t>P n</a:t>
            </a:r>
            <a:r>
              <a:rPr lang="en-US" altLang="en-US" sz="1800" dirty="0" smtClean="0">
                <a:solidFill>
                  <a:srgbClr val="FF0000"/>
                </a:solidFill>
              </a:rPr>
              <a:t>-</a:t>
            </a:r>
            <a:r>
              <a:rPr lang="en-US" altLang="en-US" sz="1400" dirty="0" smtClean="0">
                <a:solidFill>
                  <a:srgbClr val="FF0000"/>
                </a:solidFill>
              </a:rPr>
              <a:t>1</a:t>
            </a:r>
            <a:r>
              <a:rPr lang="en-US" altLang="en-US" dirty="0" smtClean="0"/>
              <a:t>)</a:t>
            </a:r>
            <a:endParaRPr lang="en-US" altLang="en-US" dirty="0"/>
          </a:p>
          <a:p>
            <a:pPr lvl="2">
              <a:lnSpc>
                <a:spcPct val="90000"/>
              </a:lnSpc>
            </a:pPr>
            <a:r>
              <a:rPr lang="en-US" altLang="en-US" dirty="0"/>
              <a:t>Complements and substitutes</a:t>
            </a:r>
          </a:p>
          <a:p>
            <a:pPr lvl="1">
              <a:lnSpc>
                <a:spcPct val="90000"/>
              </a:lnSpc>
            </a:pPr>
            <a:r>
              <a:rPr lang="en-US" altLang="en-US" dirty="0" smtClean="0"/>
              <a:t>Income(</a:t>
            </a:r>
            <a:r>
              <a:rPr lang="en-US" altLang="en-US" dirty="0" smtClean="0">
                <a:solidFill>
                  <a:srgbClr val="FF0000"/>
                </a:solidFill>
              </a:rPr>
              <a:t>I</a:t>
            </a:r>
            <a:r>
              <a:rPr lang="en-US" altLang="en-US" dirty="0" smtClean="0"/>
              <a:t>)</a:t>
            </a:r>
          </a:p>
          <a:p>
            <a:pPr lvl="1">
              <a:lnSpc>
                <a:spcPct val="90000"/>
              </a:lnSpc>
            </a:pPr>
            <a:r>
              <a:rPr lang="en-US" altLang="en-US" dirty="0" smtClean="0"/>
              <a:t>Tastes(</a:t>
            </a:r>
            <a:r>
              <a:rPr lang="en-US" altLang="en-US" dirty="0" smtClean="0">
                <a:solidFill>
                  <a:srgbClr val="FF0000"/>
                </a:solidFill>
              </a:rPr>
              <a:t>T</a:t>
            </a:r>
            <a:r>
              <a:rPr lang="en-US" altLang="en-US" dirty="0" smtClean="0"/>
              <a:t>)</a:t>
            </a:r>
            <a:endParaRPr lang="en-US" altLang="en-US" dirty="0"/>
          </a:p>
          <a:p>
            <a:pPr lvl="1">
              <a:lnSpc>
                <a:spcPct val="90000"/>
              </a:lnSpc>
            </a:pPr>
            <a:r>
              <a:rPr lang="en-US" altLang="en-US" dirty="0" smtClean="0"/>
              <a:t>Government </a:t>
            </a:r>
            <a:r>
              <a:rPr lang="en-US" altLang="en-US" dirty="0"/>
              <a:t>rules and </a:t>
            </a:r>
            <a:r>
              <a:rPr lang="en-US" altLang="en-US" dirty="0" smtClean="0"/>
              <a:t>regulations(</a:t>
            </a:r>
            <a:r>
              <a:rPr lang="en-US" altLang="en-US" dirty="0" smtClean="0">
                <a:solidFill>
                  <a:srgbClr val="FF0000"/>
                </a:solidFill>
              </a:rPr>
              <a:t>G</a:t>
            </a:r>
            <a:r>
              <a:rPr lang="en-US" altLang="en-US" dirty="0" smtClean="0"/>
              <a:t>)</a:t>
            </a:r>
            <a:endParaRPr lang="en-US" altLang="en-US" dirty="0"/>
          </a:p>
          <a:p>
            <a:pPr lvl="1">
              <a:lnSpc>
                <a:spcPct val="90000"/>
              </a:lnSpc>
            </a:pPr>
            <a:r>
              <a:rPr lang="en-US" altLang="en-US" dirty="0" smtClean="0"/>
              <a:t>Other(</a:t>
            </a:r>
            <a:r>
              <a:rPr lang="en-US" altLang="en-US" dirty="0" smtClean="0">
                <a:solidFill>
                  <a:srgbClr val="FF0000"/>
                </a:solidFill>
              </a:rPr>
              <a:t>O</a:t>
            </a:r>
            <a:r>
              <a:rPr lang="en-US" altLang="en-US" dirty="0" smtClean="0"/>
              <a:t>)</a:t>
            </a:r>
            <a:endParaRPr lang="en-US" altLang="en-US" dirty="0"/>
          </a:p>
        </p:txBody>
      </p:sp>
      <p:sp>
        <p:nvSpPr>
          <p:cNvPr id="5" name="Slide Number Placeholder 4"/>
          <p:cNvSpPr>
            <a:spLocks noGrp="1"/>
          </p:cNvSpPr>
          <p:nvPr>
            <p:ph type="sldNum" sz="quarter" idx="12"/>
          </p:nvPr>
        </p:nvSpPr>
        <p:spPr/>
        <p:txBody>
          <a:bodyPr/>
          <a:lstStyle/>
          <a:p>
            <a:r>
              <a:rPr lang="en-US" altLang="en-US"/>
              <a:t>2-</a:t>
            </a:r>
            <a:fld id="{A0FDBB88-58CF-47C7-BE60-79296E6EF1A3}" type="slidenum">
              <a:rPr lang="en-US" altLang="en-US"/>
              <a:pPr/>
              <a:t>4</a:t>
            </a:fld>
            <a:endParaRPr lang="en-US" altLang="en-US"/>
          </a:p>
        </p:txBody>
      </p:sp>
    </p:spTree>
    <p:extLst>
      <p:ext uri="{BB962C8B-B14F-4D97-AF65-F5344CB8AC3E}">
        <p14:creationId xmlns:p14="http://schemas.microsoft.com/office/powerpoint/2010/main" val="1900505400"/>
      </p:ext>
    </p:extLst>
  </p:cSld>
  <p:clrMapOvr>
    <a:masterClrMapping/>
  </p:clrMapOvr>
  <p:transition>
    <p:blinds dir="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Demand as a Function</a:t>
            </a:r>
            <a:endParaRPr lang="en-US" dirty="0"/>
          </a:p>
        </p:txBody>
      </p:sp>
      <p:sp>
        <p:nvSpPr>
          <p:cNvPr id="3" name="Content Placeholder 2"/>
          <p:cNvSpPr>
            <a:spLocks noGrp="1"/>
          </p:cNvSpPr>
          <p:nvPr>
            <p:ph idx="1"/>
          </p:nvPr>
        </p:nvSpPr>
        <p:spPr>
          <a:xfrm>
            <a:off x="1066800" y="1600200"/>
            <a:ext cx="7620000" cy="3581401"/>
          </a:xfrm>
        </p:spPr>
        <p:txBody>
          <a:bodyPr>
            <a:normAutofit/>
          </a:bodyPr>
          <a:lstStyle/>
          <a:p>
            <a:pPr marL="0" indent="0">
              <a:lnSpc>
                <a:spcPct val="150000"/>
              </a:lnSpc>
              <a:buNone/>
            </a:pPr>
            <a:r>
              <a:rPr lang="en-US" sz="2800" dirty="0" smtClean="0">
                <a:solidFill>
                  <a:srgbClr val="FF0000"/>
                </a:solidFill>
              </a:rPr>
              <a:t>  ceteris </a:t>
            </a:r>
            <a:r>
              <a:rPr lang="en-US" sz="2800" dirty="0">
                <a:solidFill>
                  <a:srgbClr val="FF0000"/>
                </a:solidFill>
              </a:rPr>
              <a:t>paribus</a:t>
            </a:r>
            <a:endParaRPr lang="en-US" sz="2800" dirty="0" smtClean="0">
              <a:solidFill>
                <a:srgbClr val="FF0000"/>
              </a:solidFill>
            </a:endParaRPr>
          </a:p>
          <a:p>
            <a:pPr marL="0" indent="0">
              <a:buNone/>
            </a:pPr>
            <a:endParaRPr lang="en-US" dirty="0"/>
          </a:p>
          <a:p>
            <a:pPr marL="0" indent="0">
              <a:buNone/>
            </a:pPr>
            <a:endParaRPr lang="en-US" dirty="0" smtClean="0"/>
          </a:p>
          <a:p>
            <a:pPr marL="0" indent="0">
              <a:buNone/>
            </a:pPr>
            <a:r>
              <a:rPr lang="en-US" dirty="0" err="1" smtClean="0"/>
              <a:t>Qd</a:t>
            </a:r>
            <a:r>
              <a:rPr lang="en-US" dirty="0" smtClean="0"/>
              <a:t>   = </a:t>
            </a:r>
            <a:r>
              <a:rPr lang="en-US" sz="3600" i="1" dirty="0"/>
              <a:t>f</a:t>
            </a:r>
            <a:r>
              <a:rPr lang="en-US" dirty="0"/>
              <a:t> </a:t>
            </a:r>
            <a:r>
              <a:rPr lang="en-US" dirty="0" smtClean="0"/>
              <a:t>(  </a:t>
            </a:r>
            <a:r>
              <a:rPr lang="en-US" dirty="0" err="1" smtClean="0"/>
              <a:t>P</a:t>
            </a:r>
            <a:r>
              <a:rPr lang="en-US" sz="1800" b="1" dirty="0" err="1" smtClean="0"/>
              <a:t>x</a:t>
            </a:r>
            <a:r>
              <a:rPr lang="en-US" dirty="0" smtClean="0"/>
              <a:t> ,   P </a:t>
            </a:r>
            <a:r>
              <a:rPr lang="en-US" sz="2000" b="1" dirty="0" smtClean="0"/>
              <a:t>n-</a:t>
            </a:r>
            <a:r>
              <a:rPr lang="en-US" sz="1800" b="1" dirty="0" smtClean="0"/>
              <a:t>1</a:t>
            </a:r>
            <a:r>
              <a:rPr lang="en-US" dirty="0" smtClean="0"/>
              <a:t>  ,   I  ,   T  ,   G  ,  O  )</a:t>
            </a:r>
            <a:endParaRPr lang="en-US" dirty="0"/>
          </a:p>
        </p:txBody>
      </p:sp>
      <p:sp>
        <p:nvSpPr>
          <p:cNvPr id="4" name="TextBox 3"/>
          <p:cNvSpPr txBox="1"/>
          <p:nvPr/>
        </p:nvSpPr>
        <p:spPr>
          <a:xfrm>
            <a:off x="1524000" y="3733800"/>
            <a:ext cx="290464" cy="369332"/>
          </a:xfrm>
          <a:prstGeom prst="rect">
            <a:avLst/>
          </a:prstGeom>
          <a:noFill/>
        </p:spPr>
        <p:txBody>
          <a:bodyPr wrap="none" rtlCol="0">
            <a:spAutoFit/>
          </a:bodyPr>
          <a:lstStyle/>
          <a:p>
            <a:r>
              <a:rPr lang="en-US" b="1" dirty="0"/>
              <a:t>x</a:t>
            </a:r>
          </a:p>
        </p:txBody>
      </p:sp>
      <p:sp>
        <p:nvSpPr>
          <p:cNvPr id="5" name="Right Brace 4"/>
          <p:cNvSpPr/>
          <p:nvPr/>
        </p:nvSpPr>
        <p:spPr>
          <a:xfrm rot="5400000">
            <a:off x="3805030" y="2618746"/>
            <a:ext cx="609600" cy="303806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Right Brace 5"/>
          <p:cNvSpPr/>
          <p:nvPr/>
        </p:nvSpPr>
        <p:spPr>
          <a:xfrm rot="16200000">
            <a:off x="1661494" y="2365784"/>
            <a:ext cx="609600" cy="1553818"/>
          </a:xfrm>
          <a:prstGeom prst="righ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8" name="Rectangle 7"/>
          <p:cNvSpPr/>
          <p:nvPr/>
        </p:nvSpPr>
        <p:spPr>
          <a:xfrm>
            <a:off x="1189382" y="2286000"/>
            <a:ext cx="2620618" cy="457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Quantity Demanded</a:t>
            </a:r>
            <a:endParaRPr lang="en-US" dirty="0"/>
          </a:p>
        </p:txBody>
      </p:sp>
      <p:sp>
        <p:nvSpPr>
          <p:cNvPr id="9" name="Rectangle 8"/>
          <p:cNvSpPr/>
          <p:nvPr/>
        </p:nvSpPr>
        <p:spPr>
          <a:xfrm>
            <a:off x="3187241" y="4590494"/>
            <a:ext cx="2620618" cy="457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Demand</a:t>
            </a:r>
            <a:endParaRPr lang="en-US" dirty="0"/>
          </a:p>
        </p:txBody>
      </p:sp>
    </p:spTree>
    <p:extLst>
      <p:ext uri="{BB962C8B-B14F-4D97-AF65-F5344CB8AC3E}">
        <p14:creationId xmlns:p14="http://schemas.microsoft.com/office/powerpoint/2010/main" val="11070924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711836" y="272380"/>
            <a:ext cx="7773338" cy="1596177"/>
          </a:xfrm>
        </p:spPr>
        <p:txBody>
          <a:bodyPr/>
          <a:lstStyle/>
          <a:p>
            <a:r>
              <a:rPr lang="en-US" altLang="en-US" b="1" dirty="0"/>
              <a:t>Quantity </a:t>
            </a:r>
            <a:r>
              <a:rPr lang="en-US" altLang="en-US" b="1" dirty="0" smtClean="0"/>
              <a:t>Demanded</a:t>
            </a:r>
            <a:endParaRPr lang="en-US" b="1" dirty="0" smtClean="0"/>
          </a:p>
        </p:txBody>
      </p:sp>
      <p:sp>
        <p:nvSpPr>
          <p:cNvPr id="11267" name="Content Placeholder 2"/>
          <p:cNvSpPr>
            <a:spLocks noGrp="1"/>
          </p:cNvSpPr>
          <p:nvPr>
            <p:ph idx="1"/>
          </p:nvPr>
        </p:nvSpPr>
        <p:spPr>
          <a:xfrm>
            <a:off x="76200" y="1905000"/>
            <a:ext cx="8915400" cy="4800600"/>
          </a:xfrm>
        </p:spPr>
        <p:txBody>
          <a:bodyPr>
            <a:normAutofit/>
          </a:bodyPr>
          <a:lstStyle/>
          <a:p>
            <a:pPr eaLnBrk="1" hangingPunct="1">
              <a:buClr>
                <a:schemeClr val="tx1"/>
              </a:buClr>
            </a:pPr>
            <a:endParaRPr lang="en-US" altLang="en-US" dirty="0" smtClean="0"/>
          </a:p>
          <a:p>
            <a:pPr lvl="0" algn="just"/>
            <a:r>
              <a:rPr lang="en-US" sz="3000" dirty="0">
                <a:solidFill>
                  <a:prstClr val="black"/>
                </a:solidFill>
              </a:rPr>
              <a:t>A schedule of the quantities of a good that buyers are willing and able to purchase at each possible price during a period of time, </a:t>
            </a:r>
            <a:r>
              <a:rPr lang="en-US" sz="3000" dirty="0">
                <a:solidFill>
                  <a:srgbClr val="FF0000"/>
                </a:solidFill>
              </a:rPr>
              <a:t>ceteris paribus</a:t>
            </a:r>
            <a:r>
              <a:rPr lang="en-US" sz="3000" dirty="0">
                <a:solidFill>
                  <a:prstClr val="black"/>
                </a:solidFill>
              </a:rPr>
              <a:t>. [all other things held constant]”</a:t>
            </a:r>
          </a:p>
          <a:p>
            <a:pPr marL="0" indent="0" eaLnBrk="1" hangingPunct="1">
              <a:buClr>
                <a:schemeClr val="tx1"/>
              </a:buClr>
              <a:buNone/>
            </a:pPr>
            <a:endParaRPr lang="en-US" altLang="en-US" dirty="0" smtClean="0"/>
          </a:p>
        </p:txBody>
      </p:sp>
      <p:sp>
        <p:nvSpPr>
          <p:cNvPr id="4" name="Slide Number Placeholder 3"/>
          <p:cNvSpPr>
            <a:spLocks noGrp="1"/>
          </p:cNvSpPr>
          <p:nvPr>
            <p:ph type="sldNum" sz="quarter" idx="12"/>
          </p:nvPr>
        </p:nvSpPr>
        <p:spPr/>
        <p:txBody>
          <a:bodyPr/>
          <a:lstStyle/>
          <a:p>
            <a:pPr>
              <a:defRPr/>
            </a:pPr>
            <a:fld id="{1ADBF05D-9975-4B17-9A0D-4437C7A0748C}" type="slidenum">
              <a:rPr lang="en-US"/>
              <a:pPr>
                <a:defRPr/>
              </a:pPr>
              <a:t>6</a:t>
            </a:fld>
            <a:endParaRPr lang="en-US"/>
          </a:p>
        </p:txBody>
      </p:sp>
    </p:spTree>
    <p:extLst>
      <p:ext uri="{BB962C8B-B14F-4D97-AF65-F5344CB8AC3E}">
        <p14:creationId xmlns:p14="http://schemas.microsoft.com/office/powerpoint/2010/main" val="8567279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381000"/>
            <a:ext cx="7200900" cy="1485900"/>
          </a:xfrm>
        </p:spPr>
        <p:txBody>
          <a:bodyPr>
            <a:normAutofit/>
          </a:bodyPr>
          <a:lstStyle/>
          <a:p>
            <a:pPr algn="ctr"/>
            <a:r>
              <a:rPr lang="en-US" b="1" dirty="0" smtClean="0"/>
              <a:t>Demand schedule vs. Demand curve</a:t>
            </a:r>
            <a:endParaRPr lang="en-US" b="1" dirty="0"/>
          </a:p>
        </p:txBody>
      </p:sp>
      <p:sp>
        <p:nvSpPr>
          <p:cNvPr id="3" name="Content Placeholder 2"/>
          <p:cNvSpPr>
            <a:spLocks noGrp="1"/>
          </p:cNvSpPr>
          <p:nvPr>
            <p:ph idx="1"/>
          </p:nvPr>
        </p:nvSpPr>
        <p:spPr>
          <a:xfrm>
            <a:off x="762000" y="2171700"/>
            <a:ext cx="8077200" cy="4457700"/>
          </a:xfrm>
        </p:spPr>
        <p:txBody>
          <a:bodyPr>
            <a:normAutofit/>
          </a:bodyPr>
          <a:lstStyle/>
          <a:p>
            <a:pPr algn="just"/>
            <a:r>
              <a:rPr lang="en-US" sz="2800" dirty="0" smtClean="0"/>
              <a:t>Demand schedule is one way of showing the relationship between </a:t>
            </a:r>
            <a:r>
              <a:rPr lang="en-US" sz="2800" dirty="0" smtClean="0">
                <a:solidFill>
                  <a:srgbClr val="FF0000"/>
                </a:solidFill>
              </a:rPr>
              <a:t>quantity demanded </a:t>
            </a:r>
            <a:r>
              <a:rPr lang="en-US" sz="2800" dirty="0" smtClean="0"/>
              <a:t>and </a:t>
            </a:r>
            <a:r>
              <a:rPr lang="en-US" sz="2800" dirty="0" smtClean="0">
                <a:solidFill>
                  <a:srgbClr val="FF0000"/>
                </a:solidFill>
              </a:rPr>
              <a:t>price</a:t>
            </a:r>
            <a:r>
              <a:rPr lang="en-US" sz="2800" dirty="0" smtClean="0"/>
              <a:t>. It is a numerical tabulation that shows the quantity that will be demanded at some selected prices.</a:t>
            </a:r>
          </a:p>
          <a:p>
            <a:pPr algn="just"/>
            <a:r>
              <a:rPr lang="en-US" sz="2800" dirty="0" smtClean="0"/>
              <a:t>The demand curve shows the complete relationship between quantity demanded and price.</a:t>
            </a:r>
            <a:endParaRPr lang="en-US" sz="2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noChangeArrowheads="1"/>
          </p:cNvSpPr>
          <p:nvPr>
            <p:ph type="title"/>
          </p:nvPr>
        </p:nvSpPr>
        <p:spPr>
          <a:xfrm>
            <a:off x="606425" y="152400"/>
            <a:ext cx="8080375" cy="1066800"/>
          </a:xfrm>
        </p:spPr>
        <p:txBody>
          <a:bodyPr>
            <a:normAutofit/>
          </a:bodyPr>
          <a:lstStyle/>
          <a:p>
            <a:pPr eaLnBrk="1" hangingPunct="1">
              <a:lnSpc>
                <a:spcPct val="80000"/>
              </a:lnSpc>
            </a:pPr>
            <a:r>
              <a:rPr lang="en-US" sz="4000" b="1" dirty="0" smtClean="0"/>
              <a:t>Ex: Individual Demand Schedule and Demand Curve</a:t>
            </a:r>
          </a:p>
        </p:txBody>
      </p:sp>
      <p:sp>
        <p:nvSpPr>
          <p:cNvPr id="84" name="Slide Number Placeholder 83"/>
          <p:cNvSpPr>
            <a:spLocks noGrp="1"/>
          </p:cNvSpPr>
          <p:nvPr>
            <p:ph type="sldNum" sz="quarter" idx="12"/>
          </p:nvPr>
        </p:nvSpPr>
        <p:spPr/>
        <p:txBody>
          <a:bodyPr/>
          <a:lstStyle/>
          <a:p>
            <a:pPr>
              <a:defRPr/>
            </a:pPr>
            <a:fld id="{C018DD0E-EC88-432B-A1A4-9CDE8B0FF52A}" type="slidenum">
              <a:rPr lang="en-US"/>
              <a:pPr>
                <a:defRPr/>
              </a:pPr>
              <a:t>8</a:t>
            </a:fld>
            <a:endParaRPr lang="en-US"/>
          </a:p>
        </p:txBody>
      </p:sp>
      <p:sp>
        <p:nvSpPr>
          <p:cNvPr id="12291" name="Text Box 4"/>
          <p:cNvSpPr txBox="1">
            <a:spLocks noChangeArrowheads="1"/>
          </p:cNvSpPr>
          <p:nvPr/>
        </p:nvSpPr>
        <p:spPr bwMode="auto">
          <a:xfrm>
            <a:off x="6564313" y="6680200"/>
            <a:ext cx="18034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sz="800" b="1">
                <a:solidFill>
                  <a:schemeClr val="bg1"/>
                </a:solidFill>
                <a:latin typeface="Calibri" pitchFamily="34" charset="0"/>
              </a:rPr>
              <a:t>Copyright © 2004  South-Western</a:t>
            </a:r>
          </a:p>
        </p:txBody>
      </p:sp>
      <p:sp>
        <p:nvSpPr>
          <p:cNvPr id="12292" name="Line 17"/>
          <p:cNvSpPr>
            <a:spLocks noChangeShapeType="1"/>
          </p:cNvSpPr>
          <p:nvPr/>
        </p:nvSpPr>
        <p:spPr bwMode="auto">
          <a:xfrm>
            <a:off x="2989263" y="2525713"/>
            <a:ext cx="147637"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3" name="Line 18"/>
          <p:cNvSpPr>
            <a:spLocks noChangeShapeType="1"/>
          </p:cNvSpPr>
          <p:nvPr/>
        </p:nvSpPr>
        <p:spPr bwMode="auto">
          <a:xfrm>
            <a:off x="2989263" y="3157538"/>
            <a:ext cx="147637"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4" name="Line 19"/>
          <p:cNvSpPr>
            <a:spLocks noChangeShapeType="1"/>
          </p:cNvSpPr>
          <p:nvPr/>
        </p:nvSpPr>
        <p:spPr bwMode="auto">
          <a:xfrm>
            <a:off x="2989263" y="3713163"/>
            <a:ext cx="147637"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5" name="Line 20"/>
          <p:cNvSpPr>
            <a:spLocks noChangeShapeType="1"/>
          </p:cNvSpPr>
          <p:nvPr/>
        </p:nvSpPr>
        <p:spPr bwMode="auto">
          <a:xfrm>
            <a:off x="2989263" y="4306888"/>
            <a:ext cx="147637"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6" name="Line 21"/>
          <p:cNvSpPr>
            <a:spLocks noChangeShapeType="1"/>
          </p:cNvSpPr>
          <p:nvPr/>
        </p:nvSpPr>
        <p:spPr bwMode="auto">
          <a:xfrm>
            <a:off x="2989263" y="4937125"/>
            <a:ext cx="147637"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7" name="Line 22"/>
          <p:cNvSpPr>
            <a:spLocks noChangeShapeType="1"/>
          </p:cNvSpPr>
          <p:nvPr/>
        </p:nvSpPr>
        <p:spPr bwMode="auto">
          <a:xfrm>
            <a:off x="3265488" y="5364163"/>
            <a:ext cx="1587" cy="130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8" name="Line 23"/>
          <p:cNvSpPr>
            <a:spLocks noChangeShapeType="1"/>
          </p:cNvSpPr>
          <p:nvPr/>
        </p:nvSpPr>
        <p:spPr bwMode="auto">
          <a:xfrm>
            <a:off x="3579813" y="5364163"/>
            <a:ext cx="1587" cy="130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9" name="Line 24"/>
          <p:cNvSpPr>
            <a:spLocks noChangeShapeType="1"/>
          </p:cNvSpPr>
          <p:nvPr/>
        </p:nvSpPr>
        <p:spPr bwMode="auto">
          <a:xfrm>
            <a:off x="3894138" y="5364163"/>
            <a:ext cx="1587" cy="130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00" name="Line 25"/>
          <p:cNvSpPr>
            <a:spLocks noChangeShapeType="1"/>
          </p:cNvSpPr>
          <p:nvPr/>
        </p:nvSpPr>
        <p:spPr bwMode="auto">
          <a:xfrm>
            <a:off x="4189413" y="5364163"/>
            <a:ext cx="1587" cy="130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01" name="Line 26"/>
          <p:cNvSpPr>
            <a:spLocks noChangeShapeType="1"/>
          </p:cNvSpPr>
          <p:nvPr/>
        </p:nvSpPr>
        <p:spPr bwMode="auto">
          <a:xfrm>
            <a:off x="4484688" y="5364163"/>
            <a:ext cx="1587" cy="130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02" name="Line 27"/>
          <p:cNvSpPr>
            <a:spLocks noChangeShapeType="1"/>
          </p:cNvSpPr>
          <p:nvPr/>
        </p:nvSpPr>
        <p:spPr bwMode="auto">
          <a:xfrm>
            <a:off x="4779963" y="5364163"/>
            <a:ext cx="1587" cy="130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03" name="Line 28"/>
          <p:cNvSpPr>
            <a:spLocks noChangeShapeType="1"/>
          </p:cNvSpPr>
          <p:nvPr/>
        </p:nvSpPr>
        <p:spPr bwMode="auto">
          <a:xfrm>
            <a:off x="5094288" y="5364163"/>
            <a:ext cx="1587" cy="130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04" name="Line 29"/>
          <p:cNvSpPr>
            <a:spLocks noChangeShapeType="1"/>
          </p:cNvSpPr>
          <p:nvPr/>
        </p:nvSpPr>
        <p:spPr bwMode="auto">
          <a:xfrm>
            <a:off x="5389563" y="5364163"/>
            <a:ext cx="1587" cy="130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05" name="Line 30"/>
          <p:cNvSpPr>
            <a:spLocks noChangeShapeType="1"/>
          </p:cNvSpPr>
          <p:nvPr/>
        </p:nvSpPr>
        <p:spPr bwMode="auto">
          <a:xfrm>
            <a:off x="5703888" y="5364163"/>
            <a:ext cx="1587" cy="130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06" name="Line 31"/>
          <p:cNvSpPr>
            <a:spLocks noChangeShapeType="1"/>
          </p:cNvSpPr>
          <p:nvPr/>
        </p:nvSpPr>
        <p:spPr bwMode="auto">
          <a:xfrm>
            <a:off x="5999163" y="5364163"/>
            <a:ext cx="1587" cy="130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07" name="Line 32"/>
          <p:cNvSpPr>
            <a:spLocks noChangeShapeType="1"/>
          </p:cNvSpPr>
          <p:nvPr/>
        </p:nvSpPr>
        <p:spPr bwMode="auto">
          <a:xfrm>
            <a:off x="6276975" y="5364163"/>
            <a:ext cx="1588" cy="130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7633" name="Line 33"/>
          <p:cNvSpPr>
            <a:spLocks noChangeShapeType="1"/>
          </p:cNvSpPr>
          <p:nvPr/>
        </p:nvSpPr>
        <p:spPr bwMode="auto">
          <a:xfrm>
            <a:off x="3044825" y="1951038"/>
            <a:ext cx="3516313" cy="3522662"/>
          </a:xfrm>
          <a:prstGeom prst="line">
            <a:avLst/>
          </a:prstGeom>
          <a:noFill/>
          <a:ln w="55563">
            <a:solidFill>
              <a:srgbClr val="004C9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7634" name="Oval 34"/>
          <p:cNvSpPr>
            <a:spLocks noChangeArrowheads="1"/>
          </p:cNvSpPr>
          <p:nvPr/>
        </p:nvSpPr>
        <p:spPr bwMode="auto">
          <a:xfrm>
            <a:off x="2951163" y="1857375"/>
            <a:ext cx="130175" cy="1301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alibri" pitchFamily="34" charset="0"/>
            </a:endParaRPr>
          </a:p>
        </p:txBody>
      </p:sp>
      <p:sp>
        <p:nvSpPr>
          <p:cNvPr id="537635" name="Oval 35"/>
          <p:cNvSpPr>
            <a:spLocks noChangeArrowheads="1"/>
          </p:cNvSpPr>
          <p:nvPr/>
        </p:nvSpPr>
        <p:spPr bwMode="auto">
          <a:xfrm>
            <a:off x="6499225" y="5381625"/>
            <a:ext cx="128588" cy="1301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alibri" pitchFamily="34" charset="0"/>
            </a:endParaRPr>
          </a:p>
        </p:txBody>
      </p:sp>
      <p:grpSp>
        <p:nvGrpSpPr>
          <p:cNvPr id="2" name="Group 36"/>
          <p:cNvGrpSpPr>
            <a:grpSpLocks/>
          </p:cNvGrpSpPr>
          <p:nvPr/>
        </p:nvGrpSpPr>
        <p:grpSpPr bwMode="auto">
          <a:xfrm>
            <a:off x="3136900" y="2451100"/>
            <a:ext cx="517525" cy="2913063"/>
            <a:chOff x="1976" y="1544"/>
            <a:chExt cx="326" cy="1835"/>
          </a:xfrm>
        </p:grpSpPr>
        <p:sp>
          <p:nvSpPr>
            <p:cNvPr id="12372" name="Freeform 37"/>
            <p:cNvSpPr>
              <a:spLocks/>
            </p:cNvSpPr>
            <p:nvPr/>
          </p:nvSpPr>
          <p:spPr bwMode="auto">
            <a:xfrm>
              <a:off x="1976" y="1591"/>
              <a:ext cx="279" cy="1788"/>
            </a:xfrm>
            <a:custGeom>
              <a:avLst/>
              <a:gdLst>
                <a:gd name="T0" fmla="*/ 0 w 279"/>
                <a:gd name="T1" fmla="*/ 0 h 1788"/>
                <a:gd name="T2" fmla="*/ 279 w 279"/>
                <a:gd name="T3" fmla="*/ 0 h 1788"/>
                <a:gd name="T4" fmla="*/ 279 w 279"/>
                <a:gd name="T5" fmla="*/ 1788 h 1788"/>
                <a:gd name="T6" fmla="*/ 0 60000 65536"/>
                <a:gd name="T7" fmla="*/ 0 60000 65536"/>
                <a:gd name="T8" fmla="*/ 0 60000 65536"/>
                <a:gd name="T9" fmla="*/ 0 w 279"/>
                <a:gd name="T10" fmla="*/ 0 h 1788"/>
                <a:gd name="T11" fmla="*/ 279 w 279"/>
                <a:gd name="T12" fmla="*/ 1788 h 1788"/>
              </a:gdLst>
              <a:ahLst/>
              <a:cxnLst>
                <a:cxn ang="T6">
                  <a:pos x="T0" y="T1"/>
                </a:cxn>
                <a:cxn ang="T7">
                  <a:pos x="T2" y="T3"/>
                </a:cxn>
                <a:cxn ang="T8">
                  <a:pos x="T4" y="T5"/>
                </a:cxn>
              </a:cxnLst>
              <a:rect l="T9" t="T10" r="T11" b="T12"/>
              <a:pathLst>
                <a:path w="279" h="1788">
                  <a:moveTo>
                    <a:pt x="0" y="0"/>
                  </a:moveTo>
                  <a:lnTo>
                    <a:pt x="279" y="0"/>
                  </a:lnTo>
                  <a:lnTo>
                    <a:pt x="279" y="1788"/>
                  </a:lnTo>
                </a:path>
              </a:pathLst>
            </a:custGeom>
            <a:noFill/>
            <a:ln w="1905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73" name="Oval 38"/>
            <p:cNvSpPr>
              <a:spLocks noChangeArrowheads="1"/>
            </p:cNvSpPr>
            <p:nvPr/>
          </p:nvSpPr>
          <p:spPr bwMode="auto">
            <a:xfrm>
              <a:off x="2232" y="1544"/>
              <a:ext cx="70" cy="8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alibri" pitchFamily="34" charset="0"/>
              </a:endParaRPr>
            </a:p>
          </p:txBody>
        </p:sp>
      </p:grpSp>
      <p:grpSp>
        <p:nvGrpSpPr>
          <p:cNvPr id="3" name="Group 39"/>
          <p:cNvGrpSpPr>
            <a:grpSpLocks/>
          </p:cNvGrpSpPr>
          <p:nvPr/>
        </p:nvGrpSpPr>
        <p:grpSpPr bwMode="auto">
          <a:xfrm>
            <a:off x="3136900" y="3082925"/>
            <a:ext cx="1144588" cy="2281238"/>
            <a:chOff x="1976" y="1942"/>
            <a:chExt cx="721" cy="1437"/>
          </a:xfrm>
        </p:grpSpPr>
        <p:sp>
          <p:nvSpPr>
            <p:cNvPr id="12370" name="Oval 40"/>
            <p:cNvSpPr>
              <a:spLocks noChangeArrowheads="1"/>
            </p:cNvSpPr>
            <p:nvPr/>
          </p:nvSpPr>
          <p:spPr bwMode="auto">
            <a:xfrm>
              <a:off x="2627" y="1942"/>
              <a:ext cx="70" cy="8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alibri" pitchFamily="34" charset="0"/>
              </a:endParaRPr>
            </a:p>
          </p:txBody>
        </p:sp>
        <p:sp>
          <p:nvSpPr>
            <p:cNvPr id="12371" name="Freeform 41"/>
            <p:cNvSpPr>
              <a:spLocks/>
            </p:cNvSpPr>
            <p:nvPr/>
          </p:nvSpPr>
          <p:spPr bwMode="auto">
            <a:xfrm>
              <a:off x="1976" y="1988"/>
              <a:ext cx="663" cy="1391"/>
            </a:xfrm>
            <a:custGeom>
              <a:avLst/>
              <a:gdLst>
                <a:gd name="T0" fmla="*/ 0 w 663"/>
                <a:gd name="T1" fmla="*/ 0 h 1391"/>
                <a:gd name="T2" fmla="*/ 663 w 663"/>
                <a:gd name="T3" fmla="*/ 0 h 1391"/>
                <a:gd name="T4" fmla="*/ 663 w 663"/>
                <a:gd name="T5" fmla="*/ 1391 h 1391"/>
                <a:gd name="T6" fmla="*/ 0 60000 65536"/>
                <a:gd name="T7" fmla="*/ 0 60000 65536"/>
                <a:gd name="T8" fmla="*/ 0 60000 65536"/>
                <a:gd name="T9" fmla="*/ 0 w 663"/>
                <a:gd name="T10" fmla="*/ 0 h 1391"/>
                <a:gd name="T11" fmla="*/ 663 w 663"/>
                <a:gd name="T12" fmla="*/ 1391 h 1391"/>
              </a:gdLst>
              <a:ahLst/>
              <a:cxnLst>
                <a:cxn ang="T6">
                  <a:pos x="T0" y="T1"/>
                </a:cxn>
                <a:cxn ang="T7">
                  <a:pos x="T2" y="T3"/>
                </a:cxn>
                <a:cxn ang="T8">
                  <a:pos x="T4" y="T5"/>
                </a:cxn>
              </a:cxnLst>
              <a:rect l="T9" t="T10" r="T11" b="T12"/>
              <a:pathLst>
                <a:path w="663" h="1391">
                  <a:moveTo>
                    <a:pt x="0" y="0"/>
                  </a:moveTo>
                  <a:lnTo>
                    <a:pt x="663" y="0"/>
                  </a:lnTo>
                  <a:lnTo>
                    <a:pt x="663" y="1391"/>
                  </a:lnTo>
                </a:path>
              </a:pathLst>
            </a:custGeom>
            <a:noFill/>
            <a:ln w="1905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4" name="Group 42"/>
          <p:cNvGrpSpPr>
            <a:grpSpLocks/>
          </p:cNvGrpSpPr>
          <p:nvPr/>
        </p:nvGrpSpPr>
        <p:grpSpPr bwMode="auto">
          <a:xfrm>
            <a:off x="3136900" y="3657600"/>
            <a:ext cx="1717675" cy="1706563"/>
            <a:chOff x="1976" y="2304"/>
            <a:chExt cx="1082" cy="1075"/>
          </a:xfrm>
        </p:grpSpPr>
        <p:sp>
          <p:nvSpPr>
            <p:cNvPr id="12368" name="Oval 43"/>
            <p:cNvSpPr>
              <a:spLocks noChangeArrowheads="1"/>
            </p:cNvSpPr>
            <p:nvPr/>
          </p:nvSpPr>
          <p:spPr bwMode="auto">
            <a:xfrm>
              <a:off x="2988" y="2304"/>
              <a:ext cx="70" cy="8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alibri" pitchFamily="34" charset="0"/>
              </a:endParaRPr>
            </a:p>
          </p:txBody>
        </p:sp>
        <p:sp>
          <p:nvSpPr>
            <p:cNvPr id="12369" name="Freeform 44"/>
            <p:cNvSpPr>
              <a:spLocks/>
            </p:cNvSpPr>
            <p:nvPr/>
          </p:nvSpPr>
          <p:spPr bwMode="auto">
            <a:xfrm>
              <a:off x="1976" y="2339"/>
              <a:ext cx="1035" cy="1040"/>
            </a:xfrm>
            <a:custGeom>
              <a:avLst/>
              <a:gdLst>
                <a:gd name="T0" fmla="*/ 0 w 1035"/>
                <a:gd name="T1" fmla="*/ 0 h 1040"/>
                <a:gd name="T2" fmla="*/ 1035 w 1035"/>
                <a:gd name="T3" fmla="*/ 0 h 1040"/>
                <a:gd name="T4" fmla="*/ 1035 w 1035"/>
                <a:gd name="T5" fmla="*/ 1040 h 1040"/>
                <a:gd name="T6" fmla="*/ 0 60000 65536"/>
                <a:gd name="T7" fmla="*/ 0 60000 65536"/>
                <a:gd name="T8" fmla="*/ 0 60000 65536"/>
                <a:gd name="T9" fmla="*/ 0 w 1035"/>
                <a:gd name="T10" fmla="*/ 0 h 1040"/>
                <a:gd name="T11" fmla="*/ 1035 w 1035"/>
                <a:gd name="T12" fmla="*/ 1040 h 1040"/>
              </a:gdLst>
              <a:ahLst/>
              <a:cxnLst>
                <a:cxn ang="T6">
                  <a:pos x="T0" y="T1"/>
                </a:cxn>
                <a:cxn ang="T7">
                  <a:pos x="T2" y="T3"/>
                </a:cxn>
                <a:cxn ang="T8">
                  <a:pos x="T4" y="T5"/>
                </a:cxn>
              </a:cxnLst>
              <a:rect l="T9" t="T10" r="T11" b="T12"/>
              <a:pathLst>
                <a:path w="1035" h="1040">
                  <a:moveTo>
                    <a:pt x="0" y="0"/>
                  </a:moveTo>
                  <a:lnTo>
                    <a:pt x="1035" y="0"/>
                  </a:lnTo>
                  <a:lnTo>
                    <a:pt x="1035" y="1040"/>
                  </a:lnTo>
                </a:path>
              </a:pathLst>
            </a:custGeom>
            <a:noFill/>
            <a:ln w="1905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 name="Group 45"/>
          <p:cNvGrpSpPr>
            <a:grpSpLocks/>
          </p:cNvGrpSpPr>
          <p:nvPr/>
        </p:nvGrpSpPr>
        <p:grpSpPr bwMode="auto">
          <a:xfrm>
            <a:off x="3136900" y="4213225"/>
            <a:ext cx="2308225" cy="1150938"/>
            <a:chOff x="1976" y="2654"/>
            <a:chExt cx="1454" cy="725"/>
          </a:xfrm>
        </p:grpSpPr>
        <p:sp>
          <p:nvSpPr>
            <p:cNvPr id="12366" name="Oval 46"/>
            <p:cNvSpPr>
              <a:spLocks noChangeArrowheads="1"/>
            </p:cNvSpPr>
            <p:nvPr/>
          </p:nvSpPr>
          <p:spPr bwMode="auto">
            <a:xfrm>
              <a:off x="3349" y="2654"/>
              <a:ext cx="81" cy="8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alibri" pitchFamily="34" charset="0"/>
              </a:endParaRPr>
            </a:p>
          </p:txBody>
        </p:sp>
        <p:sp>
          <p:nvSpPr>
            <p:cNvPr id="12367" name="Freeform 47"/>
            <p:cNvSpPr>
              <a:spLocks/>
            </p:cNvSpPr>
            <p:nvPr/>
          </p:nvSpPr>
          <p:spPr bwMode="auto">
            <a:xfrm>
              <a:off x="1976" y="2713"/>
              <a:ext cx="1419" cy="666"/>
            </a:xfrm>
            <a:custGeom>
              <a:avLst/>
              <a:gdLst>
                <a:gd name="T0" fmla="*/ 0 w 1419"/>
                <a:gd name="T1" fmla="*/ 0 h 666"/>
                <a:gd name="T2" fmla="*/ 1419 w 1419"/>
                <a:gd name="T3" fmla="*/ 0 h 666"/>
                <a:gd name="T4" fmla="*/ 1419 w 1419"/>
                <a:gd name="T5" fmla="*/ 666 h 666"/>
                <a:gd name="T6" fmla="*/ 0 60000 65536"/>
                <a:gd name="T7" fmla="*/ 0 60000 65536"/>
                <a:gd name="T8" fmla="*/ 0 60000 65536"/>
                <a:gd name="T9" fmla="*/ 0 w 1419"/>
                <a:gd name="T10" fmla="*/ 0 h 666"/>
                <a:gd name="T11" fmla="*/ 1419 w 1419"/>
                <a:gd name="T12" fmla="*/ 666 h 666"/>
              </a:gdLst>
              <a:ahLst/>
              <a:cxnLst>
                <a:cxn ang="T6">
                  <a:pos x="T0" y="T1"/>
                </a:cxn>
                <a:cxn ang="T7">
                  <a:pos x="T2" y="T3"/>
                </a:cxn>
                <a:cxn ang="T8">
                  <a:pos x="T4" y="T5"/>
                </a:cxn>
              </a:cxnLst>
              <a:rect l="T9" t="T10" r="T11" b="T12"/>
              <a:pathLst>
                <a:path w="1419" h="666">
                  <a:moveTo>
                    <a:pt x="0" y="0"/>
                  </a:moveTo>
                  <a:lnTo>
                    <a:pt x="1419" y="0"/>
                  </a:lnTo>
                  <a:lnTo>
                    <a:pt x="1419" y="666"/>
                  </a:lnTo>
                </a:path>
              </a:pathLst>
            </a:custGeom>
            <a:noFill/>
            <a:ln w="1905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2315" name="Line 48"/>
          <p:cNvSpPr>
            <a:spLocks noChangeShapeType="1"/>
          </p:cNvSpPr>
          <p:nvPr/>
        </p:nvSpPr>
        <p:spPr bwMode="auto">
          <a:xfrm flipH="1">
            <a:off x="2989263" y="1912938"/>
            <a:ext cx="147637"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16" name="Line 49"/>
          <p:cNvSpPr>
            <a:spLocks noChangeShapeType="1"/>
          </p:cNvSpPr>
          <p:nvPr/>
        </p:nvSpPr>
        <p:spPr bwMode="auto">
          <a:xfrm>
            <a:off x="6608763" y="5364163"/>
            <a:ext cx="1587" cy="130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6" name="Group 50"/>
          <p:cNvGrpSpPr>
            <a:grpSpLocks/>
          </p:cNvGrpSpPr>
          <p:nvPr/>
        </p:nvGrpSpPr>
        <p:grpSpPr bwMode="auto">
          <a:xfrm>
            <a:off x="3136900" y="4862513"/>
            <a:ext cx="2936875" cy="501650"/>
            <a:chOff x="1976" y="3063"/>
            <a:chExt cx="1850" cy="316"/>
          </a:xfrm>
        </p:grpSpPr>
        <p:sp>
          <p:nvSpPr>
            <p:cNvPr id="12364" name="Freeform 51"/>
            <p:cNvSpPr>
              <a:spLocks/>
            </p:cNvSpPr>
            <p:nvPr/>
          </p:nvSpPr>
          <p:spPr bwMode="auto">
            <a:xfrm>
              <a:off x="1976" y="3110"/>
              <a:ext cx="1815" cy="269"/>
            </a:xfrm>
            <a:custGeom>
              <a:avLst/>
              <a:gdLst>
                <a:gd name="T0" fmla="*/ 0 w 1815"/>
                <a:gd name="T1" fmla="*/ 0 h 269"/>
                <a:gd name="T2" fmla="*/ 1815 w 1815"/>
                <a:gd name="T3" fmla="*/ 0 h 269"/>
                <a:gd name="T4" fmla="*/ 1815 w 1815"/>
                <a:gd name="T5" fmla="*/ 269 h 269"/>
                <a:gd name="T6" fmla="*/ 0 60000 65536"/>
                <a:gd name="T7" fmla="*/ 0 60000 65536"/>
                <a:gd name="T8" fmla="*/ 0 60000 65536"/>
                <a:gd name="T9" fmla="*/ 0 w 1815"/>
                <a:gd name="T10" fmla="*/ 0 h 269"/>
                <a:gd name="T11" fmla="*/ 1815 w 1815"/>
                <a:gd name="T12" fmla="*/ 269 h 269"/>
              </a:gdLst>
              <a:ahLst/>
              <a:cxnLst>
                <a:cxn ang="T6">
                  <a:pos x="T0" y="T1"/>
                </a:cxn>
                <a:cxn ang="T7">
                  <a:pos x="T2" y="T3"/>
                </a:cxn>
                <a:cxn ang="T8">
                  <a:pos x="T4" y="T5"/>
                </a:cxn>
              </a:cxnLst>
              <a:rect l="T9" t="T10" r="T11" b="T12"/>
              <a:pathLst>
                <a:path w="1815" h="269">
                  <a:moveTo>
                    <a:pt x="0" y="0"/>
                  </a:moveTo>
                  <a:lnTo>
                    <a:pt x="1815" y="0"/>
                  </a:lnTo>
                  <a:lnTo>
                    <a:pt x="1815" y="269"/>
                  </a:lnTo>
                </a:path>
              </a:pathLst>
            </a:custGeom>
            <a:noFill/>
            <a:ln w="1905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65" name="Oval 52"/>
            <p:cNvSpPr>
              <a:spLocks noChangeArrowheads="1"/>
            </p:cNvSpPr>
            <p:nvPr/>
          </p:nvSpPr>
          <p:spPr bwMode="auto">
            <a:xfrm>
              <a:off x="3745" y="3063"/>
              <a:ext cx="81" cy="8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alibri" pitchFamily="34" charset="0"/>
              </a:endParaRPr>
            </a:p>
          </p:txBody>
        </p:sp>
      </p:grpSp>
      <p:sp>
        <p:nvSpPr>
          <p:cNvPr id="12318" name="Freeform 53"/>
          <p:cNvSpPr>
            <a:spLocks/>
          </p:cNvSpPr>
          <p:nvPr/>
        </p:nvSpPr>
        <p:spPr bwMode="auto">
          <a:xfrm>
            <a:off x="2989263" y="5475288"/>
            <a:ext cx="4968875" cy="1587"/>
          </a:xfrm>
          <a:custGeom>
            <a:avLst/>
            <a:gdLst>
              <a:gd name="T0" fmla="*/ 0 w 3130"/>
              <a:gd name="T1" fmla="*/ 0 h 1587"/>
              <a:gd name="T2" fmla="*/ 2147483647 w 3130"/>
              <a:gd name="T3" fmla="*/ 0 h 1587"/>
              <a:gd name="T4" fmla="*/ 0 w 3130"/>
              <a:gd name="T5" fmla="*/ 0 h 1587"/>
              <a:gd name="T6" fmla="*/ 0 60000 65536"/>
              <a:gd name="T7" fmla="*/ 0 60000 65536"/>
              <a:gd name="T8" fmla="*/ 0 60000 65536"/>
              <a:gd name="T9" fmla="*/ 0 w 3130"/>
              <a:gd name="T10" fmla="*/ 0 h 1587"/>
              <a:gd name="T11" fmla="*/ 3130 w 3130"/>
              <a:gd name="T12" fmla="*/ 1587 h 1587"/>
            </a:gdLst>
            <a:ahLst/>
            <a:cxnLst>
              <a:cxn ang="T6">
                <a:pos x="T0" y="T1"/>
              </a:cxn>
              <a:cxn ang="T7">
                <a:pos x="T2" y="T3"/>
              </a:cxn>
              <a:cxn ang="T8">
                <a:pos x="T4" y="T5"/>
              </a:cxn>
            </a:cxnLst>
            <a:rect l="T9" t="T10" r="T11" b="T12"/>
            <a:pathLst>
              <a:path w="3130" h="1587">
                <a:moveTo>
                  <a:pt x="0" y="0"/>
                </a:moveTo>
                <a:lnTo>
                  <a:pt x="313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9" name="Line 54"/>
          <p:cNvSpPr>
            <a:spLocks noChangeShapeType="1"/>
          </p:cNvSpPr>
          <p:nvPr/>
        </p:nvSpPr>
        <p:spPr bwMode="auto">
          <a:xfrm>
            <a:off x="2989263" y="5475288"/>
            <a:ext cx="4968875"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20" name="Freeform 55"/>
          <p:cNvSpPr>
            <a:spLocks/>
          </p:cNvSpPr>
          <p:nvPr/>
        </p:nvSpPr>
        <p:spPr bwMode="auto">
          <a:xfrm>
            <a:off x="3006725" y="1301750"/>
            <a:ext cx="1588" cy="4192588"/>
          </a:xfrm>
          <a:custGeom>
            <a:avLst/>
            <a:gdLst>
              <a:gd name="T0" fmla="*/ 0 w 1588"/>
              <a:gd name="T1" fmla="*/ 0 h 2641"/>
              <a:gd name="T2" fmla="*/ 0 w 1588"/>
              <a:gd name="T3" fmla="*/ 2147483647 h 2641"/>
              <a:gd name="T4" fmla="*/ 0 w 1588"/>
              <a:gd name="T5" fmla="*/ 0 h 2641"/>
              <a:gd name="T6" fmla="*/ 0 60000 65536"/>
              <a:gd name="T7" fmla="*/ 0 60000 65536"/>
              <a:gd name="T8" fmla="*/ 0 60000 65536"/>
              <a:gd name="T9" fmla="*/ 0 w 1588"/>
              <a:gd name="T10" fmla="*/ 0 h 2641"/>
              <a:gd name="T11" fmla="*/ 1588 w 1588"/>
              <a:gd name="T12" fmla="*/ 2641 h 2641"/>
            </a:gdLst>
            <a:ahLst/>
            <a:cxnLst>
              <a:cxn ang="T6">
                <a:pos x="T0" y="T1"/>
              </a:cxn>
              <a:cxn ang="T7">
                <a:pos x="T2" y="T3"/>
              </a:cxn>
              <a:cxn ang="T8">
                <a:pos x="T4" y="T5"/>
              </a:cxn>
            </a:cxnLst>
            <a:rect l="T9" t="T10" r="T11" b="T12"/>
            <a:pathLst>
              <a:path w="1588" h="2641">
                <a:moveTo>
                  <a:pt x="0" y="0"/>
                </a:moveTo>
                <a:lnTo>
                  <a:pt x="0" y="2641"/>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21" name="Line 56"/>
          <p:cNvSpPr>
            <a:spLocks noChangeShapeType="1"/>
          </p:cNvSpPr>
          <p:nvPr/>
        </p:nvSpPr>
        <p:spPr bwMode="auto">
          <a:xfrm>
            <a:off x="3006725" y="1301750"/>
            <a:ext cx="1588" cy="4192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7657" name="Line 57"/>
          <p:cNvSpPr>
            <a:spLocks noChangeShapeType="1"/>
          </p:cNvSpPr>
          <p:nvPr/>
        </p:nvSpPr>
        <p:spPr bwMode="auto">
          <a:xfrm flipH="1">
            <a:off x="4208463" y="5772150"/>
            <a:ext cx="554037" cy="1588"/>
          </a:xfrm>
          <a:prstGeom prst="line">
            <a:avLst/>
          </a:prstGeom>
          <a:noFill/>
          <a:ln w="19050">
            <a:solidFill>
              <a:srgbClr val="000000"/>
            </a:solidFill>
            <a:round/>
            <a:headEnd type="stealth" w="med" len="med"/>
            <a:tailEnd/>
          </a:ln>
          <a:extLst>
            <a:ext uri="{909E8E84-426E-40DD-AFC4-6F175D3DCCD1}">
              <a14:hiddenFill xmlns:a14="http://schemas.microsoft.com/office/drawing/2010/main">
                <a:noFill/>
              </a14:hiddenFill>
            </a:ext>
          </a:extLst>
        </p:spPr>
        <p:txBody>
          <a:bodyPr/>
          <a:lstStyle/>
          <a:p>
            <a:endParaRPr lang="en-US"/>
          </a:p>
        </p:txBody>
      </p:sp>
      <p:sp>
        <p:nvSpPr>
          <p:cNvPr id="12323" name="Rectangle 58"/>
          <p:cNvSpPr>
            <a:spLocks noChangeArrowheads="1"/>
          </p:cNvSpPr>
          <p:nvPr/>
        </p:nvSpPr>
        <p:spPr bwMode="auto">
          <a:xfrm>
            <a:off x="2163763" y="1230313"/>
            <a:ext cx="83185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b="1">
                <a:solidFill>
                  <a:srgbClr val="000000"/>
                </a:solidFill>
                <a:latin typeface="Calibri" pitchFamily="34" charset="0"/>
              </a:rPr>
              <a:t>Price of</a:t>
            </a:r>
            <a:endParaRPr lang="en-US" sz="2400">
              <a:latin typeface="Times New Roman" pitchFamily="18" charset="0"/>
            </a:endParaRPr>
          </a:p>
        </p:txBody>
      </p:sp>
      <p:sp>
        <p:nvSpPr>
          <p:cNvPr id="12324" name="Rectangle 59"/>
          <p:cNvSpPr>
            <a:spLocks noChangeArrowheads="1"/>
          </p:cNvSpPr>
          <p:nvPr/>
        </p:nvSpPr>
        <p:spPr bwMode="auto">
          <a:xfrm>
            <a:off x="1387475" y="1476375"/>
            <a:ext cx="16335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b="1">
                <a:solidFill>
                  <a:srgbClr val="000000"/>
                </a:solidFill>
                <a:latin typeface="Calibri" pitchFamily="34" charset="0"/>
              </a:rPr>
              <a:t>Ice-Cream Cone</a:t>
            </a:r>
            <a:endParaRPr lang="en-US" sz="2400">
              <a:latin typeface="Times New Roman" pitchFamily="18" charset="0"/>
            </a:endParaRPr>
          </a:p>
        </p:txBody>
      </p:sp>
      <p:sp>
        <p:nvSpPr>
          <p:cNvPr id="12325" name="Rectangle 60"/>
          <p:cNvSpPr>
            <a:spLocks noChangeArrowheads="1"/>
          </p:cNvSpPr>
          <p:nvPr/>
        </p:nvSpPr>
        <p:spPr bwMode="auto">
          <a:xfrm>
            <a:off x="2909888" y="5497513"/>
            <a:ext cx="20320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solidFill>
                  <a:srgbClr val="000000"/>
                </a:solidFill>
                <a:latin typeface="Calibri" pitchFamily="34" charset="0"/>
              </a:rPr>
              <a:t>0</a:t>
            </a:r>
            <a:endParaRPr lang="en-US" sz="2400">
              <a:latin typeface="Times New Roman" pitchFamily="18" charset="0"/>
            </a:endParaRPr>
          </a:p>
        </p:txBody>
      </p:sp>
      <p:sp>
        <p:nvSpPr>
          <p:cNvPr id="12326" name="Rectangle 61"/>
          <p:cNvSpPr>
            <a:spLocks noChangeArrowheads="1"/>
          </p:cNvSpPr>
          <p:nvPr/>
        </p:nvSpPr>
        <p:spPr bwMode="auto">
          <a:xfrm>
            <a:off x="2503488" y="2411413"/>
            <a:ext cx="481012"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solidFill>
                  <a:srgbClr val="000000"/>
                </a:solidFill>
                <a:latin typeface="Calibri" pitchFamily="34" charset="0"/>
              </a:rPr>
              <a:t>2.50</a:t>
            </a:r>
            <a:endParaRPr lang="en-US" sz="2400">
              <a:latin typeface="Times New Roman" pitchFamily="18" charset="0"/>
            </a:endParaRPr>
          </a:p>
        </p:txBody>
      </p:sp>
      <p:sp>
        <p:nvSpPr>
          <p:cNvPr id="12327" name="Rectangle 62"/>
          <p:cNvSpPr>
            <a:spLocks noChangeArrowheads="1"/>
          </p:cNvSpPr>
          <p:nvPr/>
        </p:nvSpPr>
        <p:spPr bwMode="auto">
          <a:xfrm>
            <a:off x="2503488" y="3027363"/>
            <a:ext cx="481012"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solidFill>
                  <a:srgbClr val="000000"/>
                </a:solidFill>
                <a:latin typeface="Calibri" pitchFamily="34" charset="0"/>
              </a:rPr>
              <a:t>2.00</a:t>
            </a:r>
            <a:endParaRPr lang="en-US" sz="2400">
              <a:latin typeface="Times New Roman" pitchFamily="18" charset="0"/>
            </a:endParaRPr>
          </a:p>
        </p:txBody>
      </p:sp>
      <p:sp>
        <p:nvSpPr>
          <p:cNvPr id="12328" name="Rectangle 63"/>
          <p:cNvSpPr>
            <a:spLocks noChangeArrowheads="1"/>
          </p:cNvSpPr>
          <p:nvPr/>
        </p:nvSpPr>
        <p:spPr bwMode="auto">
          <a:xfrm>
            <a:off x="2503488" y="3600450"/>
            <a:ext cx="48101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solidFill>
                  <a:srgbClr val="000000"/>
                </a:solidFill>
                <a:latin typeface="Calibri" pitchFamily="34" charset="0"/>
              </a:rPr>
              <a:t>1.50</a:t>
            </a:r>
            <a:endParaRPr lang="en-US" sz="2400">
              <a:latin typeface="Times New Roman" pitchFamily="18" charset="0"/>
            </a:endParaRPr>
          </a:p>
        </p:txBody>
      </p:sp>
      <p:sp>
        <p:nvSpPr>
          <p:cNvPr id="12329" name="Rectangle 64"/>
          <p:cNvSpPr>
            <a:spLocks noChangeArrowheads="1"/>
          </p:cNvSpPr>
          <p:nvPr/>
        </p:nvSpPr>
        <p:spPr bwMode="auto">
          <a:xfrm>
            <a:off x="2503488" y="4197350"/>
            <a:ext cx="48101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solidFill>
                  <a:srgbClr val="000000"/>
                </a:solidFill>
                <a:latin typeface="Calibri" pitchFamily="34" charset="0"/>
              </a:rPr>
              <a:t>1.00</a:t>
            </a:r>
            <a:endParaRPr lang="en-US" sz="2400">
              <a:latin typeface="Times New Roman" pitchFamily="18" charset="0"/>
            </a:endParaRPr>
          </a:p>
        </p:txBody>
      </p:sp>
      <p:sp>
        <p:nvSpPr>
          <p:cNvPr id="12330" name="Rectangle 65"/>
          <p:cNvSpPr>
            <a:spLocks noChangeArrowheads="1"/>
          </p:cNvSpPr>
          <p:nvPr/>
        </p:nvSpPr>
        <p:spPr bwMode="auto">
          <a:xfrm>
            <a:off x="2503488" y="4814888"/>
            <a:ext cx="481012"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solidFill>
                  <a:srgbClr val="000000"/>
                </a:solidFill>
                <a:latin typeface="Calibri" pitchFamily="34" charset="0"/>
              </a:rPr>
              <a:t>0.50</a:t>
            </a:r>
            <a:endParaRPr lang="en-US" sz="2400">
              <a:latin typeface="Times New Roman" pitchFamily="18" charset="0"/>
            </a:endParaRPr>
          </a:p>
        </p:txBody>
      </p:sp>
      <p:sp>
        <p:nvSpPr>
          <p:cNvPr id="12331" name="Rectangle 66"/>
          <p:cNvSpPr>
            <a:spLocks noChangeArrowheads="1"/>
          </p:cNvSpPr>
          <p:nvPr/>
        </p:nvSpPr>
        <p:spPr bwMode="auto">
          <a:xfrm>
            <a:off x="3211513" y="5497513"/>
            <a:ext cx="20320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solidFill>
                  <a:srgbClr val="000000"/>
                </a:solidFill>
                <a:latin typeface="Calibri" pitchFamily="34" charset="0"/>
              </a:rPr>
              <a:t>1</a:t>
            </a:r>
            <a:endParaRPr lang="en-US" sz="2400">
              <a:latin typeface="Times New Roman" pitchFamily="18" charset="0"/>
            </a:endParaRPr>
          </a:p>
        </p:txBody>
      </p:sp>
      <p:sp>
        <p:nvSpPr>
          <p:cNvPr id="12332" name="Rectangle 67"/>
          <p:cNvSpPr>
            <a:spLocks noChangeArrowheads="1"/>
          </p:cNvSpPr>
          <p:nvPr/>
        </p:nvSpPr>
        <p:spPr bwMode="auto">
          <a:xfrm>
            <a:off x="3513138" y="5497513"/>
            <a:ext cx="20320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solidFill>
                  <a:srgbClr val="000000"/>
                </a:solidFill>
                <a:latin typeface="Calibri" pitchFamily="34" charset="0"/>
              </a:rPr>
              <a:t>2</a:t>
            </a:r>
            <a:endParaRPr lang="en-US" sz="2400">
              <a:latin typeface="Times New Roman" pitchFamily="18" charset="0"/>
            </a:endParaRPr>
          </a:p>
        </p:txBody>
      </p:sp>
      <p:sp>
        <p:nvSpPr>
          <p:cNvPr id="12333" name="Rectangle 68"/>
          <p:cNvSpPr>
            <a:spLocks noChangeArrowheads="1"/>
          </p:cNvSpPr>
          <p:nvPr/>
        </p:nvSpPr>
        <p:spPr bwMode="auto">
          <a:xfrm>
            <a:off x="3816350" y="5497513"/>
            <a:ext cx="20320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solidFill>
                  <a:srgbClr val="000000"/>
                </a:solidFill>
                <a:latin typeface="Calibri" pitchFamily="34" charset="0"/>
              </a:rPr>
              <a:t>3</a:t>
            </a:r>
            <a:endParaRPr lang="en-US" sz="2400">
              <a:latin typeface="Times New Roman" pitchFamily="18" charset="0"/>
            </a:endParaRPr>
          </a:p>
        </p:txBody>
      </p:sp>
      <p:sp>
        <p:nvSpPr>
          <p:cNvPr id="12334" name="Rectangle 69"/>
          <p:cNvSpPr>
            <a:spLocks noChangeArrowheads="1"/>
          </p:cNvSpPr>
          <p:nvPr/>
        </p:nvSpPr>
        <p:spPr bwMode="auto">
          <a:xfrm>
            <a:off x="4117975" y="5497513"/>
            <a:ext cx="20320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solidFill>
                  <a:srgbClr val="000000"/>
                </a:solidFill>
                <a:latin typeface="Calibri" pitchFamily="34" charset="0"/>
              </a:rPr>
              <a:t>4</a:t>
            </a:r>
            <a:endParaRPr lang="en-US" sz="2400">
              <a:latin typeface="Times New Roman" pitchFamily="18" charset="0"/>
            </a:endParaRPr>
          </a:p>
        </p:txBody>
      </p:sp>
      <p:sp>
        <p:nvSpPr>
          <p:cNvPr id="12335" name="Rectangle 70"/>
          <p:cNvSpPr>
            <a:spLocks noChangeArrowheads="1"/>
          </p:cNvSpPr>
          <p:nvPr/>
        </p:nvSpPr>
        <p:spPr bwMode="auto">
          <a:xfrm>
            <a:off x="4419600" y="5497513"/>
            <a:ext cx="20320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solidFill>
                  <a:srgbClr val="000000"/>
                </a:solidFill>
                <a:latin typeface="Calibri" pitchFamily="34" charset="0"/>
              </a:rPr>
              <a:t>5</a:t>
            </a:r>
            <a:endParaRPr lang="en-US" sz="2400">
              <a:latin typeface="Times New Roman" pitchFamily="18" charset="0"/>
            </a:endParaRPr>
          </a:p>
        </p:txBody>
      </p:sp>
      <p:sp>
        <p:nvSpPr>
          <p:cNvPr id="12336" name="Rectangle 71"/>
          <p:cNvSpPr>
            <a:spLocks noChangeArrowheads="1"/>
          </p:cNvSpPr>
          <p:nvPr/>
        </p:nvSpPr>
        <p:spPr bwMode="auto">
          <a:xfrm>
            <a:off x="4727575" y="5497513"/>
            <a:ext cx="20320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solidFill>
                  <a:srgbClr val="000000"/>
                </a:solidFill>
                <a:latin typeface="Calibri" pitchFamily="34" charset="0"/>
              </a:rPr>
              <a:t>6</a:t>
            </a:r>
            <a:endParaRPr lang="en-US" sz="2400">
              <a:latin typeface="Times New Roman" pitchFamily="18" charset="0"/>
            </a:endParaRPr>
          </a:p>
        </p:txBody>
      </p:sp>
      <p:sp>
        <p:nvSpPr>
          <p:cNvPr id="12337" name="Rectangle 72"/>
          <p:cNvSpPr>
            <a:spLocks noChangeArrowheads="1"/>
          </p:cNvSpPr>
          <p:nvPr/>
        </p:nvSpPr>
        <p:spPr bwMode="auto">
          <a:xfrm>
            <a:off x="5029200" y="5497513"/>
            <a:ext cx="20320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solidFill>
                  <a:srgbClr val="000000"/>
                </a:solidFill>
                <a:latin typeface="Calibri" pitchFamily="34" charset="0"/>
              </a:rPr>
              <a:t>7</a:t>
            </a:r>
            <a:endParaRPr lang="en-US" sz="2400">
              <a:latin typeface="Times New Roman" pitchFamily="18" charset="0"/>
            </a:endParaRPr>
          </a:p>
        </p:txBody>
      </p:sp>
      <p:sp>
        <p:nvSpPr>
          <p:cNvPr id="12338" name="Rectangle 73"/>
          <p:cNvSpPr>
            <a:spLocks noChangeArrowheads="1"/>
          </p:cNvSpPr>
          <p:nvPr/>
        </p:nvSpPr>
        <p:spPr bwMode="auto">
          <a:xfrm>
            <a:off x="5332413" y="5497513"/>
            <a:ext cx="20320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solidFill>
                  <a:srgbClr val="000000"/>
                </a:solidFill>
                <a:latin typeface="Calibri" pitchFamily="34" charset="0"/>
              </a:rPr>
              <a:t>8</a:t>
            </a:r>
            <a:endParaRPr lang="en-US" sz="2400">
              <a:latin typeface="Times New Roman" pitchFamily="18" charset="0"/>
            </a:endParaRPr>
          </a:p>
        </p:txBody>
      </p:sp>
      <p:sp>
        <p:nvSpPr>
          <p:cNvPr id="12339" name="Rectangle 74"/>
          <p:cNvSpPr>
            <a:spLocks noChangeArrowheads="1"/>
          </p:cNvSpPr>
          <p:nvPr/>
        </p:nvSpPr>
        <p:spPr bwMode="auto">
          <a:xfrm>
            <a:off x="5634038" y="5497513"/>
            <a:ext cx="20320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solidFill>
                  <a:srgbClr val="000000"/>
                </a:solidFill>
                <a:latin typeface="Calibri" pitchFamily="34" charset="0"/>
              </a:rPr>
              <a:t>9</a:t>
            </a:r>
            <a:endParaRPr lang="en-US" sz="2400">
              <a:latin typeface="Times New Roman" pitchFamily="18" charset="0"/>
            </a:endParaRPr>
          </a:p>
        </p:txBody>
      </p:sp>
      <p:sp>
        <p:nvSpPr>
          <p:cNvPr id="12340" name="Rectangle 75"/>
          <p:cNvSpPr>
            <a:spLocks noChangeArrowheads="1"/>
          </p:cNvSpPr>
          <p:nvPr/>
        </p:nvSpPr>
        <p:spPr bwMode="auto">
          <a:xfrm>
            <a:off x="5880100" y="5497513"/>
            <a:ext cx="31432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solidFill>
                  <a:srgbClr val="000000"/>
                </a:solidFill>
                <a:latin typeface="Calibri" pitchFamily="34" charset="0"/>
              </a:rPr>
              <a:t>10</a:t>
            </a:r>
            <a:endParaRPr lang="en-US" sz="2400">
              <a:latin typeface="Times New Roman" pitchFamily="18" charset="0"/>
            </a:endParaRPr>
          </a:p>
        </p:txBody>
      </p:sp>
      <p:sp>
        <p:nvSpPr>
          <p:cNvPr id="12341" name="Rectangle 76"/>
          <p:cNvSpPr>
            <a:spLocks noChangeArrowheads="1"/>
          </p:cNvSpPr>
          <p:nvPr/>
        </p:nvSpPr>
        <p:spPr bwMode="auto">
          <a:xfrm>
            <a:off x="6188075" y="5497513"/>
            <a:ext cx="31432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solidFill>
                  <a:srgbClr val="000000"/>
                </a:solidFill>
                <a:latin typeface="Calibri" pitchFamily="34" charset="0"/>
              </a:rPr>
              <a:t>11</a:t>
            </a:r>
            <a:endParaRPr lang="en-US" sz="2400">
              <a:latin typeface="Times New Roman" pitchFamily="18" charset="0"/>
            </a:endParaRPr>
          </a:p>
        </p:txBody>
      </p:sp>
      <p:sp>
        <p:nvSpPr>
          <p:cNvPr id="12342" name="Rectangle 77"/>
          <p:cNvSpPr>
            <a:spLocks noChangeArrowheads="1"/>
          </p:cNvSpPr>
          <p:nvPr/>
        </p:nvSpPr>
        <p:spPr bwMode="auto">
          <a:xfrm>
            <a:off x="6927850" y="5492750"/>
            <a:ext cx="116522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b="1">
                <a:solidFill>
                  <a:srgbClr val="000000"/>
                </a:solidFill>
                <a:latin typeface="Calibri" pitchFamily="34" charset="0"/>
              </a:rPr>
              <a:t>Quantity of</a:t>
            </a:r>
            <a:endParaRPr lang="en-US" sz="2400">
              <a:latin typeface="Times New Roman" pitchFamily="18" charset="0"/>
            </a:endParaRPr>
          </a:p>
        </p:txBody>
      </p:sp>
      <p:sp>
        <p:nvSpPr>
          <p:cNvPr id="12343" name="Rectangle 78"/>
          <p:cNvSpPr>
            <a:spLocks noChangeArrowheads="1"/>
          </p:cNvSpPr>
          <p:nvPr/>
        </p:nvSpPr>
        <p:spPr bwMode="auto">
          <a:xfrm>
            <a:off x="6361113" y="5740400"/>
            <a:ext cx="17446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b="1">
                <a:solidFill>
                  <a:srgbClr val="000000"/>
                </a:solidFill>
                <a:latin typeface="Calibri" pitchFamily="34" charset="0"/>
              </a:rPr>
              <a:t>Ice-Cream Cones</a:t>
            </a:r>
            <a:endParaRPr lang="en-US" sz="2400">
              <a:latin typeface="Times New Roman" pitchFamily="18" charset="0"/>
            </a:endParaRPr>
          </a:p>
        </p:txBody>
      </p:sp>
      <p:sp>
        <p:nvSpPr>
          <p:cNvPr id="12344" name="Rectangle 79"/>
          <p:cNvSpPr>
            <a:spLocks noChangeArrowheads="1"/>
          </p:cNvSpPr>
          <p:nvPr/>
        </p:nvSpPr>
        <p:spPr bwMode="auto">
          <a:xfrm>
            <a:off x="2398713" y="1789113"/>
            <a:ext cx="592137"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solidFill>
                  <a:srgbClr val="000000"/>
                </a:solidFill>
                <a:latin typeface="Calibri" pitchFamily="34" charset="0"/>
              </a:rPr>
              <a:t>$3.00</a:t>
            </a:r>
            <a:endParaRPr lang="en-US" sz="2400">
              <a:latin typeface="Times New Roman" pitchFamily="18" charset="0"/>
            </a:endParaRPr>
          </a:p>
        </p:txBody>
      </p:sp>
      <p:sp>
        <p:nvSpPr>
          <p:cNvPr id="12345" name="Rectangle 80"/>
          <p:cNvSpPr>
            <a:spLocks noChangeArrowheads="1"/>
          </p:cNvSpPr>
          <p:nvPr/>
        </p:nvSpPr>
        <p:spPr bwMode="auto">
          <a:xfrm>
            <a:off x="6489700" y="5497513"/>
            <a:ext cx="31432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solidFill>
                  <a:srgbClr val="000000"/>
                </a:solidFill>
                <a:latin typeface="Calibri" pitchFamily="34" charset="0"/>
              </a:rPr>
              <a:t>12</a:t>
            </a:r>
            <a:endParaRPr lang="en-US" sz="2400">
              <a:latin typeface="Times New Roman" pitchFamily="18" charset="0"/>
            </a:endParaRPr>
          </a:p>
        </p:txBody>
      </p:sp>
      <p:grpSp>
        <p:nvGrpSpPr>
          <p:cNvPr id="7" name="Group 81"/>
          <p:cNvGrpSpPr>
            <a:grpSpLocks/>
          </p:cNvGrpSpPr>
          <p:nvPr/>
        </p:nvGrpSpPr>
        <p:grpSpPr bwMode="auto">
          <a:xfrm>
            <a:off x="901700" y="2897188"/>
            <a:ext cx="1809750" cy="568325"/>
            <a:chOff x="568" y="1825"/>
            <a:chExt cx="1140" cy="358"/>
          </a:xfrm>
        </p:grpSpPr>
        <p:grpSp>
          <p:nvGrpSpPr>
            <p:cNvPr id="12358" name="Group 82"/>
            <p:cNvGrpSpPr>
              <a:grpSpLocks/>
            </p:cNvGrpSpPr>
            <p:nvPr/>
          </p:nvGrpSpPr>
          <p:grpSpPr bwMode="auto">
            <a:xfrm>
              <a:off x="568" y="1825"/>
              <a:ext cx="1140" cy="339"/>
              <a:chOff x="568" y="1825"/>
              <a:chExt cx="1140" cy="339"/>
            </a:xfrm>
          </p:grpSpPr>
          <p:sp>
            <p:nvSpPr>
              <p:cNvPr id="12360" name="Rectangle 83"/>
              <p:cNvSpPr>
                <a:spLocks noChangeArrowheads="1"/>
              </p:cNvSpPr>
              <p:nvPr/>
            </p:nvSpPr>
            <p:spPr bwMode="auto">
              <a:xfrm>
                <a:off x="568" y="1825"/>
                <a:ext cx="896" cy="339"/>
              </a:xfrm>
              <a:prstGeom prst="rect">
                <a:avLst/>
              </a:prstGeom>
              <a:solidFill>
                <a:srgbClr val="E1E5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Calibri" pitchFamily="34" charset="0"/>
                </a:endParaRPr>
              </a:p>
            </p:txBody>
          </p:sp>
          <p:sp>
            <p:nvSpPr>
              <p:cNvPr id="12361" name="Line 84"/>
              <p:cNvSpPr>
                <a:spLocks noChangeShapeType="1"/>
              </p:cNvSpPr>
              <p:nvPr/>
            </p:nvSpPr>
            <p:spPr bwMode="auto">
              <a:xfrm flipH="1" flipV="1">
                <a:off x="1464" y="2023"/>
                <a:ext cx="244" cy="9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62" name="Rectangle 85"/>
              <p:cNvSpPr>
                <a:spLocks noChangeArrowheads="1"/>
              </p:cNvSpPr>
              <p:nvPr/>
            </p:nvSpPr>
            <p:spPr bwMode="auto">
              <a:xfrm>
                <a:off x="618" y="1833"/>
                <a:ext cx="82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solidFill>
                      <a:srgbClr val="000000"/>
                    </a:solidFill>
                    <a:latin typeface="Calibri" pitchFamily="34" charset="0"/>
                  </a:rPr>
                  <a:t>1. A decrease </a:t>
                </a:r>
                <a:endParaRPr lang="en-US" sz="2400">
                  <a:latin typeface="Times New Roman" pitchFamily="18" charset="0"/>
                </a:endParaRPr>
              </a:p>
            </p:txBody>
          </p:sp>
          <p:sp>
            <p:nvSpPr>
              <p:cNvPr id="12363" name="Rectangle 86"/>
              <p:cNvSpPr>
                <a:spLocks noChangeArrowheads="1"/>
              </p:cNvSpPr>
              <p:nvPr/>
            </p:nvSpPr>
            <p:spPr bwMode="auto">
              <a:xfrm>
                <a:off x="618" y="1988"/>
                <a:ext cx="41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solidFill>
                      <a:srgbClr val="000000"/>
                    </a:solidFill>
                    <a:latin typeface="Calibri" pitchFamily="34" charset="0"/>
                  </a:rPr>
                  <a:t>in price</a:t>
                </a:r>
                <a:endParaRPr lang="en-US" sz="2400">
                  <a:latin typeface="Times New Roman" pitchFamily="18" charset="0"/>
                </a:endParaRPr>
              </a:p>
            </p:txBody>
          </p:sp>
        </p:grpSp>
        <p:sp>
          <p:nvSpPr>
            <p:cNvPr id="12359" name="Rectangle 87"/>
            <p:cNvSpPr>
              <a:spLocks noChangeArrowheads="1"/>
            </p:cNvSpPr>
            <p:nvPr/>
          </p:nvSpPr>
          <p:spPr bwMode="auto">
            <a:xfrm>
              <a:off x="1018" y="2008"/>
              <a:ext cx="198"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solidFill>
                    <a:srgbClr val="000000"/>
                  </a:solidFill>
                  <a:latin typeface="Calibri" pitchFamily="34" charset="0"/>
                </a:rPr>
                <a:t> ...</a:t>
              </a:r>
              <a:endParaRPr lang="en-US" sz="2400">
                <a:latin typeface="Times New Roman" pitchFamily="18" charset="0"/>
              </a:endParaRPr>
            </a:p>
          </p:txBody>
        </p:sp>
      </p:grpSp>
      <p:grpSp>
        <p:nvGrpSpPr>
          <p:cNvPr id="9" name="Group 88"/>
          <p:cNvGrpSpPr>
            <a:grpSpLocks/>
          </p:cNvGrpSpPr>
          <p:nvPr/>
        </p:nvGrpSpPr>
        <p:grpSpPr bwMode="auto">
          <a:xfrm>
            <a:off x="3763963" y="5789613"/>
            <a:ext cx="2257425" cy="704850"/>
            <a:chOff x="2371" y="3647"/>
            <a:chExt cx="1422" cy="444"/>
          </a:xfrm>
        </p:grpSpPr>
        <p:sp>
          <p:nvSpPr>
            <p:cNvPr id="12352" name="Line 89"/>
            <p:cNvSpPr>
              <a:spLocks noChangeShapeType="1"/>
            </p:cNvSpPr>
            <p:nvPr/>
          </p:nvSpPr>
          <p:spPr bwMode="auto">
            <a:xfrm flipV="1">
              <a:off x="2465" y="3647"/>
              <a:ext cx="302" cy="11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53" name="Rectangle 90"/>
            <p:cNvSpPr>
              <a:spLocks noChangeArrowheads="1"/>
            </p:cNvSpPr>
            <p:nvPr/>
          </p:nvSpPr>
          <p:spPr bwMode="auto">
            <a:xfrm>
              <a:off x="2371" y="3764"/>
              <a:ext cx="1397" cy="327"/>
            </a:xfrm>
            <a:prstGeom prst="rect">
              <a:avLst/>
            </a:prstGeom>
            <a:solidFill>
              <a:srgbClr val="E1E5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Calibri" pitchFamily="34" charset="0"/>
              </a:endParaRPr>
            </a:p>
          </p:txBody>
        </p:sp>
        <p:sp>
          <p:nvSpPr>
            <p:cNvPr id="12354" name="Rectangle 91"/>
            <p:cNvSpPr>
              <a:spLocks noChangeArrowheads="1"/>
            </p:cNvSpPr>
            <p:nvPr/>
          </p:nvSpPr>
          <p:spPr bwMode="auto">
            <a:xfrm>
              <a:off x="2408" y="3769"/>
              <a:ext cx="1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solidFill>
                    <a:srgbClr val="000000"/>
                  </a:solidFill>
                  <a:latin typeface="Calibri" pitchFamily="34" charset="0"/>
                </a:rPr>
                <a:t>2. </a:t>
              </a:r>
              <a:endParaRPr lang="en-US" sz="2400">
                <a:latin typeface="Times New Roman" pitchFamily="18" charset="0"/>
              </a:endParaRPr>
            </a:p>
          </p:txBody>
        </p:sp>
        <p:sp>
          <p:nvSpPr>
            <p:cNvPr id="12355" name="Rectangle 92"/>
            <p:cNvSpPr>
              <a:spLocks noChangeArrowheads="1"/>
            </p:cNvSpPr>
            <p:nvPr/>
          </p:nvSpPr>
          <p:spPr bwMode="auto">
            <a:xfrm>
              <a:off x="2548" y="3769"/>
              <a:ext cx="10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solidFill>
                    <a:srgbClr val="000000"/>
                  </a:solidFill>
                  <a:latin typeface="Calibri" pitchFamily="34" charset="0"/>
                </a:rPr>
                <a:t>...</a:t>
              </a:r>
              <a:endParaRPr lang="en-US" sz="2400">
                <a:latin typeface="Times New Roman" pitchFamily="18" charset="0"/>
              </a:endParaRPr>
            </a:p>
          </p:txBody>
        </p:sp>
        <p:sp>
          <p:nvSpPr>
            <p:cNvPr id="12356" name="Rectangle 93"/>
            <p:cNvSpPr>
              <a:spLocks noChangeArrowheads="1"/>
            </p:cNvSpPr>
            <p:nvPr/>
          </p:nvSpPr>
          <p:spPr bwMode="auto">
            <a:xfrm>
              <a:off x="2726" y="3769"/>
              <a:ext cx="106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solidFill>
                    <a:srgbClr val="000000"/>
                  </a:solidFill>
                  <a:latin typeface="Calibri" pitchFamily="34" charset="0"/>
                </a:rPr>
                <a:t>increases quantity </a:t>
              </a:r>
              <a:endParaRPr lang="en-US" sz="2400">
                <a:latin typeface="Times New Roman" pitchFamily="18" charset="0"/>
              </a:endParaRPr>
            </a:p>
          </p:txBody>
        </p:sp>
        <p:sp>
          <p:nvSpPr>
            <p:cNvPr id="12357" name="Rectangle 94"/>
            <p:cNvSpPr>
              <a:spLocks noChangeArrowheads="1"/>
            </p:cNvSpPr>
            <p:nvPr/>
          </p:nvSpPr>
          <p:spPr bwMode="auto">
            <a:xfrm>
              <a:off x="2408" y="3924"/>
              <a:ext cx="1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600">
                  <a:solidFill>
                    <a:srgbClr val="000000"/>
                  </a:solidFill>
                  <a:latin typeface="Calibri" pitchFamily="34" charset="0"/>
                </a:rPr>
                <a:t>of cones demanded.</a:t>
              </a:r>
              <a:endParaRPr lang="en-US" sz="2400">
                <a:latin typeface="Times New Roman" pitchFamily="18" charset="0"/>
              </a:endParaRPr>
            </a:p>
          </p:txBody>
        </p:sp>
      </p:grpSp>
      <p:sp>
        <p:nvSpPr>
          <p:cNvPr id="537695" name="Line 95"/>
          <p:cNvSpPr>
            <a:spLocks noChangeShapeType="1"/>
          </p:cNvSpPr>
          <p:nvPr/>
        </p:nvSpPr>
        <p:spPr bwMode="auto">
          <a:xfrm rot="5400000" flipH="1">
            <a:off x="2621756" y="3447257"/>
            <a:ext cx="327025" cy="1588"/>
          </a:xfrm>
          <a:prstGeom prst="line">
            <a:avLst/>
          </a:prstGeom>
          <a:noFill/>
          <a:ln w="19050">
            <a:solidFill>
              <a:srgbClr val="000000"/>
            </a:solidFill>
            <a:round/>
            <a:headEnd type="stealth" w="med" len="med"/>
            <a:tailEnd/>
          </a:ln>
          <a:extLst>
            <a:ext uri="{909E8E84-426E-40DD-AFC4-6F175D3DCCD1}">
              <a14:hiddenFill xmlns:a14="http://schemas.microsoft.com/office/drawing/2010/main">
                <a:noFill/>
              </a14:hiddenFill>
            </a:ext>
          </a:extLst>
        </p:spPr>
        <p:txBody>
          <a:bodyPr/>
          <a:lstStyle/>
          <a:p>
            <a:endParaRPr lang="en-US"/>
          </a:p>
        </p:txBody>
      </p:sp>
      <p:pic>
        <p:nvPicPr>
          <p:cNvPr id="12349" name="Picture 96"/>
          <p:cNvPicPr>
            <a:picLocks noChangeAspect="1" noChangeArrowheads="1"/>
          </p:cNvPicPr>
          <p:nvPr/>
        </p:nvPicPr>
        <p:blipFill>
          <a:blip r:embed="rId2" cstate="print">
            <a:extLst>
              <a:ext uri="{28A0092B-C50C-407E-A947-70E740481C1C}">
                <a14:useLocalDpi xmlns:a14="http://schemas.microsoft.com/office/drawing/2010/main" val="0"/>
              </a:ext>
            </a:extLst>
          </a:blip>
          <a:srcRect b="1889"/>
          <a:stretch>
            <a:fillRect/>
          </a:stretch>
        </p:blipFill>
        <p:spPr bwMode="auto">
          <a:xfrm>
            <a:off x="5562600" y="1228725"/>
            <a:ext cx="3124200"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Tree>
    <p:extLst>
      <p:ext uri="{BB962C8B-B14F-4D97-AF65-F5344CB8AC3E}">
        <p14:creationId xmlns:p14="http://schemas.microsoft.com/office/powerpoint/2010/main" val="882644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37634"/>
                                        </p:tgtEl>
                                        <p:attrNameLst>
                                          <p:attrName>style.visibility</p:attrName>
                                        </p:attrNameLst>
                                      </p:cBhvr>
                                      <p:to>
                                        <p:strVal val="visible"/>
                                      </p:to>
                                    </p:set>
                                    <p:animEffect transition="in" filter="dissolve">
                                      <p:cBhvr>
                                        <p:cTn id="7" dur="500"/>
                                        <p:tgtEl>
                                          <p:spTgt spid="5376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upRigh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3"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strips(upRight)">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3"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strips(upRight)">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3"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strips(upRight)">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3"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strips(upRight)">
                                      <p:cBhvr>
                                        <p:cTn id="32" dur="500"/>
                                        <p:tgtEl>
                                          <p:spTgt spid="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37635"/>
                                        </p:tgtEl>
                                        <p:attrNameLst>
                                          <p:attrName>style.visibility</p:attrName>
                                        </p:attrNameLst>
                                      </p:cBhvr>
                                      <p:to>
                                        <p:strVal val="visible"/>
                                      </p:to>
                                    </p:set>
                                    <p:animEffect transition="in" filter="dissolve">
                                      <p:cBhvr>
                                        <p:cTn id="37" dur="500"/>
                                        <p:tgtEl>
                                          <p:spTgt spid="53763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8" presetClass="entr" presetSubtype="6" fill="hold" grpId="0" nodeType="clickEffect">
                                  <p:stCondLst>
                                    <p:cond delay="0"/>
                                  </p:stCondLst>
                                  <p:childTnLst>
                                    <p:set>
                                      <p:cBhvr>
                                        <p:cTn id="41" dur="1" fill="hold">
                                          <p:stCondLst>
                                            <p:cond delay="0"/>
                                          </p:stCondLst>
                                        </p:cTn>
                                        <p:tgtEl>
                                          <p:spTgt spid="537633"/>
                                        </p:tgtEl>
                                        <p:attrNameLst>
                                          <p:attrName>style.visibility</p:attrName>
                                        </p:attrNameLst>
                                      </p:cBhvr>
                                      <p:to>
                                        <p:strVal val="visible"/>
                                      </p:to>
                                    </p:set>
                                    <p:animEffect transition="in" filter="strips(downRight)">
                                      <p:cBhvr>
                                        <p:cTn id="42" dur="500"/>
                                        <p:tgtEl>
                                          <p:spTgt spid="53763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537695"/>
                                        </p:tgtEl>
                                        <p:attrNameLst>
                                          <p:attrName>style.visibility</p:attrName>
                                        </p:attrNameLst>
                                      </p:cBhvr>
                                      <p:to>
                                        <p:strVal val="visible"/>
                                      </p:to>
                                    </p:set>
                                    <p:animEffect transition="in" filter="wipe(up)">
                                      <p:cBhvr>
                                        <p:cTn id="47" dur="500"/>
                                        <p:tgtEl>
                                          <p:spTgt spid="53769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2" fill="hold"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wipe(right)">
                                      <p:cBhvr>
                                        <p:cTn id="52" dur="500"/>
                                        <p:tgtEl>
                                          <p:spTgt spid="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37657"/>
                                        </p:tgtEl>
                                        <p:attrNameLst>
                                          <p:attrName>style.visibility</p:attrName>
                                        </p:attrNameLst>
                                      </p:cBhvr>
                                      <p:to>
                                        <p:strVal val="visible"/>
                                      </p:to>
                                    </p:set>
                                    <p:animEffect transition="in" filter="wipe(left)">
                                      <p:cBhvr>
                                        <p:cTn id="57" dur="500"/>
                                        <p:tgtEl>
                                          <p:spTgt spid="53765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nodeType="click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wipe(up)">
                                      <p:cBhvr>
                                        <p:cTn id="6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7633" grpId="0" animBg="1"/>
      <p:bldP spid="537634" grpId="0" animBg="1"/>
      <p:bldP spid="537635" grpId="0" animBg="1"/>
      <p:bldP spid="537657" grpId="0" animBg="1"/>
      <p:bldP spid="53769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rtlCol="0">
            <a:normAutofit/>
          </a:bodyPr>
          <a:lstStyle/>
          <a:p>
            <a:pPr eaLnBrk="1" fontAlgn="auto" hangingPunct="1">
              <a:spcAft>
                <a:spcPts val="0"/>
              </a:spcAft>
              <a:defRPr/>
            </a:pPr>
            <a:r>
              <a:rPr lang="en-US" altLang="en-US" sz="4000" b="1" dirty="0" smtClean="0"/>
              <a:t>Market Demand is the Sum of Individual Demands</a:t>
            </a:r>
            <a:endParaRPr lang="en-US" sz="4000" b="1" dirty="0" smtClean="0"/>
          </a:p>
        </p:txBody>
      </p:sp>
      <p:pic>
        <p:nvPicPr>
          <p:cNvPr id="13315" name="Picture 4" descr="man68624_0402"/>
          <p:cNvPicPr preferRelativeResize="0">
            <a:picLocks noGrp="1" noChangeAspect="1" noChangeArrowheads="1"/>
          </p:cNvPicPr>
          <p:nvPr>
            <p:ph idx="1"/>
          </p:nvPr>
        </p:nvPicPr>
        <p:blipFill>
          <a:blip r:embed="rId2" cstate="print">
            <a:extLst>
              <a:ext uri="{28A0092B-C50C-407E-A947-70E740481C1C}">
                <a14:useLocalDpi xmlns:a14="http://schemas.microsoft.com/office/drawing/2010/main" val="0"/>
              </a:ext>
            </a:extLst>
          </a:blip>
          <a:stretch>
            <a:fillRect/>
          </a:stretch>
        </p:blipFill>
        <p:spPr>
          <a:xfrm>
            <a:off x="1028700" y="2947684"/>
            <a:ext cx="7200900" cy="2258032"/>
          </a:xfrm>
        </p:spPr>
      </p:pic>
      <p:sp>
        <p:nvSpPr>
          <p:cNvPr id="4" name="Slide Number Placeholder 3"/>
          <p:cNvSpPr>
            <a:spLocks noGrp="1"/>
          </p:cNvSpPr>
          <p:nvPr>
            <p:ph type="sldNum" sz="quarter" idx="12"/>
          </p:nvPr>
        </p:nvSpPr>
        <p:spPr/>
        <p:txBody>
          <a:bodyPr/>
          <a:lstStyle/>
          <a:p>
            <a:pPr>
              <a:defRPr/>
            </a:pPr>
            <a:fld id="{3A205BDD-5C7C-4ED2-A3B3-D2C55C952C70}" type="slidenum">
              <a:rPr lang="en-US"/>
              <a:pPr>
                <a:defRPr/>
              </a:pPr>
              <a:t>9</a:t>
            </a:fld>
            <a:endParaRPr lang="en-US"/>
          </a:p>
        </p:txBody>
      </p:sp>
      <p:sp>
        <p:nvSpPr>
          <p:cNvPr id="2" name="Rectangle 1"/>
          <p:cNvSpPr/>
          <p:nvPr/>
        </p:nvSpPr>
        <p:spPr>
          <a:xfrm>
            <a:off x="1066800" y="5099051"/>
            <a:ext cx="1981200" cy="39211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smtClean="0"/>
              <a:t>C = 1000</a:t>
            </a:r>
            <a:endParaRPr lang="en-US" dirty="0"/>
          </a:p>
        </p:txBody>
      </p:sp>
      <p:sp>
        <p:nvSpPr>
          <p:cNvPr id="6" name="Rectangle 5"/>
          <p:cNvSpPr/>
          <p:nvPr/>
        </p:nvSpPr>
        <p:spPr>
          <a:xfrm>
            <a:off x="3836504" y="5106541"/>
            <a:ext cx="1981200" cy="39211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smtClean="0"/>
              <a:t>N = 500</a:t>
            </a:r>
            <a:endParaRPr lang="en-US" dirty="0"/>
          </a:p>
        </p:txBody>
      </p:sp>
      <p:sp>
        <p:nvSpPr>
          <p:cNvPr id="7" name="Rectangle 6"/>
          <p:cNvSpPr/>
          <p:nvPr/>
        </p:nvSpPr>
        <p:spPr>
          <a:xfrm>
            <a:off x="6606209" y="5106541"/>
            <a:ext cx="1981200" cy="39211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err="1" smtClean="0"/>
              <a:t>Qd</a:t>
            </a:r>
            <a:r>
              <a:rPr lang="en-US" dirty="0" smtClean="0"/>
              <a:t> = 1500</a:t>
            </a:r>
            <a:endParaRPr lang="en-US" dirty="0"/>
          </a:p>
        </p:txBody>
      </p:sp>
    </p:spTree>
    <p:extLst>
      <p:ext uri="{BB962C8B-B14F-4D97-AF65-F5344CB8AC3E}">
        <p14:creationId xmlns:p14="http://schemas.microsoft.com/office/powerpoint/2010/main" val="472468535"/>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Market demand</a:t>
            </a:r>
            <a:endParaRPr lang="en-US" b="1" dirty="0"/>
          </a:p>
        </p:txBody>
      </p:sp>
      <p:sp>
        <p:nvSpPr>
          <p:cNvPr id="3" name="Content Placeholder 2"/>
          <p:cNvSpPr>
            <a:spLocks noGrp="1"/>
          </p:cNvSpPr>
          <p:nvPr>
            <p:ph idx="1"/>
          </p:nvPr>
        </p:nvSpPr>
        <p:spPr>
          <a:xfrm>
            <a:off x="762000" y="1828800"/>
            <a:ext cx="7962900" cy="4876800"/>
          </a:xfrm>
        </p:spPr>
        <p:txBody>
          <a:bodyPr>
            <a:normAutofit/>
          </a:bodyPr>
          <a:lstStyle/>
          <a:p>
            <a:pPr algn="just"/>
            <a:r>
              <a:rPr lang="en-US" sz="2800" b="1" dirty="0" smtClean="0"/>
              <a:t>The total quantity depends </a:t>
            </a:r>
            <a:r>
              <a:rPr lang="en-US" sz="2800" dirty="0" smtClean="0"/>
              <a:t>on the price of the product being sold, on the prices of all other products, on the incomes of the individuals buying in that market, and on their tastes. The market demand curve relates the total quantity demanded to the product’s own price, on the assumption that all other prices, total income, tastes and all other environmental factors held constant.</a:t>
            </a:r>
            <a:endParaRPr lang="en-US"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b="1" dirty="0" smtClean="0"/>
              <a:t>Law of Demand</a:t>
            </a:r>
            <a:endParaRPr lang="en-US" b="1" dirty="0" smtClean="0"/>
          </a:p>
        </p:txBody>
      </p:sp>
      <p:sp>
        <p:nvSpPr>
          <p:cNvPr id="14339" name="Rectangle 3"/>
          <p:cNvSpPr>
            <a:spLocks noGrp="1" noChangeArrowheads="1"/>
          </p:cNvSpPr>
          <p:nvPr>
            <p:ph idx="1"/>
          </p:nvPr>
        </p:nvSpPr>
        <p:spPr>
          <a:xfrm>
            <a:off x="457200" y="1600200"/>
            <a:ext cx="8229600" cy="4800600"/>
          </a:xfrm>
        </p:spPr>
        <p:txBody>
          <a:bodyPr>
            <a:normAutofit lnSpcReduction="10000"/>
          </a:bodyPr>
          <a:lstStyle/>
          <a:p>
            <a:pPr eaLnBrk="1" hangingPunct="1"/>
            <a:r>
              <a:rPr lang="en-US" altLang="en-US" sz="2800" dirty="0" smtClean="0"/>
              <a:t>The law</a:t>
            </a:r>
            <a:r>
              <a:rPr lang="en-US" altLang="en-US" sz="2800" i="1" dirty="0" smtClean="0">
                <a:solidFill>
                  <a:srgbClr val="25A9A6"/>
                </a:solidFill>
              </a:rPr>
              <a:t> </a:t>
            </a:r>
            <a:r>
              <a:rPr lang="en-US" altLang="en-US" sz="2800" dirty="0" smtClean="0"/>
              <a:t>of demand states that </a:t>
            </a:r>
          </a:p>
          <a:p>
            <a:pPr lvl="1" eaLnBrk="1" hangingPunct="1"/>
            <a:r>
              <a:rPr lang="en-US" altLang="en-US" sz="2800" b="1" dirty="0" smtClean="0"/>
              <a:t>the quantity demanded of a good falls when the price of the good rises</a:t>
            </a:r>
            <a:r>
              <a:rPr lang="en-US" altLang="en-US" sz="2800" dirty="0" smtClean="0"/>
              <a:t>, and vice versa, provided all other factors that affect buyers’ decisions are unchanged.</a:t>
            </a:r>
          </a:p>
          <a:p>
            <a:pPr lvl="1" eaLnBrk="1" hangingPunct="1">
              <a:buNone/>
            </a:pPr>
            <a:endParaRPr lang="en-US" altLang="en-US" sz="2800" dirty="0" smtClean="0"/>
          </a:p>
          <a:p>
            <a:pPr lvl="1" algn="just">
              <a:buNone/>
            </a:pPr>
            <a:r>
              <a:rPr lang="en-US" sz="2800" dirty="0" smtClean="0"/>
              <a:t>In formulating the demand theory assume that each </a:t>
            </a:r>
            <a:r>
              <a:rPr lang="en-US" sz="2800" i="1" dirty="0" smtClean="0"/>
              <a:t>individual consumer is a rational decision maker who seeks maximum satisfaction</a:t>
            </a:r>
            <a:r>
              <a:rPr lang="en-US" sz="2800" dirty="0" smtClean="0"/>
              <a:t> or well-being or utility.</a:t>
            </a:r>
          </a:p>
          <a:p>
            <a:pPr lvl="1">
              <a:buNone/>
            </a:pPr>
            <a:r>
              <a:rPr lang="en-US" sz="2800" dirty="0" smtClean="0"/>
              <a:t>Refer : </a:t>
            </a:r>
            <a:r>
              <a:rPr lang="en-US" sz="2800" u="sng" dirty="0" smtClean="0"/>
              <a:t>Law of diminishing marginal utility</a:t>
            </a:r>
          </a:p>
          <a:p>
            <a:pPr lvl="1" eaLnBrk="1" hangingPunct="1">
              <a:buNone/>
            </a:pPr>
            <a:endParaRPr lang="en-US" altLang="en-US" dirty="0" smtClean="0"/>
          </a:p>
          <a:p>
            <a:pPr lvl="1" eaLnBrk="1" hangingPunct="1">
              <a:buNone/>
            </a:pPr>
            <a:endParaRPr lang="en-US" dirty="0" smtClean="0"/>
          </a:p>
        </p:txBody>
      </p:sp>
      <p:sp>
        <p:nvSpPr>
          <p:cNvPr id="4" name="Slide Number Placeholder 3"/>
          <p:cNvSpPr>
            <a:spLocks noGrp="1"/>
          </p:cNvSpPr>
          <p:nvPr>
            <p:ph type="sldNum" sz="quarter" idx="12"/>
          </p:nvPr>
        </p:nvSpPr>
        <p:spPr/>
        <p:txBody>
          <a:bodyPr/>
          <a:lstStyle/>
          <a:p>
            <a:pPr>
              <a:defRPr/>
            </a:pPr>
            <a:fld id="{15C43D6D-445B-402C-96E4-E4AC8C6AF2D6}" type="slidenum">
              <a:rPr lang="en-US"/>
              <a:pPr>
                <a:defRPr/>
              </a:pPr>
              <a:t>11</a:t>
            </a:fld>
            <a:endParaRPr lang="en-US"/>
          </a:p>
        </p:txBody>
      </p:sp>
    </p:spTree>
    <p:extLst>
      <p:ext uri="{BB962C8B-B14F-4D97-AF65-F5344CB8AC3E}">
        <p14:creationId xmlns:p14="http://schemas.microsoft.com/office/powerpoint/2010/main" val="80293321"/>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solidFill>
                  <a:srgbClr val="FF0000"/>
                </a:solidFill>
                <a:latin typeface="Copperplate Gothic Bold" pitchFamily="34" charset="0"/>
              </a:rPr>
              <a:t>law of diminishing marginal utility </a:t>
            </a:r>
          </a:p>
        </p:txBody>
      </p:sp>
      <p:sp>
        <p:nvSpPr>
          <p:cNvPr id="3" name="Content Placeholder 2"/>
          <p:cNvSpPr>
            <a:spLocks noGrp="1"/>
          </p:cNvSpPr>
          <p:nvPr>
            <p:ph idx="1"/>
          </p:nvPr>
        </p:nvSpPr>
        <p:spPr>
          <a:xfrm>
            <a:off x="762000" y="2438400"/>
            <a:ext cx="7962900" cy="3962400"/>
          </a:xfrm>
        </p:spPr>
        <p:txBody>
          <a:bodyPr>
            <a:normAutofit/>
          </a:bodyPr>
          <a:lstStyle/>
          <a:p>
            <a:pPr algn="just"/>
            <a:r>
              <a:rPr lang="en-US" sz="3200" dirty="0" smtClean="0"/>
              <a:t>“</a:t>
            </a:r>
            <a:r>
              <a:rPr lang="en-US" sz="3200" dirty="0" smtClean="0">
                <a:solidFill>
                  <a:srgbClr val="7030A0"/>
                </a:solidFill>
              </a:rPr>
              <a:t>The law of diminishing marginal utility states that, “as a consumer consumes more and more units of a specific commodity, utility from the successive units goes on diminishing”.</a:t>
            </a:r>
            <a:endParaRPr lang="en-US" sz="3200" dirty="0">
              <a:solidFill>
                <a:srgbClr val="7030A0"/>
              </a:solidFill>
            </a:endParaRPr>
          </a:p>
        </p:txBody>
      </p:sp>
    </p:spTree>
    <p:extLst>
      <p:ext uri="{BB962C8B-B14F-4D97-AF65-F5344CB8AC3E}">
        <p14:creationId xmlns:p14="http://schemas.microsoft.com/office/powerpoint/2010/main" val="63215496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991600" cy="6781799"/>
          </a:xfrm>
        </p:spPr>
        <p:txBody>
          <a:bodyPr>
            <a:normAutofit fontScale="40000" lnSpcReduction="20000"/>
          </a:bodyPr>
          <a:lstStyle/>
          <a:p>
            <a:pPr marL="0" indent="0" algn="just">
              <a:buNone/>
            </a:pPr>
            <a:endParaRPr lang="en-US" dirty="0"/>
          </a:p>
          <a:p>
            <a:pPr algn="just"/>
            <a:r>
              <a:rPr lang="en-US" sz="5500" dirty="0" smtClean="0"/>
              <a:t> </a:t>
            </a:r>
            <a:r>
              <a:rPr lang="en-US" sz="5500" dirty="0"/>
              <a:t>Suppose a person is thirsty and the price of water is zero. He </a:t>
            </a:r>
            <a:r>
              <a:rPr lang="en-US" sz="5500" u="sng" dirty="0"/>
              <a:t>takes </a:t>
            </a:r>
            <a:r>
              <a:rPr lang="en-US" sz="5500" u="sng" dirty="0">
                <a:solidFill>
                  <a:srgbClr val="FF0000"/>
                </a:solidFill>
              </a:rPr>
              <a:t>one glass</a:t>
            </a:r>
            <a:r>
              <a:rPr lang="en-US" sz="5500" dirty="0"/>
              <a:t> of water which gives him </a:t>
            </a:r>
            <a:r>
              <a:rPr lang="en-US" sz="5500" u="sng" dirty="0">
                <a:solidFill>
                  <a:srgbClr val="FF0000"/>
                </a:solidFill>
              </a:rPr>
              <a:t>great satisfaction</a:t>
            </a:r>
            <a:r>
              <a:rPr lang="en-US" sz="5500" dirty="0"/>
              <a:t>. We can say the first glass of water has great utility for him</a:t>
            </a:r>
            <a:r>
              <a:rPr lang="en-US" sz="5500" dirty="0" smtClean="0"/>
              <a:t>.</a:t>
            </a:r>
          </a:p>
          <a:p>
            <a:pPr algn="just"/>
            <a:endParaRPr lang="en-US" sz="5500" dirty="0"/>
          </a:p>
          <a:p>
            <a:pPr algn="just"/>
            <a:r>
              <a:rPr lang="en-US" sz="5500" dirty="0"/>
              <a:t> </a:t>
            </a:r>
            <a:r>
              <a:rPr lang="en-US" sz="5500" dirty="0" smtClean="0"/>
              <a:t>He </a:t>
            </a:r>
            <a:r>
              <a:rPr lang="en-US" sz="5500" dirty="0"/>
              <a:t>then takes </a:t>
            </a:r>
            <a:r>
              <a:rPr lang="en-US" sz="5500" u="sng" dirty="0">
                <a:solidFill>
                  <a:srgbClr val="00B0F0"/>
                </a:solidFill>
              </a:rPr>
              <a:t>second glass </a:t>
            </a:r>
            <a:r>
              <a:rPr lang="en-US" sz="5500" dirty="0"/>
              <a:t>of water. The </a:t>
            </a:r>
            <a:r>
              <a:rPr lang="en-US" sz="5500" u="sng" dirty="0">
                <a:solidFill>
                  <a:srgbClr val="00B0F0"/>
                </a:solidFill>
              </a:rPr>
              <a:t>utility of the second glass of water is less than that of first glass of water</a:t>
            </a:r>
            <a:r>
              <a:rPr lang="en-US" sz="5500" dirty="0"/>
              <a:t>. The utility declines because the edge of his thirst has been blunted to a great extent</a:t>
            </a:r>
            <a:r>
              <a:rPr lang="en-US" sz="5500" dirty="0" smtClean="0"/>
              <a:t>.</a:t>
            </a:r>
          </a:p>
          <a:p>
            <a:pPr algn="just"/>
            <a:endParaRPr lang="en-US" sz="5500" dirty="0"/>
          </a:p>
          <a:p>
            <a:pPr algn="just"/>
            <a:r>
              <a:rPr lang="en-US" sz="5500" dirty="0" smtClean="0"/>
              <a:t>If </a:t>
            </a:r>
            <a:r>
              <a:rPr lang="en-US" sz="5500" dirty="0"/>
              <a:t>he drinks </a:t>
            </a:r>
            <a:r>
              <a:rPr lang="en-US" sz="5500" u="sng" dirty="0">
                <a:solidFill>
                  <a:schemeClr val="accent3"/>
                </a:solidFill>
              </a:rPr>
              <a:t>third glass</a:t>
            </a:r>
            <a:r>
              <a:rPr lang="en-US" sz="5500" u="sng" dirty="0"/>
              <a:t> </a:t>
            </a:r>
            <a:r>
              <a:rPr lang="en-US" sz="5500" dirty="0"/>
              <a:t>of water, the </a:t>
            </a:r>
            <a:r>
              <a:rPr lang="en-US" sz="5500" u="sng" dirty="0">
                <a:solidFill>
                  <a:schemeClr val="accent3"/>
                </a:solidFill>
              </a:rPr>
              <a:t>utility of the third glass will be less than that of second and so on</a:t>
            </a:r>
            <a:r>
              <a:rPr lang="en-US" sz="5500" dirty="0"/>
              <a:t>. The utility goes on diminishing with the consumption of every successive glass of water till it drops down to zero. </a:t>
            </a:r>
            <a:endParaRPr lang="en-US" sz="5500" dirty="0" smtClean="0"/>
          </a:p>
          <a:p>
            <a:pPr marL="0" indent="0" algn="just">
              <a:buNone/>
            </a:pPr>
            <a:endParaRPr lang="en-US" sz="5500" dirty="0" smtClean="0"/>
          </a:p>
          <a:p>
            <a:pPr algn="just"/>
            <a:r>
              <a:rPr lang="en-US" sz="5500" dirty="0"/>
              <a:t>It is the position of consumer’s equilibrium or maximum satisfaction. </a:t>
            </a:r>
            <a:endParaRPr lang="en-US" sz="5500" dirty="0" smtClean="0"/>
          </a:p>
          <a:p>
            <a:pPr marL="0" indent="0" algn="just">
              <a:buNone/>
            </a:pPr>
            <a:endParaRPr lang="en-US" sz="5500" dirty="0"/>
          </a:p>
          <a:p>
            <a:pPr algn="just"/>
            <a:r>
              <a:rPr lang="en-US" sz="5500" dirty="0">
                <a:solidFill>
                  <a:srgbClr val="FF0000"/>
                </a:solidFill>
              </a:rPr>
              <a:t>If the consumer is forced further to take a glass of water, it leads to disutility causing total utility-to decline</a:t>
            </a:r>
            <a:r>
              <a:rPr lang="en-US" sz="5500" dirty="0"/>
              <a:t>. The marginal utility will become negative. A rational consumer will stop taking water at the point at which marginal utility becomes negative even if the good is free. </a:t>
            </a:r>
          </a:p>
        </p:txBody>
      </p:sp>
    </p:spTree>
    <p:extLst>
      <p:ext uri="{BB962C8B-B14F-4D97-AF65-F5344CB8AC3E}">
        <p14:creationId xmlns:p14="http://schemas.microsoft.com/office/powerpoint/2010/main" val="363403839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smtClean="0">
                <a:solidFill>
                  <a:srgbClr val="FF0000"/>
                </a:solidFill>
              </a:rPr>
              <a:t>The following table will make the law of diminishing marginal utility more clear.</a:t>
            </a:r>
            <a:r>
              <a:rPr lang="en-US" dirty="0" smtClean="0">
                <a:solidFill>
                  <a:srgbClr val="FF0000"/>
                </a:solidFill>
              </a:rPr>
              <a:t/>
            </a:r>
            <a:br>
              <a:rPr lang="en-US" dirty="0" smtClean="0">
                <a:solidFill>
                  <a:srgbClr val="FF0000"/>
                </a:solidFill>
              </a:rPr>
            </a:br>
            <a:endParaRPr lang="en-US" dirty="0">
              <a:solidFill>
                <a:srgbClr val="FF0000"/>
              </a:solidFill>
            </a:endParaRPr>
          </a:p>
        </p:txBody>
      </p:sp>
      <p:graphicFrame>
        <p:nvGraphicFramePr>
          <p:cNvPr id="5" name="Content Placeholder 4"/>
          <p:cNvGraphicFramePr>
            <a:graphicFrameLocks noGrp="1"/>
          </p:cNvGraphicFramePr>
          <p:nvPr>
            <p:ph idx="1"/>
          </p:nvPr>
        </p:nvGraphicFramePr>
        <p:xfrm>
          <a:off x="609600" y="1904998"/>
          <a:ext cx="8229600" cy="4049568"/>
        </p:xfrm>
        <a:graphic>
          <a:graphicData uri="http://schemas.openxmlformats.org/drawingml/2006/table">
            <a:tbl>
              <a:tblPr firstRow="1" bandRow="1">
                <a:tableStyleId>{93296810-A885-4BE3-A3E7-6D5BEEA58F35}</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257257">
                <a:tc>
                  <a:txBody>
                    <a:bodyPr/>
                    <a:lstStyle/>
                    <a:p>
                      <a:pPr marL="0" marR="0" algn="ctr">
                        <a:lnSpc>
                          <a:spcPct val="115000"/>
                        </a:lnSpc>
                        <a:spcBef>
                          <a:spcPts val="0"/>
                        </a:spcBef>
                        <a:spcAft>
                          <a:spcPts val="1000"/>
                        </a:spcAft>
                      </a:pPr>
                      <a:r>
                        <a:rPr lang="en-US" sz="2400" dirty="0"/>
                        <a:t>Units</a:t>
                      </a:r>
                      <a:endParaRPr lang="en-US" sz="2400" dirty="0">
                        <a:latin typeface="Calibri"/>
                        <a:ea typeface="Times New Roman"/>
                        <a:cs typeface="Times New Roman"/>
                      </a:endParaRPr>
                    </a:p>
                  </a:txBody>
                  <a:tcPr marL="0" marR="0" marT="0" marB="0"/>
                </a:tc>
                <a:tc>
                  <a:txBody>
                    <a:bodyPr/>
                    <a:lstStyle/>
                    <a:p>
                      <a:pPr marL="0" marR="0" algn="ctr">
                        <a:lnSpc>
                          <a:spcPct val="115000"/>
                        </a:lnSpc>
                        <a:spcBef>
                          <a:spcPts val="0"/>
                        </a:spcBef>
                        <a:spcAft>
                          <a:spcPts val="1000"/>
                        </a:spcAft>
                      </a:pPr>
                      <a:r>
                        <a:rPr lang="en-US" sz="2400" dirty="0"/>
                        <a:t>Total Utility</a:t>
                      </a:r>
                      <a:endParaRPr lang="en-US" sz="2400" dirty="0">
                        <a:latin typeface="Calibri"/>
                        <a:ea typeface="Times New Roman"/>
                        <a:cs typeface="Times New Roman"/>
                      </a:endParaRPr>
                    </a:p>
                  </a:txBody>
                  <a:tcPr marL="0" marR="0" marT="0" marB="0"/>
                </a:tc>
                <a:tc>
                  <a:txBody>
                    <a:bodyPr/>
                    <a:lstStyle/>
                    <a:p>
                      <a:pPr marL="0" marR="0" algn="ctr">
                        <a:lnSpc>
                          <a:spcPct val="115000"/>
                        </a:lnSpc>
                        <a:spcBef>
                          <a:spcPts val="0"/>
                        </a:spcBef>
                        <a:spcAft>
                          <a:spcPts val="1000"/>
                        </a:spcAft>
                      </a:pPr>
                      <a:r>
                        <a:rPr lang="en-US" sz="2400" dirty="0"/>
                        <a:t>Marginal Utility</a:t>
                      </a:r>
                      <a:endParaRPr lang="en-US" sz="2400" dirty="0">
                        <a:latin typeface="Calibri"/>
                        <a:ea typeface="Times New Roman"/>
                        <a:cs typeface="Times New Roman"/>
                      </a:endParaRPr>
                    </a:p>
                  </a:txBody>
                  <a:tcPr marL="0" marR="0" marT="0" marB="0"/>
                </a:tc>
                <a:extLst>
                  <a:ext uri="{0D108BD9-81ED-4DB2-BD59-A6C34878D82A}">
                    <a16:rowId xmlns:a16="http://schemas.microsoft.com/office/drawing/2014/main" val="10000"/>
                  </a:ext>
                </a:extLst>
              </a:tr>
              <a:tr h="604824">
                <a:tc>
                  <a:txBody>
                    <a:bodyPr/>
                    <a:lstStyle/>
                    <a:p>
                      <a:pPr marL="0" marR="0" algn="ctr">
                        <a:lnSpc>
                          <a:spcPct val="115000"/>
                        </a:lnSpc>
                        <a:spcBef>
                          <a:spcPts val="0"/>
                        </a:spcBef>
                        <a:spcAft>
                          <a:spcPts val="1000"/>
                        </a:spcAft>
                      </a:pPr>
                      <a:r>
                        <a:rPr lang="en-US" sz="2400" dirty="0"/>
                        <a:t>1</a:t>
                      </a:r>
                      <a:r>
                        <a:rPr lang="en-US" sz="2400" baseline="30000" dirty="0"/>
                        <a:t>st</a:t>
                      </a:r>
                      <a:r>
                        <a:rPr lang="en-US" sz="2400" dirty="0"/>
                        <a:t> glass</a:t>
                      </a:r>
                      <a:endParaRPr lang="en-US" sz="2400" dirty="0">
                        <a:latin typeface="Calibri"/>
                        <a:ea typeface="Times New Roman"/>
                        <a:cs typeface="Times New Roman"/>
                      </a:endParaRPr>
                    </a:p>
                  </a:txBody>
                  <a:tcPr marL="0" marR="0" marT="0" marB="0"/>
                </a:tc>
                <a:tc>
                  <a:txBody>
                    <a:bodyPr/>
                    <a:lstStyle/>
                    <a:p>
                      <a:pPr marL="0" marR="0" algn="ctr">
                        <a:lnSpc>
                          <a:spcPct val="115000"/>
                        </a:lnSpc>
                        <a:spcBef>
                          <a:spcPts val="0"/>
                        </a:spcBef>
                        <a:spcAft>
                          <a:spcPts val="1000"/>
                        </a:spcAft>
                      </a:pPr>
                      <a:r>
                        <a:rPr lang="en-US" sz="2400" dirty="0"/>
                        <a:t>20</a:t>
                      </a:r>
                      <a:endParaRPr lang="en-US" sz="2400" dirty="0">
                        <a:latin typeface="Calibri"/>
                        <a:ea typeface="Times New Roman"/>
                        <a:cs typeface="Times New Roman"/>
                      </a:endParaRPr>
                    </a:p>
                  </a:txBody>
                  <a:tcPr marL="0" marR="0" marT="0" marB="0"/>
                </a:tc>
                <a:tc>
                  <a:txBody>
                    <a:bodyPr/>
                    <a:lstStyle/>
                    <a:p>
                      <a:pPr marL="0" marR="0" algn="ctr">
                        <a:lnSpc>
                          <a:spcPct val="115000"/>
                        </a:lnSpc>
                        <a:spcBef>
                          <a:spcPts val="0"/>
                        </a:spcBef>
                        <a:spcAft>
                          <a:spcPts val="1000"/>
                        </a:spcAft>
                      </a:pPr>
                      <a:r>
                        <a:rPr lang="en-US" sz="2400" dirty="0"/>
                        <a:t>20</a:t>
                      </a:r>
                      <a:endParaRPr lang="en-US" sz="2400" dirty="0">
                        <a:latin typeface="Calibri"/>
                        <a:ea typeface="Times New Roman"/>
                        <a:cs typeface="Times New Roman"/>
                      </a:endParaRPr>
                    </a:p>
                  </a:txBody>
                  <a:tcPr marL="0" marR="0" marT="0" marB="0"/>
                </a:tc>
                <a:extLst>
                  <a:ext uri="{0D108BD9-81ED-4DB2-BD59-A6C34878D82A}">
                    <a16:rowId xmlns:a16="http://schemas.microsoft.com/office/drawing/2014/main" val="10001"/>
                  </a:ext>
                </a:extLst>
              </a:tr>
              <a:tr h="604824">
                <a:tc>
                  <a:txBody>
                    <a:bodyPr/>
                    <a:lstStyle/>
                    <a:p>
                      <a:pPr marL="0" marR="0" algn="ctr">
                        <a:lnSpc>
                          <a:spcPct val="115000"/>
                        </a:lnSpc>
                        <a:spcBef>
                          <a:spcPts val="0"/>
                        </a:spcBef>
                        <a:spcAft>
                          <a:spcPts val="1000"/>
                        </a:spcAft>
                      </a:pPr>
                      <a:r>
                        <a:rPr lang="en-US" sz="2400" dirty="0"/>
                        <a:t>2</a:t>
                      </a:r>
                      <a:r>
                        <a:rPr lang="en-US" sz="2400" baseline="30000" dirty="0"/>
                        <a:t>nd</a:t>
                      </a:r>
                      <a:r>
                        <a:rPr lang="en-US" sz="2400" dirty="0"/>
                        <a:t> glass</a:t>
                      </a:r>
                      <a:endParaRPr lang="en-US" sz="2400" dirty="0">
                        <a:latin typeface="Calibri"/>
                        <a:ea typeface="Times New Roman"/>
                        <a:cs typeface="Times New Roman"/>
                      </a:endParaRPr>
                    </a:p>
                  </a:txBody>
                  <a:tcPr marL="0" marR="0" marT="0" marB="0"/>
                </a:tc>
                <a:tc>
                  <a:txBody>
                    <a:bodyPr/>
                    <a:lstStyle/>
                    <a:p>
                      <a:pPr marL="0" marR="0" algn="ctr">
                        <a:lnSpc>
                          <a:spcPct val="115000"/>
                        </a:lnSpc>
                        <a:spcBef>
                          <a:spcPts val="0"/>
                        </a:spcBef>
                        <a:spcAft>
                          <a:spcPts val="1000"/>
                        </a:spcAft>
                      </a:pPr>
                      <a:r>
                        <a:rPr lang="en-US" sz="2400" dirty="0"/>
                        <a:t>32</a:t>
                      </a:r>
                      <a:endParaRPr lang="en-US" sz="2400" dirty="0">
                        <a:latin typeface="Calibri"/>
                        <a:ea typeface="Times New Roman"/>
                        <a:cs typeface="Times New Roman"/>
                      </a:endParaRPr>
                    </a:p>
                  </a:txBody>
                  <a:tcPr marL="0" marR="0" marT="0" marB="0"/>
                </a:tc>
                <a:tc>
                  <a:txBody>
                    <a:bodyPr/>
                    <a:lstStyle/>
                    <a:p>
                      <a:pPr marL="0" marR="0" algn="ctr">
                        <a:lnSpc>
                          <a:spcPct val="115000"/>
                        </a:lnSpc>
                        <a:spcBef>
                          <a:spcPts val="0"/>
                        </a:spcBef>
                        <a:spcAft>
                          <a:spcPts val="1000"/>
                        </a:spcAft>
                      </a:pPr>
                      <a:r>
                        <a:rPr lang="en-US" sz="2400" dirty="0"/>
                        <a:t>12</a:t>
                      </a:r>
                      <a:endParaRPr lang="en-US" sz="2400" dirty="0">
                        <a:latin typeface="Calibri"/>
                        <a:ea typeface="Times New Roman"/>
                        <a:cs typeface="Times New Roman"/>
                      </a:endParaRPr>
                    </a:p>
                  </a:txBody>
                  <a:tcPr marL="0" marR="0" marT="0" marB="0"/>
                </a:tc>
                <a:extLst>
                  <a:ext uri="{0D108BD9-81ED-4DB2-BD59-A6C34878D82A}">
                    <a16:rowId xmlns:a16="http://schemas.microsoft.com/office/drawing/2014/main" val="10002"/>
                  </a:ext>
                </a:extLst>
              </a:tr>
              <a:tr h="604824">
                <a:tc>
                  <a:txBody>
                    <a:bodyPr/>
                    <a:lstStyle/>
                    <a:p>
                      <a:pPr marL="0" marR="0" algn="ctr">
                        <a:lnSpc>
                          <a:spcPct val="115000"/>
                        </a:lnSpc>
                        <a:spcBef>
                          <a:spcPts val="0"/>
                        </a:spcBef>
                        <a:spcAft>
                          <a:spcPts val="1000"/>
                        </a:spcAft>
                      </a:pPr>
                      <a:r>
                        <a:rPr lang="en-US" sz="2400" dirty="0"/>
                        <a:t>3</a:t>
                      </a:r>
                      <a:r>
                        <a:rPr lang="en-US" sz="2400" baseline="30000" dirty="0"/>
                        <a:t>rd</a:t>
                      </a:r>
                      <a:r>
                        <a:rPr lang="en-US" sz="2400" dirty="0"/>
                        <a:t> glass</a:t>
                      </a:r>
                      <a:endParaRPr lang="en-US" sz="2400" dirty="0">
                        <a:latin typeface="Calibri"/>
                        <a:ea typeface="Times New Roman"/>
                        <a:cs typeface="Times New Roman"/>
                      </a:endParaRPr>
                    </a:p>
                  </a:txBody>
                  <a:tcPr marL="0" marR="0" marT="0" marB="0"/>
                </a:tc>
                <a:tc>
                  <a:txBody>
                    <a:bodyPr/>
                    <a:lstStyle/>
                    <a:p>
                      <a:pPr marL="0" marR="0" algn="ctr">
                        <a:lnSpc>
                          <a:spcPct val="115000"/>
                        </a:lnSpc>
                        <a:spcBef>
                          <a:spcPts val="0"/>
                        </a:spcBef>
                        <a:spcAft>
                          <a:spcPts val="1000"/>
                        </a:spcAft>
                      </a:pPr>
                      <a:r>
                        <a:rPr lang="en-US" sz="2400" dirty="0"/>
                        <a:t>40</a:t>
                      </a:r>
                      <a:endParaRPr lang="en-US" sz="2400" dirty="0">
                        <a:latin typeface="Calibri"/>
                        <a:ea typeface="Times New Roman"/>
                        <a:cs typeface="Times New Roman"/>
                      </a:endParaRPr>
                    </a:p>
                  </a:txBody>
                  <a:tcPr marL="0" marR="0" marT="0" marB="0"/>
                </a:tc>
                <a:tc>
                  <a:txBody>
                    <a:bodyPr/>
                    <a:lstStyle/>
                    <a:p>
                      <a:pPr marL="0" marR="0" algn="ctr">
                        <a:lnSpc>
                          <a:spcPct val="115000"/>
                        </a:lnSpc>
                        <a:spcBef>
                          <a:spcPts val="0"/>
                        </a:spcBef>
                        <a:spcAft>
                          <a:spcPts val="1000"/>
                        </a:spcAft>
                      </a:pPr>
                      <a:r>
                        <a:rPr lang="en-US" sz="2400" dirty="0"/>
                        <a:t>8</a:t>
                      </a:r>
                      <a:endParaRPr lang="en-US" sz="2400" dirty="0">
                        <a:latin typeface="Calibri"/>
                        <a:ea typeface="Times New Roman"/>
                        <a:cs typeface="Times New Roman"/>
                      </a:endParaRPr>
                    </a:p>
                  </a:txBody>
                  <a:tcPr marL="0" marR="0" marT="0" marB="0"/>
                </a:tc>
                <a:extLst>
                  <a:ext uri="{0D108BD9-81ED-4DB2-BD59-A6C34878D82A}">
                    <a16:rowId xmlns:a16="http://schemas.microsoft.com/office/drawing/2014/main" val="10003"/>
                  </a:ext>
                </a:extLst>
              </a:tr>
              <a:tr h="604824">
                <a:tc>
                  <a:txBody>
                    <a:bodyPr/>
                    <a:lstStyle/>
                    <a:p>
                      <a:pPr marL="0" marR="0" algn="ctr">
                        <a:lnSpc>
                          <a:spcPct val="115000"/>
                        </a:lnSpc>
                        <a:spcBef>
                          <a:spcPts val="0"/>
                        </a:spcBef>
                        <a:spcAft>
                          <a:spcPts val="1000"/>
                        </a:spcAft>
                      </a:pPr>
                      <a:r>
                        <a:rPr lang="en-US" sz="2400" dirty="0"/>
                        <a:t>4</a:t>
                      </a:r>
                      <a:r>
                        <a:rPr lang="en-US" sz="2400" baseline="30000" dirty="0"/>
                        <a:t>th</a:t>
                      </a:r>
                      <a:r>
                        <a:rPr lang="en-US" sz="2400" dirty="0"/>
                        <a:t> glass</a:t>
                      </a:r>
                      <a:endParaRPr lang="en-US" sz="2400" dirty="0">
                        <a:latin typeface="Calibri"/>
                        <a:ea typeface="Times New Roman"/>
                        <a:cs typeface="Times New Roman"/>
                      </a:endParaRPr>
                    </a:p>
                  </a:txBody>
                  <a:tcPr marL="0" marR="0" marT="0" marB="0"/>
                </a:tc>
                <a:tc>
                  <a:txBody>
                    <a:bodyPr/>
                    <a:lstStyle/>
                    <a:p>
                      <a:pPr marL="0" marR="0" algn="ctr">
                        <a:lnSpc>
                          <a:spcPct val="115000"/>
                        </a:lnSpc>
                        <a:spcBef>
                          <a:spcPts val="0"/>
                        </a:spcBef>
                        <a:spcAft>
                          <a:spcPts val="1000"/>
                        </a:spcAft>
                      </a:pPr>
                      <a:r>
                        <a:rPr lang="en-US" sz="2400" dirty="0"/>
                        <a:t>42</a:t>
                      </a:r>
                      <a:endParaRPr lang="en-US" sz="2400" dirty="0">
                        <a:latin typeface="Calibri"/>
                        <a:ea typeface="Times New Roman"/>
                        <a:cs typeface="Times New Roman"/>
                      </a:endParaRPr>
                    </a:p>
                  </a:txBody>
                  <a:tcPr marL="0" marR="0" marT="0" marB="0"/>
                </a:tc>
                <a:tc>
                  <a:txBody>
                    <a:bodyPr/>
                    <a:lstStyle/>
                    <a:p>
                      <a:pPr marL="0" marR="0" algn="ctr">
                        <a:lnSpc>
                          <a:spcPct val="115000"/>
                        </a:lnSpc>
                        <a:spcBef>
                          <a:spcPts val="0"/>
                        </a:spcBef>
                        <a:spcAft>
                          <a:spcPts val="1000"/>
                        </a:spcAft>
                      </a:pPr>
                      <a:r>
                        <a:rPr lang="en-US" sz="2400" dirty="0"/>
                        <a:t>2</a:t>
                      </a:r>
                      <a:endParaRPr lang="en-US" sz="2400" dirty="0">
                        <a:latin typeface="Calibri"/>
                        <a:ea typeface="Times New Roman"/>
                        <a:cs typeface="Times New Roman"/>
                      </a:endParaRPr>
                    </a:p>
                  </a:txBody>
                  <a:tcPr marL="0" marR="0" marT="0" marB="0"/>
                </a:tc>
                <a:extLst>
                  <a:ext uri="{0D108BD9-81ED-4DB2-BD59-A6C34878D82A}">
                    <a16:rowId xmlns:a16="http://schemas.microsoft.com/office/drawing/2014/main" val="10004"/>
                  </a:ext>
                </a:extLst>
              </a:tr>
              <a:tr h="604824">
                <a:tc>
                  <a:txBody>
                    <a:bodyPr/>
                    <a:lstStyle/>
                    <a:p>
                      <a:pPr marL="0" marR="0" algn="ctr">
                        <a:lnSpc>
                          <a:spcPct val="115000"/>
                        </a:lnSpc>
                        <a:spcBef>
                          <a:spcPts val="0"/>
                        </a:spcBef>
                        <a:spcAft>
                          <a:spcPts val="1000"/>
                        </a:spcAft>
                      </a:pPr>
                      <a:r>
                        <a:rPr lang="en-US" sz="2400" dirty="0"/>
                        <a:t>5</a:t>
                      </a:r>
                      <a:r>
                        <a:rPr lang="en-US" sz="2400" baseline="30000" dirty="0"/>
                        <a:t>th</a:t>
                      </a:r>
                      <a:r>
                        <a:rPr lang="en-US" sz="2400" dirty="0"/>
                        <a:t> glass</a:t>
                      </a:r>
                      <a:endParaRPr lang="en-US" sz="2400" dirty="0">
                        <a:latin typeface="Calibri"/>
                        <a:ea typeface="Times New Roman"/>
                        <a:cs typeface="Times New Roman"/>
                      </a:endParaRPr>
                    </a:p>
                  </a:txBody>
                  <a:tcPr marL="0" marR="0" marT="0" marB="0"/>
                </a:tc>
                <a:tc>
                  <a:txBody>
                    <a:bodyPr/>
                    <a:lstStyle/>
                    <a:p>
                      <a:pPr marL="0" marR="0" algn="ctr">
                        <a:lnSpc>
                          <a:spcPct val="115000"/>
                        </a:lnSpc>
                        <a:spcBef>
                          <a:spcPts val="0"/>
                        </a:spcBef>
                        <a:spcAft>
                          <a:spcPts val="1000"/>
                        </a:spcAft>
                      </a:pPr>
                      <a:r>
                        <a:rPr lang="en-US" sz="2400" dirty="0"/>
                        <a:t>42</a:t>
                      </a:r>
                      <a:endParaRPr lang="en-US" sz="2400" dirty="0">
                        <a:latin typeface="Calibri"/>
                        <a:ea typeface="Times New Roman"/>
                        <a:cs typeface="Times New Roman"/>
                      </a:endParaRPr>
                    </a:p>
                  </a:txBody>
                  <a:tcPr marL="0" marR="0" marT="0" marB="0"/>
                </a:tc>
                <a:tc>
                  <a:txBody>
                    <a:bodyPr/>
                    <a:lstStyle/>
                    <a:p>
                      <a:pPr marL="0" marR="0" algn="ctr">
                        <a:lnSpc>
                          <a:spcPct val="115000"/>
                        </a:lnSpc>
                        <a:spcBef>
                          <a:spcPts val="0"/>
                        </a:spcBef>
                        <a:spcAft>
                          <a:spcPts val="1000"/>
                        </a:spcAft>
                      </a:pPr>
                      <a:r>
                        <a:rPr lang="en-US" sz="2400" dirty="0"/>
                        <a:t>0</a:t>
                      </a:r>
                      <a:endParaRPr lang="en-US" sz="2400" dirty="0">
                        <a:latin typeface="Calibri"/>
                        <a:ea typeface="Times New Roman"/>
                        <a:cs typeface="Times New Roman"/>
                      </a:endParaRPr>
                    </a:p>
                  </a:txBody>
                  <a:tcPr marL="0" marR="0" marT="0" marB="0"/>
                </a:tc>
                <a:extLst>
                  <a:ext uri="{0D108BD9-81ED-4DB2-BD59-A6C34878D82A}">
                    <a16:rowId xmlns:a16="http://schemas.microsoft.com/office/drawing/2014/main" val="10005"/>
                  </a:ext>
                </a:extLst>
              </a:tr>
              <a:tr h="604824">
                <a:tc>
                  <a:txBody>
                    <a:bodyPr/>
                    <a:lstStyle/>
                    <a:p>
                      <a:pPr marL="0" marR="0" algn="ctr">
                        <a:lnSpc>
                          <a:spcPct val="115000"/>
                        </a:lnSpc>
                        <a:spcBef>
                          <a:spcPts val="0"/>
                        </a:spcBef>
                        <a:spcAft>
                          <a:spcPts val="1000"/>
                        </a:spcAft>
                      </a:pPr>
                      <a:r>
                        <a:rPr lang="en-US" sz="2400" dirty="0"/>
                        <a:t>6</a:t>
                      </a:r>
                      <a:r>
                        <a:rPr lang="en-US" sz="2400" baseline="30000" dirty="0"/>
                        <a:t>th</a:t>
                      </a:r>
                      <a:r>
                        <a:rPr lang="en-US" sz="2400" dirty="0"/>
                        <a:t> glass</a:t>
                      </a:r>
                      <a:endParaRPr lang="en-US" sz="2400" dirty="0">
                        <a:latin typeface="Calibri"/>
                        <a:ea typeface="Times New Roman"/>
                        <a:cs typeface="Times New Roman"/>
                      </a:endParaRPr>
                    </a:p>
                  </a:txBody>
                  <a:tcPr marL="0" marR="0" marT="0" marB="0"/>
                </a:tc>
                <a:tc>
                  <a:txBody>
                    <a:bodyPr/>
                    <a:lstStyle/>
                    <a:p>
                      <a:pPr marL="0" marR="0" algn="ctr">
                        <a:lnSpc>
                          <a:spcPct val="115000"/>
                        </a:lnSpc>
                        <a:spcBef>
                          <a:spcPts val="0"/>
                        </a:spcBef>
                        <a:spcAft>
                          <a:spcPts val="1000"/>
                        </a:spcAft>
                      </a:pPr>
                      <a:r>
                        <a:rPr lang="en-US" sz="2400" dirty="0"/>
                        <a:t>39</a:t>
                      </a:r>
                      <a:endParaRPr lang="en-US" sz="2400" dirty="0">
                        <a:latin typeface="Calibri"/>
                        <a:ea typeface="Times New Roman"/>
                        <a:cs typeface="Times New Roman"/>
                      </a:endParaRPr>
                    </a:p>
                  </a:txBody>
                  <a:tcPr marL="0" marR="0" marT="0" marB="0"/>
                </a:tc>
                <a:tc>
                  <a:txBody>
                    <a:bodyPr/>
                    <a:lstStyle/>
                    <a:p>
                      <a:pPr marL="0" marR="0" algn="ctr">
                        <a:lnSpc>
                          <a:spcPct val="115000"/>
                        </a:lnSpc>
                        <a:spcBef>
                          <a:spcPts val="0"/>
                        </a:spcBef>
                        <a:spcAft>
                          <a:spcPts val="1000"/>
                        </a:spcAft>
                      </a:pPr>
                      <a:r>
                        <a:rPr lang="en-US" sz="2400" dirty="0"/>
                        <a:t>–3</a:t>
                      </a:r>
                      <a:endParaRPr lang="en-US" sz="2400" dirty="0">
                        <a:latin typeface="Calibri"/>
                        <a:ea typeface="Times New Roman"/>
                        <a:cs typeface="Times New Roman"/>
                      </a:endParaRPr>
                    </a:p>
                  </a:txBody>
                  <a:tcPr marL="0" marR="0"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0359675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146" name="Picture 2" descr="http://www.managedstudy.com/micro/images/mu_and_tu.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20973"/>
            <a:ext cx="8382000" cy="63846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28315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Effects of the Law of Demand</a:t>
            </a:r>
            <a:endParaRPr lang="en-US" b="1" dirty="0"/>
          </a:p>
        </p:txBody>
      </p:sp>
      <p:pic>
        <p:nvPicPr>
          <p:cNvPr id="1026" name="Picture 2" descr="http://www.dineshbakshi.com/images/stories/economics_diagrams/ext_cont_of_demand_small.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753832"/>
            <a:ext cx="5181600" cy="4351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425471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Rectangle 5"/>
          <p:cNvSpPr>
            <a:spLocks noGrp="1" noChangeArrowheads="1"/>
          </p:cNvSpPr>
          <p:nvPr>
            <p:ph type="title"/>
          </p:nvPr>
        </p:nvSpPr>
        <p:spPr/>
        <p:txBody>
          <a:bodyPr>
            <a:normAutofit/>
          </a:bodyPr>
          <a:lstStyle/>
          <a:p>
            <a:pPr algn="l" eaLnBrk="1" hangingPunct="1"/>
            <a:r>
              <a:rPr lang="en-US" altLang="en-US" b="1" dirty="0" smtClean="0"/>
              <a:t>Shifts in the Market Demand Curve</a:t>
            </a:r>
          </a:p>
        </p:txBody>
      </p:sp>
      <p:sp>
        <p:nvSpPr>
          <p:cNvPr id="419846" name="Rectangle 6"/>
          <p:cNvSpPr>
            <a:spLocks noGrp="1" noChangeArrowheads="1"/>
          </p:cNvSpPr>
          <p:nvPr>
            <p:ph idx="1"/>
          </p:nvPr>
        </p:nvSpPr>
        <p:spPr>
          <a:xfrm>
            <a:off x="692760" y="2198594"/>
            <a:ext cx="8070239" cy="4525963"/>
          </a:xfrm>
        </p:spPr>
        <p:txBody>
          <a:bodyPr/>
          <a:lstStyle/>
          <a:p>
            <a:pPr eaLnBrk="1" hangingPunct="1"/>
            <a:r>
              <a:rPr lang="en-US" altLang="en-US" sz="2800" dirty="0" smtClean="0">
                <a:cs typeface="Times New Roman" pitchFamily="18" charset="0"/>
              </a:rPr>
              <a:t>… are caused by changes in:</a:t>
            </a:r>
            <a:endParaRPr lang="en-US" altLang="en-US" sz="2800" dirty="0" smtClean="0"/>
          </a:p>
          <a:p>
            <a:pPr lvl="1" eaLnBrk="1" hangingPunct="1"/>
            <a:r>
              <a:rPr lang="en-US" altLang="en-US" sz="2800" dirty="0" smtClean="0"/>
              <a:t>Consumer income</a:t>
            </a:r>
          </a:p>
          <a:p>
            <a:pPr lvl="1" eaLnBrk="1" hangingPunct="1"/>
            <a:r>
              <a:rPr lang="en-US" altLang="en-US" sz="2800" dirty="0" smtClean="0"/>
              <a:t>Prices of related goods</a:t>
            </a:r>
          </a:p>
          <a:p>
            <a:pPr lvl="1" eaLnBrk="1" hangingPunct="1"/>
            <a:r>
              <a:rPr lang="en-US" altLang="en-US" sz="2800" dirty="0" smtClean="0"/>
              <a:t>Tastes</a:t>
            </a:r>
          </a:p>
          <a:p>
            <a:pPr lvl="1" eaLnBrk="1" hangingPunct="1"/>
            <a:r>
              <a:rPr lang="en-US" altLang="en-US" sz="2800" dirty="0" smtClean="0"/>
              <a:t>Expectations, say, about future prices and prospects</a:t>
            </a:r>
          </a:p>
          <a:p>
            <a:pPr lvl="1" eaLnBrk="1" hangingPunct="1"/>
            <a:r>
              <a:rPr lang="en-US" altLang="en-US" sz="2800" dirty="0" smtClean="0"/>
              <a:t>Number of buyers</a:t>
            </a:r>
          </a:p>
          <a:p>
            <a:pPr eaLnBrk="1" hangingPunct="1"/>
            <a:endParaRPr lang="en-US" altLang="en-US" dirty="0" smtClean="0"/>
          </a:p>
        </p:txBody>
      </p:sp>
      <p:sp>
        <p:nvSpPr>
          <p:cNvPr id="5" name="Slide Number Placeholder 4"/>
          <p:cNvSpPr>
            <a:spLocks noGrp="1"/>
          </p:cNvSpPr>
          <p:nvPr>
            <p:ph type="sldNum" sz="quarter" idx="12"/>
          </p:nvPr>
        </p:nvSpPr>
        <p:spPr/>
        <p:txBody>
          <a:bodyPr/>
          <a:lstStyle/>
          <a:p>
            <a:pPr>
              <a:defRPr/>
            </a:pPr>
            <a:fld id="{DB677572-C853-4AC9-999C-AC2EC6DAB7F4}" type="slidenum">
              <a:rPr lang="en-US"/>
              <a:pPr>
                <a:defRPr/>
              </a:pPr>
              <a:t>17</a:t>
            </a:fld>
            <a:endParaRPr lang="en-US"/>
          </a:p>
        </p:txBody>
      </p:sp>
    </p:spTree>
    <p:extLst>
      <p:ext uri="{BB962C8B-B14F-4D97-AF65-F5344CB8AC3E}">
        <p14:creationId xmlns:p14="http://schemas.microsoft.com/office/powerpoint/2010/main" val="142935610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9846">
                                            <p:txEl>
                                              <p:pRg st="0" end="0"/>
                                            </p:txEl>
                                          </p:spTgt>
                                        </p:tgtEl>
                                        <p:attrNameLst>
                                          <p:attrName>style.visibility</p:attrName>
                                        </p:attrNameLst>
                                      </p:cBhvr>
                                      <p:to>
                                        <p:strVal val="visible"/>
                                      </p:to>
                                    </p:set>
                                    <p:animEffect transition="in" filter="wipe(left)">
                                      <p:cBhvr>
                                        <p:cTn id="7" dur="500"/>
                                        <p:tgtEl>
                                          <p:spTgt spid="419846">
                                            <p:txEl>
                                              <p:pRg st="0" end="0"/>
                                            </p:txEl>
                                          </p:spTgt>
                                        </p:tgtEl>
                                      </p:cBhvr>
                                    </p:animEffect>
                                  </p:childTnLst>
                                  <p:subTnLst>
                                    <p:animClr clrSpc="rgb" dir="cw">
                                      <p:cBhvr override="childStyle">
                                        <p:cTn dur="1" fill="hold" display="0" masterRel="nextClick" afterEffect="1"/>
                                        <p:tgtEl>
                                          <p:spTgt spid="419846">
                                            <p:txEl>
                                              <p:pRg st="0" end="0"/>
                                            </p:txEl>
                                          </p:spTgt>
                                        </p:tgtEl>
                                        <p:attrNameLst>
                                          <p:attrName>ppt_c</p:attrName>
                                        </p:attrNameLst>
                                      </p:cBhvr>
                                      <p:to>
                                        <a:schemeClr val="bg2"/>
                                      </p:to>
                                    </p:animClr>
                                  </p:subTnLst>
                                </p:cTn>
                              </p:par>
                              <p:par>
                                <p:cTn id="8" presetID="22" presetClass="entr" presetSubtype="8" fill="hold" grpId="0" nodeType="withEffect">
                                  <p:stCondLst>
                                    <p:cond delay="0"/>
                                  </p:stCondLst>
                                  <p:childTnLst>
                                    <p:set>
                                      <p:cBhvr>
                                        <p:cTn id="9" dur="1" fill="hold">
                                          <p:stCondLst>
                                            <p:cond delay="0"/>
                                          </p:stCondLst>
                                        </p:cTn>
                                        <p:tgtEl>
                                          <p:spTgt spid="419846">
                                            <p:txEl>
                                              <p:pRg st="1" end="1"/>
                                            </p:txEl>
                                          </p:spTgt>
                                        </p:tgtEl>
                                        <p:attrNameLst>
                                          <p:attrName>style.visibility</p:attrName>
                                        </p:attrNameLst>
                                      </p:cBhvr>
                                      <p:to>
                                        <p:strVal val="visible"/>
                                      </p:to>
                                    </p:set>
                                    <p:animEffect transition="in" filter="wipe(left)">
                                      <p:cBhvr>
                                        <p:cTn id="10" dur="500"/>
                                        <p:tgtEl>
                                          <p:spTgt spid="419846">
                                            <p:txEl>
                                              <p:pRg st="1" end="1"/>
                                            </p:txEl>
                                          </p:spTgt>
                                        </p:tgtEl>
                                      </p:cBhvr>
                                    </p:animEffect>
                                  </p:childTnLst>
                                  <p:subTnLst>
                                    <p:animClr clrSpc="rgb" dir="cw">
                                      <p:cBhvr override="childStyle">
                                        <p:cTn dur="1" fill="hold" display="0" masterRel="nextClick" afterEffect="1"/>
                                        <p:tgtEl>
                                          <p:spTgt spid="419846">
                                            <p:txEl>
                                              <p:pRg st="1" end="1"/>
                                            </p:txEl>
                                          </p:spTgt>
                                        </p:tgtEl>
                                        <p:attrNameLst>
                                          <p:attrName>ppt_c</p:attrName>
                                        </p:attrNameLst>
                                      </p:cBhvr>
                                      <p:to>
                                        <a:schemeClr val="bg2"/>
                                      </p:to>
                                    </p:animClr>
                                  </p:subTnLst>
                                </p:cTn>
                              </p:par>
                              <p:par>
                                <p:cTn id="11" presetID="22" presetClass="entr" presetSubtype="8" fill="hold" grpId="0" nodeType="withEffect">
                                  <p:stCondLst>
                                    <p:cond delay="0"/>
                                  </p:stCondLst>
                                  <p:childTnLst>
                                    <p:set>
                                      <p:cBhvr>
                                        <p:cTn id="12" dur="1" fill="hold">
                                          <p:stCondLst>
                                            <p:cond delay="0"/>
                                          </p:stCondLst>
                                        </p:cTn>
                                        <p:tgtEl>
                                          <p:spTgt spid="419846">
                                            <p:txEl>
                                              <p:pRg st="2" end="2"/>
                                            </p:txEl>
                                          </p:spTgt>
                                        </p:tgtEl>
                                        <p:attrNameLst>
                                          <p:attrName>style.visibility</p:attrName>
                                        </p:attrNameLst>
                                      </p:cBhvr>
                                      <p:to>
                                        <p:strVal val="visible"/>
                                      </p:to>
                                    </p:set>
                                    <p:animEffect transition="in" filter="wipe(left)">
                                      <p:cBhvr>
                                        <p:cTn id="13" dur="500"/>
                                        <p:tgtEl>
                                          <p:spTgt spid="419846">
                                            <p:txEl>
                                              <p:pRg st="2" end="2"/>
                                            </p:txEl>
                                          </p:spTgt>
                                        </p:tgtEl>
                                      </p:cBhvr>
                                    </p:animEffect>
                                  </p:childTnLst>
                                  <p:subTnLst>
                                    <p:animClr clrSpc="rgb" dir="cw">
                                      <p:cBhvr override="childStyle">
                                        <p:cTn dur="1" fill="hold" display="0" masterRel="nextClick" afterEffect="1"/>
                                        <p:tgtEl>
                                          <p:spTgt spid="419846">
                                            <p:txEl>
                                              <p:pRg st="2" end="2"/>
                                            </p:txEl>
                                          </p:spTgt>
                                        </p:tgtEl>
                                        <p:attrNameLst>
                                          <p:attrName>ppt_c</p:attrName>
                                        </p:attrNameLst>
                                      </p:cBhvr>
                                      <p:to>
                                        <a:schemeClr val="bg2"/>
                                      </p:to>
                                    </p:animClr>
                                  </p:subTnLst>
                                </p:cTn>
                              </p:par>
                              <p:par>
                                <p:cTn id="14" presetID="22" presetClass="entr" presetSubtype="8" fill="hold" grpId="0" nodeType="withEffect">
                                  <p:stCondLst>
                                    <p:cond delay="0"/>
                                  </p:stCondLst>
                                  <p:childTnLst>
                                    <p:set>
                                      <p:cBhvr>
                                        <p:cTn id="15" dur="1" fill="hold">
                                          <p:stCondLst>
                                            <p:cond delay="0"/>
                                          </p:stCondLst>
                                        </p:cTn>
                                        <p:tgtEl>
                                          <p:spTgt spid="419846">
                                            <p:txEl>
                                              <p:pRg st="3" end="3"/>
                                            </p:txEl>
                                          </p:spTgt>
                                        </p:tgtEl>
                                        <p:attrNameLst>
                                          <p:attrName>style.visibility</p:attrName>
                                        </p:attrNameLst>
                                      </p:cBhvr>
                                      <p:to>
                                        <p:strVal val="visible"/>
                                      </p:to>
                                    </p:set>
                                    <p:animEffect transition="in" filter="wipe(left)">
                                      <p:cBhvr>
                                        <p:cTn id="16" dur="500"/>
                                        <p:tgtEl>
                                          <p:spTgt spid="419846">
                                            <p:txEl>
                                              <p:pRg st="3" end="3"/>
                                            </p:txEl>
                                          </p:spTgt>
                                        </p:tgtEl>
                                      </p:cBhvr>
                                    </p:animEffect>
                                  </p:childTnLst>
                                  <p:subTnLst>
                                    <p:animClr clrSpc="rgb" dir="cw">
                                      <p:cBhvr override="childStyle">
                                        <p:cTn dur="1" fill="hold" display="0" masterRel="nextClick" afterEffect="1"/>
                                        <p:tgtEl>
                                          <p:spTgt spid="419846">
                                            <p:txEl>
                                              <p:pRg st="3" end="3"/>
                                            </p:txEl>
                                          </p:spTgt>
                                        </p:tgtEl>
                                        <p:attrNameLst>
                                          <p:attrName>ppt_c</p:attrName>
                                        </p:attrNameLst>
                                      </p:cBhvr>
                                      <p:to>
                                        <a:schemeClr val="bg2"/>
                                      </p:to>
                                    </p:animClr>
                                  </p:subTnLst>
                                </p:cTn>
                              </p:par>
                              <p:par>
                                <p:cTn id="17" presetID="22" presetClass="entr" presetSubtype="8" fill="hold" grpId="0" nodeType="withEffect">
                                  <p:stCondLst>
                                    <p:cond delay="0"/>
                                  </p:stCondLst>
                                  <p:childTnLst>
                                    <p:set>
                                      <p:cBhvr>
                                        <p:cTn id="18" dur="1" fill="hold">
                                          <p:stCondLst>
                                            <p:cond delay="0"/>
                                          </p:stCondLst>
                                        </p:cTn>
                                        <p:tgtEl>
                                          <p:spTgt spid="419846">
                                            <p:txEl>
                                              <p:pRg st="4" end="4"/>
                                            </p:txEl>
                                          </p:spTgt>
                                        </p:tgtEl>
                                        <p:attrNameLst>
                                          <p:attrName>style.visibility</p:attrName>
                                        </p:attrNameLst>
                                      </p:cBhvr>
                                      <p:to>
                                        <p:strVal val="visible"/>
                                      </p:to>
                                    </p:set>
                                    <p:animEffect transition="in" filter="wipe(left)">
                                      <p:cBhvr>
                                        <p:cTn id="19" dur="500"/>
                                        <p:tgtEl>
                                          <p:spTgt spid="419846">
                                            <p:txEl>
                                              <p:pRg st="4" end="4"/>
                                            </p:txEl>
                                          </p:spTgt>
                                        </p:tgtEl>
                                      </p:cBhvr>
                                    </p:animEffect>
                                  </p:childTnLst>
                                  <p:subTnLst>
                                    <p:animClr clrSpc="rgb" dir="cw">
                                      <p:cBhvr override="childStyle">
                                        <p:cTn dur="1" fill="hold" display="0" masterRel="nextClick" afterEffect="1"/>
                                        <p:tgtEl>
                                          <p:spTgt spid="419846">
                                            <p:txEl>
                                              <p:pRg st="4" end="4"/>
                                            </p:txEl>
                                          </p:spTgt>
                                        </p:tgtEl>
                                        <p:attrNameLst>
                                          <p:attrName>ppt_c</p:attrName>
                                        </p:attrNameLst>
                                      </p:cBhvr>
                                      <p:to>
                                        <a:schemeClr val="bg2"/>
                                      </p:to>
                                    </p:animClr>
                                  </p:subTnLst>
                                </p:cTn>
                              </p:par>
                              <p:par>
                                <p:cTn id="20" presetID="22" presetClass="entr" presetSubtype="8" fill="hold" grpId="0" nodeType="withEffect">
                                  <p:stCondLst>
                                    <p:cond delay="0"/>
                                  </p:stCondLst>
                                  <p:childTnLst>
                                    <p:set>
                                      <p:cBhvr>
                                        <p:cTn id="21" dur="1" fill="hold">
                                          <p:stCondLst>
                                            <p:cond delay="0"/>
                                          </p:stCondLst>
                                        </p:cTn>
                                        <p:tgtEl>
                                          <p:spTgt spid="419846">
                                            <p:txEl>
                                              <p:pRg st="5" end="5"/>
                                            </p:txEl>
                                          </p:spTgt>
                                        </p:tgtEl>
                                        <p:attrNameLst>
                                          <p:attrName>style.visibility</p:attrName>
                                        </p:attrNameLst>
                                      </p:cBhvr>
                                      <p:to>
                                        <p:strVal val="visible"/>
                                      </p:to>
                                    </p:set>
                                    <p:animEffect transition="in" filter="wipe(left)">
                                      <p:cBhvr>
                                        <p:cTn id="22" dur="500"/>
                                        <p:tgtEl>
                                          <p:spTgt spid="419846">
                                            <p:txEl>
                                              <p:pRg st="5" end="5"/>
                                            </p:txEl>
                                          </p:spTgt>
                                        </p:tgtEl>
                                      </p:cBhvr>
                                    </p:animEffect>
                                  </p:childTnLst>
                                  <p:subTnLst>
                                    <p:animClr clrSpc="rgb" dir="cw">
                                      <p:cBhvr override="childStyle">
                                        <p:cTn dur="1" fill="hold" display="0" masterRel="nextClick" afterEffect="1"/>
                                        <p:tgtEl>
                                          <p:spTgt spid="419846">
                                            <p:txEl>
                                              <p:pRg st="5" end="5"/>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46"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Grp="1" noChangeArrowheads="1"/>
          </p:cNvSpPr>
          <p:nvPr>
            <p:ph type="title"/>
          </p:nvPr>
        </p:nvSpPr>
        <p:spPr>
          <a:xfrm>
            <a:off x="606425" y="228600"/>
            <a:ext cx="8080375" cy="831850"/>
          </a:xfrm>
        </p:spPr>
        <p:txBody>
          <a:bodyPr/>
          <a:lstStyle/>
          <a:p>
            <a:pPr eaLnBrk="1" hangingPunct="1">
              <a:lnSpc>
                <a:spcPct val="80000"/>
              </a:lnSpc>
            </a:pPr>
            <a:r>
              <a:rPr lang="en-US" b="1" dirty="0" smtClean="0"/>
              <a:t>Shifts in the Demand Curve</a:t>
            </a:r>
          </a:p>
        </p:txBody>
      </p:sp>
      <p:sp>
        <p:nvSpPr>
          <p:cNvPr id="37" name="Slide Number Placeholder 36"/>
          <p:cNvSpPr>
            <a:spLocks noGrp="1"/>
          </p:cNvSpPr>
          <p:nvPr>
            <p:ph type="sldNum" sz="quarter" idx="12"/>
          </p:nvPr>
        </p:nvSpPr>
        <p:spPr/>
        <p:txBody>
          <a:bodyPr/>
          <a:lstStyle/>
          <a:p>
            <a:pPr>
              <a:defRPr/>
            </a:pPr>
            <a:fld id="{F859A32F-190F-49B2-836A-6B825C468904}" type="slidenum">
              <a:rPr lang="en-US"/>
              <a:pPr>
                <a:defRPr/>
              </a:pPr>
              <a:t>18</a:t>
            </a:fld>
            <a:endParaRPr lang="en-US"/>
          </a:p>
        </p:txBody>
      </p:sp>
      <p:sp>
        <p:nvSpPr>
          <p:cNvPr id="18435" name="Freeform 17"/>
          <p:cNvSpPr>
            <a:spLocks/>
          </p:cNvSpPr>
          <p:nvPr/>
        </p:nvSpPr>
        <p:spPr bwMode="auto">
          <a:xfrm>
            <a:off x="1347788" y="1182688"/>
            <a:ext cx="7042150" cy="4818062"/>
          </a:xfrm>
          <a:custGeom>
            <a:avLst/>
            <a:gdLst>
              <a:gd name="T0" fmla="*/ 0 w 4436"/>
              <a:gd name="T1" fmla="*/ 0 h 3035"/>
              <a:gd name="T2" fmla="*/ 0 w 4436"/>
              <a:gd name="T3" fmla="*/ 2147483647 h 3035"/>
              <a:gd name="T4" fmla="*/ 2147483647 w 4436"/>
              <a:gd name="T5" fmla="*/ 2147483647 h 3035"/>
              <a:gd name="T6" fmla="*/ 0 60000 65536"/>
              <a:gd name="T7" fmla="*/ 0 60000 65536"/>
              <a:gd name="T8" fmla="*/ 0 60000 65536"/>
              <a:gd name="T9" fmla="*/ 0 w 4436"/>
              <a:gd name="T10" fmla="*/ 0 h 3035"/>
              <a:gd name="T11" fmla="*/ 4436 w 4436"/>
              <a:gd name="T12" fmla="*/ 3035 h 3035"/>
            </a:gdLst>
            <a:ahLst/>
            <a:cxnLst>
              <a:cxn ang="T6">
                <a:pos x="T0" y="T1"/>
              </a:cxn>
              <a:cxn ang="T7">
                <a:pos x="T2" y="T3"/>
              </a:cxn>
              <a:cxn ang="T8">
                <a:pos x="T4" y="T5"/>
              </a:cxn>
            </a:cxnLst>
            <a:rect l="T9" t="T10" r="T11" b="T12"/>
            <a:pathLst>
              <a:path w="4436" h="3035">
                <a:moveTo>
                  <a:pt x="0" y="0"/>
                </a:moveTo>
                <a:lnTo>
                  <a:pt x="0" y="3035"/>
                </a:lnTo>
                <a:lnTo>
                  <a:pt x="4436" y="3035"/>
                </a:lnTo>
              </a:path>
            </a:pathLst>
          </a:custGeom>
          <a:noFill/>
          <a:ln w="2063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5810" name="Line 18"/>
          <p:cNvSpPr>
            <a:spLocks noChangeShapeType="1"/>
          </p:cNvSpPr>
          <p:nvPr/>
        </p:nvSpPr>
        <p:spPr bwMode="auto">
          <a:xfrm flipH="1" flipV="1">
            <a:off x="3079750" y="1912938"/>
            <a:ext cx="3281363" cy="3149600"/>
          </a:xfrm>
          <a:prstGeom prst="line">
            <a:avLst/>
          </a:prstGeom>
          <a:noFill/>
          <a:ln w="61913">
            <a:solidFill>
              <a:srgbClr val="004C9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5811" name="Line 19"/>
          <p:cNvSpPr>
            <a:spLocks noChangeShapeType="1"/>
          </p:cNvSpPr>
          <p:nvPr/>
        </p:nvSpPr>
        <p:spPr bwMode="auto">
          <a:xfrm flipH="1" flipV="1">
            <a:off x="4648200" y="1390650"/>
            <a:ext cx="3281363" cy="3149600"/>
          </a:xfrm>
          <a:prstGeom prst="line">
            <a:avLst/>
          </a:prstGeom>
          <a:noFill/>
          <a:ln w="61913">
            <a:solidFill>
              <a:srgbClr val="5F161D"/>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5812" name="Line 20"/>
          <p:cNvSpPr>
            <a:spLocks noChangeShapeType="1"/>
          </p:cNvSpPr>
          <p:nvPr/>
        </p:nvSpPr>
        <p:spPr bwMode="auto">
          <a:xfrm flipH="1" flipV="1">
            <a:off x="1492250" y="2433638"/>
            <a:ext cx="3302000" cy="3170237"/>
          </a:xfrm>
          <a:prstGeom prst="line">
            <a:avLst/>
          </a:prstGeom>
          <a:noFill/>
          <a:ln w="61913">
            <a:solidFill>
              <a:srgbClr val="65182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5813" name="Line 21"/>
          <p:cNvSpPr>
            <a:spLocks noChangeShapeType="1"/>
          </p:cNvSpPr>
          <p:nvPr/>
        </p:nvSpPr>
        <p:spPr bwMode="auto">
          <a:xfrm>
            <a:off x="4146550" y="2871788"/>
            <a:ext cx="1858963" cy="1587"/>
          </a:xfrm>
          <a:prstGeom prst="line">
            <a:avLst/>
          </a:prstGeom>
          <a:noFill/>
          <a:ln w="20701">
            <a:solidFill>
              <a:srgbClr val="000000"/>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545814" name="Line 22"/>
          <p:cNvSpPr>
            <a:spLocks noChangeShapeType="1"/>
          </p:cNvSpPr>
          <p:nvPr/>
        </p:nvSpPr>
        <p:spPr bwMode="auto">
          <a:xfrm rot="10800000">
            <a:off x="3225800" y="3935413"/>
            <a:ext cx="1860550" cy="1587"/>
          </a:xfrm>
          <a:prstGeom prst="line">
            <a:avLst/>
          </a:prstGeom>
          <a:noFill/>
          <a:ln w="20701">
            <a:solidFill>
              <a:srgbClr val="000000"/>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18441" name="Rectangle 23"/>
          <p:cNvSpPr>
            <a:spLocks noChangeArrowheads="1"/>
          </p:cNvSpPr>
          <p:nvPr/>
        </p:nvSpPr>
        <p:spPr bwMode="auto">
          <a:xfrm>
            <a:off x="428625" y="1157288"/>
            <a:ext cx="9429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b="1">
                <a:solidFill>
                  <a:srgbClr val="000000"/>
                </a:solidFill>
                <a:latin typeface="Calibri" pitchFamily="34" charset="0"/>
              </a:rPr>
              <a:t>Price of</a:t>
            </a:r>
            <a:endParaRPr lang="en-US" sz="2400">
              <a:latin typeface="Times New Roman" pitchFamily="18" charset="0"/>
            </a:endParaRPr>
          </a:p>
        </p:txBody>
      </p:sp>
      <p:sp>
        <p:nvSpPr>
          <p:cNvPr id="18442" name="Rectangle 24"/>
          <p:cNvSpPr>
            <a:spLocks noChangeArrowheads="1"/>
          </p:cNvSpPr>
          <p:nvPr/>
        </p:nvSpPr>
        <p:spPr bwMode="auto">
          <a:xfrm>
            <a:off x="163513" y="1436688"/>
            <a:ext cx="121443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b="1">
                <a:solidFill>
                  <a:srgbClr val="000000"/>
                </a:solidFill>
                <a:latin typeface="Calibri" pitchFamily="34" charset="0"/>
              </a:rPr>
              <a:t>Ice-Cream</a:t>
            </a:r>
            <a:endParaRPr lang="en-US" sz="2400">
              <a:latin typeface="Times New Roman" pitchFamily="18" charset="0"/>
            </a:endParaRPr>
          </a:p>
        </p:txBody>
      </p:sp>
      <p:sp>
        <p:nvSpPr>
          <p:cNvPr id="18443" name="Rectangle 25"/>
          <p:cNvSpPr>
            <a:spLocks noChangeArrowheads="1"/>
          </p:cNvSpPr>
          <p:nvPr/>
        </p:nvSpPr>
        <p:spPr bwMode="auto">
          <a:xfrm>
            <a:off x="687388" y="1716088"/>
            <a:ext cx="684212"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b="1">
                <a:solidFill>
                  <a:srgbClr val="000000"/>
                </a:solidFill>
                <a:latin typeface="Calibri" pitchFamily="34" charset="0"/>
              </a:rPr>
              <a:t>Cone</a:t>
            </a:r>
            <a:endParaRPr lang="en-US" sz="2400">
              <a:latin typeface="Times New Roman" pitchFamily="18" charset="0"/>
            </a:endParaRPr>
          </a:p>
        </p:txBody>
      </p:sp>
      <p:sp>
        <p:nvSpPr>
          <p:cNvPr id="18444" name="Rectangle 26"/>
          <p:cNvSpPr>
            <a:spLocks noChangeArrowheads="1"/>
          </p:cNvSpPr>
          <p:nvPr/>
        </p:nvSpPr>
        <p:spPr bwMode="auto">
          <a:xfrm>
            <a:off x="7215188" y="6102350"/>
            <a:ext cx="1319212"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b="1">
                <a:solidFill>
                  <a:srgbClr val="000000"/>
                </a:solidFill>
                <a:latin typeface="Calibri" pitchFamily="34" charset="0"/>
              </a:rPr>
              <a:t>Quantity of</a:t>
            </a:r>
            <a:endParaRPr lang="en-US" sz="2400">
              <a:latin typeface="Times New Roman" pitchFamily="18" charset="0"/>
            </a:endParaRPr>
          </a:p>
        </p:txBody>
      </p:sp>
      <p:sp>
        <p:nvSpPr>
          <p:cNvPr id="18445" name="Rectangle 27"/>
          <p:cNvSpPr>
            <a:spLocks noChangeArrowheads="1"/>
          </p:cNvSpPr>
          <p:nvPr/>
        </p:nvSpPr>
        <p:spPr bwMode="auto">
          <a:xfrm>
            <a:off x="6572250" y="6381750"/>
            <a:ext cx="197643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b="1">
                <a:solidFill>
                  <a:srgbClr val="000000"/>
                </a:solidFill>
                <a:latin typeface="Calibri" pitchFamily="34" charset="0"/>
              </a:rPr>
              <a:t>Ice-Cream Cones</a:t>
            </a:r>
            <a:endParaRPr lang="en-US" sz="2400">
              <a:latin typeface="Times New Roman" pitchFamily="18" charset="0"/>
            </a:endParaRPr>
          </a:p>
        </p:txBody>
      </p:sp>
      <p:grpSp>
        <p:nvGrpSpPr>
          <p:cNvPr id="2" name="Group 28"/>
          <p:cNvGrpSpPr>
            <a:grpSpLocks/>
          </p:cNvGrpSpPr>
          <p:nvPr/>
        </p:nvGrpSpPr>
        <p:grpSpPr bwMode="auto">
          <a:xfrm>
            <a:off x="4224338" y="2225675"/>
            <a:ext cx="1190625" cy="604838"/>
            <a:chOff x="2717" y="1402"/>
            <a:chExt cx="750" cy="381"/>
          </a:xfrm>
        </p:grpSpPr>
        <p:sp>
          <p:nvSpPr>
            <p:cNvPr id="18468" name="Rectangle 29"/>
            <p:cNvSpPr>
              <a:spLocks noChangeArrowheads="1"/>
            </p:cNvSpPr>
            <p:nvPr/>
          </p:nvSpPr>
          <p:spPr bwMode="auto">
            <a:xfrm>
              <a:off x="2717" y="1402"/>
              <a:ext cx="750" cy="381"/>
            </a:xfrm>
            <a:prstGeom prst="rect">
              <a:avLst/>
            </a:prstGeom>
            <a:solidFill>
              <a:srgbClr val="E1E5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Calibri" pitchFamily="34" charset="0"/>
              </a:endParaRPr>
            </a:p>
          </p:txBody>
        </p:sp>
        <p:sp>
          <p:nvSpPr>
            <p:cNvPr id="18469" name="Rectangle 30"/>
            <p:cNvSpPr>
              <a:spLocks noChangeArrowheads="1"/>
            </p:cNvSpPr>
            <p:nvPr/>
          </p:nvSpPr>
          <p:spPr bwMode="auto">
            <a:xfrm>
              <a:off x="2768" y="1419"/>
              <a:ext cx="55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solidFill>
                    <a:srgbClr val="000000"/>
                  </a:solidFill>
                  <a:latin typeface="Calibri" pitchFamily="34" charset="0"/>
                </a:rPr>
                <a:t>Increase</a:t>
              </a:r>
              <a:endParaRPr lang="en-US" sz="2400">
                <a:latin typeface="Times New Roman" pitchFamily="18" charset="0"/>
              </a:endParaRPr>
            </a:p>
          </p:txBody>
        </p:sp>
        <p:sp>
          <p:nvSpPr>
            <p:cNvPr id="18470" name="Rectangle 31"/>
            <p:cNvSpPr>
              <a:spLocks noChangeArrowheads="1"/>
            </p:cNvSpPr>
            <p:nvPr/>
          </p:nvSpPr>
          <p:spPr bwMode="auto">
            <a:xfrm>
              <a:off x="2768" y="1595"/>
              <a:ext cx="6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solidFill>
                    <a:srgbClr val="000000"/>
                  </a:solidFill>
                  <a:latin typeface="Calibri" pitchFamily="34" charset="0"/>
                </a:rPr>
                <a:t>in demand</a:t>
              </a:r>
              <a:endParaRPr lang="en-US" sz="2400">
                <a:latin typeface="Times New Roman" pitchFamily="18" charset="0"/>
              </a:endParaRPr>
            </a:p>
          </p:txBody>
        </p:sp>
      </p:grpSp>
      <p:grpSp>
        <p:nvGrpSpPr>
          <p:cNvPr id="3" name="Group 32"/>
          <p:cNvGrpSpPr>
            <a:grpSpLocks/>
          </p:cNvGrpSpPr>
          <p:nvPr/>
        </p:nvGrpSpPr>
        <p:grpSpPr bwMode="auto">
          <a:xfrm>
            <a:off x="3870325" y="4006850"/>
            <a:ext cx="1190625" cy="625475"/>
            <a:chOff x="2362" y="2492"/>
            <a:chExt cx="750" cy="394"/>
          </a:xfrm>
        </p:grpSpPr>
        <p:sp>
          <p:nvSpPr>
            <p:cNvPr id="18465" name="Rectangle 33"/>
            <p:cNvSpPr>
              <a:spLocks noChangeArrowheads="1"/>
            </p:cNvSpPr>
            <p:nvPr/>
          </p:nvSpPr>
          <p:spPr bwMode="auto">
            <a:xfrm>
              <a:off x="2362" y="2492"/>
              <a:ext cx="750" cy="394"/>
            </a:xfrm>
            <a:prstGeom prst="rect">
              <a:avLst/>
            </a:prstGeom>
            <a:solidFill>
              <a:srgbClr val="E1E5E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Calibri" pitchFamily="34" charset="0"/>
              </a:endParaRPr>
            </a:p>
          </p:txBody>
        </p:sp>
        <p:sp>
          <p:nvSpPr>
            <p:cNvPr id="18466" name="Rectangle 34"/>
            <p:cNvSpPr>
              <a:spLocks noChangeArrowheads="1"/>
            </p:cNvSpPr>
            <p:nvPr/>
          </p:nvSpPr>
          <p:spPr bwMode="auto">
            <a:xfrm>
              <a:off x="2412" y="2520"/>
              <a:ext cx="6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solidFill>
                    <a:srgbClr val="000000"/>
                  </a:solidFill>
                  <a:latin typeface="Calibri" pitchFamily="34" charset="0"/>
                </a:rPr>
                <a:t>Decrease</a:t>
              </a:r>
              <a:endParaRPr lang="en-US" sz="2400">
                <a:latin typeface="Times New Roman" pitchFamily="18" charset="0"/>
              </a:endParaRPr>
            </a:p>
          </p:txBody>
        </p:sp>
        <p:sp>
          <p:nvSpPr>
            <p:cNvPr id="18467" name="Rectangle 35"/>
            <p:cNvSpPr>
              <a:spLocks noChangeArrowheads="1"/>
            </p:cNvSpPr>
            <p:nvPr/>
          </p:nvSpPr>
          <p:spPr bwMode="auto">
            <a:xfrm>
              <a:off x="2412" y="2696"/>
              <a:ext cx="6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solidFill>
                    <a:srgbClr val="000000"/>
                  </a:solidFill>
                  <a:latin typeface="Calibri" pitchFamily="34" charset="0"/>
                </a:rPr>
                <a:t>in demand</a:t>
              </a:r>
              <a:endParaRPr lang="en-US" sz="2400">
                <a:latin typeface="Times New Roman" pitchFamily="18" charset="0"/>
              </a:endParaRPr>
            </a:p>
          </p:txBody>
        </p:sp>
      </p:grpSp>
      <p:grpSp>
        <p:nvGrpSpPr>
          <p:cNvPr id="4" name="Group 36"/>
          <p:cNvGrpSpPr>
            <a:grpSpLocks/>
          </p:cNvGrpSpPr>
          <p:nvPr/>
        </p:nvGrpSpPr>
        <p:grpSpPr bwMode="auto">
          <a:xfrm>
            <a:off x="3849688" y="5689600"/>
            <a:ext cx="1906587" cy="342900"/>
            <a:chOff x="2425" y="3584"/>
            <a:chExt cx="1201" cy="216"/>
          </a:xfrm>
        </p:grpSpPr>
        <p:sp>
          <p:nvSpPr>
            <p:cNvPr id="18462" name="Rectangle 37"/>
            <p:cNvSpPr>
              <a:spLocks noChangeArrowheads="1"/>
            </p:cNvSpPr>
            <p:nvPr/>
          </p:nvSpPr>
          <p:spPr bwMode="auto">
            <a:xfrm>
              <a:off x="2425" y="3584"/>
              <a:ext cx="1060"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solidFill>
                    <a:srgbClr val="000000"/>
                  </a:solidFill>
                  <a:latin typeface="Calibri" pitchFamily="34" charset="0"/>
                </a:rPr>
                <a:t>Demand curve, </a:t>
              </a:r>
              <a:endParaRPr lang="en-US" sz="2400">
                <a:latin typeface="Times New Roman" pitchFamily="18" charset="0"/>
              </a:endParaRPr>
            </a:p>
          </p:txBody>
        </p:sp>
        <p:sp>
          <p:nvSpPr>
            <p:cNvPr id="18463" name="Rectangle 38"/>
            <p:cNvSpPr>
              <a:spLocks noChangeArrowheads="1"/>
            </p:cNvSpPr>
            <p:nvPr/>
          </p:nvSpPr>
          <p:spPr bwMode="auto">
            <a:xfrm>
              <a:off x="3415" y="3584"/>
              <a:ext cx="17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i="1">
                  <a:solidFill>
                    <a:srgbClr val="000000"/>
                  </a:solidFill>
                  <a:latin typeface="Calibri" pitchFamily="34" charset="0"/>
                </a:rPr>
                <a:t>D</a:t>
              </a:r>
              <a:endParaRPr lang="en-US" sz="2400">
                <a:latin typeface="Times New Roman" pitchFamily="18" charset="0"/>
              </a:endParaRPr>
            </a:p>
          </p:txBody>
        </p:sp>
        <p:sp>
          <p:nvSpPr>
            <p:cNvPr id="18464" name="Rectangle 39"/>
            <p:cNvSpPr>
              <a:spLocks noChangeArrowheads="1"/>
            </p:cNvSpPr>
            <p:nvPr/>
          </p:nvSpPr>
          <p:spPr bwMode="auto">
            <a:xfrm>
              <a:off x="3516" y="3655"/>
              <a:ext cx="110"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300">
                  <a:solidFill>
                    <a:srgbClr val="000000"/>
                  </a:solidFill>
                  <a:latin typeface="Calibri" pitchFamily="34" charset="0"/>
                </a:rPr>
                <a:t>3</a:t>
              </a:r>
              <a:endParaRPr lang="en-US" sz="2400">
                <a:latin typeface="Times New Roman" pitchFamily="18" charset="0"/>
              </a:endParaRPr>
            </a:p>
          </p:txBody>
        </p:sp>
      </p:grpSp>
      <p:grpSp>
        <p:nvGrpSpPr>
          <p:cNvPr id="5" name="Group 40"/>
          <p:cNvGrpSpPr>
            <a:grpSpLocks/>
          </p:cNvGrpSpPr>
          <p:nvPr/>
        </p:nvGrpSpPr>
        <p:grpSpPr bwMode="auto">
          <a:xfrm>
            <a:off x="5895975" y="5151438"/>
            <a:ext cx="1004888" cy="623887"/>
            <a:chOff x="3714" y="3245"/>
            <a:chExt cx="633" cy="393"/>
          </a:xfrm>
        </p:grpSpPr>
        <p:sp>
          <p:nvSpPr>
            <p:cNvPr id="18458" name="Rectangle 41"/>
            <p:cNvSpPr>
              <a:spLocks noChangeArrowheads="1"/>
            </p:cNvSpPr>
            <p:nvPr/>
          </p:nvSpPr>
          <p:spPr bwMode="auto">
            <a:xfrm>
              <a:off x="3740" y="3245"/>
              <a:ext cx="598"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solidFill>
                    <a:srgbClr val="000000"/>
                  </a:solidFill>
                  <a:latin typeface="Calibri" pitchFamily="34" charset="0"/>
                </a:rPr>
                <a:t>Demand</a:t>
              </a:r>
              <a:endParaRPr lang="en-US" sz="2400">
                <a:latin typeface="Times New Roman" pitchFamily="18" charset="0"/>
              </a:endParaRPr>
            </a:p>
          </p:txBody>
        </p:sp>
        <p:sp>
          <p:nvSpPr>
            <p:cNvPr id="18459" name="Rectangle 42"/>
            <p:cNvSpPr>
              <a:spLocks noChangeArrowheads="1"/>
            </p:cNvSpPr>
            <p:nvPr/>
          </p:nvSpPr>
          <p:spPr bwMode="auto">
            <a:xfrm>
              <a:off x="3714" y="3421"/>
              <a:ext cx="488"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solidFill>
                    <a:srgbClr val="000000"/>
                  </a:solidFill>
                  <a:latin typeface="Calibri" pitchFamily="34" charset="0"/>
                </a:rPr>
                <a:t>curve, </a:t>
              </a:r>
              <a:endParaRPr lang="en-US" sz="2400">
                <a:latin typeface="Times New Roman" pitchFamily="18" charset="0"/>
              </a:endParaRPr>
            </a:p>
          </p:txBody>
        </p:sp>
        <p:sp>
          <p:nvSpPr>
            <p:cNvPr id="18460" name="Rectangle 43"/>
            <p:cNvSpPr>
              <a:spLocks noChangeArrowheads="1"/>
            </p:cNvSpPr>
            <p:nvPr/>
          </p:nvSpPr>
          <p:spPr bwMode="auto">
            <a:xfrm>
              <a:off x="4136" y="3421"/>
              <a:ext cx="17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i="1">
                  <a:solidFill>
                    <a:srgbClr val="000000"/>
                  </a:solidFill>
                  <a:latin typeface="Calibri" pitchFamily="34" charset="0"/>
                </a:rPr>
                <a:t>D</a:t>
              </a:r>
              <a:endParaRPr lang="en-US" sz="2400">
                <a:latin typeface="Times New Roman" pitchFamily="18" charset="0"/>
              </a:endParaRPr>
            </a:p>
          </p:txBody>
        </p:sp>
        <p:sp>
          <p:nvSpPr>
            <p:cNvPr id="18461" name="Rectangle 44"/>
            <p:cNvSpPr>
              <a:spLocks noChangeArrowheads="1"/>
            </p:cNvSpPr>
            <p:nvPr/>
          </p:nvSpPr>
          <p:spPr bwMode="auto">
            <a:xfrm>
              <a:off x="4237" y="3493"/>
              <a:ext cx="110"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300">
                  <a:solidFill>
                    <a:srgbClr val="000000"/>
                  </a:solidFill>
                  <a:latin typeface="Calibri" pitchFamily="34" charset="0"/>
                </a:rPr>
                <a:t>1</a:t>
              </a:r>
              <a:endParaRPr lang="en-US" sz="2400">
                <a:latin typeface="Times New Roman" pitchFamily="18" charset="0"/>
              </a:endParaRPr>
            </a:p>
          </p:txBody>
        </p:sp>
      </p:grpSp>
      <p:grpSp>
        <p:nvGrpSpPr>
          <p:cNvPr id="6" name="Group 45"/>
          <p:cNvGrpSpPr>
            <a:grpSpLocks/>
          </p:cNvGrpSpPr>
          <p:nvPr/>
        </p:nvGrpSpPr>
        <p:grpSpPr bwMode="auto">
          <a:xfrm>
            <a:off x="7445375" y="4613275"/>
            <a:ext cx="1004888" cy="623888"/>
            <a:chOff x="4690" y="2906"/>
            <a:chExt cx="633" cy="393"/>
          </a:xfrm>
        </p:grpSpPr>
        <p:sp>
          <p:nvSpPr>
            <p:cNvPr id="18454" name="Rectangle 46"/>
            <p:cNvSpPr>
              <a:spLocks noChangeArrowheads="1"/>
            </p:cNvSpPr>
            <p:nvPr/>
          </p:nvSpPr>
          <p:spPr bwMode="auto">
            <a:xfrm>
              <a:off x="4712" y="2906"/>
              <a:ext cx="598"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solidFill>
                    <a:srgbClr val="000000"/>
                  </a:solidFill>
                  <a:latin typeface="Calibri" pitchFamily="34" charset="0"/>
                </a:rPr>
                <a:t>Demand</a:t>
              </a:r>
              <a:endParaRPr lang="en-US" sz="2400">
                <a:latin typeface="Times New Roman" pitchFamily="18" charset="0"/>
              </a:endParaRPr>
            </a:p>
          </p:txBody>
        </p:sp>
        <p:sp>
          <p:nvSpPr>
            <p:cNvPr id="18455" name="Rectangle 47"/>
            <p:cNvSpPr>
              <a:spLocks noChangeArrowheads="1"/>
            </p:cNvSpPr>
            <p:nvPr/>
          </p:nvSpPr>
          <p:spPr bwMode="auto">
            <a:xfrm>
              <a:off x="4690" y="3082"/>
              <a:ext cx="488"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solidFill>
                    <a:srgbClr val="000000"/>
                  </a:solidFill>
                  <a:latin typeface="Calibri" pitchFamily="34" charset="0"/>
                </a:rPr>
                <a:t>curve, </a:t>
              </a:r>
              <a:endParaRPr lang="en-US" sz="2400">
                <a:latin typeface="Times New Roman" pitchFamily="18" charset="0"/>
              </a:endParaRPr>
            </a:p>
          </p:txBody>
        </p:sp>
        <p:sp>
          <p:nvSpPr>
            <p:cNvPr id="18456" name="Rectangle 48"/>
            <p:cNvSpPr>
              <a:spLocks noChangeArrowheads="1"/>
            </p:cNvSpPr>
            <p:nvPr/>
          </p:nvSpPr>
          <p:spPr bwMode="auto">
            <a:xfrm>
              <a:off x="5112" y="3082"/>
              <a:ext cx="17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i="1">
                  <a:solidFill>
                    <a:srgbClr val="000000"/>
                  </a:solidFill>
                  <a:latin typeface="Calibri" pitchFamily="34" charset="0"/>
                </a:rPr>
                <a:t>D</a:t>
              </a:r>
              <a:endParaRPr lang="en-US" sz="2400">
                <a:latin typeface="Times New Roman" pitchFamily="18" charset="0"/>
              </a:endParaRPr>
            </a:p>
          </p:txBody>
        </p:sp>
        <p:sp>
          <p:nvSpPr>
            <p:cNvPr id="18457" name="Rectangle 49"/>
            <p:cNvSpPr>
              <a:spLocks noChangeArrowheads="1"/>
            </p:cNvSpPr>
            <p:nvPr/>
          </p:nvSpPr>
          <p:spPr bwMode="auto">
            <a:xfrm>
              <a:off x="5213" y="3154"/>
              <a:ext cx="110"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1300">
                  <a:solidFill>
                    <a:srgbClr val="000000"/>
                  </a:solidFill>
                  <a:latin typeface="Calibri" pitchFamily="34" charset="0"/>
                </a:rPr>
                <a:t>2</a:t>
              </a:r>
              <a:endParaRPr lang="en-US" sz="2400">
                <a:latin typeface="Times New Roman" pitchFamily="18" charset="0"/>
              </a:endParaRPr>
            </a:p>
          </p:txBody>
        </p:sp>
      </p:grpSp>
      <p:sp>
        <p:nvSpPr>
          <p:cNvPr id="18451" name="Rectangle 50"/>
          <p:cNvSpPr>
            <a:spLocks noChangeArrowheads="1"/>
          </p:cNvSpPr>
          <p:nvPr/>
        </p:nvSpPr>
        <p:spPr bwMode="auto">
          <a:xfrm>
            <a:off x="1301750" y="6116638"/>
            <a:ext cx="2301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solidFill>
                  <a:srgbClr val="000000"/>
                </a:solidFill>
                <a:latin typeface="Calibri" pitchFamily="34" charset="0"/>
              </a:rPr>
              <a:t>0</a:t>
            </a:r>
            <a:endParaRPr lang="en-US" sz="2400">
              <a:latin typeface="Times New Roman" pitchFamily="18" charset="0"/>
            </a:endParaRPr>
          </a:p>
        </p:txBody>
      </p:sp>
    </p:spTree>
    <p:extLst>
      <p:ext uri="{BB962C8B-B14F-4D97-AF65-F5344CB8AC3E}">
        <p14:creationId xmlns:p14="http://schemas.microsoft.com/office/powerpoint/2010/main" val="2298968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45810"/>
                                        </p:tgtEl>
                                        <p:attrNameLst>
                                          <p:attrName>style.visibility</p:attrName>
                                        </p:attrNameLst>
                                      </p:cBhvr>
                                      <p:to>
                                        <p:strVal val="visible"/>
                                      </p:to>
                                    </p:set>
                                    <p:animEffect transition="in" filter="strips(downRight)">
                                      <p:cBhvr>
                                        <p:cTn id="7" dur="500"/>
                                        <p:tgtEl>
                                          <p:spTgt spid="5458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45813"/>
                                        </p:tgtEl>
                                        <p:attrNameLst>
                                          <p:attrName>style.visibility</p:attrName>
                                        </p:attrNameLst>
                                      </p:cBhvr>
                                      <p:to>
                                        <p:strVal val="visible"/>
                                      </p:to>
                                    </p:set>
                                    <p:animEffect transition="in" filter="wipe(left)">
                                      <p:cBhvr>
                                        <p:cTn id="17" dur="500"/>
                                        <p:tgtEl>
                                          <p:spTgt spid="5458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dissolve">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545811"/>
                                        </p:tgtEl>
                                        <p:attrNameLst>
                                          <p:attrName>style.visibility</p:attrName>
                                        </p:attrNameLst>
                                      </p:cBhvr>
                                      <p:to>
                                        <p:strVal val="visible"/>
                                      </p:to>
                                    </p:set>
                                    <p:animEffect transition="in" filter="strips(downRight)">
                                      <p:cBhvr>
                                        <p:cTn id="27" dur="500"/>
                                        <p:tgtEl>
                                          <p:spTgt spid="54581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dissolve">
                                      <p:cBhvr>
                                        <p:cTn id="32" dur="500"/>
                                        <p:tgtEl>
                                          <p:spTgt spid="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2" fill="hold" grpId="0" nodeType="clickEffect">
                                  <p:stCondLst>
                                    <p:cond delay="0"/>
                                  </p:stCondLst>
                                  <p:childTnLst>
                                    <p:set>
                                      <p:cBhvr>
                                        <p:cTn id="36" dur="1" fill="hold">
                                          <p:stCondLst>
                                            <p:cond delay="0"/>
                                          </p:stCondLst>
                                        </p:cTn>
                                        <p:tgtEl>
                                          <p:spTgt spid="545814"/>
                                        </p:tgtEl>
                                        <p:attrNameLst>
                                          <p:attrName>style.visibility</p:attrName>
                                        </p:attrNameLst>
                                      </p:cBhvr>
                                      <p:to>
                                        <p:strVal val="visible"/>
                                      </p:to>
                                    </p:set>
                                    <p:animEffect transition="in" filter="wipe(right)">
                                      <p:cBhvr>
                                        <p:cTn id="37" dur="500"/>
                                        <p:tgtEl>
                                          <p:spTgt spid="54581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dissolve">
                                      <p:cBhvr>
                                        <p:cTn id="42" dur="500"/>
                                        <p:tgtEl>
                                          <p:spTgt spid="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8" presetClass="entr" presetSubtype="6" fill="hold" grpId="0" nodeType="clickEffect">
                                  <p:stCondLst>
                                    <p:cond delay="0"/>
                                  </p:stCondLst>
                                  <p:childTnLst>
                                    <p:set>
                                      <p:cBhvr>
                                        <p:cTn id="46" dur="1" fill="hold">
                                          <p:stCondLst>
                                            <p:cond delay="0"/>
                                          </p:stCondLst>
                                        </p:cTn>
                                        <p:tgtEl>
                                          <p:spTgt spid="545812"/>
                                        </p:tgtEl>
                                        <p:attrNameLst>
                                          <p:attrName>style.visibility</p:attrName>
                                        </p:attrNameLst>
                                      </p:cBhvr>
                                      <p:to>
                                        <p:strVal val="visible"/>
                                      </p:to>
                                    </p:set>
                                    <p:animEffect transition="in" filter="strips(downRight)">
                                      <p:cBhvr>
                                        <p:cTn id="47" dur="500"/>
                                        <p:tgtEl>
                                          <p:spTgt spid="54581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dissolve">
                                      <p:cBhvr>
                                        <p:cTn id="5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5810" grpId="0" animBg="1"/>
      <p:bldP spid="545811" grpId="0" animBg="1"/>
      <p:bldP spid="545812" grpId="0" animBg="1"/>
      <p:bldP spid="545813" grpId="0" animBg="1"/>
      <p:bldP spid="54581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b="1" dirty="0" smtClean="0"/>
              <a:t>Shifts in the Demand Curve</a:t>
            </a:r>
          </a:p>
        </p:txBody>
      </p:sp>
      <p:sp>
        <p:nvSpPr>
          <p:cNvPr id="3" name="Content Placeholder 2"/>
          <p:cNvSpPr>
            <a:spLocks noGrp="1"/>
          </p:cNvSpPr>
          <p:nvPr>
            <p:ph idx="1"/>
          </p:nvPr>
        </p:nvSpPr>
        <p:spPr>
          <a:xfrm>
            <a:off x="457200" y="1447800"/>
            <a:ext cx="8305800" cy="3733800"/>
          </a:xfrm>
        </p:spPr>
        <p:txBody>
          <a:bodyPr rtlCol="0">
            <a:normAutofit/>
          </a:bodyPr>
          <a:lstStyle/>
          <a:p>
            <a:pPr eaLnBrk="1" fontAlgn="auto" hangingPunct="1">
              <a:spcAft>
                <a:spcPts val="0"/>
              </a:spcAft>
              <a:buFont typeface="Arial" pitchFamily="34" charset="0"/>
              <a:buChar char="•"/>
              <a:defRPr/>
            </a:pPr>
            <a:r>
              <a:rPr lang="en-US" altLang="en-US" dirty="0" smtClean="0"/>
              <a:t>Consumer Income</a:t>
            </a:r>
          </a:p>
          <a:p>
            <a:pPr lvl="1" eaLnBrk="1" fontAlgn="auto" hangingPunct="1">
              <a:spcAft>
                <a:spcPts val="0"/>
              </a:spcAft>
              <a:buFont typeface="Arial" pitchFamily="34" charset="0"/>
              <a:buChar char="–"/>
              <a:defRPr/>
            </a:pPr>
            <a:r>
              <a:rPr lang="en-US" altLang="en-US" dirty="0" smtClean="0"/>
              <a:t>As income </a:t>
            </a:r>
            <a:r>
              <a:rPr lang="en-US" altLang="en-US" i="1" dirty="0" smtClean="0"/>
              <a:t>increases</a:t>
            </a:r>
            <a:r>
              <a:rPr lang="en-US" altLang="en-US" dirty="0" smtClean="0"/>
              <a:t> the demand for a </a:t>
            </a:r>
            <a:r>
              <a:rPr lang="en-US" altLang="en-US" i="1" dirty="0" smtClean="0">
                <a:solidFill>
                  <a:srgbClr val="25A9A6"/>
                </a:solidFill>
              </a:rPr>
              <a:t>normal good</a:t>
            </a:r>
            <a:r>
              <a:rPr lang="en-US" altLang="en-US" dirty="0" smtClean="0"/>
              <a:t> will </a:t>
            </a:r>
            <a:r>
              <a:rPr lang="en-US" altLang="en-US" i="1" dirty="0" smtClean="0"/>
              <a:t>increase</a:t>
            </a:r>
          </a:p>
          <a:p>
            <a:pPr lvl="1" eaLnBrk="1" fontAlgn="auto" hangingPunct="1">
              <a:spcAft>
                <a:spcPts val="0"/>
              </a:spcAft>
              <a:buFont typeface="Arial" pitchFamily="34" charset="0"/>
              <a:buChar char="–"/>
              <a:defRPr/>
            </a:pPr>
            <a:r>
              <a:rPr lang="en-US" altLang="en-US" dirty="0" smtClean="0"/>
              <a:t>As income </a:t>
            </a:r>
            <a:r>
              <a:rPr lang="en-US" altLang="en-US" i="1" dirty="0" smtClean="0"/>
              <a:t>increases</a:t>
            </a:r>
            <a:r>
              <a:rPr lang="en-US" altLang="en-US" dirty="0" smtClean="0"/>
              <a:t> the demand for an </a:t>
            </a:r>
            <a:r>
              <a:rPr lang="en-US" altLang="en-US" i="1" dirty="0" smtClean="0">
                <a:solidFill>
                  <a:srgbClr val="25A9A6"/>
                </a:solidFill>
              </a:rPr>
              <a:t>inferior good</a:t>
            </a:r>
            <a:r>
              <a:rPr lang="en-US" altLang="en-US" dirty="0" smtClean="0"/>
              <a:t> will </a:t>
            </a:r>
            <a:r>
              <a:rPr lang="en-US" altLang="en-US" i="1" dirty="0" smtClean="0"/>
              <a:t>decrease</a:t>
            </a:r>
          </a:p>
          <a:p>
            <a:pPr eaLnBrk="1" fontAlgn="auto" hangingPunct="1">
              <a:spcAft>
                <a:spcPts val="0"/>
              </a:spcAft>
              <a:buFont typeface="Arial" pitchFamily="34" charset="0"/>
              <a:buChar char="•"/>
              <a:defRPr/>
            </a:pPr>
            <a:r>
              <a:rPr lang="en-US" altLang="en-US" dirty="0" smtClean="0"/>
              <a:t>Prices of Related Goods</a:t>
            </a:r>
          </a:p>
          <a:p>
            <a:pPr lvl="1" eaLnBrk="1" fontAlgn="auto" hangingPunct="1">
              <a:spcAft>
                <a:spcPts val="0"/>
              </a:spcAft>
              <a:buFont typeface="Arial" pitchFamily="34" charset="0"/>
              <a:buChar char="–"/>
              <a:defRPr/>
            </a:pPr>
            <a:r>
              <a:rPr lang="en-US" altLang="en-US" dirty="0" smtClean="0"/>
              <a:t>When a </a:t>
            </a:r>
            <a:r>
              <a:rPr lang="en-US" altLang="en-US" i="1" dirty="0" smtClean="0"/>
              <a:t>fall</a:t>
            </a:r>
            <a:r>
              <a:rPr lang="en-US" altLang="en-US" dirty="0" smtClean="0"/>
              <a:t> in the price of one good </a:t>
            </a:r>
            <a:r>
              <a:rPr lang="en-US" altLang="en-US" i="1" dirty="0" smtClean="0"/>
              <a:t>reduces</a:t>
            </a:r>
            <a:r>
              <a:rPr lang="en-US" altLang="en-US" dirty="0" smtClean="0"/>
              <a:t> the demand for </a:t>
            </a:r>
            <a:r>
              <a:rPr lang="en-US" altLang="en-US" i="1" dirty="0" smtClean="0"/>
              <a:t>another</a:t>
            </a:r>
            <a:r>
              <a:rPr lang="en-US" altLang="en-US" dirty="0" smtClean="0"/>
              <a:t> good, the two goods are called </a:t>
            </a:r>
            <a:r>
              <a:rPr lang="en-US" altLang="en-US" i="1" dirty="0" smtClean="0">
                <a:solidFill>
                  <a:srgbClr val="25A9A6"/>
                </a:solidFill>
              </a:rPr>
              <a:t>substitutes</a:t>
            </a:r>
            <a:endParaRPr lang="en-US" altLang="en-US" dirty="0" smtClean="0"/>
          </a:p>
          <a:p>
            <a:pPr lvl="1" eaLnBrk="1" fontAlgn="auto" hangingPunct="1">
              <a:spcAft>
                <a:spcPts val="0"/>
              </a:spcAft>
              <a:buFont typeface="Arial" pitchFamily="34" charset="0"/>
              <a:buChar char="–"/>
              <a:defRPr/>
            </a:pPr>
            <a:r>
              <a:rPr lang="en-US" altLang="en-US" dirty="0" smtClean="0"/>
              <a:t>When a </a:t>
            </a:r>
            <a:r>
              <a:rPr lang="en-US" altLang="en-US" i="1" dirty="0" smtClean="0"/>
              <a:t>fall</a:t>
            </a:r>
            <a:r>
              <a:rPr lang="en-US" altLang="en-US" dirty="0" smtClean="0"/>
              <a:t> in the price of one good </a:t>
            </a:r>
            <a:r>
              <a:rPr lang="en-US" altLang="en-US" i="1" dirty="0" smtClean="0"/>
              <a:t>increases</a:t>
            </a:r>
            <a:r>
              <a:rPr lang="en-US" altLang="en-US" dirty="0" smtClean="0"/>
              <a:t> the demand for </a:t>
            </a:r>
            <a:r>
              <a:rPr lang="en-US" altLang="en-US" i="1" dirty="0" smtClean="0"/>
              <a:t>another</a:t>
            </a:r>
            <a:r>
              <a:rPr lang="en-US" altLang="en-US" dirty="0" smtClean="0"/>
              <a:t> good, the two goods are called </a:t>
            </a:r>
            <a:r>
              <a:rPr lang="en-US" altLang="en-US" i="1" dirty="0" smtClean="0">
                <a:solidFill>
                  <a:srgbClr val="25A9A6"/>
                </a:solidFill>
              </a:rPr>
              <a:t>complements</a:t>
            </a:r>
            <a:endParaRPr lang="en-US" altLang="en-US" dirty="0" smtClean="0"/>
          </a:p>
        </p:txBody>
      </p:sp>
      <p:sp>
        <p:nvSpPr>
          <p:cNvPr id="4" name="Slide Number Placeholder 3"/>
          <p:cNvSpPr>
            <a:spLocks noGrp="1"/>
          </p:cNvSpPr>
          <p:nvPr>
            <p:ph type="sldNum" sz="quarter" idx="12"/>
          </p:nvPr>
        </p:nvSpPr>
        <p:spPr/>
        <p:txBody>
          <a:bodyPr/>
          <a:lstStyle/>
          <a:p>
            <a:pPr>
              <a:defRPr/>
            </a:pPr>
            <a:fld id="{877E17AD-2106-44D0-AADA-097C46AB1345}" type="slidenum">
              <a:rPr lang="en-US"/>
              <a:pPr>
                <a:defRPr/>
              </a:pPr>
              <a:t>19</a:t>
            </a:fld>
            <a:endParaRPr lang="en-US"/>
          </a:p>
        </p:txBody>
      </p:sp>
      <p:cxnSp>
        <p:nvCxnSpPr>
          <p:cNvPr id="6" name="Straight Arrow Connector 5"/>
          <p:cNvCxnSpPr/>
          <p:nvPr/>
        </p:nvCxnSpPr>
        <p:spPr>
          <a:xfrm>
            <a:off x="762000" y="6475413"/>
            <a:ext cx="2133600" cy="31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rot="5400000" flipH="1" flipV="1">
            <a:off x="152401" y="5865812"/>
            <a:ext cx="1219200" cy="31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rot="16200000" flipH="1">
            <a:off x="876300" y="5446713"/>
            <a:ext cx="990600" cy="762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6200000" flipH="1">
            <a:off x="1333500" y="5446713"/>
            <a:ext cx="990600" cy="762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828800" y="5713413"/>
            <a:ext cx="228600" cy="31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467" name="TextBox 10"/>
          <p:cNvSpPr txBox="1">
            <a:spLocks noChangeArrowheads="1"/>
          </p:cNvSpPr>
          <p:nvPr/>
        </p:nvSpPr>
        <p:spPr bwMode="auto">
          <a:xfrm>
            <a:off x="152400" y="5257800"/>
            <a:ext cx="6096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400">
                <a:latin typeface="Calibri" pitchFamily="34" charset="0"/>
              </a:rPr>
              <a:t>Price</a:t>
            </a:r>
            <a:endParaRPr lang="en-US">
              <a:latin typeface="Calibri" pitchFamily="34" charset="0"/>
            </a:endParaRPr>
          </a:p>
        </p:txBody>
      </p:sp>
      <p:sp>
        <p:nvSpPr>
          <p:cNvPr id="19468" name="TextBox 11"/>
          <p:cNvSpPr txBox="1">
            <a:spLocks noChangeArrowheads="1"/>
          </p:cNvSpPr>
          <p:nvPr/>
        </p:nvSpPr>
        <p:spPr bwMode="auto">
          <a:xfrm>
            <a:off x="1371600" y="6477000"/>
            <a:ext cx="17526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400">
                <a:latin typeface="Calibri" pitchFamily="34" charset="0"/>
              </a:rPr>
              <a:t>Quantity Demanded</a:t>
            </a:r>
          </a:p>
        </p:txBody>
      </p:sp>
      <p:cxnSp>
        <p:nvCxnSpPr>
          <p:cNvPr id="14" name="Straight Connector 13"/>
          <p:cNvCxnSpPr/>
          <p:nvPr/>
        </p:nvCxnSpPr>
        <p:spPr>
          <a:xfrm rot="16200000" flipH="1">
            <a:off x="1790700" y="5448300"/>
            <a:ext cx="990600" cy="762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10800000" flipV="1">
            <a:off x="1447800" y="5865813"/>
            <a:ext cx="304800"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61469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sz="4000" b="1" dirty="0" smtClean="0"/>
              <a:t>The Law of Demand—Explanations </a:t>
            </a:r>
          </a:p>
        </p:txBody>
      </p:sp>
      <p:sp>
        <p:nvSpPr>
          <p:cNvPr id="553987" name="Rectangle 3"/>
          <p:cNvSpPr>
            <a:spLocks noGrp="1" noChangeArrowheads="1"/>
          </p:cNvSpPr>
          <p:nvPr>
            <p:ph idx="1"/>
          </p:nvPr>
        </p:nvSpPr>
        <p:spPr/>
        <p:txBody>
          <a:bodyPr/>
          <a:lstStyle/>
          <a:p>
            <a:pPr eaLnBrk="1" hangingPunct="1"/>
            <a:r>
              <a:rPr lang="en-US" dirty="0" smtClean="0"/>
              <a:t>There are two ways to explain the Law of Demand</a:t>
            </a:r>
          </a:p>
          <a:p>
            <a:pPr lvl="1" eaLnBrk="1" hangingPunct="1"/>
            <a:r>
              <a:rPr lang="en-US" dirty="0" smtClean="0">
                <a:solidFill>
                  <a:srgbClr val="FF0000"/>
                </a:solidFill>
              </a:rPr>
              <a:t>Substitution effect</a:t>
            </a:r>
          </a:p>
          <a:p>
            <a:pPr lvl="1" eaLnBrk="1" hangingPunct="1"/>
            <a:r>
              <a:rPr lang="en-US" dirty="0" smtClean="0">
                <a:solidFill>
                  <a:srgbClr val="FF0000"/>
                </a:solidFill>
              </a:rPr>
              <a:t>Income effect</a:t>
            </a:r>
          </a:p>
        </p:txBody>
      </p:sp>
      <p:sp>
        <p:nvSpPr>
          <p:cNvPr id="4" name="Slide Number Placeholder 3"/>
          <p:cNvSpPr>
            <a:spLocks noGrp="1"/>
          </p:cNvSpPr>
          <p:nvPr>
            <p:ph type="sldNum" sz="quarter" idx="12"/>
          </p:nvPr>
        </p:nvSpPr>
        <p:spPr/>
        <p:txBody>
          <a:bodyPr/>
          <a:lstStyle/>
          <a:p>
            <a:pPr>
              <a:defRPr/>
            </a:pPr>
            <a:fld id="{003E5A30-EFE7-44DE-ADEF-D91DA454B73E}" type="slidenum">
              <a:rPr lang="en-US"/>
              <a:pPr>
                <a:defRPr/>
              </a:pPr>
              <a:t>20</a:t>
            </a:fld>
            <a:endParaRPr lang="en-US"/>
          </a:p>
        </p:txBody>
      </p:sp>
      <p:sp>
        <p:nvSpPr>
          <p:cNvPr id="2" name="Rectangle 1"/>
          <p:cNvSpPr/>
          <p:nvPr/>
        </p:nvSpPr>
        <p:spPr>
          <a:xfrm>
            <a:off x="685800" y="4062137"/>
            <a:ext cx="7772400" cy="9670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smtClean="0"/>
              <a:t>Price Effect </a:t>
            </a:r>
            <a:r>
              <a:rPr lang="en-US" sz="2800" dirty="0" smtClean="0"/>
              <a:t>= Substitute Effect  + Income Effect</a:t>
            </a:r>
            <a:endParaRPr lang="en-US" sz="2800" dirty="0"/>
          </a:p>
        </p:txBody>
      </p:sp>
    </p:spTree>
    <p:extLst>
      <p:ext uri="{BB962C8B-B14F-4D97-AF65-F5344CB8AC3E}">
        <p14:creationId xmlns:p14="http://schemas.microsoft.com/office/powerpoint/2010/main" val="317692680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398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398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5398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8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84" name="Line 16"/>
          <p:cNvSpPr>
            <a:spLocks noChangeShapeType="1"/>
          </p:cNvSpPr>
          <p:nvPr/>
        </p:nvSpPr>
        <p:spPr bwMode="auto">
          <a:xfrm flipV="1">
            <a:off x="3276600" y="5181600"/>
            <a:ext cx="0" cy="6858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570385" name="Line 17"/>
          <p:cNvSpPr>
            <a:spLocks noChangeShapeType="1"/>
          </p:cNvSpPr>
          <p:nvPr/>
        </p:nvSpPr>
        <p:spPr bwMode="auto">
          <a:xfrm>
            <a:off x="7010400" y="5867400"/>
            <a:ext cx="0" cy="3810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21508" name="Rectangle 2"/>
          <p:cNvSpPr>
            <a:spLocks noGrp="1" noChangeArrowheads="1"/>
          </p:cNvSpPr>
          <p:nvPr>
            <p:ph type="title"/>
          </p:nvPr>
        </p:nvSpPr>
        <p:spPr/>
        <p:txBody>
          <a:bodyPr/>
          <a:lstStyle/>
          <a:p>
            <a:pPr eaLnBrk="1" hangingPunct="1"/>
            <a:r>
              <a:rPr lang="en-US" b="1" dirty="0" smtClean="0"/>
              <a:t>Substitution Effect</a:t>
            </a:r>
          </a:p>
        </p:txBody>
      </p:sp>
      <p:sp>
        <p:nvSpPr>
          <p:cNvPr id="21509" name="Rectangle 3"/>
          <p:cNvSpPr>
            <a:spLocks noGrp="1" noChangeArrowheads="1"/>
          </p:cNvSpPr>
          <p:nvPr>
            <p:ph idx="1"/>
          </p:nvPr>
        </p:nvSpPr>
        <p:spPr>
          <a:xfrm>
            <a:off x="457200" y="1600200"/>
            <a:ext cx="8229600" cy="1644650"/>
          </a:xfrm>
        </p:spPr>
        <p:txBody>
          <a:bodyPr/>
          <a:lstStyle/>
          <a:p>
            <a:pPr algn="just" eaLnBrk="1" hangingPunct="1"/>
            <a:r>
              <a:rPr lang="en-US" dirty="0" smtClean="0"/>
              <a:t>When the </a:t>
            </a:r>
            <a:r>
              <a:rPr lang="en-US" dirty="0" smtClean="0">
                <a:solidFill>
                  <a:srgbClr val="FF0000"/>
                </a:solidFill>
              </a:rPr>
              <a:t>price of a good decreases</a:t>
            </a:r>
            <a:r>
              <a:rPr lang="en-US" dirty="0" smtClean="0"/>
              <a:t>, consumers substitute that good instead of other competing (substitute) goods</a:t>
            </a:r>
          </a:p>
          <a:p>
            <a:pPr eaLnBrk="1" hangingPunct="1"/>
            <a:endParaRPr lang="en-US" dirty="0" smtClean="0">
              <a:cs typeface="Arial" charset="0"/>
            </a:endParaRPr>
          </a:p>
        </p:txBody>
      </p:sp>
      <p:sp>
        <p:nvSpPr>
          <p:cNvPr id="25" name="Slide Number Placeholder 24"/>
          <p:cNvSpPr>
            <a:spLocks noGrp="1"/>
          </p:cNvSpPr>
          <p:nvPr>
            <p:ph type="sldNum" sz="quarter" idx="12"/>
          </p:nvPr>
        </p:nvSpPr>
        <p:spPr/>
        <p:txBody>
          <a:bodyPr/>
          <a:lstStyle/>
          <a:p>
            <a:pPr>
              <a:defRPr/>
            </a:pPr>
            <a:fld id="{AABAF6CF-2BAC-4072-AF5E-9F320577BB86}" type="slidenum">
              <a:rPr lang="en-US"/>
              <a:pPr>
                <a:defRPr/>
              </a:pPr>
              <a:t>21</a:t>
            </a:fld>
            <a:endParaRPr lang="en-US"/>
          </a:p>
        </p:txBody>
      </p:sp>
      <p:sp>
        <p:nvSpPr>
          <p:cNvPr id="570372" name="Line 4"/>
          <p:cNvSpPr>
            <a:spLocks noChangeShapeType="1"/>
          </p:cNvSpPr>
          <p:nvPr/>
        </p:nvSpPr>
        <p:spPr bwMode="auto">
          <a:xfrm>
            <a:off x="762000" y="5867400"/>
            <a:ext cx="7620000" cy="0"/>
          </a:xfrm>
          <a:prstGeom prst="line">
            <a:avLst/>
          </a:prstGeom>
          <a:noFill/>
          <a:ln w="28575">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nvGrpSpPr>
          <p:cNvPr id="2" name="Group 20"/>
          <p:cNvGrpSpPr>
            <a:grpSpLocks/>
          </p:cNvGrpSpPr>
          <p:nvPr/>
        </p:nvGrpSpPr>
        <p:grpSpPr bwMode="auto">
          <a:xfrm>
            <a:off x="2667000" y="5791200"/>
            <a:ext cx="685800" cy="381000"/>
            <a:chOff x="1680" y="3648"/>
            <a:chExt cx="432" cy="240"/>
          </a:xfrm>
        </p:grpSpPr>
        <p:sp>
          <p:nvSpPr>
            <p:cNvPr id="21529" name="Text Box 12"/>
            <p:cNvSpPr txBox="1">
              <a:spLocks noChangeArrowheads="1"/>
            </p:cNvSpPr>
            <p:nvPr/>
          </p:nvSpPr>
          <p:spPr bwMode="auto">
            <a:xfrm>
              <a:off x="1680" y="3696"/>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a:latin typeface="Calibri" pitchFamily="34" charset="0"/>
                </a:rPr>
                <a:t>Coke</a:t>
              </a:r>
            </a:p>
          </p:txBody>
        </p:sp>
        <p:sp>
          <p:nvSpPr>
            <p:cNvPr id="21530" name="Oval 7"/>
            <p:cNvSpPr>
              <a:spLocks noChangeArrowheads="1"/>
            </p:cNvSpPr>
            <p:nvPr/>
          </p:nvSpPr>
          <p:spPr bwMode="auto">
            <a:xfrm>
              <a:off x="2016" y="3648"/>
              <a:ext cx="96" cy="96"/>
            </a:xfrm>
            <a:prstGeom prst="ellipse">
              <a:avLst/>
            </a:prstGeom>
            <a:solidFill>
              <a:srgbClr val="0000CC"/>
            </a:solidFill>
            <a:ln w="12700">
              <a:solidFill>
                <a:schemeClr val="tx1"/>
              </a:solidFill>
              <a:round/>
              <a:headEnd type="none" w="sm" len="sm"/>
              <a:tailEnd type="none" w="sm" len="sm"/>
            </a:ln>
          </p:spPr>
          <p:txBody>
            <a:bodyPr wrap="none" anchor="ctr"/>
            <a:lstStyle/>
            <a:p>
              <a:endParaRPr lang="en-US">
                <a:latin typeface="Calibri" pitchFamily="34" charset="0"/>
              </a:endParaRPr>
            </a:p>
          </p:txBody>
        </p:sp>
      </p:grpSp>
      <p:grpSp>
        <p:nvGrpSpPr>
          <p:cNvPr id="3" name="Group 21"/>
          <p:cNvGrpSpPr>
            <a:grpSpLocks/>
          </p:cNvGrpSpPr>
          <p:nvPr/>
        </p:nvGrpSpPr>
        <p:grpSpPr bwMode="auto">
          <a:xfrm>
            <a:off x="3886200" y="5791200"/>
            <a:ext cx="762000" cy="381000"/>
            <a:chOff x="2448" y="3648"/>
            <a:chExt cx="480" cy="240"/>
          </a:xfrm>
        </p:grpSpPr>
        <p:sp>
          <p:nvSpPr>
            <p:cNvPr id="21527" name="Text Box 13"/>
            <p:cNvSpPr txBox="1">
              <a:spLocks noChangeArrowheads="1"/>
            </p:cNvSpPr>
            <p:nvPr/>
          </p:nvSpPr>
          <p:spPr bwMode="auto">
            <a:xfrm>
              <a:off x="2448" y="3696"/>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a:latin typeface="Calibri" pitchFamily="34" charset="0"/>
                </a:rPr>
                <a:t>Books</a:t>
              </a:r>
            </a:p>
          </p:txBody>
        </p:sp>
        <p:sp>
          <p:nvSpPr>
            <p:cNvPr id="21528" name="Oval 8"/>
            <p:cNvSpPr>
              <a:spLocks noChangeArrowheads="1"/>
            </p:cNvSpPr>
            <p:nvPr/>
          </p:nvSpPr>
          <p:spPr bwMode="auto">
            <a:xfrm>
              <a:off x="2832" y="3648"/>
              <a:ext cx="96" cy="96"/>
            </a:xfrm>
            <a:prstGeom prst="ellipse">
              <a:avLst/>
            </a:prstGeom>
            <a:solidFill>
              <a:srgbClr val="0000CC"/>
            </a:solidFill>
            <a:ln w="12700">
              <a:solidFill>
                <a:schemeClr val="tx1"/>
              </a:solidFill>
              <a:round/>
              <a:headEnd type="none" w="sm" len="sm"/>
              <a:tailEnd type="none" w="sm" len="sm"/>
            </a:ln>
          </p:spPr>
          <p:txBody>
            <a:bodyPr wrap="none" anchor="ctr"/>
            <a:lstStyle/>
            <a:p>
              <a:endParaRPr lang="en-US">
                <a:latin typeface="Calibri" pitchFamily="34" charset="0"/>
              </a:endParaRPr>
            </a:p>
          </p:txBody>
        </p:sp>
      </p:grpSp>
      <p:grpSp>
        <p:nvGrpSpPr>
          <p:cNvPr id="4" name="Group 22"/>
          <p:cNvGrpSpPr>
            <a:grpSpLocks/>
          </p:cNvGrpSpPr>
          <p:nvPr/>
        </p:nvGrpSpPr>
        <p:grpSpPr bwMode="auto">
          <a:xfrm>
            <a:off x="5029200" y="5791200"/>
            <a:ext cx="838200" cy="381000"/>
            <a:chOff x="3168" y="3648"/>
            <a:chExt cx="528" cy="240"/>
          </a:xfrm>
        </p:grpSpPr>
        <p:sp>
          <p:nvSpPr>
            <p:cNvPr id="21525" name="Text Box 14"/>
            <p:cNvSpPr txBox="1">
              <a:spLocks noChangeArrowheads="1"/>
            </p:cNvSpPr>
            <p:nvPr/>
          </p:nvSpPr>
          <p:spPr bwMode="auto">
            <a:xfrm>
              <a:off x="3168" y="3696"/>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a:latin typeface="Calibri" pitchFamily="34" charset="0"/>
                </a:rPr>
                <a:t>Movies</a:t>
              </a:r>
            </a:p>
          </p:txBody>
        </p:sp>
        <p:sp>
          <p:nvSpPr>
            <p:cNvPr id="21526" name="Oval 9"/>
            <p:cNvSpPr>
              <a:spLocks noChangeArrowheads="1"/>
            </p:cNvSpPr>
            <p:nvPr/>
          </p:nvSpPr>
          <p:spPr bwMode="auto">
            <a:xfrm>
              <a:off x="3600" y="3648"/>
              <a:ext cx="96" cy="96"/>
            </a:xfrm>
            <a:prstGeom prst="ellipse">
              <a:avLst/>
            </a:prstGeom>
            <a:solidFill>
              <a:srgbClr val="0000CC"/>
            </a:solidFill>
            <a:ln w="12700">
              <a:solidFill>
                <a:schemeClr val="tx1"/>
              </a:solidFill>
              <a:round/>
              <a:headEnd type="none" w="sm" len="sm"/>
              <a:tailEnd type="none" w="sm" len="sm"/>
            </a:ln>
          </p:spPr>
          <p:txBody>
            <a:bodyPr wrap="none" anchor="ctr"/>
            <a:lstStyle/>
            <a:p>
              <a:endParaRPr lang="en-US">
                <a:latin typeface="Calibri" pitchFamily="34" charset="0"/>
              </a:endParaRPr>
            </a:p>
          </p:txBody>
        </p:sp>
      </p:grpSp>
      <p:grpSp>
        <p:nvGrpSpPr>
          <p:cNvPr id="5" name="Group 18"/>
          <p:cNvGrpSpPr>
            <a:grpSpLocks/>
          </p:cNvGrpSpPr>
          <p:nvPr/>
        </p:nvGrpSpPr>
        <p:grpSpPr bwMode="auto">
          <a:xfrm>
            <a:off x="1295400" y="5791200"/>
            <a:ext cx="838200" cy="381000"/>
            <a:chOff x="816" y="3648"/>
            <a:chExt cx="528" cy="240"/>
          </a:xfrm>
        </p:grpSpPr>
        <p:sp>
          <p:nvSpPr>
            <p:cNvPr id="21523" name="Oval 6"/>
            <p:cNvSpPr>
              <a:spLocks noChangeArrowheads="1"/>
            </p:cNvSpPr>
            <p:nvPr/>
          </p:nvSpPr>
          <p:spPr bwMode="auto">
            <a:xfrm>
              <a:off x="1248" y="3648"/>
              <a:ext cx="96" cy="96"/>
            </a:xfrm>
            <a:prstGeom prst="ellipse">
              <a:avLst/>
            </a:prstGeom>
            <a:solidFill>
              <a:srgbClr val="0000CC"/>
            </a:solidFill>
            <a:ln w="12700">
              <a:solidFill>
                <a:schemeClr val="tx1"/>
              </a:solidFill>
              <a:round/>
              <a:headEnd type="none" w="sm" len="sm"/>
              <a:tailEnd type="none" w="sm" len="sm"/>
            </a:ln>
          </p:spPr>
          <p:txBody>
            <a:bodyPr wrap="none" anchor="ctr"/>
            <a:lstStyle/>
            <a:p>
              <a:endParaRPr lang="en-US">
                <a:latin typeface="Calibri" pitchFamily="34" charset="0"/>
              </a:endParaRPr>
            </a:p>
          </p:txBody>
        </p:sp>
        <p:sp>
          <p:nvSpPr>
            <p:cNvPr id="21524" name="Text Box 11"/>
            <p:cNvSpPr txBox="1">
              <a:spLocks noChangeArrowheads="1"/>
            </p:cNvSpPr>
            <p:nvPr/>
          </p:nvSpPr>
          <p:spPr bwMode="auto">
            <a:xfrm>
              <a:off x="816" y="3696"/>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a:latin typeface="Calibri" pitchFamily="34" charset="0"/>
                </a:rPr>
                <a:t>Clothes</a:t>
              </a:r>
            </a:p>
          </p:txBody>
        </p:sp>
      </p:grpSp>
      <p:sp>
        <p:nvSpPr>
          <p:cNvPr id="570393" name="Text Box 25"/>
          <p:cNvSpPr txBox="1">
            <a:spLocks noChangeArrowheads="1"/>
          </p:cNvSpPr>
          <p:nvPr/>
        </p:nvSpPr>
        <p:spPr bwMode="auto">
          <a:xfrm>
            <a:off x="571500" y="4195482"/>
            <a:ext cx="3124200" cy="654050"/>
          </a:xfrm>
          <a:prstGeom prst="rect">
            <a:avLst/>
          </a:prstGeom>
          <a:solidFill>
            <a:srgbClr val="FFFF99"/>
          </a:solidFill>
          <a:ln w="12700">
            <a:solidFill>
              <a:srgbClr val="FFFF99"/>
            </a:solidFill>
            <a:miter lim="800000"/>
            <a:headEnd type="none" w="sm" len="sm"/>
            <a:tailEnd type="none" w="sm" len="sm"/>
          </a:ln>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b="1" dirty="0">
                <a:latin typeface="Calibri" pitchFamily="34" charset="0"/>
              </a:rPr>
              <a:t>1. When the price of Coke decreases…</a:t>
            </a:r>
          </a:p>
        </p:txBody>
      </p:sp>
      <p:grpSp>
        <p:nvGrpSpPr>
          <p:cNvPr id="6" name="Group 23"/>
          <p:cNvGrpSpPr>
            <a:grpSpLocks/>
          </p:cNvGrpSpPr>
          <p:nvPr/>
        </p:nvGrpSpPr>
        <p:grpSpPr bwMode="auto">
          <a:xfrm>
            <a:off x="6400800" y="5791200"/>
            <a:ext cx="685800" cy="381000"/>
            <a:chOff x="4032" y="3648"/>
            <a:chExt cx="432" cy="240"/>
          </a:xfrm>
        </p:grpSpPr>
        <p:sp>
          <p:nvSpPr>
            <p:cNvPr id="21521" name="Text Box 15"/>
            <p:cNvSpPr txBox="1">
              <a:spLocks noChangeArrowheads="1"/>
            </p:cNvSpPr>
            <p:nvPr/>
          </p:nvSpPr>
          <p:spPr bwMode="auto">
            <a:xfrm>
              <a:off x="4032" y="3696"/>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a:latin typeface="Calibri" pitchFamily="34" charset="0"/>
                </a:rPr>
                <a:t>Pepsi</a:t>
              </a:r>
            </a:p>
          </p:txBody>
        </p:sp>
        <p:sp>
          <p:nvSpPr>
            <p:cNvPr id="21522" name="Oval 10"/>
            <p:cNvSpPr>
              <a:spLocks noChangeArrowheads="1"/>
            </p:cNvSpPr>
            <p:nvPr/>
          </p:nvSpPr>
          <p:spPr bwMode="auto">
            <a:xfrm>
              <a:off x="4368" y="3648"/>
              <a:ext cx="96" cy="96"/>
            </a:xfrm>
            <a:prstGeom prst="ellipse">
              <a:avLst/>
            </a:prstGeom>
            <a:solidFill>
              <a:srgbClr val="0000CC"/>
            </a:solidFill>
            <a:ln w="12700">
              <a:solidFill>
                <a:schemeClr val="tx1"/>
              </a:solidFill>
              <a:round/>
              <a:headEnd type="none" w="sm" len="sm"/>
              <a:tailEnd type="none" w="sm" len="sm"/>
            </a:ln>
          </p:spPr>
          <p:txBody>
            <a:bodyPr wrap="none" anchor="ctr"/>
            <a:lstStyle/>
            <a:p>
              <a:endParaRPr lang="en-US">
                <a:latin typeface="Calibri" pitchFamily="34" charset="0"/>
              </a:endParaRPr>
            </a:p>
          </p:txBody>
        </p:sp>
      </p:grpSp>
      <p:sp>
        <p:nvSpPr>
          <p:cNvPr id="570394" name="Text Box 26"/>
          <p:cNvSpPr txBox="1">
            <a:spLocks noChangeArrowheads="1"/>
          </p:cNvSpPr>
          <p:nvPr/>
        </p:nvSpPr>
        <p:spPr bwMode="auto">
          <a:xfrm>
            <a:off x="3810000" y="4191000"/>
            <a:ext cx="2362200" cy="646331"/>
          </a:xfrm>
          <a:prstGeom prst="rect">
            <a:avLst/>
          </a:prstGeom>
          <a:solidFill>
            <a:srgbClr val="FFFF99"/>
          </a:solidFill>
          <a:ln w="12700">
            <a:solidFill>
              <a:srgbClr val="FFFF99"/>
            </a:solidFill>
            <a:miter lim="800000"/>
            <a:headEnd type="none" w="sm" len="sm"/>
            <a:tailEnd type="none" w="sm" len="sm"/>
          </a:ln>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b="1" dirty="0" smtClean="0">
                <a:latin typeface="Calibri" pitchFamily="34" charset="0"/>
              </a:rPr>
              <a:t>2. </a:t>
            </a:r>
            <a:r>
              <a:rPr lang="en-US" b="1" dirty="0">
                <a:latin typeface="Calibri" pitchFamily="34" charset="0"/>
              </a:rPr>
              <a:t>Consumption of Coke </a:t>
            </a:r>
            <a:r>
              <a:rPr lang="en-US" b="1" dirty="0" smtClean="0">
                <a:latin typeface="Calibri" pitchFamily="34" charset="0"/>
              </a:rPr>
              <a:t>increases</a:t>
            </a:r>
          </a:p>
        </p:txBody>
      </p:sp>
      <p:sp>
        <p:nvSpPr>
          <p:cNvPr id="570395" name="Text Box 27"/>
          <p:cNvSpPr txBox="1">
            <a:spLocks noChangeArrowheads="1"/>
          </p:cNvSpPr>
          <p:nvPr/>
        </p:nvSpPr>
        <p:spPr bwMode="auto">
          <a:xfrm>
            <a:off x="6286500" y="4232959"/>
            <a:ext cx="2362200" cy="646331"/>
          </a:xfrm>
          <a:prstGeom prst="rect">
            <a:avLst/>
          </a:prstGeom>
          <a:solidFill>
            <a:srgbClr val="FFFF99"/>
          </a:solidFill>
          <a:ln w="12700">
            <a:solidFill>
              <a:srgbClr val="FFFF99"/>
            </a:solidFill>
            <a:miter lim="800000"/>
            <a:headEnd type="none" w="sm" len="sm"/>
            <a:tailEnd type="none" w="sm" len="sm"/>
          </a:ln>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b="1" dirty="0" smtClean="0">
                <a:latin typeface="Calibri" pitchFamily="34" charset="0"/>
              </a:rPr>
              <a:t>3. </a:t>
            </a:r>
            <a:r>
              <a:rPr lang="en-US" b="1" dirty="0">
                <a:latin typeface="Calibri" pitchFamily="34" charset="0"/>
              </a:rPr>
              <a:t>Consumption of Pepsi </a:t>
            </a:r>
            <a:r>
              <a:rPr lang="en-US" b="1" dirty="0" smtClean="0">
                <a:latin typeface="Calibri" pitchFamily="34" charset="0"/>
              </a:rPr>
              <a:t>decreases</a:t>
            </a:r>
            <a:endParaRPr lang="en-US" b="1" dirty="0">
              <a:latin typeface="Calibri" pitchFamily="34" charset="0"/>
            </a:endParaRPr>
          </a:p>
        </p:txBody>
      </p:sp>
    </p:spTree>
    <p:extLst>
      <p:ext uri="{BB962C8B-B14F-4D97-AF65-F5344CB8AC3E}">
        <p14:creationId xmlns:p14="http://schemas.microsoft.com/office/powerpoint/2010/main" val="66086284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037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570393"/>
                                        </p:tgtEl>
                                        <p:attrNameLst>
                                          <p:attrName>style.visibility</p:attrName>
                                        </p:attrNameLst>
                                      </p:cBhvr>
                                      <p:to>
                                        <p:strVal val="visible"/>
                                      </p:to>
                                    </p:set>
                                    <p:animEffect transition="in" filter="dissolve">
                                      <p:cBhvr>
                                        <p:cTn id="31" dur="500"/>
                                        <p:tgtEl>
                                          <p:spTgt spid="57039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570394"/>
                                        </p:tgtEl>
                                        <p:attrNameLst>
                                          <p:attrName>style.visibility</p:attrName>
                                        </p:attrNameLst>
                                      </p:cBhvr>
                                      <p:to>
                                        <p:strVal val="visible"/>
                                      </p:to>
                                    </p:set>
                                    <p:animEffect transition="in" filter="dissolve">
                                      <p:cBhvr>
                                        <p:cTn id="36" dur="500"/>
                                        <p:tgtEl>
                                          <p:spTgt spid="57039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570385"/>
                                        </p:tgtEl>
                                        <p:attrNameLst>
                                          <p:attrName>style.visibility</p:attrName>
                                        </p:attrNameLst>
                                      </p:cBhvr>
                                      <p:to>
                                        <p:strVal val="visible"/>
                                      </p:to>
                                    </p:set>
                                    <p:animEffect transition="in" filter="wipe(up)">
                                      <p:cBhvr>
                                        <p:cTn id="41" dur="500"/>
                                        <p:tgtEl>
                                          <p:spTgt spid="57038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570395"/>
                                        </p:tgtEl>
                                        <p:attrNameLst>
                                          <p:attrName>style.visibility</p:attrName>
                                        </p:attrNameLst>
                                      </p:cBhvr>
                                      <p:to>
                                        <p:strVal val="visible"/>
                                      </p:to>
                                    </p:set>
                                    <p:animEffect transition="in" filter="dissolve">
                                      <p:cBhvr>
                                        <p:cTn id="46" dur="500"/>
                                        <p:tgtEl>
                                          <p:spTgt spid="570395"/>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570384"/>
                                        </p:tgtEl>
                                        <p:attrNameLst>
                                          <p:attrName>style.visibility</p:attrName>
                                        </p:attrNameLst>
                                      </p:cBhvr>
                                      <p:to>
                                        <p:strVal val="visible"/>
                                      </p:to>
                                    </p:set>
                                    <p:animEffect transition="in" filter="wipe(down)">
                                      <p:cBhvr>
                                        <p:cTn id="51" dur="500"/>
                                        <p:tgtEl>
                                          <p:spTgt spid="5703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0384" grpId="0" animBg="1"/>
      <p:bldP spid="570385" grpId="0" animBg="1"/>
      <p:bldP spid="570372" grpId="0" animBg="1"/>
      <p:bldP spid="570393" grpId="0" animBg="1"/>
      <p:bldP spid="570394" grpId="0" animBg="1"/>
      <p:bldP spid="57039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3"/>
          <a:stretch>
            <a:fillRect/>
          </a:stretch>
        </p:blipFill>
        <p:spPr>
          <a:xfrm>
            <a:off x="5791200" y="2332383"/>
            <a:ext cx="1853345" cy="768163"/>
          </a:xfrm>
          <a:prstGeom prst="rect">
            <a:avLst/>
          </a:prstGeom>
        </p:spPr>
      </p:pic>
      <p:sp>
        <p:nvSpPr>
          <p:cNvPr id="4" name="Rectangle 3"/>
          <p:cNvSpPr/>
          <p:nvPr/>
        </p:nvSpPr>
        <p:spPr>
          <a:xfrm>
            <a:off x="3581400" y="990600"/>
            <a:ext cx="16764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Rs</a:t>
            </a:r>
            <a:r>
              <a:rPr lang="en-US" dirty="0" smtClean="0"/>
              <a:t> 80</a:t>
            </a:r>
            <a:endParaRPr lang="en-US" dirty="0"/>
          </a:p>
        </p:txBody>
      </p:sp>
      <p:sp>
        <p:nvSpPr>
          <p:cNvPr id="5" name="Rectangle 4"/>
          <p:cNvSpPr/>
          <p:nvPr/>
        </p:nvSpPr>
        <p:spPr>
          <a:xfrm>
            <a:off x="1371600" y="2362200"/>
            <a:ext cx="1828800"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Coca Cola</a:t>
            </a:r>
          </a:p>
          <a:p>
            <a:pPr algn="ctr"/>
            <a:r>
              <a:rPr lang="en-US" dirty="0" err="1" smtClean="0"/>
              <a:t>Rs</a:t>
            </a:r>
            <a:r>
              <a:rPr lang="en-US" dirty="0" smtClean="0"/>
              <a:t> 40</a:t>
            </a:r>
            <a:endParaRPr lang="en-US" dirty="0"/>
          </a:p>
        </p:txBody>
      </p:sp>
      <p:cxnSp>
        <p:nvCxnSpPr>
          <p:cNvPr id="8" name="Straight Arrow Connector 7"/>
          <p:cNvCxnSpPr>
            <a:endCxn id="5" idx="0"/>
          </p:cNvCxnSpPr>
          <p:nvPr/>
        </p:nvCxnSpPr>
        <p:spPr>
          <a:xfrm flipH="1">
            <a:off x="2286000" y="1676400"/>
            <a:ext cx="1219200" cy="685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endCxn id="6" idx="0"/>
          </p:cNvCxnSpPr>
          <p:nvPr/>
        </p:nvCxnSpPr>
        <p:spPr>
          <a:xfrm>
            <a:off x="5257800" y="1676400"/>
            <a:ext cx="1460073" cy="6559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685800" y="3429000"/>
            <a:ext cx="34290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If Coca cola price deduced up to </a:t>
            </a:r>
            <a:r>
              <a:rPr lang="en-US" dirty="0" err="1" smtClean="0"/>
              <a:t>Rs</a:t>
            </a:r>
            <a:r>
              <a:rPr lang="en-US" dirty="0" smtClean="0"/>
              <a:t> 20</a:t>
            </a:r>
            <a:endParaRPr lang="en-US" dirty="0"/>
          </a:p>
        </p:txBody>
      </p:sp>
      <p:cxnSp>
        <p:nvCxnSpPr>
          <p:cNvPr id="13" name="Straight Arrow Connector 12"/>
          <p:cNvCxnSpPr>
            <a:stCxn id="5" idx="2"/>
          </p:cNvCxnSpPr>
          <p:nvPr/>
        </p:nvCxnSpPr>
        <p:spPr>
          <a:xfrm>
            <a:off x="2286000" y="2971800"/>
            <a:ext cx="0" cy="381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2286000" y="4343400"/>
            <a:ext cx="0" cy="685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85800" y="5105400"/>
            <a:ext cx="3200400" cy="646331"/>
          </a:xfrm>
          <a:prstGeom prst="rect">
            <a:avLst/>
          </a:prstGeom>
          <a:noFill/>
        </p:spPr>
        <p:txBody>
          <a:bodyPr wrap="square" rtlCol="0">
            <a:spAutoFit/>
          </a:bodyPr>
          <a:lstStyle/>
          <a:p>
            <a:pPr algn="ctr"/>
            <a:r>
              <a:rPr lang="en-US" dirty="0" smtClean="0"/>
              <a:t>Now, Consumer can buy four Soft drink Bottles</a:t>
            </a:r>
            <a:endParaRPr lang="en-US" dirty="0"/>
          </a:p>
        </p:txBody>
      </p:sp>
    </p:spTree>
    <p:extLst>
      <p:ext uri="{BB962C8B-B14F-4D97-AF65-F5344CB8AC3E}">
        <p14:creationId xmlns:p14="http://schemas.microsoft.com/office/powerpoint/2010/main" val="155066601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b="1" dirty="0" smtClean="0"/>
              <a:t>Income Effect</a:t>
            </a:r>
          </a:p>
        </p:txBody>
      </p:sp>
      <p:sp>
        <p:nvSpPr>
          <p:cNvPr id="22531" name="Rectangle 3"/>
          <p:cNvSpPr>
            <a:spLocks noGrp="1" noChangeArrowheads="1"/>
          </p:cNvSpPr>
          <p:nvPr>
            <p:ph idx="1"/>
          </p:nvPr>
        </p:nvSpPr>
        <p:spPr>
          <a:xfrm>
            <a:off x="685800" y="1828800"/>
            <a:ext cx="8153400" cy="4525963"/>
          </a:xfrm>
        </p:spPr>
        <p:txBody>
          <a:bodyPr/>
          <a:lstStyle/>
          <a:p>
            <a:pPr algn="just" eaLnBrk="1" hangingPunct="1"/>
            <a:r>
              <a:rPr lang="en-US" sz="2800" dirty="0" smtClean="0"/>
              <a:t>A </a:t>
            </a:r>
            <a:r>
              <a:rPr lang="en-US" sz="2800" dirty="0" smtClean="0">
                <a:solidFill>
                  <a:srgbClr val="FF0000"/>
                </a:solidFill>
              </a:rPr>
              <a:t>decrease in the price </a:t>
            </a:r>
            <a:r>
              <a:rPr lang="en-US" sz="2800" dirty="0" smtClean="0"/>
              <a:t>of a commodity is essentially equivalent to an </a:t>
            </a:r>
            <a:r>
              <a:rPr lang="en-US" sz="2800" u="sng" dirty="0" smtClean="0"/>
              <a:t>increase in consumers’ income.</a:t>
            </a:r>
          </a:p>
          <a:p>
            <a:pPr algn="just" eaLnBrk="1" hangingPunct="1"/>
            <a:endParaRPr lang="en-US" dirty="0"/>
          </a:p>
          <a:p>
            <a:pPr marL="0" indent="0" algn="just">
              <a:buNone/>
            </a:pPr>
            <a:r>
              <a:rPr lang="en-US" b="1" dirty="0" smtClean="0"/>
              <a:t>Decrease </a:t>
            </a:r>
            <a:r>
              <a:rPr lang="en-US" b="1" dirty="0"/>
              <a:t>in the </a:t>
            </a:r>
            <a:r>
              <a:rPr lang="en-US" b="1" dirty="0" smtClean="0"/>
              <a:t>price    </a:t>
            </a:r>
            <a:r>
              <a:rPr lang="en-US" dirty="0" smtClean="0"/>
              <a:t>= Increase </a:t>
            </a:r>
            <a:r>
              <a:rPr lang="en-US" dirty="0"/>
              <a:t>in consumers’ </a:t>
            </a:r>
            <a:r>
              <a:rPr lang="en-US" dirty="0" smtClean="0"/>
              <a:t>Income</a:t>
            </a:r>
          </a:p>
        </p:txBody>
      </p:sp>
      <p:sp>
        <p:nvSpPr>
          <p:cNvPr id="4" name="Slide Number Placeholder 3"/>
          <p:cNvSpPr>
            <a:spLocks noGrp="1"/>
          </p:cNvSpPr>
          <p:nvPr>
            <p:ph type="sldNum" sz="quarter" idx="12"/>
          </p:nvPr>
        </p:nvSpPr>
        <p:spPr/>
        <p:txBody>
          <a:bodyPr/>
          <a:lstStyle/>
          <a:p>
            <a:pPr>
              <a:defRPr/>
            </a:pPr>
            <a:fld id="{7F0C7232-9FEE-4265-84FE-7FA66B912A65}" type="slidenum">
              <a:rPr lang="en-US"/>
              <a:pPr>
                <a:defRPr/>
              </a:pPr>
              <a:t>23</a:t>
            </a:fld>
            <a:endParaRPr lang="en-US"/>
          </a:p>
        </p:txBody>
      </p:sp>
    </p:spTree>
    <p:extLst>
      <p:ext uri="{BB962C8B-B14F-4D97-AF65-F5344CB8AC3E}">
        <p14:creationId xmlns:p14="http://schemas.microsoft.com/office/powerpoint/2010/main" val="2051786790"/>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title"/>
          </p:nvPr>
        </p:nvSpPr>
        <p:spPr/>
        <p:txBody>
          <a:bodyPr/>
          <a:lstStyle/>
          <a:p>
            <a:pPr eaLnBrk="1" hangingPunct="1"/>
            <a:r>
              <a:rPr lang="en-US" b="1" dirty="0" smtClean="0"/>
              <a:t>Lower Prices = Higher Income</a:t>
            </a:r>
          </a:p>
        </p:txBody>
      </p:sp>
      <p:graphicFrame>
        <p:nvGraphicFramePr>
          <p:cNvPr id="603139" name="Group 3"/>
          <p:cNvGraphicFramePr>
            <a:graphicFrameLocks noGrp="1"/>
          </p:cNvGraphicFramePr>
          <p:nvPr>
            <p:ph sz="half" idx="1"/>
            <p:extLst>
              <p:ext uri="{D42A27DB-BD31-4B8C-83A1-F6EECF244321}">
                <p14:modId xmlns:p14="http://schemas.microsoft.com/office/powerpoint/2010/main" val="1431460233"/>
              </p:ext>
            </p:extLst>
          </p:nvPr>
        </p:nvGraphicFramePr>
        <p:xfrm>
          <a:off x="609600" y="1631761"/>
          <a:ext cx="4040188" cy="1584704"/>
        </p:xfrm>
        <a:graphic>
          <a:graphicData uri="http://schemas.openxmlformats.org/drawingml/2006/table">
            <a:tbl>
              <a:tblPr/>
              <a:tblGrid>
                <a:gridCol w="2762250">
                  <a:extLst>
                    <a:ext uri="{9D8B030D-6E8A-4147-A177-3AD203B41FA5}">
                      <a16:colId xmlns:a16="http://schemas.microsoft.com/office/drawing/2014/main" val="20000"/>
                    </a:ext>
                  </a:extLst>
                </a:gridCol>
                <a:gridCol w="1277938">
                  <a:extLst>
                    <a:ext uri="{9D8B030D-6E8A-4147-A177-3AD203B41FA5}">
                      <a16:colId xmlns:a16="http://schemas.microsoft.com/office/drawing/2014/main" val="20001"/>
                    </a:ext>
                  </a:extLst>
                </a:gridCol>
              </a:tblGrid>
              <a:tr h="396081">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rgbClr val="0000CC"/>
                          </a:solidFill>
                          <a:effectLst/>
                          <a:latin typeface="Arial" charset="0"/>
                        </a:rPr>
                        <a:t>Situation </a:t>
                      </a:r>
                      <a:r>
                        <a:rPr kumimoji="0" lang="en-US" sz="2000" b="0" i="1" u="none" strike="noStrike" cap="none" normalizeH="0" baseline="0" dirty="0" smtClean="0">
                          <a:ln>
                            <a:noFill/>
                          </a:ln>
                          <a:solidFill>
                            <a:srgbClr val="0000CC"/>
                          </a:solidFill>
                          <a:effectLst/>
                          <a:latin typeface="Arial" charset="0"/>
                        </a:rPr>
                        <a:t>A</a:t>
                      </a:r>
                      <a:endParaRPr kumimoji="0" lang="en-US" sz="2000" b="0" i="0" u="none" strike="noStrike" cap="none" normalizeH="0" baseline="0" dirty="0" smtClean="0">
                        <a:ln>
                          <a:noFill/>
                        </a:ln>
                        <a:solidFill>
                          <a:srgbClr val="0000CC"/>
                        </a:solidFill>
                        <a:effectLst/>
                        <a:latin typeface="Arial" charset="0"/>
                      </a:endParaRPr>
                    </a:p>
                  </a:txBody>
                  <a:tcPr marT="45688" marB="45688"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3960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Price of an Apple</a:t>
                      </a:r>
                    </a:p>
                  </a:txBody>
                  <a:tcPr marT="45688" marB="4568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rgbClr val="FF0000"/>
                          </a:solidFill>
                          <a:effectLst/>
                          <a:latin typeface="Arial" charset="0"/>
                        </a:rPr>
                        <a:t>$1.00</a:t>
                      </a:r>
                    </a:p>
                  </a:txBody>
                  <a:tcPr marT="45688" marB="4568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960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charset="0"/>
                        </a:rPr>
                        <a:t>Price of an Orange</a:t>
                      </a:r>
                    </a:p>
                  </a:txBody>
                  <a:tcPr marT="45688" marB="4568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rgbClr val="FF0000"/>
                          </a:solidFill>
                          <a:effectLst/>
                          <a:latin typeface="Arial" charset="0"/>
                        </a:rPr>
                        <a:t>$2.00</a:t>
                      </a:r>
                    </a:p>
                  </a:txBody>
                  <a:tcPr marT="45688" marB="4568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3960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Income</a:t>
                      </a:r>
                    </a:p>
                  </a:txBody>
                  <a:tcPr marT="45688" marB="4568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rgbClr val="FF0000"/>
                          </a:solidFill>
                          <a:effectLst/>
                          <a:latin typeface="Arial" charset="0"/>
                        </a:rPr>
                        <a:t>$10.00</a:t>
                      </a:r>
                    </a:p>
                  </a:txBody>
                  <a:tcPr marT="45688" marB="4568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03155" name="Group 19"/>
          <p:cNvGraphicFramePr>
            <a:graphicFrameLocks noGrp="1"/>
          </p:cNvGraphicFramePr>
          <p:nvPr>
            <p:ph sz="quarter" idx="2"/>
            <p:extLst>
              <p:ext uri="{D42A27DB-BD31-4B8C-83A1-F6EECF244321}">
                <p14:modId xmlns:p14="http://schemas.microsoft.com/office/powerpoint/2010/main" val="2261131876"/>
              </p:ext>
            </p:extLst>
          </p:nvPr>
        </p:nvGraphicFramePr>
        <p:xfrm>
          <a:off x="4953000" y="2622489"/>
          <a:ext cx="4040187" cy="1584704"/>
        </p:xfrm>
        <a:graphic>
          <a:graphicData uri="http://schemas.openxmlformats.org/drawingml/2006/table">
            <a:tbl>
              <a:tblPr/>
              <a:tblGrid>
                <a:gridCol w="2762250">
                  <a:extLst>
                    <a:ext uri="{9D8B030D-6E8A-4147-A177-3AD203B41FA5}">
                      <a16:colId xmlns:a16="http://schemas.microsoft.com/office/drawing/2014/main" val="20000"/>
                    </a:ext>
                  </a:extLst>
                </a:gridCol>
                <a:gridCol w="1277937">
                  <a:extLst>
                    <a:ext uri="{9D8B030D-6E8A-4147-A177-3AD203B41FA5}">
                      <a16:colId xmlns:a16="http://schemas.microsoft.com/office/drawing/2014/main" val="20001"/>
                    </a:ext>
                  </a:extLst>
                </a:gridCol>
              </a:tblGrid>
              <a:tr h="362839">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rgbClr val="0000CC"/>
                          </a:solidFill>
                          <a:effectLst/>
                          <a:latin typeface="Arial" charset="0"/>
                        </a:rPr>
                        <a:t>Situation </a:t>
                      </a:r>
                      <a:r>
                        <a:rPr kumimoji="0" lang="en-US" sz="2000" b="0" i="1" u="none" strike="noStrike" cap="none" normalizeH="0" baseline="0" smtClean="0">
                          <a:ln>
                            <a:noFill/>
                          </a:ln>
                          <a:solidFill>
                            <a:srgbClr val="0000CC"/>
                          </a:solidFill>
                          <a:effectLst/>
                          <a:latin typeface="Arial" charset="0"/>
                        </a:rPr>
                        <a:t>B</a:t>
                      </a:r>
                      <a:endParaRPr kumimoji="0" lang="en-US" sz="2000" b="0" i="0" u="none" strike="noStrike" cap="none" normalizeH="0" baseline="0" smtClean="0">
                        <a:ln>
                          <a:noFill/>
                        </a:ln>
                        <a:solidFill>
                          <a:srgbClr val="0000CC"/>
                        </a:solidFill>
                        <a:effectLst/>
                        <a:latin typeface="Arial" charset="0"/>
                      </a:endParaRPr>
                    </a:p>
                  </a:txBody>
                  <a:tcPr marT="45688" marB="45688"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3960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Price of an Apple</a:t>
                      </a:r>
                    </a:p>
                  </a:txBody>
                  <a:tcPr marT="45688" marB="4568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rgbClr val="FF0000"/>
                          </a:solidFill>
                          <a:effectLst/>
                          <a:latin typeface="Arial" charset="0"/>
                        </a:rPr>
                        <a:t>$1.00</a:t>
                      </a:r>
                    </a:p>
                  </a:txBody>
                  <a:tcPr marT="45688" marB="4568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960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Price of an Orange</a:t>
                      </a:r>
                    </a:p>
                  </a:txBody>
                  <a:tcPr marT="45688" marB="4568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rgbClr val="FF0000"/>
                          </a:solidFill>
                          <a:effectLst/>
                          <a:latin typeface="Arial" charset="0"/>
                        </a:rPr>
                        <a:t>$2.00</a:t>
                      </a:r>
                    </a:p>
                  </a:txBody>
                  <a:tcPr marT="45688" marB="4568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3960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Income</a:t>
                      </a:r>
                    </a:p>
                  </a:txBody>
                  <a:tcPr marT="45688" marB="4568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rgbClr val="FF0000"/>
                          </a:solidFill>
                          <a:effectLst/>
                          <a:latin typeface="Arial" charset="0"/>
                        </a:rPr>
                        <a:t>$20.00</a:t>
                      </a:r>
                    </a:p>
                  </a:txBody>
                  <a:tcPr marT="45688" marB="4568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03171" name="Group 35"/>
          <p:cNvGraphicFramePr>
            <a:graphicFrameLocks noGrp="1"/>
          </p:cNvGraphicFramePr>
          <p:nvPr>
            <p:ph sz="quarter" idx="3"/>
            <p:extLst>
              <p:ext uri="{D42A27DB-BD31-4B8C-83A1-F6EECF244321}">
                <p14:modId xmlns:p14="http://schemas.microsoft.com/office/powerpoint/2010/main" val="949724008"/>
              </p:ext>
            </p:extLst>
          </p:nvPr>
        </p:nvGraphicFramePr>
        <p:xfrm>
          <a:off x="609600" y="4409135"/>
          <a:ext cx="4040188" cy="1584704"/>
        </p:xfrm>
        <a:graphic>
          <a:graphicData uri="http://schemas.openxmlformats.org/drawingml/2006/table">
            <a:tbl>
              <a:tblPr/>
              <a:tblGrid>
                <a:gridCol w="2762250">
                  <a:extLst>
                    <a:ext uri="{9D8B030D-6E8A-4147-A177-3AD203B41FA5}">
                      <a16:colId xmlns:a16="http://schemas.microsoft.com/office/drawing/2014/main" val="20000"/>
                    </a:ext>
                  </a:extLst>
                </a:gridCol>
                <a:gridCol w="1277938">
                  <a:extLst>
                    <a:ext uri="{9D8B030D-6E8A-4147-A177-3AD203B41FA5}">
                      <a16:colId xmlns:a16="http://schemas.microsoft.com/office/drawing/2014/main" val="20001"/>
                    </a:ext>
                  </a:extLst>
                </a:gridCol>
              </a:tblGrid>
              <a:tr h="396081">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rgbClr val="0000CC"/>
                          </a:solidFill>
                          <a:effectLst/>
                          <a:latin typeface="Arial" charset="0"/>
                        </a:rPr>
                        <a:t>Situation </a:t>
                      </a:r>
                      <a:r>
                        <a:rPr kumimoji="0" lang="en-US" sz="2000" b="0" i="1" u="none" strike="noStrike" cap="none" normalizeH="0" baseline="0" smtClean="0">
                          <a:ln>
                            <a:noFill/>
                          </a:ln>
                          <a:solidFill>
                            <a:srgbClr val="0000CC"/>
                          </a:solidFill>
                          <a:effectLst/>
                          <a:latin typeface="Arial" charset="0"/>
                        </a:rPr>
                        <a:t>C</a:t>
                      </a:r>
                      <a:endParaRPr kumimoji="0" lang="en-US" sz="2000" b="0" i="0" u="none" strike="noStrike" cap="none" normalizeH="0" baseline="0" smtClean="0">
                        <a:ln>
                          <a:noFill/>
                        </a:ln>
                        <a:solidFill>
                          <a:srgbClr val="0000CC"/>
                        </a:solidFill>
                        <a:effectLst/>
                        <a:latin typeface="Arial" charset="0"/>
                      </a:endParaRPr>
                    </a:p>
                  </a:txBody>
                  <a:tcPr marT="45688" marB="45688"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3960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Price of an Apple</a:t>
                      </a:r>
                    </a:p>
                  </a:txBody>
                  <a:tcPr marT="45688" marB="4568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rgbClr val="FF0000"/>
                          </a:solidFill>
                          <a:effectLst/>
                          <a:latin typeface="Arial" charset="0"/>
                        </a:rPr>
                        <a:t>$0.50</a:t>
                      </a:r>
                    </a:p>
                  </a:txBody>
                  <a:tcPr marT="45688" marB="4568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960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Price of an Orange</a:t>
                      </a:r>
                    </a:p>
                  </a:txBody>
                  <a:tcPr marT="45688" marB="4568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rgbClr val="FF0000"/>
                          </a:solidFill>
                          <a:effectLst/>
                          <a:latin typeface="Arial" charset="0"/>
                        </a:rPr>
                        <a:t>$1.00</a:t>
                      </a:r>
                    </a:p>
                  </a:txBody>
                  <a:tcPr marT="45688" marB="4568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3960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Income</a:t>
                      </a:r>
                    </a:p>
                  </a:txBody>
                  <a:tcPr marT="45688" marB="4568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rgbClr val="FF0000"/>
                          </a:solidFill>
                          <a:effectLst/>
                          <a:latin typeface="Arial" charset="0"/>
                        </a:rPr>
                        <a:t>$10.00</a:t>
                      </a:r>
                    </a:p>
                  </a:txBody>
                  <a:tcPr marT="45688" marB="4568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4579" name="Slide Number Placeholder 7"/>
          <p:cNvSpPr>
            <a:spLocks noGrp="1"/>
          </p:cNvSpPr>
          <p:nvPr>
            <p:ph type="sldNum" sz="quarter" idx="12"/>
          </p:nvPr>
        </p:nvSpPr>
        <p:spPr/>
        <p:txBody>
          <a:bodyPr/>
          <a:lstStyle/>
          <a:p>
            <a:pPr>
              <a:defRPr/>
            </a:pPr>
            <a:fld id="{1597B4C1-4A49-4F65-8888-D4B6F57E05BB}" type="slidenum">
              <a:rPr lang="en-US" smtClean="0"/>
              <a:pPr>
                <a:defRPr/>
              </a:pPr>
              <a:t>24</a:t>
            </a:fld>
            <a:endParaRPr lang="en-US" smtClean="0"/>
          </a:p>
        </p:txBody>
      </p:sp>
      <p:sp>
        <p:nvSpPr>
          <p:cNvPr id="603187" name="Text Box 51"/>
          <p:cNvSpPr txBox="1">
            <a:spLocks noChangeArrowheads="1"/>
          </p:cNvSpPr>
          <p:nvPr/>
        </p:nvSpPr>
        <p:spPr bwMode="auto">
          <a:xfrm>
            <a:off x="534194" y="3666499"/>
            <a:ext cx="4191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1600" b="1" dirty="0">
                <a:latin typeface="Calibri" pitchFamily="34" charset="0"/>
              </a:rPr>
              <a:t>If prices fall, Situation </a:t>
            </a:r>
            <a:r>
              <a:rPr lang="en-US" sz="1600" b="1" i="1" dirty="0">
                <a:latin typeface="Calibri" pitchFamily="34" charset="0"/>
              </a:rPr>
              <a:t>A</a:t>
            </a:r>
            <a:r>
              <a:rPr lang="en-US" sz="1600" b="1" dirty="0">
                <a:latin typeface="Calibri" pitchFamily="34" charset="0"/>
              </a:rPr>
              <a:t> becomes Situation </a:t>
            </a:r>
            <a:r>
              <a:rPr lang="en-US" sz="1600" b="1" i="1" dirty="0">
                <a:latin typeface="Calibri" pitchFamily="34" charset="0"/>
              </a:rPr>
              <a:t>C</a:t>
            </a:r>
            <a:r>
              <a:rPr lang="en-US" sz="1600" b="1" dirty="0">
                <a:latin typeface="Calibri" pitchFamily="34" charset="0"/>
              </a:rPr>
              <a:t>. </a:t>
            </a:r>
          </a:p>
        </p:txBody>
      </p:sp>
      <p:sp>
        <p:nvSpPr>
          <p:cNvPr id="603188" name="Text Box 52"/>
          <p:cNvSpPr txBox="1">
            <a:spLocks noChangeArrowheads="1"/>
          </p:cNvSpPr>
          <p:nvPr/>
        </p:nvSpPr>
        <p:spPr bwMode="auto">
          <a:xfrm>
            <a:off x="6008688" y="1843088"/>
            <a:ext cx="283051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1600" b="1" dirty="0">
                <a:latin typeface="Calibri" pitchFamily="34" charset="0"/>
              </a:rPr>
              <a:t>If income rises, Situation </a:t>
            </a:r>
            <a:r>
              <a:rPr lang="en-US" sz="1600" b="1" i="1" dirty="0">
                <a:latin typeface="Calibri" pitchFamily="34" charset="0"/>
              </a:rPr>
              <a:t>A</a:t>
            </a:r>
            <a:r>
              <a:rPr lang="en-US" sz="1600" b="1" dirty="0">
                <a:latin typeface="Calibri" pitchFamily="34" charset="0"/>
              </a:rPr>
              <a:t> becomes Situation </a:t>
            </a:r>
            <a:r>
              <a:rPr lang="en-US" sz="1600" b="1" i="1" dirty="0">
                <a:latin typeface="Calibri" pitchFamily="34" charset="0"/>
              </a:rPr>
              <a:t>B</a:t>
            </a:r>
            <a:r>
              <a:rPr lang="en-US" sz="1600" b="1" dirty="0">
                <a:latin typeface="Calibri" pitchFamily="34" charset="0"/>
              </a:rPr>
              <a:t>. </a:t>
            </a:r>
          </a:p>
        </p:txBody>
      </p:sp>
      <p:sp>
        <p:nvSpPr>
          <p:cNvPr id="603189" name="Text Box 53"/>
          <p:cNvSpPr txBox="1">
            <a:spLocks noChangeArrowheads="1"/>
          </p:cNvSpPr>
          <p:nvPr/>
        </p:nvSpPr>
        <p:spPr bwMode="auto">
          <a:xfrm>
            <a:off x="6008688" y="4864937"/>
            <a:ext cx="28305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1600" b="1" dirty="0">
                <a:latin typeface="Calibri" pitchFamily="34" charset="0"/>
              </a:rPr>
              <a:t>Q: Which change is better?</a:t>
            </a:r>
          </a:p>
        </p:txBody>
      </p:sp>
      <p:sp>
        <p:nvSpPr>
          <p:cNvPr id="603190" name="Text Box 54"/>
          <p:cNvSpPr txBox="1">
            <a:spLocks noChangeArrowheads="1"/>
          </p:cNvSpPr>
          <p:nvPr/>
        </p:nvSpPr>
        <p:spPr bwMode="auto">
          <a:xfrm>
            <a:off x="6008688" y="5499100"/>
            <a:ext cx="2830512"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a:spcBef>
                <a:spcPct val="50000"/>
              </a:spcBef>
            </a:pPr>
            <a:r>
              <a:rPr lang="en-US" sz="1600" dirty="0">
                <a:latin typeface="Calibri" pitchFamily="34" charset="0"/>
              </a:rPr>
              <a:t>A: They are both equally desirable. </a:t>
            </a:r>
            <a:r>
              <a:rPr lang="en-US" sz="1600" b="1" dirty="0">
                <a:latin typeface="Calibri" pitchFamily="34" charset="0"/>
              </a:rPr>
              <a:t>A fall in prices is equivalent to an increase in income.</a:t>
            </a:r>
          </a:p>
        </p:txBody>
      </p:sp>
    </p:spTree>
    <p:extLst>
      <p:ext uri="{BB962C8B-B14F-4D97-AF65-F5344CB8AC3E}">
        <p14:creationId xmlns:p14="http://schemas.microsoft.com/office/powerpoint/2010/main" val="268395635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313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603188"/>
                                        </p:tgtEl>
                                        <p:attrNameLst>
                                          <p:attrName>style.visibility</p:attrName>
                                        </p:attrNameLst>
                                      </p:cBhvr>
                                      <p:to>
                                        <p:strVal val="visible"/>
                                      </p:to>
                                    </p:set>
                                    <p:animEffect transition="in" filter="dissolve">
                                      <p:cBhvr>
                                        <p:cTn id="11" dur="500"/>
                                        <p:tgtEl>
                                          <p:spTgt spid="60318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603155"/>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603187"/>
                                        </p:tgtEl>
                                        <p:attrNameLst>
                                          <p:attrName>style.visibility</p:attrName>
                                        </p:attrNameLst>
                                      </p:cBhvr>
                                      <p:to>
                                        <p:strVal val="visible"/>
                                      </p:to>
                                    </p:set>
                                    <p:animEffect transition="in" filter="dissolve">
                                      <p:cBhvr>
                                        <p:cTn id="20" dur="500"/>
                                        <p:tgtEl>
                                          <p:spTgt spid="60318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603171"/>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603189"/>
                                        </p:tgtEl>
                                        <p:attrNameLst>
                                          <p:attrName>style.visibility</p:attrName>
                                        </p:attrNameLst>
                                      </p:cBhvr>
                                      <p:to>
                                        <p:strVal val="visible"/>
                                      </p:to>
                                    </p:set>
                                    <p:animEffect transition="in" filter="dissolve">
                                      <p:cBhvr>
                                        <p:cTn id="29" dur="500"/>
                                        <p:tgtEl>
                                          <p:spTgt spid="60318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603190"/>
                                        </p:tgtEl>
                                        <p:attrNameLst>
                                          <p:attrName>style.visibility</p:attrName>
                                        </p:attrNameLst>
                                      </p:cBhvr>
                                      <p:to>
                                        <p:strVal val="visible"/>
                                      </p:to>
                                    </p:set>
                                    <p:animEffect transition="in" filter="dissolve">
                                      <p:cBhvr>
                                        <p:cTn id="34" dur="500"/>
                                        <p:tgtEl>
                                          <p:spTgt spid="6031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3187" grpId="0"/>
      <p:bldP spid="603188" grpId="0"/>
      <p:bldP spid="603189" grpId="0"/>
      <p:bldP spid="60319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5" name="Rectangle 2"/>
          <p:cNvSpPr>
            <a:spLocks noGrp="1" noChangeArrowheads="1"/>
          </p:cNvSpPr>
          <p:nvPr>
            <p:ph type="title"/>
          </p:nvPr>
        </p:nvSpPr>
        <p:spPr/>
        <p:txBody>
          <a:bodyPr/>
          <a:lstStyle/>
          <a:p>
            <a:pPr eaLnBrk="1" hangingPunct="1"/>
            <a:r>
              <a:rPr lang="en-US" b="1" dirty="0" smtClean="0"/>
              <a:t>Income Effect</a:t>
            </a:r>
          </a:p>
        </p:txBody>
      </p:sp>
      <p:sp>
        <p:nvSpPr>
          <p:cNvPr id="24586" name="Rectangle 3"/>
          <p:cNvSpPr>
            <a:spLocks noGrp="1" noChangeArrowheads="1"/>
          </p:cNvSpPr>
          <p:nvPr>
            <p:ph idx="1"/>
          </p:nvPr>
        </p:nvSpPr>
        <p:spPr>
          <a:xfrm>
            <a:off x="457200" y="1600200"/>
            <a:ext cx="8229600" cy="2667000"/>
          </a:xfrm>
        </p:spPr>
        <p:txBody>
          <a:bodyPr/>
          <a:lstStyle/>
          <a:p>
            <a:pPr eaLnBrk="1" hangingPunct="1">
              <a:lnSpc>
                <a:spcPct val="90000"/>
              </a:lnSpc>
            </a:pPr>
            <a:r>
              <a:rPr lang="en-US" sz="2800" dirty="0" smtClean="0"/>
              <a:t>Consumers respond to a decrease in the price of a commodity as they would to an increase in income</a:t>
            </a:r>
          </a:p>
          <a:p>
            <a:pPr eaLnBrk="1" hangingPunct="1">
              <a:lnSpc>
                <a:spcPct val="90000"/>
              </a:lnSpc>
            </a:pPr>
            <a:r>
              <a:rPr lang="en-US" sz="2800" dirty="0" smtClean="0"/>
              <a:t>They increase their consumption of a wide range of goods, including the good that had a price decrease</a:t>
            </a:r>
          </a:p>
        </p:txBody>
      </p:sp>
      <p:sp>
        <p:nvSpPr>
          <p:cNvPr id="25603" name="Slide Number Placeholder 5"/>
          <p:cNvSpPr>
            <a:spLocks noGrp="1"/>
          </p:cNvSpPr>
          <p:nvPr>
            <p:ph type="sldNum" sz="quarter" idx="12"/>
          </p:nvPr>
        </p:nvSpPr>
        <p:spPr/>
        <p:txBody>
          <a:bodyPr/>
          <a:lstStyle/>
          <a:p>
            <a:pPr>
              <a:defRPr/>
            </a:pPr>
            <a:fld id="{BCE0DFD4-1638-4ECC-A22C-1F850FB4F438}" type="slidenum">
              <a:rPr lang="en-US"/>
              <a:pPr>
                <a:defRPr/>
              </a:pPr>
              <a:t>25</a:t>
            </a:fld>
            <a:endParaRPr lang="en-US"/>
          </a:p>
        </p:txBody>
      </p:sp>
      <p:sp>
        <p:nvSpPr>
          <p:cNvPr id="25626" name="Line 4"/>
          <p:cNvSpPr>
            <a:spLocks noChangeShapeType="1"/>
          </p:cNvSpPr>
          <p:nvPr/>
        </p:nvSpPr>
        <p:spPr bwMode="auto">
          <a:xfrm flipV="1">
            <a:off x="3276600" y="5486400"/>
            <a:ext cx="0" cy="3810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25627" name="Line 26"/>
          <p:cNvSpPr>
            <a:spLocks noChangeShapeType="1"/>
          </p:cNvSpPr>
          <p:nvPr/>
        </p:nvSpPr>
        <p:spPr bwMode="auto">
          <a:xfrm flipV="1">
            <a:off x="2057400" y="4800600"/>
            <a:ext cx="0" cy="10668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25628" name="Line 27"/>
          <p:cNvSpPr>
            <a:spLocks noChangeShapeType="1"/>
          </p:cNvSpPr>
          <p:nvPr/>
        </p:nvSpPr>
        <p:spPr bwMode="auto">
          <a:xfrm>
            <a:off x="4572000" y="5867400"/>
            <a:ext cx="0" cy="3048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25629" name="Line 28"/>
          <p:cNvSpPr>
            <a:spLocks noChangeShapeType="1"/>
          </p:cNvSpPr>
          <p:nvPr/>
        </p:nvSpPr>
        <p:spPr bwMode="auto">
          <a:xfrm flipV="1">
            <a:off x="5791200" y="4953000"/>
            <a:ext cx="0" cy="9144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25630" name="Line 29"/>
          <p:cNvSpPr>
            <a:spLocks noChangeShapeType="1"/>
          </p:cNvSpPr>
          <p:nvPr/>
        </p:nvSpPr>
        <p:spPr bwMode="auto">
          <a:xfrm flipV="1">
            <a:off x="7010400" y="5562600"/>
            <a:ext cx="0" cy="3048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594950" name="Line 6"/>
          <p:cNvSpPr>
            <a:spLocks noChangeShapeType="1"/>
          </p:cNvSpPr>
          <p:nvPr/>
        </p:nvSpPr>
        <p:spPr bwMode="auto">
          <a:xfrm>
            <a:off x="762000" y="5867400"/>
            <a:ext cx="7620000" cy="0"/>
          </a:xfrm>
          <a:prstGeom prst="line">
            <a:avLst/>
          </a:prstGeom>
          <a:noFill/>
          <a:ln w="28575">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nvGrpSpPr>
          <p:cNvPr id="2" name="Group 8"/>
          <p:cNvGrpSpPr>
            <a:grpSpLocks/>
          </p:cNvGrpSpPr>
          <p:nvPr/>
        </p:nvGrpSpPr>
        <p:grpSpPr bwMode="auto">
          <a:xfrm>
            <a:off x="2667000" y="5791200"/>
            <a:ext cx="685800" cy="381000"/>
            <a:chOff x="1680" y="3648"/>
            <a:chExt cx="432" cy="240"/>
          </a:xfrm>
        </p:grpSpPr>
        <p:sp>
          <p:nvSpPr>
            <p:cNvPr id="24604" name="Text Box 9"/>
            <p:cNvSpPr txBox="1">
              <a:spLocks noChangeArrowheads="1"/>
            </p:cNvSpPr>
            <p:nvPr/>
          </p:nvSpPr>
          <p:spPr bwMode="auto">
            <a:xfrm>
              <a:off x="1680" y="3696"/>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a:latin typeface="Calibri" pitchFamily="34" charset="0"/>
                </a:rPr>
                <a:t>Coke</a:t>
              </a:r>
            </a:p>
          </p:txBody>
        </p:sp>
        <p:sp>
          <p:nvSpPr>
            <p:cNvPr id="24605" name="Oval 10"/>
            <p:cNvSpPr>
              <a:spLocks noChangeArrowheads="1"/>
            </p:cNvSpPr>
            <p:nvPr/>
          </p:nvSpPr>
          <p:spPr bwMode="auto">
            <a:xfrm>
              <a:off x="2016" y="3648"/>
              <a:ext cx="96" cy="96"/>
            </a:xfrm>
            <a:prstGeom prst="ellipse">
              <a:avLst/>
            </a:prstGeom>
            <a:solidFill>
              <a:srgbClr val="0000CC"/>
            </a:solidFill>
            <a:ln w="12700">
              <a:solidFill>
                <a:schemeClr val="tx1"/>
              </a:solidFill>
              <a:round/>
              <a:headEnd type="none" w="sm" len="sm"/>
              <a:tailEnd type="none" w="sm" len="sm"/>
            </a:ln>
          </p:spPr>
          <p:txBody>
            <a:bodyPr wrap="none" anchor="ctr"/>
            <a:lstStyle/>
            <a:p>
              <a:endParaRPr lang="en-US">
                <a:latin typeface="Calibri" pitchFamily="34" charset="0"/>
              </a:endParaRPr>
            </a:p>
          </p:txBody>
        </p:sp>
      </p:grpSp>
      <p:grpSp>
        <p:nvGrpSpPr>
          <p:cNvPr id="3" name="Group 30"/>
          <p:cNvGrpSpPr>
            <a:grpSpLocks/>
          </p:cNvGrpSpPr>
          <p:nvPr/>
        </p:nvGrpSpPr>
        <p:grpSpPr bwMode="auto">
          <a:xfrm>
            <a:off x="3810000" y="5791200"/>
            <a:ext cx="838200" cy="384175"/>
            <a:chOff x="3810000" y="5791200"/>
            <a:chExt cx="838200" cy="383977"/>
          </a:xfrm>
        </p:grpSpPr>
        <p:sp>
          <p:nvSpPr>
            <p:cNvPr id="24602" name="Text Box 12"/>
            <p:cNvSpPr txBox="1">
              <a:spLocks noChangeArrowheads="1"/>
            </p:cNvSpPr>
            <p:nvPr/>
          </p:nvSpPr>
          <p:spPr bwMode="auto">
            <a:xfrm>
              <a:off x="3810000" y="5867400"/>
              <a:ext cx="685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a:latin typeface="Calibri" pitchFamily="34" charset="0"/>
                </a:rPr>
                <a:t>Books</a:t>
              </a:r>
            </a:p>
          </p:txBody>
        </p:sp>
        <p:sp>
          <p:nvSpPr>
            <p:cNvPr id="24603" name="Oval 13"/>
            <p:cNvSpPr>
              <a:spLocks noChangeArrowheads="1"/>
            </p:cNvSpPr>
            <p:nvPr/>
          </p:nvSpPr>
          <p:spPr bwMode="auto">
            <a:xfrm>
              <a:off x="4495800" y="5791200"/>
              <a:ext cx="152400" cy="152400"/>
            </a:xfrm>
            <a:prstGeom prst="ellipse">
              <a:avLst/>
            </a:prstGeom>
            <a:solidFill>
              <a:srgbClr val="0000CC"/>
            </a:solidFill>
            <a:ln w="12700">
              <a:solidFill>
                <a:schemeClr val="tx1"/>
              </a:solidFill>
              <a:round/>
              <a:headEnd type="none" w="sm" len="sm"/>
              <a:tailEnd type="none" w="sm" len="sm"/>
            </a:ln>
          </p:spPr>
          <p:txBody>
            <a:bodyPr wrap="none" anchor="ctr"/>
            <a:lstStyle/>
            <a:p>
              <a:endParaRPr lang="en-US">
                <a:latin typeface="Calibri" pitchFamily="34" charset="0"/>
              </a:endParaRPr>
            </a:p>
          </p:txBody>
        </p:sp>
      </p:grpSp>
      <p:grpSp>
        <p:nvGrpSpPr>
          <p:cNvPr id="4" name="Group 14"/>
          <p:cNvGrpSpPr>
            <a:grpSpLocks/>
          </p:cNvGrpSpPr>
          <p:nvPr/>
        </p:nvGrpSpPr>
        <p:grpSpPr bwMode="auto">
          <a:xfrm>
            <a:off x="5029200" y="5791200"/>
            <a:ext cx="838200" cy="381000"/>
            <a:chOff x="3168" y="3648"/>
            <a:chExt cx="528" cy="240"/>
          </a:xfrm>
        </p:grpSpPr>
        <p:sp>
          <p:nvSpPr>
            <p:cNvPr id="24600" name="Text Box 15"/>
            <p:cNvSpPr txBox="1">
              <a:spLocks noChangeArrowheads="1"/>
            </p:cNvSpPr>
            <p:nvPr/>
          </p:nvSpPr>
          <p:spPr bwMode="auto">
            <a:xfrm>
              <a:off x="3168" y="3696"/>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a:latin typeface="Calibri" pitchFamily="34" charset="0"/>
                </a:rPr>
                <a:t>Movies</a:t>
              </a:r>
            </a:p>
          </p:txBody>
        </p:sp>
        <p:sp>
          <p:nvSpPr>
            <p:cNvPr id="24601" name="Oval 16"/>
            <p:cNvSpPr>
              <a:spLocks noChangeArrowheads="1"/>
            </p:cNvSpPr>
            <p:nvPr/>
          </p:nvSpPr>
          <p:spPr bwMode="auto">
            <a:xfrm>
              <a:off x="3600" y="3648"/>
              <a:ext cx="96" cy="96"/>
            </a:xfrm>
            <a:prstGeom prst="ellipse">
              <a:avLst/>
            </a:prstGeom>
            <a:solidFill>
              <a:srgbClr val="0000CC"/>
            </a:solidFill>
            <a:ln w="12700">
              <a:solidFill>
                <a:schemeClr val="tx1"/>
              </a:solidFill>
              <a:round/>
              <a:headEnd type="none" w="sm" len="sm"/>
              <a:tailEnd type="none" w="sm" len="sm"/>
            </a:ln>
          </p:spPr>
          <p:txBody>
            <a:bodyPr wrap="none" anchor="ctr"/>
            <a:lstStyle/>
            <a:p>
              <a:endParaRPr lang="en-US">
                <a:latin typeface="Calibri" pitchFamily="34" charset="0"/>
              </a:endParaRPr>
            </a:p>
          </p:txBody>
        </p:sp>
      </p:grpSp>
      <p:grpSp>
        <p:nvGrpSpPr>
          <p:cNvPr id="5" name="Group 17"/>
          <p:cNvGrpSpPr>
            <a:grpSpLocks/>
          </p:cNvGrpSpPr>
          <p:nvPr/>
        </p:nvGrpSpPr>
        <p:grpSpPr bwMode="auto">
          <a:xfrm>
            <a:off x="1295400" y="5791200"/>
            <a:ext cx="838200" cy="381000"/>
            <a:chOff x="816" y="3648"/>
            <a:chExt cx="528" cy="240"/>
          </a:xfrm>
        </p:grpSpPr>
        <p:sp>
          <p:nvSpPr>
            <p:cNvPr id="24598" name="Oval 18"/>
            <p:cNvSpPr>
              <a:spLocks noChangeArrowheads="1"/>
            </p:cNvSpPr>
            <p:nvPr/>
          </p:nvSpPr>
          <p:spPr bwMode="auto">
            <a:xfrm>
              <a:off x="1248" y="3648"/>
              <a:ext cx="96" cy="96"/>
            </a:xfrm>
            <a:prstGeom prst="ellipse">
              <a:avLst/>
            </a:prstGeom>
            <a:solidFill>
              <a:srgbClr val="0000CC"/>
            </a:solidFill>
            <a:ln w="12700">
              <a:solidFill>
                <a:schemeClr val="tx1"/>
              </a:solidFill>
              <a:round/>
              <a:headEnd type="none" w="sm" len="sm"/>
              <a:tailEnd type="none" w="sm" len="sm"/>
            </a:ln>
          </p:spPr>
          <p:txBody>
            <a:bodyPr wrap="none" anchor="ctr"/>
            <a:lstStyle/>
            <a:p>
              <a:endParaRPr lang="en-US">
                <a:latin typeface="Calibri" pitchFamily="34" charset="0"/>
              </a:endParaRPr>
            </a:p>
          </p:txBody>
        </p:sp>
        <p:sp>
          <p:nvSpPr>
            <p:cNvPr id="24599" name="Text Box 19"/>
            <p:cNvSpPr txBox="1">
              <a:spLocks noChangeArrowheads="1"/>
            </p:cNvSpPr>
            <p:nvPr/>
          </p:nvSpPr>
          <p:spPr bwMode="auto">
            <a:xfrm>
              <a:off x="816" y="3696"/>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a:latin typeface="Calibri" pitchFamily="34" charset="0"/>
                </a:rPr>
                <a:t>Clothes</a:t>
              </a:r>
            </a:p>
          </p:txBody>
        </p:sp>
      </p:grpSp>
      <p:sp>
        <p:nvSpPr>
          <p:cNvPr id="594964" name="Text Box 20"/>
          <p:cNvSpPr txBox="1">
            <a:spLocks noChangeArrowheads="1"/>
          </p:cNvSpPr>
          <p:nvPr/>
        </p:nvSpPr>
        <p:spPr bwMode="auto">
          <a:xfrm>
            <a:off x="667871" y="3747807"/>
            <a:ext cx="3124200" cy="654050"/>
          </a:xfrm>
          <a:prstGeom prst="rect">
            <a:avLst/>
          </a:prstGeom>
          <a:solidFill>
            <a:srgbClr val="FFFF99"/>
          </a:solidFill>
          <a:ln w="12700">
            <a:solidFill>
              <a:srgbClr val="FFFF99"/>
            </a:solidFill>
            <a:miter lim="800000"/>
            <a:headEnd type="none" w="sm" len="sm"/>
            <a:tailEnd type="none" w="sm" len="sm"/>
          </a:ln>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b="1" dirty="0">
                <a:latin typeface="Calibri" pitchFamily="34" charset="0"/>
              </a:rPr>
              <a:t>1. When the price of Coke decreases…</a:t>
            </a:r>
          </a:p>
        </p:txBody>
      </p:sp>
      <p:sp>
        <p:nvSpPr>
          <p:cNvPr id="594968" name="Text Box 24"/>
          <p:cNvSpPr txBox="1">
            <a:spLocks noChangeArrowheads="1"/>
          </p:cNvSpPr>
          <p:nvPr/>
        </p:nvSpPr>
        <p:spPr bwMode="auto">
          <a:xfrm>
            <a:off x="3886200" y="3747807"/>
            <a:ext cx="1828800" cy="654050"/>
          </a:xfrm>
          <a:prstGeom prst="rect">
            <a:avLst/>
          </a:prstGeom>
          <a:solidFill>
            <a:srgbClr val="FFFF99"/>
          </a:solidFill>
          <a:ln w="12700">
            <a:solidFill>
              <a:srgbClr val="FFFF99"/>
            </a:solidFill>
            <a:miter lim="800000"/>
            <a:headEnd type="none" w="sm" len="sm"/>
            <a:tailEnd type="none" w="sm" len="sm"/>
          </a:ln>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b="1" dirty="0">
                <a:latin typeface="Calibri" pitchFamily="34" charset="0"/>
              </a:rPr>
              <a:t>2. Consumers feel richer…</a:t>
            </a:r>
          </a:p>
        </p:txBody>
      </p:sp>
      <p:sp>
        <p:nvSpPr>
          <p:cNvPr id="594969" name="Text Box 25"/>
          <p:cNvSpPr txBox="1">
            <a:spLocks noChangeArrowheads="1"/>
          </p:cNvSpPr>
          <p:nvPr/>
        </p:nvSpPr>
        <p:spPr bwMode="auto">
          <a:xfrm>
            <a:off x="5773271" y="3727450"/>
            <a:ext cx="3124200" cy="654050"/>
          </a:xfrm>
          <a:prstGeom prst="rect">
            <a:avLst/>
          </a:prstGeom>
          <a:solidFill>
            <a:srgbClr val="FFFF99"/>
          </a:solidFill>
          <a:ln w="12700">
            <a:solidFill>
              <a:srgbClr val="FFFF99"/>
            </a:solidFill>
            <a:miter lim="800000"/>
            <a:headEnd type="none" w="sm" len="sm"/>
            <a:tailEnd type="none" w="sm" len="sm"/>
          </a:ln>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b="1" dirty="0">
                <a:latin typeface="Calibri" pitchFamily="34" charset="0"/>
              </a:rPr>
              <a:t>3. Consumption of Coke and other normal goods increases</a:t>
            </a:r>
          </a:p>
        </p:txBody>
      </p:sp>
      <p:grpSp>
        <p:nvGrpSpPr>
          <p:cNvPr id="6" name="Group 21"/>
          <p:cNvGrpSpPr>
            <a:grpSpLocks/>
          </p:cNvGrpSpPr>
          <p:nvPr/>
        </p:nvGrpSpPr>
        <p:grpSpPr bwMode="auto">
          <a:xfrm>
            <a:off x="6400800" y="5791200"/>
            <a:ext cx="685800" cy="381000"/>
            <a:chOff x="4032" y="3648"/>
            <a:chExt cx="432" cy="240"/>
          </a:xfrm>
        </p:grpSpPr>
        <p:sp>
          <p:nvSpPr>
            <p:cNvPr id="24596" name="Text Box 22"/>
            <p:cNvSpPr txBox="1">
              <a:spLocks noChangeArrowheads="1"/>
            </p:cNvSpPr>
            <p:nvPr/>
          </p:nvSpPr>
          <p:spPr bwMode="auto">
            <a:xfrm>
              <a:off x="4032" y="3696"/>
              <a:ext cx="43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400">
                  <a:latin typeface="Calibri" pitchFamily="34" charset="0"/>
                </a:rPr>
                <a:t>Pepsi</a:t>
              </a:r>
            </a:p>
          </p:txBody>
        </p:sp>
        <p:sp>
          <p:nvSpPr>
            <p:cNvPr id="24597" name="Oval 23"/>
            <p:cNvSpPr>
              <a:spLocks noChangeArrowheads="1"/>
            </p:cNvSpPr>
            <p:nvPr/>
          </p:nvSpPr>
          <p:spPr bwMode="auto">
            <a:xfrm>
              <a:off x="4368" y="3648"/>
              <a:ext cx="96" cy="96"/>
            </a:xfrm>
            <a:prstGeom prst="ellipse">
              <a:avLst/>
            </a:prstGeom>
            <a:solidFill>
              <a:srgbClr val="0000CC"/>
            </a:solidFill>
            <a:ln w="12700">
              <a:solidFill>
                <a:schemeClr val="tx1"/>
              </a:solidFill>
              <a:round/>
              <a:headEnd type="none" w="sm" len="sm"/>
              <a:tailEnd type="none" w="sm" len="sm"/>
            </a:ln>
          </p:spPr>
          <p:txBody>
            <a:bodyPr wrap="none" anchor="ctr"/>
            <a:lstStyle/>
            <a:p>
              <a:endParaRPr lang="en-US">
                <a:latin typeface="Calibri" pitchFamily="34" charset="0"/>
              </a:endParaRPr>
            </a:p>
          </p:txBody>
        </p:sp>
      </p:grpSp>
    </p:spTree>
    <p:extLst>
      <p:ext uri="{BB962C8B-B14F-4D97-AF65-F5344CB8AC3E}">
        <p14:creationId xmlns:p14="http://schemas.microsoft.com/office/powerpoint/2010/main" val="26547355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495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594964"/>
                                        </p:tgtEl>
                                        <p:attrNameLst>
                                          <p:attrName>style.visibility</p:attrName>
                                        </p:attrNameLst>
                                      </p:cBhvr>
                                      <p:to>
                                        <p:strVal val="visible"/>
                                      </p:to>
                                    </p:set>
                                    <p:animEffect transition="in" filter="dissolve">
                                      <p:cBhvr>
                                        <p:cTn id="31" dur="500"/>
                                        <p:tgtEl>
                                          <p:spTgt spid="59496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594968"/>
                                        </p:tgtEl>
                                        <p:attrNameLst>
                                          <p:attrName>style.visibility</p:attrName>
                                        </p:attrNameLst>
                                      </p:cBhvr>
                                      <p:to>
                                        <p:strVal val="visible"/>
                                      </p:to>
                                    </p:set>
                                    <p:animEffect transition="in" filter="dissolve">
                                      <p:cBhvr>
                                        <p:cTn id="36" dur="500"/>
                                        <p:tgtEl>
                                          <p:spTgt spid="59496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594969"/>
                                        </p:tgtEl>
                                        <p:attrNameLst>
                                          <p:attrName>style.visibility</p:attrName>
                                        </p:attrNameLst>
                                      </p:cBhvr>
                                      <p:to>
                                        <p:strVal val="visible"/>
                                      </p:to>
                                    </p:set>
                                    <p:animEffect transition="in" filter="dissolve">
                                      <p:cBhvr>
                                        <p:cTn id="41" dur="500"/>
                                        <p:tgtEl>
                                          <p:spTgt spid="59496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25627"/>
                                        </p:tgtEl>
                                        <p:attrNameLst>
                                          <p:attrName>style.visibility</p:attrName>
                                        </p:attrNameLst>
                                      </p:cBhvr>
                                      <p:to>
                                        <p:strVal val="visible"/>
                                      </p:to>
                                    </p:set>
                                    <p:animEffect transition="in" filter="wipe(down)">
                                      <p:cBhvr>
                                        <p:cTn id="46" dur="500"/>
                                        <p:tgtEl>
                                          <p:spTgt spid="25627"/>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25626"/>
                                        </p:tgtEl>
                                        <p:attrNameLst>
                                          <p:attrName>style.visibility</p:attrName>
                                        </p:attrNameLst>
                                      </p:cBhvr>
                                      <p:to>
                                        <p:strVal val="visible"/>
                                      </p:to>
                                    </p:set>
                                    <p:animEffect transition="in" filter="wipe(down)">
                                      <p:cBhvr>
                                        <p:cTn id="49" dur="500"/>
                                        <p:tgtEl>
                                          <p:spTgt spid="25626"/>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25629"/>
                                        </p:tgtEl>
                                        <p:attrNameLst>
                                          <p:attrName>style.visibility</p:attrName>
                                        </p:attrNameLst>
                                      </p:cBhvr>
                                      <p:to>
                                        <p:strVal val="visible"/>
                                      </p:to>
                                    </p:set>
                                    <p:animEffect transition="in" filter="wipe(down)">
                                      <p:cBhvr>
                                        <p:cTn id="52" dur="500"/>
                                        <p:tgtEl>
                                          <p:spTgt spid="25629"/>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25630"/>
                                        </p:tgtEl>
                                        <p:attrNameLst>
                                          <p:attrName>style.visibility</p:attrName>
                                        </p:attrNameLst>
                                      </p:cBhvr>
                                      <p:to>
                                        <p:strVal val="visible"/>
                                      </p:to>
                                    </p:set>
                                    <p:animEffect transition="in" filter="wipe(down)">
                                      <p:cBhvr>
                                        <p:cTn id="55" dur="500"/>
                                        <p:tgtEl>
                                          <p:spTgt spid="25630"/>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1" fill="hold" grpId="0" nodeType="clickEffect">
                                  <p:stCondLst>
                                    <p:cond delay="0"/>
                                  </p:stCondLst>
                                  <p:childTnLst>
                                    <p:set>
                                      <p:cBhvr>
                                        <p:cTn id="59" dur="1" fill="hold">
                                          <p:stCondLst>
                                            <p:cond delay="0"/>
                                          </p:stCondLst>
                                        </p:cTn>
                                        <p:tgtEl>
                                          <p:spTgt spid="25628"/>
                                        </p:tgtEl>
                                        <p:attrNameLst>
                                          <p:attrName>style.visibility</p:attrName>
                                        </p:attrNameLst>
                                      </p:cBhvr>
                                      <p:to>
                                        <p:strVal val="visible"/>
                                      </p:to>
                                    </p:set>
                                    <p:animEffect transition="in" filter="wipe(up)">
                                      <p:cBhvr>
                                        <p:cTn id="60" dur="500"/>
                                        <p:tgtEl>
                                          <p:spTgt spid="25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26" grpId="0" animBg="1"/>
      <p:bldP spid="25627" grpId="0" animBg="1"/>
      <p:bldP spid="25628" grpId="0" animBg="1"/>
      <p:bldP spid="25629" grpId="0" animBg="1"/>
      <p:bldP spid="25630" grpId="0" animBg="1"/>
      <p:bldP spid="594950" grpId="0" animBg="1"/>
      <p:bldP spid="594964" grpId="0" animBg="1"/>
      <p:bldP spid="594968" grpId="0" animBg="1"/>
      <p:bldP spid="59496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8115300" cy="1485900"/>
          </a:xfrm>
        </p:spPr>
        <p:txBody>
          <a:bodyPr/>
          <a:lstStyle/>
          <a:p>
            <a:r>
              <a:rPr lang="en-US" b="1" dirty="0" smtClean="0"/>
              <a:t>Exceptions to the Law of demand</a:t>
            </a:r>
            <a:endParaRPr lang="en-US" b="1" dirty="0"/>
          </a:p>
        </p:txBody>
      </p:sp>
      <p:sp>
        <p:nvSpPr>
          <p:cNvPr id="3" name="Content Placeholder 2"/>
          <p:cNvSpPr>
            <a:spLocks noGrp="1"/>
          </p:cNvSpPr>
          <p:nvPr>
            <p:ph idx="1"/>
          </p:nvPr>
        </p:nvSpPr>
        <p:spPr>
          <a:xfrm>
            <a:off x="685800" y="2286000"/>
            <a:ext cx="8382000" cy="4267200"/>
          </a:xfrm>
        </p:spPr>
        <p:txBody>
          <a:bodyPr>
            <a:normAutofit/>
          </a:bodyPr>
          <a:lstStyle/>
          <a:p>
            <a:pPr algn="just">
              <a:buNone/>
            </a:pPr>
            <a:r>
              <a:rPr lang="en-US" sz="2400" dirty="0" smtClean="0"/>
              <a:t>Situations where there will be a </a:t>
            </a:r>
            <a:r>
              <a:rPr lang="en-US" sz="2400" b="1" u="sng" dirty="0" smtClean="0">
                <a:solidFill>
                  <a:srgbClr val="FF0000"/>
                </a:solidFill>
              </a:rPr>
              <a:t>positive relationship</a:t>
            </a:r>
            <a:r>
              <a:rPr lang="en-US" sz="2400" dirty="0" smtClean="0"/>
              <a:t> between quantity demanded and the price of the product.</a:t>
            </a:r>
          </a:p>
          <a:p>
            <a:pPr>
              <a:buNone/>
            </a:pPr>
            <a:endParaRPr lang="en-US" sz="2400" dirty="0" smtClean="0"/>
          </a:p>
          <a:p>
            <a:pPr lvl="1"/>
            <a:r>
              <a:rPr lang="en-US" sz="2400" dirty="0" err="1" smtClean="0"/>
              <a:t>Veblin</a:t>
            </a:r>
            <a:r>
              <a:rPr lang="en-US" sz="2400" dirty="0" smtClean="0"/>
              <a:t> effect : Goods having prestige value</a:t>
            </a:r>
          </a:p>
          <a:p>
            <a:pPr lvl="1">
              <a:buNone/>
            </a:pPr>
            <a:endParaRPr lang="en-US" sz="2400" dirty="0" smtClean="0"/>
          </a:p>
          <a:p>
            <a:pPr lvl="1"/>
            <a:r>
              <a:rPr lang="en-US" sz="2400" dirty="0" err="1" smtClean="0"/>
              <a:t>Giffin</a:t>
            </a:r>
            <a:r>
              <a:rPr lang="en-US" sz="2400" dirty="0" smtClean="0"/>
              <a:t> goods/effect</a:t>
            </a:r>
            <a:endParaRPr lang="en-US" sz="24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8578" y="2743200"/>
            <a:ext cx="7200900" cy="1485900"/>
          </a:xfrm>
        </p:spPr>
        <p:txBody>
          <a:bodyPr/>
          <a:lstStyle/>
          <a:p>
            <a:pPr algn="ctr"/>
            <a:r>
              <a:rPr lang="en-US" dirty="0" smtClean="0"/>
              <a:t>The END</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574804597"/>
      </p:ext>
    </p:extLst>
  </p:cSld>
  <p:clrMapOvr>
    <a:masterClrMapping/>
  </p:clrMapOvr>
  <p:timing>
    <p:tnLst>
      <p:par>
        <p:cTn id="1" dur="indefinite" restart="never" nodeType="tmRoot"/>
      </p:par>
    </p:tnLst>
  </p:timing>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TM10001105[[fn=Crop]]</Template>
  <TotalTime>1041</TotalTime>
  <Words>1205</Words>
  <Application>Microsoft Office PowerPoint</Application>
  <PresentationFormat>On-screen Show (4:3)</PresentationFormat>
  <Paragraphs>243</Paragraphs>
  <Slides>27</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Copperplate Gothic Bold</vt:lpstr>
      <vt:lpstr>Franklin Gothic Book</vt:lpstr>
      <vt:lpstr>Times New Roman</vt:lpstr>
      <vt:lpstr>Crop</vt:lpstr>
      <vt:lpstr> Fundamentals of Economics</vt:lpstr>
      <vt:lpstr>Theory of Demand </vt:lpstr>
      <vt:lpstr>Demand</vt:lpstr>
      <vt:lpstr>Determinants of Demand.</vt:lpstr>
      <vt:lpstr>Demand as a Function</vt:lpstr>
      <vt:lpstr>Quantity Demanded</vt:lpstr>
      <vt:lpstr>Demand schedule vs. Demand curve</vt:lpstr>
      <vt:lpstr>Ex: Individual Demand Schedule and Demand Curve</vt:lpstr>
      <vt:lpstr>Market Demand is the Sum of Individual Demands</vt:lpstr>
      <vt:lpstr>Market demand</vt:lpstr>
      <vt:lpstr>Law of Demand</vt:lpstr>
      <vt:lpstr>law of diminishing marginal utility </vt:lpstr>
      <vt:lpstr>PowerPoint Presentation</vt:lpstr>
      <vt:lpstr>The following table will make the law of diminishing marginal utility more clear. </vt:lpstr>
      <vt:lpstr>PowerPoint Presentation</vt:lpstr>
      <vt:lpstr>Effects of the Law of Demand</vt:lpstr>
      <vt:lpstr>Shifts in the Market Demand Curve</vt:lpstr>
      <vt:lpstr>Shifts in the Demand Curve</vt:lpstr>
      <vt:lpstr>Shifts in the Demand Curve</vt:lpstr>
      <vt:lpstr>The Law of Demand—Explanations </vt:lpstr>
      <vt:lpstr>Substitution Effect</vt:lpstr>
      <vt:lpstr>PowerPoint Presentation</vt:lpstr>
      <vt:lpstr>Income Effect</vt:lpstr>
      <vt:lpstr>Lower Prices = Higher Income</vt:lpstr>
      <vt:lpstr>Income Effect</vt:lpstr>
      <vt:lpstr>Exceptions to the Law of demand</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Economics</dc:title>
  <dc:creator>DELL</dc:creator>
  <cp:lastModifiedBy>Lahiru Gunathilake</cp:lastModifiedBy>
  <cp:revision>54</cp:revision>
  <dcterms:created xsi:type="dcterms:W3CDTF">2006-08-16T00:00:00Z</dcterms:created>
  <dcterms:modified xsi:type="dcterms:W3CDTF">2021-06-09T02:58:56Z</dcterms:modified>
</cp:coreProperties>
</file>