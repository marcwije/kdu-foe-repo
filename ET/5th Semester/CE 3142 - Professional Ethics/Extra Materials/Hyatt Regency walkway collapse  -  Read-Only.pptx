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5" r:id="rId9"/>
    <p:sldId id="267" r:id="rId10"/>
    <p:sldId id="263"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162" autoAdjust="0"/>
  </p:normalViewPr>
  <p:slideViewPr>
    <p:cSldViewPr snapToGrid="0">
      <p:cViewPr varScale="1">
        <p:scale>
          <a:sx n="77" d="100"/>
          <a:sy n="77" d="100"/>
        </p:scale>
        <p:origin x="9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F3418D-625F-44D2-874C-0C5ED1CA68CD}" type="datetimeFigureOut">
              <a:rPr lang="en-US" smtClean="0"/>
              <a:t>3/3/2024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743584-E9D4-4332-BA74-6B956E5888B0}" type="slidenum">
              <a:rPr lang="en-US" smtClean="0"/>
              <a:t>‹#›</a:t>
            </a:fld>
            <a:endParaRPr lang="en-US"/>
          </a:p>
        </p:txBody>
      </p:sp>
    </p:spTree>
    <p:extLst>
      <p:ext uri="{BB962C8B-B14F-4D97-AF65-F5344CB8AC3E}">
        <p14:creationId xmlns:p14="http://schemas.microsoft.com/office/powerpoint/2010/main" val="2586559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743584-E9D4-4332-BA74-6B956E5888B0}" type="slidenum">
              <a:rPr lang="en-US" smtClean="0"/>
              <a:t>11</a:t>
            </a:fld>
            <a:endParaRPr lang="en-US"/>
          </a:p>
        </p:txBody>
      </p:sp>
    </p:spTree>
    <p:extLst>
      <p:ext uri="{BB962C8B-B14F-4D97-AF65-F5344CB8AC3E}">
        <p14:creationId xmlns:p14="http://schemas.microsoft.com/office/powerpoint/2010/main" val="3801421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E1C59EE-11C4-4E67-89AE-C3281AC40767}"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2DAD35-DC66-4A8E-9B41-13BE640F5920}" type="slidenum">
              <a:rPr lang="en-US" smtClean="0"/>
              <a:t>‹#›</a:t>
            </a:fld>
            <a:endParaRPr lang="en-US"/>
          </a:p>
        </p:txBody>
      </p:sp>
    </p:spTree>
    <p:extLst>
      <p:ext uri="{BB962C8B-B14F-4D97-AF65-F5344CB8AC3E}">
        <p14:creationId xmlns:p14="http://schemas.microsoft.com/office/powerpoint/2010/main" val="3688746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1C59EE-11C4-4E67-89AE-C3281AC40767}"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2DAD35-DC66-4A8E-9B41-13BE640F5920}" type="slidenum">
              <a:rPr lang="en-US" smtClean="0"/>
              <a:t>‹#›</a:t>
            </a:fld>
            <a:endParaRPr lang="en-US"/>
          </a:p>
        </p:txBody>
      </p:sp>
    </p:spTree>
    <p:extLst>
      <p:ext uri="{BB962C8B-B14F-4D97-AF65-F5344CB8AC3E}">
        <p14:creationId xmlns:p14="http://schemas.microsoft.com/office/powerpoint/2010/main" val="3449475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1C59EE-11C4-4E67-89AE-C3281AC40767}"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2DAD35-DC66-4A8E-9B41-13BE640F5920}" type="slidenum">
              <a:rPr lang="en-US" smtClean="0"/>
              <a:t>‹#›</a:t>
            </a:fld>
            <a:endParaRPr lang="en-US"/>
          </a:p>
        </p:txBody>
      </p:sp>
    </p:spTree>
    <p:extLst>
      <p:ext uri="{BB962C8B-B14F-4D97-AF65-F5344CB8AC3E}">
        <p14:creationId xmlns:p14="http://schemas.microsoft.com/office/powerpoint/2010/main" val="3919057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1C59EE-11C4-4E67-89AE-C3281AC40767}"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2DAD35-DC66-4A8E-9B41-13BE640F5920}" type="slidenum">
              <a:rPr lang="en-US" smtClean="0"/>
              <a:t>‹#›</a:t>
            </a:fld>
            <a:endParaRPr lang="en-US"/>
          </a:p>
        </p:txBody>
      </p:sp>
    </p:spTree>
    <p:extLst>
      <p:ext uri="{BB962C8B-B14F-4D97-AF65-F5344CB8AC3E}">
        <p14:creationId xmlns:p14="http://schemas.microsoft.com/office/powerpoint/2010/main" val="3792236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1C59EE-11C4-4E67-89AE-C3281AC40767}" type="datetimeFigureOut">
              <a:rPr lang="en-US" smtClean="0"/>
              <a:t>3/3/2024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2DAD35-DC66-4A8E-9B41-13BE640F5920}" type="slidenum">
              <a:rPr lang="en-US" smtClean="0"/>
              <a:t>‹#›</a:t>
            </a:fld>
            <a:endParaRPr lang="en-US"/>
          </a:p>
        </p:txBody>
      </p:sp>
    </p:spTree>
    <p:extLst>
      <p:ext uri="{BB962C8B-B14F-4D97-AF65-F5344CB8AC3E}">
        <p14:creationId xmlns:p14="http://schemas.microsoft.com/office/powerpoint/2010/main" val="3448113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E1C59EE-11C4-4E67-89AE-C3281AC40767}" type="datetimeFigureOut">
              <a:rPr lang="en-US" smtClean="0"/>
              <a:t>3/3/2024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2DAD35-DC66-4A8E-9B41-13BE640F5920}" type="slidenum">
              <a:rPr lang="en-US" smtClean="0"/>
              <a:t>‹#›</a:t>
            </a:fld>
            <a:endParaRPr lang="en-US"/>
          </a:p>
        </p:txBody>
      </p:sp>
    </p:spTree>
    <p:extLst>
      <p:ext uri="{BB962C8B-B14F-4D97-AF65-F5344CB8AC3E}">
        <p14:creationId xmlns:p14="http://schemas.microsoft.com/office/powerpoint/2010/main" val="651530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1C59EE-11C4-4E67-89AE-C3281AC40767}" type="datetimeFigureOut">
              <a:rPr lang="en-US" smtClean="0"/>
              <a:t>3/3/2024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2DAD35-DC66-4A8E-9B41-13BE640F5920}" type="slidenum">
              <a:rPr lang="en-US" smtClean="0"/>
              <a:t>‹#›</a:t>
            </a:fld>
            <a:endParaRPr lang="en-US"/>
          </a:p>
        </p:txBody>
      </p:sp>
    </p:spTree>
    <p:extLst>
      <p:ext uri="{BB962C8B-B14F-4D97-AF65-F5344CB8AC3E}">
        <p14:creationId xmlns:p14="http://schemas.microsoft.com/office/powerpoint/2010/main" val="10831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1C59EE-11C4-4E67-89AE-C3281AC40767}"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2DAD35-DC66-4A8E-9B41-13BE640F5920}" type="slidenum">
              <a:rPr lang="en-US" smtClean="0"/>
              <a:t>‹#›</a:t>
            </a:fld>
            <a:endParaRPr lang="en-US"/>
          </a:p>
        </p:txBody>
      </p:sp>
    </p:spTree>
    <p:extLst>
      <p:ext uri="{BB962C8B-B14F-4D97-AF65-F5344CB8AC3E}">
        <p14:creationId xmlns:p14="http://schemas.microsoft.com/office/powerpoint/2010/main" val="2657345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1C59EE-11C4-4E67-89AE-C3281AC40767}"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2DAD35-DC66-4A8E-9B41-13BE640F5920}" type="slidenum">
              <a:rPr lang="en-US" smtClean="0"/>
              <a:t>‹#›</a:t>
            </a:fld>
            <a:endParaRPr lang="en-US"/>
          </a:p>
        </p:txBody>
      </p:sp>
    </p:spTree>
    <p:extLst>
      <p:ext uri="{BB962C8B-B14F-4D97-AF65-F5344CB8AC3E}">
        <p14:creationId xmlns:p14="http://schemas.microsoft.com/office/powerpoint/2010/main" val="1474680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1C59EE-11C4-4E67-89AE-C3281AC40767}"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2DAD35-DC66-4A8E-9B41-13BE640F5920}" type="slidenum">
              <a:rPr lang="en-US" smtClean="0"/>
              <a:t>‹#›</a:t>
            </a:fld>
            <a:endParaRPr lang="en-US"/>
          </a:p>
        </p:txBody>
      </p:sp>
    </p:spTree>
    <p:extLst>
      <p:ext uri="{BB962C8B-B14F-4D97-AF65-F5344CB8AC3E}">
        <p14:creationId xmlns:p14="http://schemas.microsoft.com/office/powerpoint/2010/main" val="3225318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1C59EE-11C4-4E67-89AE-C3281AC40767}"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2DAD35-DC66-4A8E-9B41-13BE640F5920}" type="slidenum">
              <a:rPr lang="en-US" smtClean="0"/>
              <a:t>‹#›</a:t>
            </a:fld>
            <a:endParaRPr lang="en-US"/>
          </a:p>
        </p:txBody>
      </p:sp>
    </p:spTree>
    <p:extLst>
      <p:ext uri="{BB962C8B-B14F-4D97-AF65-F5344CB8AC3E}">
        <p14:creationId xmlns:p14="http://schemas.microsoft.com/office/powerpoint/2010/main" val="3992684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1C59EE-11C4-4E67-89AE-C3281AC40767}" type="datetimeFigureOut">
              <a:rPr lang="en-US" smtClean="0"/>
              <a:t>3/3/2024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2DAD35-DC66-4A8E-9B41-13BE640F5920}" type="slidenum">
              <a:rPr lang="en-US" smtClean="0"/>
              <a:t>‹#›</a:t>
            </a:fld>
            <a:endParaRPr lang="en-US"/>
          </a:p>
        </p:txBody>
      </p:sp>
    </p:spTree>
    <p:extLst>
      <p:ext uri="{BB962C8B-B14F-4D97-AF65-F5344CB8AC3E}">
        <p14:creationId xmlns:p14="http://schemas.microsoft.com/office/powerpoint/2010/main" val="1404019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Kansas_City,_Missouri" TargetMode="External"/><Relationship Id="rId2" Type="http://schemas.openxmlformats.org/officeDocument/2006/relationships/hyperlink" Target="https://en.wikipedia.org/wiki/Hyatt_Regency_Kansas_City" TargetMode="External"/><Relationship Id="rId1" Type="http://schemas.openxmlformats.org/officeDocument/2006/relationships/slideLayout" Target="../slideLayouts/slideLayout2.xml"/><Relationship Id="rId6" Type="http://schemas.openxmlformats.org/officeDocument/2006/relationships/hyperlink" Target="https://en.wikipedia.org/wiki/September_11_attacks" TargetMode="External"/><Relationship Id="rId5" Type="http://schemas.openxmlformats.org/officeDocument/2006/relationships/hyperlink" Target="https://en.wikipedia.org/wiki/Collapse_of_the_World_Trade_Center" TargetMode="External"/><Relationship Id="rId4" Type="http://schemas.openxmlformats.org/officeDocument/2006/relationships/hyperlink" Target="https://en.wikipedia.org/wiki/Tea_dance"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en.wikipedia.org/wiki/Tea_danc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Box_girder" TargetMode="External"/><Relationship Id="rId2" Type="http://schemas.openxmlformats.org/officeDocument/2006/relationships/hyperlink" Target="https://en.wikipedia.org/wiki/Tie_rod"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Hallmark_Cards" TargetMode="External"/><Relationship Id="rId2" Type="http://schemas.openxmlformats.org/officeDocument/2006/relationships/hyperlink" Target="https://en.wikipedia.org/wiki/American_Society_of_Civil_Engineer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Hyatt_Regency_walkway_collaps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98897"/>
            <a:ext cx="9144000" cy="2387600"/>
          </a:xfrm>
        </p:spPr>
        <p:txBody>
          <a:bodyPr>
            <a:normAutofit fontScale="90000"/>
          </a:bodyPr>
          <a:lstStyle/>
          <a:p>
            <a:r>
              <a:rPr lang="en-US" b="1" dirty="0">
                <a:solidFill>
                  <a:schemeClr val="accent2">
                    <a:lumMod val="75000"/>
                  </a:schemeClr>
                </a:solidFill>
              </a:rPr>
              <a:t>Hyatt Regency walkway collapse</a:t>
            </a:r>
            <a:br>
              <a:rPr lang="en-US" dirty="0"/>
            </a:br>
            <a:endParaRPr lang="en-US" dirty="0"/>
          </a:p>
        </p:txBody>
      </p:sp>
      <p:pic>
        <p:nvPicPr>
          <p:cNvPr id="4" name="Picture 3">
            <a:extLst>
              <a:ext uri="{FF2B5EF4-FFF2-40B4-BE49-F238E27FC236}">
                <a16:creationId xmlns:a16="http://schemas.microsoft.com/office/drawing/2014/main" id="{C1E016D5-49F1-41DF-82DA-6D0447947313}"/>
              </a:ext>
            </a:extLst>
          </p:cNvPr>
          <p:cNvPicPr>
            <a:picLocks noChangeAspect="1"/>
          </p:cNvPicPr>
          <p:nvPr/>
        </p:nvPicPr>
        <p:blipFill>
          <a:blip r:embed="rId2"/>
          <a:stretch>
            <a:fillRect/>
          </a:stretch>
        </p:blipFill>
        <p:spPr>
          <a:xfrm>
            <a:off x="3269974" y="2991677"/>
            <a:ext cx="4969565" cy="3590097"/>
          </a:xfrm>
          <a:prstGeom prst="rect">
            <a:avLst/>
          </a:prstGeom>
        </p:spPr>
      </p:pic>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687972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5101"/>
            <a:ext cx="10515600" cy="935038"/>
          </a:xfrm>
        </p:spPr>
        <p:txBody>
          <a:bodyPr/>
          <a:lstStyle/>
          <a:p>
            <a:r>
              <a:rPr lang="en-US" dirty="0"/>
              <a:t>BACKGROUND</a:t>
            </a:r>
          </a:p>
        </p:txBody>
      </p:sp>
      <p:sp>
        <p:nvSpPr>
          <p:cNvPr id="3" name="Content Placeholder 2"/>
          <p:cNvSpPr>
            <a:spLocks noGrp="1"/>
          </p:cNvSpPr>
          <p:nvPr>
            <p:ph idx="1"/>
          </p:nvPr>
        </p:nvSpPr>
        <p:spPr>
          <a:xfrm>
            <a:off x="838200" y="1100138"/>
            <a:ext cx="10515600" cy="5429249"/>
          </a:xfrm>
        </p:spPr>
        <p:txBody>
          <a:bodyPr>
            <a:normAutofit fontScale="92500"/>
          </a:bodyPr>
          <a:lstStyle/>
          <a:p>
            <a:r>
              <a:rPr lang="en-US" dirty="0"/>
              <a:t>On July 17, 1981, two walkways collapsed at the </a:t>
            </a:r>
            <a:r>
              <a:rPr lang="en-US" dirty="0">
                <a:hlinkClick r:id="rId2" tooltip="Hyatt Regency Kansas City"/>
              </a:rPr>
              <a:t>Hyatt Regency Kansas City</a:t>
            </a:r>
            <a:r>
              <a:rPr lang="en-US" dirty="0"/>
              <a:t> hotel in </a:t>
            </a:r>
            <a:r>
              <a:rPr lang="en-US" dirty="0">
                <a:hlinkClick r:id="rId3" tooltip="Kansas City, Missouri"/>
              </a:rPr>
              <a:t>Kansas City, Missouri</a:t>
            </a:r>
            <a:r>
              <a:rPr lang="en-US" dirty="0"/>
              <a:t>, one directly above the other. They crashed onto a </a:t>
            </a:r>
            <a:r>
              <a:rPr lang="en-US" dirty="0">
                <a:hlinkClick r:id="rId4" tooltip="Tea dance"/>
              </a:rPr>
              <a:t>tea dance</a:t>
            </a:r>
            <a:r>
              <a:rPr lang="en-US" dirty="0"/>
              <a:t> being held in the hotel's lobby, killing 114 and injuring 216. It was the deadliest structural collapse in American history until the </a:t>
            </a:r>
            <a:r>
              <a:rPr lang="en-US" dirty="0">
                <a:hlinkClick r:id="rId5" tooltip="Collapse of the World Trade Center"/>
              </a:rPr>
              <a:t>collapse of the World Trade Center</a:t>
            </a:r>
            <a:r>
              <a:rPr lang="en-US" dirty="0"/>
              <a:t> towers </a:t>
            </a:r>
            <a:r>
              <a:rPr lang="en-US" u="sng" dirty="0">
                <a:hlinkClick r:id="rId6"/>
              </a:rPr>
              <a:t>20 years later</a:t>
            </a:r>
            <a:r>
              <a:rPr lang="en-US" dirty="0"/>
              <a:t>.</a:t>
            </a:r>
          </a:p>
          <a:p>
            <a:r>
              <a:rPr lang="en-US" dirty="0"/>
              <a:t>Construction began in May 1978 on the 40-story </a:t>
            </a:r>
            <a:r>
              <a:rPr lang="en-US" dirty="0">
                <a:hlinkClick r:id="rId2" tooltip="Hyatt Regency Kansas City"/>
              </a:rPr>
              <a:t>Hyatt Regency Kansas City</a:t>
            </a:r>
            <a:r>
              <a:rPr lang="en-US" dirty="0"/>
              <a:t>, and the hotel officially opened on July 1, 1980.</a:t>
            </a:r>
          </a:p>
          <a:p>
            <a:r>
              <a:rPr lang="en-US" dirty="0"/>
              <a:t>The hotel's lobby was one of its defining features, which incorporated a multi-story atrium spanned by elevated walkways suspended from the ceiling. These steel, glass, and concrete crossings connected the second, third, and fourth floors between the north and south wings. The walkways were approximately 120 </a:t>
            </a:r>
            <a:r>
              <a:rPr lang="en-US" dirty="0" err="1"/>
              <a:t>ft</a:t>
            </a:r>
            <a:r>
              <a:rPr lang="en-US" dirty="0"/>
              <a:t> (37 m) long and weighed approximately 64,000 </a:t>
            </a:r>
            <a:r>
              <a:rPr lang="en-US" dirty="0" err="1"/>
              <a:t>lb</a:t>
            </a:r>
            <a:r>
              <a:rPr lang="en-US" dirty="0"/>
              <a:t> (29,000 kg). The fourth-level walkway was directly above the second-level walkway.</a:t>
            </a:r>
          </a:p>
          <a:p>
            <a:endParaRPr lang="en-US" dirty="0"/>
          </a:p>
        </p:txBody>
      </p:sp>
    </p:spTree>
    <p:extLst>
      <p:ext uri="{BB962C8B-B14F-4D97-AF65-F5344CB8AC3E}">
        <p14:creationId xmlns:p14="http://schemas.microsoft.com/office/powerpoint/2010/main" val="2203237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7850"/>
          </a:xfrm>
        </p:spPr>
        <p:txBody>
          <a:bodyPr>
            <a:normAutofit fontScale="90000"/>
          </a:bodyPr>
          <a:lstStyle/>
          <a:p>
            <a:r>
              <a:rPr lang="en-US" dirty="0"/>
              <a:t>COLLAPSE</a:t>
            </a:r>
          </a:p>
        </p:txBody>
      </p:sp>
      <p:sp>
        <p:nvSpPr>
          <p:cNvPr id="3" name="Content Placeholder 2"/>
          <p:cNvSpPr>
            <a:spLocks noGrp="1"/>
          </p:cNvSpPr>
          <p:nvPr>
            <p:ph idx="1"/>
          </p:nvPr>
        </p:nvSpPr>
        <p:spPr>
          <a:xfrm>
            <a:off x="838200" y="1143000"/>
            <a:ext cx="10515600" cy="5033963"/>
          </a:xfrm>
        </p:spPr>
        <p:txBody>
          <a:bodyPr/>
          <a:lstStyle/>
          <a:p>
            <a:r>
              <a:rPr lang="en-US" dirty="0"/>
              <a:t>Approximately 1,600 people gathered in the atrium for a </a:t>
            </a:r>
            <a:r>
              <a:rPr lang="en-US" dirty="0">
                <a:hlinkClick r:id="rId2" tooltip="Tea dance"/>
              </a:rPr>
              <a:t>tea dance</a:t>
            </a:r>
            <a:r>
              <a:rPr lang="en-US" dirty="0"/>
              <a:t> on the evening of Friday, July 17, 1981. </a:t>
            </a:r>
          </a:p>
          <a:p>
            <a:r>
              <a:rPr lang="en-US" dirty="0"/>
              <a:t>The second-level walkway held approximately 40 people at around 7:05 p.m., with more on the third and fourth floor walkways.</a:t>
            </a:r>
          </a:p>
          <a:p>
            <a:r>
              <a:rPr lang="en-US" dirty="0"/>
              <a:t> The fourth-floor bridge was suspended directly over the second-floor bridge, with the third-floor walkway offset several yards from the others. </a:t>
            </a:r>
          </a:p>
          <a:p>
            <a:r>
              <a:rPr lang="en-US" dirty="0"/>
              <a:t>Guests heard popping noises moments before the fourth-floor walkway dropped several inches, paused, then fell completely onto the second-floor walkway. </a:t>
            </a:r>
          </a:p>
          <a:p>
            <a:r>
              <a:rPr lang="en-US" dirty="0"/>
              <a:t>Then both walkways fell to the lobby floor.</a:t>
            </a:r>
            <a:r>
              <a:rPr lang="en-US" baseline="30000" dirty="0"/>
              <a:t>[</a:t>
            </a:r>
            <a:endParaRPr lang="en-US" dirty="0"/>
          </a:p>
        </p:txBody>
      </p:sp>
    </p:spTree>
    <p:extLst>
      <p:ext uri="{BB962C8B-B14F-4D97-AF65-F5344CB8AC3E}">
        <p14:creationId xmlns:p14="http://schemas.microsoft.com/office/powerpoint/2010/main" val="3157621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06438"/>
          </a:xfrm>
        </p:spPr>
        <p:txBody>
          <a:bodyPr/>
          <a:lstStyle/>
          <a:p>
            <a:r>
              <a:rPr lang="en-US" dirty="0"/>
              <a:t>INVESTIGATION</a:t>
            </a:r>
          </a:p>
        </p:txBody>
      </p:sp>
      <p:sp>
        <p:nvSpPr>
          <p:cNvPr id="3" name="Content Placeholder 2"/>
          <p:cNvSpPr>
            <a:spLocks noGrp="1"/>
          </p:cNvSpPr>
          <p:nvPr>
            <p:ph idx="1"/>
          </p:nvPr>
        </p:nvSpPr>
        <p:spPr>
          <a:xfrm>
            <a:off x="838200" y="1371600"/>
            <a:ext cx="10515600" cy="4805363"/>
          </a:xfrm>
        </p:spPr>
        <p:txBody>
          <a:bodyPr>
            <a:normAutofit fontScale="92500" lnSpcReduction="20000"/>
          </a:bodyPr>
          <a:lstStyle/>
          <a:p>
            <a:r>
              <a:rPr lang="en-US" dirty="0"/>
              <a:t>The two walkways were suspended from a set of 1.25-inch-diameter (32 mm) steel </a:t>
            </a:r>
            <a:r>
              <a:rPr lang="en-US" dirty="0">
                <a:hlinkClick r:id="rId2" tooltip="Tie rod"/>
              </a:rPr>
              <a:t>tie rods</a:t>
            </a:r>
            <a:r>
              <a:rPr lang="en-US" dirty="0"/>
              <a:t>, with the second-floor walkway hanging directly under the fourth-floor walkway. </a:t>
            </a:r>
          </a:p>
          <a:p>
            <a:r>
              <a:rPr lang="en-US" dirty="0"/>
              <a:t>The fourth-floor walkway platform was supported on three cross-beams suspended by steel rods retained by nuts. </a:t>
            </a:r>
          </a:p>
          <a:p>
            <a:r>
              <a:rPr lang="en-US" dirty="0"/>
              <a:t>The cross-beams were </a:t>
            </a:r>
            <a:r>
              <a:rPr lang="en-US" dirty="0">
                <a:hlinkClick r:id="rId3" tooltip="Box girder"/>
              </a:rPr>
              <a:t>box girders</a:t>
            </a:r>
            <a:r>
              <a:rPr lang="en-US" dirty="0"/>
              <a:t> made from C-channel strips welded together lengthwise, with a hollow space between them.</a:t>
            </a:r>
          </a:p>
          <a:p>
            <a:r>
              <a:rPr lang="en-US" dirty="0"/>
              <a:t>The original design by Jack D. Gillum and Associates specified three pairs of rods running from the second-floor walkway to the ceiling, passing through the beams of the fourth-floor walkway, with a bolt at the middle of each tie rod tightened up to the bottom of the fourth-floor walkway, and a bolt at the bottom of each tie rod tightened up to the bottom of the second-floor walkway. </a:t>
            </a:r>
          </a:p>
          <a:p>
            <a:r>
              <a:rPr lang="en-US" dirty="0"/>
              <a:t>Even this original design supported only 60% of the minimum load required by Kansas City building codes.</a:t>
            </a:r>
          </a:p>
        </p:txBody>
      </p:sp>
    </p:spTree>
    <p:extLst>
      <p:ext uri="{BB962C8B-B14F-4D97-AF65-F5344CB8AC3E}">
        <p14:creationId xmlns:p14="http://schemas.microsoft.com/office/powerpoint/2010/main" val="4147878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6450"/>
          </a:xfrm>
        </p:spPr>
        <p:txBody>
          <a:bodyPr/>
          <a:lstStyle/>
          <a:p>
            <a:r>
              <a:rPr lang="en-US" dirty="0"/>
              <a:t>INVESTIGATION</a:t>
            </a:r>
          </a:p>
        </p:txBody>
      </p:sp>
      <p:sp>
        <p:nvSpPr>
          <p:cNvPr id="3" name="Content Placeholder 2"/>
          <p:cNvSpPr>
            <a:spLocks noGrp="1"/>
          </p:cNvSpPr>
          <p:nvPr>
            <p:ph idx="1"/>
          </p:nvPr>
        </p:nvSpPr>
        <p:spPr>
          <a:xfrm>
            <a:off x="838200" y="1296987"/>
            <a:ext cx="10515600" cy="4960937"/>
          </a:xfrm>
        </p:spPr>
        <p:txBody>
          <a:bodyPr>
            <a:normAutofit fontScale="92500" lnSpcReduction="20000"/>
          </a:bodyPr>
          <a:lstStyle/>
          <a:p>
            <a:r>
              <a:rPr lang="en-US" dirty="0"/>
              <a:t>Havens Steel Company manufactured the rods, and they objected that the whole rod below the fourth floor would have to be threaded in order to screw on the nuts to hold the fourth-floor walkway in place. </a:t>
            </a:r>
          </a:p>
          <a:p>
            <a:r>
              <a:rPr lang="en-US" dirty="0"/>
              <a:t>These threads would be subject to damage as the fourth-floor structure was hoisted into place. Havens, therefore, proposed that two separate and offset sets of rods be used: the first set suspending the fourth-floor walkway from the ceiling, and the second set suspending the second-floor walkway from the fourth-floor walkway.</a:t>
            </a:r>
          </a:p>
          <a:p>
            <a:r>
              <a:rPr lang="en-US" dirty="0"/>
              <a:t>In the original design, the beams of the fourth-floor walkway had to support only the weight of the fourth-floor walkway, with the weight of the second-floor walkway supported completely by the rods. </a:t>
            </a:r>
          </a:p>
          <a:p>
            <a:r>
              <a:rPr lang="en-US" dirty="0"/>
              <a:t>In the revised design, however, the fourth-floor beams supported both the fourth and second-floor walkways, </a:t>
            </a:r>
          </a:p>
          <a:p>
            <a:r>
              <a:rPr lang="en-US" dirty="0"/>
              <a:t>The fourth-floor beams were only strong enough for 30% of that load.</a:t>
            </a:r>
          </a:p>
        </p:txBody>
      </p:sp>
    </p:spTree>
    <p:extLst>
      <p:ext uri="{BB962C8B-B14F-4D97-AF65-F5344CB8AC3E}">
        <p14:creationId xmlns:p14="http://schemas.microsoft.com/office/powerpoint/2010/main" val="4058610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4438"/>
            <a:ext cx="10515600" cy="706438"/>
          </a:xfrm>
        </p:spPr>
        <p:txBody>
          <a:bodyPr/>
          <a:lstStyle/>
          <a:p>
            <a:r>
              <a:rPr lang="en-US" dirty="0"/>
              <a:t>INVESTIGATION</a:t>
            </a:r>
          </a:p>
        </p:txBody>
      </p:sp>
      <p:pic>
        <p:nvPicPr>
          <p:cNvPr id="1026" name="Picture 2" descr="A diagram showing the difference between the design and construction of the walkway support system. According to the diagram, in the actual construction, there was one more nu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82584" y="3805898"/>
            <a:ext cx="3333750" cy="19431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42543" y="920599"/>
            <a:ext cx="10896601" cy="2769989"/>
          </a:xfrm>
          <a:prstGeom prst="rect">
            <a:avLst/>
          </a:prstGeom>
        </p:spPr>
        <p:txBody>
          <a:bodyPr wrap="square">
            <a:spAutoFit/>
          </a:bodyPr>
          <a:lstStyle/>
          <a:p>
            <a:pPr marL="285750" indent="-285750">
              <a:buFont typeface="Wingdings" panose="05000000000000000000" pitchFamily="2" charset="2"/>
              <a:buChar char="§"/>
            </a:pPr>
            <a:r>
              <a:rPr lang="en-US" b="0" i="0" dirty="0">
                <a:solidFill>
                  <a:srgbClr val="222222"/>
                </a:solidFill>
                <a:effectLst/>
                <a:latin typeface="Arial" panose="020B0604020202020204" pitchFamily="34" charset="0"/>
              </a:rPr>
              <a:t>The serious flaws of the revised design were compounded by the fact that both designs placed the bolts directly through a welded joint connecting two C-channels, the weakest structural point in the box beams. </a:t>
            </a:r>
          </a:p>
          <a:p>
            <a:pPr marL="285750" indent="-285750">
              <a:buFont typeface="Wingdings" panose="05000000000000000000" pitchFamily="2" charset="2"/>
              <a:buChar char="§"/>
            </a:pPr>
            <a:r>
              <a:rPr lang="en-US" b="0" i="0" dirty="0">
                <a:solidFill>
                  <a:srgbClr val="222222"/>
                </a:solidFill>
                <a:effectLst/>
                <a:latin typeface="Arial" panose="020B0604020202020204" pitchFamily="34" charset="0"/>
              </a:rPr>
              <a:t>The original design was for the welds to be on the sides of the box beams, rather than on the top and bottom. During the failure, the box beams split along the weld and the nut supporting them slipped through the resulting gap, which was consistent with reports that the upper walkway at first fell several inches, after which the nut was held only by the upper side of the box beams; then the upper side of the box beams failed as well, allowing the entire walkway to fall.</a:t>
            </a:r>
            <a:endParaRPr lang="en-US" b="0" i="0" baseline="30000" dirty="0">
              <a:solidFill>
                <a:srgbClr val="222222"/>
              </a:solidFill>
              <a:effectLst/>
              <a:latin typeface="Arial" panose="020B0604020202020204" pitchFamily="34" charset="0"/>
            </a:endParaRPr>
          </a:p>
          <a:p>
            <a:endParaRPr lang="en-US" baseline="30000" dirty="0">
              <a:solidFill>
                <a:srgbClr val="222222"/>
              </a:solidFill>
              <a:latin typeface="Arial" panose="020B0604020202020204" pitchFamily="34" charset="0"/>
            </a:endParaRPr>
          </a:p>
          <a:p>
            <a:endParaRPr lang="en-US" dirty="0"/>
          </a:p>
        </p:txBody>
      </p:sp>
      <p:sp>
        <p:nvSpPr>
          <p:cNvPr id="5" name="Rectangle 4"/>
          <p:cNvSpPr/>
          <p:nvPr/>
        </p:nvSpPr>
        <p:spPr>
          <a:xfrm>
            <a:off x="542543" y="3179921"/>
            <a:ext cx="7050025" cy="3693319"/>
          </a:xfrm>
          <a:prstGeom prst="rect">
            <a:avLst/>
          </a:prstGeom>
        </p:spPr>
        <p:txBody>
          <a:bodyPr wrap="square">
            <a:spAutoFit/>
          </a:bodyPr>
          <a:lstStyle/>
          <a:p>
            <a:pPr marL="285750" indent="-285750">
              <a:buFont typeface="Wingdings" panose="05000000000000000000" pitchFamily="2" charset="2"/>
              <a:buChar char="§"/>
            </a:pPr>
            <a:r>
              <a:rPr lang="en-US" b="0" i="0" dirty="0">
                <a:solidFill>
                  <a:srgbClr val="222222"/>
                </a:solidFill>
                <a:effectLst/>
                <a:latin typeface="Arial" panose="020B0604020202020204" pitchFamily="34" charset="0"/>
              </a:rPr>
              <a:t>Investigators concluded that the underlying problem was a lack of proper communication between Jack D. Gillum and Associates and Havens Steel. </a:t>
            </a:r>
          </a:p>
          <a:p>
            <a:pPr marL="285750" indent="-285750">
              <a:buFont typeface="Wingdings" panose="05000000000000000000" pitchFamily="2" charset="2"/>
              <a:buChar char="§"/>
            </a:pPr>
            <a:r>
              <a:rPr lang="en-US" b="0" i="0" dirty="0">
                <a:solidFill>
                  <a:srgbClr val="222222"/>
                </a:solidFill>
                <a:effectLst/>
                <a:latin typeface="Arial" panose="020B0604020202020204" pitchFamily="34" charset="0"/>
              </a:rPr>
              <a:t>In particular, the drawings prepared by Gillum and Associates were only preliminary sketches, but Havens interpreted them as finalized drawings. </a:t>
            </a:r>
          </a:p>
          <a:p>
            <a:pPr marL="285750" indent="-285750">
              <a:buFont typeface="Wingdings" panose="05000000000000000000" pitchFamily="2" charset="2"/>
              <a:buChar char="§"/>
            </a:pPr>
            <a:r>
              <a:rPr lang="en-US" b="0" i="0" dirty="0">
                <a:solidFill>
                  <a:srgbClr val="222222"/>
                </a:solidFill>
                <a:effectLst/>
                <a:latin typeface="Arial" panose="020B0604020202020204" pitchFamily="34" charset="0"/>
              </a:rPr>
              <a:t>Gillum and Associates failed to review the initial design thoroughly and accepted Havens' proposed plan without performing necessary calculations or viewing sketches that would have revealed its serious intrinsic flaws — in particular, doubling the load on the fourth-floor beams.</a:t>
            </a:r>
          </a:p>
          <a:p>
            <a:endParaRPr lang="en-US" dirty="0">
              <a:solidFill>
                <a:srgbClr val="222222"/>
              </a:solidFill>
              <a:latin typeface="Arial" panose="020B0604020202020204" pitchFamily="34" charset="0"/>
            </a:endParaRPr>
          </a:p>
          <a:p>
            <a:r>
              <a:rPr lang="en-US" b="0" i="0" dirty="0">
                <a:solidFill>
                  <a:srgbClr val="222222"/>
                </a:solidFill>
                <a:effectLst/>
                <a:latin typeface="Arial" panose="020B0604020202020204" pitchFamily="34" charset="0"/>
              </a:rPr>
              <a:t> </a:t>
            </a:r>
            <a:endParaRPr lang="en-US" dirty="0">
              <a:solidFill>
                <a:srgbClr val="FF0000"/>
              </a:solidFill>
            </a:endParaRPr>
          </a:p>
        </p:txBody>
      </p:sp>
    </p:spTree>
    <p:extLst>
      <p:ext uri="{BB962C8B-B14F-4D97-AF65-F5344CB8AC3E}">
        <p14:creationId xmlns:p14="http://schemas.microsoft.com/office/powerpoint/2010/main" val="2001500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7850"/>
          </a:xfrm>
        </p:spPr>
        <p:txBody>
          <a:bodyPr>
            <a:normAutofit fontScale="90000"/>
          </a:bodyPr>
          <a:lstStyle/>
          <a:p>
            <a:r>
              <a:rPr lang="en-US" dirty="0"/>
              <a:t>AFTERMATH</a:t>
            </a:r>
          </a:p>
        </p:txBody>
      </p:sp>
      <p:sp>
        <p:nvSpPr>
          <p:cNvPr id="3" name="Content Placeholder 2"/>
          <p:cNvSpPr>
            <a:spLocks noGrp="1"/>
          </p:cNvSpPr>
          <p:nvPr>
            <p:ph idx="1"/>
          </p:nvPr>
        </p:nvSpPr>
        <p:spPr>
          <a:xfrm>
            <a:off x="966788" y="942976"/>
            <a:ext cx="10515600" cy="5329237"/>
          </a:xfrm>
        </p:spPr>
        <p:txBody>
          <a:bodyPr>
            <a:normAutofit fontScale="85000" lnSpcReduction="10000"/>
          </a:bodyPr>
          <a:lstStyle/>
          <a:p>
            <a:r>
              <a:rPr lang="en-US" dirty="0">
                <a:solidFill>
                  <a:srgbClr val="FF0000"/>
                </a:solidFill>
                <a:latin typeface="Arial" panose="020B0604020202020204" pitchFamily="34" charset="0"/>
              </a:rPr>
              <a:t>A Gillum and Associates project engineer, who accepted Havens' proposed plan over the phone, was stripped of his professional license.</a:t>
            </a:r>
            <a:endParaRPr lang="en-US" dirty="0">
              <a:solidFill>
                <a:srgbClr val="FF0000"/>
              </a:solidFill>
            </a:endParaRPr>
          </a:p>
          <a:p>
            <a:pPr marL="0" indent="0">
              <a:buNone/>
            </a:pPr>
            <a:endParaRPr lang="en-US" dirty="0"/>
          </a:p>
          <a:p>
            <a:r>
              <a:rPr lang="en-US" dirty="0"/>
              <a:t>The Missouri Board of Architects, Professional Engineers, and Land Surveyors found the engineers at Jack D. Gillum and Associates who had approved the final drawings to be culpable of gross negligence, misconduct, and unprofessional conduct in the practice of engineering. They were acquitted of all the crimes with which they were initially charged, but the company lost its engineering licenses in the states of Missouri, Kansas, and Texas, as well as its membership with the </a:t>
            </a:r>
            <a:r>
              <a:rPr lang="en-US" dirty="0">
                <a:hlinkClick r:id="rId2" tooltip="American Society of Civil Engineers"/>
              </a:rPr>
              <a:t>American Society of Civil Engineers</a:t>
            </a:r>
            <a:r>
              <a:rPr lang="en-US" dirty="0"/>
              <a:t> (ASCE).</a:t>
            </a:r>
          </a:p>
          <a:p>
            <a:endParaRPr lang="en-US" dirty="0"/>
          </a:p>
          <a:p>
            <a:r>
              <a:rPr lang="en-US" dirty="0"/>
              <a:t>At least $140 million (equivalent to $334 million in 2018)</a:t>
            </a:r>
            <a:r>
              <a:rPr lang="en-US" baseline="30000" dirty="0"/>
              <a:t>[</a:t>
            </a:r>
            <a:r>
              <a:rPr lang="en-US" dirty="0"/>
              <a:t>was awarded to victims and their families in subsequent civil lawsuits; a large amount of this money was from Crown Center Corporation, a subsidiary of </a:t>
            </a:r>
            <a:r>
              <a:rPr lang="en-US" u="sng" dirty="0">
                <a:hlinkClick r:id="rId3"/>
              </a:rPr>
              <a:t>Hallmark Cards</a:t>
            </a:r>
            <a:r>
              <a:rPr lang="en-US" dirty="0"/>
              <a:t> which was the owner of the hotel real estate; Hyatt operated the hotel for a fee as a management company and did not own the building.</a:t>
            </a:r>
          </a:p>
        </p:txBody>
      </p:sp>
    </p:spTree>
    <p:extLst>
      <p:ext uri="{BB962C8B-B14F-4D97-AF65-F5344CB8AC3E}">
        <p14:creationId xmlns:p14="http://schemas.microsoft.com/office/powerpoint/2010/main" val="2468638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58875"/>
          </a:xfrm>
        </p:spPr>
        <p:txBody>
          <a:bodyPr>
            <a:normAutofit fontScale="90000"/>
          </a:bodyPr>
          <a:lstStyle/>
          <a:p>
            <a:r>
              <a:rPr lang="en-US" dirty="0"/>
              <a:t>ETHICAL ISSUES</a:t>
            </a:r>
            <a:br>
              <a:rPr lang="en-US" dirty="0"/>
            </a:br>
            <a:endParaRPr lang="en-US" dirty="0"/>
          </a:p>
        </p:txBody>
      </p:sp>
      <p:sp>
        <p:nvSpPr>
          <p:cNvPr id="3" name="Content Placeholder 2"/>
          <p:cNvSpPr>
            <a:spLocks noGrp="1"/>
          </p:cNvSpPr>
          <p:nvPr>
            <p:ph idx="1"/>
          </p:nvPr>
        </p:nvSpPr>
        <p:spPr>
          <a:xfrm>
            <a:off x="838200" y="1021080"/>
            <a:ext cx="10515600" cy="5155883"/>
          </a:xfrm>
        </p:spPr>
        <p:txBody>
          <a:bodyPr/>
          <a:lstStyle/>
          <a:p>
            <a:pPr marL="0" indent="0">
              <a:buNone/>
            </a:pPr>
            <a:endParaRPr lang="en-US" dirty="0"/>
          </a:p>
        </p:txBody>
      </p:sp>
      <p:sp>
        <p:nvSpPr>
          <p:cNvPr id="4" name="Rectangle 3"/>
          <p:cNvSpPr/>
          <p:nvPr/>
        </p:nvSpPr>
        <p:spPr>
          <a:xfrm>
            <a:off x="838200" y="1367938"/>
            <a:ext cx="10515600" cy="4401205"/>
          </a:xfrm>
          <a:prstGeom prst="rect">
            <a:avLst/>
          </a:prstGeom>
        </p:spPr>
        <p:txBody>
          <a:bodyPr wrap="square">
            <a:spAutoFit/>
          </a:bodyPr>
          <a:lstStyle/>
          <a:p>
            <a:pPr marL="285750" indent="-285750">
              <a:buFont typeface="Wingdings" panose="05000000000000000000" pitchFamily="2" charset="2"/>
              <a:buChar char="§"/>
            </a:pPr>
            <a:r>
              <a:rPr lang="en-US" sz="2800" dirty="0"/>
              <a:t> Those in charge of the construction of the Kansas City Hyatt Regency hotel were charged with professional negligence in regard to the catastrophic walkway collapse</a:t>
            </a:r>
          </a:p>
          <a:p>
            <a:pPr marL="457200" indent="-457200">
              <a:buFont typeface="Wingdings" panose="05000000000000000000" pitchFamily="2" charset="2"/>
              <a:buChar char="§"/>
            </a:pPr>
            <a:r>
              <a:rPr lang="en-US" sz="2800" dirty="0"/>
              <a:t>Although those in charge did not authorize the fatal departure from the original design of the walkway support, it was determined that responsible monitoring on their part would have made them aware of the proposed change. </a:t>
            </a:r>
          </a:p>
          <a:p>
            <a:pPr marL="457200" indent="-457200">
              <a:buFont typeface="Wingdings" panose="05000000000000000000" pitchFamily="2" charset="2"/>
              <a:buChar char="§"/>
            </a:pPr>
            <a:r>
              <a:rPr lang="en-US" sz="2800" dirty="0"/>
              <a:t>Had it come to their attention, a few simple calculations could have made it evident to them that the resulting structure would be unsafe. </a:t>
            </a:r>
          </a:p>
        </p:txBody>
      </p:sp>
    </p:spTree>
    <p:extLst>
      <p:ext uri="{BB962C8B-B14F-4D97-AF65-F5344CB8AC3E}">
        <p14:creationId xmlns:p14="http://schemas.microsoft.com/office/powerpoint/2010/main" val="2016503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ETHICAL ISSUES</a:t>
            </a:r>
          </a:p>
        </p:txBody>
      </p:sp>
      <p:sp>
        <p:nvSpPr>
          <p:cNvPr id="3" name="Content Placeholder 2"/>
          <p:cNvSpPr>
            <a:spLocks noGrp="1"/>
          </p:cNvSpPr>
          <p:nvPr>
            <p:ph idx="1"/>
          </p:nvPr>
        </p:nvSpPr>
        <p:spPr/>
        <p:txBody>
          <a:bodyPr/>
          <a:lstStyle/>
          <a:p>
            <a:pPr marL="457200" indent="-457200">
              <a:buFont typeface="Wingdings" panose="05000000000000000000" pitchFamily="2" charset="2"/>
              <a:buChar char="§"/>
            </a:pPr>
            <a:r>
              <a:rPr lang="en-US" dirty="0"/>
              <a:t>In this case, it was determined that the engineers in charge fell seriously short of accepted engineering practice, resulting in a failure to meet the standard of care. </a:t>
            </a:r>
          </a:p>
          <a:p>
            <a:pPr marL="457200" indent="-457200">
              <a:buFont typeface="Wingdings" panose="05000000000000000000" pitchFamily="2" charset="2"/>
              <a:buChar char="§"/>
            </a:pPr>
            <a:r>
              <a:rPr lang="en-US" dirty="0"/>
              <a:t>Satisfying the standard of care cannot guarantee that failure will not occur. </a:t>
            </a:r>
          </a:p>
          <a:p>
            <a:pPr marL="457200" indent="-457200">
              <a:buFont typeface="Wingdings" panose="05000000000000000000" pitchFamily="2" charset="2"/>
              <a:buChar char="§"/>
            </a:pPr>
            <a:r>
              <a:rPr lang="en-US" dirty="0"/>
              <a:t>However, failure to satisfy the standard of care itself is not acceptable. In any particular case, there may be several acceptable ways of meeting the standard. Much depends on the kind of project in question, its specific context, and the particular variables that (sometimes unpredictably) come into play. </a:t>
            </a:r>
          </a:p>
          <a:p>
            <a:pPr marL="457200" indent="-457200">
              <a:buFont typeface="Wingdings" panose="05000000000000000000" pitchFamily="2" charset="2"/>
              <a:buChar char="§"/>
            </a:pPr>
            <a:endParaRPr lang="en-US" dirty="0"/>
          </a:p>
        </p:txBody>
      </p:sp>
    </p:spTree>
    <p:extLst>
      <p:ext uri="{BB962C8B-B14F-4D97-AF65-F5344CB8AC3E}">
        <p14:creationId xmlns:p14="http://schemas.microsoft.com/office/powerpoint/2010/main" val="354824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23912" y="365126"/>
            <a:ext cx="10515600" cy="749300"/>
          </a:xfrm>
        </p:spPr>
        <p:txBody>
          <a:bodyPr>
            <a:normAutofit fontScale="90000"/>
          </a:bodyPr>
          <a:lstStyle/>
          <a:p>
            <a:br>
              <a:rPr lang="en-US" dirty="0"/>
            </a:br>
            <a:r>
              <a:rPr lang="en-US" dirty="0"/>
              <a:t>Hyatt Regency walkway collapse</a:t>
            </a:r>
            <a:br>
              <a:rPr lang="en-US" dirty="0"/>
            </a:br>
            <a:endParaRPr lang="en-US" dirty="0"/>
          </a:p>
        </p:txBody>
      </p:sp>
      <p:sp>
        <p:nvSpPr>
          <p:cNvPr id="5" name="AutoShape 2" descr="Image result for hyatt regency building collaps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497593" y="1114426"/>
            <a:ext cx="3585996" cy="2811775"/>
          </a:xfrm>
          <a:prstGeom prst="rect">
            <a:avLst/>
          </a:prstGeom>
        </p:spPr>
      </p:pic>
      <p:pic>
        <p:nvPicPr>
          <p:cNvPr id="7" name="Picture 6"/>
          <p:cNvPicPr>
            <a:picLocks noChangeAspect="1"/>
          </p:cNvPicPr>
          <p:nvPr/>
        </p:nvPicPr>
        <p:blipFill>
          <a:blip r:embed="rId3"/>
          <a:stretch>
            <a:fillRect/>
          </a:stretch>
        </p:blipFill>
        <p:spPr>
          <a:xfrm>
            <a:off x="4759037" y="1247876"/>
            <a:ext cx="3319313" cy="2871686"/>
          </a:xfrm>
          <a:prstGeom prst="rect">
            <a:avLst/>
          </a:prstGeom>
        </p:spPr>
      </p:pic>
      <p:pic>
        <p:nvPicPr>
          <p:cNvPr id="8" name="Picture 7"/>
          <p:cNvPicPr>
            <a:picLocks noChangeAspect="1"/>
          </p:cNvPicPr>
          <p:nvPr/>
        </p:nvPicPr>
        <p:blipFill>
          <a:blip r:embed="rId4"/>
          <a:stretch>
            <a:fillRect/>
          </a:stretch>
        </p:blipFill>
        <p:spPr>
          <a:xfrm>
            <a:off x="8753798" y="1247876"/>
            <a:ext cx="3104825" cy="2871686"/>
          </a:xfrm>
          <a:prstGeom prst="rect">
            <a:avLst/>
          </a:prstGeom>
        </p:spPr>
      </p:pic>
      <p:pic>
        <p:nvPicPr>
          <p:cNvPr id="9" name="Picture 8"/>
          <p:cNvPicPr>
            <a:picLocks noChangeAspect="1"/>
          </p:cNvPicPr>
          <p:nvPr/>
        </p:nvPicPr>
        <p:blipFill>
          <a:blip r:embed="rId5"/>
          <a:stretch>
            <a:fillRect/>
          </a:stretch>
        </p:blipFill>
        <p:spPr>
          <a:xfrm>
            <a:off x="4759037" y="4489269"/>
            <a:ext cx="3585996" cy="2377439"/>
          </a:xfrm>
          <a:prstGeom prst="rect">
            <a:avLst/>
          </a:prstGeom>
        </p:spPr>
      </p:pic>
      <p:pic>
        <p:nvPicPr>
          <p:cNvPr id="10" name="Picture 9"/>
          <p:cNvPicPr>
            <a:picLocks noChangeAspect="1"/>
          </p:cNvPicPr>
          <p:nvPr/>
        </p:nvPicPr>
        <p:blipFill>
          <a:blip r:embed="rId6"/>
          <a:stretch>
            <a:fillRect/>
          </a:stretch>
        </p:blipFill>
        <p:spPr>
          <a:xfrm>
            <a:off x="8650685" y="4522047"/>
            <a:ext cx="3311050" cy="2294466"/>
          </a:xfrm>
          <a:prstGeom prst="rect">
            <a:avLst/>
          </a:prstGeom>
        </p:spPr>
      </p:pic>
      <p:pic>
        <p:nvPicPr>
          <p:cNvPr id="3" name="Picture 2">
            <a:extLst>
              <a:ext uri="{FF2B5EF4-FFF2-40B4-BE49-F238E27FC236}">
                <a16:creationId xmlns:a16="http://schemas.microsoft.com/office/drawing/2014/main" id="{8DAF2CA9-78A2-45AA-8DC2-43CE1ADE03C2}"/>
              </a:ext>
            </a:extLst>
          </p:cNvPr>
          <p:cNvPicPr>
            <a:picLocks noChangeAspect="1"/>
          </p:cNvPicPr>
          <p:nvPr/>
        </p:nvPicPr>
        <p:blipFill>
          <a:blip r:embed="rId7"/>
          <a:stretch>
            <a:fillRect/>
          </a:stretch>
        </p:blipFill>
        <p:spPr>
          <a:xfrm>
            <a:off x="496729" y="4119562"/>
            <a:ext cx="3585996" cy="2599290"/>
          </a:xfrm>
          <a:prstGeom prst="rect">
            <a:avLst/>
          </a:prstGeom>
        </p:spPr>
      </p:pic>
    </p:spTree>
    <p:extLst>
      <p:ext uri="{BB962C8B-B14F-4D97-AF65-F5344CB8AC3E}">
        <p14:creationId xmlns:p14="http://schemas.microsoft.com/office/powerpoint/2010/main" val="3250639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ACKNOWLEDGEMENT</a:t>
            </a:r>
          </a:p>
        </p:txBody>
      </p:sp>
      <p:sp>
        <p:nvSpPr>
          <p:cNvPr id="3" name="Content Placeholder 2"/>
          <p:cNvSpPr>
            <a:spLocks noGrp="1"/>
          </p:cNvSpPr>
          <p:nvPr>
            <p:ph idx="1"/>
          </p:nvPr>
        </p:nvSpPr>
        <p:spPr/>
        <p:txBody>
          <a:bodyPr/>
          <a:lstStyle/>
          <a:p>
            <a:r>
              <a:rPr lang="en-US" dirty="0"/>
              <a:t>Charles Harris, Michael Pritchard, Michael </a:t>
            </a:r>
            <a:r>
              <a:rPr lang="en-US" dirty="0" err="1"/>
              <a:t>Rabins</a:t>
            </a:r>
            <a:r>
              <a:rPr lang="en-US" dirty="0"/>
              <a:t> : Engineering Ethics – Concepts and Cases;  Wadsworth Cengage Learning, 4</a:t>
            </a:r>
            <a:r>
              <a:rPr lang="en-US" baseline="30000" dirty="0"/>
              <a:t>th</a:t>
            </a:r>
            <a:r>
              <a:rPr lang="en-US" dirty="0"/>
              <a:t> Edition</a:t>
            </a:r>
          </a:p>
          <a:p>
            <a:r>
              <a:rPr lang="en-US" dirty="0">
                <a:hlinkClick r:id="rId3"/>
              </a:rPr>
              <a:t>https://en.wikipedia.org/wiki/Hyatt_Regency_walkway_collapse</a:t>
            </a:r>
            <a:endParaRPr lang="en-US" dirty="0"/>
          </a:p>
          <a:p>
            <a:endParaRPr lang="en-US" dirty="0"/>
          </a:p>
        </p:txBody>
      </p:sp>
    </p:spTree>
    <p:extLst>
      <p:ext uri="{BB962C8B-B14F-4D97-AF65-F5344CB8AC3E}">
        <p14:creationId xmlns:p14="http://schemas.microsoft.com/office/powerpoint/2010/main" val="2678928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635</TotalTime>
  <Words>1256</Words>
  <Application>Microsoft Office PowerPoint</Application>
  <PresentationFormat>Widescreen</PresentationFormat>
  <Paragraphs>50</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Wingdings</vt:lpstr>
      <vt:lpstr>Office Theme</vt:lpstr>
      <vt:lpstr>Hyatt Regency walkway collapse </vt:lpstr>
      <vt:lpstr>BACKGROUND</vt:lpstr>
      <vt:lpstr>COLLAPSE</vt:lpstr>
      <vt:lpstr>INVESTIGATION</vt:lpstr>
      <vt:lpstr>INVESTIGATION</vt:lpstr>
      <vt:lpstr>INVESTIGATION</vt:lpstr>
      <vt:lpstr>AFTERMATH</vt:lpstr>
      <vt:lpstr>ETHICAL ISSUES </vt:lpstr>
      <vt:lpstr>ETHICAL ISSUES</vt:lpstr>
      <vt:lpstr> Hyatt Regency walkway collapse </vt:lpstr>
      <vt:lpstr>ACKNOWLEDGEMENT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Hyatt Regency walkway collapse</dc:title>
  <dc:creator>User</dc:creator>
  <cp:lastModifiedBy>DNT Karunarathne</cp:lastModifiedBy>
  <cp:revision>24</cp:revision>
  <dcterms:created xsi:type="dcterms:W3CDTF">2019-12-15T15:44:30Z</dcterms:created>
  <dcterms:modified xsi:type="dcterms:W3CDTF">2024-03-03T09:16:10Z</dcterms:modified>
</cp:coreProperties>
</file>