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Lst>
  <p:notesMasterIdLst>
    <p:notesMasterId r:id="rId27"/>
  </p:notesMasterIdLst>
  <p:handoutMasterIdLst>
    <p:handoutMasterId r:id="rId28"/>
  </p:handoutMasterIdLst>
  <p:sldIdLst>
    <p:sldId id="257" r:id="rId2"/>
    <p:sldId id="358" r:id="rId3"/>
    <p:sldId id="325" r:id="rId4"/>
    <p:sldId id="326" r:id="rId5"/>
    <p:sldId id="327" r:id="rId6"/>
    <p:sldId id="328" r:id="rId7"/>
    <p:sldId id="329" r:id="rId8"/>
    <p:sldId id="330" r:id="rId9"/>
    <p:sldId id="331" r:id="rId10"/>
    <p:sldId id="332" r:id="rId11"/>
    <p:sldId id="333" r:id="rId12"/>
    <p:sldId id="334" r:id="rId13"/>
    <p:sldId id="288" r:id="rId14"/>
    <p:sldId id="289" r:id="rId15"/>
    <p:sldId id="335" r:id="rId16"/>
    <p:sldId id="336" r:id="rId17"/>
    <p:sldId id="337" r:id="rId18"/>
    <p:sldId id="338" r:id="rId19"/>
    <p:sldId id="339" r:id="rId20"/>
    <p:sldId id="340" r:id="rId21"/>
    <p:sldId id="341" r:id="rId22"/>
    <p:sldId id="343" r:id="rId23"/>
    <p:sldId id="344" r:id="rId24"/>
    <p:sldId id="355" r:id="rId25"/>
    <p:sldId id="357" r:id="rId2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mn-ea"/>
        <a:cs typeface="+mn-cs"/>
      </a:defRPr>
    </a:lvl1pPr>
    <a:lvl2pPr marL="457200" algn="l" rtl="0" eaLnBrk="0" fontAlgn="base" hangingPunct="0">
      <a:spcBef>
        <a:spcPct val="0"/>
      </a:spcBef>
      <a:spcAft>
        <a:spcPct val="0"/>
      </a:spcAft>
      <a:defRPr sz="2400" kern="1200">
        <a:solidFill>
          <a:schemeClr val="tx1"/>
        </a:solidFill>
        <a:latin typeface="Arial" charset="0"/>
        <a:ea typeface="+mn-ea"/>
        <a:cs typeface="+mn-cs"/>
      </a:defRPr>
    </a:lvl2pPr>
    <a:lvl3pPr marL="914400" algn="l" rtl="0" eaLnBrk="0" fontAlgn="base" hangingPunct="0">
      <a:spcBef>
        <a:spcPct val="0"/>
      </a:spcBef>
      <a:spcAft>
        <a:spcPct val="0"/>
      </a:spcAft>
      <a:defRPr sz="2400" kern="1200">
        <a:solidFill>
          <a:schemeClr val="tx1"/>
        </a:solidFill>
        <a:latin typeface="Arial" charset="0"/>
        <a:ea typeface="+mn-ea"/>
        <a:cs typeface="+mn-cs"/>
      </a:defRPr>
    </a:lvl3pPr>
    <a:lvl4pPr marL="1371600" algn="l" rtl="0" eaLnBrk="0" fontAlgn="base" hangingPunct="0">
      <a:spcBef>
        <a:spcPct val="0"/>
      </a:spcBef>
      <a:spcAft>
        <a:spcPct val="0"/>
      </a:spcAft>
      <a:defRPr sz="2400" kern="1200">
        <a:solidFill>
          <a:schemeClr val="tx1"/>
        </a:solidFill>
        <a:latin typeface="Arial" charset="0"/>
        <a:ea typeface="+mn-ea"/>
        <a:cs typeface="+mn-cs"/>
      </a:defRPr>
    </a:lvl4pPr>
    <a:lvl5pPr marL="1828800" algn="l"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FF3300"/>
    <a:srgbClr val="CC3300"/>
    <a:srgbClr val="3333FF"/>
    <a:srgbClr val="800000"/>
    <a:srgbClr val="969696"/>
    <a:srgbClr val="80808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60"/>
  </p:normalViewPr>
  <p:slideViewPr>
    <p:cSldViewPr snapToGrid="0">
      <p:cViewPr varScale="1">
        <p:scale>
          <a:sx n="109" d="100"/>
          <a:sy n="109" d="100"/>
        </p:scale>
        <p:origin x="1720"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0" d="100"/>
          <a:sy n="40" d="100"/>
        </p:scale>
        <p:origin x="-14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689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689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689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549BC83-DFAA-4117-9662-9C444BE30533}" type="slidenum">
              <a:rPr lang="en-US" altLang="en-US"/>
              <a:pPr/>
              <a:t>‹#›</a:t>
            </a:fld>
            <a:endParaRPr lang="en-US" altLang="en-US"/>
          </a:p>
        </p:txBody>
      </p:sp>
    </p:spTree>
    <p:extLst>
      <p:ext uri="{BB962C8B-B14F-4D97-AF65-F5344CB8AC3E}">
        <p14:creationId xmlns:p14="http://schemas.microsoft.com/office/powerpoint/2010/main" val="25343129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endParaRPr lang="en-US" altLang="en-US"/>
          </a:p>
        </p:txBody>
      </p:sp>
      <p:sp>
        <p:nvSpPr>
          <p:cNvPr id="604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endParaRPr lang="en-US" altLang="en-US"/>
          </a:p>
        </p:txBody>
      </p:sp>
      <p:sp>
        <p:nvSpPr>
          <p:cNvPr id="604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04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04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endParaRPr lang="en-US" altLang="en-US"/>
          </a:p>
        </p:txBody>
      </p:sp>
      <p:sp>
        <p:nvSpPr>
          <p:cNvPr id="604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fld id="{23B2F2F1-FFDC-48F8-AF9A-168A24E19F3A}" type="slidenum">
              <a:rPr lang="en-US" altLang="en-US"/>
              <a:pPr/>
              <a:t>‹#›</a:t>
            </a:fld>
            <a:endParaRPr lang="en-US" altLang="en-US"/>
          </a:p>
        </p:txBody>
      </p:sp>
    </p:spTree>
    <p:extLst>
      <p:ext uri="{BB962C8B-B14F-4D97-AF65-F5344CB8AC3E}">
        <p14:creationId xmlns:p14="http://schemas.microsoft.com/office/powerpoint/2010/main" val="28265244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D1BF70-A126-41D1-9382-39F98F7D7CB6}" type="slidenum">
              <a:rPr lang="en-US" altLang="en-US"/>
              <a:pPr/>
              <a:t>1</a:t>
            </a:fld>
            <a:endParaRPr lang="en-US" altLang="en-US"/>
          </a:p>
        </p:txBody>
      </p:sp>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96787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F5761E-F63F-49CB-B43D-03A0504665B7}" type="slidenum">
              <a:rPr lang="en-US" altLang="en-US"/>
              <a:pPr/>
              <a:t>13</a:t>
            </a:fld>
            <a:endParaRPr lang="en-US" altLang="en-US"/>
          </a:p>
        </p:txBody>
      </p:sp>
      <p:sp>
        <p:nvSpPr>
          <p:cNvPr id="199682" name="Rectangle 2"/>
          <p:cNvSpPr>
            <a:spLocks noGrp="1" noRot="1" noChangeAspect="1" noChangeArrowheads="1" noTextEdit="1"/>
          </p:cNvSpPr>
          <p:nvPr>
            <p:ph type="sldImg"/>
          </p:nvPr>
        </p:nvSpPr>
        <p:spPr>
          <a:ln/>
        </p:spPr>
      </p:sp>
      <p:sp>
        <p:nvSpPr>
          <p:cNvPr id="1996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55556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EB762A-5F2A-4918-9949-AF0BD542D458}" type="slidenum">
              <a:rPr lang="en-US" altLang="en-US"/>
              <a:pPr/>
              <a:t>14</a:t>
            </a:fld>
            <a:endParaRPr lang="en-US" altLang="en-US"/>
          </a:p>
        </p:txBody>
      </p:sp>
      <p:sp>
        <p:nvSpPr>
          <p:cNvPr id="200706" name="Rectangle 2"/>
          <p:cNvSpPr>
            <a:spLocks noGrp="1" noRot="1" noChangeAspect="1" noChangeArrowheads="1" noTextEdit="1"/>
          </p:cNvSpPr>
          <p:nvPr>
            <p:ph type="sldImg"/>
          </p:nvPr>
        </p:nvSpPr>
        <p:spPr>
          <a:ln/>
        </p:spPr>
      </p:sp>
      <p:sp>
        <p:nvSpPr>
          <p:cNvPr id="2007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61530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B2F2F1-FFDC-48F8-AF9A-168A24E19F3A}" type="slidenum">
              <a:rPr lang="en-US" altLang="en-US" smtClean="0"/>
              <a:pPr/>
              <a:t>24</a:t>
            </a:fld>
            <a:endParaRPr lang="en-US" altLang="en-US"/>
          </a:p>
        </p:txBody>
      </p:sp>
    </p:spTree>
    <p:extLst>
      <p:ext uri="{BB962C8B-B14F-4D97-AF65-F5344CB8AC3E}">
        <p14:creationId xmlns:p14="http://schemas.microsoft.com/office/powerpoint/2010/main" val="696715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DC1A9C7-6870-FF4A-A11E-43DB8B25578C}" type="datetime1">
              <a:rPr lang="en-US" smtClean="0"/>
              <a:t>9/18/22</a:t>
            </a:fld>
            <a:endParaRPr lang="en-US"/>
          </a:p>
        </p:txBody>
      </p:sp>
      <p:sp>
        <p:nvSpPr>
          <p:cNvPr id="5" name="Footer Placeholder 4"/>
          <p:cNvSpPr>
            <a:spLocks noGrp="1"/>
          </p:cNvSpPr>
          <p:nvPr>
            <p:ph type="ftr" sz="quarter" idx="11"/>
          </p:nvPr>
        </p:nvSpPr>
        <p:spPr/>
        <p:txBody>
          <a:bodyPr/>
          <a:lstStyle/>
          <a:p>
            <a:r>
              <a:rPr lang="en-US"/>
              <a:t>BSc/FGS/2022</a:t>
            </a:r>
          </a:p>
        </p:txBody>
      </p:sp>
      <p:sp>
        <p:nvSpPr>
          <p:cNvPr id="6" name="Slide Number Placeholder 5"/>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2629783888"/>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A19586-9A9D-8941-A419-F86441CAEF45}" type="datetime1">
              <a:rPr lang="en-US" smtClean="0"/>
              <a:t>9/18/22</a:t>
            </a:fld>
            <a:endParaRPr lang="en-US"/>
          </a:p>
        </p:txBody>
      </p:sp>
      <p:sp>
        <p:nvSpPr>
          <p:cNvPr id="5" name="Footer Placeholder 4"/>
          <p:cNvSpPr>
            <a:spLocks noGrp="1"/>
          </p:cNvSpPr>
          <p:nvPr>
            <p:ph type="ftr" sz="quarter" idx="11"/>
          </p:nvPr>
        </p:nvSpPr>
        <p:spPr/>
        <p:txBody>
          <a:bodyPr/>
          <a:lstStyle/>
          <a:p>
            <a:r>
              <a:rPr lang="en-US"/>
              <a:t>BSc/FGS/2022</a:t>
            </a:r>
          </a:p>
        </p:txBody>
      </p:sp>
      <p:sp>
        <p:nvSpPr>
          <p:cNvPr id="6" name="Slide Number Placeholder 5"/>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2167709235"/>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4974AD-F239-7D43-AB74-649D12ACA155}" type="datetime1">
              <a:rPr lang="en-US" smtClean="0"/>
              <a:t>9/18/22</a:t>
            </a:fld>
            <a:endParaRPr lang="en-US"/>
          </a:p>
        </p:txBody>
      </p:sp>
      <p:sp>
        <p:nvSpPr>
          <p:cNvPr id="5" name="Footer Placeholder 4"/>
          <p:cNvSpPr>
            <a:spLocks noGrp="1"/>
          </p:cNvSpPr>
          <p:nvPr>
            <p:ph type="ftr" sz="quarter" idx="11"/>
          </p:nvPr>
        </p:nvSpPr>
        <p:spPr/>
        <p:txBody>
          <a:bodyPr/>
          <a:lstStyle/>
          <a:p>
            <a:r>
              <a:rPr lang="en-US"/>
              <a:t>BSc/FGS/2022</a:t>
            </a:r>
          </a:p>
        </p:txBody>
      </p:sp>
      <p:sp>
        <p:nvSpPr>
          <p:cNvPr id="6" name="Slide Number Placeholder 5"/>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2328785205"/>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EF9E832-8942-1B47-91D3-627AA242EA40}" type="datetime1">
              <a:rPr lang="en-US" smtClean="0"/>
              <a:t>9/18/22</a:t>
            </a:fld>
            <a:endParaRPr lang="en-US"/>
          </a:p>
        </p:txBody>
      </p:sp>
      <p:sp>
        <p:nvSpPr>
          <p:cNvPr id="6" name="Footer Placeholder 5"/>
          <p:cNvSpPr>
            <a:spLocks noGrp="1"/>
          </p:cNvSpPr>
          <p:nvPr>
            <p:ph type="ftr" sz="quarter" idx="11"/>
          </p:nvPr>
        </p:nvSpPr>
        <p:spPr/>
        <p:txBody>
          <a:bodyPr/>
          <a:lstStyle/>
          <a:p>
            <a:r>
              <a:rPr lang="en-US"/>
              <a:t>BSc/FGS/2022</a:t>
            </a:r>
          </a:p>
        </p:txBody>
      </p:sp>
      <p:sp>
        <p:nvSpPr>
          <p:cNvPr id="7" name="Slide Number Placeholder 6"/>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2038082388"/>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C158A05-2C4B-0C49-A0D4-15F7405F0278}" type="datetime1">
              <a:rPr lang="en-US" smtClean="0"/>
              <a:t>9/18/22</a:t>
            </a:fld>
            <a:endParaRPr lang="en-US"/>
          </a:p>
        </p:txBody>
      </p:sp>
      <p:sp>
        <p:nvSpPr>
          <p:cNvPr id="8" name="Footer Placeholder 7"/>
          <p:cNvSpPr>
            <a:spLocks noGrp="1"/>
          </p:cNvSpPr>
          <p:nvPr>
            <p:ph type="ftr" sz="quarter" idx="11"/>
          </p:nvPr>
        </p:nvSpPr>
        <p:spPr/>
        <p:txBody>
          <a:bodyPr/>
          <a:lstStyle/>
          <a:p>
            <a:r>
              <a:rPr lang="en-US"/>
              <a:t>BSc/FGS/2022</a:t>
            </a:r>
          </a:p>
        </p:txBody>
      </p:sp>
      <p:sp>
        <p:nvSpPr>
          <p:cNvPr id="9" name="Slide Number Placeholder 8"/>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339944944"/>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856AC6-5FF8-0D4E-820E-3BCCA57921CC}" type="datetime1">
              <a:rPr lang="en-US" smtClean="0"/>
              <a:t>9/18/22</a:t>
            </a:fld>
            <a:endParaRPr lang="en-US"/>
          </a:p>
        </p:txBody>
      </p:sp>
      <p:sp>
        <p:nvSpPr>
          <p:cNvPr id="4" name="Footer Placeholder 3"/>
          <p:cNvSpPr>
            <a:spLocks noGrp="1"/>
          </p:cNvSpPr>
          <p:nvPr>
            <p:ph type="ftr" sz="quarter" idx="11"/>
          </p:nvPr>
        </p:nvSpPr>
        <p:spPr/>
        <p:txBody>
          <a:bodyPr/>
          <a:lstStyle/>
          <a:p>
            <a:r>
              <a:rPr lang="en-US"/>
              <a:t>BSc/FGS/2022</a:t>
            </a:r>
          </a:p>
        </p:txBody>
      </p:sp>
      <p:sp>
        <p:nvSpPr>
          <p:cNvPr id="5" name="Slide Number Placeholder 4"/>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1535410966"/>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FC1443-DB66-8D4D-8B32-513738D683BC}" type="datetime1">
              <a:rPr lang="en-US" smtClean="0"/>
              <a:t>9/18/22</a:t>
            </a:fld>
            <a:endParaRPr lang="en-US"/>
          </a:p>
        </p:txBody>
      </p:sp>
      <p:sp>
        <p:nvSpPr>
          <p:cNvPr id="3" name="Footer Placeholder 2"/>
          <p:cNvSpPr>
            <a:spLocks noGrp="1"/>
          </p:cNvSpPr>
          <p:nvPr>
            <p:ph type="ftr" sz="quarter" idx="11"/>
          </p:nvPr>
        </p:nvSpPr>
        <p:spPr/>
        <p:txBody>
          <a:bodyPr/>
          <a:lstStyle/>
          <a:p>
            <a:r>
              <a:rPr lang="en-US"/>
              <a:t>BSc/FGS/2022</a:t>
            </a:r>
          </a:p>
        </p:txBody>
      </p:sp>
      <p:sp>
        <p:nvSpPr>
          <p:cNvPr id="4" name="Slide Number Placeholder 3"/>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4135131471"/>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3D747AF-A5CE-C042-841A-21253FD3299A}" type="datetime1">
              <a:rPr lang="en-US" smtClean="0"/>
              <a:t>9/18/22</a:t>
            </a:fld>
            <a:endParaRPr lang="en-US"/>
          </a:p>
        </p:txBody>
      </p:sp>
      <p:sp>
        <p:nvSpPr>
          <p:cNvPr id="6" name="Footer Placeholder 5"/>
          <p:cNvSpPr>
            <a:spLocks noGrp="1"/>
          </p:cNvSpPr>
          <p:nvPr>
            <p:ph type="ftr" sz="quarter" idx="11"/>
          </p:nvPr>
        </p:nvSpPr>
        <p:spPr/>
        <p:txBody>
          <a:bodyPr/>
          <a:lstStyle/>
          <a:p>
            <a:r>
              <a:rPr lang="en-US"/>
              <a:t>BSc/FGS/2022</a:t>
            </a:r>
          </a:p>
        </p:txBody>
      </p:sp>
      <p:sp>
        <p:nvSpPr>
          <p:cNvPr id="7" name="Slide Number Placeholder 6"/>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2428630042"/>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6FE6DB7-53DE-6844-BB3E-CACF57122907}" type="datetime1">
              <a:rPr lang="en-US" smtClean="0"/>
              <a:t>9/18/22</a:t>
            </a:fld>
            <a:endParaRPr lang="en-US"/>
          </a:p>
        </p:txBody>
      </p:sp>
      <p:sp>
        <p:nvSpPr>
          <p:cNvPr id="6" name="Footer Placeholder 5"/>
          <p:cNvSpPr>
            <a:spLocks noGrp="1"/>
          </p:cNvSpPr>
          <p:nvPr>
            <p:ph type="ftr" sz="quarter" idx="11"/>
          </p:nvPr>
        </p:nvSpPr>
        <p:spPr/>
        <p:txBody>
          <a:bodyPr/>
          <a:lstStyle/>
          <a:p>
            <a:r>
              <a:rPr lang="en-US"/>
              <a:t>BSc/FGS/2022</a:t>
            </a:r>
          </a:p>
        </p:txBody>
      </p:sp>
      <p:sp>
        <p:nvSpPr>
          <p:cNvPr id="7" name="Slide Number Placeholder 6"/>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1502543223"/>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A443D7-DE8E-AA4F-A92E-C3440B61A901}" type="datetime1">
              <a:rPr lang="en-US" smtClean="0"/>
              <a:t>9/18/22</a:t>
            </a:fld>
            <a:endParaRPr lang="en-US"/>
          </a:p>
        </p:txBody>
      </p:sp>
      <p:sp>
        <p:nvSpPr>
          <p:cNvPr id="5" name="Footer Placeholder 4"/>
          <p:cNvSpPr>
            <a:spLocks noGrp="1"/>
          </p:cNvSpPr>
          <p:nvPr>
            <p:ph type="ftr" sz="quarter" idx="11"/>
          </p:nvPr>
        </p:nvSpPr>
        <p:spPr/>
        <p:txBody>
          <a:bodyPr/>
          <a:lstStyle/>
          <a:p>
            <a:r>
              <a:rPr lang="en-US"/>
              <a:t>BSc/FGS/2022</a:t>
            </a:r>
          </a:p>
        </p:txBody>
      </p:sp>
      <p:sp>
        <p:nvSpPr>
          <p:cNvPr id="6" name="Slide Number Placeholder 5"/>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1231258341"/>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D08496-C887-5C48-A319-8AEEEF629A05}" type="datetime1">
              <a:rPr lang="en-US" smtClean="0"/>
              <a:t>9/18/22</a:t>
            </a:fld>
            <a:endParaRPr lang="en-US"/>
          </a:p>
        </p:txBody>
      </p:sp>
      <p:sp>
        <p:nvSpPr>
          <p:cNvPr id="5" name="Footer Placeholder 4"/>
          <p:cNvSpPr>
            <a:spLocks noGrp="1"/>
          </p:cNvSpPr>
          <p:nvPr>
            <p:ph type="ftr" sz="quarter" idx="11"/>
          </p:nvPr>
        </p:nvSpPr>
        <p:spPr/>
        <p:txBody>
          <a:bodyPr/>
          <a:lstStyle/>
          <a:p>
            <a:r>
              <a:rPr lang="en-US"/>
              <a:t>BSc/FGS/2022</a:t>
            </a:r>
          </a:p>
        </p:txBody>
      </p:sp>
      <p:sp>
        <p:nvSpPr>
          <p:cNvPr id="6" name="Slide Number Placeholder 5"/>
          <p:cNvSpPr>
            <a:spLocks noGrp="1"/>
          </p:cNvSpPr>
          <p:nvPr>
            <p:ph type="sldNum" sz="quarter" idx="12"/>
          </p:nvPr>
        </p:nvSpPr>
        <p:spPr/>
        <p:txBody>
          <a:bodyPr/>
          <a:lstStyle/>
          <a:p>
            <a:fld id="{74F55D90-0D1F-43D0-8F31-49152F7873AE}" type="slidenum">
              <a:rPr lang="en-US" smtClean="0"/>
              <a:t>‹#›</a:t>
            </a:fld>
            <a:endParaRPr lang="en-US"/>
          </a:p>
        </p:txBody>
      </p:sp>
    </p:spTree>
    <p:extLst>
      <p:ext uri="{BB962C8B-B14F-4D97-AF65-F5344CB8AC3E}">
        <p14:creationId xmlns:p14="http://schemas.microsoft.com/office/powerpoint/2010/main" val="2861516850"/>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9BF1864-EA14-D549-BD34-7367E7212E11}" type="datetime1">
              <a:rPr lang="en-US" smtClean="0"/>
              <a:t>9/18/22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BSc/FGS/2022</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4F55D90-0D1F-43D0-8F31-49152F7873AE}" type="slidenum">
              <a:rPr lang="en-US" smtClean="0"/>
              <a:t>‹#›</a:t>
            </a:fld>
            <a:endParaRPr lang="en-US"/>
          </a:p>
        </p:txBody>
      </p:sp>
    </p:spTree>
    <p:extLst>
      <p:ext uri="{BB962C8B-B14F-4D97-AF65-F5344CB8AC3E}">
        <p14:creationId xmlns:p14="http://schemas.microsoft.com/office/powerpoint/2010/main" val="269555949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med">
    <p:wipe dir="r"/>
  </p:transition>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295275" y="318590"/>
            <a:ext cx="8553450" cy="1257300"/>
          </a:xfrm>
        </p:spPr>
        <p:txBody>
          <a:bodyPr>
            <a:normAutofit fontScale="90000"/>
          </a:bodyPr>
          <a:lstStyle/>
          <a:p>
            <a:pPr algn="ctr"/>
            <a:r>
              <a:rPr lang="en-US" altLang="en-US" sz="4000" dirty="0">
                <a:effectLst>
                  <a:outerShdw blurRad="38100" dist="38100" dir="2700000" algn="tl">
                    <a:srgbClr val="C0C0C0"/>
                  </a:outerShdw>
                </a:effectLst>
              </a:rPr>
              <a:t> </a:t>
            </a:r>
            <a:r>
              <a:rPr lang="en-US" altLang="en-US" sz="4000" b="1" dirty="0">
                <a:effectLst>
                  <a:outerShdw blurRad="38100" dist="38100" dir="2700000" algn="tl">
                    <a:srgbClr val="C0C0C0"/>
                  </a:outerShdw>
                </a:effectLst>
                <a:latin typeface="Telugu MN" pitchFamily="2" charset="0"/>
                <a:cs typeface="Telugu MN" pitchFamily="2" charset="0"/>
              </a:rPr>
              <a:t>MACROECONOMICS</a:t>
            </a:r>
            <a:r>
              <a:rPr lang="en-US" altLang="en-US" sz="4000" b="1" dirty="0">
                <a:effectLst>
                  <a:outerShdw blurRad="38100" dist="38100" dir="2700000" algn="tl">
                    <a:srgbClr val="C0C0C0"/>
                  </a:outerShdw>
                </a:effectLst>
                <a:latin typeface="Arial" panose="020B0604020202020204" pitchFamily="34" charset="0"/>
                <a:cs typeface="Arial" panose="020B0604020202020204" pitchFamily="34" charset="0"/>
              </a:rPr>
              <a:t> </a:t>
            </a:r>
            <a:br>
              <a:rPr lang="en-US" altLang="en-US" sz="3200" b="1" dirty="0">
                <a:effectLst>
                  <a:outerShdw blurRad="38100" dist="38100" dir="2700000" algn="tl">
                    <a:srgbClr val="C0C0C0"/>
                  </a:outerShdw>
                </a:effectLst>
                <a:latin typeface="Arial" panose="020B0604020202020204" pitchFamily="34" charset="0"/>
                <a:cs typeface="Arial" panose="020B0604020202020204" pitchFamily="34" charset="0"/>
              </a:rPr>
            </a:br>
            <a:br>
              <a:rPr lang="en-US" altLang="en-US" sz="3200" b="1" dirty="0">
                <a:effectLst>
                  <a:outerShdw blurRad="38100" dist="38100" dir="2700000" algn="tl">
                    <a:srgbClr val="C0C0C0"/>
                  </a:outerShdw>
                </a:effectLst>
                <a:latin typeface="Arial" panose="020B0604020202020204" pitchFamily="34" charset="0"/>
                <a:cs typeface="Arial" panose="020B0604020202020204" pitchFamily="34" charset="0"/>
              </a:rPr>
            </a:br>
            <a:r>
              <a:rPr lang="en-US" altLang="en-US" sz="3100" b="1" dirty="0">
                <a:effectLst>
                  <a:outerShdw blurRad="38100" dist="38100" dir="2700000" algn="tl">
                    <a:srgbClr val="C0C0C0"/>
                  </a:outerShdw>
                </a:effectLst>
                <a:latin typeface="Arial" panose="020B0604020202020204" pitchFamily="34" charset="0"/>
                <a:cs typeface="Arial" panose="020B0604020202020204" pitchFamily="34" charset="0"/>
              </a:rPr>
              <a:t>Lecture 03: Measuring National Income  </a:t>
            </a:r>
            <a:endParaRPr lang="en-US" altLang="en-US" sz="3200" b="1" dirty="0">
              <a:effectLst>
                <a:outerShdw blurRad="38100" dist="38100" dir="2700000" algn="tl">
                  <a:srgbClr val="C0C0C0"/>
                </a:outerShdw>
              </a:effectLst>
              <a:latin typeface="Arial" panose="020B0604020202020204" pitchFamily="34" charset="0"/>
              <a:cs typeface="Arial" panose="020B0604020202020204" pitchFamily="34" charset="0"/>
            </a:endParaRPr>
          </a:p>
        </p:txBody>
      </p:sp>
      <p:sp>
        <p:nvSpPr>
          <p:cNvPr id="74757" name="AutoShape 5" descr="https://encrypted-tbn0.gstatic.com/images?q=tbn:ANd9GcSymetzoGaFM_-qMFcLmgpZ_j-rMV-R2MmCBVdp8YTsPzvJ-VGJ"/>
          <p:cNvSpPr>
            <a:spLocks noChangeAspect="1" noChangeArrowheads="1"/>
          </p:cNvSpPr>
          <p:nvPr/>
        </p:nvSpPr>
        <p:spPr bwMode="auto">
          <a:xfrm>
            <a:off x="168275" y="-1790700"/>
            <a:ext cx="4981575" cy="37433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4761" name="Picture 9" descr="http://host.cdn.easystore.my/estore/1211/income-and-revenue-502.jpg?cache=20130914192534"/>
          <p:cNvPicPr>
            <a:picLocks noChangeAspect="1" noChangeArrowheads="1"/>
          </p:cNvPicPr>
          <p:nvPr/>
        </p:nvPicPr>
        <p:blipFill>
          <a:blip r:embed="rId3"/>
          <a:srcRect/>
          <a:stretch>
            <a:fillRect/>
          </a:stretch>
        </p:blipFill>
        <p:spPr bwMode="auto">
          <a:xfrm>
            <a:off x="2900635" y="2133936"/>
            <a:ext cx="3656239" cy="2759590"/>
          </a:xfrm>
          <a:prstGeom prst="rect">
            <a:avLst/>
          </a:prstGeom>
          <a:noFill/>
        </p:spPr>
      </p:pic>
      <p:sp>
        <p:nvSpPr>
          <p:cNvPr id="8" name="TextBox 7"/>
          <p:cNvSpPr txBox="1"/>
          <p:nvPr/>
        </p:nvSpPr>
        <p:spPr>
          <a:xfrm>
            <a:off x="400595" y="5747571"/>
            <a:ext cx="4328160" cy="400110"/>
          </a:xfrm>
          <a:prstGeom prst="rect">
            <a:avLst/>
          </a:prstGeom>
          <a:noFill/>
        </p:spPr>
        <p:txBody>
          <a:bodyPr wrap="square" rtlCol="0">
            <a:spAutoFit/>
          </a:bodyPr>
          <a:lstStyle/>
          <a:p>
            <a:pPr algn="ctr"/>
            <a:r>
              <a:rPr lang="en-US" sz="2000" b="1" dirty="0">
                <a:solidFill>
                  <a:schemeClr val="tx2">
                    <a:lumMod val="50000"/>
                  </a:schemeClr>
                </a:solidFill>
                <a:latin typeface="Arial" pitchFamily="34" charset="0"/>
                <a:cs typeface="Arial" pitchFamily="34" charset="0"/>
              </a:rPr>
              <a:t>Dr. </a:t>
            </a:r>
            <a:r>
              <a:rPr lang="en-US" sz="2000" b="1" dirty="0" err="1">
                <a:solidFill>
                  <a:schemeClr val="tx2">
                    <a:lumMod val="50000"/>
                  </a:schemeClr>
                </a:solidFill>
                <a:latin typeface="Arial" pitchFamily="34" charset="0"/>
                <a:cs typeface="Arial" pitchFamily="34" charset="0"/>
              </a:rPr>
              <a:t>Hemantha</a:t>
            </a:r>
            <a:r>
              <a:rPr lang="en-US" sz="2000" b="1" dirty="0">
                <a:solidFill>
                  <a:schemeClr val="tx2">
                    <a:lumMod val="50000"/>
                  </a:schemeClr>
                </a:solidFill>
                <a:latin typeface="Arial" pitchFamily="34" charset="0"/>
                <a:cs typeface="Arial" pitchFamily="34" charset="0"/>
              </a:rPr>
              <a:t> </a:t>
            </a:r>
            <a:r>
              <a:rPr lang="en-US" sz="2000" b="1" dirty="0" err="1">
                <a:solidFill>
                  <a:schemeClr val="tx2">
                    <a:lumMod val="50000"/>
                  </a:schemeClr>
                </a:solidFill>
                <a:latin typeface="Arial" pitchFamily="34" charset="0"/>
                <a:cs typeface="Arial" pitchFamily="34" charset="0"/>
              </a:rPr>
              <a:t>Premarathne</a:t>
            </a:r>
            <a:endParaRPr lang="en-US" sz="2000" b="1" dirty="0">
              <a:solidFill>
                <a:schemeClr val="tx2">
                  <a:lumMod val="50000"/>
                </a:schemeClr>
              </a:solidFill>
              <a:latin typeface="Arial" pitchFamily="34" charset="0"/>
              <a:cs typeface="Arial" pitchFamily="34" charset="0"/>
            </a:endParaRPr>
          </a:p>
        </p:txBody>
      </p:sp>
      <p:sp>
        <p:nvSpPr>
          <p:cNvPr id="9" name="TextBox 8"/>
          <p:cNvSpPr txBox="1"/>
          <p:nvPr/>
        </p:nvSpPr>
        <p:spPr>
          <a:xfrm>
            <a:off x="407125" y="6193197"/>
            <a:ext cx="4217126" cy="276999"/>
          </a:xfrm>
          <a:prstGeom prst="rect">
            <a:avLst/>
          </a:prstGeom>
          <a:noFill/>
        </p:spPr>
        <p:txBody>
          <a:bodyPr wrap="square" rtlCol="0">
            <a:spAutoFit/>
          </a:bodyPr>
          <a:lstStyle/>
          <a:p>
            <a:r>
              <a:rPr lang="en-US" sz="1200" i="1" dirty="0">
                <a:solidFill>
                  <a:schemeClr val="tx2">
                    <a:lumMod val="50000"/>
                  </a:schemeClr>
                </a:solidFill>
                <a:latin typeface="Arial" pitchFamily="34" charset="0"/>
                <a:cs typeface="Arial" pitchFamily="34" charset="0"/>
              </a:rPr>
              <a:t>B.A. Econ &amp; Stat (</a:t>
            </a:r>
            <a:r>
              <a:rPr lang="en-US" sz="1200" i="1" dirty="0" err="1">
                <a:solidFill>
                  <a:schemeClr val="tx2">
                    <a:lumMod val="50000"/>
                  </a:schemeClr>
                </a:solidFill>
                <a:latin typeface="Arial" pitchFamily="34" charset="0"/>
                <a:cs typeface="Arial" pitchFamily="34" charset="0"/>
              </a:rPr>
              <a:t>Hons</a:t>
            </a:r>
            <a:r>
              <a:rPr lang="en-US" sz="1200" i="1" dirty="0">
                <a:solidFill>
                  <a:schemeClr val="tx2">
                    <a:lumMod val="50000"/>
                  </a:schemeClr>
                </a:solidFill>
                <a:latin typeface="Arial" pitchFamily="34" charset="0"/>
                <a:cs typeface="Arial" pitchFamily="34" charset="0"/>
              </a:rPr>
              <a:t>) </a:t>
            </a:r>
            <a:r>
              <a:rPr lang="en-US" sz="1200" i="1" dirty="0" err="1">
                <a:solidFill>
                  <a:schemeClr val="tx2">
                    <a:lumMod val="50000"/>
                  </a:schemeClr>
                </a:solidFill>
                <a:latin typeface="Arial" pitchFamily="34" charset="0"/>
                <a:cs typeface="Arial" pitchFamily="34" charset="0"/>
              </a:rPr>
              <a:t>Pera</a:t>
            </a:r>
            <a:r>
              <a:rPr lang="en-US" sz="1200" i="1" dirty="0">
                <a:solidFill>
                  <a:schemeClr val="tx2">
                    <a:lumMod val="50000"/>
                  </a:schemeClr>
                </a:solidFill>
                <a:latin typeface="Arial" pitchFamily="34" charset="0"/>
                <a:cs typeface="Arial" pitchFamily="34" charset="0"/>
              </a:rPr>
              <a:t>, M.A. &amp; Ph.D. (Saga, Japan) </a:t>
            </a:r>
          </a:p>
        </p:txBody>
      </p:sp>
      <p:sp>
        <p:nvSpPr>
          <p:cNvPr id="2" name="Footer Placeholder 1"/>
          <p:cNvSpPr>
            <a:spLocks noGrp="1"/>
          </p:cNvSpPr>
          <p:nvPr>
            <p:ph type="ftr" sz="quarter" idx="11"/>
          </p:nvPr>
        </p:nvSpPr>
        <p:spPr/>
        <p:txBody>
          <a:bodyPr/>
          <a:lstStyle/>
          <a:p>
            <a:r>
              <a:rPr lang="en-US"/>
              <a:t>BSc/FGS/2022</a:t>
            </a:r>
            <a:endParaRPr lang="en-US" dirty="0"/>
          </a:p>
        </p:txBody>
      </p:sp>
      <p:sp>
        <p:nvSpPr>
          <p:cNvPr id="3" name="Slide Number Placeholder 2"/>
          <p:cNvSpPr>
            <a:spLocks noGrp="1"/>
          </p:cNvSpPr>
          <p:nvPr>
            <p:ph type="sldNum" sz="quarter" idx="12"/>
          </p:nvPr>
        </p:nvSpPr>
        <p:spPr/>
        <p:txBody>
          <a:bodyPr/>
          <a:lstStyle/>
          <a:p>
            <a:fld id="{74F55D90-0D1F-43D0-8F31-49152F7873AE}" type="slidenum">
              <a:rPr lang="en-US" smtClean="0"/>
              <a:t>1</a:t>
            </a:fld>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 to="" calcmode="lin" valueType="num">
                                      <p:cBhvr>
                                        <p:cTn id="10" dur="1" fill="hold"/>
                                        <p:tgtEl>
                                          <p:spTgt spid="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0631" y="755990"/>
            <a:ext cx="4598125" cy="523220"/>
          </a:xfrm>
          <a:prstGeom prst="rect">
            <a:avLst/>
          </a:prstGeom>
          <a:noFill/>
        </p:spPr>
        <p:txBody>
          <a:bodyPr wrap="square" rtlCol="0">
            <a:spAutoFit/>
          </a:bodyPr>
          <a:lstStyle/>
          <a:p>
            <a:r>
              <a:rPr lang="en-US" sz="2800" b="1" dirty="0">
                <a:solidFill>
                  <a:prstClr val="black"/>
                </a:solidFill>
              </a:rPr>
              <a:t>Layout of the Lecture</a:t>
            </a:r>
          </a:p>
        </p:txBody>
      </p:sp>
      <p:sp>
        <p:nvSpPr>
          <p:cNvPr id="6" name="TextBox 5"/>
          <p:cNvSpPr txBox="1"/>
          <p:nvPr/>
        </p:nvSpPr>
        <p:spPr>
          <a:xfrm>
            <a:off x="661852" y="1555623"/>
            <a:ext cx="8273142" cy="3970318"/>
          </a:xfrm>
          <a:prstGeom prst="rect">
            <a:avLst/>
          </a:prstGeom>
          <a:noFill/>
        </p:spPr>
        <p:txBody>
          <a:bodyPr wrap="square" rtlCol="0">
            <a:spAutoFit/>
          </a:bodyPr>
          <a:lstStyle/>
          <a:p>
            <a:pPr>
              <a:lnSpc>
                <a:spcPct val="150000"/>
              </a:lnSpc>
            </a:pPr>
            <a:r>
              <a:rPr lang="en-US" dirty="0">
                <a:solidFill>
                  <a:prstClr val="black"/>
                </a:solidFill>
              </a:rPr>
              <a:t>3.1 Introduction</a:t>
            </a:r>
          </a:p>
          <a:p>
            <a:pPr>
              <a:lnSpc>
                <a:spcPct val="150000"/>
              </a:lnSpc>
            </a:pPr>
            <a:r>
              <a:rPr lang="en-US" dirty="0">
                <a:solidFill>
                  <a:prstClr val="black"/>
                </a:solidFill>
              </a:rPr>
              <a:t>3.2  Some Concepts related to National Income</a:t>
            </a:r>
          </a:p>
          <a:p>
            <a:pPr>
              <a:lnSpc>
                <a:spcPct val="150000"/>
              </a:lnSpc>
            </a:pPr>
            <a:r>
              <a:rPr lang="en-US" dirty="0">
                <a:solidFill>
                  <a:prstClr val="black"/>
                </a:solidFill>
              </a:rPr>
              <a:t>3.3 National Income Measures</a:t>
            </a:r>
          </a:p>
          <a:p>
            <a:pPr>
              <a:lnSpc>
                <a:spcPct val="150000"/>
              </a:lnSpc>
            </a:pPr>
            <a:r>
              <a:rPr lang="en-US" dirty="0">
                <a:solidFill>
                  <a:prstClr val="black"/>
                </a:solidFill>
              </a:rPr>
              <a:t>3.4 Methods of Measuring National Income</a:t>
            </a:r>
          </a:p>
          <a:p>
            <a:pPr>
              <a:lnSpc>
                <a:spcPct val="150000"/>
              </a:lnSpc>
            </a:pPr>
            <a:r>
              <a:rPr lang="en-US" dirty="0">
                <a:solidFill>
                  <a:prstClr val="black"/>
                </a:solidFill>
              </a:rPr>
              <a:t>3.5 Measurement of National Income in Sri Lanka</a:t>
            </a:r>
          </a:p>
          <a:p>
            <a:pPr>
              <a:lnSpc>
                <a:spcPct val="150000"/>
              </a:lnSpc>
            </a:pPr>
            <a:r>
              <a:rPr lang="en-US" dirty="0">
                <a:solidFill>
                  <a:prstClr val="black"/>
                </a:solidFill>
              </a:rPr>
              <a:t>3.6 Merits of Measuring National Income</a:t>
            </a:r>
          </a:p>
          <a:p>
            <a:pPr>
              <a:lnSpc>
                <a:spcPct val="150000"/>
              </a:lnSpc>
            </a:pPr>
            <a:r>
              <a:rPr lang="en-US" dirty="0">
                <a:solidFill>
                  <a:prstClr val="black"/>
                </a:solidFill>
              </a:rPr>
              <a:t>3.7 Limitations of Measuring National Income</a:t>
            </a:r>
          </a:p>
        </p:txBody>
      </p:sp>
      <p:sp>
        <p:nvSpPr>
          <p:cNvPr id="3" name="Footer Placeholder 2"/>
          <p:cNvSpPr>
            <a:spLocks noGrp="1"/>
          </p:cNvSpPr>
          <p:nvPr>
            <p:ph type="ftr" sz="quarter" idx="11"/>
          </p:nvPr>
        </p:nvSpPr>
        <p:spPr/>
        <p:txBody>
          <a:bodyPr/>
          <a:lstStyle/>
          <a:p>
            <a:r>
              <a:rPr lang="en-US">
                <a:solidFill>
                  <a:prstClr val="black">
                    <a:tint val="75000"/>
                  </a:prstClr>
                </a:solidFill>
              </a:rPr>
              <a:t>BSc/FGS/2022</a:t>
            </a:r>
          </a:p>
        </p:txBody>
      </p:sp>
      <p:sp>
        <p:nvSpPr>
          <p:cNvPr id="7" name="Slide Number Placeholder 6"/>
          <p:cNvSpPr>
            <a:spLocks noGrp="1"/>
          </p:cNvSpPr>
          <p:nvPr>
            <p:ph type="sldNum" sz="quarter" idx="12"/>
          </p:nvPr>
        </p:nvSpPr>
        <p:spPr/>
        <p:txBody>
          <a:bodyPr/>
          <a:lstStyle/>
          <a:p>
            <a:fld id="{74F55D90-0D1F-43D0-8F31-49152F7873AE}" type="slidenum">
              <a:rPr lang="en-US" smtClean="0">
                <a:solidFill>
                  <a:prstClr val="black">
                    <a:tint val="75000"/>
                  </a:prstClr>
                </a:solidFill>
              </a:rPr>
              <a:pPr/>
              <a:t>2</a:t>
            </a:fld>
            <a:endParaRPr lang="en-US">
              <a:solidFill>
                <a:prstClr val="black">
                  <a:tint val="75000"/>
                </a:prstClr>
              </a:solidFill>
            </a:endParaRPr>
          </a:p>
        </p:txBody>
      </p:sp>
    </p:spTree>
    <p:extLst>
      <p:ext uri="{BB962C8B-B14F-4D97-AF65-F5344CB8AC3E}">
        <p14:creationId xmlns:p14="http://schemas.microsoft.com/office/powerpoint/2010/main" val="389810752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174170"/>
            <a:ext cx="8553450" cy="1143000"/>
          </a:xfrm>
        </p:spPr>
        <p:txBody>
          <a:bodyPr/>
          <a:lstStyle/>
          <a:p>
            <a:pPr algn="ctr"/>
            <a:r>
              <a:rPr lang="en-US" b="1" dirty="0">
                <a:latin typeface="Arial" panose="020B0604020202020204" pitchFamily="34" charset="0"/>
                <a:cs typeface="Arial" panose="020B0604020202020204" pitchFamily="34" charset="0"/>
              </a:rPr>
              <a:t>3.1 Introduction </a:t>
            </a:r>
          </a:p>
        </p:txBody>
      </p:sp>
      <p:sp>
        <p:nvSpPr>
          <p:cNvPr id="4" name="TextBox 3"/>
          <p:cNvSpPr txBox="1"/>
          <p:nvPr/>
        </p:nvSpPr>
        <p:spPr>
          <a:xfrm>
            <a:off x="496389" y="1502228"/>
            <a:ext cx="8151222" cy="1569660"/>
          </a:xfrm>
          <a:prstGeom prst="rect">
            <a:avLst/>
          </a:prstGeom>
          <a:noFill/>
        </p:spPr>
        <p:txBody>
          <a:bodyPr wrap="square" rtlCol="0">
            <a:spAutoFit/>
          </a:bodyPr>
          <a:lstStyle/>
          <a:p>
            <a:pPr algn="just">
              <a:buFont typeface="Wingdings" pitchFamily="2" charset="2"/>
              <a:buChar char="q"/>
            </a:pPr>
            <a:r>
              <a:rPr lang="en-US" dirty="0"/>
              <a:t>  Macroeconomics is the study of the economy as a whole. National income (GDP/GNP) is the single most important macro variable that represents the “economy as a whole”.</a:t>
            </a:r>
          </a:p>
        </p:txBody>
      </p:sp>
      <p:sp>
        <p:nvSpPr>
          <p:cNvPr id="5" name="TextBox 4"/>
          <p:cNvSpPr txBox="1"/>
          <p:nvPr/>
        </p:nvSpPr>
        <p:spPr>
          <a:xfrm>
            <a:off x="478970" y="3104621"/>
            <a:ext cx="8151222" cy="830997"/>
          </a:xfrm>
          <a:prstGeom prst="rect">
            <a:avLst/>
          </a:prstGeom>
          <a:noFill/>
        </p:spPr>
        <p:txBody>
          <a:bodyPr wrap="square" rtlCol="0">
            <a:spAutoFit/>
          </a:bodyPr>
          <a:lstStyle/>
          <a:p>
            <a:pPr algn="just">
              <a:buFont typeface="Wingdings" pitchFamily="2" charset="2"/>
              <a:buChar char="q"/>
            </a:pPr>
            <a:r>
              <a:rPr lang="en-US" dirty="0"/>
              <a:t>  All other macro variables are either the components of or are the result of national income (GDP/GNP).</a:t>
            </a:r>
          </a:p>
        </p:txBody>
      </p:sp>
      <p:sp>
        <p:nvSpPr>
          <p:cNvPr id="6" name="TextBox 5"/>
          <p:cNvSpPr txBox="1"/>
          <p:nvPr/>
        </p:nvSpPr>
        <p:spPr>
          <a:xfrm>
            <a:off x="513807" y="4014684"/>
            <a:ext cx="8151222" cy="830997"/>
          </a:xfrm>
          <a:prstGeom prst="rect">
            <a:avLst/>
          </a:prstGeom>
          <a:noFill/>
        </p:spPr>
        <p:txBody>
          <a:bodyPr wrap="square" rtlCol="0">
            <a:spAutoFit/>
          </a:bodyPr>
          <a:lstStyle/>
          <a:p>
            <a:pPr algn="just">
              <a:buFont typeface="Wingdings" pitchFamily="2" charset="2"/>
              <a:buChar char="q"/>
            </a:pPr>
            <a:r>
              <a:rPr lang="en-US" dirty="0"/>
              <a:t>  From the practical point of view, a country’s national income data is used for;</a:t>
            </a:r>
          </a:p>
        </p:txBody>
      </p:sp>
      <p:sp>
        <p:nvSpPr>
          <p:cNvPr id="7" name="TextBox 6"/>
          <p:cNvSpPr txBox="1"/>
          <p:nvPr/>
        </p:nvSpPr>
        <p:spPr>
          <a:xfrm>
            <a:off x="705394" y="4833255"/>
            <a:ext cx="8059783" cy="1287532"/>
          </a:xfrm>
          <a:prstGeom prst="rect">
            <a:avLst/>
          </a:prstGeom>
          <a:noFill/>
        </p:spPr>
        <p:txBody>
          <a:bodyPr wrap="square" rtlCol="0">
            <a:spAutoFit/>
          </a:bodyPr>
          <a:lstStyle/>
          <a:p>
            <a:pPr marL="457200" indent="-457200">
              <a:lnSpc>
                <a:spcPct val="150000"/>
              </a:lnSpc>
              <a:buFont typeface="+mj-lt"/>
              <a:buAutoNum type="alphaLcParenR"/>
            </a:pPr>
            <a:r>
              <a:rPr lang="en-US" sz="1800" dirty="0"/>
              <a:t> measuring the standard of living and economic welfare of its people.</a:t>
            </a:r>
          </a:p>
          <a:p>
            <a:pPr marL="457200" indent="-457200">
              <a:lnSpc>
                <a:spcPct val="150000"/>
              </a:lnSpc>
              <a:buFont typeface="+mj-lt"/>
              <a:buAutoNum type="alphaLcParenR"/>
            </a:pPr>
            <a:r>
              <a:rPr lang="en-US" sz="1800" dirty="0"/>
              <a:t> formulation of economic policies for the management of the economy.</a:t>
            </a:r>
          </a:p>
          <a:p>
            <a:pPr marL="457200" indent="-457200">
              <a:lnSpc>
                <a:spcPct val="150000"/>
              </a:lnSpc>
              <a:buFont typeface="+mj-lt"/>
              <a:buAutoNum type="alphaLcParenR"/>
            </a:pPr>
            <a:r>
              <a:rPr lang="en-US" sz="1800" dirty="0"/>
              <a:t> making international comparisons about the status of the economy. </a:t>
            </a:r>
          </a:p>
        </p:txBody>
      </p:sp>
      <p:sp>
        <p:nvSpPr>
          <p:cNvPr id="3" name="Footer Placeholder 2"/>
          <p:cNvSpPr>
            <a:spLocks noGrp="1"/>
          </p:cNvSpPr>
          <p:nvPr>
            <p:ph type="ftr" sz="quarter" idx="11"/>
          </p:nvPr>
        </p:nvSpPr>
        <p:spPr/>
        <p:txBody>
          <a:bodyPr/>
          <a:lstStyle/>
          <a:p>
            <a:r>
              <a:rPr lang="en-US"/>
              <a:t>BSc/FGS/2022</a:t>
            </a:r>
          </a:p>
        </p:txBody>
      </p:sp>
      <p:sp>
        <p:nvSpPr>
          <p:cNvPr id="8" name="Slide Number Placeholder 7"/>
          <p:cNvSpPr>
            <a:spLocks noGrp="1"/>
          </p:cNvSpPr>
          <p:nvPr>
            <p:ph type="sldNum" sz="quarter" idx="12"/>
          </p:nvPr>
        </p:nvSpPr>
        <p:spPr/>
        <p:txBody>
          <a:bodyPr/>
          <a:lstStyle/>
          <a:p>
            <a:fld id="{74F55D90-0D1F-43D0-8F31-49152F7873AE}" type="slidenum">
              <a:rPr lang="en-US" smtClean="0"/>
              <a:t>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to="" calcmode="lin" valueType="num">
                                      <p:cBhvr>
                                        <p:cTn id="17" dur="1" fill="hold"/>
                                        <p:tgtEl>
                                          <p:spTgt spid="5"/>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to="" calcmode="lin" valueType="num">
                                      <p:cBhvr>
                                        <p:cTn id="22" dur="1" fill="hold"/>
                                        <p:tgtEl>
                                          <p:spTgt spid="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to="" calcmode="lin" valueType="num">
                                      <p:cBhvr>
                                        <p:cTn id="27" dur="1" fill="hold"/>
                                        <p:tgtEl>
                                          <p:spTgt spid="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85750" y="129989"/>
            <a:ext cx="8553450" cy="770964"/>
          </a:xfrm>
        </p:spPr>
        <p:txBody>
          <a:bodyPr/>
          <a:lstStyle/>
          <a:p>
            <a:r>
              <a:rPr lang="en-US" altLang="en-US" sz="2800" b="1" dirty="0">
                <a:effectLst>
                  <a:outerShdw blurRad="38100" dist="38100" dir="2700000" algn="tl">
                    <a:srgbClr val="C0C0C0"/>
                  </a:outerShdw>
                </a:effectLst>
                <a:latin typeface="Arial" panose="020B0604020202020204" pitchFamily="34" charset="0"/>
                <a:cs typeface="Arial" panose="020B0604020202020204" pitchFamily="34" charset="0"/>
              </a:rPr>
              <a:t>3.2 Some Concepts related to National Income</a:t>
            </a:r>
          </a:p>
        </p:txBody>
      </p:sp>
      <p:sp>
        <p:nvSpPr>
          <p:cNvPr id="5" name="TextBox 4"/>
          <p:cNvSpPr txBox="1"/>
          <p:nvPr/>
        </p:nvSpPr>
        <p:spPr>
          <a:xfrm>
            <a:off x="507147" y="847165"/>
            <a:ext cx="7249885" cy="461665"/>
          </a:xfrm>
          <a:prstGeom prst="rect">
            <a:avLst/>
          </a:prstGeom>
          <a:noFill/>
        </p:spPr>
        <p:txBody>
          <a:bodyPr wrap="square" rtlCol="0">
            <a:spAutoFit/>
          </a:bodyPr>
          <a:lstStyle/>
          <a:p>
            <a:r>
              <a:rPr lang="en-US" b="1" dirty="0">
                <a:solidFill>
                  <a:srgbClr val="7030A0"/>
                </a:solidFill>
              </a:rPr>
              <a:t>Economic &amp; Non-Economic Production</a:t>
            </a:r>
          </a:p>
        </p:txBody>
      </p:sp>
      <p:sp>
        <p:nvSpPr>
          <p:cNvPr id="6" name="TextBox 5"/>
          <p:cNvSpPr txBox="1"/>
          <p:nvPr/>
        </p:nvSpPr>
        <p:spPr>
          <a:xfrm>
            <a:off x="587828" y="1456510"/>
            <a:ext cx="7863840" cy="1323439"/>
          </a:xfrm>
          <a:prstGeom prst="rect">
            <a:avLst/>
          </a:prstGeom>
          <a:noFill/>
        </p:spPr>
        <p:txBody>
          <a:bodyPr wrap="square" rtlCol="0">
            <a:spAutoFit/>
          </a:bodyPr>
          <a:lstStyle/>
          <a:p>
            <a:pPr algn="just"/>
            <a:r>
              <a:rPr lang="en-US" sz="2000" dirty="0"/>
              <a:t>All goods and services produced by human activities are not included in national income accounting. For this purpose, production of goods and services by human beings are classified under two categories. </a:t>
            </a:r>
          </a:p>
        </p:txBody>
      </p:sp>
      <p:sp>
        <p:nvSpPr>
          <p:cNvPr id="7" name="TextBox 6"/>
          <p:cNvSpPr txBox="1"/>
          <p:nvPr/>
        </p:nvSpPr>
        <p:spPr>
          <a:xfrm>
            <a:off x="2908687" y="2925201"/>
            <a:ext cx="3165561" cy="430887"/>
          </a:xfrm>
          <a:prstGeom prst="rect">
            <a:avLst/>
          </a:prstGeom>
          <a:noFill/>
        </p:spPr>
        <p:txBody>
          <a:bodyPr wrap="square" rtlCol="0">
            <a:spAutoFit/>
          </a:bodyPr>
          <a:lstStyle/>
          <a:p>
            <a:r>
              <a:rPr lang="en-US" sz="2200" b="1" i="1" dirty="0">
                <a:solidFill>
                  <a:srgbClr val="002060"/>
                </a:solidFill>
              </a:rPr>
              <a:t>Economic Production</a:t>
            </a:r>
          </a:p>
        </p:txBody>
      </p:sp>
      <p:sp>
        <p:nvSpPr>
          <p:cNvPr id="8" name="TextBox 7"/>
          <p:cNvSpPr txBox="1"/>
          <p:nvPr/>
        </p:nvSpPr>
        <p:spPr>
          <a:xfrm>
            <a:off x="866503" y="3496770"/>
            <a:ext cx="1667693" cy="430887"/>
          </a:xfrm>
          <a:prstGeom prst="rect">
            <a:avLst/>
          </a:prstGeom>
          <a:noFill/>
        </p:spPr>
        <p:txBody>
          <a:bodyPr wrap="square" rtlCol="0">
            <a:spAutoFit/>
          </a:bodyPr>
          <a:lstStyle/>
          <a:p>
            <a:r>
              <a:rPr lang="en-US" sz="2200" b="1" i="1" dirty="0">
                <a:solidFill>
                  <a:srgbClr val="C00000"/>
                </a:solidFill>
              </a:rPr>
              <a:t>Marketable</a:t>
            </a:r>
          </a:p>
        </p:txBody>
      </p:sp>
      <p:sp>
        <p:nvSpPr>
          <p:cNvPr id="9" name="TextBox 8"/>
          <p:cNvSpPr txBox="1"/>
          <p:nvPr/>
        </p:nvSpPr>
        <p:spPr>
          <a:xfrm>
            <a:off x="6413874" y="3584622"/>
            <a:ext cx="2233744" cy="400110"/>
          </a:xfrm>
          <a:prstGeom prst="rect">
            <a:avLst/>
          </a:prstGeom>
          <a:noFill/>
        </p:spPr>
        <p:txBody>
          <a:bodyPr wrap="square" rtlCol="0">
            <a:spAutoFit/>
          </a:bodyPr>
          <a:lstStyle/>
          <a:p>
            <a:r>
              <a:rPr lang="en-US" sz="2000" b="1" i="1" dirty="0">
                <a:solidFill>
                  <a:srgbClr val="C00000"/>
                </a:solidFill>
              </a:rPr>
              <a:t>Non-Marketable</a:t>
            </a:r>
          </a:p>
        </p:txBody>
      </p:sp>
      <p:cxnSp>
        <p:nvCxnSpPr>
          <p:cNvPr id="11" name="Straight Arrow Connector 10"/>
          <p:cNvCxnSpPr/>
          <p:nvPr/>
        </p:nvCxnSpPr>
        <p:spPr bwMode="auto">
          <a:xfrm rot="10800000" flipV="1">
            <a:off x="2562241" y="3280698"/>
            <a:ext cx="1828800" cy="365760"/>
          </a:xfrm>
          <a:prstGeom prst="straightConnector1">
            <a:avLst/>
          </a:prstGeom>
          <a:ln>
            <a:headEnd type="none" w="med" len="med"/>
            <a:tailEnd type="arrow"/>
          </a:ln>
        </p:spPr>
        <p:style>
          <a:lnRef idx="3">
            <a:schemeClr val="dk1"/>
          </a:lnRef>
          <a:fillRef idx="0">
            <a:schemeClr val="dk1"/>
          </a:fillRef>
          <a:effectRef idx="2">
            <a:schemeClr val="dk1"/>
          </a:effectRef>
          <a:fontRef idx="minor">
            <a:schemeClr val="tx1"/>
          </a:fontRef>
        </p:style>
      </p:cxnSp>
      <p:cxnSp>
        <p:nvCxnSpPr>
          <p:cNvPr id="13" name="Straight Arrow Connector 12"/>
          <p:cNvCxnSpPr/>
          <p:nvPr/>
        </p:nvCxnSpPr>
        <p:spPr bwMode="auto">
          <a:xfrm>
            <a:off x="4518364" y="3288853"/>
            <a:ext cx="1868992" cy="462876"/>
          </a:xfrm>
          <a:prstGeom prst="straightConnector1">
            <a:avLst/>
          </a:prstGeom>
          <a:ln>
            <a:headEnd type="none" w="med" len="med"/>
            <a:tailEnd type="arrow"/>
          </a:ln>
        </p:spPr>
        <p:style>
          <a:lnRef idx="3">
            <a:schemeClr val="dk1"/>
          </a:lnRef>
          <a:fillRef idx="0">
            <a:schemeClr val="dk1"/>
          </a:fillRef>
          <a:effectRef idx="2">
            <a:schemeClr val="dk1"/>
          </a:effectRef>
          <a:fontRef idx="minor">
            <a:schemeClr val="tx1"/>
          </a:fontRef>
        </p:style>
      </p:cxn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9" name="Rounded Rectangle 18"/>
          <p:cNvSpPr/>
          <p:nvPr/>
        </p:nvSpPr>
        <p:spPr bwMode="auto">
          <a:xfrm>
            <a:off x="535577" y="4402183"/>
            <a:ext cx="3461657" cy="1854926"/>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1" name="Rounded Rectangle 20"/>
          <p:cNvSpPr/>
          <p:nvPr/>
        </p:nvSpPr>
        <p:spPr bwMode="auto">
          <a:xfrm>
            <a:off x="535577" y="4054098"/>
            <a:ext cx="3278777" cy="919401"/>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rPr>
              <a:t>Goods &amp; services produced by farmers, firms, factories, shops, hotels, lawyers.</a:t>
            </a:r>
            <a:r>
              <a:rPr kumimoji="0" lang="en-US" sz="1600" b="0" i="0" u="none" strike="noStrike" cap="none" normalizeH="0" dirty="0">
                <a:ln>
                  <a:noFill/>
                </a:ln>
                <a:solidFill>
                  <a:schemeClr val="tx1"/>
                </a:solidFill>
                <a:effectLst/>
                <a:latin typeface="Arial" charset="0"/>
              </a:rPr>
              <a:t> </a:t>
            </a:r>
            <a:endParaRPr kumimoji="0" lang="en-US" sz="1600" b="0" i="0" u="none" strike="noStrike" cap="none" normalizeH="0" baseline="0" dirty="0">
              <a:ln>
                <a:noFill/>
              </a:ln>
              <a:solidFill>
                <a:schemeClr val="tx1"/>
              </a:solidFill>
              <a:effectLst/>
              <a:latin typeface="Arial" charset="0"/>
            </a:endParaRPr>
          </a:p>
        </p:txBody>
      </p:sp>
      <p:sp>
        <p:nvSpPr>
          <p:cNvPr id="22" name="Rounded Rectangle 21"/>
          <p:cNvSpPr/>
          <p:nvPr/>
        </p:nvSpPr>
        <p:spPr bwMode="auto">
          <a:xfrm>
            <a:off x="4254137" y="3981741"/>
            <a:ext cx="4341223" cy="1191816"/>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0" fontAlgn="base" latinLnBrk="0" hangingPunct="0">
              <a:lnSpc>
                <a:spcPct val="100000"/>
              </a:lnSpc>
              <a:spcBef>
                <a:spcPct val="0"/>
              </a:spcBef>
              <a:spcAft>
                <a:spcPct val="0"/>
              </a:spcAft>
              <a:buClrTx/>
              <a:buSzTx/>
              <a:buFontTx/>
              <a:buNone/>
              <a:tabLst/>
            </a:pPr>
            <a:r>
              <a:rPr lang="en-US" sz="1600" dirty="0">
                <a:solidFill>
                  <a:schemeClr val="tx1"/>
                </a:solidFill>
                <a:latin typeface="Arial" charset="0"/>
              </a:rPr>
              <a:t>Goods &amp; services produced and supplied by government, public institutions, social organizations, NGOs, social service clubs, charitable societies, etc. </a:t>
            </a:r>
            <a:endParaRPr kumimoji="0" lang="en-US" sz="1600" b="0" i="0" u="none" strike="noStrike" cap="none" normalizeH="0" baseline="0" dirty="0">
              <a:ln>
                <a:noFill/>
              </a:ln>
              <a:solidFill>
                <a:schemeClr val="tx1"/>
              </a:solidFill>
              <a:effectLst/>
              <a:latin typeface="Arial" charset="0"/>
            </a:endParaRPr>
          </a:p>
        </p:txBody>
      </p:sp>
      <p:sp>
        <p:nvSpPr>
          <p:cNvPr id="16" name="TextBox 15"/>
          <p:cNvSpPr txBox="1"/>
          <p:nvPr/>
        </p:nvSpPr>
        <p:spPr>
          <a:xfrm>
            <a:off x="497541" y="5540532"/>
            <a:ext cx="8243047" cy="1200329"/>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800" dirty="0"/>
              <a:t>Government provides administrative services, law and order, national defense,  etc. although they do not  have  a market and market price, all these services use national resources (land, labor, etc.) which have an economic cost.  Therefore, production of all such goods &amp; services falls in the category of Economic Production.</a:t>
            </a:r>
          </a:p>
        </p:txBody>
      </p:sp>
      <p:sp>
        <p:nvSpPr>
          <p:cNvPr id="23" name="Down Arrow 22"/>
          <p:cNvSpPr/>
          <p:nvPr/>
        </p:nvSpPr>
        <p:spPr bwMode="auto">
          <a:xfrm rot="1332782">
            <a:off x="4099931" y="5053899"/>
            <a:ext cx="349623" cy="546497"/>
          </a:xfrm>
          <a:prstGeom prst="downArrow">
            <a:avLst/>
          </a:prstGeom>
          <a:solidFill>
            <a:srgbClr val="FFFF00"/>
          </a:solidFill>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4</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to="" calcmode="lin" valueType="num">
                                      <p:cBhvr>
                                        <p:cTn id="22" dur="1" fill="hold"/>
                                        <p:tgtEl>
                                          <p:spTgt spid="7"/>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to="" calcmode="lin" valueType="num">
                                      <p:cBhvr>
                                        <p:cTn id="27" dur="1" fill="hold"/>
                                        <p:tgtEl>
                                          <p:spTgt spid="8"/>
                                        </p:tgtEl>
                                        <p:attrNameLst>
                                          <p:attrName/>
                                        </p:attrNameLst>
                                      </p:cBhvr>
                                    </p:anim>
                                  </p:childTnLst>
                                </p:cTn>
                              </p:par>
                              <p:par>
                                <p:cTn id="28" presetID="24"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 to="" calcmode="lin" valueType="num">
                                      <p:cBhvr>
                                        <p:cTn id="30" dur="1" fill="hold"/>
                                        <p:tgtEl>
                                          <p:spTgt spid="11"/>
                                        </p:tgtEl>
                                        <p:attrNameLst>
                                          <p:attrName/>
                                        </p:attrNameLst>
                                      </p:cBhvr>
                                    </p:anim>
                                  </p:childTnLst>
                                </p:cTn>
                              </p:par>
                              <p:par>
                                <p:cTn id="31" presetID="24"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 to="" calcmode="lin" valueType="num">
                                      <p:cBhvr>
                                        <p:cTn id="33" dur="1" fill="hold"/>
                                        <p:tgtEl>
                                          <p:spTgt spid="13"/>
                                        </p:tgtEl>
                                        <p:attrNameLst>
                                          <p:attrName/>
                                        </p:attrNameLst>
                                      </p:cBhvr>
                                    </p:anim>
                                  </p:childTnLst>
                                </p:cTn>
                              </p:par>
                              <p:par>
                                <p:cTn id="34" presetID="24"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to="" calcmode="lin" valueType="num">
                                      <p:cBhvr>
                                        <p:cTn id="36" dur="1" fill="hold"/>
                                        <p:tgtEl>
                                          <p:spTgt spid="9"/>
                                        </p:tgtEl>
                                        <p:attrNameLst>
                                          <p:attrName/>
                                        </p:attrNameLst>
                                      </p:cBhvr>
                                    </p:anim>
                                  </p:childTnLst>
                                </p:cTn>
                              </p:par>
                            </p:childTnLst>
                          </p:cTn>
                        </p:par>
                      </p:childTnLst>
                    </p:cTn>
                  </p:par>
                  <p:par>
                    <p:cTn id="37" fill="hold">
                      <p:stCondLst>
                        <p:cond delay="indefinite"/>
                      </p:stCondLst>
                      <p:childTnLst>
                        <p:par>
                          <p:cTn id="38" fill="hold">
                            <p:stCondLst>
                              <p:cond delay="0"/>
                            </p:stCondLst>
                            <p:childTnLst>
                              <p:par>
                                <p:cTn id="39" presetID="24"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 to="" calcmode="lin" valueType="num">
                                      <p:cBhvr>
                                        <p:cTn id="41" dur="1" fill="hold"/>
                                        <p:tgtEl>
                                          <p:spTgt spid="21"/>
                                        </p:tgtEl>
                                        <p:attrNameLst>
                                          <p:attrName/>
                                        </p:attrNameLst>
                                      </p:cBhvr>
                                    </p:anim>
                                  </p:childTnLst>
                                </p:cTn>
                              </p:par>
                            </p:childTnLst>
                          </p:cTn>
                        </p:par>
                      </p:childTnLst>
                    </p:cTn>
                  </p:par>
                  <p:par>
                    <p:cTn id="42" fill="hold">
                      <p:stCondLst>
                        <p:cond delay="indefinite"/>
                      </p:stCondLst>
                      <p:childTnLst>
                        <p:par>
                          <p:cTn id="43" fill="hold">
                            <p:stCondLst>
                              <p:cond delay="0"/>
                            </p:stCondLst>
                            <p:childTnLst>
                              <p:par>
                                <p:cTn id="44" presetID="24"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 to="" calcmode="lin" valueType="num">
                                      <p:cBhvr>
                                        <p:cTn id="46" dur="1" fill="hold"/>
                                        <p:tgtEl>
                                          <p:spTgt spid="22"/>
                                        </p:tgtEl>
                                        <p:attrNameLst>
                                          <p:attrName/>
                                        </p:attrNameLst>
                                      </p:cBhvr>
                                    </p:anim>
                                  </p:childTnLst>
                                </p:cTn>
                              </p:par>
                            </p:childTnLst>
                          </p:cTn>
                        </p:par>
                      </p:childTnLst>
                    </p:cTn>
                  </p:par>
                  <p:par>
                    <p:cTn id="47" fill="hold">
                      <p:stCondLst>
                        <p:cond delay="indefinite"/>
                      </p:stCondLst>
                      <p:childTnLst>
                        <p:par>
                          <p:cTn id="48" fill="hold">
                            <p:stCondLst>
                              <p:cond delay="0"/>
                            </p:stCondLst>
                            <p:childTnLst>
                              <p:par>
                                <p:cTn id="49" presetID="24"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 to="" calcmode="lin" valueType="num">
                                      <p:cBhvr>
                                        <p:cTn id="51" dur="1" fill="hold"/>
                                        <p:tgtEl>
                                          <p:spTgt spid="23"/>
                                        </p:tgtEl>
                                        <p:attrNameLst>
                                          <p:attrName/>
                                        </p:attrNameLst>
                                      </p:cBhvr>
                                    </p:anim>
                                  </p:childTnLst>
                                </p:cTn>
                              </p:par>
                            </p:childTnLst>
                          </p:cTn>
                        </p:par>
                      </p:childTnLst>
                    </p:cTn>
                  </p:par>
                  <p:par>
                    <p:cTn id="52" fill="hold">
                      <p:stCondLst>
                        <p:cond delay="indefinite"/>
                      </p:stCondLst>
                      <p:childTnLst>
                        <p:par>
                          <p:cTn id="53" fill="hold">
                            <p:stCondLst>
                              <p:cond delay="0"/>
                            </p:stCondLst>
                            <p:childTnLst>
                              <p:par>
                                <p:cTn id="54" presetID="24" presetClass="entr" presetSubtype="0"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 to="" calcmode="lin" valueType="num">
                                      <p:cBhvr>
                                        <p:cTn id="56" dur="1" fill="hold"/>
                                        <p:tgtEl>
                                          <p:spTgt spid="1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21" grpId="0" animBg="1"/>
      <p:bldP spid="22" grpId="0" animBg="1"/>
      <p:bldP spid="16"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7147" y="847165"/>
            <a:ext cx="4038727" cy="461665"/>
          </a:xfrm>
          <a:prstGeom prst="rect">
            <a:avLst/>
          </a:prstGeom>
          <a:noFill/>
        </p:spPr>
        <p:txBody>
          <a:bodyPr wrap="square" rtlCol="0">
            <a:spAutoFit/>
          </a:bodyPr>
          <a:lstStyle/>
          <a:p>
            <a:r>
              <a:rPr lang="en-US" b="1" i="1" dirty="0">
                <a:solidFill>
                  <a:srgbClr val="002060"/>
                </a:solidFill>
              </a:rPr>
              <a:t>Non-Economic Production</a:t>
            </a:r>
          </a:p>
        </p:txBody>
      </p:sp>
      <p:sp>
        <p:nvSpPr>
          <p:cNvPr id="6" name="TextBox 5"/>
          <p:cNvSpPr txBox="1"/>
          <p:nvPr/>
        </p:nvSpPr>
        <p:spPr>
          <a:xfrm>
            <a:off x="587828" y="1456510"/>
            <a:ext cx="7863840" cy="1015663"/>
          </a:xfrm>
          <a:prstGeom prst="rect">
            <a:avLst/>
          </a:prstGeom>
          <a:noFill/>
        </p:spPr>
        <p:txBody>
          <a:bodyPr wrap="square" rtlCol="0">
            <a:spAutoFit/>
          </a:bodyPr>
          <a:lstStyle/>
          <a:p>
            <a:pPr algn="just"/>
            <a:r>
              <a:rPr lang="en-US" sz="2000" dirty="0"/>
              <a:t>Non-economic production includes the production of goods and services that are not meant to be sold, nor is there any market for them, nor do they have a market price.  </a:t>
            </a:r>
          </a:p>
        </p:txBody>
      </p: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1" name="Rounded Rectangle 20"/>
          <p:cNvSpPr/>
          <p:nvPr/>
        </p:nvSpPr>
        <p:spPr bwMode="auto">
          <a:xfrm>
            <a:off x="613954" y="2643310"/>
            <a:ext cx="7968343" cy="374571"/>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mj-lt"/>
              <a:buAutoNum type="romanLcPeriod"/>
              <a:tabLst/>
            </a:pPr>
            <a:r>
              <a:rPr lang="en-US" sz="1600" dirty="0">
                <a:solidFill>
                  <a:schemeClr val="tx1"/>
                </a:solidFill>
                <a:latin typeface="Arial" charset="0"/>
              </a:rPr>
              <a:t>Services rendered to self, e.g. washing one’s own clothes, cooking for self, etc.</a:t>
            </a:r>
          </a:p>
        </p:txBody>
      </p:sp>
      <p:sp>
        <p:nvSpPr>
          <p:cNvPr id="17" name="Rounded Rectangle 16"/>
          <p:cNvSpPr/>
          <p:nvPr/>
        </p:nvSpPr>
        <p:spPr bwMode="auto">
          <a:xfrm>
            <a:off x="779417" y="3109222"/>
            <a:ext cx="7968343" cy="919401"/>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1600" dirty="0">
                <a:solidFill>
                  <a:schemeClr val="tx1"/>
                </a:solidFill>
                <a:latin typeface="Arial" charset="0"/>
              </a:rPr>
              <a:t>ii.   Services provided to the family members, e.g. housewives cooking for the family and looking after the household, parents teaching their own children, doctors treating their own children, gardening ones own home garden.</a:t>
            </a:r>
          </a:p>
        </p:txBody>
      </p:sp>
      <p:sp>
        <p:nvSpPr>
          <p:cNvPr id="24" name="Rounded Rectangle 23"/>
          <p:cNvSpPr/>
          <p:nvPr/>
        </p:nvSpPr>
        <p:spPr bwMode="auto">
          <a:xfrm>
            <a:off x="1036321" y="4110717"/>
            <a:ext cx="7833359" cy="646986"/>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1600" dirty="0">
                <a:solidFill>
                  <a:schemeClr val="tx1"/>
                </a:solidFill>
                <a:latin typeface="Arial" charset="0"/>
              </a:rPr>
              <a:t>iii.   Services provided by the neighbors to each other, e.g. helping each other on festival and marriage occasion, etc.</a:t>
            </a:r>
          </a:p>
        </p:txBody>
      </p:sp>
      <p:sp>
        <p:nvSpPr>
          <p:cNvPr id="25" name="TextBox 24"/>
          <p:cNvSpPr txBox="1"/>
          <p:nvPr/>
        </p:nvSpPr>
        <p:spPr>
          <a:xfrm>
            <a:off x="779417" y="5226150"/>
            <a:ext cx="7745123" cy="1200329"/>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i="1" dirty="0"/>
              <a:t>Note:</a:t>
            </a:r>
          </a:p>
          <a:p>
            <a:r>
              <a:rPr lang="en-US" b="1" i="1" dirty="0">
                <a:solidFill>
                  <a:schemeClr val="accent1">
                    <a:lumMod val="50000"/>
                  </a:schemeClr>
                </a:solidFill>
              </a:rPr>
              <a:t>These services are not included in the measurement of the national income as these cannot be marketed.</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5</a:t>
            </a:fld>
            <a:endParaRPr lang="en-US"/>
          </a:p>
        </p:txBody>
      </p:sp>
      <p:sp>
        <p:nvSpPr>
          <p:cNvPr id="12" name="Rectangle 2"/>
          <p:cNvSpPr txBox="1">
            <a:spLocks noChangeArrowheads="1"/>
          </p:cNvSpPr>
          <p:nvPr/>
        </p:nvSpPr>
        <p:spPr>
          <a:xfrm>
            <a:off x="285750" y="129989"/>
            <a:ext cx="8553450" cy="770964"/>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en-US" altLang="en-US" sz="3200">
                <a:effectLst>
                  <a:outerShdw blurRad="38100" dist="38100" dir="2700000" algn="tl">
                    <a:srgbClr val="C0C0C0"/>
                  </a:outerShdw>
                </a:effectLst>
              </a:rPr>
              <a:t>Cont….</a:t>
            </a:r>
            <a:endParaRPr lang="en-US" altLang="en-US" sz="3200" dirty="0">
              <a:effectLst>
                <a:outerShdw blurRad="38100" dist="38100" dir="2700000" algn="tl">
                  <a:srgbClr val="C0C0C0"/>
                </a:outerShdw>
              </a:effectLst>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to="" calcmode="lin" valueType="num">
                                      <p:cBhvr>
                                        <p:cTn id="17" dur="1" fill="hold"/>
                                        <p:tgtEl>
                                          <p:spTgt spid="21"/>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to="" calcmode="lin" valueType="num">
                                      <p:cBhvr>
                                        <p:cTn id="22" dur="1" fill="hold"/>
                                        <p:tgtEl>
                                          <p:spTgt spid="17"/>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 to="" calcmode="lin" valueType="num">
                                      <p:cBhvr>
                                        <p:cTn id="27" dur="1" fill="hold"/>
                                        <p:tgtEl>
                                          <p:spTgt spid="24"/>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 to="" calcmode="lin" valueType="num">
                                      <p:cBhvr>
                                        <p:cTn id="32" dur="1" fill="hold"/>
                                        <p:tgtEl>
                                          <p:spTgt spid="2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1" grpId="0" animBg="1"/>
      <p:bldP spid="17" grpId="0" animBg="1"/>
      <p:bldP spid="24"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85750" y="129989"/>
            <a:ext cx="8553450" cy="770964"/>
          </a:xfrm>
        </p:spPr>
        <p:txBody>
          <a:bodyPr/>
          <a:lstStyle/>
          <a:p>
            <a:r>
              <a:rPr lang="en-US" altLang="en-US" sz="3200" dirty="0" err="1">
                <a:effectLst>
                  <a:outerShdw blurRad="38100" dist="38100" dir="2700000" algn="tl">
                    <a:srgbClr val="C0C0C0"/>
                  </a:outerShdw>
                </a:effectLst>
              </a:rPr>
              <a:t>Cont</a:t>
            </a:r>
            <a:r>
              <a:rPr lang="en-US" altLang="en-US" sz="3200" dirty="0">
                <a:effectLst>
                  <a:outerShdw blurRad="38100" dist="38100" dir="2700000" algn="tl">
                    <a:srgbClr val="C0C0C0"/>
                  </a:outerShdw>
                </a:effectLst>
              </a:rPr>
              <a:t>….</a:t>
            </a:r>
          </a:p>
        </p:txBody>
      </p:sp>
      <p:sp>
        <p:nvSpPr>
          <p:cNvPr id="5" name="TextBox 4"/>
          <p:cNvSpPr txBox="1"/>
          <p:nvPr/>
        </p:nvSpPr>
        <p:spPr>
          <a:xfrm>
            <a:off x="507147" y="847165"/>
            <a:ext cx="5318887" cy="461665"/>
          </a:xfrm>
          <a:prstGeom prst="rect">
            <a:avLst/>
          </a:prstGeom>
          <a:noFill/>
        </p:spPr>
        <p:txBody>
          <a:bodyPr wrap="square" rtlCol="0">
            <a:spAutoFit/>
          </a:bodyPr>
          <a:lstStyle/>
          <a:p>
            <a:r>
              <a:rPr lang="en-US" b="1" i="1" dirty="0">
                <a:solidFill>
                  <a:srgbClr val="002060"/>
                </a:solidFill>
              </a:rPr>
              <a:t>Intermediate &amp; Final Products</a:t>
            </a:r>
          </a:p>
        </p:txBody>
      </p:sp>
      <p:sp>
        <p:nvSpPr>
          <p:cNvPr id="6" name="TextBox 5"/>
          <p:cNvSpPr txBox="1"/>
          <p:nvPr/>
        </p:nvSpPr>
        <p:spPr>
          <a:xfrm>
            <a:off x="587828" y="1456510"/>
            <a:ext cx="7863840" cy="400110"/>
          </a:xfrm>
          <a:prstGeom prst="rect">
            <a:avLst/>
          </a:prstGeom>
          <a:noFill/>
        </p:spPr>
        <p:txBody>
          <a:bodyPr wrap="square" rtlCol="0">
            <a:spAutoFit/>
          </a:bodyPr>
          <a:lstStyle/>
          <a:p>
            <a:pPr algn="just">
              <a:buFont typeface="Wingdings" pitchFamily="2" charset="2"/>
              <a:buChar char="Ø"/>
            </a:pPr>
            <a:r>
              <a:rPr lang="en-US" sz="2000" b="1" i="1" dirty="0"/>
              <a:t>  The distinction between the intermediate and final products </a:t>
            </a:r>
          </a:p>
        </p:txBody>
      </p: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1" name="TextBox 10"/>
          <p:cNvSpPr txBox="1"/>
          <p:nvPr/>
        </p:nvSpPr>
        <p:spPr>
          <a:xfrm>
            <a:off x="753291" y="1883243"/>
            <a:ext cx="3949338" cy="400110"/>
          </a:xfrm>
          <a:prstGeom prst="rect">
            <a:avLst/>
          </a:prstGeom>
          <a:noFill/>
        </p:spPr>
        <p:txBody>
          <a:bodyPr wrap="square" rtlCol="0">
            <a:spAutoFit/>
          </a:bodyPr>
          <a:lstStyle/>
          <a:p>
            <a:pPr algn="just"/>
            <a:r>
              <a:rPr lang="en-US" sz="2000" dirty="0">
                <a:solidFill>
                  <a:srgbClr val="FF0000"/>
                </a:solidFill>
              </a:rPr>
              <a:t>Ex.. Production of Sandwiches.</a:t>
            </a:r>
          </a:p>
        </p:txBody>
      </p:sp>
      <p:sp>
        <p:nvSpPr>
          <p:cNvPr id="12" name="TextBox 11"/>
          <p:cNvSpPr txBox="1"/>
          <p:nvPr/>
        </p:nvSpPr>
        <p:spPr>
          <a:xfrm>
            <a:off x="944878" y="2505918"/>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Wheat Producers (Farmers)  </a:t>
            </a:r>
          </a:p>
        </p:txBody>
      </p:sp>
      <p:sp>
        <p:nvSpPr>
          <p:cNvPr id="13" name="TextBox 12"/>
          <p:cNvSpPr txBox="1"/>
          <p:nvPr/>
        </p:nvSpPr>
        <p:spPr>
          <a:xfrm>
            <a:off x="940523" y="3037145"/>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Wheat Flour (mills)  </a:t>
            </a:r>
          </a:p>
        </p:txBody>
      </p:sp>
      <p:sp>
        <p:nvSpPr>
          <p:cNvPr id="14" name="TextBox 13"/>
          <p:cNvSpPr txBox="1"/>
          <p:nvPr/>
        </p:nvSpPr>
        <p:spPr>
          <a:xfrm>
            <a:off x="953585" y="3546602"/>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Bread (Bakery)  </a:t>
            </a:r>
          </a:p>
        </p:txBody>
      </p:sp>
      <p:sp>
        <p:nvSpPr>
          <p:cNvPr id="15" name="TextBox 14"/>
          <p:cNvSpPr txBox="1"/>
          <p:nvPr/>
        </p:nvSpPr>
        <p:spPr>
          <a:xfrm>
            <a:off x="966648" y="4134437"/>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Sandwiches (Restaurant)  </a:t>
            </a:r>
          </a:p>
        </p:txBody>
      </p:sp>
      <p:sp>
        <p:nvSpPr>
          <p:cNvPr id="19" name="Down Arrow 18"/>
          <p:cNvSpPr/>
          <p:nvPr/>
        </p:nvSpPr>
        <p:spPr bwMode="auto">
          <a:xfrm>
            <a:off x="2129246" y="2873828"/>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2" name="Down Arrow 21"/>
          <p:cNvSpPr/>
          <p:nvPr/>
        </p:nvSpPr>
        <p:spPr bwMode="auto">
          <a:xfrm>
            <a:off x="2151017" y="3378925"/>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3" name="Down Arrow 22"/>
          <p:cNvSpPr/>
          <p:nvPr/>
        </p:nvSpPr>
        <p:spPr bwMode="auto">
          <a:xfrm>
            <a:off x="2164080" y="3966753"/>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6" name="Right Arrow 25"/>
          <p:cNvSpPr/>
          <p:nvPr/>
        </p:nvSpPr>
        <p:spPr bwMode="auto">
          <a:xfrm>
            <a:off x="4323806" y="4317275"/>
            <a:ext cx="966651" cy="45719"/>
          </a:xfrm>
          <a:prstGeom prst="rightArrow">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7" name="TextBox 26"/>
          <p:cNvSpPr txBox="1"/>
          <p:nvPr/>
        </p:nvSpPr>
        <p:spPr>
          <a:xfrm>
            <a:off x="5429792" y="4130077"/>
            <a:ext cx="179396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1800" b="1" i="1" dirty="0">
                <a:solidFill>
                  <a:srgbClr val="00B050"/>
                </a:solidFill>
              </a:rPr>
              <a:t>Final Product  </a:t>
            </a:r>
          </a:p>
        </p:txBody>
      </p:sp>
      <p:sp>
        <p:nvSpPr>
          <p:cNvPr id="28" name="TextBox 27"/>
          <p:cNvSpPr txBox="1"/>
          <p:nvPr/>
        </p:nvSpPr>
        <p:spPr>
          <a:xfrm>
            <a:off x="5738946" y="3015381"/>
            <a:ext cx="27649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Intermediate Products  </a:t>
            </a:r>
          </a:p>
        </p:txBody>
      </p:sp>
      <p:cxnSp>
        <p:nvCxnSpPr>
          <p:cNvPr id="30" name="Straight Arrow Connector 29"/>
          <p:cNvCxnSpPr/>
          <p:nvPr/>
        </p:nvCxnSpPr>
        <p:spPr bwMode="auto">
          <a:xfrm>
            <a:off x="4454435" y="2704012"/>
            <a:ext cx="1258386" cy="391532"/>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31" name="Straight Arrow Connector 30"/>
          <p:cNvCxnSpPr/>
          <p:nvPr/>
        </p:nvCxnSpPr>
        <p:spPr bwMode="auto">
          <a:xfrm flipV="1">
            <a:off x="3461657" y="3213463"/>
            <a:ext cx="2194560" cy="39188"/>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34" name="Straight Arrow Connector 33"/>
          <p:cNvCxnSpPr/>
          <p:nvPr/>
        </p:nvCxnSpPr>
        <p:spPr bwMode="auto">
          <a:xfrm flipV="1">
            <a:off x="3108960" y="3304903"/>
            <a:ext cx="2625634" cy="444137"/>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
        <p:nvSpPr>
          <p:cNvPr id="38" name="Rounded Rectangle 37"/>
          <p:cNvSpPr/>
          <p:nvPr/>
        </p:nvSpPr>
        <p:spPr bwMode="auto">
          <a:xfrm>
            <a:off x="440506" y="4733159"/>
            <a:ext cx="8399417" cy="646986"/>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1600" b="1" i="1" dirty="0">
                <a:solidFill>
                  <a:srgbClr val="3333FF"/>
                </a:solidFill>
                <a:latin typeface="Arial" charset="0"/>
              </a:rPr>
              <a:t>Intermediate Product – </a:t>
            </a:r>
            <a:r>
              <a:rPr lang="en-US" sz="1600" i="1" dirty="0">
                <a:solidFill>
                  <a:srgbClr val="3333FF"/>
                </a:solidFill>
                <a:latin typeface="Arial" charset="0"/>
              </a:rPr>
              <a:t>The goods that flow from one stage to another in the process of production of a good, with their form changing, are called </a:t>
            </a:r>
            <a:r>
              <a:rPr lang="en-US" sz="1600" b="1" i="1" dirty="0">
                <a:solidFill>
                  <a:srgbClr val="3333FF"/>
                </a:solidFill>
                <a:latin typeface="Arial" charset="0"/>
              </a:rPr>
              <a:t>intermediate product.</a:t>
            </a:r>
          </a:p>
        </p:txBody>
      </p:sp>
      <p:sp>
        <p:nvSpPr>
          <p:cNvPr id="39" name="Rounded Rectangle 38"/>
          <p:cNvSpPr/>
          <p:nvPr/>
        </p:nvSpPr>
        <p:spPr bwMode="auto">
          <a:xfrm>
            <a:off x="400593" y="5551980"/>
            <a:ext cx="8399417" cy="646986"/>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1600" b="1" i="1" dirty="0">
                <a:solidFill>
                  <a:srgbClr val="3333FF"/>
                </a:solidFill>
                <a:latin typeface="Arial" charset="0"/>
              </a:rPr>
              <a:t>Final Product – </a:t>
            </a:r>
            <a:r>
              <a:rPr lang="en-US" sz="1600" i="1" dirty="0">
                <a:solidFill>
                  <a:srgbClr val="3333FF"/>
                </a:solidFill>
                <a:latin typeface="Arial" charset="0"/>
              </a:rPr>
              <a:t>The goods that reach the final stage of production and flow to their ultimate consumers are called </a:t>
            </a:r>
            <a:r>
              <a:rPr lang="en-US" sz="1600" b="1" i="1" dirty="0">
                <a:solidFill>
                  <a:srgbClr val="3333FF"/>
                </a:solidFill>
                <a:latin typeface="Arial" charset="0"/>
              </a:rPr>
              <a:t>Final product.</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6</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ircle(in)">
                                      <p:cBhvr>
                                        <p:cTn id="22" dur="20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down)">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circle(in)">
                                      <p:cBhvr>
                                        <p:cTn id="35" dur="2000"/>
                                        <p:tgtEl>
                                          <p:spTgt spid="22"/>
                                        </p:tgtEl>
                                      </p:cBhvr>
                                    </p:animEffect>
                                  </p:childTnLst>
                                </p:cTn>
                              </p:par>
                              <p:par>
                                <p:cTn id="36" presetID="6" presetClass="entr" presetSubtype="16"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circle(in)">
                                      <p:cBhvr>
                                        <p:cTn id="38" dur="2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down)">
                                      <p:cBhvr>
                                        <p:cTn id="43" dur="500"/>
                                        <p:tgtEl>
                                          <p:spTgt spid="23"/>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down)">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circle(in)">
                                      <p:cBhvr>
                                        <p:cTn id="51" dur="2000"/>
                                        <p:tgtEl>
                                          <p:spTgt spid="26"/>
                                        </p:tgtEl>
                                      </p:cBhvr>
                                    </p:animEffect>
                                  </p:childTnLst>
                                </p:cTn>
                              </p:par>
                              <p:par>
                                <p:cTn id="52" presetID="6" presetClass="entr" presetSubtype="16"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circle(in)">
                                      <p:cBhvr>
                                        <p:cTn id="54" dur="20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heel(1)">
                                      <p:cBhvr>
                                        <p:cTn id="59" dur="2000"/>
                                        <p:tgtEl>
                                          <p:spTgt spid="30"/>
                                        </p:tgtEl>
                                      </p:cBhvr>
                                    </p:animEffect>
                                  </p:childTnLst>
                                </p:cTn>
                              </p:par>
                              <p:par>
                                <p:cTn id="60" presetID="21" presetClass="entr" presetSubtype="1" fill="hold"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heel(1)">
                                      <p:cBhvr>
                                        <p:cTn id="62" dur="2000"/>
                                        <p:tgtEl>
                                          <p:spTgt spid="31"/>
                                        </p:tgtEl>
                                      </p:cBhvr>
                                    </p:animEffect>
                                  </p:childTnLst>
                                </p:cTn>
                              </p:par>
                              <p:par>
                                <p:cTn id="63" presetID="21" presetClass="entr" presetSubtype="1"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wheel(1)">
                                      <p:cBhvr>
                                        <p:cTn id="65" dur="2000"/>
                                        <p:tgtEl>
                                          <p:spTgt spid="34"/>
                                        </p:tgtEl>
                                      </p:cBhvr>
                                    </p:animEffect>
                                  </p:childTnLst>
                                </p:cTn>
                              </p:par>
                              <p:par>
                                <p:cTn id="66" presetID="21" presetClass="entr" presetSubtype="1"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wheel(1)">
                                      <p:cBhvr>
                                        <p:cTn id="68" dur="200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wipe(down)">
                                      <p:cBhvr>
                                        <p:cTn id="73" dur="500"/>
                                        <p:tgtEl>
                                          <p:spTgt spid="38"/>
                                        </p:tgtEl>
                                      </p:cBhvr>
                                    </p:animEffect>
                                  </p:childTnLst>
                                </p:cTn>
                              </p:par>
                            </p:childTnLst>
                          </p:cTn>
                        </p:par>
                      </p:childTnLst>
                    </p:cTn>
                  </p:par>
                  <p:par>
                    <p:cTn id="74" fill="hold">
                      <p:stCondLst>
                        <p:cond delay="indefinite"/>
                      </p:stCondLst>
                      <p:childTnLst>
                        <p:par>
                          <p:cTn id="75" fill="hold">
                            <p:stCondLst>
                              <p:cond delay="0"/>
                            </p:stCondLst>
                            <p:childTnLst>
                              <p:par>
                                <p:cTn id="76" presetID="6" presetClass="entr" presetSubtype="16" fill="hold" grpId="0" nodeType="click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circle(in)">
                                      <p:cBhvr>
                                        <p:cTn id="78" dur="2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P spid="12" grpId="0"/>
      <p:bldP spid="13" grpId="0"/>
      <p:bldP spid="14" grpId="0"/>
      <p:bldP spid="15" grpId="0"/>
      <p:bldP spid="19" grpId="0" animBg="1"/>
      <p:bldP spid="22" grpId="0" animBg="1"/>
      <p:bldP spid="23" grpId="0" animBg="1"/>
      <p:bldP spid="26" grpId="0" animBg="1"/>
      <p:bldP spid="27" grpId="0" animBg="1"/>
      <p:bldP spid="28" grpId="0" animBg="1"/>
      <p:bldP spid="38" grpId="0" animBg="1"/>
      <p:bldP spid="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7146" y="93499"/>
            <a:ext cx="5318887" cy="461665"/>
          </a:xfrm>
          <a:prstGeom prst="rect">
            <a:avLst/>
          </a:prstGeom>
          <a:noFill/>
        </p:spPr>
        <p:txBody>
          <a:bodyPr wrap="square" rtlCol="0">
            <a:spAutoFit/>
          </a:bodyPr>
          <a:lstStyle/>
          <a:p>
            <a:r>
              <a:rPr lang="en-US" b="1" i="1" dirty="0">
                <a:solidFill>
                  <a:srgbClr val="002060"/>
                </a:solidFill>
              </a:rPr>
              <a:t>Intermediate &amp; Final Products</a:t>
            </a:r>
          </a:p>
        </p:txBody>
      </p:sp>
      <p:sp>
        <p:nvSpPr>
          <p:cNvPr id="6" name="TextBox 5"/>
          <p:cNvSpPr txBox="1"/>
          <p:nvPr/>
        </p:nvSpPr>
        <p:spPr>
          <a:xfrm>
            <a:off x="587828" y="659667"/>
            <a:ext cx="7863840" cy="646331"/>
          </a:xfrm>
          <a:prstGeom prst="rect">
            <a:avLst/>
          </a:prstGeom>
          <a:noFill/>
        </p:spPr>
        <p:txBody>
          <a:bodyPr wrap="square" rtlCol="0">
            <a:spAutoFit/>
          </a:bodyPr>
          <a:lstStyle/>
          <a:p>
            <a:pPr algn="just">
              <a:buFont typeface="Wingdings" pitchFamily="2" charset="2"/>
              <a:buChar char="Ø"/>
            </a:pPr>
            <a:r>
              <a:rPr lang="en-US" sz="1800" i="1" dirty="0"/>
              <a:t>  </a:t>
            </a:r>
            <a:r>
              <a:rPr lang="en-US" sz="1800" i="1" dirty="0">
                <a:solidFill>
                  <a:srgbClr val="CC3300"/>
                </a:solidFill>
              </a:rPr>
              <a:t>The need for distinction between the intermediate and final products arises because of the problem of </a:t>
            </a:r>
            <a:r>
              <a:rPr lang="en-US" sz="1800" b="1" i="1" u="sng" dirty="0">
                <a:solidFill>
                  <a:srgbClr val="CC3300"/>
                </a:solidFill>
              </a:rPr>
              <a:t>double counting</a:t>
            </a:r>
            <a:r>
              <a:rPr lang="en-US" sz="1800" i="1" dirty="0">
                <a:solidFill>
                  <a:srgbClr val="CC3300"/>
                </a:solidFill>
              </a:rPr>
              <a:t>. </a:t>
            </a:r>
          </a:p>
        </p:txBody>
      </p: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1" name="TextBox 10"/>
          <p:cNvSpPr txBox="1"/>
          <p:nvPr/>
        </p:nvSpPr>
        <p:spPr>
          <a:xfrm>
            <a:off x="753291" y="1439100"/>
            <a:ext cx="3949338" cy="400110"/>
          </a:xfrm>
          <a:prstGeom prst="rect">
            <a:avLst/>
          </a:prstGeom>
          <a:noFill/>
        </p:spPr>
        <p:txBody>
          <a:bodyPr wrap="square" rtlCol="0">
            <a:spAutoFit/>
          </a:bodyPr>
          <a:lstStyle/>
          <a:p>
            <a:pPr algn="just"/>
            <a:r>
              <a:rPr lang="en-US" sz="2000" dirty="0">
                <a:solidFill>
                  <a:srgbClr val="FF0000"/>
                </a:solidFill>
              </a:rPr>
              <a:t>Ex.. Production of Sandwiches.</a:t>
            </a:r>
          </a:p>
        </p:txBody>
      </p:sp>
      <p:sp>
        <p:nvSpPr>
          <p:cNvPr id="12" name="TextBox 11"/>
          <p:cNvSpPr txBox="1"/>
          <p:nvPr/>
        </p:nvSpPr>
        <p:spPr>
          <a:xfrm>
            <a:off x="944878" y="2061775"/>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Wheat Producers (Farmers)  </a:t>
            </a:r>
          </a:p>
        </p:txBody>
      </p:sp>
      <p:sp>
        <p:nvSpPr>
          <p:cNvPr id="13" name="TextBox 12"/>
          <p:cNvSpPr txBox="1"/>
          <p:nvPr/>
        </p:nvSpPr>
        <p:spPr>
          <a:xfrm>
            <a:off x="940523" y="2593002"/>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Wheat Flour (mills)  </a:t>
            </a:r>
          </a:p>
        </p:txBody>
      </p:sp>
      <p:sp>
        <p:nvSpPr>
          <p:cNvPr id="14" name="TextBox 13"/>
          <p:cNvSpPr txBox="1"/>
          <p:nvPr/>
        </p:nvSpPr>
        <p:spPr>
          <a:xfrm>
            <a:off x="953585" y="3115523"/>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Bread (Bakery)  </a:t>
            </a:r>
          </a:p>
        </p:txBody>
      </p:sp>
      <p:sp>
        <p:nvSpPr>
          <p:cNvPr id="15" name="TextBox 14"/>
          <p:cNvSpPr txBox="1"/>
          <p:nvPr/>
        </p:nvSpPr>
        <p:spPr>
          <a:xfrm>
            <a:off x="966648" y="3703358"/>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Sandwiches (Restaurant)  </a:t>
            </a:r>
          </a:p>
        </p:txBody>
      </p:sp>
      <p:sp>
        <p:nvSpPr>
          <p:cNvPr id="19" name="Down Arrow 18"/>
          <p:cNvSpPr/>
          <p:nvPr/>
        </p:nvSpPr>
        <p:spPr bwMode="auto">
          <a:xfrm>
            <a:off x="2129246" y="2429686"/>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2" name="Down Arrow 21"/>
          <p:cNvSpPr/>
          <p:nvPr/>
        </p:nvSpPr>
        <p:spPr bwMode="auto">
          <a:xfrm>
            <a:off x="2124891" y="2960909"/>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3" name="Down Arrow 22"/>
          <p:cNvSpPr/>
          <p:nvPr/>
        </p:nvSpPr>
        <p:spPr bwMode="auto">
          <a:xfrm>
            <a:off x="2164080" y="3535674"/>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8" name="TextBox 27"/>
          <p:cNvSpPr txBox="1"/>
          <p:nvPr/>
        </p:nvSpPr>
        <p:spPr>
          <a:xfrm>
            <a:off x="4602477" y="2114038"/>
            <a:ext cx="1223558"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1000 </a:t>
            </a:r>
          </a:p>
        </p:txBody>
      </p:sp>
      <p:sp>
        <p:nvSpPr>
          <p:cNvPr id="38" name="Rounded Rectangle 37"/>
          <p:cNvSpPr/>
          <p:nvPr/>
        </p:nvSpPr>
        <p:spPr bwMode="auto">
          <a:xfrm>
            <a:off x="391886" y="4145532"/>
            <a:ext cx="8399417" cy="646986"/>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v"/>
              <a:tabLst/>
            </a:pPr>
            <a:r>
              <a:rPr lang="en-US" sz="1600" b="1" i="1" dirty="0">
                <a:solidFill>
                  <a:srgbClr val="FF0000"/>
                </a:solidFill>
                <a:latin typeface="Arial" charset="0"/>
              </a:rPr>
              <a:t> </a:t>
            </a:r>
            <a:r>
              <a:rPr lang="en-US" sz="1600" b="1" i="1" dirty="0">
                <a:solidFill>
                  <a:schemeClr val="tx1"/>
                </a:solidFill>
                <a:latin typeface="Arial" charset="0"/>
              </a:rPr>
              <a:t>In our example of sandwich production, wheat is converted into flour, wheat flour is converted into bread, and bread into sandwich. </a:t>
            </a:r>
            <a:endParaRPr lang="en-US" sz="1600" b="1" i="1" dirty="0">
              <a:solidFill>
                <a:srgbClr val="FF0000"/>
              </a:solidFill>
              <a:latin typeface="Arial" charset="0"/>
            </a:endParaRPr>
          </a:p>
        </p:txBody>
      </p:sp>
      <p:sp>
        <p:nvSpPr>
          <p:cNvPr id="25" name="TextBox 24"/>
          <p:cNvSpPr txBox="1"/>
          <p:nvPr/>
        </p:nvSpPr>
        <p:spPr>
          <a:xfrm>
            <a:off x="4637310" y="2645266"/>
            <a:ext cx="121485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1100 </a:t>
            </a:r>
          </a:p>
        </p:txBody>
      </p:sp>
      <p:sp>
        <p:nvSpPr>
          <p:cNvPr id="29" name="TextBox 28"/>
          <p:cNvSpPr txBox="1"/>
          <p:nvPr/>
        </p:nvSpPr>
        <p:spPr>
          <a:xfrm>
            <a:off x="4650372" y="3154723"/>
            <a:ext cx="117566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1500 </a:t>
            </a:r>
          </a:p>
        </p:txBody>
      </p:sp>
      <p:sp>
        <p:nvSpPr>
          <p:cNvPr id="32" name="TextBox 31"/>
          <p:cNvSpPr txBox="1"/>
          <p:nvPr/>
        </p:nvSpPr>
        <p:spPr>
          <a:xfrm>
            <a:off x="4676498" y="3690306"/>
            <a:ext cx="114953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2000 </a:t>
            </a:r>
          </a:p>
        </p:txBody>
      </p:sp>
      <p:sp>
        <p:nvSpPr>
          <p:cNvPr id="33" name="Rounded Rectangle 32"/>
          <p:cNvSpPr/>
          <p:nvPr/>
        </p:nvSpPr>
        <p:spPr bwMode="auto">
          <a:xfrm>
            <a:off x="387530" y="4846578"/>
            <a:ext cx="8399417" cy="1191816"/>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v"/>
              <a:tabLst/>
            </a:pPr>
            <a:r>
              <a:rPr lang="en-US" sz="1600" b="1" i="1" dirty="0">
                <a:solidFill>
                  <a:srgbClr val="FF0000"/>
                </a:solidFill>
                <a:latin typeface="Arial" charset="0"/>
              </a:rPr>
              <a:t> </a:t>
            </a:r>
            <a:r>
              <a:rPr lang="en-US" sz="1600" b="1" i="1" dirty="0">
                <a:solidFill>
                  <a:schemeClr val="tx1"/>
                </a:solidFill>
                <a:latin typeface="Arial" charset="0"/>
              </a:rPr>
              <a:t>Whet price is included in the price of flour, in the price of bread, and in the price of sandwiches. If the total value of all these products – wheat, wheat-flour, bread and sandwich – is taken into account in national income counting, wheat price would be counted </a:t>
            </a:r>
            <a:r>
              <a:rPr lang="en-US" sz="1600" b="1" i="1" dirty="0">
                <a:solidFill>
                  <a:srgbClr val="FF0000"/>
                </a:solidFill>
                <a:latin typeface="Arial" charset="0"/>
              </a:rPr>
              <a:t>four times</a:t>
            </a:r>
            <a:r>
              <a:rPr lang="en-US" sz="1600" b="1" i="1" dirty="0">
                <a:solidFill>
                  <a:schemeClr val="tx1"/>
                </a:solidFill>
                <a:latin typeface="Arial" charset="0"/>
              </a:rPr>
              <a:t>. This is called </a:t>
            </a:r>
            <a:r>
              <a:rPr lang="en-US" sz="1600" b="1" i="1" u="sng" dirty="0">
                <a:solidFill>
                  <a:srgbClr val="7030A0"/>
                </a:solidFill>
                <a:latin typeface="Arial" charset="0"/>
              </a:rPr>
              <a:t>double counting</a:t>
            </a:r>
            <a:r>
              <a:rPr lang="en-US" sz="1600" b="1" i="1" dirty="0">
                <a:solidFill>
                  <a:srgbClr val="7030A0"/>
                </a:solidFill>
                <a:latin typeface="Arial" charset="0"/>
              </a:rPr>
              <a:t>.</a:t>
            </a:r>
          </a:p>
        </p:txBody>
      </p:sp>
      <p:sp>
        <p:nvSpPr>
          <p:cNvPr id="35" name="Rounded Rectangle 34"/>
          <p:cNvSpPr/>
          <p:nvPr/>
        </p:nvSpPr>
        <p:spPr bwMode="auto">
          <a:xfrm>
            <a:off x="770707" y="6100626"/>
            <a:ext cx="7924799" cy="646986"/>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1600" b="1" i="1" dirty="0">
                <a:solidFill>
                  <a:srgbClr val="FF0000"/>
                </a:solidFill>
                <a:latin typeface="Arial" charset="0"/>
              </a:rPr>
              <a:t> therefore, avoiding double counting is a necessary condition for estimating national income correctly.</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7</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000"/>
                                        <p:tgtEl>
                                          <p:spTgt spid="15"/>
                                        </p:tgtEl>
                                      </p:cBhvr>
                                    </p:animEffect>
                                    <p:anim calcmode="lin" valueType="num">
                                      <p:cBhvr>
                                        <p:cTn id="48" dur="1000" fill="hold"/>
                                        <p:tgtEl>
                                          <p:spTgt spid="15"/>
                                        </p:tgtEl>
                                        <p:attrNameLst>
                                          <p:attrName>ppt_x</p:attrName>
                                        </p:attrNameLst>
                                      </p:cBhvr>
                                      <p:tavLst>
                                        <p:tav tm="0">
                                          <p:val>
                                            <p:strVal val="#ppt_x"/>
                                          </p:val>
                                        </p:tav>
                                        <p:tav tm="100000">
                                          <p:val>
                                            <p:strVal val="#ppt_x"/>
                                          </p:val>
                                        </p:tav>
                                      </p:tavLst>
                                    </p:anim>
                                    <p:anim calcmode="lin" valueType="num">
                                      <p:cBhvr>
                                        <p:cTn id="4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heel(1)">
                                      <p:cBhvr>
                                        <p:cTn id="54" dur="20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6" presetClass="entr" presetSubtype="16"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circle(in)">
                                      <p:cBhvr>
                                        <p:cTn id="59" dur="20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21" presetClass="entr" presetSubtype="1"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heel(1)">
                                      <p:cBhvr>
                                        <p:cTn id="64" dur="20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6" presetClass="entr" presetSubtype="16"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circle(in)">
                                      <p:cBhvr>
                                        <p:cTn id="69" dur="2000"/>
                                        <p:tgtEl>
                                          <p:spTgt spid="3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wipe(down)">
                                      <p:cBhvr>
                                        <p:cTn id="74" dur="500"/>
                                        <p:tgtEl>
                                          <p:spTgt spid="38"/>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grpId="0" nodeType="click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barn(inVertical)">
                                      <p:cBhvr>
                                        <p:cTn id="79" dur="500"/>
                                        <p:tgtEl>
                                          <p:spTgt spid="33"/>
                                        </p:tgtEl>
                                      </p:cBhvr>
                                    </p:animEffect>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1000"/>
                                        <p:tgtEl>
                                          <p:spTgt spid="35"/>
                                        </p:tgtEl>
                                      </p:cBhvr>
                                    </p:animEffect>
                                    <p:anim calcmode="lin" valueType="num">
                                      <p:cBhvr>
                                        <p:cTn id="85" dur="1000" fill="hold"/>
                                        <p:tgtEl>
                                          <p:spTgt spid="35"/>
                                        </p:tgtEl>
                                        <p:attrNameLst>
                                          <p:attrName>ppt_x</p:attrName>
                                        </p:attrNameLst>
                                      </p:cBhvr>
                                      <p:tavLst>
                                        <p:tav tm="0">
                                          <p:val>
                                            <p:strVal val="#ppt_x"/>
                                          </p:val>
                                        </p:tav>
                                        <p:tav tm="100000">
                                          <p:val>
                                            <p:strVal val="#ppt_x"/>
                                          </p:val>
                                        </p:tav>
                                      </p:tavLst>
                                    </p:anim>
                                    <p:anim calcmode="lin" valueType="num">
                                      <p:cBhvr>
                                        <p:cTn id="8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4" grpId="0"/>
      <p:bldP spid="15" grpId="0"/>
      <p:bldP spid="19" grpId="0" animBg="1"/>
      <p:bldP spid="22" grpId="0" animBg="1"/>
      <p:bldP spid="23" grpId="0" animBg="1"/>
      <p:bldP spid="28" grpId="0" animBg="1"/>
      <p:bldP spid="38" grpId="0" animBg="1"/>
      <p:bldP spid="25" grpId="0" animBg="1"/>
      <p:bldP spid="29" grpId="0" animBg="1"/>
      <p:bldP spid="32" grpId="0" animBg="1"/>
      <p:bldP spid="33" grpId="0" animBg="1"/>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7147" y="311582"/>
            <a:ext cx="5318887" cy="461665"/>
          </a:xfrm>
          <a:prstGeom prst="rect">
            <a:avLst/>
          </a:prstGeom>
          <a:noFill/>
        </p:spPr>
        <p:txBody>
          <a:bodyPr wrap="square" rtlCol="0">
            <a:spAutoFit/>
          </a:bodyPr>
          <a:lstStyle/>
          <a:p>
            <a:r>
              <a:rPr lang="en-US" b="1" i="1" dirty="0">
                <a:solidFill>
                  <a:srgbClr val="002060"/>
                </a:solidFill>
              </a:rPr>
              <a:t>Intermediate &amp; Final Products</a:t>
            </a:r>
          </a:p>
        </p:txBody>
      </p:sp>
      <p:sp>
        <p:nvSpPr>
          <p:cNvPr id="6" name="TextBox 5"/>
          <p:cNvSpPr txBox="1"/>
          <p:nvPr/>
        </p:nvSpPr>
        <p:spPr>
          <a:xfrm>
            <a:off x="587828" y="659667"/>
            <a:ext cx="7863840" cy="369332"/>
          </a:xfrm>
          <a:prstGeom prst="rect">
            <a:avLst/>
          </a:prstGeom>
          <a:noFill/>
        </p:spPr>
        <p:txBody>
          <a:bodyPr wrap="square" rtlCol="0">
            <a:spAutoFit/>
          </a:bodyPr>
          <a:lstStyle/>
          <a:p>
            <a:pPr algn="just">
              <a:buFont typeface="Wingdings" pitchFamily="2" charset="2"/>
              <a:buChar char="Ø"/>
            </a:pPr>
            <a:r>
              <a:rPr lang="en-US" sz="1800" i="1" dirty="0"/>
              <a:t>  </a:t>
            </a:r>
            <a:r>
              <a:rPr lang="en-US" sz="1800" i="1" dirty="0">
                <a:solidFill>
                  <a:srgbClr val="CC3300"/>
                </a:solidFill>
              </a:rPr>
              <a:t>To avoid double counting, we can use </a:t>
            </a:r>
            <a:r>
              <a:rPr lang="en-US" sz="1800" i="1" u="sng" dirty="0">
                <a:solidFill>
                  <a:srgbClr val="CC3300"/>
                </a:solidFill>
              </a:rPr>
              <a:t>value added method</a:t>
            </a:r>
            <a:r>
              <a:rPr lang="en-US" sz="1800" i="1" dirty="0">
                <a:solidFill>
                  <a:srgbClr val="CC3300"/>
                </a:solidFill>
              </a:rPr>
              <a:t>. </a:t>
            </a:r>
          </a:p>
        </p:txBody>
      </p: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1" name="TextBox 10"/>
          <p:cNvSpPr txBox="1"/>
          <p:nvPr/>
        </p:nvSpPr>
        <p:spPr>
          <a:xfrm>
            <a:off x="753291" y="1439100"/>
            <a:ext cx="3949338" cy="400110"/>
          </a:xfrm>
          <a:prstGeom prst="rect">
            <a:avLst/>
          </a:prstGeom>
          <a:noFill/>
        </p:spPr>
        <p:txBody>
          <a:bodyPr wrap="square" rtlCol="0">
            <a:spAutoFit/>
          </a:bodyPr>
          <a:lstStyle/>
          <a:p>
            <a:pPr algn="just"/>
            <a:r>
              <a:rPr lang="en-US" sz="2000" dirty="0">
                <a:solidFill>
                  <a:srgbClr val="FF0000"/>
                </a:solidFill>
              </a:rPr>
              <a:t>Ex.. Production of Sandwiches.</a:t>
            </a:r>
          </a:p>
        </p:txBody>
      </p:sp>
      <p:sp>
        <p:nvSpPr>
          <p:cNvPr id="12" name="TextBox 11"/>
          <p:cNvSpPr txBox="1"/>
          <p:nvPr/>
        </p:nvSpPr>
        <p:spPr>
          <a:xfrm>
            <a:off x="944878" y="2061775"/>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Wheat Producers (Farmers)  </a:t>
            </a:r>
          </a:p>
        </p:txBody>
      </p:sp>
      <p:sp>
        <p:nvSpPr>
          <p:cNvPr id="13" name="TextBox 12"/>
          <p:cNvSpPr txBox="1"/>
          <p:nvPr/>
        </p:nvSpPr>
        <p:spPr>
          <a:xfrm>
            <a:off x="940523" y="2593002"/>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Wheat Flour (mills)  </a:t>
            </a:r>
          </a:p>
        </p:txBody>
      </p:sp>
      <p:sp>
        <p:nvSpPr>
          <p:cNvPr id="14" name="TextBox 13"/>
          <p:cNvSpPr txBox="1"/>
          <p:nvPr/>
        </p:nvSpPr>
        <p:spPr>
          <a:xfrm>
            <a:off x="953585" y="3115523"/>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Bread (Bakery)  </a:t>
            </a:r>
          </a:p>
        </p:txBody>
      </p:sp>
      <p:sp>
        <p:nvSpPr>
          <p:cNvPr id="15" name="TextBox 14"/>
          <p:cNvSpPr txBox="1"/>
          <p:nvPr/>
        </p:nvSpPr>
        <p:spPr>
          <a:xfrm>
            <a:off x="966648" y="3703358"/>
            <a:ext cx="4058195" cy="400110"/>
          </a:xfrm>
          <a:prstGeom prst="rect">
            <a:avLst/>
          </a:prstGeom>
          <a:noFill/>
        </p:spPr>
        <p:txBody>
          <a:bodyPr wrap="square" rtlCol="0">
            <a:spAutoFit/>
          </a:bodyPr>
          <a:lstStyle/>
          <a:p>
            <a:pPr algn="just">
              <a:buFont typeface="Wingdings" pitchFamily="2" charset="2"/>
              <a:buChar char="Ø"/>
            </a:pPr>
            <a:r>
              <a:rPr lang="en-US" sz="2000" dirty="0">
                <a:solidFill>
                  <a:srgbClr val="7030A0"/>
                </a:solidFill>
              </a:rPr>
              <a:t> Sandwiches (Restaurant)  </a:t>
            </a:r>
          </a:p>
        </p:txBody>
      </p:sp>
      <p:sp>
        <p:nvSpPr>
          <p:cNvPr id="19" name="Down Arrow 18"/>
          <p:cNvSpPr/>
          <p:nvPr/>
        </p:nvSpPr>
        <p:spPr bwMode="auto">
          <a:xfrm>
            <a:off x="2129246" y="2429686"/>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2" name="Down Arrow 21"/>
          <p:cNvSpPr/>
          <p:nvPr/>
        </p:nvSpPr>
        <p:spPr bwMode="auto">
          <a:xfrm>
            <a:off x="2124891" y="2960909"/>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3" name="Down Arrow 22"/>
          <p:cNvSpPr/>
          <p:nvPr/>
        </p:nvSpPr>
        <p:spPr bwMode="auto">
          <a:xfrm>
            <a:off x="2164080" y="3535674"/>
            <a:ext cx="391886" cy="209006"/>
          </a:xfrm>
          <a:prstGeom prst="downArrow">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8" name="TextBox 27"/>
          <p:cNvSpPr txBox="1"/>
          <p:nvPr/>
        </p:nvSpPr>
        <p:spPr>
          <a:xfrm>
            <a:off x="4602477" y="2114038"/>
            <a:ext cx="1223558"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1000 </a:t>
            </a:r>
          </a:p>
        </p:txBody>
      </p:sp>
      <p:sp>
        <p:nvSpPr>
          <p:cNvPr id="38" name="Rounded Rectangle 37"/>
          <p:cNvSpPr/>
          <p:nvPr/>
        </p:nvSpPr>
        <p:spPr bwMode="auto">
          <a:xfrm>
            <a:off x="391887" y="4406792"/>
            <a:ext cx="6400800" cy="374571"/>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v"/>
              <a:tabLst/>
            </a:pPr>
            <a:r>
              <a:rPr lang="en-US" sz="1600" b="1" i="1" dirty="0">
                <a:solidFill>
                  <a:srgbClr val="FF0000"/>
                </a:solidFill>
                <a:latin typeface="Arial" charset="0"/>
              </a:rPr>
              <a:t> </a:t>
            </a:r>
            <a:r>
              <a:rPr lang="en-US" sz="1600" b="1" i="1" dirty="0">
                <a:solidFill>
                  <a:schemeClr val="tx1"/>
                </a:solidFill>
                <a:latin typeface="Arial" charset="0"/>
              </a:rPr>
              <a:t>The total value addition is Rs. 2000 (1000+100+400+500)</a:t>
            </a:r>
            <a:endParaRPr lang="en-US" sz="1600" b="1" i="1" dirty="0">
              <a:solidFill>
                <a:srgbClr val="FF0000"/>
              </a:solidFill>
              <a:latin typeface="Arial" charset="0"/>
            </a:endParaRPr>
          </a:p>
        </p:txBody>
      </p:sp>
      <p:sp>
        <p:nvSpPr>
          <p:cNvPr id="25" name="TextBox 24"/>
          <p:cNvSpPr txBox="1"/>
          <p:nvPr/>
        </p:nvSpPr>
        <p:spPr>
          <a:xfrm>
            <a:off x="4637310" y="2645266"/>
            <a:ext cx="121485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1100 </a:t>
            </a:r>
          </a:p>
        </p:txBody>
      </p:sp>
      <p:sp>
        <p:nvSpPr>
          <p:cNvPr id="29" name="TextBox 28"/>
          <p:cNvSpPr txBox="1"/>
          <p:nvPr/>
        </p:nvSpPr>
        <p:spPr>
          <a:xfrm>
            <a:off x="4650372" y="3154723"/>
            <a:ext cx="117566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1500 </a:t>
            </a:r>
          </a:p>
        </p:txBody>
      </p:sp>
      <p:sp>
        <p:nvSpPr>
          <p:cNvPr id="32" name="TextBox 31"/>
          <p:cNvSpPr txBox="1"/>
          <p:nvPr/>
        </p:nvSpPr>
        <p:spPr>
          <a:xfrm>
            <a:off x="4676498" y="3690306"/>
            <a:ext cx="114953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2000 </a:t>
            </a:r>
          </a:p>
        </p:txBody>
      </p:sp>
      <p:sp>
        <p:nvSpPr>
          <p:cNvPr id="33" name="Rounded Rectangle 32"/>
          <p:cNvSpPr/>
          <p:nvPr/>
        </p:nvSpPr>
        <p:spPr bwMode="auto">
          <a:xfrm>
            <a:off x="391887" y="4900432"/>
            <a:ext cx="5947956" cy="374571"/>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v"/>
              <a:tabLst/>
            </a:pPr>
            <a:r>
              <a:rPr lang="en-US" sz="1600" b="1" i="1" dirty="0">
                <a:solidFill>
                  <a:srgbClr val="FF0000"/>
                </a:solidFill>
                <a:latin typeface="Arial" charset="0"/>
              </a:rPr>
              <a:t>The total value addition = the value of final product </a:t>
            </a:r>
            <a:endParaRPr lang="en-US" sz="1600" b="1" i="1" dirty="0">
              <a:solidFill>
                <a:srgbClr val="7030A0"/>
              </a:solidFill>
              <a:latin typeface="Arial" charset="0"/>
            </a:endParaRPr>
          </a:p>
        </p:txBody>
      </p:sp>
      <p:sp>
        <p:nvSpPr>
          <p:cNvPr id="21" name="TextBox 20"/>
          <p:cNvSpPr txBox="1"/>
          <p:nvPr/>
        </p:nvSpPr>
        <p:spPr>
          <a:xfrm>
            <a:off x="6087283" y="1587169"/>
            <a:ext cx="1645925"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just"/>
            <a:r>
              <a:rPr lang="en-US" sz="1800" b="1" i="1" dirty="0">
                <a:solidFill>
                  <a:schemeClr val="accent2"/>
                </a:solidFill>
              </a:rPr>
              <a:t>Value added </a:t>
            </a:r>
          </a:p>
        </p:txBody>
      </p:sp>
      <p:sp>
        <p:nvSpPr>
          <p:cNvPr id="24" name="TextBox 23"/>
          <p:cNvSpPr txBox="1"/>
          <p:nvPr/>
        </p:nvSpPr>
        <p:spPr>
          <a:xfrm>
            <a:off x="6453067" y="2096619"/>
            <a:ext cx="1223558"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1000 </a:t>
            </a:r>
          </a:p>
        </p:txBody>
      </p:sp>
      <p:cxnSp>
        <p:nvCxnSpPr>
          <p:cNvPr id="27" name="Straight Arrow Connector 26"/>
          <p:cNvCxnSpPr/>
          <p:nvPr/>
        </p:nvCxnSpPr>
        <p:spPr bwMode="auto">
          <a:xfrm>
            <a:off x="5878285" y="2259874"/>
            <a:ext cx="509451" cy="1588"/>
          </a:xfrm>
          <a:prstGeom prst="straightConnector1">
            <a:avLst/>
          </a:prstGeom>
          <a:ln>
            <a:headEnd type="none" w="med" len="med"/>
            <a:tailEnd type="arrow"/>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6474837" y="2640909"/>
            <a:ext cx="1223558"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100 </a:t>
            </a:r>
          </a:p>
        </p:txBody>
      </p:sp>
      <p:sp>
        <p:nvSpPr>
          <p:cNvPr id="31" name="TextBox 30"/>
          <p:cNvSpPr txBox="1"/>
          <p:nvPr/>
        </p:nvSpPr>
        <p:spPr>
          <a:xfrm>
            <a:off x="6474837" y="3150366"/>
            <a:ext cx="1223558"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400 </a:t>
            </a:r>
          </a:p>
        </p:txBody>
      </p:sp>
      <p:sp>
        <p:nvSpPr>
          <p:cNvPr id="34" name="TextBox 33"/>
          <p:cNvSpPr txBox="1"/>
          <p:nvPr/>
        </p:nvSpPr>
        <p:spPr>
          <a:xfrm>
            <a:off x="6487900" y="3751264"/>
            <a:ext cx="1223558"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800" b="1" i="1" dirty="0">
                <a:solidFill>
                  <a:srgbClr val="800000"/>
                </a:solidFill>
              </a:rPr>
              <a:t>Rs. 500 </a:t>
            </a:r>
          </a:p>
        </p:txBody>
      </p:sp>
      <p:cxnSp>
        <p:nvCxnSpPr>
          <p:cNvPr id="36" name="Straight Arrow Connector 35"/>
          <p:cNvCxnSpPr/>
          <p:nvPr/>
        </p:nvCxnSpPr>
        <p:spPr bwMode="auto">
          <a:xfrm>
            <a:off x="5900055" y="2843353"/>
            <a:ext cx="509451" cy="1588"/>
          </a:xfrm>
          <a:prstGeom prst="straightConnector1">
            <a:avLst/>
          </a:prstGeom>
          <a:ln>
            <a:headEnd type="none" w="med" len="med"/>
            <a:tailEnd type="arrow"/>
          </a:ln>
        </p:spPr>
        <p:style>
          <a:lnRef idx="2">
            <a:schemeClr val="dk1"/>
          </a:lnRef>
          <a:fillRef idx="0">
            <a:schemeClr val="dk1"/>
          </a:fillRef>
          <a:effectRef idx="1">
            <a:schemeClr val="dk1"/>
          </a:effectRef>
          <a:fontRef idx="minor">
            <a:schemeClr val="tx1"/>
          </a:fontRef>
        </p:style>
      </p:cxnSp>
      <p:cxnSp>
        <p:nvCxnSpPr>
          <p:cNvPr id="37" name="Straight Arrow Connector 36"/>
          <p:cNvCxnSpPr/>
          <p:nvPr/>
        </p:nvCxnSpPr>
        <p:spPr bwMode="auto">
          <a:xfrm>
            <a:off x="5900055" y="3326684"/>
            <a:ext cx="509451" cy="1588"/>
          </a:xfrm>
          <a:prstGeom prst="straightConnector1">
            <a:avLst/>
          </a:prstGeom>
          <a:ln>
            <a:headEnd type="none" w="med" len="med"/>
            <a:tailEnd type="arrow"/>
          </a:ln>
        </p:spPr>
        <p:style>
          <a:lnRef idx="2">
            <a:schemeClr val="dk1"/>
          </a:lnRef>
          <a:fillRef idx="0">
            <a:schemeClr val="dk1"/>
          </a:fillRef>
          <a:effectRef idx="1">
            <a:schemeClr val="dk1"/>
          </a:effectRef>
          <a:fontRef idx="minor">
            <a:schemeClr val="tx1"/>
          </a:fontRef>
        </p:style>
      </p:cxnSp>
      <p:cxnSp>
        <p:nvCxnSpPr>
          <p:cNvPr id="39" name="Straight Arrow Connector 38"/>
          <p:cNvCxnSpPr/>
          <p:nvPr/>
        </p:nvCxnSpPr>
        <p:spPr bwMode="auto">
          <a:xfrm>
            <a:off x="5886992" y="3914519"/>
            <a:ext cx="509451" cy="1588"/>
          </a:xfrm>
          <a:prstGeom prst="straightConnector1">
            <a:avLst/>
          </a:prstGeom>
          <a:ln>
            <a:headEnd type="none" w="med" len="med"/>
            <a:tailEnd type="arrow"/>
          </a:ln>
        </p:spPr>
        <p:style>
          <a:lnRef idx="2">
            <a:schemeClr val="dk1"/>
          </a:lnRef>
          <a:fillRef idx="0">
            <a:schemeClr val="dk1"/>
          </a:fillRef>
          <a:effectRef idx="1">
            <a:schemeClr val="dk1"/>
          </a:effectRef>
          <a:fontRef idx="minor">
            <a:schemeClr val="tx1"/>
          </a:fontRef>
        </p:style>
      </p:cxnSp>
      <p:grpSp>
        <p:nvGrpSpPr>
          <p:cNvPr id="40" name="Group 12"/>
          <p:cNvGrpSpPr>
            <a:grpSpLocks/>
          </p:cNvGrpSpPr>
          <p:nvPr/>
        </p:nvGrpSpPr>
        <p:grpSpPr bwMode="auto">
          <a:xfrm>
            <a:off x="466228" y="5450753"/>
            <a:ext cx="7528241" cy="485775"/>
            <a:chOff x="336" y="2568"/>
            <a:chExt cx="5208" cy="306"/>
          </a:xfrm>
        </p:grpSpPr>
        <p:sp>
          <p:nvSpPr>
            <p:cNvPr id="41" name="Rectangle 11"/>
            <p:cNvSpPr>
              <a:spLocks noChangeArrowheads="1"/>
            </p:cNvSpPr>
            <p:nvPr/>
          </p:nvSpPr>
          <p:spPr bwMode="auto">
            <a:xfrm>
              <a:off x="336" y="2568"/>
              <a:ext cx="5208" cy="291"/>
            </a:xfrm>
            <a:prstGeom prst="rect">
              <a:avLst/>
            </a:prstGeom>
            <a:solidFill>
              <a:srgbClr val="FFFFCC"/>
            </a:solidFill>
            <a:ln w="9525">
              <a:solidFill>
                <a:schemeClr val="tx1"/>
              </a:solidFill>
              <a:miter lim="800000"/>
              <a:headEnd/>
              <a:tailEnd/>
            </a:ln>
            <a:effectLst/>
          </p:spPr>
          <p:txBody>
            <a:bodyPr wrap="square" anchor="ctr">
              <a:spAutoFit/>
            </a:bodyPr>
            <a:lstStyle/>
            <a:p>
              <a:endParaRPr lang="en-US"/>
            </a:p>
          </p:txBody>
        </p:sp>
        <p:sp>
          <p:nvSpPr>
            <p:cNvPr id="42" name="Text Box 10"/>
            <p:cNvSpPr txBox="1">
              <a:spLocks noChangeArrowheads="1"/>
            </p:cNvSpPr>
            <p:nvPr/>
          </p:nvSpPr>
          <p:spPr bwMode="auto">
            <a:xfrm>
              <a:off x="458" y="2641"/>
              <a:ext cx="4952" cy="233"/>
            </a:xfrm>
            <a:prstGeom prst="rect">
              <a:avLst/>
            </a:prstGeom>
            <a:noFill/>
            <a:ln w="9525">
              <a:noFill/>
              <a:miter lim="800000"/>
              <a:headEnd/>
              <a:tailEnd/>
            </a:ln>
            <a:effectLst/>
          </p:spPr>
          <p:txBody>
            <a:bodyPr>
              <a:spAutoFit/>
            </a:bodyPr>
            <a:lstStyle/>
            <a:p>
              <a:r>
                <a:rPr lang="en-US" altLang="en-US" sz="1800" b="1" dirty="0"/>
                <a:t>Value added = value of production - value of intermediate goods</a:t>
              </a:r>
              <a:endParaRPr lang="en-US" altLang="en-US" sz="1800" dirty="0"/>
            </a:p>
          </p:txBody>
        </p:sp>
      </p:grpSp>
      <p:grpSp>
        <p:nvGrpSpPr>
          <p:cNvPr id="43" name="Group 12"/>
          <p:cNvGrpSpPr>
            <a:grpSpLocks/>
          </p:cNvGrpSpPr>
          <p:nvPr/>
        </p:nvGrpSpPr>
        <p:grpSpPr bwMode="auto">
          <a:xfrm>
            <a:off x="1428270" y="5968917"/>
            <a:ext cx="5129030" cy="485775"/>
            <a:chOff x="1304" y="2568"/>
            <a:chExt cx="5208" cy="306"/>
          </a:xfrm>
        </p:grpSpPr>
        <p:sp>
          <p:nvSpPr>
            <p:cNvPr id="44" name="Rectangle 11"/>
            <p:cNvSpPr>
              <a:spLocks noChangeArrowheads="1"/>
            </p:cNvSpPr>
            <p:nvPr/>
          </p:nvSpPr>
          <p:spPr bwMode="auto">
            <a:xfrm>
              <a:off x="1304" y="2568"/>
              <a:ext cx="5208" cy="291"/>
            </a:xfrm>
            <a:prstGeom prst="rect">
              <a:avLst/>
            </a:prstGeom>
            <a:solidFill>
              <a:srgbClr val="FFFFCC"/>
            </a:solidFill>
            <a:ln w="9525">
              <a:solidFill>
                <a:schemeClr val="tx1"/>
              </a:solidFill>
              <a:miter lim="800000"/>
              <a:headEnd/>
              <a:tailEnd/>
            </a:ln>
            <a:effectLst/>
          </p:spPr>
          <p:txBody>
            <a:bodyPr wrap="square" anchor="ctr">
              <a:spAutoFit/>
            </a:bodyPr>
            <a:lstStyle/>
            <a:p>
              <a:endParaRPr lang="en-US"/>
            </a:p>
          </p:txBody>
        </p:sp>
        <p:sp>
          <p:nvSpPr>
            <p:cNvPr id="45" name="Text Box 10"/>
            <p:cNvSpPr txBox="1">
              <a:spLocks noChangeArrowheads="1"/>
            </p:cNvSpPr>
            <p:nvPr/>
          </p:nvSpPr>
          <p:spPr bwMode="auto">
            <a:xfrm>
              <a:off x="1333" y="2641"/>
              <a:ext cx="4952" cy="233"/>
            </a:xfrm>
            <a:prstGeom prst="rect">
              <a:avLst/>
            </a:prstGeom>
            <a:noFill/>
            <a:ln w="9525">
              <a:noFill/>
              <a:miter lim="800000"/>
              <a:headEnd/>
              <a:tailEnd/>
            </a:ln>
            <a:effectLst/>
          </p:spPr>
          <p:txBody>
            <a:bodyPr>
              <a:spAutoFit/>
            </a:bodyPr>
            <a:lstStyle/>
            <a:p>
              <a:r>
                <a:rPr lang="en-US" altLang="en-US" sz="1800" b="1" i="1" dirty="0">
                  <a:solidFill>
                    <a:srgbClr val="00B050"/>
                  </a:solidFill>
                </a:rPr>
                <a:t>Value added at the mill = 1100 – 1000 = 100</a:t>
              </a:r>
              <a:endParaRPr lang="en-US" altLang="en-US" sz="1800" i="1" dirty="0">
                <a:solidFill>
                  <a:srgbClr val="00B050"/>
                </a:solidFill>
              </a:endParaRPr>
            </a:p>
          </p:txBody>
        </p:sp>
      </p:gr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8</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arn(outVertical)">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arn(outVertic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additive="base">
                                        <p:cTn id="37" dur="500" fill="hold"/>
                                        <p:tgtEl>
                                          <p:spTgt spid="36"/>
                                        </p:tgtEl>
                                        <p:attrNameLst>
                                          <p:attrName>ppt_x</p:attrName>
                                        </p:attrNameLst>
                                      </p:cBhvr>
                                      <p:tavLst>
                                        <p:tav tm="0">
                                          <p:val>
                                            <p:strVal val="#ppt_x"/>
                                          </p:val>
                                        </p:tav>
                                        <p:tav tm="100000">
                                          <p:val>
                                            <p:strVal val="#ppt_x"/>
                                          </p:val>
                                        </p:tav>
                                      </p:tavLst>
                                    </p:anim>
                                    <p:anim calcmode="lin" valueType="num">
                                      <p:cBhvr additive="base">
                                        <p:cTn id="3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48640" y="559800"/>
            <a:ext cx="4038727" cy="461665"/>
          </a:xfrm>
          <a:prstGeom prst="rect">
            <a:avLst/>
          </a:prstGeom>
          <a:noFill/>
        </p:spPr>
        <p:txBody>
          <a:bodyPr wrap="square" rtlCol="0">
            <a:spAutoFit/>
          </a:bodyPr>
          <a:lstStyle/>
          <a:p>
            <a:r>
              <a:rPr lang="en-US" b="1" i="1" dirty="0">
                <a:solidFill>
                  <a:srgbClr val="002060"/>
                </a:solidFill>
              </a:rPr>
              <a:t>Transfer Payments</a:t>
            </a:r>
          </a:p>
        </p:txBody>
      </p:sp>
      <p:sp>
        <p:nvSpPr>
          <p:cNvPr id="6" name="TextBox 5"/>
          <p:cNvSpPr txBox="1"/>
          <p:nvPr/>
        </p:nvSpPr>
        <p:spPr>
          <a:xfrm>
            <a:off x="631368" y="1156787"/>
            <a:ext cx="7863840" cy="707886"/>
          </a:xfrm>
          <a:prstGeom prst="rect">
            <a:avLst/>
          </a:prstGeom>
          <a:noFill/>
        </p:spPr>
        <p:txBody>
          <a:bodyPr wrap="square" rtlCol="0">
            <a:spAutoFit/>
          </a:bodyPr>
          <a:lstStyle/>
          <a:p>
            <a:pPr algn="just"/>
            <a:r>
              <a:rPr lang="en-US" sz="2000" dirty="0"/>
              <a:t>Transfer payments are the payments made by one party to the other party, without corresponding transfer of goods &amp; services.   </a:t>
            </a:r>
          </a:p>
        </p:txBody>
      </p: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5" name="TextBox 24"/>
          <p:cNvSpPr txBox="1"/>
          <p:nvPr/>
        </p:nvSpPr>
        <p:spPr>
          <a:xfrm>
            <a:off x="666201" y="4364512"/>
            <a:ext cx="7980251" cy="1323439"/>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000" b="1" i="1" u="sng" dirty="0"/>
              <a:t>Note:</a:t>
            </a:r>
          </a:p>
          <a:p>
            <a:pPr algn="just"/>
            <a:r>
              <a:rPr lang="en-US" sz="2000" b="1" i="1" dirty="0">
                <a:solidFill>
                  <a:schemeClr val="accent1">
                    <a:lumMod val="50000"/>
                  </a:schemeClr>
                </a:solidFill>
              </a:rPr>
              <a:t>Transfer payments are not taken into national income counting because such payments do not result  in any addition to the total production nor do they add any additional value to the society.</a:t>
            </a:r>
          </a:p>
        </p:txBody>
      </p:sp>
      <p:sp>
        <p:nvSpPr>
          <p:cNvPr id="11" name="TextBox 10"/>
          <p:cNvSpPr txBox="1"/>
          <p:nvPr/>
        </p:nvSpPr>
        <p:spPr>
          <a:xfrm>
            <a:off x="622661" y="2209808"/>
            <a:ext cx="4994368" cy="707886"/>
          </a:xfrm>
          <a:prstGeom prst="rect">
            <a:avLst/>
          </a:prstGeom>
          <a:noFill/>
        </p:spPr>
        <p:txBody>
          <a:bodyPr wrap="square" rtlCol="0">
            <a:spAutoFit/>
          </a:bodyPr>
          <a:lstStyle/>
          <a:p>
            <a:pPr algn="just"/>
            <a:r>
              <a:rPr lang="en-US" sz="2000" dirty="0"/>
              <a:t>For example….</a:t>
            </a:r>
          </a:p>
          <a:p>
            <a:pPr algn="just">
              <a:buFont typeface="Wingdings" pitchFamily="2" charset="2"/>
              <a:buChar char="ü"/>
            </a:pPr>
            <a:r>
              <a:rPr lang="en-US" sz="2000" dirty="0"/>
              <a:t>  you gift some money to your friend.   </a:t>
            </a:r>
          </a:p>
        </p:txBody>
      </p:sp>
      <p:sp>
        <p:nvSpPr>
          <p:cNvPr id="12" name="TextBox 11"/>
          <p:cNvSpPr txBox="1"/>
          <p:nvPr/>
        </p:nvSpPr>
        <p:spPr>
          <a:xfrm>
            <a:off x="631368" y="2871665"/>
            <a:ext cx="4994368" cy="400110"/>
          </a:xfrm>
          <a:prstGeom prst="rect">
            <a:avLst/>
          </a:prstGeom>
          <a:noFill/>
        </p:spPr>
        <p:txBody>
          <a:bodyPr wrap="square" rtlCol="0">
            <a:spAutoFit/>
          </a:bodyPr>
          <a:lstStyle/>
          <a:p>
            <a:pPr algn="just">
              <a:buFont typeface="Wingdings" pitchFamily="2" charset="2"/>
              <a:buChar char="ü"/>
            </a:pPr>
            <a:r>
              <a:rPr lang="en-US" sz="2000" dirty="0"/>
              <a:t>  pension for retired people.   </a:t>
            </a:r>
          </a:p>
        </p:txBody>
      </p:sp>
      <p:sp>
        <p:nvSpPr>
          <p:cNvPr id="13" name="TextBox 12"/>
          <p:cNvSpPr txBox="1"/>
          <p:nvPr/>
        </p:nvSpPr>
        <p:spPr>
          <a:xfrm>
            <a:off x="666201" y="3206947"/>
            <a:ext cx="4994368" cy="400110"/>
          </a:xfrm>
          <a:prstGeom prst="rect">
            <a:avLst/>
          </a:prstGeom>
          <a:noFill/>
        </p:spPr>
        <p:txBody>
          <a:bodyPr wrap="square" rtlCol="0">
            <a:spAutoFit/>
          </a:bodyPr>
          <a:lstStyle/>
          <a:p>
            <a:pPr algn="just">
              <a:buFont typeface="Wingdings" pitchFamily="2" charset="2"/>
              <a:buChar char="ü"/>
            </a:pPr>
            <a:r>
              <a:rPr lang="en-US" sz="2000" dirty="0"/>
              <a:t>  </a:t>
            </a:r>
            <a:r>
              <a:rPr lang="en-US" sz="2000" dirty="0" err="1"/>
              <a:t>samurdhi</a:t>
            </a:r>
            <a:r>
              <a:rPr lang="en-US" sz="2000" dirty="0"/>
              <a:t>   </a:t>
            </a:r>
          </a:p>
        </p:txBody>
      </p:sp>
      <p:sp>
        <p:nvSpPr>
          <p:cNvPr id="3" name="Footer Placeholder 2"/>
          <p:cNvSpPr>
            <a:spLocks noGrp="1"/>
          </p:cNvSpPr>
          <p:nvPr>
            <p:ph type="ftr" sz="quarter" idx="11"/>
          </p:nvPr>
        </p:nvSpPr>
        <p:spPr/>
        <p:txBody>
          <a:bodyPr/>
          <a:lstStyle/>
          <a:p>
            <a:r>
              <a:rPr lang="en-US"/>
              <a:t>BSc/FGS/2022</a:t>
            </a:r>
          </a:p>
        </p:txBody>
      </p:sp>
      <p:sp>
        <p:nvSpPr>
          <p:cNvPr id="7" name="Slide Number Placeholder 6"/>
          <p:cNvSpPr>
            <a:spLocks noGrp="1"/>
          </p:cNvSpPr>
          <p:nvPr>
            <p:ph type="sldNum" sz="quarter" idx="12"/>
          </p:nvPr>
        </p:nvSpPr>
        <p:spPr/>
        <p:txBody>
          <a:bodyPr/>
          <a:lstStyle/>
          <a:p>
            <a:fld id="{74F55D90-0D1F-43D0-8F31-49152F7873AE}" type="slidenum">
              <a:rPr lang="en-US" smtClean="0"/>
              <a:t>9</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to="" calcmode="lin" valueType="num">
                                      <p:cBhvr>
                                        <p:cTn id="17" dur="1" fill="hold"/>
                                        <p:tgtEl>
                                          <p:spTgt spid="11"/>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to="" calcmode="lin" valueType="num">
                                      <p:cBhvr>
                                        <p:cTn id="22" dur="1" fill="hold"/>
                                        <p:tgtEl>
                                          <p:spTgt spid="12"/>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to="" calcmode="lin" valueType="num">
                                      <p:cBhvr>
                                        <p:cTn id="27" dur="1" fill="hold"/>
                                        <p:tgtEl>
                                          <p:spTgt spid="13"/>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 to="" calcmode="lin" valueType="num">
                                      <p:cBhvr>
                                        <p:cTn id="32" dur="1" fill="hold"/>
                                        <p:tgtEl>
                                          <p:spTgt spid="2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5" grpId="0" animBg="1"/>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85750" y="365123"/>
            <a:ext cx="8553450" cy="770964"/>
          </a:xfrm>
        </p:spPr>
        <p:txBody>
          <a:bodyPr/>
          <a:lstStyle/>
          <a:p>
            <a:pPr algn="ctr"/>
            <a:r>
              <a:rPr lang="en-US" altLang="en-US" sz="3200" b="1" dirty="0">
                <a:effectLst>
                  <a:outerShdw blurRad="38100" dist="38100" dir="2700000" algn="tl">
                    <a:srgbClr val="C0C0C0"/>
                  </a:outerShdw>
                </a:effectLst>
                <a:latin typeface="Arial" panose="020B0604020202020204" pitchFamily="34" charset="0"/>
                <a:cs typeface="Arial" panose="020B0604020202020204" pitchFamily="34" charset="0"/>
              </a:rPr>
              <a:t>3.3 National Income Measures</a:t>
            </a:r>
          </a:p>
        </p:txBody>
      </p:sp>
      <p:sp>
        <p:nvSpPr>
          <p:cNvPr id="5" name="TextBox 4"/>
          <p:cNvSpPr txBox="1"/>
          <p:nvPr/>
        </p:nvSpPr>
        <p:spPr>
          <a:xfrm>
            <a:off x="507147" y="1500315"/>
            <a:ext cx="8336407" cy="707886"/>
          </a:xfrm>
          <a:prstGeom prst="rect">
            <a:avLst/>
          </a:prstGeom>
          <a:noFill/>
        </p:spPr>
        <p:txBody>
          <a:bodyPr wrap="square" rtlCol="0">
            <a:spAutoFit/>
          </a:bodyPr>
          <a:lstStyle/>
          <a:p>
            <a:pPr>
              <a:buFont typeface="Wingdings" pitchFamily="2" charset="2"/>
              <a:buChar char="v"/>
            </a:pPr>
            <a:r>
              <a:rPr lang="en-US" sz="2000" dirty="0">
                <a:solidFill>
                  <a:srgbClr val="002060"/>
                </a:solidFill>
              </a:rPr>
              <a:t>  Different kind of national income measures are used in national income analysis</a:t>
            </a:r>
          </a:p>
        </p:txBody>
      </p:sp>
      <p:sp>
        <p:nvSpPr>
          <p:cNvPr id="6" name="TextBox 5"/>
          <p:cNvSpPr txBox="1"/>
          <p:nvPr/>
        </p:nvSpPr>
        <p:spPr>
          <a:xfrm>
            <a:off x="365757" y="2331731"/>
            <a:ext cx="4362995" cy="400110"/>
          </a:xfrm>
          <a:prstGeom prst="rect">
            <a:avLst/>
          </a:prstGeom>
          <a:noFill/>
        </p:spPr>
        <p:txBody>
          <a:bodyPr wrap="square" rtlCol="0">
            <a:spAutoFit/>
          </a:bodyPr>
          <a:lstStyle/>
          <a:p>
            <a:pPr algn="just"/>
            <a:r>
              <a:rPr lang="en-US" sz="2000" b="1" dirty="0"/>
              <a:t>Gross Domestic Product (GDP)  </a:t>
            </a:r>
          </a:p>
        </p:txBody>
      </p: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5" name="Rounded Rectangle 14"/>
          <p:cNvSpPr/>
          <p:nvPr/>
        </p:nvSpPr>
        <p:spPr bwMode="auto">
          <a:xfrm>
            <a:off x="1489157" y="2952443"/>
            <a:ext cx="6487884" cy="1123712"/>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2000" b="1" i="1" dirty="0">
                <a:solidFill>
                  <a:srgbClr val="7030A0"/>
                </a:solidFill>
                <a:latin typeface="Arial" charset="0"/>
              </a:rPr>
              <a:t>the value of all final goods and services produced in a country during a specific period of time, generally one year.</a:t>
            </a:r>
            <a:r>
              <a:rPr lang="en-US" sz="2000" b="1" i="1" dirty="0">
                <a:solidFill>
                  <a:schemeClr val="tx1"/>
                </a:solidFill>
                <a:latin typeface="Arial" charset="0"/>
              </a:rPr>
              <a:t> </a:t>
            </a:r>
            <a:endParaRPr lang="en-US" sz="2000" b="1" i="1" dirty="0">
              <a:solidFill>
                <a:srgbClr val="7030A0"/>
              </a:solidFill>
              <a:latin typeface="Arial" charset="0"/>
            </a:endParaRPr>
          </a:p>
        </p:txBody>
      </p:sp>
      <p:sp>
        <p:nvSpPr>
          <p:cNvPr id="16" name="Rounded Rectangle 15"/>
          <p:cNvSpPr/>
          <p:nvPr/>
        </p:nvSpPr>
        <p:spPr bwMode="auto">
          <a:xfrm>
            <a:off x="1541409" y="4228261"/>
            <a:ext cx="6574969" cy="1123712"/>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2000" b="1" i="1" dirty="0">
                <a:solidFill>
                  <a:srgbClr val="0070C0"/>
                </a:solidFill>
                <a:latin typeface="Arial" charset="0"/>
              </a:rPr>
              <a:t>GDP </a:t>
            </a:r>
            <a:r>
              <a:rPr lang="en-US" sz="2000" b="1" i="1" dirty="0">
                <a:solidFill>
                  <a:srgbClr val="FF0000"/>
                </a:solidFill>
                <a:latin typeface="Arial" charset="0"/>
              </a:rPr>
              <a:t>includes</a:t>
            </a:r>
            <a:r>
              <a:rPr lang="en-US" sz="2000" b="1" i="1" dirty="0">
                <a:solidFill>
                  <a:srgbClr val="0070C0"/>
                </a:solidFill>
                <a:latin typeface="Arial" charset="0"/>
              </a:rPr>
              <a:t> income earned by the foreigners in the country and </a:t>
            </a:r>
            <a:r>
              <a:rPr lang="en-US" sz="2000" b="1" i="1" dirty="0">
                <a:solidFill>
                  <a:srgbClr val="FF0000"/>
                </a:solidFill>
                <a:latin typeface="Arial" charset="0"/>
              </a:rPr>
              <a:t>excludes</a:t>
            </a:r>
            <a:r>
              <a:rPr lang="en-US" sz="2000" b="1" i="1" dirty="0">
                <a:solidFill>
                  <a:srgbClr val="0070C0"/>
                </a:solidFill>
                <a:latin typeface="Arial" charset="0"/>
              </a:rPr>
              <a:t> income earned abroad by the residents. </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10</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 to="" calcmode="lin" valueType="num">
                                      <p:cBhvr>
                                        <p:cTn id="22" dur="1" fill="hold"/>
                                        <p:tgtEl>
                                          <p:spTgt spid="15"/>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to="" calcmode="lin" valueType="num">
                                      <p:cBhvr>
                                        <p:cTn id="27" dur="1" fill="hold"/>
                                        <p:tgtEl>
                                          <p:spTgt spid="1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85750" y="365123"/>
            <a:ext cx="8553450" cy="770964"/>
          </a:xfrm>
        </p:spPr>
        <p:txBody>
          <a:bodyPr/>
          <a:lstStyle/>
          <a:p>
            <a:r>
              <a:rPr lang="en-US" altLang="en-US" sz="3200" dirty="0" err="1">
                <a:effectLst>
                  <a:outerShdw blurRad="38100" dist="38100" dir="2700000" algn="tl">
                    <a:srgbClr val="C0C0C0"/>
                  </a:outerShdw>
                </a:effectLst>
              </a:rPr>
              <a:t>Cont</a:t>
            </a:r>
            <a:r>
              <a:rPr lang="en-US" altLang="en-US" sz="3200" dirty="0">
                <a:effectLst>
                  <a:outerShdw blurRad="38100" dist="38100" dir="2700000" algn="tl">
                    <a:srgbClr val="C0C0C0"/>
                  </a:outerShdw>
                </a:effectLst>
              </a:rPr>
              <a:t>…</a:t>
            </a:r>
          </a:p>
        </p:txBody>
      </p:sp>
      <p:sp>
        <p:nvSpPr>
          <p:cNvPr id="6" name="TextBox 5"/>
          <p:cNvSpPr txBox="1"/>
          <p:nvPr/>
        </p:nvSpPr>
        <p:spPr>
          <a:xfrm>
            <a:off x="365757" y="1691644"/>
            <a:ext cx="4362995" cy="400110"/>
          </a:xfrm>
          <a:prstGeom prst="rect">
            <a:avLst/>
          </a:prstGeom>
          <a:noFill/>
        </p:spPr>
        <p:txBody>
          <a:bodyPr wrap="square" rtlCol="0">
            <a:spAutoFit/>
          </a:bodyPr>
          <a:lstStyle/>
          <a:p>
            <a:pPr algn="just"/>
            <a:r>
              <a:rPr lang="en-US" sz="2000" b="1" dirty="0"/>
              <a:t>Gross National Product (GNP)  </a:t>
            </a:r>
          </a:p>
        </p:txBody>
      </p: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5" name="Rounded Rectangle 14"/>
          <p:cNvSpPr/>
          <p:nvPr/>
        </p:nvSpPr>
        <p:spPr bwMode="auto">
          <a:xfrm>
            <a:off x="1463031" y="2390734"/>
            <a:ext cx="6487884" cy="1123712"/>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2000" b="1" i="1" dirty="0">
                <a:solidFill>
                  <a:srgbClr val="7030A0"/>
                </a:solidFill>
                <a:latin typeface="Arial" charset="0"/>
              </a:rPr>
              <a:t>the value of final goods and services produced by </a:t>
            </a:r>
            <a:r>
              <a:rPr lang="en-US" sz="2000" b="1" i="1" u="sng" dirty="0">
                <a:solidFill>
                  <a:srgbClr val="FF0000"/>
                </a:solidFill>
                <a:latin typeface="Arial" charset="0"/>
              </a:rPr>
              <a:t>the residents </a:t>
            </a:r>
            <a:r>
              <a:rPr lang="en-US" sz="2000" b="1" i="1" dirty="0">
                <a:solidFill>
                  <a:srgbClr val="7030A0"/>
                </a:solidFill>
                <a:latin typeface="Arial" charset="0"/>
              </a:rPr>
              <a:t>in the country during a specific period of time, generally one year.</a:t>
            </a:r>
            <a:r>
              <a:rPr lang="en-US" sz="2000" b="1" i="1" dirty="0">
                <a:solidFill>
                  <a:schemeClr val="tx1"/>
                </a:solidFill>
                <a:latin typeface="Arial" charset="0"/>
              </a:rPr>
              <a:t> </a:t>
            </a:r>
            <a:endParaRPr lang="en-US" sz="2000" b="1" i="1" dirty="0">
              <a:solidFill>
                <a:srgbClr val="7030A0"/>
              </a:solidFill>
              <a:latin typeface="Arial" charset="0"/>
            </a:endParaRPr>
          </a:p>
        </p:txBody>
      </p:sp>
      <p:sp>
        <p:nvSpPr>
          <p:cNvPr id="16" name="Rounded Rectangle 15"/>
          <p:cNvSpPr/>
          <p:nvPr/>
        </p:nvSpPr>
        <p:spPr bwMode="auto">
          <a:xfrm>
            <a:off x="496389" y="4228261"/>
            <a:ext cx="8281851" cy="715089"/>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1800" b="1" i="1" dirty="0">
                <a:solidFill>
                  <a:srgbClr val="0070C0"/>
                </a:solidFill>
                <a:latin typeface="Arial" charset="0"/>
              </a:rPr>
              <a:t>GNP = GDP + (incomes earned by the residents of a country in foreign countries) – (incomes earned by the foreigners in the country) </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11</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 to="" calcmode="lin" valueType="num">
                                      <p:cBhvr>
                                        <p:cTn id="12" dur="1" fill="hold"/>
                                        <p:tgtEl>
                                          <p:spTgt spid="1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to="" calcmode="lin" valueType="num">
                                      <p:cBhvr>
                                        <p:cTn id="17" dur="1" fill="hold"/>
                                        <p:tgtEl>
                                          <p:spTgt spid="1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85750" y="103863"/>
            <a:ext cx="8553450" cy="770964"/>
          </a:xfrm>
        </p:spPr>
        <p:txBody>
          <a:bodyPr/>
          <a:lstStyle/>
          <a:p>
            <a:r>
              <a:rPr lang="en-US" altLang="en-US" sz="3200" dirty="0" err="1">
                <a:effectLst>
                  <a:outerShdw blurRad="38100" dist="38100" dir="2700000" algn="tl">
                    <a:srgbClr val="C0C0C0"/>
                  </a:outerShdw>
                </a:effectLst>
              </a:rPr>
              <a:t>Cont</a:t>
            </a:r>
            <a:r>
              <a:rPr lang="en-US" altLang="en-US" sz="3200" dirty="0">
                <a:effectLst>
                  <a:outerShdw blurRad="38100" dist="38100" dir="2700000" algn="tl">
                    <a:srgbClr val="C0C0C0"/>
                  </a:outerShdw>
                </a:effectLst>
              </a:rPr>
              <a:t>…</a:t>
            </a:r>
          </a:p>
        </p:txBody>
      </p:sp>
      <p:sp>
        <p:nvSpPr>
          <p:cNvPr id="6" name="TextBox 5"/>
          <p:cNvSpPr txBox="1"/>
          <p:nvPr/>
        </p:nvSpPr>
        <p:spPr>
          <a:xfrm>
            <a:off x="365757" y="816423"/>
            <a:ext cx="4362995" cy="400110"/>
          </a:xfrm>
          <a:prstGeom prst="rect">
            <a:avLst/>
          </a:prstGeom>
          <a:noFill/>
        </p:spPr>
        <p:txBody>
          <a:bodyPr wrap="square" rtlCol="0">
            <a:spAutoFit/>
          </a:bodyPr>
          <a:lstStyle/>
          <a:p>
            <a:pPr algn="just"/>
            <a:r>
              <a:rPr lang="en-US" sz="2000" b="1" dirty="0"/>
              <a:t>Nominal GDP and Real GDP  </a:t>
            </a:r>
          </a:p>
        </p:txBody>
      </p:sp>
      <p:sp>
        <p:nvSpPr>
          <p:cNvPr id="18" name="Rounded Rectangle 17"/>
          <p:cNvSpPr/>
          <p:nvPr/>
        </p:nvSpPr>
        <p:spPr bwMode="auto">
          <a:xfrm>
            <a:off x="548640" y="4336869"/>
            <a:ext cx="2965269" cy="1515291"/>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0" name="Rounded Rectangle 19"/>
          <p:cNvSpPr/>
          <p:nvPr/>
        </p:nvSpPr>
        <p:spPr bwMode="auto">
          <a:xfrm>
            <a:off x="731520" y="4545874"/>
            <a:ext cx="2782389" cy="51077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5" name="Rounded Rectangle 14"/>
          <p:cNvSpPr/>
          <p:nvPr/>
        </p:nvSpPr>
        <p:spPr bwMode="auto">
          <a:xfrm>
            <a:off x="535577" y="1267316"/>
            <a:ext cx="8138160" cy="442674"/>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The GDP estimated at current price is called </a:t>
            </a:r>
            <a:r>
              <a:rPr lang="en-US" sz="2000" b="1" i="1" u="sng" dirty="0">
                <a:solidFill>
                  <a:srgbClr val="002060"/>
                </a:solidFill>
                <a:latin typeface="Arial" charset="0"/>
              </a:rPr>
              <a:t>Nominal GDP</a:t>
            </a:r>
          </a:p>
        </p:txBody>
      </p:sp>
      <p:sp>
        <p:nvSpPr>
          <p:cNvPr id="9" name="Rounded Rectangle 8"/>
          <p:cNvSpPr/>
          <p:nvPr/>
        </p:nvSpPr>
        <p:spPr bwMode="auto">
          <a:xfrm>
            <a:off x="531221" y="1785480"/>
            <a:ext cx="8138160" cy="783193"/>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The GDP estimated at constant price in a chosen (called base year) is called </a:t>
            </a:r>
            <a:r>
              <a:rPr lang="en-US" sz="2000" b="1" i="1" u="sng" dirty="0">
                <a:solidFill>
                  <a:srgbClr val="002060"/>
                </a:solidFill>
                <a:latin typeface="Arial" charset="0"/>
              </a:rPr>
              <a:t>Real GDP</a:t>
            </a:r>
          </a:p>
        </p:txBody>
      </p:sp>
      <p:grpSp>
        <p:nvGrpSpPr>
          <p:cNvPr id="10" name="Group 7"/>
          <p:cNvGrpSpPr>
            <a:grpSpLocks/>
          </p:cNvGrpSpPr>
          <p:nvPr/>
        </p:nvGrpSpPr>
        <p:grpSpPr bwMode="auto">
          <a:xfrm>
            <a:off x="438150" y="3446959"/>
            <a:ext cx="8407400" cy="2333627"/>
            <a:chOff x="240" y="2484"/>
            <a:chExt cx="5296" cy="1470"/>
          </a:xfrm>
        </p:grpSpPr>
        <p:sp>
          <p:nvSpPr>
            <p:cNvPr id="11" name="Rectangle 2"/>
            <p:cNvSpPr>
              <a:spLocks noChangeArrowheads="1"/>
            </p:cNvSpPr>
            <p:nvPr/>
          </p:nvSpPr>
          <p:spPr bwMode="auto">
            <a:xfrm>
              <a:off x="240" y="2484"/>
              <a:ext cx="5184" cy="1272"/>
            </a:xfrm>
            <a:prstGeom prst="rect">
              <a:avLst/>
            </a:prstGeom>
            <a:solidFill>
              <a:srgbClr val="FFFFCC"/>
            </a:solidFill>
            <a:ln w="9525">
              <a:solidFill>
                <a:schemeClr val="tx1"/>
              </a:solidFill>
              <a:miter lim="800000"/>
              <a:headEnd/>
              <a:tailEnd/>
            </a:ln>
            <a:effectLst/>
          </p:spPr>
          <p:txBody>
            <a:bodyPr wrap="none" anchor="ctr">
              <a:spAutoFit/>
            </a:bodyPr>
            <a:lstStyle/>
            <a:p>
              <a:endParaRPr lang="en-US"/>
            </a:p>
          </p:txBody>
        </p:sp>
        <p:sp>
          <p:nvSpPr>
            <p:cNvPr id="12" name="Text Box 5"/>
            <p:cNvSpPr txBox="1">
              <a:spLocks noChangeArrowheads="1"/>
            </p:cNvSpPr>
            <p:nvPr/>
          </p:nvSpPr>
          <p:spPr bwMode="auto">
            <a:xfrm>
              <a:off x="251" y="2509"/>
              <a:ext cx="5285" cy="250"/>
            </a:xfrm>
            <a:prstGeom prst="rect">
              <a:avLst/>
            </a:prstGeom>
            <a:noFill/>
            <a:ln w="9525">
              <a:noFill/>
              <a:miter lim="800000"/>
              <a:headEnd/>
              <a:tailEnd/>
            </a:ln>
            <a:effectLst/>
          </p:spPr>
          <p:txBody>
            <a:bodyPr>
              <a:spAutoFit/>
            </a:bodyPr>
            <a:lstStyle/>
            <a:p>
              <a:pPr>
                <a:tabLst>
                  <a:tab pos="1828800" algn="ctr"/>
                  <a:tab pos="3829050" algn="ctr"/>
                  <a:tab pos="6343650" algn="ctr"/>
                </a:tabLst>
              </a:pPr>
              <a:r>
                <a:rPr lang="en-US" altLang="en-US" sz="2000" b="1" dirty="0"/>
                <a:t>Year	Quantity of Cars	Price of Cars	Nominal GDP  (% increase)</a:t>
              </a:r>
            </a:p>
          </p:txBody>
        </p:sp>
        <p:sp>
          <p:nvSpPr>
            <p:cNvPr id="13" name="Text Box 6"/>
            <p:cNvSpPr txBox="1">
              <a:spLocks noChangeArrowheads="1"/>
            </p:cNvSpPr>
            <p:nvPr/>
          </p:nvSpPr>
          <p:spPr bwMode="auto">
            <a:xfrm>
              <a:off x="251" y="2965"/>
              <a:ext cx="5285" cy="989"/>
            </a:xfrm>
            <a:prstGeom prst="rect">
              <a:avLst/>
            </a:prstGeom>
            <a:noFill/>
            <a:ln w="9525">
              <a:noFill/>
              <a:miter lim="800000"/>
              <a:headEnd/>
              <a:tailEnd/>
            </a:ln>
            <a:effectLst/>
          </p:spPr>
          <p:txBody>
            <a:bodyPr>
              <a:spAutoFit/>
            </a:bodyPr>
            <a:lstStyle/>
            <a:p>
              <a:pPr>
                <a:tabLst>
                  <a:tab pos="1771650" algn="ctr"/>
                  <a:tab pos="3714750" algn="ctr"/>
                  <a:tab pos="6172200" algn="dec"/>
                  <a:tab pos="7715250" algn="r"/>
                </a:tabLst>
              </a:pPr>
              <a:r>
                <a:rPr lang="en-US" altLang="en-US" b="1" dirty="0"/>
                <a:t>2019	100	$10,000	        $1,000,000 	(--)</a:t>
              </a:r>
            </a:p>
            <a:p>
              <a:pPr>
                <a:tabLst>
                  <a:tab pos="1771650" algn="ctr"/>
                  <a:tab pos="3714750" algn="ctr"/>
                  <a:tab pos="6172200" algn="dec"/>
                  <a:tab pos="7715250" algn="r"/>
                </a:tabLst>
              </a:pPr>
              <a:r>
                <a:rPr lang="en-US" altLang="en-US" b="1" dirty="0"/>
                <a:t>2020	120	$12,000	        $1,440,000        	(44%)</a:t>
              </a:r>
            </a:p>
            <a:p>
              <a:pPr>
                <a:tabLst>
                  <a:tab pos="1771650" algn="ctr"/>
                  <a:tab pos="3714750" algn="ctr"/>
                  <a:tab pos="6172200" algn="dec"/>
                  <a:tab pos="7715250" algn="r"/>
                </a:tabLst>
              </a:pPr>
              <a:r>
                <a:rPr lang="en-US" altLang="en-US" b="1" dirty="0"/>
                <a:t>2021	130	$13,000	        $1,690,000       	(17.4%)	</a:t>
              </a:r>
            </a:p>
          </p:txBody>
        </p:sp>
      </p:grpSp>
      <p:sp>
        <p:nvSpPr>
          <p:cNvPr id="14" name="TextBox 13"/>
          <p:cNvSpPr txBox="1"/>
          <p:nvPr/>
        </p:nvSpPr>
        <p:spPr>
          <a:xfrm>
            <a:off x="507147" y="2702111"/>
            <a:ext cx="8179653" cy="707886"/>
          </a:xfrm>
          <a:prstGeom prst="rect">
            <a:avLst/>
          </a:prstGeom>
          <a:noFill/>
        </p:spPr>
        <p:txBody>
          <a:bodyPr wrap="square" rtlCol="0">
            <a:spAutoFit/>
          </a:bodyPr>
          <a:lstStyle/>
          <a:p>
            <a:pPr algn="just">
              <a:buFont typeface="Wingdings" pitchFamily="2" charset="2"/>
              <a:buChar char="Ø"/>
            </a:pPr>
            <a:r>
              <a:rPr lang="en-US" sz="2000" dirty="0">
                <a:solidFill>
                  <a:srgbClr val="C00000"/>
                </a:solidFill>
              </a:rPr>
              <a:t>  Nominal GDP can give a misleading picture of economic performance when prices are continuously rising or decreasing.</a:t>
            </a:r>
          </a:p>
        </p:txBody>
      </p:sp>
      <p:grpSp>
        <p:nvGrpSpPr>
          <p:cNvPr id="17" name="Group 10"/>
          <p:cNvGrpSpPr>
            <a:grpSpLocks/>
          </p:cNvGrpSpPr>
          <p:nvPr/>
        </p:nvGrpSpPr>
        <p:grpSpPr bwMode="auto">
          <a:xfrm>
            <a:off x="720725" y="5594552"/>
            <a:ext cx="7666038" cy="830263"/>
            <a:chOff x="490" y="3039"/>
            <a:chExt cx="4829" cy="523"/>
          </a:xfrm>
        </p:grpSpPr>
        <p:sp>
          <p:nvSpPr>
            <p:cNvPr id="19" name="Text Box 7"/>
            <p:cNvSpPr txBox="1">
              <a:spLocks noChangeArrowheads="1"/>
            </p:cNvSpPr>
            <p:nvPr/>
          </p:nvSpPr>
          <p:spPr bwMode="auto">
            <a:xfrm>
              <a:off x="490" y="3088"/>
              <a:ext cx="1017" cy="290"/>
            </a:xfrm>
            <a:prstGeom prst="rect">
              <a:avLst/>
            </a:prstGeom>
            <a:solidFill>
              <a:schemeClr val="hlink"/>
            </a:solidFill>
            <a:ln w="3175">
              <a:solidFill>
                <a:schemeClr val="tx1"/>
              </a:solidFill>
              <a:miter lim="800000"/>
              <a:headEnd/>
              <a:tailEnd/>
            </a:ln>
            <a:effectLst>
              <a:outerShdw dist="107763" dir="13500000" algn="ctr" rotWithShape="0">
                <a:schemeClr val="bg2"/>
              </a:outerShdw>
            </a:effectLst>
          </p:spPr>
          <p:txBody>
            <a:bodyPr>
              <a:spAutoFit/>
            </a:bodyPr>
            <a:lstStyle/>
            <a:p>
              <a:pPr>
                <a:spcBef>
                  <a:spcPct val="50000"/>
                </a:spcBef>
              </a:pPr>
              <a:r>
                <a:rPr lang="en-US" altLang="en-US" b="1" dirty="0"/>
                <a:t>Question</a:t>
              </a:r>
            </a:p>
          </p:txBody>
        </p:sp>
        <p:sp>
          <p:nvSpPr>
            <p:cNvPr id="21" name="Text Box 9"/>
            <p:cNvSpPr txBox="1">
              <a:spLocks noChangeArrowheads="1"/>
            </p:cNvSpPr>
            <p:nvPr/>
          </p:nvSpPr>
          <p:spPr bwMode="auto">
            <a:xfrm>
              <a:off x="1250" y="3039"/>
              <a:ext cx="4069" cy="523"/>
            </a:xfrm>
            <a:prstGeom prst="rect">
              <a:avLst/>
            </a:prstGeom>
            <a:noFill/>
            <a:ln w="9525">
              <a:noFill/>
              <a:miter lim="800000"/>
              <a:headEnd/>
              <a:tailEnd/>
            </a:ln>
            <a:effectLst/>
          </p:spPr>
          <p:txBody>
            <a:bodyPr>
              <a:spAutoFit/>
            </a:bodyPr>
            <a:lstStyle/>
            <a:p>
              <a:pPr lvl="1">
                <a:spcBef>
                  <a:spcPct val="30000"/>
                </a:spcBef>
                <a:buClr>
                  <a:srgbClr val="969696"/>
                </a:buClr>
                <a:buSzPct val="65000"/>
                <a:buFont typeface="Wingdings" pitchFamily="2" charset="2"/>
                <a:buNone/>
              </a:pPr>
              <a:r>
                <a:rPr lang="en-US" altLang="en-US" b="1" dirty="0"/>
                <a:t>Did the </a:t>
              </a:r>
              <a:r>
                <a:rPr lang="en-US" altLang="en-US" b="1" i="1" dirty="0">
                  <a:solidFill>
                    <a:srgbClr val="FF3300"/>
                  </a:solidFill>
                </a:rPr>
                <a:t>real</a:t>
              </a:r>
              <a:r>
                <a:rPr lang="en-US" altLang="en-US" b="1" dirty="0"/>
                <a:t> output of cars increase 44% from 2019 to 2020?</a:t>
              </a:r>
              <a:endParaRPr lang="en-US" altLang="en-US" sz="2000" b="1" dirty="0"/>
            </a:p>
          </p:txBody>
        </p:sp>
      </p:gr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12</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 to="" calcmode="lin" valueType="num">
                                      <p:cBhvr>
                                        <p:cTn id="12" dur="1" fill="hold"/>
                                        <p:tgtEl>
                                          <p:spTgt spid="1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 to="" calcmode="lin" valueType="num">
                                      <p:cBhvr>
                                        <p:cTn id="22" dur="1" fill="hold"/>
                                        <p:tgtEl>
                                          <p:spTgt spid="14"/>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out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 to="" calcmode="lin" valueType="num">
                                      <p:cBhvr>
                                        <p:cTn id="32" dur="1" fill="hold"/>
                                        <p:tgtEl>
                                          <p:spTgt spid="10"/>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animBg="1"/>
      <p:bldP spid="9" grpId="0" animBg="1"/>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438964" y="97711"/>
            <a:ext cx="8553450" cy="770964"/>
          </a:xfrm>
        </p:spPr>
        <p:txBody>
          <a:bodyPr/>
          <a:lstStyle/>
          <a:p>
            <a:r>
              <a:rPr lang="en-US" altLang="en-US" sz="3200" dirty="0" err="1">
                <a:effectLst>
                  <a:outerShdw blurRad="38100" dist="38100" dir="2700000" algn="tl">
                    <a:srgbClr val="C0C0C0"/>
                  </a:outerShdw>
                </a:effectLst>
              </a:rPr>
              <a:t>Cont</a:t>
            </a:r>
            <a:r>
              <a:rPr lang="en-US" altLang="en-US" sz="3200" dirty="0">
                <a:effectLst>
                  <a:outerShdw blurRad="38100" dist="38100" dir="2700000" algn="tl">
                    <a:srgbClr val="C0C0C0"/>
                  </a:outerShdw>
                </a:effectLst>
              </a:rPr>
              <a:t>…</a:t>
            </a:r>
          </a:p>
        </p:txBody>
      </p:sp>
      <p:sp>
        <p:nvSpPr>
          <p:cNvPr id="112643" name="Rectangle 3"/>
          <p:cNvSpPr>
            <a:spLocks noGrp="1" noChangeArrowheads="1"/>
          </p:cNvSpPr>
          <p:nvPr>
            <p:ph idx="1"/>
          </p:nvPr>
        </p:nvSpPr>
        <p:spPr>
          <a:xfrm>
            <a:off x="685800" y="3227388"/>
            <a:ext cx="7772400" cy="2476500"/>
          </a:xfrm>
        </p:spPr>
        <p:txBody>
          <a:bodyPr>
            <a:normAutofit/>
          </a:bodyPr>
          <a:lstStyle/>
          <a:p>
            <a:r>
              <a:rPr lang="en-US" altLang="en-US" sz="3200" dirty="0"/>
              <a:t>2019 -- 100</a:t>
            </a:r>
          </a:p>
          <a:p>
            <a:r>
              <a:rPr lang="en-US" altLang="en-US" sz="3200" dirty="0"/>
              <a:t>2020 -- 120 (20% increase)</a:t>
            </a:r>
          </a:p>
          <a:p>
            <a:r>
              <a:rPr lang="en-US" altLang="en-US" sz="3200" dirty="0"/>
              <a:t>2021 -- 130 (8.33% increase)</a:t>
            </a:r>
          </a:p>
        </p:txBody>
      </p:sp>
      <p:sp>
        <p:nvSpPr>
          <p:cNvPr id="112644" name="Text Box 4"/>
          <p:cNvSpPr txBox="1">
            <a:spLocks noChangeArrowheads="1"/>
          </p:cNvSpPr>
          <p:nvPr/>
        </p:nvSpPr>
        <p:spPr bwMode="auto">
          <a:xfrm>
            <a:off x="622300" y="1614488"/>
            <a:ext cx="3328988" cy="522287"/>
          </a:xfrm>
          <a:prstGeom prst="rect">
            <a:avLst/>
          </a:prstGeom>
          <a:solidFill>
            <a:srgbClr val="3333FF"/>
          </a:solidFill>
          <a:ln w="3175">
            <a:solidFill>
              <a:schemeClr val="tx1"/>
            </a:solidFill>
            <a:miter lim="800000"/>
            <a:headEnd/>
            <a:tailEnd/>
          </a:ln>
          <a:effectLst>
            <a:outerShdw dist="107763" dir="13500000" algn="ctr" rotWithShape="0">
              <a:schemeClr val="bg2"/>
            </a:outerShdw>
          </a:effectLst>
        </p:spPr>
        <p:txBody>
          <a:bodyPr>
            <a:spAutoFit/>
          </a:bodyPr>
          <a:lstStyle/>
          <a:p>
            <a:pPr>
              <a:spcBef>
                <a:spcPct val="70000"/>
              </a:spcBef>
              <a:buClr>
                <a:srgbClr val="969696"/>
              </a:buClr>
              <a:buSzPct val="85000"/>
              <a:buFont typeface="Wingdings" pitchFamily="2" charset="2"/>
              <a:buNone/>
            </a:pPr>
            <a:r>
              <a:rPr lang="en-US" altLang="en-US" sz="2800" b="1">
                <a:solidFill>
                  <a:schemeClr val="bg1"/>
                </a:solidFill>
              </a:rPr>
              <a:t>Real GDP in Units</a:t>
            </a:r>
          </a:p>
        </p:txBody>
      </p:sp>
      <p:sp>
        <p:nvSpPr>
          <p:cNvPr id="112646" name="Text Box 6"/>
          <p:cNvSpPr txBox="1">
            <a:spLocks noChangeArrowheads="1"/>
          </p:cNvSpPr>
          <p:nvPr/>
        </p:nvSpPr>
        <p:spPr bwMode="auto">
          <a:xfrm>
            <a:off x="766763" y="2520950"/>
            <a:ext cx="3328987" cy="519113"/>
          </a:xfrm>
          <a:prstGeom prst="rect">
            <a:avLst/>
          </a:prstGeom>
          <a:noFill/>
          <a:ln w="3175">
            <a:noFill/>
            <a:miter lim="800000"/>
            <a:headEnd/>
            <a:tailEnd/>
          </a:ln>
          <a:effectLst/>
        </p:spPr>
        <p:txBody>
          <a:bodyPr wrap="none">
            <a:spAutoFit/>
          </a:bodyPr>
          <a:lstStyle/>
          <a:p>
            <a:r>
              <a:rPr lang="en-US" altLang="en-US" sz="2800" b="1"/>
              <a:t>Production of cars</a:t>
            </a:r>
          </a:p>
        </p:txBody>
      </p:sp>
      <p:sp>
        <p:nvSpPr>
          <p:cNvPr id="8" name="TextBox 7"/>
          <p:cNvSpPr txBox="1"/>
          <p:nvPr/>
        </p:nvSpPr>
        <p:spPr>
          <a:xfrm>
            <a:off x="352694" y="868675"/>
            <a:ext cx="4362995" cy="400110"/>
          </a:xfrm>
          <a:prstGeom prst="rect">
            <a:avLst/>
          </a:prstGeom>
          <a:noFill/>
        </p:spPr>
        <p:txBody>
          <a:bodyPr wrap="square" rtlCol="0">
            <a:spAutoFit/>
          </a:bodyPr>
          <a:lstStyle/>
          <a:p>
            <a:pPr algn="just"/>
            <a:r>
              <a:rPr lang="en-US" sz="2000" b="1" dirty="0"/>
              <a:t>Nominal GDP and Real GDP  </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13</a:t>
            </a:fld>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64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64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264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26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autoUpdateAnimBg="0"/>
      <p:bldP spid="112644" grpId="0" animBg="1" autoUpdateAnimBg="0"/>
      <p:bldP spid="112646"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285750" y="208367"/>
            <a:ext cx="8553450" cy="770964"/>
          </a:xfrm>
        </p:spPr>
        <p:txBody>
          <a:bodyPr/>
          <a:lstStyle/>
          <a:p>
            <a:r>
              <a:rPr lang="en-US" altLang="en-US" sz="3200" dirty="0">
                <a:effectLst>
                  <a:outerShdw blurRad="38100" dist="38100" dir="2700000" algn="tl">
                    <a:srgbClr val="C0C0C0"/>
                  </a:outerShdw>
                </a:effectLst>
              </a:rPr>
              <a:t>III. National Income Measures</a:t>
            </a:r>
          </a:p>
        </p:txBody>
      </p:sp>
      <p:sp>
        <p:nvSpPr>
          <p:cNvPr id="113667" name="Rectangle 3"/>
          <p:cNvSpPr>
            <a:spLocks noGrp="1" noChangeArrowheads="1"/>
          </p:cNvSpPr>
          <p:nvPr>
            <p:ph idx="1"/>
          </p:nvPr>
        </p:nvSpPr>
        <p:spPr>
          <a:xfrm>
            <a:off x="503238" y="3032125"/>
            <a:ext cx="8475662" cy="2187575"/>
          </a:xfrm>
        </p:spPr>
        <p:txBody>
          <a:bodyPr/>
          <a:lstStyle/>
          <a:p>
            <a:r>
              <a:rPr lang="en-US" altLang="en-US" sz="2800" dirty="0"/>
              <a:t>2019 -- 100 x $12,000 = $1,200,000</a:t>
            </a:r>
          </a:p>
          <a:p>
            <a:r>
              <a:rPr lang="en-US" altLang="en-US" sz="2800" dirty="0"/>
              <a:t>2020 -- 120 x $12,000 = $1,440,000 (20% increase)</a:t>
            </a:r>
          </a:p>
          <a:p>
            <a:r>
              <a:rPr lang="en-US" altLang="en-US" sz="2800" dirty="0"/>
              <a:t>2021 -- 130x $12,000 = $1,560,000 (8% increase)</a:t>
            </a:r>
          </a:p>
        </p:txBody>
      </p:sp>
      <p:sp>
        <p:nvSpPr>
          <p:cNvPr id="113669" name="Text Box 5"/>
          <p:cNvSpPr txBox="1">
            <a:spLocks noChangeArrowheads="1"/>
          </p:cNvSpPr>
          <p:nvPr/>
        </p:nvSpPr>
        <p:spPr bwMode="auto">
          <a:xfrm>
            <a:off x="622300" y="1614488"/>
            <a:ext cx="3795713" cy="522287"/>
          </a:xfrm>
          <a:prstGeom prst="rect">
            <a:avLst/>
          </a:prstGeom>
          <a:solidFill>
            <a:srgbClr val="3333FF"/>
          </a:solidFill>
          <a:ln w="3175">
            <a:solidFill>
              <a:schemeClr val="tx1"/>
            </a:solidFill>
            <a:miter lim="800000"/>
            <a:headEnd/>
            <a:tailEnd/>
          </a:ln>
          <a:effectLst>
            <a:outerShdw dist="107763" dir="13500000" algn="ctr" rotWithShape="0">
              <a:schemeClr val="bg2"/>
            </a:outerShdw>
          </a:effectLst>
        </p:spPr>
        <p:txBody>
          <a:bodyPr>
            <a:spAutoFit/>
          </a:bodyPr>
          <a:lstStyle/>
          <a:p>
            <a:pPr>
              <a:spcBef>
                <a:spcPct val="70000"/>
              </a:spcBef>
              <a:buClr>
                <a:srgbClr val="969696"/>
              </a:buClr>
              <a:buSzPct val="85000"/>
              <a:buFont typeface="Wingdings" pitchFamily="2" charset="2"/>
              <a:buNone/>
            </a:pPr>
            <a:r>
              <a:rPr lang="en-US" altLang="en-US" sz="2800" b="1" dirty="0">
                <a:solidFill>
                  <a:schemeClr val="bg1"/>
                </a:solidFill>
              </a:rPr>
              <a:t>Real GDP in 2020 $</a:t>
            </a:r>
          </a:p>
        </p:txBody>
      </p:sp>
      <p:sp>
        <p:nvSpPr>
          <p:cNvPr id="113676" name="Text Box 12"/>
          <p:cNvSpPr txBox="1">
            <a:spLocks noChangeArrowheads="1"/>
          </p:cNvSpPr>
          <p:nvPr/>
        </p:nvSpPr>
        <p:spPr bwMode="auto">
          <a:xfrm>
            <a:off x="500063" y="2387600"/>
            <a:ext cx="5158785" cy="523220"/>
          </a:xfrm>
          <a:prstGeom prst="rect">
            <a:avLst/>
          </a:prstGeom>
          <a:noFill/>
          <a:ln w="3175">
            <a:noFill/>
            <a:miter lim="800000"/>
            <a:headEnd/>
            <a:tailEnd/>
          </a:ln>
          <a:effectLst/>
        </p:spPr>
        <p:txBody>
          <a:bodyPr wrap="none">
            <a:spAutoFit/>
          </a:bodyPr>
          <a:lstStyle/>
          <a:p>
            <a:r>
              <a:rPr lang="en-US" altLang="en-US" sz="2800" b="1" dirty="0"/>
              <a:t>Car Production x 2020 Prices</a:t>
            </a:r>
          </a:p>
        </p:txBody>
      </p:sp>
      <p:sp>
        <p:nvSpPr>
          <p:cNvPr id="7" name="TextBox 6"/>
          <p:cNvSpPr txBox="1"/>
          <p:nvPr/>
        </p:nvSpPr>
        <p:spPr>
          <a:xfrm>
            <a:off x="365757" y="816423"/>
            <a:ext cx="4362995" cy="400110"/>
          </a:xfrm>
          <a:prstGeom prst="rect">
            <a:avLst/>
          </a:prstGeom>
          <a:noFill/>
        </p:spPr>
        <p:txBody>
          <a:bodyPr wrap="square" rtlCol="0">
            <a:spAutoFit/>
          </a:bodyPr>
          <a:lstStyle/>
          <a:p>
            <a:pPr algn="just"/>
            <a:r>
              <a:rPr lang="en-US" sz="2000" b="1" dirty="0"/>
              <a:t>Nominal GDP and Real GDP  </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14</a:t>
            </a:fld>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6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367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366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366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3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autoUpdateAnimBg="0"/>
      <p:bldP spid="113669" grpId="0" animBg="1" autoUpdateAnimBg="0"/>
      <p:bldP spid="113676"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6"/>
          <p:cNvGrpSpPr>
            <a:grpSpLocks/>
          </p:cNvGrpSpPr>
          <p:nvPr/>
        </p:nvGrpSpPr>
        <p:grpSpPr bwMode="auto">
          <a:xfrm>
            <a:off x="2018148" y="2977326"/>
            <a:ext cx="5521069" cy="1152526"/>
            <a:chOff x="956" y="2422"/>
            <a:chExt cx="2833" cy="726"/>
          </a:xfrm>
        </p:grpSpPr>
        <p:sp>
          <p:nvSpPr>
            <p:cNvPr id="5" name="Rectangle 5"/>
            <p:cNvSpPr>
              <a:spLocks noChangeArrowheads="1"/>
            </p:cNvSpPr>
            <p:nvPr/>
          </p:nvSpPr>
          <p:spPr bwMode="auto">
            <a:xfrm>
              <a:off x="956" y="2422"/>
              <a:ext cx="2733" cy="722"/>
            </a:xfrm>
            <a:prstGeom prst="rect">
              <a:avLst/>
            </a:prstGeom>
            <a:solidFill>
              <a:srgbClr val="FFFFCC"/>
            </a:solidFill>
            <a:ln w="9525">
              <a:solidFill>
                <a:schemeClr val="tx1"/>
              </a:solidFill>
              <a:miter lim="800000"/>
              <a:headEnd/>
              <a:tailEnd/>
            </a:ln>
            <a:effectLst/>
          </p:spPr>
          <p:txBody>
            <a:bodyPr wrap="none" anchor="ctr">
              <a:spAutoFit/>
            </a:bodyPr>
            <a:lstStyle/>
            <a:p>
              <a:endParaRPr lang="en-US"/>
            </a:p>
          </p:txBody>
        </p:sp>
        <p:graphicFrame>
          <p:nvGraphicFramePr>
            <p:cNvPr id="6" name="Object 4"/>
            <p:cNvGraphicFramePr>
              <a:graphicFrameLocks noChangeAspect="1"/>
            </p:cNvGraphicFramePr>
            <p:nvPr>
              <p:extLst>
                <p:ext uri="{D42A27DB-BD31-4B8C-83A1-F6EECF244321}">
                  <p14:modId xmlns:p14="http://schemas.microsoft.com/office/powerpoint/2010/main" val="3710028420"/>
                </p:ext>
              </p:extLst>
            </p:nvPr>
          </p:nvGraphicFramePr>
          <p:xfrm>
            <a:off x="1065" y="2547"/>
            <a:ext cx="2724" cy="601"/>
          </p:xfrm>
          <a:graphic>
            <a:graphicData uri="http://schemas.openxmlformats.org/presentationml/2006/ole">
              <mc:AlternateContent xmlns:mc="http://schemas.openxmlformats.org/markup-compatibility/2006">
                <mc:Choice xmlns:v="urn:schemas-microsoft-com:vml" Requires="v">
                  <p:oleObj name="Equation" r:id="rId2" imgW="2006280" imgH="444240" progId="Equation.3">
                    <p:embed/>
                  </p:oleObj>
                </mc:Choice>
                <mc:Fallback>
                  <p:oleObj name="Equation" r:id="rId2" imgW="2006280" imgH="4442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 y="2547"/>
                          <a:ext cx="2724" cy="601"/>
                        </a:xfrm>
                        <a:prstGeom prst="rect">
                          <a:avLst/>
                        </a:prstGeom>
                        <a:noFill/>
                      </p:spPr>
                    </p:pic>
                  </p:oleObj>
                </mc:Fallback>
              </mc:AlternateContent>
            </a:graphicData>
          </a:graphic>
        </p:graphicFrame>
      </p:grpSp>
      <p:sp>
        <p:nvSpPr>
          <p:cNvPr id="7" name="Rectangle 2"/>
          <p:cNvSpPr txBox="1">
            <a:spLocks noChangeArrowheads="1"/>
          </p:cNvSpPr>
          <p:nvPr/>
        </p:nvSpPr>
        <p:spPr>
          <a:xfrm>
            <a:off x="323576" y="62857"/>
            <a:ext cx="8553450" cy="770964"/>
          </a:xfrm>
          <a:prstGeom prst="rect">
            <a:avLst/>
          </a:prstGeom>
        </p:spPr>
        <p:txBody>
          <a:bodyPr/>
          <a:lstStyle/>
          <a:p>
            <a:pPr marL="0" marR="0" lvl="0" indent="0" defTabSz="914400" rtl="0" eaLnBrk="0" fontAlgn="base" latinLnBrk="0" hangingPunct="0">
              <a:lnSpc>
                <a:spcPct val="100000"/>
              </a:lnSpc>
              <a:spcBef>
                <a:spcPct val="0"/>
              </a:spcBef>
              <a:spcAft>
                <a:spcPct val="0"/>
              </a:spcAft>
              <a:buClrTx/>
              <a:buSzTx/>
              <a:buFontTx/>
              <a:buNone/>
              <a:tabLst/>
              <a:defRPr/>
            </a:pPr>
            <a:r>
              <a:rPr lang="en-US" altLang="en-US" sz="3200" b="1" kern="0" dirty="0" err="1">
                <a:solidFill>
                  <a:srgbClr val="3333FF"/>
                </a:solidFill>
                <a:effectLst>
                  <a:outerShdw blurRad="38100" dist="38100" dir="2700000" algn="tl">
                    <a:srgbClr val="C0C0C0"/>
                  </a:outerShdw>
                </a:effectLst>
                <a:latin typeface="+mj-lt"/>
                <a:ea typeface="+mj-ea"/>
                <a:cs typeface="+mj-cs"/>
              </a:rPr>
              <a:t>Cont</a:t>
            </a:r>
            <a:r>
              <a:rPr lang="en-US" altLang="en-US" sz="3200" b="1" kern="0" dirty="0">
                <a:solidFill>
                  <a:srgbClr val="3333FF"/>
                </a:solidFill>
                <a:effectLst>
                  <a:outerShdw blurRad="38100" dist="38100" dir="2700000" algn="tl">
                    <a:srgbClr val="C0C0C0"/>
                  </a:outerShdw>
                </a:effectLst>
                <a:latin typeface="+mj-lt"/>
                <a:ea typeface="+mj-ea"/>
                <a:cs typeface="+mj-cs"/>
              </a:rPr>
              <a:t>…</a:t>
            </a:r>
            <a:endParaRPr kumimoji="0" lang="en-US" altLang="en-US" sz="3200" b="1" i="0" u="none" strike="noStrike" kern="0" cap="none" spc="0" normalizeH="0" baseline="0" noProof="0" dirty="0">
              <a:ln>
                <a:noFill/>
              </a:ln>
              <a:solidFill>
                <a:srgbClr val="3333FF"/>
              </a:solidFill>
              <a:effectLst>
                <a:outerShdw blurRad="38100" dist="38100" dir="2700000" algn="tl">
                  <a:srgbClr val="C0C0C0"/>
                </a:outerShdw>
              </a:effectLst>
              <a:uLnTx/>
              <a:uFillTx/>
              <a:latin typeface="+mj-lt"/>
              <a:ea typeface="+mj-ea"/>
              <a:cs typeface="+mj-cs"/>
            </a:endParaRPr>
          </a:p>
        </p:txBody>
      </p:sp>
      <p:sp>
        <p:nvSpPr>
          <p:cNvPr id="8" name="TextBox 7"/>
          <p:cNvSpPr txBox="1"/>
          <p:nvPr/>
        </p:nvSpPr>
        <p:spPr>
          <a:xfrm>
            <a:off x="365757" y="816423"/>
            <a:ext cx="4362995" cy="400110"/>
          </a:xfrm>
          <a:prstGeom prst="rect">
            <a:avLst/>
          </a:prstGeom>
          <a:noFill/>
        </p:spPr>
        <p:txBody>
          <a:bodyPr wrap="square" rtlCol="0">
            <a:spAutoFit/>
          </a:bodyPr>
          <a:lstStyle/>
          <a:p>
            <a:pPr algn="just"/>
            <a:r>
              <a:rPr lang="en-US" sz="2000" b="1" dirty="0"/>
              <a:t>GDP Deflator  </a:t>
            </a:r>
          </a:p>
        </p:txBody>
      </p:sp>
      <p:sp>
        <p:nvSpPr>
          <p:cNvPr id="9" name="Rounded Rectangle 8"/>
          <p:cNvSpPr/>
          <p:nvPr/>
        </p:nvSpPr>
        <p:spPr bwMode="auto">
          <a:xfrm>
            <a:off x="531221" y="1471968"/>
            <a:ext cx="8138160" cy="1123712"/>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just" defTabSz="914400" rtl="0" eaLnBrk="0" fontAlgn="base" latinLnBrk="0" hangingPunct="0">
              <a:lnSpc>
                <a:spcPct val="100000"/>
              </a:lnSpc>
              <a:spcBef>
                <a:spcPct val="0"/>
              </a:spcBef>
              <a:spcAft>
                <a:spcPct val="0"/>
              </a:spcAft>
              <a:buClrTx/>
              <a:buSzTx/>
              <a:buFont typeface="Wingdings" pitchFamily="2" charset="2"/>
              <a:buChar char="§"/>
              <a:tabLst/>
            </a:pPr>
            <a:r>
              <a:rPr lang="en-US" sz="2000" dirty="0">
                <a:solidFill>
                  <a:srgbClr val="002060"/>
                </a:solidFill>
                <a:latin typeface="Arial" charset="0"/>
              </a:rPr>
              <a:t> Estimating GDP at the price of the base year is not an easy task. The economists use a simple adjustment factor called </a:t>
            </a:r>
            <a:r>
              <a:rPr lang="en-US" sz="2000" i="1" u="sng" dirty="0">
                <a:solidFill>
                  <a:srgbClr val="C00000"/>
                </a:solidFill>
                <a:latin typeface="Arial" charset="0"/>
              </a:rPr>
              <a:t>GDP Deflator</a:t>
            </a:r>
            <a:r>
              <a:rPr lang="en-US" sz="2000" dirty="0">
                <a:solidFill>
                  <a:srgbClr val="002060"/>
                </a:solidFill>
                <a:latin typeface="Arial" charset="0"/>
              </a:rPr>
              <a:t> to eliminate the effect of rising prices on the GDP</a:t>
            </a:r>
          </a:p>
        </p:txBody>
      </p:sp>
      <p:sp>
        <p:nvSpPr>
          <p:cNvPr id="10" name="Rounded Rectangle 9"/>
          <p:cNvSpPr/>
          <p:nvPr/>
        </p:nvSpPr>
        <p:spPr bwMode="auto">
          <a:xfrm>
            <a:off x="535577" y="4702885"/>
            <a:ext cx="8138160" cy="442674"/>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The GDP deflator can be used to measure the rate of inflation.</a:t>
            </a:r>
            <a:endParaRPr lang="en-US" sz="2000" b="1" i="1" u="sng" dirty="0">
              <a:solidFill>
                <a:srgbClr val="002060"/>
              </a:solidFill>
              <a:latin typeface="Arial" charset="0"/>
            </a:endParaRP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15</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to="" calcmode="lin" valueType="num">
                                      <p:cBhvr>
                                        <p:cTn id="7" dur="1" fill="hold"/>
                                        <p:tgtEl>
                                          <p:spTgt spid="9"/>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out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to="" calcmode="lin" valueType="num">
                                      <p:cBhvr>
                                        <p:cTn id="17"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285750" y="365123"/>
            <a:ext cx="8553450" cy="770964"/>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altLang="en-US" sz="2800" b="1" kern="0" dirty="0">
                <a:solidFill>
                  <a:srgbClr val="3333FF"/>
                </a:solidFill>
                <a:effectLst>
                  <a:outerShdw blurRad="38100" dist="38100" dir="2700000" algn="tl">
                    <a:srgbClr val="C0C0C0"/>
                  </a:outerShdw>
                </a:effectLst>
                <a:latin typeface="Arial" panose="020B0604020202020204" pitchFamily="34" charset="0"/>
                <a:ea typeface="+mj-ea"/>
                <a:cs typeface="Arial" panose="020B0604020202020204" pitchFamily="34" charset="0"/>
              </a:rPr>
              <a:t>3.4</a:t>
            </a:r>
            <a:r>
              <a:rPr kumimoji="0" lang="en-US" altLang="en-US" sz="2800" b="1" i="0" u="none" strike="noStrike" kern="0" cap="none" spc="0" normalizeH="0" baseline="0" noProof="0" dirty="0">
                <a:ln>
                  <a:noFill/>
                </a:ln>
                <a:solidFill>
                  <a:srgbClr val="3333FF"/>
                </a:solidFill>
                <a:effectLst>
                  <a:outerShdw blurRad="38100" dist="38100" dir="2700000" algn="tl">
                    <a:srgbClr val="C0C0C0"/>
                  </a:outerShdw>
                </a:effectLst>
                <a:uLnTx/>
                <a:uFillTx/>
                <a:latin typeface="Arial" panose="020B0604020202020204" pitchFamily="34" charset="0"/>
                <a:ea typeface="+mj-ea"/>
                <a:cs typeface="Arial" panose="020B0604020202020204" pitchFamily="34" charset="0"/>
              </a:rPr>
              <a:t> Methods of Measuring National Income</a:t>
            </a:r>
          </a:p>
        </p:txBody>
      </p:sp>
      <p:sp>
        <p:nvSpPr>
          <p:cNvPr id="9" name="Rounded Rectangle 8"/>
          <p:cNvSpPr/>
          <p:nvPr/>
        </p:nvSpPr>
        <p:spPr bwMode="auto">
          <a:xfrm>
            <a:off x="531221" y="1093141"/>
            <a:ext cx="8138160" cy="1464231"/>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just" defTabSz="914400" rtl="0" eaLnBrk="0" fontAlgn="base" latinLnBrk="0" hangingPunct="0">
              <a:lnSpc>
                <a:spcPct val="100000"/>
              </a:lnSpc>
              <a:spcBef>
                <a:spcPct val="0"/>
              </a:spcBef>
              <a:spcAft>
                <a:spcPct val="0"/>
              </a:spcAft>
              <a:buClrTx/>
              <a:buSzTx/>
              <a:buFont typeface="Wingdings" pitchFamily="2" charset="2"/>
              <a:buChar char="§"/>
              <a:tabLst/>
            </a:pPr>
            <a:r>
              <a:rPr lang="en-US" sz="2000" dirty="0">
                <a:solidFill>
                  <a:srgbClr val="002060"/>
                </a:solidFill>
                <a:latin typeface="Arial" charset="0"/>
              </a:rPr>
              <a:t> As we know from the circular flows of income, the income generating process creates two kinds of flows,</a:t>
            </a:r>
          </a:p>
          <a:p>
            <a:pPr marL="514350" marR="0" indent="-514350" algn="just"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             </a:t>
            </a:r>
            <a:r>
              <a:rPr lang="en-US" sz="2000" dirty="0" err="1">
                <a:solidFill>
                  <a:srgbClr val="002060"/>
                </a:solidFill>
                <a:latin typeface="Arial" charset="0"/>
              </a:rPr>
              <a:t>i</a:t>
            </a:r>
            <a:r>
              <a:rPr lang="en-US" sz="2000" dirty="0">
                <a:solidFill>
                  <a:srgbClr val="002060"/>
                </a:solidFill>
                <a:latin typeface="Arial" charset="0"/>
              </a:rPr>
              <a:t>.  Production flows, and</a:t>
            </a:r>
          </a:p>
          <a:p>
            <a:pPr marL="514350" marR="0" indent="-514350" algn="just"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            ii.  Money flows.</a:t>
            </a:r>
          </a:p>
        </p:txBody>
      </p:sp>
      <p:sp>
        <p:nvSpPr>
          <p:cNvPr id="10" name="Rounded Rectangle 9"/>
          <p:cNvSpPr/>
          <p:nvPr/>
        </p:nvSpPr>
        <p:spPr bwMode="auto">
          <a:xfrm>
            <a:off x="535577" y="2638931"/>
            <a:ext cx="8138160" cy="1123712"/>
          </a:xfrm>
          <a:prstGeom prst="roundRect">
            <a:avLst/>
          </a:prstGeom>
          <a:ln>
            <a:solidFill>
              <a:srgbClr val="003399"/>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
              <a:tabLst/>
            </a:pPr>
            <a:r>
              <a:rPr lang="en-US" sz="2000" b="1" i="1" u="sng" dirty="0">
                <a:solidFill>
                  <a:srgbClr val="002060"/>
                </a:solidFill>
                <a:latin typeface="Arial" charset="0"/>
              </a:rPr>
              <a:t> </a:t>
            </a:r>
            <a:r>
              <a:rPr lang="en-US" sz="2000" dirty="0">
                <a:solidFill>
                  <a:srgbClr val="002060"/>
                </a:solidFill>
                <a:latin typeface="Arial" charset="0"/>
              </a:rPr>
              <a:t>Money flows can be looked upon from two angles.</a:t>
            </a:r>
          </a:p>
          <a:p>
            <a:pPr marL="400050" marR="0" indent="-400050" algn="l"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             </a:t>
            </a:r>
            <a:r>
              <a:rPr lang="en-US" sz="2000" dirty="0" err="1">
                <a:solidFill>
                  <a:srgbClr val="002060"/>
                </a:solidFill>
                <a:latin typeface="Arial" charset="0"/>
              </a:rPr>
              <a:t>i</a:t>
            </a:r>
            <a:r>
              <a:rPr lang="en-US" sz="2000" dirty="0">
                <a:solidFill>
                  <a:srgbClr val="002060"/>
                </a:solidFill>
                <a:latin typeface="Arial" charset="0"/>
              </a:rPr>
              <a:t>.  Money flows as factor payments, and</a:t>
            </a:r>
          </a:p>
          <a:p>
            <a:pPr marL="400050" marR="0" indent="-400050" algn="l"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            ii.  Money flows as payments for goods and services.</a:t>
            </a:r>
          </a:p>
        </p:txBody>
      </p:sp>
      <p:sp>
        <p:nvSpPr>
          <p:cNvPr id="6" name="Rounded Rectangle 5"/>
          <p:cNvSpPr/>
          <p:nvPr/>
        </p:nvSpPr>
        <p:spPr bwMode="auto">
          <a:xfrm>
            <a:off x="609599" y="3836371"/>
            <a:ext cx="8138160" cy="2145268"/>
          </a:xfrm>
          <a:prstGeom prst="roundRect">
            <a:avLst/>
          </a:prstGeom>
          <a:ln>
            <a:solidFill>
              <a:srgbClr val="FF0000"/>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
              <a:tabLst/>
            </a:pPr>
            <a:r>
              <a:rPr lang="en-US" sz="2000" b="1" i="1" u="sng" dirty="0">
                <a:solidFill>
                  <a:srgbClr val="002060"/>
                </a:solidFill>
                <a:latin typeface="Arial" charset="0"/>
              </a:rPr>
              <a:t> </a:t>
            </a:r>
            <a:r>
              <a:rPr lang="en-US" sz="2000" dirty="0">
                <a:solidFill>
                  <a:srgbClr val="002060"/>
                </a:solidFill>
                <a:latin typeface="Arial" charset="0"/>
              </a:rPr>
              <a:t>Given the production flows and two ways of money flows, the economists have </a:t>
            </a:r>
            <a:r>
              <a:rPr lang="en-US" sz="2000" i="1" u="sng" dirty="0">
                <a:solidFill>
                  <a:srgbClr val="002060"/>
                </a:solidFill>
                <a:latin typeface="Arial" charset="0"/>
              </a:rPr>
              <a:t>devised three methods of measuring national income.</a:t>
            </a:r>
          </a:p>
          <a:p>
            <a:pPr marL="400050" marR="0" indent="-400050" algn="l"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                           </a:t>
            </a:r>
            <a:r>
              <a:rPr lang="en-US" sz="2000" dirty="0" err="1">
                <a:solidFill>
                  <a:srgbClr val="002060"/>
                </a:solidFill>
                <a:latin typeface="Arial" charset="0"/>
              </a:rPr>
              <a:t>i</a:t>
            </a:r>
            <a:r>
              <a:rPr lang="en-US" sz="2000" dirty="0">
                <a:solidFill>
                  <a:srgbClr val="002060"/>
                </a:solidFill>
                <a:latin typeface="Arial" charset="0"/>
              </a:rPr>
              <a:t>.  The Value Added Method</a:t>
            </a:r>
          </a:p>
          <a:p>
            <a:pPr marL="400050" marR="0" indent="-400050" algn="l"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                          ii.   Factor Income Method</a:t>
            </a:r>
          </a:p>
          <a:p>
            <a:pPr marL="400050" marR="0" indent="-400050" algn="l" defTabSz="914400" rtl="0" eaLnBrk="0" fontAlgn="base" latinLnBrk="0" hangingPunct="0">
              <a:lnSpc>
                <a:spcPct val="100000"/>
              </a:lnSpc>
              <a:spcBef>
                <a:spcPct val="0"/>
              </a:spcBef>
              <a:spcAft>
                <a:spcPct val="0"/>
              </a:spcAft>
              <a:buClrTx/>
              <a:buSzTx/>
              <a:tabLst/>
            </a:pPr>
            <a:r>
              <a:rPr lang="en-US" sz="2000" dirty="0">
                <a:solidFill>
                  <a:srgbClr val="002060"/>
                </a:solidFill>
                <a:latin typeface="Arial" charset="0"/>
              </a:rPr>
              <a:t>                          iii.   Expenditure Method</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16</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to="" calcmode="lin" valueType="num">
                                      <p:cBhvr>
                                        <p:cTn id="12" dur="1" fill="hold"/>
                                        <p:tgtEl>
                                          <p:spTgt spid="9"/>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to="" calcmode="lin" valueType="num">
                                      <p:cBhvr>
                                        <p:cTn id="17" dur="1" fill="hold"/>
                                        <p:tgtEl>
                                          <p:spTgt spid="10"/>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to="" calcmode="lin" valueType="num">
                                      <p:cBhvr>
                                        <p:cTn id="22"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323576" y="165322"/>
            <a:ext cx="8553450" cy="770964"/>
          </a:xfrm>
          <a:prstGeom prst="rect">
            <a:avLst/>
          </a:prstGeom>
        </p:spPr>
        <p:txBody>
          <a:bodyPr/>
          <a:lstStyle/>
          <a:p>
            <a:pPr marL="0" marR="0" lvl="0" indent="0" defTabSz="914400" rtl="0" eaLnBrk="0" fontAlgn="base" latinLnBrk="0" hangingPunct="0">
              <a:lnSpc>
                <a:spcPct val="100000"/>
              </a:lnSpc>
              <a:spcBef>
                <a:spcPct val="0"/>
              </a:spcBef>
              <a:spcAft>
                <a:spcPct val="0"/>
              </a:spcAft>
              <a:buClrTx/>
              <a:buSzTx/>
              <a:buFontTx/>
              <a:buNone/>
              <a:tabLst/>
              <a:defRPr/>
            </a:pPr>
            <a:r>
              <a:rPr lang="en-US" altLang="en-US" sz="2800" b="1" kern="0" dirty="0">
                <a:solidFill>
                  <a:srgbClr val="3333FF"/>
                </a:solidFill>
                <a:effectLst>
                  <a:outerShdw blurRad="38100" dist="38100" dir="2700000" algn="tl">
                    <a:srgbClr val="C0C0C0"/>
                  </a:outerShdw>
                </a:effectLst>
                <a:latin typeface="+mj-lt"/>
                <a:ea typeface="+mj-ea"/>
                <a:cs typeface="+mj-cs"/>
              </a:rPr>
              <a:t>Cont..</a:t>
            </a:r>
            <a:endParaRPr kumimoji="0" lang="en-US" altLang="en-US" sz="2800" b="1" i="0" u="none" strike="noStrike" kern="0" cap="none" spc="0" normalizeH="0" baseline="0" noProof="0" dirty="0">
              <a:ln>
                <a:noFill/>
              </a:ln>
              <a:solidFill>
                <a:srgbClr val="3333FF"/>
              </a:solidFill>
              <a:effectLst>
                <a:outerShdw blurRad="38100" dist="38100" dir="2700000" algn="tl">
                  <a:srgbClr val="C0C0C0"/>
                </a:outerShdw>
              </a:effectLst>
              <a:uLnTx/>
              <a:uFillTx/>
              <a:latin typeface="+mj-lt"/>
              <a:ea typeface="+mj-ea"/>
              <a:cs typeface="+mj-cs"/>
            </a:endParaRPr>
          </a:p>
        </p:txBody>
      </p:sp>
      <p:sp>
        <p:nvSpPr>
          <p:cNvPr id="10" name="Rounded Rectangle 9"/>
          <p:cNvSpPr/>
          <p:nvPr/>
        </p:nvSpPr>
        <p:spPr bwMode="auto">
          <a:xfrm>
            <a:off x="535577" y="1280154"/>
            <a:ext cx="8138160" cy="783193"/>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Ø"/>
              <a:tabLst/>
            </a:pPr>
            <a:r>
              <a:rPr lang="en-US" sz="2000" dirty="0">
                <a:solidFill>
                  <a:schemeClr val="tx1"/>
                </a:solidFill>
                <a:latin typeface="Arial" charset="0"/>
              </a:rPr>
              <a:t> Value added method is used to avoid </a:t>
            </a:r>
            <a:r>
              <a:rPr lang="en-US" sz="2000" i="1" u="sng" dirty="0">
                <a:solidFill>
                  <a:schemeClr val="tx1"/>
                </a:solidFill>
                <a:latin typeface="Arial" charset="0"/>
              </a:rPr>
              <a:t>double </a:t>
            </a:r>
            <a:r>
              <a:rPr lang="en-US" sz="2000" dirty="0">
                <a:solidFill>
                  <a:schemeClr val="tx1"/>
                </a:solidFill>
                <a:latin typeface="Arial" charset="0"/>
              </a:rPr>
              <a:t>counting, i.e., counting the value of a commodity more than </a:t>
            </a:r>
            <a:r>
              <a:rPr lang="en-US" sz="2000" dirty="0" err="1">
                <a:solidFill>
                  <a:schemeClr val="tx1"/>
                </a:solidFill>
                <a:latin typeface="Arial" charset="0"/>
              </a:rPr>
              <a:t>once.</a:t>
            </a:r>
            <a:r>
              <a:rPr lang="en-US" sz="2000" dirty="0" err="1">
                <a:solidFill>
                  <a:schemeClr val="bg1"/>
                </a:solidFill>
                <a:latin typeface="Arial" charset="0"/>
              </a:rPr>
              <a:t>l</a:t>
            </a:r>
            <a:r>
              <a:rPr lang="en-US" sz="2000" dirty="0">
                <a:solidFill>
                  <a:schemeClr val="bg1"/>
                </a:solidFill>
                <a:latin typeface="Arial" charset="0"/>
              </a:rPr>
              <a:t> and services.</a:t>
            </a:r>
          </a:p>
        </p:txBody>
      </p:sp>
      <p:sp>
        <p:nvSpPr>
          <p:cNvPr id="8" name="TextBox 7"/>
          <p:cNvSpPr txBox="1"/>
          <p:nvPr/>
        </p:nvSpPr>
        <p:spPr>
          <a:xfrm>
            <a:off x="365757" y="816423"/>
            <a:ext cx="4362995" cy="400110"/>
          </a:xfrm>
          <a:prstGeom prst="rect">
            <a:avLst/>
          </a:prstGeom>
          <a:noFill/>
        </p:spPr>
        <p:txBody>
          <a:bodyPr wrap="square" rtlCol="0">
            <a:spAutoFit/>
          </a:bodyPr>
          <a:lstStyle/>
          <a:p>
            <a:pPr algn="just"/>
            <a:r>
              <a:rPr lang="en-US" sz="2000" b="1" i="1" dirty="0"/>
              <a:t>1.   Value Added Method  </a:t>
            </a:r>
          </a:p>
        </p:txBody>
      </p:sp>
      <p:sp>
        <p:nvSpPr>
          <p:cNvPr id="11" name="Rounded Rectangle 10"/>
          <p:cNvSpPr/>
          <p:nvPr/>
        </p:nvSpPr>
        <p:spPr bwMode="auto">
          <a:xfrm>
            <a:off x="531221" y="2111830"/>
            <a:ext cx="8138160" cy="1464231"/>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Ø"/>
              <a:tabLst/>
            </a:pPr>
            <a:r>
              <a:rPr lang="en-US" sz="2000" dirty="0">
                <a:solidFill>
                  <a:schemeClr val="tx1"/>
                </a:solidFill>
                <a:latin typeface="Arial" charset="0"/>
              </a:rPr>
              <a:t> National income is defined as the money value of all final goods and services produced in a given period of time. The problem of double counting arises because of the problem of defining what product is final and what is considered intermediate product. </a:t>
            </a:r>
            <a:r>
              <a:rPr lang="en-US" sz="2000" dirty="0" err="1">
                <a:solidFill>
                  <a:schemeClr val="bg1"/>
                </a:solidFill>
                <a:latin typeface="Arial" charset="0"/>
              </a:rPr>
              <a:t>lces</a:t>
            </a:r>
            <a:r>
              <a:rPr lang="en-US" sz="2000" dirty="0">
                <a:solidFill>
                  <a:schemeClr val="bg1"/>
                </a:solidFill>
                <a:latin typeface="Arial" charset="0"/>
              </a:rPr>
              <a:t>.</a:t>
            </a:r>
          </a:p>
        </p:txBody>
      </p:sp>
      <p:sp>
        <p:nvSpPr>
          <p:cNvPr id="12" name="Rounded Rectangle 11"/>
          <p:cNvSpPr/>
          <p:nvPr/>
        </p:nvSpPr>
        <p:spPr bwMode="auto">
          <a:xfrm>
            <a:off x="566054" y="3570531"/>
            <a:ext cx="8138160" cy="3166824"/>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just" defTabSz="914400" rtl="0" eaLnBrk="0" fontAlgn="base" latinLnBrk="0" hangingPunct="0">
              <a:lnSpc>
                <a:spcPct val="100000"/>
              </a:lnSpc>
              <a:spcBef>
                <a:spcPct val="0"/>
              </a:spcBef>
              <a:spcAft>
                <a:spcPct val="0"/>
              </a:spcAft>
              <a:buClrTx/>
              <a:buSzTx/>
              <a:buFont typeface="Wingdings" pitchFamily="2" charset="2"/>
              <a:buChar char="Ø"/>
              <a:tabLst/>
            </a:pPr>
            <a:r>
              <a:rPr lang="en-US" sz="1800" dirty="0">
                <a:solidFill>
                  <a:schemeClr val="tx1"/>
                </a:solidFill>
                <a:latin typeface="Arial" charset="0"/>
              </a:rPr>
              <a:t> For ex.. Let’s take the previous example about sandwich. Wheat is the final product for the farmer, </a:t>
            </a:r>
            <a:r>
              <a:rPr lang="en-US" sz="1800" dirty="0" err="1">
                <a:solidFill>
                  <a:schemeClr val="tx1"/>
                </a:solidFill>
                <a:latin typeface="Arial" charset="0"/>
              </a:rPr>
              <a:t>Appuhami</a:t>
            </a:r>
            <a:r>
              <a:rPr lang="en-US" sz="1800" dirty="0">
                <a:solidFill>
                  <a:schemeClr val="tx1"/>
                </a:solidFill>
                <a:latin typeface="Arial" charset="0"/>
              </a:rPr>
              <a:t>. But wheat is an input (raw material) for a flour mill, say, </a:t>
            </a:r>
            <a:r>
              <a:rPr lang="en-US" sz="1800" dirty="0" err="1">
                <a:solidFill>
                  <a:schemeClr val="tx1"/>
                </a:solidFill>
                <a:latin typeface="Arial" charset="0"/>
              </a:rPr>
              <a:t>Nipuna</a:t>
            </a:r>
            <a:r>
              <a:rPr lang="en-US" sz="1800" dirty="0">
                <a:solidFill>
                  <a:schemeClr val="tx1"/>
                </a:solidFill>
                <a:latin typeface="Arial" charset="0"/>
              </a:rPr>
              <a:t> Flour Mill. Wheat flour is the final product for </a:t>
            </a:r>
            <a:r>
              <a:rPr lang="en-US" sz="1800" dirty="0" err="1">
                <a:solidFill>
                  <a:schemeClr val="tx1"/>
                </a:solidFill>
                <a:latin typeface="Arial" charset="0"/>
              </a:rPr>
              <a:t>Nipuna</a:t>
            </a:r>
            <a:r>
              <a:rPr lang="en-US" sz="1800" dirty="0">
                <a:solidFill>
                  <a:schemeClr val="tx1"/>
                </a:solidFill>
                <a:latin typeface="Arial" charset="0"/>
              </a:rPr>
              <a:t> company. But wheat flour is used by the bread manufacture, </a:t>
            </a:r>
            <a:r>
              <a:rPr lang="en-US" sz="1800" dirty="0" err="1">
                <a:solidFill>
                  <a:schemeClr val="tx1"/>
                </a:solidFill>
                <a:latin typeface="Arial" charset="0"/>
              </a:rPr>
              <a:t>Benthota</a:t>
            </a:r>
            <a:r>
              <a:rPr lang="en-US" sz="1800" dirty="0">
                <a:solidFill>
                  <a:schemeClr val="tx1"/>
                </a:solidFill>
                <a:latin typeface="Arial" charset="0"/>
              </a:rPr>
              <a:t> Bakery, as raw material. For </a:t>
            </a:r>
            <a:r>
              <a:rPr lang="en-US" sz="1800" dirty="0" err="1">
                <a:solidFill>
                  <a:schemeClr val="tx1"/>
                </a:solidFill>
                <a:latin typeface="Arial" charset="0"/>
              </a:rPr>
              <a:t>Benthota</a:t>
            </a:r>
            <a:r>
              <a:rPr lang="en-US" sz="1800" dirty="0">
                <a:solidFill>
                  <a:schemeClr val="tx1"/>
                </a:solidFill>
                <a:latin typeface="Arial" charset="0"/>
              </a:rPr>
              <a:t> Bakery, bread is the final product. But bread is an input for sandwich-maker, the Perera &amp; Sons. Now if all these products – wheat, wheat flour, bread and sandwich – are treated as final products, value of wheat will be counted at all the four stages. Two avoid this problem of double counting, </a:t>
            </a:r>
            <a:r>
              <a:rPr lang="en-US" sz="1800" i="1" u="sng" dirty="0">
                <a:solidFill>
                  <a:schemeClr val="tx1"/>
                </a:solidFill>
                <a:latin typeface="Arial" charset="0"/>
              </a:rPr>
              <a:t>we use value added method</a:t>
            </a:r>
            <a:r>
              <a:rPr lang="en-US" sz="1800" dirty="0">
                <a:solidFill>
                  <a:schemeClr val="tx1"/>
                </a:solidFill>
                <a:latin typeface="Arial" charset="0"/>
              </a:rPr>
              <a:t>. </a:t>
            </a:r>
            <a:r>
              <a:rPr lang="en-US" sz="1800" dirty="0" err="1">
                <a:solidFill>
                  <a:schemeClr val="bg1"/>
                </a:solidFill>
                <a:latin typeface="Arial" charset="0"/>
              </a:rPr>
              <a:t>lces</a:t>
            </a:r>
            <a:r>
              <a:rPr lang="en-US" sz="1800" dirty="0">
                <a:solidFill>
                  <a:schemeClr val="bg1"/>
                </a:solidFill>
                <a:latin typeface="Arial" charset="0"/>
              </a:rPr>
              <a:t>.</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17</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to="" calcmode="lin" valueType="num">
                                      <p:cBhvr>
                                        <p:cTn id="12" dur="1" fill="hold"/>
                                        <p:tgtEl>
                                          <p:spTgt spid="1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to="" calcmode="lin" valueType="num">
                                      <p:cBhvr>
                                        <p:cTn id="17" dur="1" fill="hold"/>
                                        <p:tgtEl>
                                          <p:spTgt spid="11"/>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to="" calcmode="lin" valueType="num">
                                      <p:cBhvr>
                                        <p:cTn id="22" dur="1" fill="hold"/>
                                        <p:tgtEl>
                                          <p:spTgt spid="1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295275" y="0"/>
            <a:ext cx="8553450" cy="770964"/>
          </a:xfrm>
          <a:prstGeom prst="rect">
            <a:avLst/>
          </a:prstGeom>
        </p:spPr>
        <p:txBody>
          <a:bodyPr/>
          <a:lstStyle/>
          <a:p>
            <a:pPr marL="0" marR="0" lvl="0" indent="0" defTabSz="914400" rtl="0" eaLnBrk="0" fontAlgn="base" latinLnBrk="0" hangingPunct="0">
              <a:lnSpc>
                <a:spcPct val="100000"/>
              </a:lnSpc>
              <a:spcBef>
                <a:spcPct val="0"/>
              </a:spcBef>
              <a:spcAft>
                <a:spcPct val="0"/>
              </a:spcAft>
              <a:buClrTx/>
              <a:buSzTx/>
              <a:buFontTx/>
              <a:buNone/>
              <a:tabLst/>
              <a:defRPr/>
            </a:pPr>
            <a:r>
              <a:rPr lang="en-US" altLang="en-US" sz="2800" b="1" kern="0" dirty="0" err="1">
                <a:solidFill>
                  <a:srgbClr val="3333FF"/>
                </a:solidFill>
                <a:effectLst>
                  <a:outerShdw blurRad="38100" dist="38100" dir="2700000" algn="tl">
                    <a:srgbClr val="C0C0C0"/>
                  </a:outerShdw>
                </a:effectLst>
                <a:latin typeface="+mj-lt"/>
                <a:ea typeface="+mj-ea"/>
                <a:cs typeface="+mj-cs"/>
              </a:rPr>
              <a:t>Cont</a:t>
            </a:r>
            <a:r>
              <a:rPr lang="en-US" altLang="en-US" sz="2800" b="1" kern="0" dirty="0">
                <a:solidFill>
                  <a:srgbClr val="3333FF"/>
                </a:solidFill>
                <a:effectLst>
                  <a:outerShdw blurRad="38100" dist="38100" dir="2700000" algn="tl">
                    <a:srgbClr val="C0C0C0"/>
                  </a:outerShdw>
                </a:effectLst>
                <a:latin typeface="+mj-lt"/>
                <a:ea typeface="+mj-ea"/>
                <a:cs typeface="+mj-cs"/>
              </a:rPr>
              <a:t>….</a:t>
            </a:r>
            <a:endParaRPr kumimoji="0" lang="en-US" altLang="en-US" sz="2800" b="1" i="0" u="none" strike="noStrike" kern="0" cap="none" spc="0" normalizeH="0" baseline="0" noProof="0" dirty="0">
              <a:ln>
                <a:noFill/>
              </a:ln>
              <a:solidFill>
                <a:srgbClr val="3333FF"/>
              </a:solidFill>
              <a:effectLst>
                <a:outerShdw blurRad="38100" dist="38100" dir="2700000" algn="tl">
                  <a:srgbClr val="C0C0C0"/>
                </a:outerShdw>
              </a:effectLst>
              <a:uLnTx/>
              <a:uFillTx/>
              <a:latin typeface="+mj-lt"/>
              <a:ea typeface="+mj-ea"/>
              <a:cs typeface="+mj-cs"/>
            </a:endParaRPr>
          </a:p>
        </p:txBody>
      </p:sp>
      <p:sp>
        <p:nvSpPr>
          <p:cNvPr id="10" name="Rounded Rectangle 9"/>
          <p:cNvSpPr/>
          <p:nvPr/>
        </p:nvSpPr>
        <p:spPr bwMode="auto">
          <a:xfrm>
            <a:off x="535577" y="1136461"/>
            <a:ext cx="8138160" cy="1804749"/>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just" defTabSz="914400" rtl="0" eaLnBrk="0" fontAlgn="base" latinLnBrk="0" hangingPunct="0">
              <a:lnSpc>
                <a:spcPct val="100000"/>
              </a:lnSpc>
              <a:spcBef>
                <a:spcPct val="0"/>
              </a:spcBef>
              <a:spcAft>
                <a:spcPct val="0"/>
              </a:spcAft>
              <a:buClrTx/>
              <a:buSzTx/>
              <a:buFont typeface="Wingdings" pitchFamily="2" charset="2"/>
              <a:buChar char="Ø"/>
              <a:tabLst/>
            </a:pPr>
            <a:r>
              <a:rPr lang="en-US" sz="2000" dirty="0">
                <a:solidFill>
                  <a:schemeClr val="tx1"/>
                </a:solidFill>
                <a:latin typeface="Arial" charset="0"/>
              </a:rPr>
              <a:t> Suppose </a:t>
            </a:r>
            <a:r>
              <a:rPr lang="en-US" sz="2000" dirty="0" err="1">
                <a:solidFill>
                  <a:schemeClr val="tx1"/>
                </a:solidFill>
                <a:latin typeface="Arial" charset="0"/>
              </a:rPr>
              <a:t>Nipuna</a:t>
            </a:r>
            <a:r>
              <a:rPr lang="en-US" sz="2000" dirty="0">
                <a:solidFill>
                  <a:schemeClr val="tx1"/>
                </a:solidFill>
                <a:latin typeface="Arial" charset="0"/>
              </a:rPr>
              <a:t> flour mill buys wheat for Rs. 1000 and sell the flour to bread manufacturing company, </a:t>
            </a:r>
            <a:r>
              <a:rPr lang="en-US" sz="2000" dirty="0" err="1">
                <a:solidFill>
                  <a:schemeClr val="tx1"/>
                </a:solidFill>
                <a:latin typeface="Arial" charset="0"/>
              </a:rPr>
              <a:t>Benthota</a:t>
            </a:r>
            <a:r>
              <a:rPr lang="en-US" sz="2000" dirty="0">
                <a:solidFill>
                  <a:schemeClr val="tx1"/>
                </a:solidFill>
                <a:latin typeface="Arial" charset="0"/>
              </a:rPr>
              <a:t> Bakery, at Rs. 1500. This means </a:t>
            </a:r>
            <a:r>
              <a:rPr lang="en-US" sz="2000" dirty="0" err="1">
                <a:solidFill>
                  <a:schemeClr val="tx1"/>
                </a:solidFill>
                <a:latin typeface="Arial" charset="0"/>
              </a:rPr>
              <a:t>Nipuna</a:t>
            </a:r>
            <a:r>
              <a:rPr lang="en-US" sz="2000" dirty="0">
                <a:solidFill>
                  <a:schemeClr val="tx1"/>
                </a:solidFill>
                <a:latin typeface="Arial" charset="0"/>
              </a:rPr>
              <a:t> flour mill added a value of Rs.500 to  wheat. Let’s suppose that value addition includes the cost components as given </a:t>
            </a:r>
            <a:r>
              <a:rPr lang="en-US" sz="2000" dirty="0" err="1">
                <a:solidFill>
                  <a:schemeClr val="tx1"/>
                </a:solidFill>
                <a:latin typeface="Arial" charset="0"/>
              </a:rPr>
              <a:t>below.</a:t>
            </a:r>
            <a:r>
              <a:rPr lang="en-US" sz="2000" dirty="0" err="1">
                <a:solidFill>
                  <a:schemeClr val="bg1"/>
                </a:solidFill>
                <a:latin typeface="Arial" charset="0"/>
              </a:rPr>
              <a:t>nservices</a:t>
            </a:r>
            <a:r>
              <a:rPr lang="en-US" sz="2000" dirty="0">
                <a:solidFill>
                  <a:schemeClr val="bg1"/>
                </a:solidFill>
                <a:latin typeface="Arial" charset="0"/>
              </a:rPr>
              <a:t>.</a:t>
            </a:r>
          </a:p>
        </p:txBody>
      </p:sp>
      <p:sp>
        <p:nvSpPr>
          <p:cNvPr id="8" name="TextBox 7"/>
          <p:cNvSpPr txBox="1"/>
          <p:nvPr/>
        </p:nvSpPr>
        <p:spPr>
          <a:xfrm>
            <a:off x="365757" y="711919"/>
            <a:ext cx="4362995" cy="400110"/>
          </a:xfrm>
          <a:prstGeom prst="rect">
            <a:avLst/>
          </a:prstGeom>
          <a:noFill/>
        </p:spPr>
        <p:txBody>
          <a:bodyPr wrap="square" rtlCol="0">
            <a:spAutoFit/>
          </a:bodyPr>
          <a:lstStyle/>
          <a:p>
            <a:pPr algn="just"/>
            <a:r>
              <a:rPr lang="en-US" sz="2000" b="1" i="1" dirty="0"/>
              <a:t>1.   Value Added Method  </a:t>
            </a:r>
          </a:p>
        </p:txBody>
      </p:sp>
      <p:graphicFrame>
        <p:nvGraphicFramePr>
          <p:cNvPr id="9" name="Table 8"/>
          <p:cNvGraphicFramePr>
            <a:graphicFrameLocks noGrp="1"/>
          </p:cNvGraphicFramePr>
          <p:nvPr>
            <p:extLst>
              <p:ext uri="{D42A27DB-BD31-4B8C-83A1-F6EECF244321}">
                <p14:modId xmlns:p14="http://schemas.microsoft.com/office/powerpoint/2010/main" val="2888631258"/>
              </p:ext>
            </p:extLst>
          </p:nvPr>
        </p:nvGraphicFramePr>
        <p:xfrm>
          <a:off x="1576252" y="3056001"/>
          <a:ext cx="5582194" cy="3693160"/>
        </p:xfrm>
        <a:graphic>
          <a:graphicData uri="http://schemas.openxmlformats.org/drawingml/2006/table">
            <a:tbl>
              <a:tblPr firstRow="1" bandRow="1">
                <a:tableStyleId>{8A107856-5554-42FB-B03E-39F5DBC370BA}</a:tableStyleId>
              </a:tblPr>
              <a:tblGrid>
                <a:gridCol w="4511040">
                  <a:extLst>
                    <a:ext uri="{9D8B030D-6E8A-4147-A177-3AD203B41FA5}">
                      <a16:colId xmlns:a16="http://schemas.microsoft.com/office/drawing/2014/main" val="20000"/>
                    </a:ext>
                  </a:extLst>
                </a:gridCol>
                <a:gridCol w="1071154">
                  <a:extLst>
                    <a:ext uri="{9D8B030D-6E8A-4147-A177-3AD203B41FA5}">
                      <a16:colId xmlns:a16="http://schemas.microsoft.com/office/drawing/2014/main" val="20001"/>
                    </a:ext>
                  </a:extLst>
                </a:gridCol>
              </a:tblGrid>
              <a:tr h="370840">
                <a:tc gridSpan="2">
                  <a:txBody>
                    <a:bodyPr/>
                    <a:lstStyle/>
                    <a:p>
                      <a:pPr algn="ctr"/>
                      <a:r>
                        <a:rPr lang="en-US" sz="1800" dirty="0"/>
                        <a:t>Value addition by </a:t>
                      </a:r>
                      <a:r>
                        <a:rPr lang="en-US" sz="1800" dirty="0" err="1"/>
                        <a:t>Nipuna</a:t>
                      </a:r>
                      <a:r>
                        <a:rPr lang="en-US" sz="1800" baseline="0" dirty="0"/>
                        <a:t> Flour Mill</a:t>
                      </a:r>
                      <a:r>
                        <a:rPr lang="en-US" sz="1800" dirty="0"/>
                        <a:t> (Rs</a:t>
                      </a:r>
                      <a:r>
                        <a:rPr lang="en-US" dirty="0"/>
                        <a:t>)</a:t>
                      </a:r>
                      <a:endParaRPr lang="en-US" b="0" dirty="0">
                        <a:solidFill>
                          <a:srgbClr val="7030A0"/>
                        </a:solidFill>
                        <a:latin typeface="+mj-lt"/>
                      </a:endParaRP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sz="2000" dirty="0"/>
                        <a:t>Cost of wheat (intermediate input)</a:t>
                      </a:r>
                    </a:p>
                    <a:p>
                      <a:r>
                        <a:rPr lang="en-US" sz="2000" dirty="0"/>
                        <a:t>Transportation cost</a:t>
                      </a:r>
                    </a:p>
                    <a:p>
                      <a:r>
                        <a:rPr lang="en-US" sz="2000" dirty="0"/>
                        <a:t>Labor charge</a:t>
                      </a:r>
                    </a:p>
                    <a:p>
                      <a:r>
                        <a:rPr lang="en-US" sz="2000" dirty="0"/>
                        <a:t>Electricity charge</a:t>
                      </a:r>
                    </a:p>
                    <a:p>
                      <a:r>
                        <a:rPr lang="en-US" sz="2000" dirty="0"/>
                        <a:t>Storage charge</a:t>
                      </a:r>
                    </a:p>
                    <a:p>
                      <a:r>
                        <a:rPr lang="en-US" sz="2000" dirty="0"/>
                        <a:t>Depreciation</a:t>
                      </a:r>
                    </a:p>
                    <a:p>
                      <a:r>
                        <a:rPr lang="en-US" sz="2000" dirty="0"/>
                        <a:t>Profit</a:t>
                      </a:r>
                      <a:r>
                        <a:rPr lang="en-US" sz="2000" baseline="0" dirty="0"/>
                        <a:t> margin</a:t>
                      </a:r>
                      <a:endParaRPr lang="en-US" sz="2000" dirty="0">
                        <a:solidFill>
                          <a:srgbClr val="7030A0"/>
                        </a:solidFill>
                      </a:endParaRPr>
                    </a:p>
                  </a:txBody>
                  <a:tcPr/>
                </a:tc>
                <a:tc>
                  <a:txBody>
                    <a:bodyPr/>
                    <a:lstStyle/>
                    <a:p>
                      <a:pPr algn="r"/>
                      <a:r>
                        <a:rPr lang="en-US" sz="2000" dirty="0"/>
                        <a:t>1000</a:t>
                      </a:r>
                    </a:p>
                    <a:p>
                      <a:pPr algn="r"/>
                      <a:r>
                        <a:rPr lang="en-US" sz="2000" dirty="0"/>
                        <a:t>    50</a:t>
                      </a:r>
                    </a:p>
                    <a:p>
                      <a:pPr algn="r"/>
                      <a:r>
                        <a:rPr lang="en-US" sz="2000" dirty="0"/>
                        <a:t>  150</a:t>
                      </a:r>
                    </a:p>
                    <a:p>
                      <a:pPr algn="r"/>
                      <a:r>
                        <a:rPr lang="en-US" sz="2000" dirty="0"/>
                        <a:t>   100</a:t>
                      </a:r>
                    </a:p>
                    <a:p>
                      <a:pPr algn="r"/>
                      <a:r>
                        <a:rPr lang="en-US" sz="2000" dirty="0"/>
                        <a:t>     50</a:t>
                      </a:r>
                    </a:p>
                    <a:p>
                      <a:pPr algn="r"/>
                      <a:r>
                        <a:rPr lang="en-US" sz="2000" dirty="0"/>
                        <a:t>     50</a:t>
                      </a:r>
                    </a:p>
                    <a:p>
                      <a:pPr algn="r"/>
                      <a:r>
                        <a:rPr lang="en-US" sz="2000" dirty="0"/>
                        <a:t>    100</a:t>
                      </a:r>
                      <a:endParaRPr lang="en-US" sz="2000" dirty="0">
                        <a:solidFill>
                          <a:srgbClr val="7030A0"/>
                        </a:solidFill>
                      </a:endParaRPr>
                    </a:p>
                  </a:txBody>
                  <a:tcPr/>
                </a:tc>
                <a:extLst>
                  <a:ext uri="{0D108BD9-81ED-4DB2-BD59-A6C34878D82A}">
                    <a16:rowId xmlns:a16="http://schemas.microsoft.com/office/drawing/2014/main" val="10001"/>
                  </a:ext>
                </a:extLst>
              </a:tr>
              <a:tr h="370840">
                <a:tc>
                  <a:txBody>
                    <a:bodyPr/>
                    <a:lstStyle/>
                    <a:p>
                      <a:r>
                        <a:rPr lang="en-US" sz="2000" dirty="0">
                          <a:solidFill>
                            <a:srgbClr val="7030A0"/>
                          </a:solidFill>
                        </a:rPr>
                        <a:t>Sale Price</a:t>
                      </a:r>
                    </a:p>
                    <a:p>
                      <a:r>
                        <a:rPr lang="en-US" sz="2000" dirty="0">
                          <a:solidFill>
                            <a:srgbClr val="7030A0"/>
                          </a:solidFill>
                        </a:rPr>
                        <a:t>Less Cos</a:t>
                      </a:r>
                      <a:r>
                        <a:rPr lang="en-US" sz="2000" baseline="0" dirty="0">
                          <a:solidFill>
                            <a:srgbClr val="7030A0"/>
                          </a:solidFill>
                        </a:rPr>
                        <a:t>t of wheat (raw material)</a:t>
                      </a:r>
                      <a:endParaRPr lang="en-US" sz="2000" dirty="0">
                        <a:solidFill>
                          <a:srgbClr val="7030A0"/>
                        </a:solidFill>
                      </a:endParaRPr>
                    </a:p>
                  </a:txBody>
                  <a:tcPr/>
                </a:tc>
                <a:tc>
                  <a:txBody>
                    <a:bodyPr/>
                    <a:lstStyle/>
                    <a:p>
                      <a:pPr algn="r"/>
                      <a:r>
                        <a:rPr lang="en-US" sz="2000" dirty="0">
                          <a:solidFill>
                            <a:srgbClr val="7030A0"/>
                          </a:solidFill>
                        </a:rPr>
                        <a:t>1500</a:t>
                      </a:r>
                    </a:p>
                    <a:p>
                      <a:pPr algn="r"/>
                      <a:r>
                        <a:rPr lang="en-US" sz="2000" dirty="0">
                          <a:solidFill>
                            <a:srgbClr val="7030A0"/>
                          </a:solidFill>
                        </a:rPr>
                        <a:t>1000</a:t>
                      </a:r>
                    </a:p>
                  </a:txBody>
                  <a:tcPr/>
                </a:tc>
                <a:extLst>
                  <a:ext uri="{0D108BD9-81ED-4DB2-BD59-A6C34878D82A}">
                    <a16:rowId xmlns:a16="http://schemas.microsoft.com/office/drawing/2014/main" val="10002"/>
                  </a:ext>
                </a:extLst>
              </a:tr>
              <a:tr h="370840">
                <a:tc>
                  <a:txBody>
                    <a:bodyPr/>
                    <a:lstStyle/>
                    <a:p>
                      <a:r>
                        <a:rPr lang="en-US" sz="2000" dirty="0">
                          <a:solidFill>
                            <a:srgbClr val="C00000"/>
                          </a:solidFill>
                        </a:rPr>
                        <a:t>Value added</a:t>
                      </a:r>
                    </a:p>
                  </a:txBody>
                  <a:tcPr/>
                </a:tc>
                <a:tc>
                  <a:txBody>
                    <a:bodyPr/>
                    <a:lstStyle/>
                    <a:p>
                      <a:pPr algn="r"/>
                      <a:r>
                        <a:rPr lang="en-US" sz="2000" dirty="0">
                          <a:solidFill>
                            <a:srgbClr val="C00000"/>
                          </a:solidFill>
                        </a:rPr>
                        <a:t>500</a:t>
                      </a:r>
                    </a:p>
                  </a:txBody>
                  <a:tcPr/>
                </a:tc>
                <a:extLst>
                  <a:ext uri="{0D108BD9-81ED-4DB2-BD59-A6C34878D82A}">
                    <a16:rowId xmlns:a16="http://schemas.microsoft.com/office/drawing/2014/main" val="10003"/>
                  </a:ext>
                </a:extLst>
              </a:tr>
            </a:tbl>
          </a:graphicData>
        </a:graphic>
      </p:graphicFrame>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18</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to="" calcmode="lin" valueType="num">
                                      <p:cBhvr>
                                        <p:cTn id="7" dur="1" fill="hold"/>
                                        <p:tgtEl>
                                          <p:spTgt spid="10"/>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to="" calcmode="lin" valueType="num">
                                      <p:cBhvr>
                                        <p:cTn id="12" dur="1" fill="hold"/>
                                        <p:tgtEl>
                                          <p:spTgt spid="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120287" y="-47415"/>
            <a:ext cx="8553450" cy="770964"/>
          </a:xfrm>
          <a:prstGeom prst="rect">
            <a:avLst/>
          </a:prstGeom>
        </p:spPr>
        <p:txBody>
          <a:bodyPr/>
          <a:lstStyle/>
          <a:p>
            <a:pPr marL="0" marR="0" lvl="0" indent="0" defTabSz="914400" rtl="0" eaLnBrk="0" fontAlgn="base" latinLnBrk="0" hangingPunct="0">
              <a:lnSpc>
                <a:spcPct val="100000"/>
              </a:lnSpc>
              <a:spcBef>
                <a:spcPct val="0"/>
              </a:spcBef>
              <a:spcAft>
                <a:spcPct val="0"/>
              </a:spcAft>
              <a:buClrTx/>
              <a:buSzTx/>
              <a:buFontTx/>
              <a:buNone/>
              <a:tabLst/>
              <a:defRPr/>
            </a:pPr>
            <a:r>
              <a:rPr lang="en-US" altLang="en-US" sz="2800" b="1" kern="0" dirty="0" err="1">
                <a:solidFill>
                  <a:srgbClr val="3333FF"/>
                </a:solidFill>
                <a:effectLst>
                  <a:outerShdw blurRad="38100" dist="38100" dir="2700000" algn="tl">
                    <a:srgbClr val="C0C0C0"/>
                  </a:outerShdw>
                </a:effectLst>
                <a:latin typeface="+mj-lt"/>
                <a:ea typeface="+mj-ea"/>
                <a:cs typeface="+mj-cs"/>
              </a:rPr>
              <a:t>Cont</a:t>
            </a:r>
            <a:r>
              <a:rPr lang="en-US" altLang="en-US" sz="2800" b="1" kern="0" dirty="0">
                <a:solidFill>
                  <a:srgbClr val="3333FF"/>
                </a:solidFill>
                <a:effectLst>
                  <a:outerShdw blurRad="38100" dist="38100" dir="2700000" algn="tl">
                    <a:srgbClr val="C0C0C0"/>
                  </a:outerShdw>
                </a:effectLst>
                <a:latin typeface="+mj-lt"/>
                <a:ea typeface="+mj-ea"/>
                <a:cs typeface="+mj-cs"/>
              </a:rPr>
              <a:t>…..</a:t>
            </a:r>
            <a:endParaRPr kumimoji="0" lang="en-US" altLang="en-US" sz="2800" b="1" i="0" u="none" strike="noStrike" kern="0" cap="none" spc="0" normalizeH="0" baseline="0" noProof="0" dirty="0">
              <a:ln>
                <a:noFill/>
              </a:ln>
              <a:solidFill>
                <a:srgbClr val="3333FF"/>
              </a:solidFill>
              <a:effectLst>
                <a:outerShdw blurRad="38100" dist="38100" dir="2700000" algn="tl">
                  <a:srgbClr val="C0C0C0"/>
                </a:outerShdw>
              </a:effectLst>
              <a:uLnTx/>
              <a:uFillTx/>
              <a:latin typeface="+mj-lt"/>
              <a:ea typeface="+mj-ea"/>
              <a:cs typeface="+mj-cs"/>
            </a:endParaRPr>
          </a:p>
        </p:txBody>
      </p:sp>
      <p:sp>
        <p:nvSpPr>
          <p:cNvPr id="10" name="Rounded Rectangle 9"/>
          <p:cNvSpPr/>
          <p:nvPr/>
        </p:nvSpPr>
        <p:spPr bwMode="auto">
          <a:xfrm>
            <a:off x="535577" y="1489162"/>
            <a:ext cx="8138160" cy="1123712"/>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Ø"/>
              <a:tabLst/>
            </a:pPr>
            <a:r>
              <a:rPr lang="en-US" sz="2000" dirty="0">
                <a:solidFill>
                  <a:schemeClr val="tx1"/>
                </a:solidFill>
                <a:latin typeface="Arial" charset="0"/>
              </a:rPr>
              <a:t> In this method, the national income is treated to be equal to all the </a:t>
            </a:r>
            <a:r>
              <a:rPr lang="en-US" sz="2000" i="1" dirty="0">
                <a:solidFill>
                  <a:schemeClr val="accent2"/>
                </a:solidFill>
                <a:latin typeface="Arial" charset="0"/>
              </a:rPr>
              <a:t>“ incomes accruing to the basic factors of production used in producing the national products”.</a:t>
            </a:r>
          </a:p>
        </p:txBody>
      </p:sp>
      <p:sp>
        <p:nvSpPr>
          <p:cNvPr id="8" name="TextBox 7"/>
          <p:cNvSpPr txBox="1"/>
          <p:nvPr/>
        </p:nvSpPr>
        <p:spPr>
          <a:xfrm>
            <a:off x="365757" y="855612"/>
            <a:ext cx="4362995" cy="400110"/>
          </a:xfrm>
          <a:prstGeom prst="rect">
            <a:avLst/>
          </a:prstGeom>
          <a:noFill/>
        </p:spPr>
        <p:txBody>
          <a:bodyPr wrap="square" rtlCol="0">
            <a:spAutoFit/>
          </a:bodyPr>
          <a:lstStyle/>
          <a:p>
            <a:pPr algn="just"/>
            <a:r>
              <a:rPr lang="en-US" sz="2000" b="1" i="1" dirty="0"/>
              <a:t>2.   Factor Income Method  </a:t>
            </a:r>
          </a:p>
        </p:txBody>
      </p:sp>
      <p:sp>
        <p:nvSpPr>
          <p:cNvPr id="6" name="Rounded Rectangle 5"/>
          <p:cNvSpPr/>
          <p:nvPr/>
        </p:nvSpPr>
        <p:spPr bwMode="auto">
          <a:xfrm>
            <a:off x="583473" y="2699665"/>
            <a:ext cx="8138160" cy="408623"/>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1800" i="1" dirty="0">
                <a:solidFill>
                  <a:schemeClr val="tx1"/>
                </a:solidFill>
                <a:latin typeface="Arial" charset="0"/>
              </a:rPr>
              <a:t>National Income (GDP) = Rent + Wages + Interest + Profit + Depreciation</a:t>
            </a:r>
            <a:endParaRPr lang="en-US" sz="1800" i="1" dirty="0">
              <a:solidFill>
                <a:schemeClr val="accent2"/>
              </a:solidFill>
              <a:latin typeface="Arial" charset="0"/>
            </a:endParaRPr>
          </a:p>
        </p:txBody>
      </p:sp>
      <p:sp>
        <p:nvSpPr>
          <p:cNvPr id="11" name="TextBox 10"/>
          <p:cNvSpPr txBox="1"/>
          <p:nvPr/>
        </p:nvSpPr>
        <p:spPr>
          <a:xfrm>
            <a:off x="518157" y="3372415"/>
            <a:ext cx="4362995" cy="400110"/>
          </a:xfrm>
          <a:prstGeom prst="rect">
            <a:avLst/>
          </a:prstGeom>
          <a:noFill/>
        </p:spPr>
        <p:txBody>
          <a:bodyPr wrap="square" rtlCol="0">
            <a:spAutoFit/>
          </a:bodyPr>
          <a:lstStyle/>
          <a:p>
            <a:pPr algn="just"/>
            <a:r>
              <a:rPr lang="en-US" sz="2000" b="1" i="1" dirty="0"/>
              <a:t>3.  Expenditure Method  </a:t>
            </a:r>
          </a:p>
        </p:txBody>
      </p:sp>
      <p:sp>
        <p:nvSpPr>
          <p:cNvPr id="12" name="Rounded Rectangle 11"/>
          <p:cNvSpPr/>
          <p:nvPr/>
        </p:nvSpPr>
        <p:spPr bwMode="auto">
          <a:xfrm>
            <a:off x="635725" y="3875335"/>
            <a:ext cx="8138160" cy="783193"/>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buFont typeface="Wingdings" pitchFamily="2" charset="2"/>
              <a:buChar char="Ø"/>
              <a:tabLst/>
            </a:pPr>
            <a:r>
              <a:rPr lang="en-US" sz="2000" dirty="0">
                <a:solidFill>
                  <a:schemeClr val="tx1"/>
                </a:solidFill>
                <a:latin typeface="Arial" charset="0"/>
              </a:rPr>
              <a:t> The expenditure method measures national income at the final expenditure stage. </a:t>
            </a:r>
            <a:endParaRPr lang="en-US" sz="2000" i="1" dirty="0">
              <a:solidFill>
                <a:schemeClr val="accent2"/>
              </a:solidFill>
              <a:latin typeface="Arial" charset="0"/>
            </a:endParaRPr>
          </a:p>
        </p:txBody>
      </p:sp>
      <p:sp>
        <p:nvSpPr>
          <p:cNvPr id="13" name="Rounded Rectangle 12"/>
          <p:cNvSpPr/>
          <p:nvPr/>
        </p:nvSpPr>
        <p:spPr bwMode="auto">
          <a:xfrm>
            <a:off x="670558" y="4785389"/>
            <a:ext cx="8138160" cy="1464231"/>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l" defTabSz="914400" rtl="0" eaLnBrk="0" fontAlgn="base" latinLnBrk="0" hangingPunct="0">
              <a:lnSpc>
                <a:spcPct val="100000"/>
              </a:lnSpc>
              <a:spcBef>
                <a:spcPct val="0"/>
              </a:spcBef>
              <a:spcAft>
                <a:spcPct val="0"/>
              </a:spcAft>
              <a:buClrTx/>
              <a:buSzTx/>
              <a:tabLst/>
            </a:pPr>
            <a:r>
              <a:rPr lang="en-US" sz="2000" i="1" dirty="0">
                <a:solidFill>
                  <a:schemeClr val="tx1"/>
                </a:solidFill>
                <a:latin typeface="Arial" charset="0"/>
              </a:rPr>
              <a:t>In order to estimate the aggregate expenditure, we can use the following formula.</a:t>
            </a:r>
          </a:p>
          <a:p>
            <a:pPr marL="400050" marR="0" indent="-400050" algn="l" defTabSz="914400" rtl="0" eaLnBrk="0" fontAlgn="base" latinLnBrk="0" hangingPunct="0">
              <a:lnSpc>
                <a:spcPct val="100000"/>
              </a:lnSpc>
              <a:spcBef>
                <a:spcPct val="0"/>
              </a:spcBef>
              <a:spcAft>
                <a:spcPct val="0"/>
              </a:spcAft>
              <a:buClrTx/>
              <a:buSzTx/>
              <a:tabLst/>
            </a:pPr>
            <a:endParaRPr lang="en-US" sz="2000" i="1" dirty="0">
              <a:solidFill>
                <a:schemeClr val="tx1"/>
              </a:solidFill>
              <a:latin typeface="Arial" charset="0"/>
            </a:endParaRPr>
          </a:p>
          <a:p>
            <a:pPr marL="400050" marR="0" indent="-400050" algn="l" defTabSz="914400" rtl="0" eaLnBrk="0" fontAlgn="base" latinLnBrk="0" hangingPunct="0">
              <a:lnSpc>
                <a:spcPct val="100000"/>
              </a:lnSpc>
              <a:spcBef>
                <a:spcPct val="0"/>
              </a:spcBef>
              <a:spcAft>
                <a:spcPct val="0"/>
              </a:spcAft>
              <a:buClrTx/>
              <a:buSzTx/>
              <a:tabLst/>
            </a:pPr>
            <a:r>
              <a:rPr lang="en-US" sz="2000" i="1" dirty="0">
                <a:solidFill>
                  <a:schemeClr val="tx1"/>
                </a:solidFill>
                <a:latin typeface="Arial" charset="0"/>
              </a:rPr>
              <a:t>GDP = Y = C + I + G + (X-M)</a:t>
            </a:r>
            <a:endParaRPr lang="en-US" sz="2000" i="1" dirty="0">
              <a:solidFill>
                <a:schemeClr val="accent2"/>
              </a:solidFill>
              <a:latin typeface="Arial" charset="0"/>
            </a:endParaRP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19</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to="" calcmode="lin" valueType="num">
                                      <p:cBhvr>
                                        <p:cTn id="12" dur="1" fill="hold"/>
                                        <p:tgtEl>
                                          <p:spTgt spid="1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to="" calcmode="lin" valueType="num">
                                      <p:cBhvr>
                                        <p:cTn id="22" dur="1" fill="hold"/>
                                        <p:tgtEl>
                                          <p:spTgt spid="11"/>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to="" calcmode="lin" valueType="num">
                                      <p:cBhvr>
                                        <p:cTn id="27" dur="1" fill="hold"/>
                                        <p:tgtEl>
                                          <p:spTgt spid="12"/>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 to="" calcmode="lin" valueType="num">
                                      <p:cBhvr>
                                        <p:cTn id="32" dur="1" fill="hold"/>
                                        <p:tgtEl>
                                          <p:spTgt spid="1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p:bldP spid="6" grpId="0" animBg="1"/>
      <p:bldP spid="11" grpId="0"/>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285750" y="338997"/>
            <a:ext cx="8553450" cy="770964"/>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altLang="en-US" sz="2800" b="1" kern="0" noProof="0" dirty="0">
                <a:solidFill>
                  <a:srgbClr val="3333FF"/>
                </a:solidFill>
                <a:effectLst>
                  <a:outerShdw blurRad="38100" dist="38100" dir="2700000" algn="tl">
                    <a:srgbClr val="C0C0C0"/>
                  </a:outerShdw>
                </a:effectLst>
                <a:latin typeface="Arial" panose="020B0604020202020204" pitchFamily="34" charset="0"/>
                <a:ea typeface="+mj-ea"/>
                <a:cs typeface="Arial" panose="020B0604020202020204" pitchFamily="34" charset="0"/>
              </a:rPr>
              <a:t>3.5</a:t>
            </a:r>
            <a:r>
              <a:rPr kumimoji="0" lang="en-US" altLang="en-US" sz="2800" b="1" i="0" u="none" strike="noStrike" kern="0" cap="none" spc="0" normalizeH="0" baseline="0" noProof="0" dirty="0">
                <a:ln>
                  <a:noFill/>
                </a:ln>
                <a:solidFill>
                  <a:srgbClr val="3333FF"/>
                </a:solidFill>
                <a:effectLst>
                  <a:outerShdw blurRad="38100" dist="38100" dir="2700000" algn="tl">
                    <a:srgbClr val="C0C0C0"/>
                  </a:outerShdw>
                </a:effectLst>
                <a:uLnTx/>
                <a:uFillTx/>
                <a:latin typeface="Arial" panose="020B0604020202020204" pitchFamily="34" charset="0"/>
                <a:ea typeface="+mj-ea"/>
                <a:cs typeface="Arial" panose="020B0604020202020204" pitchFamily="34" charset="0"/>
              </a:rPr>
              <a:t> Measuring National Income in Sri Lanka</a:t>
            </a:r>
          </a:p>
        </p:txBody>
      </p:sp>
      <p:sp>
        <p:nvSpPr>
          <p:cNvPr id="10" name="Rounded Rectangle 9"/>
          <p:cNvSpPr/>
          <p:nvPr/>
        </p:nvSpPr>
        <p:spPr bwMode="auto">
          <a:xfrm>
            <a:off x="535577" y="1136461"/>
            <a:ext cx="8138160" cy="1804749"/>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just" defTabSz="914400" rtl="0" eaLnBrk="0" fontAlgn="base" latinLnBrk="0" hangingPunct="0">
              <a:lnSpc>
                <a:spcPct val="100000"/>
              </a:lnSpc>
              <a:spcBef>
                <a:spcPct val="0"/>
              </a:spcBef>
              <a:spcAft>
                <a:spcPct val="0"/>
              </a:spcAft>
              <a:buClrTx/>
              <a:buSzTx/>
              <a:buFont typeface="Wingdings" pitchFamily="2" charset="2"/>
              <a:buChar char="Ø"/>
              <a:tabLst/>
            </a:pPr>
            <a:r>
              <a:rPr lang="en-US" sz="2000" dirty="0">
                <a:solidFill>
                  <a:schemeClr val="tx1"/>
                </a:solidFill>
                <a:latin typeface="Arial" charset="0"/>
              </a:rPr>
              <a:t> An economy comprises of a variety of economic activities resulting in different sources and nature of income. For systematic and reliable accounting of national income, it is essential to classify different types of economic activities and sources of income.</a:t>
            </a:r>
            <a:endParaRPr lang="en-US" sz="2000" i="1" dirty="0">
              <a:solidFill>
                <a:schemeClr val="accent2"/>
              </a:solidFill>
              <a:latin typeface="Arial" charset="0"/>
            </a:endParaRPr>
          </a:p>
        </p:txBody>
      </p:sp>
      <p:sp>
        <p:nvSpPr>
          <p:cNvPr id="9" name="Rounded Rectangle 8"/>
          <p:cNvSpPr/>
          <p:nvPr/>
        </p:nvSpPr>
        <p:spPr bwMode="auto">
          <a:xfrm>
            <a:off x="661851" y="3052366"/>
            <a:ext cx="8138160" cy="2077164"/>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just" defTabSz="914400" rtl="0" eaLnBrk="0" fontAlgn="base" latinLnBrk="0" hangingPunct="0">
              <a:lnSpc>
                <a:spcPct val="100000"/>
              </a:lnSpc>
              <a:spcBef>
                <a:spcPct val="0"/>
              </a:spcBef>
              <a:spcAft>
                <a:spcPct val="0"/>
              </a:spcAft>
              <a:buClrTx/>
              <a:buSzTx/>
              <a:buFont typeface="Wingdings" pitchFamily="2" charset="2"/>
              <a:buChar char="Ø"/>
              <a:tabLst/>
            </a:pPr>
            <a:r>
              <a:rPr lang="en-US" sz="2000" dirty="0">
                <a:solidFill>
                  <a:schemeClr val="tx1"/>
                </a:solidFill>
                <a:latin typeface="Arial" charset="0"/>
              </a:rPr>
              <a:t> For the purpose of estimating national income, the Central Bank of Sri Lanka use the following </a:t>
            </a:r>
            <a:r>
              <a:rPr lang="en-US" sz="2000" dirty="0" err="1">
                <a:solidFill>
                  <a:schemeClr val="tx1"/>
                </a:solidFill>
                <a:latin typeface="Arial" charset="0"/>
              </a:rPr>
              <a:t>sectoral</a:t>
            </a:r>
            <a:r>
              <a:rPr lang="en-US" sz="2000" dirty="0">
                <a:solidFill>
                  <a:schemeClr val="tx1"/>
                </a:solidFill>
                <a:latin typeface="Arial" charset="0"/>
              </a:rPr>
              <a:t> classification of economy.</a:t>
            </a:r>
          </a:p>
          <a:p>
            <a:pPr marL="400050" marR="0" indent="-400050" algn="just" defTabSz="914400" rtl="0" eaLnBrk="0" fontAlgn="base" latinLnBrk="0" hangingPunct="0">
              <a:lnSpc>
                <a:spcPct val="100000"/>
              </a:lnSpc>
              <a:spcBef>
                <a:spcPct val="0"/>
              </a:spcBef>
              <a:spcAft>
                <a:spcPct val="0"/>
              </a:spcAft>
              <a:buClrTx/>
              <a:buSzTx/>
              <a:tabLst/>
            </a:pPr>
            <a:endParaRPr lang="en-US" sz="2000" dirty="0">
              <a:solidFill>
                <a:schemeClr val="tx1"/>
              </a:solidFill>
              <a:latin typeface="Arial" charset="0"/>
            </a:endParaRPr>
          </a:p>
          <a:p>
            <a:pPr marL="400050" marR="0" indent="-400050" algn="just" defTabSz="914400" rtl="0" eaLnBrk="0" fontAlgn="base" latinLnBrk="0" hangingPunct="0">
              <a:lnSpc>
                <a:spcPct val="100000"/>
              </a:lnSpc>
              <a:spcBef>
                <a:spcPct val="0"/>
              </a:spcBef>
              <a:spcAft>
                <a:spcPct val="0"/>
              </a:spcAft>
              <a:buClrTx/>
              <a:buSzTx/>
              <a:tabLst/>
            </a:pPr>
            <a:r>
              <a:rPr lang="en-US" sz="2000" i="1" dirty="0">
                <a:solidFill>
                  <a:schemeClr val="tx1"/>
                </a:solidFill>
                <a:latin typeface="Arial" charset="0"/>
              </a:rPr>
              <a:t>       </a:t>
            </a:r>
            <a:r>
              <a:rPr lang="en-US" sz="2000" i="1" dirty="0" err="1">
                <a:solidFill>
                  <a:schemeClr val="tx1"/>
                </a:solidFill>
                <a:latin typeface="Arial" charset="0"/>
              </a:rPr>
              <a:t>i</a:t>
            </a:r>
            <a:r>
              <a:rPr lang="en-US" sz="1800" i="1" dirty="0">
                <a:solidFill>
                  <a:schemeClr val="tx1"/>
                </a:solidFill>
                <a:latin typeface="Arial" charset="0"/>
              </a:rPr>
              <a:t>. Primary Sector (Agricultural Sector)</a:t>
            </a:r>
          </a:p>
          <a:p>
            <a:pPr marL="400050" marR="0" indent="-400050" algn="just" defTabSz="914400" rtl="0" eaLnBrk="0" fontAlgn="base" latinLnBrk="0" hangingPunct="0">
              <a:lnSpc>
                <a:spcPct val="100000"/>
              </a:lnSpc>
              <a:spcBef>
                <a:spcPct val="0"/>
              </a:spcBef>
              <a:spcAft>
                <a:spcPct val="0"/>
              </a:spcAft>
              <a:buClrTx/>
              <a:buSzTx/>
              <a:tabLst/>
            </a:pPr>
            <a:r>
              <a:rPr lang="en-US" sz="1800" i="1" dirty="0">
                <a:solidFill>
                  <a:schemeClr val="tx1"/>
                </a:solidFill>
                <a:latin typeface="Arial" charset="0"/>
              </a:rPr>
              <a:t>      ii. Secondary Sector (Industrial Sector)</a:t>
            </a:r>
          </a:p>
          <a:p>
            <a:pPr marL="400050" marR="0" indent="-400050" algn="just" defTabSz="914400" rtl="0" eaLnBrk="0" fontAlgn="base" latinLnBrk="0" hangingPunct="0">
              <a:lnSpc>
                <a:spcPct val="100000"/>
              </a:lnSpc>
              <a:spcBef>
                <a:spcPct val="0"/>
              </a:spcBef>
              <a:spcAft>
                <a:spcPct val="0"/>
              </a:spcAft>
              <a:buClrTx/>
              <a:buSzTx/>
              <a:tabLst/>
            </a:pPr>
            <a:r>
              <a:rPr lang="en-US" sz="1800" i="1" dirty="0">
                <a:solidFill>
                  <a:schemeClr val="tx1"/>
                </a:solidFill>
                <a:latin typeface="Arial" charset="0"/>
              </a:rPr>
              <a:t>     iii.  Tertiary Sector  (Service Sector)</a:t>
            </a:r>
            <a:endParaRPr lang="en-US" sz="1800" i="1" dirty="0">
              <a:solidFill>
                <a:schemeClr val="accent2"/>
              </a:solidFill>
              <a:latin typeface="Arial" charset="0"/>
            </a:endParaRPr>
          </a:p>
        </p:txBody>
      </p:sp>
      <p:sp>
        <p:nvSpPr>
          <p:cNvPr id="14" name="Rounded Rectangle 13"/>
          <p:cNvSpPr/>
          <p:nvPr/>
        </p:nvSpPr>
        <p:spPr bwMode="auto">
          <a:xfrm>
            <a:off x="687977" y="5246950"/>
            <a:ext cx="8138160" cy="1123712"/>
          </a:xfrm>
          <a:prstGeom prst="roundRect">
            <a:avLst/>
          </a:prstGeom>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spAutoFit/>
          </a:bodyPr>
          <a:lstStyle/>
          <a:p>
            <a:pPr marL="400050" marR="0" indent="-400050" algn="just" defTabSz="914400" rtl="0" eaLnBrk="0" fontAlgn="base" latinLnBrk="0" hangingPunct="0">
              <a:lnSpc>
                <a:spcPct val="100000"/>
              </a:lnSpc>
              <a:spcBef>
                <a:spcPct val="0"/>
              </a:spcBef>
              <a:spcAft>
                <a:spcPct val="0"/>
              </a:spcAft>
              <a:buClrTx/>
              <a:buSzTx/>
              <a:buFont typeface="Wingdings" pitchFamily="2" charset="2"/>
              <a:buChar char="Ø"/>
              <a:tabLst/>
            </a:pPr>
            <a:r>
              <a:rPr lang="en-US" sz="2000" dirty="0">
                <a:solidFill>
                  <a:schemeClr val="tx1"/>
                </a:solidFill>
                <a:latin typeface="Arial" charset="0"/>
              </a:rPr>
              <a:t> Depending on the purpose and data availability, these broad sectors of the economy are sub-classified under their sub-categories.</a:t>
            </a:r>
            <a:endParaRPr lang="en-US" sz="2000" i="1" dirty="0">
              <a:solidFill>
                <a:schemeClr val="accent2"/>
              </a:solidFill>
              <a:latin typeface="Arial" charset="0"/>
            </a:endParaRP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20</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to="" calcmode="lin" valueType="num">
                                      <p:cBhvr>
                                        <p:cTn id="12" dur="1" fill="hold"/>
                                        <p:tgtEl>
                                          <p:spTgt spid="1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 to="" calcmode="lin" valueType="num">
                                      <p:cBhvr>
                                        <p:cTn id="22" dur="1" fill="hold"/>
                                        <p:tgtEl>
                                          <p:spTgt spid="1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9"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247114" y="84648"/>
            <a:ext cx="8553450" cy="770964"/>
          </a:xfrm>
          <a:prstGeom prst="rect">
            <a:avLst/>
          </a:prstGeom>
        </p:spPr>
        <p:txBody>
          <a:body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0" cap="none" spc="0" normalizeH="0" baseline="0" noProof="0" dirty="0" err="1">
                <a:ln>
                  <a:noFill/>
                </a:ln>
                <a:solidFill>
                  <a:srgbClr val="3333FF"/>
                </a:solidFill>
                <a:effectLst>
                  <a:outerShdw blurRad="38100" dist="38100" dir="2700000" algn="tl">
                    <a:srgbClr val="C0C0C0"/>
                  </a:outerShdw>
                </a:effectLst>
                <a:uLnTx/>
                <a:uFillTx/>
                <a:latin typeface="+mj-lt"/>
                <a:ea typeface="+mj-ea"/>
                <a:cs typeface="+mj-cs"/>
              </a:rPr>
              <a:t>Cont</a:t>
            </a:r>
            <a:r>
              <a:rPr kumimoji="0" lang="en-US" altLang="en-US" sz="2800" b="1" i="0" u="none" strike="noStrike" kern="0" cap="none" spc="0" normalizeH="0" baseline="0" noProof="0" dirty="0">
                <a:ln>
                  <a:noFill/>
                </a:ln>
                <a:solidFill>
                  <a:srgbClr val="3333FF"/>
                </a:solidFill>
                <a:effectLst>
                  <a:outerShdw blurRad="38100" dist="38100" dir="2700000" algn="tl">
                    <a:srgbClr val="C0C0C0"/>
                  </a:outerShdw>
                </a:effectLst>
                <a:uLnTx/>
                <a:uFillTx/>
                <a:latin typeface="+mj-lt"/>
                <a:ea typeface="+mj-ea"/>
                <a:cs typeface="+mj-cs"/>
              </a:rPr>
              <a:t>…</a:t>
            </a:r>
          </a:p>
        </p:txBody>
      </p:sp>
      <p:sp>
        <p:nvSpPr>
          <p:cNvPr id="6" name="TextBox 5"/>
          <p:cNvSpPr txBox="1"/>
          <p:nvPr/>
        </p:nvSpPr>
        <p:spPr>
          <a:xfrm>
            <a:off x="1828797" y="270075"/>
            <a:ext cx="5943603" cy="400110"/>
          </a:xfrm>
          <a:prstGeom prst="rect">
            <a:avLst/>
          </a:prstGeom>
          <a:noFill/>
        </p:spPr>
        <p:txBody>
          <a:bodyPr wrap="square" rtlCol="0">
            <a:spAutoFit/>
          </a:bodyPr>
          <a:lstStyle/>
          <a:p>
            <a:pPr algn="just"/>
            <a:r>
              <a:rPr lang="en-US" sz="2000" b="1" i="1" dirty="0"/>
              <a:t>Sub – sector classification in Sri Lanka  </a:t>
            </a:r>
          </a:p>
        </p:txBody>
      </p:sp>
      <p:pic>
        <p:nvPicPr>
          <p:cNvPr id="2355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5757" y="670185"/>
            <a:ext cx="4336872" cy="6071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21</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22"/>
                                        </p:tgtEl>
                                        <p:attrNameLst>
                                          <p:attrName>style.visibility</p:attrName>
                                        </p:attrNameLst>
                                      </p:cBhvr>
                                      <p:to>
                                        <p:strVal val="visible"/>
                                      </p:to>
                                    </p:set>
                                    <p:anim calcmode="lin" valueType="num">
                                      <p:cBhvr additive="base">
                                        <p:cTn id="7" dur="500" fill="hold"/>
                                        <p:tgtEl>
                                          <p:spTgt spid="235522"/>
                                        </p:tgtEl>
                                        <p:attrNameLst>
                                          <p:attrName>ppt_x</p:attrName>
                                        </p:attrNameLst>
                                      </p:cBhvr>
                                      <p:tavLst>
                                        <p:tav tm="0">
                                          <p:val>
                                            <p:strVal val="#ppt_x"/>
                                          </p:val>
                                        </p:tav>
                                        <p:tav tm="100000">
                                          <p:val>
                                            <p:strVal val="#ppt_x"/>
                                          </p:val>
                                        </p:tav>
                                      </p:tavLst>
                                    </p:anim>
                                    <p:anim calcmode="lin" valueType="num">
                                      <p:cBhvr additive="base">
                                        <p:cTn id="8" dur="500" fill="hold"/>
                                        <p:tgtEl>
                                          <p:spTgt spid="2355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443784" y="33410"/>
            <a:ext cx="8446931" cy="1325563"/>
          </a:xfrm>
        </p:spPr>
        <p:txBody>
          <a:bodyPr/>
          <a:lstStyle/>
          <a:p>
            <a:pPr eaLnBrk="1" hangingPunct="1"/>
            <a:r>
              <a:rPr lang="en-US" sz="3400" b="1" dirty="0">
                <a:latin typeface="Arial" panose="020B0604020202020204" pitchFamily="34" charset="0"/>
                <a:cs typeface="Arial" panose="020B0604020202020204" pitchFamily="34" charset="0"/>
              </a:rPr>
              <a:t>3.6 Merits of Measuring National Income</a:t>
            </a:r>
          </a:p>
        </p:txBody>
      </p:sp>
      <p:sp>
        <p:nvSpPr>
          <p:cNvPr id="2" name="Rectangle 1"/>
          <p:cNvSpPr/>
          <p:nvPr/>
        </p:nvSpPr>
        <p:spPr>
          <a:xfrm>
            <a:off x="330200" y="1399570"/>
            <a:ext cx="8674100" cy="830997"/>
          </a:xfrm>
          <a:prstGeom prst="rect">
            <a:avLst/>
          </a:prstGeom>
        </p:spPr>
        <p:txBody>
          <a:bodyPr wrap="square">
            <a:spAutoFit/>
          </a:bodyPr>
          <a:lstStyle/>
          <a:p>
            <a:pPr eaLnBrk="1" hangingPunct="1"/>
            <a:r>
              <a:rPr lang="en-US" b="1" dirty="0"/>
              <a:t>Each and every country measure national income because it gives wide range of advantages to the economy</a:t>
            </a:r>
          </a:p>
        </p:txBody>
      </p:sp>
      <p:sp>
        <p:nvSpPr>
          <p:cNvPr id="3" name="Rectangle 2"/>
          <p:cNvSpPr/>
          <p:nvPr/>
        </p:nvSpPr>
        <p:spPr>
          <a:xfrm>
            <a:off x="330200" y="2230567"/>
            <a:ext cx="8204200" cy="830997"/>
          </a:xfrm>
          <a:prstGeom prst="rect">
            <a:avLst/>
          </a:prstGeom>
        </p:spPr>
        <p:txBody>
          <a:bodyPr wrap="square">
            <a:spAutoFit/>
          </a:bodyPr>
          <a:lstStyle/>
          <a:p>
            <a:pPr marL="800100" lvl="1" indent="-342900" eaLnBrk="1" hangingPunct="1">
              <a:buFont typeface="Wingdings" pitchFamily="2" charset="2"/>
              <a:buChar char="ü"/>
            </a:pPr>
            <a:r>
              <a:rPr lang="en-US" dirty="0"/>
              <a:t> It helps to measure and monitor the performance of the overall economy.</a:t>
            </a:r>
          </a:p>
        </p:txBody>
      </p:sp>
      <p:sp>
        <p:nvSpPr>
          <p:cNvPr id="4" name="Rectangle 3"/>
          <p:cNvSpPr/>
          <p:nvPr/>
        </p:nvSpPr>
        <p:spPr>
          <a:xfrm>
            <a:off x="330200" y="3078242"/>
            <a:ext cx="8559800" cy="1200329"/>
          </a:xfrm>
          <a:prstGeom prst="rect">
            <a:avLst/>
          </a:prstGeom>
        </p:spPr>
        <p:txBody>
          <a:bodyPr wrap="square">
            <a:spAutoFit/>
          </a:bodyPr>
          <a:lstStyle/>
          <a:p>
            <a:pPr marL="800100" lvl="1" indent="-342900" eaLnBrk="1" hangingPunct="1">
              <a:buFont typeface="Wingdings" pitchFamily="2" charset="2"/>
              <a:buChar char="ü"/>
            </a:pPr>
            <a:r>
              <a:rPr lang="en-US" dirty="0"/>
              <a:t>National income can used to get an idea of the welfare standard of an individual of a country (through per capita income).</a:t>
            </a:r>
          </a:p>
        </p:txBody>
      </p:sp>
      <p:sp>
        <p:nvSpPr>
          <p:cNvPr id="5" name="Rectangle 4"/>
          <p:cNvSpPr/>
          <p:nvPr/>
        </p:nvSpPr>
        <p:spPr>
          <a:xfrm>
            <a:off x="291563" y="4468322"/>
            <a:ext cx="8356600" cy="830997"/>
          </a:xfrm>
          <a:prstGeom prst="rect">
            <a:avLst/>
          </a:prstGeom>
        </p:spPr>
        <p:txBody>
          <a:bodyPr wrap="square">
            <a:spAutoFit/>
          </a:bodyPr>
          <a:lstStyle/>
          <a:p>
            <a:pPr marL="800100" lvl="1" indent="-342900" eaLnBrk="1" hangingPunct="1">
              <a:buFont typeface="Wingdings" pitchFamily="2" charset="2"/>
              <a:buChar char="ü"/>
            </a:pPr>
            <a:r>
              <a:rPr lang="en-US" dirty="0"/>
              <a:t>National income statistics will be useful to analyze the performance of various sectors of the economy.</a:t>
            </a:r>
          </a:p>
        </p:txBody>
      </p:sp>
      <p:sp>
        <p:nvSpPr>
          <p:cNvPr id="6" name="Rectangle 5"/>
          <p:cNvSpPr/>
          <p:nvPr/>
        </p:nvSpPr>
        <p:spPr>
          <a:xfrm>
            <a:off x="330200" y="5350279"/>
            <a:ext cx="8356600" cy="1200329"/>
          </a:xfrm>
          <a:prstGeom prst="rect">
            <a:avLst/>
          </a:prstGeom>
        </p:spPr>
        <p:txBody>
          <a:bodyPr wrap="square">
            <a:spAutoFit/>
          </a:bodyPr>
          <a:lstStyle/>
          <a:p>
            <a:pPr marL="800100" lvl="1" indent="-342900" eaLnBrk="1" hangingPunct="1">
              <a:buFont typeface="Wingdings" pitchFamily="2" charset="2"/>
              <a:buChar char="ü"/>
            </a:pPr>
            <a:r>
              <a:rPr lang="en-US" dirty="0"/>
              <a:t>National income statistics can be used to compare the level of economy over another country as well as over another period of time.</a:t>
            </a:r>
          </a:p>
        </p:txBody>
      </p:sp>
      <p:sp>
        <p:nvSpPr>
          <p:cNvPr id="7" name="Footer Placeholder 6"/>
          <p:cNvSpPr>
            <a:spLocks noGrp="1"/>
          </p:cNvSpPr>
          <p:nvPr>
            <p:ph type="ftr" sz="quarter" idx="11"/>
          </p:nvPr>
        </p:nvSpPr>
        <p:spPr/>
        <p:txBody>
          <a:bodyPr/>
          <a:lstStyle/>
          <a:p>
            <a:r>
              <a:rPr lang="en-US"/>
              <a:t>BSc/FGS/2022</a:t>
            </a:r>
          </a:p>
        </p:txBody>
      </p:sp>
      <p:sp>
        <p:nvSpPr>
          <p:cNvPr id="8" name="Slide Number Placeholder 7"/>
          <p:cNvSpPr>
            <a:spLocks noGrp="1"/>
          </p:cNvSpPr>
          <p:nvPr>
            <p:ph type="sldNum" sz="quarter" idx="12"/>
          </p:nvPr>
        </p:nvSpPr>
        <p:spPr/>
        <p:txBody>
          <a:bodyPr/>
          <a:lstStyle/>
          <a:p>
            <a:fld id="{74F55D90-0D1F-43D0-8F31-49152F7873AE}" type="slidenum">
              <a:rPr lang="en-US" smtClean="0"/>
              <a:t>22</a:t>
            </a:fld>
            <a:endParaRPr lang="en-US"/>
          </a:p>
        </p:txBody>
      </p:sp>
    </p:spTree>
    <p:extLst>
      <p:ext uri="{BB962C8B-B14F-4D97-AF65-F5344CB8AC3E}">
        <p14:creationId xmlns:p14="http://schemas.microsoft.com/office/powerpoint/2010/main" val="3744330798"/>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barn(inVertical)">
                                      <p:cBhvr>
                                        <p:cTn id="7" dur="500"/>
                                        <p:tgtEl>
                                          <p:spTgt spid="2048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1000"/>
                                        <p:tgtEl>
                                          <p:spTgt spid="6"/>
                                        </p:tgtEl>
                                      </p:cBhvr>
                                    </p:animEffect>
                                    <p:anim calcmode="lin" valueType="num">
                                      <p:cBhvr>
                                        <p:cTn id="41" dur="1000" fill="hold"/>
                                        <p:tgtEl>
                                          <p:spTgt spid="6"/>
                                        </p:tgtEl>
                                        <p:attrNameLst>
                                          <p:attrName>ppt_x</p:attrName>
                                        </p:attrNameLst>
                                      </p:cBhvr>
                                      <p:tavLst>
                                        <p:tav tm="0">
                                          <p:val>
                                            <p:strVal val="#ppt_x"/>
                                          </p:val>
                                        </p:tav>
                                        <p:tav tm="100000">
                                          <p:val>
                                            <p:strVal val="#ppt_x"/>
                                          </p:val>
                                        </p:tav>
                                      </p:tavLst>
                                    </p:anim>
                                    <p:anim calcmode="lin" valueType="num">
                                      <p:cBhvr>
                                        <p:cTn id="4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P spid="2" grpId="0"/>
      <p:bldP spid="3" grpId="0"/>
      <p:bldP spid="4" grpId="0"/>
      <p:bldP spid="5"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216526" y="124807"/>
            <a:ext cx="7886700" cy="1325563"/>
          </a:xfrm>
        </p:spPr>
        <p:txBody>
          <a:bodyPr/>
          <a:lstStyle/>
          <a:p>
            <a:pPr eaLnBrk="1" hangingPunct="1"/>
            <a:r>
              <a:rPr lang="en-US" sz="4400" i="1" dirty="0"/>
              <a:t>Cont.</a:t>
            </a:r>
          </a:p>
        </p:txBody>
      </p:sp>
      <p:sp>
        <p:nvSpPr>
          <p:cNvPr id="2" name="Rectangle 1"/>
          <p:cNvSpPr/>
          <p:nvPr/>
        </p:nvSpPr>
        <p:spPr>
          <a:xfrm>
            <a:off x="685800" y="1628507"/>
            <a:ext cx="8089900" cy="830997"/>
          </a:xfrm>
          <a:prstGeom prst="rect">
            <a:avLst/>
          </a:prstGeom>
        </p:spPr>
        <p:txBody>
          <a:bodyPr wrap="square">
            <a:spAutoFit/>
          </a:bodyPr>
          <a:lstStyle/>
          <a:p>
            <a:pPr marL="800100" lvl="1" indent="-342900" eaLnBrk="1" hangingPunct="1">
              <a:buFont typeface="Wingdings" pitchFamily="2" charset="2"/>
              <a:buChar char="ü"/>
            </a:pPr>
            <a:r>
              <a:rPr lang="en-US" dirty="0"/>
              <a:t>National income statistics can be used in research and development.</a:t>
            </a:r>
          </a:p>
        </p:txBody>
      </p:sp>
      <p:sp>
        <p:nvSpPr>
          <p:cNvPr id="3" name="Rectangle 2"/>
          <p:cNvSpPr/>
          <p:nvPr/>
        </p:nvSpPr>
        <p:spPr>
          <a:xfrm>
            <a:off x="685800" y="2491770"/>
            <a:ext cx="8343900" cy="830997"/>
          </a:xfrm>
          <a:prstGeom prst="rect">
            <a:avLst/>
          </a:prstGeom>
        </p:spPr>
        <p:txBody>
          <a:bodyPr wrap="square">
            <a:spAutoFit/>
          </a:bodyPr>
          <a:lstStyle/>
          <a:p>
            <a:pPr marL="800100" lvl="1" indent="-342900" eaLnBrk="1" hangingPunct="1">
              <a:buFont typeface="Wingdings" pitchFamily="2" charset="2"/>
              <a:buChar char="ü"/>
            </a:pPr>
            <a:r>
              <a:rPr lang="en-US" dirty="0"/>
              <a:t>National income statistics are useful in policy evaluation and policy identification.</a:t>
            </a:r>
          </a:p>
        </p:txBody>
      </p:sp>
      <p:sp>
        <p:nvSpPr>
          <p:cNvPr id="4" name="Rectangle 3"/>
          <p:cNvSpPr/>
          <p:nvPr/>
        </p:nvSpPr>
        <p:spPr>
          <a:xfrm>
            <a:off x="685800" y="3500904"/>
            <a:ext cx="8229600" cy="1200329"/>
          </a:xfrm>
          <a:prstGeom prst="rect">
            <a:avLst/>
          </a:prstGeom>
        </p:spPr>
        <p:txBody>
          <a:bodyPr wrap="square">
            <a:spAutoFit/>
          </a:bodyPr>
          <a:lstStyle/>
          <a:p>
            <a:pPr marL="800100" lvl="1" indent="-342900" eaLnBrk="1" hangingPunct="1">
              <a:buFont typeface="Wingdings" pitchFamily="2" charset="2"/>
              <a:buChar char="ü"/>
            </a:pPr>
            <a:r>
              <a:rPr lang="en-US" dirty="0"/>
              <a:t>National income statistics are useful in monitoring and evaluation of projects and programs at micro level as well at macro level   </a:t>
            </a:r>
          </a:p>
        </p:txBody>
      </p:sp>
      <p:sp>
        <p:nvSpPr>
          <p:cNvPr id="5" name="Footer Placeholder 4"/>
          <p:cNvSpPr>
            <a:spLocks noGrp="1"/>
          </p:cNvSpPr>
          <p:nvPr>
            <p:ph type="ftr" sz="quarter" idx="11"/>
          </p:nvPr>
        </p:nvSpPr>
        <p:spPr/>
        <p:txBody>
          <a:bodyPr/>
          <a:lstStyle/>
          <a:p>
            <a:r>
              <a:rPr lang="en-US"/>
              <a:t>BSc/FGS/2022</a:t>
            </a:r>
          </a:p>
        </p:txBody>
      </p:sp>
      <p:sp>
        <p:nvSpPr>
          <p:cNvPr id="6" name="Slide Number Placeholder 5"/>
          <p:cNvSpPr>
            <a:spLocks noGrp="1"/>
          </p:cNvSpPr>
          <p:nvPr>
            <p:ph type="sldNum" sz="quarter" idx="12"/>
          </p:nvPr>
        </p:nvSpPr>
        <p:spPr/>
        <p:txBody>
          <a:bodyPr/>
          <a:lstStyle/>
          <a:p>
            <a:fld id="{74F55D90-0D1F-43D0-8F31-49152F7873AE}" type="slidenum">
              <a:rPr lang="en-US" smtClean="0"/>
              <a:t>23</a:t>
            </a:fld>
            <a:endParaRPr lang="en-US"/>
          </a:p>
        </p:txBody>
      </p:sp>
    </p:spTree>
    <p:extLst>
      <p:ext uri="{BB962C8B-B14F-4D97-AF65-F5344CB8AC3E}">
        <p14:creationId xmlns:p14="http://schemas.microsoft.com/office/powerpoint/2010/main" val="412770115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85750" y="304800"/>
            <a:ext cx="8553450" cy="1143000"/>
          </a:xfrm>
          <a:prstGeom prst="rect">
            <a:avLst/>
          </a:prstGeom>
        </p:spPr>
        <p:txBody>
          <a:bodyPr/>
          <a:lstStyle>
            <a:lvl1pPr algn="ctr" rtl="0" eaLnBrk="0" fontAlgn="base" hangingPunct="0">
              <a:spcBef>
                <a:spcPct val="0"/>
              </a:spcBef>
              <a:spcAft>
                <a:spcPct val="0"/>
              </a:spcAft>
              <a:defRPr sz="4800" b="1">
                <a:solidFill>
                  <a:srgbClr val="3333FF"/>
                </a:solidFill>
                <a:latin typeface="+mj-lt"/>
                <a:ea typeface="+mj-ea"/>
                <a:cs typeface="+mj-cs"/>
              </a:defRPr>
            </a:lvl1pPr>
            <a:lvl2pPr algn="ctr" rtl="0" eaLnBrk="0" fontAlgn="base" hangingPunct="0">
              <a:spcBef>
                <a:spcPct val="0"/>
              </a:spcBef>
              <a:spcAft>
                <a:spcPct val="0"/>
              </a:spcAft>
              <a:defRPr sz="4800" b="1">
                <a:solidFill>
                  <a:srgbClr val="3333FF"/>
                </a:solidFill>
                <a:latin typeface="Arial" charset="0"/>
              </a:defRPr>
            </a:lvl2pPr>
            <a:lvl3pPr algn="ctr" rtl="0" eaLnBrk="0" fontAlgn="base" hangingPunct="0">
              <a:spcBef>
                <a:spcPct val="0"/>
              </a:spcBef>
              <a:spcAft>
                <a:spcPct val="0"/>
              </a:spcAft>
              <a:defRPr sz="4800" b="1">
                <a:solidFill>
                  <a:srgbClr val="3333FF"/>
                </a:solidFill>
                <a:latin typeface="Arial" charset="0"/>
              </a:defRPr>
            </a:lvl3pPr>
            <a:lvl4pPr algn="ctr" rtl="0" eaLnBrk="0" fontAlgn="base" hangingPunct="0">
              <a:spcBef>
                <a:spcPct val="0"/>
              </a:spcBef>
              <a:spcAft>
                <a:spcPct val="0"/>
              </a:spcAft>
              <a:defRPr sz="4800" b="1">
                <a:solidFill>
                  <a:srgbClr val="3333FF"/>
                </a:solidFill>
                <a:latin typeface="Arial" charset="0"/>
              </a:defRPr>
            </a:lvl4pPr>
            <a:lvl5pPr algn="ctr" rtl="0" eaLnBrk="0" fontAlgn="base" hangingPunct="0">
              <a:spcBef>
                <a:spcPct val="0"/>
              </a:spcBef>
              <a:spcAft>
                <a:spcPct val="0"/>
              </a:spcAft>
              <a:defRPr sz="4800" b="1">
                <a:solidFill>
                  <a:srgbClr val="3333FF"/>
                </a:solidFill>
                <a:latin typeface="Arial" charset="0"/>
              </a:defRPr>
            </a:lvl5pPr>
            <a:lvl6pPr marL="457200" algn="ctr" rtl="0" eaLnBrk="0" fontAlgn="base" hangingPunct="0">
              <a:spcBef>
                <a:spcPct val="0"/>
              </a:spcBef>
              <a:spcAft>
                <a:spcPct val="0"/>
              </a:spcAft>
              <a:defRPr sz="4800" b="1">
                <a:solidFill>
                  <a:srgbClr val="3333FF"/>
                </a:solidFill>
                <a:latin typeface="Arial" charset="0"/>
              </a:defRPr>
            </a:lvl6pPr>
            <a:lvl7pPr marL="914400" algn="ctr" rtl="0" eaLnBrk="0" fontAlgn="base" hangingPunct="0">
              <a:spcBef>
                <a:spcPct val="0"/>
              </a:spcBef>
              <a:spcAft>
                <a:spcPct val="0"/>
              </a:spcAft>
              <a:defRPr sz="4800" b="1">
                <a:solidFill>
                  <a:srgbClr val="3333FF"/>
                </a:solidFill>
                <a:latin typeface="Arial" charset="0"/>
              </a:defRPr>
            </a:lvl7pPr>
            <a:lvl8pPr marL="1371600" algn="ctr" rtl="0" eaLnBrk="0" fontAlgn="base" hangingPunct="0">
              <a:spcBef>
                <a:spcPct val="0"/>
              </a:spcBef>
              <a:spcAft>
                <a:spcPct val="0"/>
              </a:spcAft>
              <a:defRPr sz="4800" b="1">
                <a:solidFill>
                  <a:srgbClr val="3333FF"/>
                </a:solidFill>
                <a:latin typeface="Arial" charset="0"/>
              </a:defRPr>
            </a:lvl8pPr>
            <a:lvl9pPr marL="1828800" algn="ctr" rtl="0" eaLnBrk="0" fontAlgn="base" hangingPunct="0">
              <a:spcBef>
                <a:spcPct val="0"/>
              </a:spcBef>
              <a:spcAft>
                <a:spcPct val="0"/>
              </a:spcAft>
              <a:defRPr sz="4800" b="1">
                <a:solidFill>
                  <a:srgbClr val="3333FF"/>
                </a:solidFill>
                <a:latin typeface="Arial" charset="0"/>
              </a:defRPr>
            </a:lvl9pPr>
          </a:lstStyle>
          <a:p>
            <a:pPr eaLnBrk="1" hangingPunct="1"/>
            <a:r>
              <a:rPr lang="en-US" sz="3200" dirty="0">
                <a:latin typeface="Arial" panose="020B0604020202020204" pitchFamily="34" charset="0"/>
                <a:cs typeface="Arial" panose="020B0604020202020204" pitchFamily="34" charset="0"/>
              </a:rPr>
              <a:t>3</a:t>
            </a:r>
            <a:r>
              <a:rPr lang="en-US" sz="3200">
                <a:latin typeface="Arial" panose="020B0604020202020204" pitchFamily="34" charset="0"/>
                <a:cs typeface="Arial" panose="020B0604020202020204" pitchFamily="34" charset="0"/>
              </a:rPr>
              <a:t>.7 </a:t>
            </a:r>
            <a:r>
              <a:rPr lang="en-US" sz="3200" dirty="0">
                <a:latin typeface="Arial" panose="020B0604020202020204" pitchFamily="34" charset="0"/>
                <a:cs typeface="Arial" panose="020B0604020202020204" pitchFamily="34" charset="0"/>
              </a:rPr>
              <a:t>Limitations of Estimation of National Income</a:t>
            </a:r>
          </a:p>
        </p:txBody>
      </p:sp>
      <p:sp>
        <p:nvSpPr>
          <p:cNvPr id="5" name="Rectangle 4"/>
          <p:cNvSpPr/>
          <p:nvPr/>
        </p:nvSpPr>
        <p:spPr>
          <a:xfrm>
            <a:off x="285750" y="1541105"/>
            <a:ext cx="8498673" cy="830997"/>
          </a:xfrm>
          <a:prstGeom prst="rect">
            <a:avLst/>
          </a:prstGeom>
        </p:spPr>
        <p:txBody>
          <a:bodyPr wrap="none">
            <a:spAutoFit/>
          </a:bodyPr>
          <a:lstStyle/>
          <a:p>
            <a:pPr marL="342900" indent="-342900" eaLnBrk="1" hangingPunct="1">
              <a:buFont typeface="Wingdings" pitchFamily="2" charset="2"/>
              <a:buChar char="q"/>
            </a:pPr>
            <a:r>
              <a:rPr lang="en-US" dirty="0"/>
              <a:t> GDP ignores transactions that do not take place in formal </a:t>
            </a:r>
          </a:p>
          <a:p>
            <a:pPr eaLnBrk="1" hangingPunct="1"/>
            <a:r>
              <a:rPr lang="en-US" dirty="0"/>
              <a:t>     markets.</a:t>
            </a:r>
          </a:p>
        </p:txBody>
      </p:sp>
      <p:sp>
        <p:nvSpPr>
          <p:cNvPr id="11" name="Rectangle 10"/>
          <p:cNvSpPr/>
          <p:nvPr/>
        </p:nvSpPr>
        <p:spPr>
          <a:xfrm>
            <a:off x="759239" y="2372102"/>
            <a:ext cx="7896714" cy="707886"/>
          </a:xfrm>
          <a:prstGeom prst="rect">
            <a:avLst/>
          </a:prstGeom>
        </p:spPr>
        <p:txBody>
          <a:bodyPr wrap="none">
            <a:spAutoFit/>
          </a:bodyPr>
          <a:lstStyle/>
          <a:p>
            <a:pPr marL="342900" indent="-342900" eaLnBrk="1" hangingPunct="1">
              <a:buFont typeface="Wingdings" panose="05000000000000000000" pitchFamily="2" charset="2"/>
              <a:buChar char="ü"/>
            </a:pPr>
            <a:r>
              <a:rPr lang="en-US" sz="2000" dirty="0"/>
              <a:t>Ex. Services such as cleaning, cooking, providing free child care </a:t>
            </a:r>
          </a:p>
          <a:p>
            <a:pPr eaLnBrk="1" hangingPunct="1"/>
            <a:r>
              <a:rPr lang="en-US" sz="2000" dirty="0"/>
              <a:t>     that people do for themselves in their homes. </a:t>
            </a:r>
          </a:p>
        </p:txBody>
      </p:sp>
      <p:sp>
        <p:nvSpPr>
          <p:cNvPr id="12" name="Rectangle 11"/>
          <p:cNvSpPr/>
          <p:nvPr/>
        </p:nvSpPr>
        <p:spPr>
          <a:xfrm>
            <a:off x="340527" y="3203099"/>
            <a:ext cx="5471754" cy="461665"/>
          </a:xfrm>
          <a:prstGeom prst="rect">
            <a:avLst/>
          </a:prstGeom>
        </p:spPr>
        <p:txBody>
          <a:bodyPr wrap="none">
            <a:spAutoFit/>
          </a:bodyPr>
          <a:lstStyle/>
          <a:p>
            <a:pPr marL="342900" indent="-342900" eaLnBrk="1" hangingPunct="1">
              <a:buFont typeface="Wingdings" pitchFamily="2" charset="2"/>
              <a:buChar char="q"/>
            </a:pPr>
            <a:r>
              <a:rPr lang="en-US" dirty="0"/>
              <a:t> Leisure time is not included in GDP.</a:t>
            </a:r>
          </a:p>
        </p:txBody>
      </p:sp>
      <p:sp>
        <p:nvSpPr>
          <p:cNvPr id="13" name="Rectangle 12"/>
          <p:cNvSpPr/>
          <p:nvPr/>
        </p:nvSpPr>
        <p:spPr>
          <a:xfrm>
            <a:off x="821486" y="3683602"/>
            <a:ext cx="8084264" cy="1015663"/>
          </a:xfrm>
          <a:prstGeom prst="rect">
            <a:avLst/>
          </a:prstGeom>
        </p:spPr>
        <p:txBody>
          <a:bodyPr wrap="none">
            <a:spAutoFit/>
          </a:bodyPr>
          <a:lstStyle/>
          <a:p>
            <a:pPr marL="342900" indent="-342900" eaLnBrk="1" hangingPunct="1">
              <a:buFont typeface="Wingdings" panose="05000000000000000000" pitchFamily="2" charset="2"/>
              <a:buChar char="ü"/>
            </a:pPr>
            <a:r>
              <a:rPr lang="en-US" sz="2000" dirty="0"/>
              <a:t>Leisure time is an economic good that adds to our economic </a:t>
            </a:r>
          </a:p>
          <a:p>
            <a:pPr eaLnBrk="1" hangingPunct="1"/>
            <a:r>
              <a:rPr lang="en-US" sz="2000" dirty="0"/>
              <a:t>     welfare. But our leisure time along with other non-market activities </a:t>
            </a:r>
          </a:p>
          <a:p>
            <a:pPr eaLnBrk="1" hangingPunct="1"/>
            <a:r>
              <a:rPr lang="en-US" sz="2000" dirty="0"/>
              <a:t>     is ignored in GDP accounting. </a:t>
            </a:r>
          </a:p>
        </p:txBody>
      </p:sp>
      <p:sp>
        <p:nvSpPr>
          <p:cNvPr id="14" name="Rectangle 13"/>
          <p:cNvSpPr/>
          <p:nvPr/>
        </p:nvSpPr>
        <p:spPr>
          <a:xfrm>
            <a:off x="351258" y="4759297"/>
            <a:ext cx="8873391" cy="830997"/>
          </a:xfrm>
          <a:prstGeom prst="rect">
            <a:avLst/>
          </a:prstGeom>
        </p:spPr>
        <p:txBody>
          <a:bodyPr wrap="none">
            <a:spAutoFit/>
          </a:bodyPr>
          <a:lstStyle/>
          <a:p>
            <a:pPr marL="342900" indent="-342900" eaLnBrk="1" hangingPunct="1">
              <a:buFont typeface="Wingdings" pitchFamily="2" charset="2"/>
              <a:buChar char="q"/>
            </a:pPr>
            <a:r>
              <a:rPr lang="en-US" dirty="0"/>
              <a:t> GDP ignores the underground economy, where transactions </a:t>
            </a:r>
          </a:p>
          <a:p>
            <a:pPr eaLnBrk="1" hangingPunct="1"/>
            <a:r>
              <a:rPr lang="en-US" dirty="0"/>
              <a:t>     are not reported to official authorities.</a:t>
            </a:r>
          </a:p>
        </p:txBody>
      </p:sp>
      <p:sp>
        <p:nvSpPr>
          <p:cNvPr id="15" name="Rectangle 14"/>
          <p:cNvSpPr/>
          <p:nvPr/>
        </p:nvSpPr>
        <p:spPr>
          <a:xfrm>
            <a:off x="870854" y="5574651"/>
            <a:ext cx="7999306" cy="1015663"/>
          </a:xfrm>
          <a:prstGeom prst="rect">
            <a:avLst/>
          </a:prstGeom>
        </p:spPr>
        <p:txBody>
          <a:bodyPr wrap="none">
            <a:spAutoFit/>
          </a:bodyPr>
          <a:lstStyle/>
          <a:p>
            <a:pPr marL="342900" indent="-342900" eaLnBrk="1" hangingPunct="1">
              <a:buFont typeface="Wingdings" panose="05000000000000000000" pitchFamily="2" charset="2"/>
              <a:buChar char="ü"/>
            </a:pPr>
            <a:r>
              <a:rPr lang="en-US" sz="2000" dirty="0"/>
              <a:t>Ex.. Production and distribution of illegal drugs, using illegal labor </a:t>
            </a:r>
          </a:p>
          <a:p>
            <a:pPr eaLnBrk="1" hangingPunct="1"/>
            <a:r>
              <a:rPr lang="en-US" sz="2000" dirty="0"/>
              <a:t>     that is paid less than the minimum wage, jobs done for cash to </a:t>
            </a:r>
          </a:p>
          <a:p>
            <a:pPr eaLnBrk="1" hangingPunct="1"/>
            <a:r>
              <a:rPr lang="en-US" sz="2000" dirty="0"/>
              <a:t>     avoid paying income taxes, etc…</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24</a:t>
            </a:fld>
            <a:endParaRPr lang="en-US"/>
          </a:p>
        </p:txBody>
      </p:sp>
    </p:spTree>
    <p:extLst>
      <p:ext uri="{BB962C8B-B14F-4D97-AF65-F5344CB8AC3E}">
        <p14:creationId xmlns:p14="http://schemas.microsoft.com/office/powerpoint/2010/main" val="4111393702"/>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barn(inVertical)">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p:bldP spid="13" grpId="0"/>
      <p:bldP spid="14" grpId="0"/>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85750" y="304800"/>
            <a:ext cx="8553450" cy="1143000"/>
          </a:xfrm>
          <a:prstGeom prst="rect">
            <a:avLst/>
          </a:prstGeom>
        </p:spPr>
        <p:txBody>
          <a:bodyPr/>
          <a:lstStyle>
            <a:lvl1pPr algn="ctr" rtl="0" eaLnBrk="0" fontAlgn="base" hangingPunct="0">
              <a:spcBef>
                <a:spcPct val="0"/>
              </a:spcBef>
              <a:spcAft>
                <a:spcPct val="0"/>
              </a:spcAft>
              <a:defRPr sz="4800" b="1">
                <a:solidFill>
                  <a:srgbClr val="3333FF"/>
                </a:solidFill>
                <a:latin typeface="+mj-lt"/>
                <a:ea typeface="+mj-ea"/>
                <a:cs typeface="+mj-cs"/>
              </a:defRPr>
            </a:lvl1pPr>
            <a:lvl2pPr algn="ctr" rtl="0" eaLnBrk="0" fontAlgn="base" hangingPunct="0">
              <a:spcBef>
                <a:spcPct val="0"/>
              </a:spcBef>
              <a:spcAft>
                <a:spcPct val="0"/>
              </a:spcAft>
              <a:defRPr sz="4800" b="1">
                <a:solidFill>
                  <a:srgbClr val="3333FF"/>
                </a:solidFill>
                <a:latin typeface="Arial" charset="0"/>
              </a:defRPr>
            </a:lvl2pPr>
            <a:lvl3pPr algn="ctr" rtl="0" eaLnBrk="0" fontAlgn="base" hangingPunct="0">
              <a:spcBef>
                <a:spcPct val="0"/>
              </a:spcBef>
              <a:spcAft>
                <a:spcPct val="0"/>
              </a:spcAft>
              <a:defRPr sz="4800" b="1">
                <a:solidFill>
                  <a:srgbClr val="3333FF"/>
                </a:solidFill>
                <a:latin typeface="Arial" charset="0"/>
              </a:defRPr>
            </a:lvl3pPr>
            <a:lvl4pPr algn="ctr" rtl="0" eaLnBrk="0" fontAlgn="base" hangingPunct="0">
              <a:spcBef>
                <a:spcPct val="0"/>
              </a:spcBef>
              <a:spcAft>
                <a:spcPct val="0"/>
              </a:spcAft>
              <a:defRPr sz="4800" b="1">
                <a:solidFill>
                  <a:srgbClr val="3333FF"/>
                </a:solidFill>
                <a:latin typeface="Arial" charset="0"/>
              </a:defRPr>
            </a:lvl4pPr>
            <a:lvl5pPr algn="ctr" rtl="0" eaLnBrk="0" fontAlgn="base" hangingPunct="0">
              <a:spcBef>
                <a:spcPct val="0"/>
              </a:spcBef>
              <a:spcAft>
                <a:spcPct val="0"/>
              </a:spcAft>
              <a:defRPr sz="4800" b="1">
                <a:solidFill>
                  <a:srgbClr val="3333FF"/>
                </a:solidFill>
                <a:latin typeface="Arial" charset="0"/>
              </a:defRPr>
            </a:lvl5pPr>
            <a:lvl6pPr marL="457200" algn="ctr" rtl="0" eaLnBrk="0" fontAlgn="base" hangingPunct="0">
              <a:spcBef>
                <a:spcPct val="0"/>
              </a:spcBef>
              <a:spcAft>
                <a:spcPct val="0"/>
              </a:spcAft>
              <a:defRPr sz="4800" b="1">
                <a:solidFill>
                  <a:srgbClr val="3333FF"/>
                </a:solidFill>
                <a:latin typeface="Arial" charset="0"/>
              </a:defRPr>
            </a:lvl6pPr>
            <a:lvl7pPr marL="914400" algn="ctr" rtl="0" eaLnBrk="0" fontAlgn="base" hangingPunct="0">
              <a:spcBef>
                <a:spcPct val="0"/>
              </a:spcBef>
              <a:spcAft>
                <a:spcPct val="0"/>
              </a:spcAft>
              <a:defRPr sz="4800" b="1">
                <a:solidFill>
                  <a:srgbClr val="3333FF"/>
                </a:solidFill>
                <a:latin typeface="Arial" charset="0"/>
              </a:defRPr>
            </a:lvl7pPr>
            <a:lvl8pPr marL="1371600" algn="ctr" rtl="0" eaLnBrk="0" fontAlgn="base" hangingPunct="0">
              <a:spcBef>
                <a:spcPct val="0"/>
              </a:spcBef>
              <a:spcAft>
                <a:spcPct val="0"/>
              </a:spcAft>
              <a:defRPr sz="4800" b="1">
                <a:solidFill>
                  <a:srgbClr val="3333FF"/>
                </a:solidFill>
                <a:latin typeface="Arial" charset="0"/>
              </a:defRPr>
            </a:lvl8pPr>
            <a:lvl9pPr marL="1828800" algn="ctr" rtl="0" eaLnBrk="0" fontAlgn="base" hangingPunct="0">
              <a:spcBef>
                <a:spcPct val="0"/>
              </a:spcBef>
              <a:spcAft>
                <a:spcPct val="0"/>
              </a:spcAft>
              <a:defRPr sz="4800" b="1">
                <a:solidFill>
                  <a:srgbClr val="3333FF"/>
                </a:solidFill>
                <a:latin typeface="Arial" charset="0"/>
              </a:defRPr>
            </a:lvl9pPr>
          </a:lstStyle>
          <a:p>
            <a:pPr algn="l" eaLnBrk="1" hangingPunct="1"/>
            <a:r>
              <a:rPr lang="en-US" sz="3200" dirty="0" err="1"/>
              <a:t>Cont</a:t>
            </a:r>
            <a:r>
              <a:rPr lang="en-US" sz="3200" dirty="0"/>
              <a:t>….</a:t>
            </a:r>
          </a:p>
        </p:txBody>
      </p:sp>
      <p:sp>
        <p:nvSpPr>
          <p:cNvPr id="5" name="Rectangle 4"/>
          <p:cNvSpPr/>
          <p:nvPr/>
        </p:nvSpPr>
        <p:spPr>
          <a:xfrm>
            <a:off x="340527" y="1541105"/>
            <a:ext cx="8671798" cy="830997"/>
          </a:xfrm>
          <a:prstGeom prst="rect">
            <a:avLst/>
          </a:prstGeom>
        </p:spPr>
        <p:txBody>
          <a:bodyPr wrap="none">
            <a:spAutoFit/>
          </a:bodyPr>
          <a:lstStyle/>
          <a:p>
            <a:pPr marL="342900" indent="-342900" eaLnBrk="1" hangingPunct="1">
              <a:buFont typeface="Wingdings" pitchFamily="2" charset="2"/>
              <a:buChar char="q"/>
            </a:pPr>
            <a:r>
              <a:rPr lang="en-US" dirty="0"/>
              <a:t> GDP does not value the changes in environment that occur</a:t>
            </a:r>
          </a:p>
          <a:p>
            <a:pPr eaLnBrk="1" hangingPunct="1"/>
            <a:r>
              <a:rPr lang="en-US" dirty="0"/>
              <a:t>      in the production of output.</a:t>
            </a:r>
          </a:p>
        </p:txBody>
      </p:sp>
      <p:sp>
        <p:nvSpPr>
          <p:cNvPr id="11" name="Rectangle 10"/>
          <p:cNvSpPr/>
          <p:nvPr/>
        </p:nvSpPr>
        <p:spPr>
          <a:xfrm>
            <a:off x="759239" y="2372102"/>
            <a:ext cx="8122736" cy="400110"/>
          </a:xfrm>
          <a:prstGeom prst="rect">
            <a:avLst/>
          </a:prstGeom>
        </p:spPr>
        <p:txBody>
          <a:bodyPr wrap="none">
            <a:spAutoFit/>
          </a:bodyPr>
          <a:lstStyle/>
          <a:p>
            <a:pPr marL="342900" indent="-342900" eaLnBrk="1" hangingPunct="1">
              <a:buFont typeface="Wingdings" panose="05000000000000000000" pitchFamily="2" charset="2"/>
              <a:buChar char="ü"/>
            </a:pPr>
            <a:r>
              <a:rPr lang="en-US" sz="2000" dirty="0"/>
              <a:t>Economic activity directly influences the quality of the environment. </a:t>
            </a:r>
          </a:p>
        </p:txBody>
      </p:sp>
      <p:sp>
        <p:nvSpPr>
          <p:cNvPr id="12" name="Rectangle 11"/>
          <p:cNvSpPr/>
          <p:nvPr/>
        </p:nvSpPr>
        <p:spPr>
          <a:xfrm>
            <a:off x="340527" y="2958398"/>
            <a:ext cx="8174867" cy="461665"/>
          </a:xfrm>
          <a:prstGeom prst="rect">
            <a:avLst/>
          </a:prstGeom>
        </p:spPr>
        <p:txBody>
          <a:bodyPr wrap="none">
            <a:spAutoFit/>
          </a:bodyPr>
          <a:lstStyle/>
          <a:p>
            <a:pPr marL="342900" indent="-342900" eaLnBrk="1" hangingPunct="1">
              <a:buFont typeface="Wingdings" pitchFamily="2" charset="2"/>
              <a:buChar char="q"/>
            </a:pPr>
            <a:r>
              <a:rPr lang="en-US" dirty="0"/>
              <a:t> GDP is a qualitative rather than a quantitative measure.</a:t>
            </a:r>
          </a:p>
        </p:txBody>
      </p:sp>
      <p:sp>
        <p:nvSpPr>
          <p:cNvPr id="13" name="Rectangle 12"/>
          <p:cNvSpPr/>
          <p:nvPr/>
        </p:nvSpPr>
        <p:spPr>
          <a:xfrm>
            <a:off x="757091" y="3438901"/>
            <a:ext cx="8329524" cy="400110"/>
          </a:xfrm>
          <a:prstGeom prst="rect">
            <a:avLst/>
          </a:prstGeom>
        </p:spPr>
        <p:txBody>
          <a:bodyPr wrap="none">
            <a:spAutoFit/>
          </a:bodyPr>
          <a:lstStyle/>
          <a:p>
            <a:pPr marL="342900" indent="-342900" eaLnBrk="1" hangingPunct="1">
              <a:buFont typeface="Wingdings" panose="05000000000000000000" pitchFamily="2" charset="2"/>
              <a:buChar char="ü"/>
            </a:pPr>
            <a:r>
              <a:rPr lang="en-US" sz="2000" dirty="0"/>
              <a:t>It does not accurately reflect improvements in the quality of products </a:t>
            </a:r>
          </a:p>
        </p:txBody>
      </p:sp>
      <p:sp>
        <p:nvSpPr>
          <p:cNvPr id="9" name="Rectangle 8"/>
          <p:cNvSpPr/>
          <p:nvPr/>
        </p:nvSpPr>
        <p:spPr>
          <a:xfrm>
            <a:off x="340527" y="4006359"/>
            <a:ext cx="7226300" cy="830997"/>
          </a:xfrm>
          <a:prstGeom prst="rect">
            <a:avLst/>
          </a:prstGeom>
        </p:spPr>
        <p:txBody>
          <a:bodyPr wrap="square">
            <a:spAutoFit/>
          </a:bodyPr>
          <a:lstStyle/>
          <a:p>
            <a:pPr marL="342900" indent="-342900" eaLnBrk="1" hangingPunct="1">
              <a:buFont typeface="Wingdings" pitchFamily="2" charset="2"/>
              <a:buChar char="q"/>
            </a:pPr>
            <a:r>
              <a:rPr lang="en-US" dirty="0"/>
              <a:t> There can be over estimation due the wrong reports with different motives.</a:t>
            </a:r>
          </a:p>
        </p:txBody>
      </p:sp>
      <p:sp>
        <p:nvSpPr>
          <p:cNvPr id="10" name="Rectangle 9"/>
          <p:cNvSpPr/>
          <p:nvPr/>
        </p:nvSpPr>
        <p:spPr>
          <a:xfrm>
            <a:off x="343620" y="4955170"/>
            <a:ext cx="7416800" cy="461665"/>
          </a:xfrm>
          <a:prstGeom prst="rect">
            <a:avLst/>
          </a:prstGeom>
        </p:spPr>
        <p:txBody>
          <a:bodyPr wrap="square">
            <a:spAutoFit/>
          </a:bodyPr>
          <a:lstStyle/>
          <a:p>
            <a:pPr marL="342900" indent="-342900">
              <a:buFont typeface="Wingdings" pitchFamily="2" charset="2"/>
              <a:buChar char="q"/>
            </a:pPr>
            <a:r>
              <a:rPr lang="en-US" dirty="0"/>
              <a:t> Survey errors (investigator mistakes) are possible</a:t>
            </a:r>
            <a:endParaRPr lang="en-GB" dirty="0"/>
          </a:p>
        </p:txBody>
      </p:sp>
      <p:sp>
        <p:nvSpPr>
          <p:cNvPr id="16" name="Rectangle 15"/>
          <p:cNvSpPr/>
          <p:nvPr/>
        </p:nvSpPr>
        <p:spPr>
          <a:xfrm>
            <a:off x="372878" y="5558936"/>
            <a:ext cx="4023858" cy="461665"/>
          </a:xfrm>
          <a:prstGeom prst="rect">
            <a:avLst/>
          </a:prstGeom>
        </p:spPr>
        <p:txBody>
          <a:bodyPr wrap="none">
            <a:spAutoFit/>
          </a:bodyPr>
          <a:lstStyle/>
          <a:p>
            <a:pPr marL="342900" indent="-342900" eaLnBrk="1" hangingPunct="1">
              <a:buFont typeface="Wingdings" pitchFamily="2" charset="2"/>
              <a:buChar char="q"/>
            </a:pPr>
            <a:r>
              <a:rPr lang="en-US" dirty="0"/>
              <a:t>  Politicization is possible.</a:t>
            </a:r>
          </a:p>
        </p:txBody>
      </p:sp>
      <p:sp>
        <p:nvSpPr>
          <p:cNvPr id="2" name="Footer Placeholder 1"/>
          <p:cNvSpPr>
            <a:spLocks noGrp="1"/>
          </p:cNvSpPr>
          <p:nvPr>
            <p:ph type="ftr" sz="quarter" idx="11"/>
          </p:nvPr>
        </p:nvSpPr>
        <p:spPr/>
        <p:txBody>
          <a:bodyPr/>
          <a:lstStyle/>
          <a:p>
            <a:r>
              <a:rPr lang="en-US"/>
              <a:t>BSc/FGS/2022</a:t>
            </a:r>
          </a:p>
        </p:txBody>
      </p:sp>
      <p:sp>
        <p:nvSpPr>
          <p:cNvPr id="3" name="Slide Number Placeholder 2"/>
          <p:cNvSpPr>
            <a:spLocks noGrp="1"/>
          </p:cNvSpPr>
          <p:nvPr>
            <p:ph type="sldNum" sz="quarter" idx="12"/>
          </p:nvPr>
        </p:nvSpPr>
        <p:spPr/>
        <p:txBody>
          <a:bodyPr/>
          <a:lstStyle/>
          <a:p>
            <a:fld id="{74F55D90-0D1F-43D0-8F31-49152F7873AE}" type="slidenum">
              <a:rPr lang="en-US" smtClean="0"/>
              <a:t>25</a:t>
            </a:fld>
            <a:endParaRPr lang="en-US"/>
          </a:p>
        </p:txBody>
      </p:sp>
    </p:spTree>
    <p:extLst>
      <p:ext uri="{BB962C8B-B14F-4D97-AF65-F5344CB8AC3E}">
        <p14:creationId xmlns:p14="http://schemas.microsoft.com/office/powerpoint/2010/main" val="2918262451"/>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arn(inVertical)">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barn(inVertical)">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arn(inVertical)">
                                      <p:cBhvr>
                                        <p:cTn id="4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p:bldP spid="13" grpId="0"/>
      <p:bldP spid="9" grpId="0"/>
      <p:bldP spid="10" grpId="0"/>
      <p:bldP spid="1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3667</TotalTime>
  <Words>2557</Words>
  <Application>Microsoft Macintosh PowerPoint</Application>
  <PresentationFormat>On-screen Show (4:3)</PresentationFormat>
  <Paragraphs>273</Paragraphs>
  <Slides>25</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3" baseType="lpstr">
      <vt:lpstr>Arial</vt:lpstr>
      <vt:lpstr>Calibri</vt:lpstr>
      <vt:lpstr>Calibri Light</vt:lpstr>
      <vt:lpstr>Telugu MN</vt:lpstr>
      <vt:lpstr>Times New Roman</vt:lpstr>
      <vt:lpstr>Wingdings</vt:lpstr>
      <vt:lpstr>Office Theme</vt:lpstr>
      <vt:lpstr>Equation</vt:lpstr>
      <vt:lpstr> MACROECONOMICS   Lecture 03: Measuring National Income  </vt:lpstr>
      <vt:lpstr>PowerPoint Presentation</vt:lpstr>
      <vt:lpstr>3.1 Introduction </vt:lpstr>
      <vt:lpstr>3.2 Some Concepts related to National Income</vt:lpstr>
      <vt:lpstr>PowerPoint Presentation</vt:lpstr>
      <vt:lpstr>Cont….</vt:lpstr>
      <vt:lpstr>PowerPoint Presentation</vt:lpstr>
      <vt:lpstr>PowerPoint Presentation</vt:lpstr>
      <vt:lpstr>PowerPoint Presentation</vt:lpstr>
      <vt:lpstr>3.3 National Income Measures</vt:lpstr>
      <vt:lpstr>Cont…</vt:lpstr>
      <vt:lpstr>Cont…</vt:lpstr>
      <vt:lpstr>Cont…</vt:lpstr>
      <vt:lpstr>III. National Income Measures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3.6 Merits of Measuring National Income</vt:lpstr>
      <vt:lpstr>Cont.</vt:lpstr>
      <vt:lpstr>PowerPoint Presentation</vt:lpstr>
      <vt:lpstr>PowerPoint Presentation</vt:lpstr>
    </vt:vector>
  </TitlesOfParts>
  <Company>Rose State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Faculty/Staff</dc:creator>
  <cp:lastModifiedBy>Dr. Hemantha Premarathne</cp:lastModifiedBy>
  <cp:revision>183</cp:revision>
  <dcterms:created xsi:type="dcterms:W3CDTF">1999-11-02T21:02:05Z</dcterms:created>
  <dcterms:modified xsi:type="dcterms:W3CDTF">2022-09-18T01:09:31Z</dcterms:modified>
</cp:coreProperties>
</file>