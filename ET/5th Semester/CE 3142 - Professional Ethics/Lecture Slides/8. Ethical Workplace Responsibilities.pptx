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Lst>
  <p:notesMasterIdLst>
    <p:notesMasterId r:id="rId34"/>
  </p:notesMasterIdLst>
  <p:sldIdLst>
    <p:sldId id="256" r:id="rId2"/>
    <p:sldId id="267" r:id="rId3"/>
    <p:sldId id="284" r:id="rId4"/>
    <p:sldId id="287" r:id="rId5"/>
    <p:sldId id="286" r:id="rId6"/>
    <p:sldId id="259" r:id="rId7"/>
    <p:sldId id="257" r:id="rId8"/>
    <p:sldId id="290" r:id="rId9"/>
    <p:sldId id="258" r:id="rId10"/>
    <p:sldId id="260" r:id="rId11"/>
    <p:sldId id="261" r:id="rId12"/>
    <p:sldId id="262" r:id="rId13"/>
    <p:sldId id="263" r:id="rId14"/>
    <p:sldId id="266" r:id="rId15"/>
    <p:sldId id="276" r:id="rId16"/>
    <p:sldId id="268" r:id="rId17"/>
    <p:sldId id="264" r:id="rId18"/>
    <p:sldId id="265" r:id="rId19"/>
    <p:sldId id="280" r:id="rId20"/>
    <p:sldId id="277" r:id="rId21"/>
    <p:sldId id="278" r:id="rId22"/>
    <p:sldId id="269" r:id="rId23"/>
    <p:sldId id="279" r:id="rId24"/>
    <p:sldId id="270" r:id="rId25"/>
    <p:sldId id="271" r:id="rId26"/>
    <p:sldId id="272" r:id="rId27"/>
    <p:sldId id="273" r:id="rId28"/>
    <p:sldId id="288" r:id="rId29"/>
    <p:sldId id="289" r:id="rId30"/>
    <p:sldId id="281" r:id="rId31"/>
    <p:sldId id="275" r:id="rId32"/>
    <p:sldId id="28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76" autoAdjust="0"/>
    <p:restoredTop sz="90772" autoAdjust="0"/>
  </p:normalViewPr>
  <p:slideViewPr>
    <p:cSldViewPr snapToGrid="0">
      <p:cViewPr>
        <p:scale>
          <a:sx n="53" d="100"/>
          <a:sy n="53" d="100"/>
        </p:scale>
        <p:origin x="1680" y="-43"/>
      </p:cViewPr>
      <p:guideLst/>
    </p:cSldViewPr>
  </p:slideViewPr>
  <p:outlineViewPr>
    <p:cViewPr>
      <p:scale>
        <a:sx n="33" d="100"/>
        <a:sy n="33" d="100"/>
      </p:scale>
      <p:origin x="0" y="-17154"/>
    </p:cViewPr>
  </p:outlineViewPr>
  <p:notesTextViewPr>
    <p:cViewPr>
      <p:scale>
        <a:sx n="1" d="1"/>
        <a:sy n="1" d="1"/>
      </p:scale>
      <p:origin x="0" y="0"/>
    </p:cViewPr>
  </p:notesTextViewPr>
  <p:notesViewPr>
    <p:cSldViewPr snapToGrid="0">
      <p:cViewPr>
        <p:scale>
          <a:sx n="80" d="100"/>
          <a:sy n="80" d="100"/>
        </p:scale>
        <p:origin x="2256" y="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F5F097-7E93-4E33-AB67-DC227A98CD14}" type="datetimeFigureOut">
              <a:rPr lang="en-US" smtClean="0"/>
              <a:t>2/29/2024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8EF90-CC65-42EA-AF90-4688ECC7FA05}" type="slidenum">
              <a:rPr lang="en-US" smtClean="0"/>
              <a:t>‹#›</a:t>
            </a:fld>
            <a:endParaRPr lang="en-US"/>
          </a:p>
        </p:txBody>
      </p:sp>
    </p:spTree>
    <p:extLst>
      <p:ext uri="{BB962C8B-B14F-4D97-AF65-F5344CB8AC3E}">
        <p14:creationId xmlns:p14="http://schemas.microsoft.com/office/powerpoint/2010/main" val="2916365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C8EF90-CC65-42EA-AF90-4688ECC7FA05}" type="slidenum">
              <a:rPr lang="en-US" smtClean="0"/>
              <a:t>3</a:t>
            </a:fld>
            <a:endParaRPr lang="en-US"/>
          </a:p>
        </p:txBody>
      </p:sp>
    </p:spTree>
    <p:extLst>
      <p:ext uri="{BB962C8B-B14F-4D97-AF65-F5344CB8AC3E}">
        <p14:creationId xmlns:p14="http://schemas.microsoft.com/office/powerpoint/2010/main" val="5611676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70513" y="371475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C8EF90-CC65-42EA-AF90-4688ECC7FA05}" type="slidenum">
              <a:rPr lang="en-US" smtClean="0"/>
              <a:t>6</a:t>
            </a:fld>
            <a:endParaRPr lang="en-US"/>
          </a:p>
        </p:txBody>
      </p:sp>
    </p:spTree>
    <p:extLst>
      <p:ext uri="{BB962C8B-B14F-4D97-AF65-F5344CB8AC3E}">
        <p14:creationId xmlns:p14="http://schemas.microsoft.com/office/powerpoint/2010/main" val="1031764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C8EF90-CC65-42EA-AF90-4688ECC7FA05}" type="slidenum">
              <a:rPr lang="en-US" smtClean="0"/>
              <a:t>8</a:t>
            </a:fld>
            <a:endParaRPr lang="en-US"/>
          </a:p>
        </p:txBody>
      </p:sp>
    </p:spTree>
    <p:extLst>
      <p:ext uri="{BB962C8B-B14F-4D97-AF65-F5344CB8AC3E}">
        <p14:creationId xmlns:p14="http://schemas.microsoft.com/office/powerpoint/2010/main" val="3501447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C8EF90-CC65-42EA-AF90-4688ECC7FA05}" type="slidenum">
              <a:rPr lang="en-US" smtClean="0"/>
              <a:t>18</a:t>
            </a:fld>
            <a:endParaRPr lang="en-US"/>
          </a:p>
        </p:txBody>
      </p:sp>
    </p:spTree>
    <p:extLst>
      <p:ext uri="{BB962C8B-B14F-4D97-AF65-F5344CB8AC3E}">
        <p14:creationId xmlns:p14="http://schemas.microsoft.com/office/powerpoint/2010/main" val="2063520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there a conflict of interest if one’s spouse works for a subcontractor to one’s company? Usually not, but a conflict of interest arises if one’s job involves granting contracts to that subcontractor</a:t>
            </a:r>
          </a:p>
          <a:p>
            <a:r>
              <a:rPr lang="en-US" dirty="0"/>
              <a:t>Moonlighting usually creates conflicts of interest only in special circumstances, such as working for competitors, suppliers, or customers. Even then, in rare situations, an employer sometimes gives permission for exceptions, as for example when the experience gained would greatly promote business interests</a:t>
            </a:r>
          </a:p>
        </p:txBody>
      </p:sp>
      <p:sp>
        <p:nvSpPr>
          <p:cNvPr id="4" name="Slide Number Placeholder 3"/>
          <p:cNvSpPr>
            <a:spLocks noGrp="1"/>
          </p:cNvSpPr>
          <p:nvPr>
            <p:ph type="sldNum" sz="quarter" idx="10"/>
          </p:nvPr>
        </p:nvSpPr>
        <p:spPr/>
        <p:txBody>
          <a:bodyPr/>
          <a:lstStyle/>
          <a:p>
            <a:fld id="{5CC8EF90-CC65-42EA-AF90-4688ECC7FA05}" type="slidenum">
              <a:rPr lang="en-US" smtClean="0"/>
              <a:t>22</a:t>
            </a:fld>
            <a:endParaRPr lang="en-US"/>
          </a:p>
        </p:txBody>
      </p:sp>
    </p:spTree>
    <p:extLst>
      <p:ext uri="{BB962C8B-B14F-4D97-AF65-F5344CB8AC3E}">
        <p14:creationId xmlns:p14="http://schemas.microsoft.com/office/powerpoint/2010/main" val="1622662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C8EF90-CC65-42EA-AF90-4688ECC7FA05}" type="slidenum">
              <a:rPr lang="en-US" smtClean="0"/>
              <a:t>24</a:t>
            </a:fld>
            <a:endParaRPr lang="en-US"/>
          </a:p>
        </p:txBody>
      </p:sp>
    </p:spTree>
    <p:extLst>
      <p:ext uri="{BB962C8B-B14F-4D97-AF65-F5344CB8AC3E}">
        <p14:creationId xmlns:p14="http://schemas.microsoft.com/office/powerpoint/2010/main" val="4284050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CC8EF90-CC65-42EA-AF90-4688ECC7FA05}" type="slidenum">
              <a:rPr lang="en-US" smtClean="0"/>
              <a:t>25</a:t>
            </a:fld>
            <a:endParaRPr lang="en-US"/>
          </a:p>
        </p:txBody>
      </p:sp>
    </p:spTree>
    <p:extLst>
      <p:ext uri="{BB962C8B-B14F-4D97-AF65-F5344CB8AC3E}">
        <p14:creationId xmlns:p14="http://schemas.microsoft.com/office/powerpoint/2010/main" val="2618233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C8EF90-CC65-42EA-AF90-4688ECC7FA05}" type="slidenum">
              <a:rPr lang="en-US" smtClean="0"/>
              <a:t>26</a:t>
            </a:fld>
            <a:endParaRPr lang="en-US"/>
          </a:p>
        </p:txBody>
      </p:sp>
    </p:spTree>
    <p:extLst>
      <p:ext uri="{BB962C8B-B14F-4D97-AF65-F5344CB8AC3E}">
        <p14:creationId xmlns:p14="http://schemas.microsoft.com/office/powerpoint/2010/main" val="60303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C8EF90-CC65-42EA-AF90-4688ECC7FA05}" type="slidenum">
              <a:rPr lang="en-US" smtClean="0"/>
              <a:t>27</a:t>
            </a:fld>
            <a:endParaRPr lang="en-US"/>
          </a:p>
        </p:txBody>
      </p:sp>
    </p:spTree>
    <p:extLst>
      <p:ext uri="{BB962C8B-B14F-4D97-AF65-F5344CB8AC3E}">
        <p14:creationId xmlns:p14="http://schemas.microsoft.com/office/powerpoint/2010/main" val="232933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21BFF82-4EA8-4845-91B0-61B071877D7D}"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916472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1BFF82-4EA8-4845-91B0-61B071877D7D}"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1614297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1BFF82-4EA8-4845-91B0-61B071877D7D}"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556634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1BFF82-4EA8-4845-91B0-61B071877D7D}" type="datetimeFigureOut">
              <a:rPr lang="en-US" smtClean="0"/>
              <a:t>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3174826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1BFF82-4EA8-4845-91B0-61B071877D7D}" type="datetimeFigureOut">
              <a:rPr lang="en-US" smtClean="0"/>
              <a:t>2/29/2024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1712184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1BFF82-4EA8-4845-91B0-61B071877D7D}" type="datetimeFigureOut">
              <a:rPr lang="en-US" smtClean="0"/>
              <a:t>2/29/2024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3284644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1BFF82-4EA8-4845-91B0-61B071877D7D}" type="datetimeFigureOut">
              <a:rPr lang="en-US" smtClean="0"/>
              <a:t>2/29/2024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4050331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1BFF82-4EA8-4845-91B0-61B071877D7D}" type="datetimeFigureOut">
              <a:rPr lang="en-US" smtClean="0"/>
              <a:t>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1182360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1BFF82-4EA8-4845-91B0-61B071877D7D}" type="datetimeFigureOut">
              <a:rPr lang="en-US" smtClean="0"/>
              <a:t>2/29/2024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1357000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1BFF82-4EA8-4845-91B0-61B071877D7D}"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415988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1BFF82-4EA8-4845-91B0-61B071877D7D}" type="datetimeFigureOut">
              <a:rPr lang="en-US" smtClean="0"/>
              <a:t>2/29/2024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76A2A1-D373-4109-A38B-03E8F0E86070}" type="slidenum">
              <a:rPr lang="en-US" smtClean="0"/>
              <a:t>‹#›</a:t>
            </a:fld>
            <a:endParaRPr lang="en-US"/>
          </a:p>
        </p:txBody>
      </p:sp>
    </p:spTree>
    <p:extLst>
      <p:ext uri="{BB962C8B-B14F-4D97-AF65-F5344CB8AC3E}">
        <p14:creationId xmlns:p14="http://schemas.microsoft.com/office/powerpoint/2010/main" val="2674888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1BFF82-4EA8-4845-91B0-61B071877D7D}" type="datetimeFigureOut">
              <a:rPr lang="en-US" smtClean="0"/>
              <a:t>2/29/2024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76A2A1-D373-4109-A38B-03E8F0E86070}" type="slidenum">
              <a:rPr lang="en-US" smtClean="0"/>
              <a:t>‹#›</a:t>
            </a:fld>
            <a:endParaRPr lang="en-US"/>
          </a:p>
        </p:txBody>
      </p:sp>
    </p:spTree>
    <p:extLst>
      <p:ext uri="{BB962C8B-B14F-4D97-AF65-F5344CB8AC3E}">
        <p14:creationId xmlns:p14="http://schemas.microsoft.com/office/powerpoint/2010/main" val="419353190"/>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cartoonstock.com/directory/c/conflicts_of_interest.asp" TargetMode="External"/><Relationship Id="rId2" Type="http://schemas.openxmlformats.org/officeDocument/2006/relationships/hyperlink" Target="https://www.vectorstock.com/royalty-free-vector/bribery-money-bag-concept-background-isometric-vector-22606620" TargetMode="External"/><Relationship Id="rId1" Type="http://schemas.openxmlformats.org/officeDocument/2006/relationships/slideLayout" Target="../slideLayouts/slideLayout2.xml"/><Relationship Id="rId5" Type="http://schemas.openxmlformats.org/officeDocument/2006/relationships/hyperlink" Target="https://www.bing.com/images/search?view=detailV2&amp;ccid=84doYVFp&amp;id=8B9E1BB96B55186D9C98B9A5565DCA365F273CEF&amp;thid=OIP.84doYVFpTwzfeOukIiyYAgHaIJ&amp;mediaurl=https%3a%2f%2fs3.amazonaws.com%2flowres.cartoonstock.com%2fold-age-retirement-confidentiality_agreement-rat_out-information-secret-talking-mban1669_low.jpg&amp;cdnurl=https%3a%2f%2fth.bing.com%2fth%2fid%2fR.f387686151694f0cdf78eba4222c9802%3frik%3d7zwnXzbKXValuQ%26pid%3dImgRaw%26r%3d0&amp;exph=880&amp;expw=800&amp;q=confidentiality+cartoon+images&amp;simid=608031811797991617&amp;FORM=IRPRST&amp;ck=699BC693D5C0D0663A8D865762B21772&amp;selectedIndex=2&amp;ajaxhist=0&amp;ajaxserp=0" TargetMode="External"/><Relationship Id="rId4" Type="http://schemas.openxmlformats.org/officeDocument/2006/relationships/hyperlink" Target="https://www.bing.com/search?q=confidentiality+meaning&amp;form=ANSPH1&amp;refig=df41d450"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88207" y="2308225"/>
            <a:ext cx="10415586" cy="2387600"/>
          </a:xfrm>
        </p:spPr>
        <p:txBody>
          <a:bodyPr>
            <a:normAutofit fontScale="90000"/>
          </a:bodyPr>
          <a:lstStyle/>
          <a:p>
            <a:pPr>
              <a:tabLst>
                <a:tab pos="9201150" algn="l"/>
              </a:tabLst>
            </a:pPr>
            <a:br>
              <a:rPr lang="en-US" dirty="0"/>
            </a:br>
            <a:br>
              <a:rPr lang="en-US" dirty="0"/>
            </a:br>
            <a:r>
              <a:rPr lang="en-US" sz="4400" b="1" dirty="0"/>
              <a:t> PROFESSIONAL ETHICS - </a:t>
            </a:r>
            <a:r>
              <a:rPr lang="en-US" sz="4400" b="1" dirty="0">
                <a:latin typeface="Calibri" panose="020F0502020204030204" pitchFamily="34" charset="0"/>
                <a:cs typeface="Calibri" panose="020F0502020204030204" pitchFamily="34" charset="0"/>
              </a:rPr>
              <a:t>CE 3142 </a:t>
            </a:r>
            <a:br>
              <a:rPr lang="en-US" sz="4400" b="1" dirty="0"/>
            </a:br>
            <a:br>
              <a:rPr lang="en-US" dirty="0"/>
            </a:br>
            <a:br>
              <a:rPr lang="en-US" dirty="0"/>
            </a:br>
            <a:r>
              <a:rPr lang="en-US" b="1" dirty="0">
                <a:latin typeface="Arial" panose="020B0604020202020204" pitchFamily="34" charset="0"/>
                <a:cs typeface="Arial" panose="020B0604020202020204" pitchFamily="34" charset="0"/>
              </a:rPr>
              <a:t> ETHICAL WORKPLACE RESPONSIBILITIES </a:t>
            </a:r>
            <a:br>
              <a:rPr lang="en-US"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1524000" y="5102225"/>
            <a:ext cx="9144000" cy="1655762"/>
          </a:xfrm>
        </p:spPr>
        <p:txBody>
          <a:bodyPr>
            <a:normAutofit fontScale="92500" lnSpcReduction="20000"/>
          </a:bodyPr>
          <a:lstStyle/>
          <a:p>
            <a:r>
              <a:rPr lang="en-US" sz="3200" b="1" dirty="0"/>
              <a:t>THE FACULTY OF ENGINEERING</a:t>
            </a:r>
          </a:p>
          <a:p>
            <a:r>
              <a:rPr lang="en-US" sz="3200" b="1" dirty="0"/>
              <a:t>THE KOTHELAWELA DEFENCE UNIVERSITY</a:t>
            </a:r>
            <a:br>
              <a:rPr lang="en-US" sz="3200" b="1" dirty="0"/>
            </a:br>
            <a:endParaRPr lang="en-US" sz="3200" b="1" dirty="0"/>
          </a:p>
          <a:p>
            <a:r>
              <a:rPr lang="en-US" sz="3200" dirty="0">
                <a:latin typeface="Calibri" panose="020F0502020204030204" pitchFamily="34" charset="0"/>
                <a:cs typeface="Calibri" panose="020F0502020204030204" pitchFamily="34" charset="0"/>
              </a:rPr>
              <a:t>15</a:t>
            </a:r>
            <a:r>
              <a:rPr lang="en-US" sz="3200" baseline="30000" dirty="0">
                <a:latin typeface="Calibri" panose="020F0502020204030204" pitchFamily="34" charset="0"/>
                <a:cs typeface="Calibri" panose="020F0502020204030204" pitchFamily="34" charset="0"/>
              </a:rPr>
              <a:t>th</a:t>
            </a:r>
            <a:r>
              <a:rPr lang="en-US" sz="3200" dirty="0">
                <a:latin typeface="Calibri" panose="020F0502020204030204" pitchFamily="34" charset="0"/>
                <a:cs typeface="Calibri" panose="020F0502020204030204" pitchFamily="34" charset="0"/>
              </a:rPr>
              <a:t> March 2024</a:t>
            </a:r>
          </a:p>
          <a:p>
            <a:endParaRPr lang="en-US" sz="3200" dirty="0"/>
          </a:p>
        </p:txBody>
      </p:sp>
    </p:spTree>
    <p:extLst>
      <p:ext uri="{BB962C8B-B14F-4D97-AF65-F5344CB8AC3E}">
        <p14:creationId xmlns:p14="http://schemas.microsoft.com/office/powerpoint/2010/main" val="1856777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TOPICS</a:t>
            </a:r>
          </a:p>
        </p:txBody>
      </p:sp>
      <p:sp>
        <p:nvSpPr>
          <p:cNvPr id="3" name="Content Placeholder 2"/>
          <p:cNvSpPr>
            <a:spLocks noGrp="1"/>
          </p:cNvSpPr>
          <p:nvPr>
            <p:ph idx="1"/>
          </p:nvPr>
        </p:nvSpPr>
        <p:spPr>
          <a:xfrm>
            <a:off x="838200" y="1097280"/>
            <a:ext cx="10515600" cy="5471160"/>
          </a:xfrm>
        </p:spPr>
        <p:txBody>
          <a:bodyPr>
            <a:normAutofit/>
          </a:bodyPr>
          <a:lstStyle/>
          <a:p>
            <a:r>
              <a:rPr lang="en-US" dirty="0"/>
              <a:t>Loyalty</a:t>
            </a:r>
          </a:p>
          <a:p>
            <a:pPr lvl="1"/>
            <a:r>
              <a:rPr lang="en-US" dirty="0"/>
              <a:t>Agency loyalty</a:t>
            </a:r>
          </a:p>
          <a:p>
            <a:pPr lvl="1"/>
            <a:r>
              <a:rPr lang="en-US" dirty="0"/>
              <a:t>Attitude loyalty</a:t>
            </a:r>
          </a:p>
          <a:p>
            <a:r>
              <a:rPr lang="en-US" dirty="0"/>
              <a:t>Confidentiality</a:t>
            </a:r>
          </a:p>
          <a:p>
            <a:pPr lvl="1"/>
            <a:r>
              <a:rPr lang="en-US" dirty="0"/>
              <a:t>Definition</a:t>
            </a:r>
          </a:p>
          <a:p>
            <a:pPr lvl="1"/>
            <a:r>
              <a:rPr lang="en-US" dirty="0"/>
              <a:t>Confidentiality and changing jobs</a:t>
            </a:r>
          </a:p>
          <a:p>
            <a:r>
              <a:rPr lang="en-US" dirty="0"/>
              <a:t>Conflict of Interest</a:t>
            </a:r>
          </a:p>
          <a:p>
            <a:pPr lvl="1"/>
            <a:r>
              <a:rPr lang="en-US" dirty="0"/>
              <a:t>Definition</a:t>
            </a:r>
          </a:p>
          <a:p>
            <a:pPr lvl="1"/>
            <a:r>
              <a:rPr lang="en-US" dirty="0"/>
              <a:t>Gifts, bribes, and kickbacks, </a:t>
            </a:r>
          </a:p>
          <a:p>
            <a:pPr lvl="1"/>
            <a:r>
              <a:rPr lang="en-US" dirty="0"/>
              <a:t>Interests in other companies, and </a:t>
            </a:r>
          </a:p>
          <a:p>
            <a:pPr lvl="1"/>
            <a:r>
              <a:rPr lang="en-US" dirty="0"/>
              <a:t>Insider information.</a:t>
            </a:r>
          </a:p>
          <a:p>
            <a:r>
              <a:rPr lang="en-US" dirty="0"/>
              <a:t>Teamwork</a:t>
            </a:r>
          </a:p>
          <a:p>
            <a:pPr lvl="1"/>
            <a:endParaRPr lang="en-US" dirty="0"/>
          </a:p>
          <a:p>
            <a:pPr lvl="1"/>
            <a:endParaRPr lang="en-US" dirty="0"/>
          </a:p>
        </p:txBody>
      </p:sp>
    </p:spTree>
    <p:extLst>
      <p:ext uri="{BB962C8B-B14F-4D97-AF65-F5344CB8AC3E}">
        <p14:creationId xmlns:p14="http://schemas.microsoft.com/office/powerpoint/2010/main" val="2924395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60755"/>
          </a:xfrm>
        </p:spPr>
        <p:txBody>
          <a:bodyPr/>
          <a:lstStyle/>
          <a:p>
            <a:r>
              <a:rPr lang="en-US" dirty="0"/>
              <a:t>LOYALTY</a:t>
            </a:r>
          </a:p>
        </p:txBody>
      </p:sp>
      <p:sp>
        <p:nvSpPr>
          <p:cNvPr id="3" name="Content Placeholder 2"/>
          <p:cNvSpPr>
            <a:spLocks noGrp="1"/>
          </p:cNvSpPr>
          <p:nvPr>
            <p:ph idx="1"/>
          </p:nvPr>
        </p:nvSpPr>
        <p:spPr>
          <a:xfrm>
            <a:off x="838200" y="807720"/>
            <a:ext cx="10515600" cy="6050280"/>
          </a:xfrm>
        </p:spPr>
        <p:txBody>
          <a:bodyPr/>
          <a:lstStyle/>
          <a:p>
            <a:r>
              <a:rPr lang="en-US" dirty="0"/>
              <a:t>Loyalty to an employer can mean two things.</a:t>
            </a:r>
          </a:p>
          <a:p>
            <a:pPr marL="514350" indent="-514350">
              <a:buFont typeface="+mj-lt"/>
              <a:buAutoNum type="alphaLcPeriod"/>
            </a:pPr>
            <a:r>
              <a:rPr lang="en-US" sz="2600" b="1" dirty="0">
                <a:solidFill>
                  <a:srgbClr val="0000FF"/>
                </a:solidFill>
              </a:rPr>
              <a:t>Agency-loyalty is acting to fulfill one’s contractual duties to an employer</a:t>
            </a:r>
          </a:p>
          <a:p>
            <a:pPr lvl="1">
              <a:buFont typeface="Wingdings" panose="05000000000000000000" pitchFamily="2" charset="2"/>
              <a:buChar char="Ø"/>
            </a:pPr>
            <a:r>
              <a:rPr lang="en-US" dirty="0"/>
              <a:t> These duties are specified in terms of the particular tasks for which one is paid, as well as the more general activities of cooperating with colleagues and following legitimate authority within the corporation</a:t>
            </a:r>
          </a:p>
          <a:p>
            <a:pPr marL="457200" lvl="1" indent="0">
              <a:buNone/>
            </a:pPr>
            <a:endParaRPr lang="en-US" dirty="0"/>
          </a:p>
          <a:p>
            <a:pPr marL="514350" indent="-514350">
              <a:buFont typeface="+mj-lt"/>
              <a:buAutoNum type="alphaLcPeriod"/>
            </a:pPr>
            <a:r>
              <a:rPr lang="en-US" sz="2600" b="1" dirty="0">
                <a:solidFill>
                  <a:srgbClr val="0000FF"/>
                </a:solidFill>
              </a:rPr>
              <a:t>Attitude-loyalty, by contrast, has as much to do with attitudes, emotions, and a sense of personal identity as it does with actions</a:t>
            </a:r>
          </a:p>
          <a:p>
            <a:pPr lvl="1">
              <a:buFont typeface="Wingdings" panose="05000000000000000000" pitchFamily="2" charset="2"/>
              <a:buChar char="Ø"/>
            </a:pPr>
            <a:r>
              <a:rPr lang="en-US" dirty="0"/>
              <a:t>It implies seeking to meet one’s moral duties to a group or organization willingly, with personal attachment and affirmation, and with a reasonable degree of trust. </a:t>
            </a:r>
          </a:p>
        </p:txBody>
      </p:sp>
    </p:spTree>
    <p:extLst>
      <p:ext uri="{BB962C8B-B14F-4D97-AF65-F5344CB8AC3E}">
        <p14:creationId xmlns:p14="http://schemas.microsoft.com/office/powerpoint/2010/main" val="265467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000"/>
                                        <p:tgtEl>
                                          <p:spTgt spid="3">
                                            <p:txEl>
                                              <p:pRg st="4" end="4"/>
                                            </p:txEl>
                                          </p:spTgt>
                                        </p:tgtEl>
                                      </p:cBhvr>
                                    </p:animEffect>
                                    <p:anim calcmode="lin" valueType="num">
                                      <p:cBhvr>
                                        <p:cTn id="2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1000"/>
                                        <p:tgtEl>
                                          <p:spTgt spid="3">
                                            <p:txEl>
                                              <p:pRg st="5" end="5"/>
                                            </p:txEl>
                                          </p:spTgt>
                                        </p:tgtEl>
                                      </p:cBhvr>
                                    </p:animEffect>
                                    <p:anim calcmode="lin" valueType="num">
                                      <p:cBhvr>
                                        <p:cTn id="2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716915"/>
          </a:xfrm>
        </p:spPr>
        <p:txBody>
          <a:bodyPr/>
          <a:lstStyle/>
          <a:p>
            <a:r>
              <a:rPr lang="en-US" dirty="0"/>
              <a:t>LOYALTY</a:t>
            </a:r>
          </a:p>
        </p:txBody>
      </p:sp>
      <p:sp>
        <p:nvSpPr>
          <p:cNvPr id="3" name="Content Placeholder 2"/>
          <p:cNvSpPr>
            <a:spLocks noGrp="1"/>
          </p:cNvSpPr>
          <p:nvPr>
            <p:ph idx="1"/>
          </p:nvPr>
        </p:nvSpPr>
        <p:spPr>
          <a:xfrm>
            <a:off x="838200" y="853440"/>
            <a:ext cx="10759440" cy="6004560"/>
          </a:xfrm>
        </p:spPr>
        <p:txBody>
          <a:bodyPr>
            <a:normAutofit lnSpcReduction="10000"/>
          </a:bodyPr>
          <a:lstStyle/>
          <a:p>
            <a:r>
              <a:rPr lang="en-US" b="1" dirty="0">
                <a:solidFill>
                  <a:schemeClr val="tx2"/>
                </a:solidFill>
              </a:rPr>
              <a:t>IESL Clause 6</a:t>
            </a:r>
          </a:p>
          <a:p>
            <a:r>
              <a:rPr lang="en-US" b="1" dirty="0">
                <a:solidFill>
                  <a:srgbClr val="CC0066"/>
                </a:solidFill>
              </a:rPr>
              <a:t>Agency Loyalty – relevant  sub-clauses</a:t>
            </a:r>
          </a:p>
          <a:p>
            <a:pPr lvl="1"/>
            <a:r>
              <a:rPr lang="en-US" dirty="0"/>
              <a:t>shall at all times avoid all known or potential conflicts of interest.  They should keep their employers fully informed on all matters which could lead to such a conflict, and should not participate in any decision which could involve them in conflict of interest. </a:t>
            </a:r>
            <a:endParaRPr lang="en-US" b="1" dirty="0">
              <a:solidFill>
                <a:srgbClr val="FFCCFF"/>
              </a:solidFill>
            </a:endParaRPr>
          </a:p>
          <a:p>
            <a:pPr lvl="1"/>
            <a:r>
              <a:rPr lang="en-US" dirty="0"/>
              <a:t>shall when acting as administrators of a contract be impartial as between the parties in the interpretation of the contract.  </a:t>
            </a:r>
          </a:p>
          <a:p>
            <a:pPr lvl="1"/>
            <a:r>
              <a:rPr lang="en-US" dirty="0"/>
              <a:t>shall neither solicit nor accept …… free engineering designs, from material or equipment suppliers for specifying their products</a:t>
            </a:r>
          </a:p>
          <a:p>
            <a:pPr lvl="1"/>
            <a:r>
              <a:rPr lang="en-US" dirty="0"/>
              <a:t>shall neither solicit nor accept gratuities, directly or indirectly from contractors or their agents ……….in connection with work for which they are responsible.</a:t>
            </a:r>
          </a:p>
          <a:p>
            <a:pPr lvl="1"/>
            <a:r>
              <a:rPr lang="en-US" dirty="0"/>
              <a:t>shall neither disclose nor use confidential information gained in the course of their employment without express permission </a:t>
            </a:r>
          </a:p>
          <a:p>
            <a:pPr lvl="1"/>
            <a:r>
              <a:rPr lang="en-US" dirty="0"/>
              <a:t>shall not complete, sign, or seal plans an/or specifications that are not of a design safe to the public health and welfare and in conformity with accepted engineering standards.</a:t>
            </a:r>
            <a:endParaRPr lang="en-US" b="1" dirty="0">
              <a:solidFill>
                <a:schemeClr val="tx2"/>
              </a:solidFill>
            </a:endParaRPr>
          </a:p>
        </p:txBody>
      </p:sp>
    </p:spTree>
    <p:extLst>
      <p:ext uri="{BB962C8B-B14F-4D97-AF65-F5344CB8AC3E}">
        <p14:creationId xmlns:p14="http://schemas.microsoft.com/office/powerpoint/2010/main" val="226019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10184"/>
            <a:ext cx="10515600" cy="929640"/>
          </a:xfrm>
        </p:spPr>
        <p:txBody>
          <a:bodyPr/>
          <a:lstStyle/>
          <a:p>
            <a:r>
              <a:rPr lang="en-US" dirty="0"/>
              <a:t>LOYALTY</a:t>
            </a:r>
          </a:p>
        </p:txBody>
      </p:sp>
      <p:sp>
        <p:nvSpPr>
          <p:cNvPr id="3" name="Content Placeholder 2"/>
          <p:cNvSpPr>
            <a:spLocks noGrp="1"/>
          </p:cNvSpPr>
          <p:nvPr>
            <p:ph idx="1"/>
          </p:nvPr>
        </p:nvSpPr>
        <p:spPr>
          <a:xfrm>
            <a:off x="762000" y="1139824"/>
            <a:ext cx="10515600" cy="5200015"/>
          </a:xfrm>
        </p:spPr>
        <p:txBody>
          <a:bodyPr/>
          <a:lstStyle/>
          <a:p>
            <a:r>
              <a:rPr lang="en-US" b="1" dirty="0">
                <a:solidFill>
                  <a:srgbClr val="CC0066"/>
                </a:solidFill>
              </a:rPr>
              <a:t>Attitude Loyalty – relevant  sub-clauses</a:t>
            </a:r>
          </a:p>
          <a:p>
            <a:pPr lvl="1"/>
            <a:r>
              <a:rPr lang="en-US" dirty="0"/>
              <a:t>shall not accept compensation, financial or otherwise from more than one party for project</a:t>
            </a:r>
          </a:p>
          <a:p>
            <a:pPr lvl="1"/>
            <a:r>
              <a:rPr lang="en-US" dirty="0"/>
              <a:t>Shall not accept a commission, fee, reward or other benefit from a third party, while advising a client</a:t>
            </a:r>
          </a:p>
          <a:p>
            <a:pPr lvl="1"/>
            <a:r>
              <a:rPr lang="en-US" dirty="0"/>
              <a:t>shall advise their clients or employers when as a result of their studies they believe that a project will not be viable. </a:t>
            </a:r>
          </a:p>
        </p:txBody>
      </p:sp>
      <p:pic>
        <p:nvPicPr>
          <p:cNvPr id="4" name="Picture 3"/>
          <p:cNvPicPr>
            <a:picLocks noChangeAspect="1"/>
          </p:cNvPicPr>
          <p:nvPr/>
        </p:nvPicPr>
        <p:blipFill>
          <a:blip r:embed="rId2"/>
          <a:stretch>
            <a:fillRect/>
          </a:stretch>
        </p:blipFill>
        <p:spPr>
          <a:xfrm>
            <a:off x="4126828" y="4163906"/>
            <a:ext cx="3785944" cy="2175933"/>
          </a:xfrm>
          <a:prstGeom prst="rect">
            <a:avLst/>
          </a:prstGeom>
        </p:spPr>
      </p:pic>
    </p:spTree>
    <p:extLst>
      <p:ext uri="{BB962C8B-B14F-4D97-AF65-F5344CB8AC3E}">
        <p14:creationId xmlns:p14="http://schemas.microsoft.com/office/powerpoint/2010/main" val="342503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circle(in)">
                                      <p:cBhvr>
                                        <p:cTn id="18"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20750"/>
          </a:xfrm>
        </p:spPr>
        <p:txBody>
          <a:bodyPr/>
          <a:lstStyle/>
          <a:p>
            <a:r>
              <a:rPr lang="en-US" dirty="0"/>
              <a:t>CONFIDENTIALITY</a:t>
            </a:r>
          </a:p>
        </p:txBody>
      </p:sp>
      <p:sp>
        <p:nvSpPr>
          <p:cNvPr id="3" name="Content Placeholder 2"/>
          <p:cNvSpPr>
            <a:spLocks noGrp="1"/>
          </p:cNvSpPr>
          <p:nvPr>
            <p:ph idx="1"/>
          </p:nvPr>
        </p:nvSpPr>
        <p:spPr>
          <a:xfrm>
            <a:off x="838200" y="1097280"/>
            <a:ext cx="10515600" cy="5593080"/>
          </a:xfrm>
        </p:spPr>
        <p:txBody>
          <a:bodyPr>
            <a:normAutofit fontScale="92500" lnSpcReduction="20000"/>
          </a:bodyPr>
          <a:lstStyle/>
          <a:p>
            <a:r>
              <a:rPr lang="en-US" dirty="0"/>
              <a:t>Definition :</a:t>
            </a:r>
          </a:p>
          <a:p>
            <a:r>
              <a:rPr lang="en-US" dirty="0"/>
              <a:t>The duty of confidentiality is the duty to keep secret all information, deemed by the employer or client,  desirable to keep secret</a:t>
            </a:r>
          </a:p>
          <a:p>
            <a:pPr marL="0" indent="0">
              <a:buNone/>
            </a:pPr>
            <a:endParaRPr lang="en-US" dirty="0"/>
          </a:p>
          <a:p>
            <a:pPr lvl="1"/>
            <a:r>
              <a:rPr lang="en-US" sz="2800" dirty="0">
                <a:solidFill>
                  <a:srgbClr val="0000FF"/>
                </a:solidFill>
              </a:rPr>
              <a:t>IESL Code of  Ethics Clause 6.8</a:t>
            </a:r>
          </a:p>
          <a:p>
            <a:pPr lvl="1"/>
            <a:r>
              <a:rPr lang="en-US" sz="2800" dirty="0">
                <a:solidFill>
                  <a:srgbClr val="0000FF"/>
                </a:solidFill>
              </a:rPr>
              <a:t>Shall</a:t>
            </a:r>
            <a:r>
              <a:rPr lang="en-US" sz="2800" spc="-15" dirty="0">
                <a:solidFill>
                  <a:srgbClr val="0000FF"/>
                </a:solidFill>
              </a:rPr>
              <a:t> </a:t>
            </a:r>
            <a:r>
              <a:rPr lang="en-US" sz="2800" spc="5" dirty="0">
                <a:solidFill>
                  <a:srgbClr val="0000FF"/>
                </a:solidFill>
              </a:rPr>
              <a:t>n</a:t>
            </a:r>
            <a:r>
              <a:rPr lang="en-US" sz="2800" spc="-5" dirty="0">
                <a:solidFill>
                  <a:srgbClr val="0000FF"/>
                </a:solidFill>
              </a:rPr>
              <a:t>e</a:t>
            </a:r>
            <a:r>
              <a:rPr lang="en-US" sz="2800" dirty="0">
                <a:solidFill>
                  <a:srgbClr val="0000FF"/>
                </a:solidFill>
              </a:rPr>
              <a:t>it</a:t>
            </a:r>
            <a:r>
              <a:rPr lang="en-US" sz="2800" spc="5" dirty="0">
                <a:solidFill>
                  <a:srgbClr val="0000FF"/>
                </a:solidFill>
              </a:rPr>
              <a:t>h</a:t>
            </a:r>
            <a:r>
              <a:rPr lang="en-US" sz="2800" spc="-5" dirty="0">
                <a:solidFill>
                  <a:srgbClr val="0000FF"/>
                </a:solidFill>
              </a:rPr>
              <a:t>e</a:t>
            </a:r>
            <a:r>
              <a:rPr lang="en-US" sz="2800" dirty="0">
                <a:solidFill>
                  <a:srgbClr val="0000FF"/>
                </a:solidFill>
              </a:rPr>
              <a:t>r</a:t>
            </a:r>
            <a:r>
              <a:rPr lang="en-US" sz="2800" spc="-30" dirty="0">
                <a:solidFill>
                  <a:srgbClr val="0000FF"/>
                </a:solidFill>
              </a:rPr>
              <a:t> </a:t>
            </a:r>
            <a:r>
              <a:rPr lang="en-US" sz="2800" spc="5" dirty="0">
                <a:solidFill>
                  <a:srgbClr val="0000FF"/>
                </a:solidFill>
              </a:rPr>
              <a:t>d</a:t>
            </a:r>
            <a:r>
              <a:rPr lang="en-US" sz="2800" dirty="0">
                <a:solidFill>
                  <a:srgbClr val="0000FF"/>
                </a:solidFill>
              </a:rPr>
              <a:t>i</a:t>
            </a:r>
            <a:r>
              <a:rPr lang="en-US" sz="2800" spc="-5" dirty="0">
                <a:solidFill>
                  <a:srgbClr val="0000FF"/>
                </a:solidFill>
              </a:rPr>
              <a:t>s</a:t>
            </a:r>
            <a:r>
              <a:rPr lang="en-US" sz="2800" dirty="0">
                <a:solidFill>
                  <a:srgbClr val="0000FF"/>
                </a:solidFill>
              </a:rPr>
              <a:t>cl</a:t>
            </a:r>
            <a:r>
              <a:rPr lang="en-US" sz="2800" spc="10" dirty="0">
                <a:solidFill>
                  <a:srgbClr val="0000FF"/>
                </a:solidFill>
              </a:rPr>
              <a:t>o</a:t>
            </a:r>
            <a:r>
              <a:rPr lang="en-US" sz="2800" spc="-5" dirty="0">
                <a:solidFill>
                  <a:srgbClr val="0000FF"/>
                </a:solidFill>
              </a:rPr>
              <a:t>s</a:t>
            </a:r>
            <a:r>
              <a:rPr lang="en-US" sz="2800" dirty="0">
                <a:solidFill>
                  <a:srgbClr val="0000FF"/>
                </a:solidFill>
              </a:rPr>
              <a:t>e</a:t>
            </a:r>
            <a:r>
              <a:rPr lang="en-US" sz="2800" spc="-35" dirty="0">
                <a:solidFill>
                  <a:srgbClr val="0000FF"/>
                </a:solidFill>
              </a:rPr>
              <a:t> </a:t>
            </a:r>
            <a:r>
              <a:rPr lang="en-US" sz="2800" spc="5" dirty="0">
                <a:solidFill>
                  <a:srgbClr val="0000FF"/>
                </a:solidFill>
              </a:rPr>
              <a:t>n</a:t>
            </a:r>
            <a:r>
              <a:rPr lang="en-US" sz="2800" dirty="0">
                <a:solidFill>
                  <a:srgbClr val="0000FF"/>
                </a:solidFill>
              </a:rPr>
              <a:t>or</a:t>
            </a:r>
            <a:r>
              <a:rPr lang="en-US" sz="2800" spc="-15" dirty="0">
                <a:solidFill>
                  <a:srgbClr val="0000FF"/>
                </a:solidFill>
              </a:rPr>
              <a:t> </a:t>
            </a:r>
            <a:r>
              <a:rPr lang="en-US" sz="2800" spc="5" dirty="0">
                <a:solidFill>
                  <a:srgbClr val="0000FF"/>
                </a:solidFill>
              </a:rPr>
              <a:t>us</a:t>
            </a:r>
            <a:r>
              <a:rPr lang="en-US" sz="2800" dirty="0">
                <a:solidFill>
                  <a:srgbClr val="0000FF"/>
                </a:solidFill>
              </a:rPr>
              <a:t>e</a:t>
            </a:r>
            <a:r>
              <a:rPr lang="en-US" sz="2800" spc="-5" dirty="0">
                <a:solidFill>
                  <a:srgbClr val="0000FF"/>
                </a:solidFill>
              </a:rPr>
              <a:t> </a:t>
            </a:r>
            <a:r>
              <a:rPr lang="en-US" sz="2800" dirty="0">
                <a:solidFill>
                  <a:srgbClr val="0000FF"/>
                </a:solidFill>
              </a:rPr>
              <a:t>co</a:t>
            </a:r>
            <a:r>
              <a:rPr lang="en-US" sz="2800" spc="5" dirty="0">
                <a:solidFill>
                  <a:srgbClr val="0000FF"/>
                </a:solidFill>
              </a:rPr>
              <a:t>n</a:t>
            </a:r>
            <a:r>
              <a:rPr lang="en-US" sz="2800" spc="-5" dirty="0">
                <a:solidFill>
                  <a:srgbClr val="0000FF"/>
                </a:solidFill>
              </a:rPr>
              <a:t>f</a:t>
            </a:r>
            <a:r>
              <a:rPr lang="en-US" sz="2800" dirty="0">
                <a:solidFill>
                  <a:srgbClr val="0000FF"/>
                </a:solidFill>
              </a:rPr>
              <a:t>i</a:t>
            </a:r>
            <a:r>
              <a:rPr lang="en-US" sz="2800" spc="5" dirty="0">
                <a:solidFill>
                  <a:srgbClr val="0000FF"/>
                </a:solidFill>
              </a:rPr>
              <a:t>d</a:t>
            </a:r>
            <a:r>
              <a:rPr lang="en-US" sz="2800" spc="-5" dirty="0">
                <a:solidFill>
                  <a:srgbClr val="0000FF"/>
                </a:solidFill>
              </a:rPr>
              <a:t>e</a:t>
            </a:r>
            <a:r>
              <a:rPr lang="en-US" sz="2800" spc="5" dirty="0">
                <a:solidFill>
                  <a:srgbClr val="0000FF"/>
                </a:solidFill>
              </a:rPr>
              <a:t>n</a:t>
            </a:r>
            <a:r>
              <a:rPr lang="en-US" sz="2800" dirty="0">
                <a:solidFill>
                  <a:srgbClr val="0000FF"/>
                </a:solidFill>
              </a:rPr>
              <a:t>ti</a:t>
            </a:r>
            <a:r>
              <a:rPr lang="en-US" sz="2800" spc="5" dirty="0">
                <a:solidFill>
                  <a:srgbClr val="0000FF"/>
                </a:solidFill>
              </a:rPr>
              <a:t>a</a:t>
            </a:r>
            <a:r>
              <a:rPr lang="en-US" sz="2800" dirty="0">
                <a:solidFill>
                  <a:srgbClr val="0000FF"/>
                </a:solidFill>
              </a:rPr>
              <a:t>l</a:t>
            </a:r>
            <a:r>
              <a:rPr lang="en-US" sz="2800" spc="-50" dirty="0">
                <a:solidFill>
                  <a:srgbClr val="0000FF"/>
                </a:solidFill>
              </a:rPr>
              <a:t> </a:t>
            </a:r>
            <a:r>
              <a:rPr lang="en-US" sz="2800" dirty="0">
                <a:solidFill>
                  <a:srgbClr val="0000FF"/>
                </a:solidFill>
              </a:rPr>
              <a:t>i</a:t>
            </a:r>
            <a:r>
              <a:rPr lang="en-US" sz="2800" spc="5" dirty="0">
                <a:solidFill>
                  <a:srgbClr val="0000FF"/>
                </a:solidFill>
              </a:rPr>
              <a:t>n</a:t>
            </a:r>
            <a:r>
              <a:rPr lang="en-US" sz="2800" spc="-5" dirty="0">
                <a:solidFill>
                  <a:srgbClr val="0000FF"/>
                </a:solidFill>
              </a:rPr>
              <a:t>f</a:t>
            </a:r>
            <a:r>
              <a:rPr lang="en-US" sz="2800" dirty="0">
                <a:solidFill>
                  <a:srgbClr val="0000FF"/>
                </a:solidFill>
              </a:rPr>
              <a:t>orma</a:t>
            </a:r>
            <a:r>
              <a:rPr lang="en-US" sz="2800" spc="5" dirty="0">
                <a:solidFill>
                  <a:srgbClr val="0000FF"/>
                </a:solidFill>
              </a:rPr>
              <a:t>t</a:t>
            </a:r>
            <a:r>
              <a:rPr lang="en-US" sz="2800" dirty="0">
                <a:solidFill>
                  <a:srgbClr val="0000FF"/>
                </a:solidFill>
              </a:rPr>
              <a:t>ion</a:t>
            </a:r>
            <a:r>
              <a:rPr lang="en-US" sz="2800" spc="-45" dirty="0">
                <a:solidFill>
                  <a:srgbClr val="0000FF"/>
                </a:solidFill>
              </a:rPr>
              <a:t> </a:t>
            </a:r>
            <a:r>
              <a:rPr lang="en-US" sz="2800" dirty="0">
                <a:solidFill>
                  <a:srgbClr val="0000FF"/>
                </a:solidFill>
              </a:rPr>
              <a:t>g</a:t>
            </a:r>
            <a:r>
              <a:rPr lang="en-US" sz="2800" spc="5" dirty="0">
                <a:solidFill>
                  <a:srgbClr val="0000FF"/>
                </a:solidFill>
              </a:rPr>
              <a:t>a</a:t>
            </a:r>
            <a:r>
              <a:rPr lang="en-US" sz="2800" dirty="0">
                <a:solidFill>
                  <a:srgbClr val="0000FF"/>
                </a:solidFill>
              </a:rPr>
              <a:t>i</a:t>
            </a:r>
            <a:r>
              <a:rPr lang="en-US" sz="2800" spc="15" dirty="0">
                <a:solidFill>
                  <a:srgbClr val="0000FF"/>
                </a:solidFill>
              </a:rPr>
              <a:t>n</a:t>
            </a:r>
            <a:r>
              <a:rPr lang="en-US" sz="2800" spc="-5" dirty="0">
                <a:solidFill>
                  <a:srgbClr val="0000FF"/>
                </a:solidFill>
              </a:rPr>
              <a:t>e</a:t>
            </a:r>
            <a:r>
              <a:rPr lang="en-US" sz="2800" dirty="0">
                <a:solidFill>
                  <a:srgbClr val="0000FF"/>
                </a:solidFill>
              </a:rPr>
              <a:t>d</a:t>
            </a:r>
            <a:r>
              <a:rPr lang="en-US" sz="2800" spc="-20" dirty="0">
                <a:solidFill>
                  <a:srgbClr val="0000FF"/>
                </a:solidFill>
              </a:rPr>
              <a:t> </a:t>
            </a:r>
            <a:r>
              <a:rPr lang="en-US" sz="2800" dirty="0">
                <a:solidFill>
                  <a:srgbClr val="0000FF"/>
                </a:solidFill>
              </a:rPr>
              <a:t>in</a:t>
            </a:r>
            <a:r>
              <a:rPr lang="en-US" sz="2800" spc="-5" dirty="0">
                <a:solidFill>
                  <a:srgbClr val="0000FF"/>
                </a:solidFill>
              </a:rPr>
              <a:t> </a:t>
            </a:r>
            <a:r>
              <a:rPr lang="en-US" sz="2800" spc="5" dirty="0">
                <a:solidFill>
                  <a:srgbClr val="0000FF"/>
                </a:solidFill>
              </a:rPr>
              <a:t>th</a:t>
            </a:r>
            <a:r>
              <a:rPr lang="en-US" sz="2800" dirty="0">
                <a:solidFill>
                  <a:srgbClr val="0000FF"/>
                </a:solidFill>
              </a:rPr>
              <a:t>e</a:t>
            </a:r>
            <a:r>
              <a:rPr lang="en-US" sz="2800" spc="-20" dirty="0">
                <a:solidFill>
                  <a:srgbClr val="0000FF"/>
                </a:solidFill>
              </a:rPr>
              <a:t> </a:t>
            </a:r>
            <a:r>
              <a:rPr lang="en-US" sz="2800" dirty="0">
                <a:solidFill>
                  <a:srgbClr val="0000FF"/>
                </a:solidFill>
              </a:rPr>
              <a:t>c</a:t>
            </a:r>
            <a:r>
              <a:rPr lang="en-US" sz="2800" spc="5" dirty="0">
                <a:solidFill>
                  <a:srgbClr val="0000FF"/>
                </a:solidFill>
              </a:rPr>
              <a:t>ou</a:t>
            </a:r>
            <a:r>
              <a:rPr lang="en-US" sz="2800" dirty="0">
                <a:solidFill>
                  <a:srgbClr val="0000FF"/>
                </a:solidFill>
              </a:rPr>
              <a:t>r</a:t>
            </a:r>
            <a:r>
              <a:rPr lang="en-US" sz="2800" spc="-5" dirty="0">
                <a:solidFill>
                  <a:srgbClr val="0000FF"/>
                </a:solidFill>
              </a:rPr>
              <a:t>s</a:t>
            </a:r>
            <a:r>
              <a:rPr lang="en-US" sz="2800" dirty="0">
                <a:solidFill>
                  <a:srgbClr val="0000FF"/>
                </a:solidFill>
              </a:rPr>
              <a:t>e</a:t>
            </a:r>
            <a:r>
              <a:rPr lang="en-US" sz="2800" spc="-30" dirty="0">
                <a:solidFill>
                  <a:srgbClr val="0000FF"/>
                </a:solidFill>
              </a:rPr>
              <a:t> </a:t>
            </a:r>
            <a:r>
              <a:rPr lang="en-US" sz="2800" spc="5" dirty="0">
                <a:solidFill>
                  <a:srgbClr val="0000FF"/>
                </a:solidFill>
              </a:rPr>
              <a:t>o</a:t>
            </a:r>
            <a:r>
              <a:rPr lang="en-US" sz="2800" dirty="0">
                <a:solidFill>
                  <a:srgbClr val="0000FF"/>
                </a:solidFill>
              </a:rPr>
              <a:t>f</a:t>
            </a:r>
            <a:r>
              <a:rPr lang="en-US" sz="2800" spc="-15" dirty="0">
                <a:solidFill>
                  <a:srgbClr val="0000FF"/>
                </a:solidFill>
              </a:rPr>
              <a:t> </a:t>
            </a:r>
            <a:r>
              <a:rPr lang="en-US" sz="2800" spc="5" dirty="0">
                <a:solidFill>
                  <a:srgbClr val="0000FF"/>
                </a:solidFill>
              </a:rPr>
              <a:t>th</a:t>
            </a:r>
            <a:r>
              <a:rPr lang="en-US" sz="2800" spc="-5" dirty="0">
                <a:solidFill>
                  <a:srgbClr val="0000FF"/>
                </a:solidFill>
              </a:rPr>
              <a:t>e</a:t>
            </a:r>
            <a:r>
              <a:rPr lang="en-US" sz="2800" dirty="0">
                <a:solidFill>
                  <a:srgbClr val="0000FF"/>
                </a:solidFill>
              </a:rPr>
              <a:t>ir</a:t>
            </a:r>
            <a:r>
              <a:rPr lang="en-US" sz="2800" spc="-5" dirty="0">
                <a:solidFill>
                  <a:srgbClr val="0000FF"/>
                </a:solidFill>
              </a:rPr>
              <a:t> em</a:t>
            </a:r>
            <a:r>
              <a:rPr lang="en-US" sz="2800" spc="5" dirty="0">
                <a:solidFill>
                  <a:srgbClr val="0000FF"/>
                </a:solidFill>
              </a:rPr>
              <a:t>p</a:t>
            </a:r>
            <a:r>
              <a:rPr lang="en-US" sz="2800" spc="10" dirty="0">
                <a:solidFill>
                  <a:srgbClr val="0000FF"/>
                </a:solidFill>
              </a:rPr>
              <a:t>l</a:t>
            </a:r>
            <a:r>
              <a:rPr lang="en-US" sz="2800" dirty="0">
                <a:solidFill>
                  <a:srgbClr val="0000FF"/>
                </a:solidFill>
              </a:rPr>
              <a:t>o</a:t>
            </a:r>
            <a:r>
              <a:rPr lang="en-US" sz="2800" spc="5" dirty="0">
                <a:solidFill>
                  <a:srgbClr val="0000FF"/>
                </a:solidFill>
              </a:rPr>
              <a:t>y</a:t>
            </a:r>
            <a:r>
              <a:rPr lang="en-US" sz="2800" spc="-5" dirty="0">
                <a:solidFill>
                  <a:srgbClr val="0000FF"/>
                </a:solidFill>
              </a:rPr>
              <a:t>me</a:t>
            </a:r>
            <a:r>
              <a:rPr lang="en-US" sz="2800" spc="5" dirty="0">
                <a:solidFill>
                  <a:srgbClr val="0000FF"/>
                </a:solidFill>
              </a:rPr>
              <a:t>n</a:t>
            </a:r>
            <a:r>
              <a:rPr lang="en-US" sz="2800" dirty="0">
                <a:solidFill>
                  <a:srgbClr val="0000FF"/>
                </a:solidFill>
              </a:rPr>
              <a:t>t</a:t>
            </a:r>
            <a:r>
              <a:rPr lang="en-US" sz="2800" spc="-45" dirty="0">
                <a:solidFill>
                  <a:srgbClr val="0000FF"/>
                </a:solidFill>
              </a:rPr>
              <a:t> </a:t>
            </a:r>
            <a:r>
              <a:rPr lang="en-US" sz="2800" spc="-5" dirty="0">
                <a:solidFill>
                  <a:srgbClr val="0000FF"/>
                </a:solidFill>
              </a:rPr>
              <a:t>w</a:t>
            </a:r>
            <a:r>
              <a:rPr lang="en-US" sz="2800" dirty="0">
                <a:solidFill>
                  <a:srgbClr val="0000FF"/>
                </a:solidFill>
              </a:rPr>
              <a:t>it</a:t>
            </a:r>
            <a:r>
              <a:rPr lang="en-US" sz="2800" spc="5" dirty="0">
                <a:solidFill>
                  <a:srgbClr val="0000FF"/>
                </a:solidFill>
              </a:rPr>
              <a:t>h</a:t>
            </a:r>
            <a:r>
              <a:rPr lang="en-US" sz="2800" dirty="0">
                <a:solidFill>
                  <a:srgbClr val="0000FF"/>
                </a:solidFill>
              </a:rPr>
              <a:t>o</a:t>
            </a:r>
            <a:r>
              <a:rPr lang="en-US" sz="2800" spc="5" dirty="0">
                <a:solidFill>
                  <a:srgbClr val="0000FF"/>
                </a:solidFill>
              </a:rPr>
              <a:t>u</a:t>
            </a:r>
            <a:r>
              <a:rPr lang="en-US" sz="2800" dirty="0">
                <a:solidFill>
                  <a:srgbClr val="0000FF"/>
                </a:solidFill>
              </a:rPr>
              <a:t>t </a:t>
            </a:r>
            <a:r>
              <a:rPr lang="en-US" sz="2800" spc="-5" dirty="0">
                <a:solidFill>
                  <a:srgbClr val="0000FF"/>
                </a:solidFill>
              </a:rPr>
              <a:t>e</a:t>
            </a:r>
            <a:r>
              <a:rPr lang="en-US" sz="2800" dirty="0">
                <a:solidFill>
                  <a:srgbClr val="0000FF"/>
                </a:solidFill>
              </a:rPr>
              <a:t>x</a:t>
            </a:r>
            <a:r>
              <a:rPr lang="en-US" sz="2800" spc="5" dirty="0">
                <a:solidFill>
                  <a:srgbClr val="0000FF"/>
                </a:solidFill>
              </a:rPr>
              <a:t>p</a:t>
            </a:r>
            <a:r>
              <a:rPr lang="en-US" sz="2800" dirty="0">
                <a:solidFill>
                  <a:srgbClr val="0000FF"/>
                </a:solidFill>
              </a:rPr>
              <a:t>r</a:t>
            </a:r>
            <a:r>
              <a:rPr lang="en-US" sz="2800" spc="-5" dirty="0">
                <a:solidFill>
                  <a:srgbClr val="0000FF"/>
                </a:solidFill>
              </a:rPr>
              <a:t>e</a:t>
            </a:r>
            <a:r>
              <a:rPr lang="en-US" sz="2800" spc="5" dirty="0">
                <a:solidFill>
                  <a:srgbClr val="0000FF"/>
                </a:solidFill>
              </a:rPr>
              <a:t>s</a:t>
            </a:r>
            <a:r>
              <a:rPr lang="en-US" sz="2800" dirty="0">
                <a:solidFill>
                  <a:srgbClr val="0000FF"/>
                </a:solidFill>
              </a:rPr>
              <a:t>s</a:t>
            </a:r>
            <a:r>
              <a:rPr lang="en-US" sz="2800" spc="-35" dirty="0">
                <a:solidFill>
                  <a:srgbClr val="0000FF"/>
                </a:solidFill>
              </a:rPr>
              <a:t> </a:t>
            </a:r>
            <a:r>
              <a:rPr lang="en-US" sz="2800" spc="5" dirty="0">
                <a:solidFill>
                  <a:srgbClr val="0000FF"/>
                </a:solidFill>
              </a:rPr>
              <a:t>p</a:t>
            </a:r>
            <a:r>
              <a:rPr lang="en-US" sz="2800" spc="-5" dirty="0">
                <a:solidFill>
                  <a:srgbClr val="0000FF"/>
                </a:solidFill>
              </a:rPr>
              <a:t>e</a:t>
            </a:r>
            <a:r>
              <a:rPr lang="en-US" sz="2800" spc="10" dirty="0">
                <a:solidFill>
                  <a:srgbClr val="0000FF"/>
                </a:solidFill>
              </a:rPr>
              <a:t>r</a:t>
            </a:r>
            <a:r>
              <a:rPr lang="en-US" sz="2800" spc="-5" dirty="0">
                <a:solidFill>
                  <a:srgbClr val="0000FF"/>
                </a:solidFill>
              </a:rPr>
              <a:t>m</a:t>
            </a:r>
            <a:r>
              <a:rPr lang="en-US" sz="2800" spc="10" dirty="0">
                <a:solidFill>
                  <a:srgbClr val="0000FF"/>
                </a:solidFill>
              </a:rPr>
              <a:t>i</a:t>
            </a:r>
            <a:r>
              <a:rPr lang="en-US" sz="2800" spc="-5" dirty="0">
                <a:solidFill>
                  <a:srgbClr val="0000FF"/>
                </a:solidFill>
              </a:rPr>
              <a:t>ss</a:t>
            </a:r>
            <a:r>
              <a:rPr lang="en-US" sz="2800" dirty="0">
                <a:solidFill>
                  <a:srgbClr val="0000FF"/>
                </a:solidFill>
              </a:rPr>
              <a:t>io</a:t>
            </a:r>
            <a:r>
              <a:rPr lang="en-US" sz="2800" spc="5" dirty="0">
                <a:solidFill>
                  <a:srgbClr val="0000FF"/>
                </a:solidFill>
              </a:rPr>
              <a:t>n</a:t>
            </a:r>
            <a:r>
              <a:rPr lang="en-US" sz="2800" dirty="0">
                <a:solidFill>
                  <a:srgbClr val="0000FF"/>
                </a:solidFill>
              </a:rPr>
              <a:t>,</a:t>
            </a:r>
            <a:r>
              <a:rPr lang="en-US" sz="2800" spc="-45" dirty="0">
                <a:solidFill>
                  <a:srgbClr val="0000FF"/>
                </a:solidFill>
              </a:rPr>
              <a:t> </a:t>
            </a:r>
            <a:r>
              <a:rPr lang="en-US" sz="2800" dirty="0">
                <a:solidFill>
                  <a:srgbClr val="0000FF"/>
                </a:solidFill>
              </a:rPr>
              <a:t>ex</a:t>
            </a:r>
            <a:r>
              <a:rPr lang="en-US" sz="2800" spc="10" dirty="0">
                <a:solidFill>
                  <a:srgbClr val="0000FF"/>
                </a:solidFill>
              </a:rPr>
              <a:t>c</a:t>
            </a:r>
            <a:r>
              <a:rPr lang="en-US" sz="2800" spc="-5" dirty="0">
                <a:solidFill>
                  <a:srgbClr val="0000FF"/>
                </a:solidFill>
              </a:rPr>
              <a:t>e</a:t>
            </a:r>
            <a:r>
              <a:rPr lang="en-US" sz="2800" spc="5" dirty="0">
                <a:solidFill>
                  <a:srgbClr val="0000FF"/>
                </a:solidFill>
              </a:rPr>
              <a:t>p</a:t>
            </a:r>
            <a:r>
              <a:rPr lang="en-US" sz="2800" dirty="0">
                <a:solidFill>
                  <a:srgbClr val="0000FF"/>
                </a:solidFill>
              </a:rPr>
              <a:t>t</a:t>
            </a:r>
            <a:r>
              <a:rPr lang="en-US" sz="2800" spc="-20" dirty="0">
                <a:solidFill>
                  <a:srgbClr val="0000FF"/>
                </a:solidFill>
              </a:rPr>
              <a:t> </a:t>
            </a:r>
            <a:r>
              <a:rPr lang="en-US" sz="2800" spc="5" dirty="0">
                <a:solidFill>
                  <a:srgbClr val="0000FF"/>
                </a:solidFill>
              </a:rPr>
              <a:t>wh</a:t>
            </a:r>
            <a:r>
              <a:rPr lang="en-US" sz="2800" spc="-5" dirty="0">
                <a:solidFill>
                  <a:srgbClr val="0000FF"/>
                </a:solidFill>
              </a:rPr>
              <a:t>e</a:t>
            </a:r>
            <a:r>
              <a:rPr lang="en-US" sz="2800" dirty="0">
                <a:solidFill>
                  <a:srgbClr val="0000FF"/>
                </a:solidFill>
              </a:rPr>
              <a:t>re</a:t>
            </a:r>
            <a:r>
              <a:rPr lang="en-US" sz="2800" spc="-30" dirty="0">
                <a:solidFill>
                  <a:srgbClr val="0000FF"/>
                </a:solidFill>
              </a:rPr>
              <a:t> </a:t>
            </a:r>
            <a:r>
              <a:rPr lang="en-US" sz="2800" spc="5" dirty="0">
                <a:solidFill>
                  <a:srgbClr val="0000FF"/>
                </a:solidFill>
              </a:rPr>
              <a:t>pub</a:t>
            </a:r>
            <a:r>
              <a:rPr lang="en-US" sz="2800" dirty="0">
                <a:solidFill>
                  <a:srgbClr val="0000FF"/>
                </a:solidFill>
              </a:rPr>
              <a:t>lic</a:t>
            </a:r>
            <a:r>
              <a:rPr lang="en-US" sz="2800" spc="-30" dirty="0">
                <a:solidFill>
                  <a:srgbClr val="0000FF"/>
                </a:solidFill>
              </a:rPr>
              <a:t> </a:t>
            </a:r>
            <a:r>
              <a:rPr lang="en-US" sz="2800" dirty="0">
                <a:solidFill>
                  <a:srgbClr val="0000FF"/>
                </a:solidFill>
              </a:rPr>
              <a:t>i</a:t>
            </a:r>
            <a:r>
              <a:rPr lang="en-US" sz="2800" spc="5" dirty="0">
                <a:solidFill>
                  <a:srgbClr val="0000FF"/>
                </a:solidFill>
              </a:rPr>
              <a:t>n</a:t>
            </a:r>
            <a:r>
              <a:rPr lang="en-US" sz="2800" dirty="0">
                <a:solidFill>
                  <a:srgbClr val="0000FF"/>
                </a:solidFill>
              </a:rPr>
              <a:t>ter</a:t>
            </a:r>
            <a:r>
              <a:rPr lang="en-US" sz="2800" spc="5" dirty="0">
                <a:solidFill>
                  <a:srgbClr val="0000FF"/>
                </a:solidFill>
              </a:rPr>
              <a:t>e</a:t>
            </a:r>
            <a:r>
              <a:rPr lang="en-US" sz="2800" spc="-5" dirty="0">
                <a:solidFill>
                  <a:srgbClr val="0000FF"/>
                </a:solidFill>
              </a:rPr>
              <a:t>s</a:t>
            </a:r>
            <a:r>
              <a:rPr lang="en-US" sz="2800" dirty="0">
                <a:solidFill>
                  <a:srgbClr val="0000FF"/>
                </a:solidFill>
              </a:rPr>
              <a:t>t</a:t>
            </a:r>
            <a:r>
              <a:rPr lang="en-US" sz="2800" spc="-25" dirty="0">
                <a:solidFill>
                  <a:srgbClr val="0000FF"/>
                </a:solidFill>
              </a:rPr>
              <a:t> </a:t>
            </a:r>
            <a:r>
              <a:rPr lang="en-US" sz="2800" dirty="0">
                <a:solidFill>
                  <a:srgbClr val="0000FF"/>
                </a:solidFill>
              </a:rPr>
              <a:t>a</a:t>
            </a:r>
            <a:r>
              <a:rPr lang="en-US" sz="2800" spc="5" dirty="0">
                <a:solidFill>
                  <a:srgbClr val="0000FF"/>
                </a:solidFill>
              </a:rPr>
              <a:t>n</a:t>
            </a:r>
            <a:r>
              <a:rPr lang="en-US" sz="2800" dirty="0">
                <a:solidFill>
                  <a:srgbClr val="0000FF"/>
                </a:solidFill>
              </a:rPr>
              <a:t>d</a:t>
            </a:r>
            <a:r>
              <a:rPr lang="en-US" sz="2800" spc="-10" dirty="0">
                <a:solidFill>
                  <a:srgbClr val="0000FF"/>
                </a:solidFill>
              </a:rPr>
              <a:t> </a:t>
            </a:r>
            <a:r>
              <a:rPr lang="en-US" sz="2800" dirty="0">
                <a:solidFill>
                  <a:srgbClr val="0000FF"/>
                </a:solidFill>
              </a:rPr>
              <a:t>sa</a:t>
            </a:r>
            <a:r>
              <a:rPr lang="en-US" sz="2800" spc="-5" dirty="0">
                <a:solidFill>
                  <a:srgbClr val="0000FF"/>
                </a:solidFill>
              </a:rPr>
              <a:t>fe</a:t>
            </a:r>
            <a:r>
              <a:rPr lang="en-US" sz="2800" spc="15" dirty="0">
                <a:solidFill>
                  <a:srgbClr val="0000FF"/>
                </a:solidFill>
              </a:rPr>
              <a:t>t</a:t>
            </a:r>
            <a:r>
              <a:rPr lang="en-US" sz="2800" dirty="0">
                <a:solidFill>
                  <a:srgbClr val="0000FF"/>
                </a:solidFill>
              </a:rPr>
              <a:t>y</a:t>
            </a:r>
            <a:r>
              <a:rPr lang="en-US" sz="2800" spc="-20" dirty="0">
                <a:solidFill>
                  <a:srgbClr val="0000FF"/>
                </a:solidFill>
              </a:rPr>
              <a:t> </a:t>
            </a:r>
            <a:r>
              <a:rPr lang="en-US" sz="2800" spc="5" dirty="0">
                <a:solidFill>
                  <a:srgbClr val="0000FF"/>
                </a:solidFill>
              </a:rPr>
              <a:t>a</a:t>
            </a:r>
            <a:r>
              <a:rPr lang="en-US" sz="2800" dirty="0">
                <a:solidFill>
                  <a:srgbClr val="0000FF"/>
                </a:solidFill>
              </a:rPr>
              <a:t>re</a:t>
            </a:r>
            <a:r>
              <a:rPr lang="en-US" sz="2800" spc="-20" dirty="0">
                <a:solidFill>
                  <a:srgbClr val="0000FF"/>
                </a:solidFill>
              </a:rPr>
              <a:t> </a:t>
            </a:r>
            <a:r>
              <a:rPr lang="en-US" sz="2800" dirty="0">
                <a:solidFill>
                  <a:srgbClr val="0000FF"/>
                </a:solidFill>
              </a:rPr>
              <a:t>i</a:t>
            </a:r>
            <a:r>
              <a:rPr lang="en-US" sz="2800" spc="5" dirty="0">
                <a:solidFill>
                  <a:srgbClr val="0000FF"/>
                </a:solidFill>
              </a:rPr>
              <a:t>n</a:t>
            </a:r>
            <a:r>
              <a:rPr lang="en-US" sz="2800" spc="-5" dirty="0">
                <a:solidFill>
                  <a:srgbClr val="0000FF"/>
                </a:solidFill>
              </a:rPr>
              <a:t>v</a:t>
            </a:r>
            <a:r>
              <a:rPr lang="en-US" sz="2800" dirty="0">
                <a:solidFill>
                  <a:srgbClr val="0000FF"/>
                </a:solidFill>
              </a:rPr>
              <a:t>ol</a:t>
            </a:r>
            <a:r>
              <a:rPr lang="en-US" sz="2800" spc="5" dirty="0">
                <a:solidFill>
                  <a:srgbClr val="0000FF"/>
                </a:solidFill>
              </a:rPr>
              <a:t>v</a:t>
            </a:r>
            <a:r>
              <a:rPr lang="en-US" sz="2800" spc="-5" dirty="0">
                <a:solidFill>
                  <a:srgbClr val="0000FF"/>
                </a:solidFill>
              </a:rPr>
              <a:t>e</a:t>
            </a:r>
            <a:r>
              <a:rPr lang="en-US" sz="2800" spc="5" dirty="0">
                <a:solidFill>
                  <a:srgbClr val="0000FF"/>
                </a:solidFill>
              </a:rPr>
              <a:t>d</a:t>
            </a:r>
            <a:r>
              <a:rPr lang="en-US" sz="2800" dirty="0">
                <a:solidFill>
                  <a:srgbClr val="0000FF"/>
                </a:solidFill>
              </a:rPr>
              <a:t>.</a:t>
            </a:r>
            <a:endParaRPr lang="en-US" sz="2800" dirty="0">
              <a:solidFill>
                <a:srgbClr val="0000FF"/>
              </a:solidFill>
              <a:latin typeface="Calibri" panose="020F0502020204030204" pitchFamily="34" charset="0"/>
              <a:ea typeface="Times New Roman" panose="02020603050405020304" pitchFamily="18" charset="0"/>
              <a:cs typeface="Times New Roman" panose="02020603050405020304" pitchFamily="18" charset="0"/>
            </a:endParaRPr>
          </a:p>
          <a:p>
            <a:pPr lvl="1"/>
            <a:endParaRPr lang="en-US" dirty="0"/>
          </a:p>
          <a:p>
            <a:r>
              <a:rPr lang="en-US" dirty="0"/>
              <a:t>Basically, it is any information that the employer or client would like to have kept secret to compete effectively against business rivals. Often this is understood to be any data concerning the company’s business or technical processes that are not already public knowledge. </a:t>
            </a:r>
          </a:p>
          <a:p>
            <a:r>
              <a:rPr lang="en-US" dirty="0"/>
              <a:t>Within governmental agencies and private companies, engineers and other employees are usually expected to withhold information labeled “confidential” from unauthorized people both inside and outside the organization.</a:t>
            </a:r>
          </a:p>
          <a:p>
            <a:endParaRPr lang="en-US" dirty="0"/>
          </a:p>
          <a:p>
            <a:endParaRPr lang="en-US" dirty="0"/>
          </a:p>
        </p:txBody>
      </p:sp>
    </p:spTree>
    <p:extLst>
      <p:ext uri="{BB962C8B-B14F-4D97-AF65-F5344CB8AC3E}">
        <p14:creationId xmlns:p14="http://schemas.microsoft.com/office/powerpoint/2010/main" val="1621091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58445"/>
            <a:ext cx="10515600" cy="823595"/>
          </a:xfrm>
        </p:spPr>
        <p:txBody>
          <a:bodyPr/>
          <a:lstStyle/>
          <a:p>
            <a:r>
              <a:rPr lang="en-US" dirty="0"/>
              <a:t>CONFIDENTIALITY</a:t>
            </a:r>
          </a:p>
        </p:txBody>
      </p:sp>
      <p:sp>
        <p:nvSpPr>
          <p:cNvPr id="3" name="Content Placeholder 2"/>
          <p:cNvSpPr>
            <a:spLocks noGrp="1"/>
          </p:cNvSpPr>
          <p:nvPr>
            <p:ph idx="1"/>
          </p:nvPr>
        </p:nvSpPr>
        <p:spPr>
          <a:xfrm>
            <a:off x="838200" y="1066274"/>
            <a:ext cx="10515600" cy="5571008"/>
          </a:xfrm>
        </p:spPr>
        <p:txBody>
          <a:bodyPr>
            <a:normAutofit fontScale="92500" lnSpcReduction="10000"/>
          </a:bodyPr>
          <a:lstStyle/>
          <a:p>
            <a:r>
              <a:rPr lang="en-US" dirty="0"/>
              <a:t> Several related terms should be identified and defined. </a:t>
            </a:r>
          </a:p>
          <a:p>
            <a:r>
              <a:rPr lang="en-US" b="1" dirty="0">
                <a:solidFill>
                  <a:srgbClr val="0000FF"/>
                </a:solidFill>
              </a:rPr>
              <a:t>Proprietary information </a:t>
            </a:r>
            <a:r>
              <a:rPr lang="en-US" dirty="0"/>
              <a:t>is information that a company owns or is the proprietor of, and hence is a term carefully defined by property law. A rough synonym for “proprietary information” is trade secret, which can be virtually any type of information that has not become public, which an employer has taken steps to keep secret, and which is thereby given limited legal protection in common law (law generated by previous court rulings) that forbids employees from divulging it. </a:t>
            </a:r>
          </a:p>
          <a:p>
            <a:r>
              <a:rPr lang="en-US" b="1" dirty="0">
                <a:solidFill>
                  <a:srgbClr val="0000FF"/>
                </a:solidFill>
              </a:rPr>
              <a:t>Patents</a:t>
            </a:r>
            <a:r>
              <a:rPr lang="en-US" dirty="0"/>
              <a:t> legally protect specific products from being manufactured and sold by competitors without the express permission of the patent holder. Trade secrets have no such protection, and a corporation can learn about a competitor’s trade secrets through legal means— for instance, “reverse engineering,” in which an unknown design or process can be traced out by analyzing the final product. But patents do have the drawback of being public and thus allowing competitors an easy means of working around them by finding alternative designs.</a:t>
            </a:r>
          </a:p>
        </p:txBody>
      </p:sp>
    </p:spTree>
    <p:extLst>
      <p:ext uri="{BB962C8B-B14F-4D97-AF65-F5344CB8AC3E}">
        <p14:creationId xmlns:p14="http://schemas.microsoft.com/office/powerpoint/2010/main" val="2564553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B5A89-339C-F24F-DE04-1E6F3518D4C9}"/>
              </a:ext>
            </a:extLst>
          </p:cNvPr>
          <p:cNvSpPr>
            <a:spLocks noGrp="1"/>
          </p:cNvSpPr>
          <p:nvPr>
            <p:ph type="title"/>
          </p:nvPr>
        </p:nvSpPr>
        <p:spPr>
          <a:xfrm>
            <a:off x="838200" y="365125"/>
            <a:ext cx="10515600" cy="1006475"/>
          </a:xfrm>
        </p:spPr>
        <p:txBody>
          <a:bodyPr>
            <a:normAutofit/>
          </a:bodyPr>
          <a:lstStyle/>
          <a:p>
            <a:r>
              <a:rPr lang="en-US" dirty="0"/>
              <a:t>CONFIDENTIALITY</a:t>
            </a:r>
          </a:p>
        </p:txBody>
      </p:sp>
      <p:sp>
        <p:nvSpPr>
          <p:cNvPr id="4" name="Content Placeholder 3">
            <a:extLst>
              <a:ext uri="{FF2B5EF4-FFF2-40B4-BE49-F238E27FC236}">
                <a16:creationId xmlns:a16="http://schemas.microsoft.com/office/drawing/2014/main" id="{44AE3D22-95DC-319C-115C-A97014B8BE67}"/>
              </a:ext>
            </a:extLst>
          </p:cNvPr>
          <p:cNvSpPr>
            <a:spLocks noGrp="1"/>
          </p:cNvSpPr>
          <p:nvPr>
            <p:ph sz="half" idx="1"/>
          </p:nvPr>
        </p:nvSpPr>
        <p:spPr>
          <a:xfrm>
            <a:off x="411479" y="1234440"/>
            <a:ext cx="6389371" cy="5497830"/>
          </a:xfrm>
        </p:spPr>
        <p:txBody>
          <a:bodyPr>
            <a:normAutofit/>
          </a:bodyPr>
          <a:lstStyle/>
          <a:p>
            <a:r>
              <a:rPr lang="en-US" b="1" dirty="0">
                <a:solidFill>
                  <a:srgbClr val="0000FF"/>
                </a:solidFill>
              </a:rPr>
              <a:t>Privileged information </a:t>
            </a:r>
            <a:r>
              <a:rPr lang="en-US" dirty="0"/>
              <a:t>literally means “available only on the basis of special privilege,” such as the privilege accorded an employee working on a special assignment. </a:t>
            </a:r>
          </a:p>
          <a:p>
            <a:r>
              <a:rPr lang="en-US" b="1" dirty="0">
                <a:solidFill>
                  <a:srgbClr val="0000FF"/>
                </a:solidFill>
              </a:rPr>
              <a:t>Confidentiality in health and social care? </a:t>
            </a:r>
            <a:r>
              <a:rPr lang="en-US" dirty="0"/>
              <a:t>Those working in the health and social care sector have legal and professional responsibilities to uphold confidentiality. Day to day maintaining of confidentiality means: Ensuring that sensitive conversations are only held in private spaces</a:t>
            </a:r>
          </a:p>
        </p:txBody>
      </p:sp>
      <p:pic>
        <p:nvPicPr>
          <p:cNvPr id="6" name="Content Placeholder 5">
            <a:extLst>
              <a:ext uri="{FF2B5EF4-FFF2-40B4-BE49-F238E27FC236}">
                <a16:creationId xmlns:a16="http://schemas.microsoft.com/office/drawing/2014/main" id="{A0DB9136-71B2-FD50-2BF0-F352629DAB2E}"/>
              </a:ext>
            </a:extLst>
          </p:cNvPr>
          <p:cNvPicPr>
            <a:picLocks noGrp="1" noChangeAspect="1"/>
          </p:cNvPicPr>
          <p:nvPr>
            <p:ph sz="half" idx="2"/>
          </p:nvPr>
        </p:nvPicPr>
        <p:blipFill>
          <a:blip r:embed="rId3"/>
          <a:stretch>
            <a:fillRect/>
          </a:stretch>
        </p:blipFill>
        <p:spPr>
          <a:xfrm>
            <a:off x="7093594" y="1234440"/>
            <a:ext cx="4816257" cy="4942523"/>
          </a:xfrm>
          <a:prstGeom prst="rect">
            <a:avLst/>
          </a:prstGeom>
        </p:spPr>
      </p:pic>
    </p:spTree>
    <p:extLst>
      <p:ext uri="{BB962C8B-B14F-4D97-AF65-F5344CB8AC3E}">
        <p14:creationId xmlns:p14="http://schemas.microsoft.com/office/powerpoint/2010/main" val="325106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021080"/>
          </a:xfrm>
        </p:spPr>
        <p:txBody>
          <a:bodyPr/>
          <a:lstStyle/>
          <a:p>
            <a:r>
              <a:rPr lang="en-US" dirty="0"/>
              <a:t>Confidentiality and changing jobs</a:t>
            </a:r>
          </a:p>
        </p:txBody>
      </p:sp>
      <p:sp>
        <p:nvSpPr>
          <p:cNvPr id="3" name="Content Placeholder 2"/>
          <p:cNvSpPr>
            <a:spLocks noGrp="1"/>
          </p:cNvSpPr>
          <p:nvPr>
            <p:ph idx="1"/>
          </p:nvPr>
        </p:nvSpPr>
        <p:spPr>
          <a:xfrm>
            <a:off x="838200" y="1203960"/>
            <a:ext cx="10850880" cy="4973003"/>
          </a:xfrm>
        </p:spPr>
        <p:txBody>
          <a:bodyPr>
            <a:normAutofit/>
          </a:bodyPr>
          <a:lstStyle/>
          <a:p>
            <a:r>
              <a:rPr lang="en-US" dirty="0"/>
              <a:t>The obligation to protect confidential information does not cease when employees change jobs. If it did, it would be impossible to protect such information. </a:t>
            </a:r>
          </a:p>
          <a:p>
            <a:r>
              <a:rPr lang="en-US" dirty="0">
                <a:solidFill>
                  <a:srgbClr val="0000FF"/>
                </a:solidFill>
              </a:rPr>
              <a:t>Thus, the relationship of trust between employer and employee in regard to confidentiality continues beyond the formal employment</a:t>
            </a:r>
          </a:p>
          <a:p>
            <a:r>
              <a:rPr lang="en-US" dirty="0"/>
              <a:t> Unless the employer gives consent, former employees are barred indefinitely from revealing trade secrets. </a:t>
            </a:r>
          </a:p>
          <a:p>
            <a:r>
              <a:rPr lang="en-US" dirty="0"/>
              <a:t>This provides a clear illustration of the way in which the </a:t>
            </a:r>
            <a:r>
              <a:rPr lang="en-US" dirty="0">
                <a:solidFill>
                  <a:srgbClr val="FF0000"/>
                </a:solidFill>
              </a:rPr>
              <a:t>professional integrity </a:t>
            </a:r>
            <a:r>
              <a:rPr lang="en-US" dirty="0"/>
              <a:t>of engineers is shown, much more than mere loyalty to one’s present employer </a:t>
            </a:r>
          </a:p>
        </p:txBody>
      </p:sp>
    </p:spTree>
    <p:extLst>
      <p:ext uri="{BB962C8B-B14F-4D97-AF65-F5344CB8AC3E}">
        <p14:creationId xmlns:p14="http://schemas.microsoft.com/office/powerpoint/2010/main" val="2271972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90777"/>
            <a:ext cx="10515600" cy="1325563"/>
          </a:xfrm>
        </p:spPr>
        <p:txBody>
          <a:bodyPr/>
          <a:lstStyle/>
          <a:p>
            <a:r>
              <a:rPr lang="en-US" dirty="0"/>
              <a:t>Confidentiality and changing jobs</a:t>
            </a:r>
          </a:p>
        </p:txBody>
      </p:sp>
      <p:sp>
        <p:nvSpPr>
          <p:cNvPr id="3" name="Content Placeholder 2"/>
          <p:cNvSpPr>
            <a:spLocks noGrp="1"/>
          </p:cNvSpPr>
          <p:nvPr>
            <p:ph sz="half" idx="1"/>
          </p:nvPr>
        </p:nvSpPr>
        <p:spPr>
          <a:xfrm>
            <a:off x="838200" y="1343198"/>
            <a:ext cx="5181600" cy="4725353"/>
          </a:xfrm>
        </p:spPr>
        <p:txBody>
          <a:bodyPr>
            <a:normAutofit fontScale="92500"/>
          </a:bodyPr>
          <a:lstStyle/>
          <a:p>
            <a:r>
              <a:rPr lang="en-US" dirty="0"/>
              <a:t> Many engineers value professional advancement more than long-term ties with any one company, and so they change jobs frequently.</a:t>
            </a:r>
          </a:p>
          <a:p>
            <a:r>
              <a:rPr lang="en-US" dirty="0"/>
              <a:t> Engineers in R&amp;D are especially likely to have high rates of turnover. They are also the people most likely to be exposed to important new trade secrets. Moreover, when they transfer into new companies they often do the same kind of work as earlier</a:t>
            </a:r>
          </a:p>
        </p:txBody>
      </p:sp>
      <p:pic>
        <p:nvPicPr>
          <p:cNvPr id="6" name="Content Placeholder 5">
            <a:extLst>
              <a:ext uri="{FF2B5EF4-FFF2-40B4-BE49-F238E27FC236}">
                <a16:creationId xmlns:a16="http://schemas.microsoft.com/office/drawing/2014/main" id="{940844CD-9019-69EE-9269-927DFEF6B493}"/>
              </a:ext>
            </a:extLst>
          </p:cNvPr>
          <p:cNvPicPr>
            <a:picLocks noGrp="1" noChangeAspect="1"/>
          </p:cNvPicPr>
          <p:nvPr>
            <p:ph sz="half" idx="2"/>
          </p:nvPr>
        </p:nvPicPr>
        <p:blipFill>
          <a:blip r:embed="rId2"/>
          <a:stretch>
            <a:fillRect/>
          </a:stretch>
        </p:blipFill>
        <p:spPr>
          <a:xfrm>
            <a:off x="6785119" y="1234786"/>
            <a:ext cx="4816331" cy="4942177"/>
          </a:xfrm>
          <a:prstGeom prst="rect">
            <a:avLst/>
          </a:prstGeom>
        </p:spPr>
      </p:pic>
    </p:spTree>
    <p:extLst>
      <p:ext uri="{BB962C8B-B14F-4D97-AF65-F5344CB8AC3E}">
        <p14:creationId xmlns:p14="http://schemas.microsoft.com/office/powerpoint/2010/main" val="1551726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Confidentiality and changing jobs</a:t>
            </a:r>
          </a:p>
        </p:txBody>
      </p:sp>
      <p:sp>
        <p:nvSpPr>
          <p:cNvPr id="3" name="Content Placeholder 2"/>
          <p:cNvSpPr>
            <a:spLocks noGrp="1"/>
          </p:cNvSpPr>
          <p:nvPr>
            <p:ph idx="1"/>
          </p:nvPr>
        </p:nvSpPr>
        <p:spPr>
          <a:xfrm>
            <a:off x="838200" y="1690688"/>
            <a:ext cx="10515600" cy="4486275"/>
          </a:xfrm>
        </p:spPr>
        <p:txBody>
          <a:bodyPr>
            <a:normAutofit lnSpcReduction="10000"/>
          </a:bodyPr>
          <a:lstStyle/>
          <a:p>
            <a:r>
              <a:rPr lang="en-US" dirty="0"/>
              <a:t>Case 1 :</a:t>
            </a:r>
          </a:p>
          <a:p>
            <a:r>
              <a:rPr lang="en-US" dirty="0"/>
              <a:t> A high-profile case of trade secret violations was settled in January 1997 (without coming to trial) when Volkswagen AG (VW) agreed to pay General Motors Corporation (GM) and its German subsidiary Adam Opel $100 million in cash and to buy $1 billion in parts from GM over the next seven years. </a:t>
            </a:r>
          </a:p>
          <a:p>
            <a:r>
              <a:rPr lang="en-US" b="1" dirty="0">
                <a:solidFill>
                  <a:srgbClr val="CC0066"/>
                </a:solidFill>
              </a:rPr>
              <a:t>WHY ???</a:t>
            </a:r>
          </a:p>
          <a:p>
            <a:r>
              <a:rPr lang="en-US" dirty="0"/>
              <a:t>Because in March 1993, Jose Ignacio Lopez, GM’s highly effective manufacturing expert, left GM to join VW, a fierce competitor in Europe, and took with him not only three colleagues and knowhow, but also copies of confidential GM documents. </a:t>
            </a:r>
          </a:p>
          <a:p>
            <a:endParaRPr lang="en-US" dirty="0"/>
          </a:p>
        </p:txBody>
      </p:sp>
    </p:spTree>
    <p:extLst>
      <p:ext uri="{BB962C8B-B14F-4D97-AF65-F5344CB8AC3E}">
        <p14:creationId xmlns:p14="http://schemas.microsoft.com/office/powerpoint/2010/main" val="3705068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92480"/>
          </a:xfrm>
        </p:spPr>
        <p:txBody>
          <a:bodyPr/>
          <a:lstStyle/>
          <a:p>
            <a:r>
              <a:rPr lang="en-US" dirty="0"/>
              <a:t>Confidentiality and changing jobs</a:t>
            </a:r>
          </a:p>
        </p:txBody>
      </p:sp>
      <p:sp>
        <p:nvSpPr>
          <p:cNvPr id="3" name="Content Placeholder 2"/>
          <p:cNvSpPr>
            <a:spLocks noGrp="1"/>
          </p:cNvSpPr>
          <p:nvPr>
            <p:ph idx="1"/>
          </p:nvPr>
        </p:nvSpPr>
        <p:spPr>
          <a:xfrm>
            <a:off x="838200" y="975360"/>
            <a:ext cx="10515600" cy="5623560"/>
          </a:xfrm>
        </p:spPr>
        <p:txBody>
          <a:bodyPr>
            <a:normAutofit fontScale="92500" lnSpcReduction="10000"/>
          </a:bodyPr>
          <a:lstStyle/>
          <a:p>
            <a:r>
              <a:rPr lang="en-US" dirty="0"/>
              <a:t>Case 2 :</a:t>
            </a:r>
          </a:p>
          <a:p>
            <a:r>
              <a:rPr lang="en-US" dirty="0"/>
              <a:t>A more legally important case concerned Donald </a:t>
            </a:r>
            <a:r>
              <a:rPr lang="en-US" dirty="0" err="1"/>
              <a:t>Wohlgemuth</a:t>
            </a:r>
            <a:r>
              <a:rPr lang="en-US" dirty="0"/>
              <a:t>, a chemical engineer who at one time was manager of B.F. Goodrich’s space suit division.</a:t>
            </a:r>
          </a:p>
          <a:p>
            <a:r>
              <a:rPr lang="en-US" dirty="0"/>
              <a:t>Technology for space suits was undergoing rapid development, with several companies competing for government contracts.</a:t>
            </a:r>
          </a:p>
          <a:p>
            <a:r>
              <a:rPr lang="en-US" dirty="0"/>
              <a:t> Dissatisfied with his salary and the research facilities at B.F. Goodrich, </a:t>
            </a:r>
            <a:r>
              <a:rPr lang="en-US" dirty="0" err="1"/>
              <a:t>Wohlgemuth</a:t>
            </a:r>
            <a:r>
              <a:rPr lang="en-US" dirty="0"/>
              <a:t> negotiated a new job with International Latex Corporation as manager of engineering for industrial products.</a:t>
            </a:r>
          </a:p>
          <a:p>
            <a:r>
              <a:rPr lang="en-US" dirty="0"/>
              <a:t>International Latex had just received a large government subcontract for developing the Apollo astronauts’ space suits, and that was one of the programs </a:t>
            </a:r>
            <a:r>
              <a:rPr lang="en-US" dirty="0" err="1"/>
              <a:t>Wohlgemuth</a:t>
            </a:r>
            <a:r>
              <a:rPr lang="en-US" dirty="0"/>
              <a:t> would manage. The confidentiality obligation forbid </a:t>
            </a:r>
            <a:r>
              <a:rPr lang="en-US" dirty="0" err="1"/>
              <a:t>Wohlgemuth</a:t>
            </a:r>
            <a:r>
              <a:rPr lang="en-US" dirty="0"/>
              <a:t> from revealing any trade secrets of Goodrich to his new employer. </a:t>
            </a:r>
          </a:p>
          <a:p>
            <a:pPr marL="0" indent="0">
              <a:buNone/>
            </a:pPr>
            <a:r>
              <a:rPr lang="en-US" dirty="0"/>
              <a:t>.</a:t>
            </a:r>
          </a:p>
          <a:p>
            <a:endParaRPr lang="en-US" dirty="0"/>
          </a:p>
        </p:txBody>
      </p:sp>
    </p:spTree>
    <p:extLst>
      <p:ext uri="{BB962C8B-B14F-4D97-AF65-F5344CB8AC3E}">
        <p14:creationId xmlns:p14="http://schemas.microsoft.com/office/powerpoint/2010/main" val="692523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16915"/>
          </a:xfrm>
        </p:spPr>
        <p:txBody>
          <a:bodyPr/>
          <a:lstStyle/>
          <a:p>
            <a:r>
              <a:rPr lang="en-US" dirty="0"/>
              <a:t>Confidentiality and changing jobs</a:t>
            </a:r>
          </a:p>
        </p:txBody>
      </p:sp>
      <p:sp>
        <p:nvSpPr>
          <p:cNvPr id="3" name="Content Placeholder 2"/>
          <p:cNvSpPr>
            <a:spLocks noGrp="1"/>
          </p:cNvSpPr>
          <p:nvPr>
            <p:ph idx="1"/>
          </p:nvPr>
        </p:nvSpPr>
        <p:spPr>
          <a:xfrm>
            <a:off x="838200" y="1280160"/>
            <a:ext cx="10515600" cy="5425440"/>
          </a:xfrm>
        </p:spPr>
        <p:txBody>
          <a:bodyPr>
            <a:normAutofit lnSpcReduction="10000"/>
          </a:bodyPr>
          <a:lstStyle/>
          <a:p>
            <a:r>
              <a:rPr lang="en-US" dirty="0"/>
              <a:t>Case 2 (</a:t>
            </a:r>
            <a:r>
              <a:rPr lang="en-US" dirty="0" err="1"/>
              <a:t>contd</a:t>
            </a:r>
            <a:r>
              <a:rPr lang="en-US" dirty="0"/>
              <a:t>) : </a:t>
            </a:r>
          </a:p>
          <a:p>
            <a:r>
              <a:rPr lang="en-US" dirty="0"/>
              <a:t>Goodrich charged </a:t>
            </a:r>
            <a:r>
              <a:rPr lang="en-US" dirty="0" err="1"/>
              <a:t>Wohlgemuth</a:t>
            </a:r>
            <a:r>
              <a:rPr lang="en-US" dirty="0"/>
              <a:t> with being unethical in taking the job with International Latex. Goodrich also went to court seeking a restraining order to prevent him from working for International Latex or any other company that developed space suits. </a:t>
            </a:r>
          </a:p>
          <a:p>
            <a:r>
              <a:rPr lang="en-US" dirty="0"/>
              <a:t>The Ohio Court of Appeals refused to issue such an order, although it did issue an injunction prohibiting </a:t>
            </a:r>
            <a:r>
              <a:rPr lang="en-US" dirty="0" err="1"/>
              <a:t>Wohlgemuth</a:t>
            </a:r>
            <a:r>
              <a:rPr lang="en-US" dirty="0"/>
              <a:t> from revealing any Goodrich trade secrets. </a:t>
            </a:r>
          </a:p>
          <a:p>
            <a:r>
              <a:rPr lang="en-US" dirty="0"/>
              <a:t>Their reasoning was that although Goodrich had a right to have trade secrets kept confidential, it had to be balanced against </a:t>
            </a:r>
            <a:r>
              <a:rPr lang="en-US" dirty="0" err="1"/>
              <a:t>Wohlgemuth’s</a:t>
            </a:r>
            <a:r>
              <a:rPr lang="en-US" dirty="0"/>
              <a:t> personal right to seek career advancement. </a:t>
            </a:r>
          </a:p>
          <a:p>
            <a:endParaRPr lang="en-US" dirty="0"/>
          </a:p>
          <a:p>
            <a:pPr marL="0" indent="0">
              <a:buNone/>
            </a:pPr>
            <a:r>
              <a:rPr lang="en-US" dirty="0">
                <a:solidFill>
                  <a:schemeClr val="accent5">
                    <a:lumMod val="50000"/>
                  </a:schemeClr>
                </a:solidFill>
              </a:rPr>
              <a:t>This would seem to be the correct moral verdict as well</a:t>
            </a:r>
          </a:p>
          <a:p>
            <a:endParaRPr lang="en-US" dirty="0"/>
          </a:p>
        </p:txBody>
      </p:sp>
    </p:spTree>
    <p:extLst>
      <p:ext uri="{BB962C8B-B14F-4D97-AF65-F5344CB8AC3E}">
        <p14:creationId xmlns:p14="http://schemas.microsoft.com/office/powerpoint/2010/main" val="1193453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250"/>
            <a:ext cx="10515600" cy="792163"/>
          </a:xfrm>
        </p:spPr>
        <p:txBody>
          <a:bodyPr/>
          <a:lstStyle/>
          <a:p>
            <a:r>
              <a:rPr lang="en-US" dirty="0"/>
              <a:t>Conflict of Interest</a:t>
            </a:r>
          </a:p>
        </p:txBody>
      </p:sp>
      <p:sp>
        <p:nvSpPr>
          <p:cNvPr id="3" name="Content Placeholder 2"/>
          <p:cNvSpPr>
            <a:spLocks noGrp="1"/>
          </p:cNvSpPr>
          <p:nvPr>
            <p:ph idx="1"/>
          </p:nvPr>
        </p:nvSpPr>
        <p:spPr>
          <a:xfrm>
            <a:off x="838200" y="1014413"/>
            <a:ext cx="10515600" cy="5843587"/>
          </a:xfrm>
        </p:spPr>
        <p:txBody>
          <a:bodyPr>
            <a:normAutofit lnSpcReduction="10000"/>
          </a:bodyPr>
          <a:lstStyle/>
          <a:p>
            <a:r>
              <a:rPr lang="en-US" dirty="0"/>
              <a:t>DEFINITION :</a:t>
            </a:r>
          </a:p>
          <a:p>
            <a:r>
              <a:rPr lang="en-US" dirty="0"/>
              <a:t>Professional conflicts of interest are situations where professionals have an interest that, if pursued, might keep them from meeting their obligations to their employers or clients. </a:t>
            </a:r>
          </a:p>
          <a:p>
            <a:endParaRPr lang="en-US" sz="1200" dirty="0"/>
          </a:p>
          <a:p>
            <a:pPr lvl="1"/>
            <a:r>
              <a:rPr lang="en-US" sz="2600" dirty="0">
                <a:solidFill>
                  <a:srgbClr val="0000FF"/>
                </a:solidFill>
              </a:rPr>
              <a:t>IESL Code of Ethics  Clause 1.4</a:t>
            </a:r>
          </a:p>
          <a:p>
            <a:pPr lvl="1"/>
            <a:r>
              <a:rPr lang="en-US" sz="2600" dirty="0">
                <a:solidFill>
                  <a:srgbClr val="0000FF"/>
                </a:solidFill>
              </a:rPr>
              <a:t>Shall</a:t>
            </a:r>
            <a:r>
              <a:rPr lang="en-US" sz="2600" spc="-15" dirty="0">
                <a:solidFill>
                  <a:srgbClr val="0000FF"/>
                </a:solidFill>
              </a:rPr>
              <a:t> </a:t>
            </a:r>
            <a:r>
              <a:rPr lang="en-US" sz="2600" spc="5" dirty="0">
                <a:solidFill>
                  <a:srgbClr val="0000FF"/>
                </a:solidFill>
              </a:rPr>
              <a:t>n</a:t>
            </a:r>
            <a:r>
              <a:rPr lang="en-US" sz="2600" dirty="0">
                <a:solidFill>
                  <a:srgbClr val="0000FF"/>
                </a:solidFill>
              </a:rPr>
              <a:t>ot</a:t>
            </a:r>
            <a:r>
              <a:rPr lang="en-US" sz="2600" spc="-10" dirty="0">
                <a:solidFill>
                  <a:srgbClr val="0000FF"/>
                </a:solidFill>
              </a:rPr>
              <a:t> </a:t>
            </a:r>
            <a:r>
              <a:rPr lang="en-US" sz="2600" spc="5" dirty="0">
                <a:solidFill>
                  <a:srgbClr val="0000FF"/>
                </a:solidFill>
              </a:rPr>
              <a:t>p</a:t>
            </a:r>
            <a:r>
              <a:rPr lang="en-US" sz="2600" dirty="0">
                <a:solidFill>
                  <a:srgbClr val="0000FF"/>
                </a:solidFill>
              </a:rPr>
              <a:t>artici</a:t>
            </a:r>
            <a:r>
              <a:rPr lang="en-US" sz="2600" spc="5" dirty="0">
                <a:solidFill>
                  <a:srgbClr val="0000FF"/>
                </a:solidFill>
              </a:rPr>
              <a:t>p</a:t>
            </a:r>
            <a:r>
              <a:rPr lang="en-US" sz="2600" dirty="0">
                <a:solidFill>
                  <a:srgbClr val="0000FF"/>
                </a:solidFill>
              </a:rPr>
              <a:t>a</a:t>
            </a:r>
            <a:r>
              <a:rPr lang="en-US" sz="2600" spc="5" dirty="0">
                <a:solidFill>
                  <a:srgbClr val="0000FF"/>
                </a:solidFill>
              </a:rPr>
              <a:t>t</a:t>
            </a:r>
            <a:r>
              <a:rPr lang="en-US" sz="2600" dirty="0">
                <a:solidFill>
                  <a:srgbClr val="0000FF"/>
                </a:solidFill>
              </a:rPr>
              <a:t>e</a:t>
            </a:r>
            <a:r>
              <a:rPr lang="en-US" sz="2600" spc="-50" dirty="0">
                <a:solidFill>
                  <a:srgbClr val="0000FF"/>
                </a:solidFill>
              </a:rPr>
              <a:t> </a:t>
            </a:r>
            <a:r>
              <a:rPr lang="en-US" sz="2600" dirty="0">
                <a:solidFill>
                  <a:srgbClr val="0000FF"/>
                </a:solidFill>
              </a:rPr>
              <a:t>in</a:t>
            </a:r>
            <a:r>
              <a:rPr lang="en-US" sz="2600" spc="-5" dirty="0">
                <a:solidFill>
                  <a:srgbClr val="0000FF"/>
                </a:solidFill>
              </a:rPr>
              <a:t> </a:t>
            </a:r>
            <a:r>
              <a:rPr lang="en-US" sz="2600" spc="5" dirty="0">
                <a:solidFill>
                  <a:srgbClr val="0000FF"/>
                </a:solidFill>
              </a:rPr>
              <a:t>a</a:t>
            </a:r>
            <a:r>
              <a:rPr lang="en-US" sz="2600" spc="-5" dirty="0">
                <a:solidFill>
                  <a:srgbClr val="0000FF"/>
                </a:solidFill>
              </a:rPr>
              <a:t>ss</a:t>
            </a:r>
            <a:r>
              <a:rPr lang="en-US" sz="2600" dirty="0">
                <a:solidFill>
                  <a:srgbClr val="0000FF"/>
                </a:solidFill>
              </a:rPr>
              <a:t>ig</a:t>
            </a:r>
            <a:r>
              <a:rPr lang="en-US" sz="2600" spc="15" dirty="0">
                <a:solidFill>
                  <a:srgbClr val="0000FF"/>
                </a:solidFill>
              </a:rPr>
              <a:t>n</a:t>
            </a:r>
            <a:r>
              <a:rPr lang="en-US" sz="2600" spc="-5" dirty="0">
                <a:solidFill>
                  <a:srgbClr val="0000FF"/>
                </a:solidFill>
              </a:rPr>
              <a:t>me</a:t>
            </a:r>
            <a:r>
              <a:rPr lang="en-US" sz="2600" spc="5" dirty="0">
                <a:solidFill>
                  <a:srgbClr val="0000FF"/>
                </a:solidFill>
              </a:rPr>
              <a:t>n</a:t>
            </a:r>
            <a:r>
              <a:rPr lang="en-US" sz="2600" dirty="0">
                <a:solidFill>
                  <a:srgbClr val="0000FF"/>
                </a:solidFill>
              </a:rPr>
              <a:t>ts</a:t>
            </a:r>
            <a:r>
              <a:rPr lang="en-US" sz="2600" spc="-55" dirty="0">
                <a:solidFill>
                  <a:srgbClr val="0000FF"/>
                </a:solidFill>
              </a:rPr>
              <a:t> </a:t>
            </a:r>
            <a:r>
              <a:rPr lang="en-US" sz="2600" spc="5" dirty="0">
                <a:solidFill>
                  <a:srgbClr val="0000FF"/>
                </a:solidFill>
              </a:rPr>
              <a:t>th</a:t>
            </a:r>
            <a:r>
              <a:rPr lang="en-US" sz="2600" dirty="0">
                <a:solidFill>
                  <a:srgbClr val="0000FF"/>
                </a:solidFill>
              </a:rPr>
              <a:t>at</a:t>
            </a:r>
            <a:r>
              <a:rPr lang="en-US" sz="2600" spc="-10" dirty="0">
                <a:solidFill>
                  <a:srgbClr val="0000FF"/>
                </a:solidFill>
              </a:rPr>
              <a:t> </a:t>
            </a:r>
            <a:r>
              <a:rPr lang="en-US" sz="2600" dirty="0">
                <a:solidFill>
                  <a:srgbClr val="0000FF"/>
                </a:solidFill>
              </a:rPr>
              <a:t>wo</a:t>
            </a:r>
            <a:r>
              <a:rPr lang="en-US" sz="2600" spc="5" dirty="0">
                <a:solidFill>
                  <a:srgbClr val="0000FF"/>
                </a:solidFill>
              </a:rPr>
              <a:t>u</a:t>
            </a:r>
            <a:r>
              <a:rPr lang="en-US" sz="2600" dirty="0">
                <a:solidFill>
                  <a:srgbClr val="0000FF"/>
                </a:solidFill>
              </a:rPr>
              <a:t>ld</a:t>
            </a:r>
            <a:r>
              <a:rPr lang="en-US" sz="2600" spc="-25" dirty="0">
                <a:solidFill>
                  <a:srgbClr val="0000FF"/>
                </a:solidFill>
              </a:rPr>
              <a:t> </a:t>
            </a:r>
            <a:r>
              <a:rPr lang="en-US" sz="2600" dirty="0">
                <a:solidFill>
                  <a:srgbClr val="0000FF"/>
                </a:solidFill>
              </a:rPr>
              <a:t>crea</a:t>
            </a:r>
            <a:r>
              <a:rPr lang="en-US" sz="2600" spc="15" dirty="0">
                <a:solidFill>
                  <a:srgbClr val="0000FF"/>
                </a:solidFill>
              </a:rPr>
              <a:t>t</a:t>
            </a:r>
            <a:r>
              <a:rPr lang="en-US" sz="2600" dirty="0">
                <a:solidFill>
                  <a:srgbClr val="0000FF"/>
                </a:solidFill>
              </a:rPr>
              <a:t>e</a:t>
            </a:r>
            <a:r>
              <a:rPr lang="en-US" sz="2600" spc="-30" dirty="0">
                <a:solidFill>
                  <a:srgbClr val="0000FF"/>
                </a:solidFill>
              </a:rPr>
              <a:t> </a:t>
            </a:r>
            <a:r>
              <a:rPr lang="en-US" sz="2600" dirty="0">
                <a:solidFill>
                  <a:srgbClr val="0000FF"/>
                </a:solidFill>
              </a:rPr>
              <a:t>c</a:t>
            </a:r>
            <a:r>
              <a:rPr lang="en-US" sz="2600" spc="5" dirty="0">
                <a:solidFill>
                  <a:srgbClr val="0000FF"/>
                </a:solidFill>
              </a:rPr>
              <a:t>on</a:t>
            </a:r>
            <a:r>
              <a:rPr lang="en-US" sz="2600" spc="-5" dirty="0">
                <a:solidFill>
                  <a:srgbClr val="0000FF"/>
                </a:solidFill>
              </a:rPr>
              <a:t>f</a:t>
            </a:r>
            <a:r>
              <a:rPr lang="en-US" sz="2600" spc="10" dirty="0">
                <a:solidFill>
                  <a:srgbClr val="0000FF"/>
                </a:solidFill>
              </a:rPr>
              <a:t>l</a:t>
            </a:r>
            <a:r>
              <a:rPr lang="en-US" sz="2600" dirty="0">
                <a:solidFill>
                  <a:srgbClr val="0000FF"/>
                </a:solidFill>
              </a:rPr>
              <a:t>ict</a:t>
            </a:r>
            <a:r>
              <a:rPr lang="en-US" sz="2600" spc="-30" dirty="0">
                <a:solidFill>
                  <a:srgbClr val="0000FF"/>
                </a:solidFill>
              </a:rPr>
              <a:t> </a:t>
            </a:r>
            <a:r>
              <a:rPr lang="en-US" sz="2600" spc="5" dirty="0">
                <a:solidFill>
                  <a:srgbClr val="0000FF"/>
                </a:solidFill>
              </a:rPr>
              <a:t>o</a:t>
            </a:r>
            <a:r>
              <a:rPr lang="en-US" sz="2600" dirty="0">
                <a:solidFill>
                  <a:srgbClr val="0000FF"/>
                </a:solidFill>
              </a:rPr>
              <a:t>f</a:t>
            </a:r>
            <a:r>
              <a:rPr lang="en-US" sz="2600" spc="-15" dirty="0">
                <a:solidFill>
                  <a:srgbClr val="0000FF"/>
                </a:solidFill>
              </a:rPr>
              <a:t> </a:t>
            </a:r>
            <a:r>
              <a:rPr lang="en-US" sz="2600" dirty="0">
                <a:solidFill>
                  <a:srgbClr val="0000FF"/>
                </a:solidFill>
              </a:rPr>
              <a:t>i</a:t>
            </a:r>
            <a:r>
              <a:rPr lang="en-US" sz="2600" spc="5" dirty="0">
                <a:solidFill>
                  <a:srgbClr val="0000FF"/>
                </a:solidFill>
              </a:rPr>
              <a:t>n</a:t>
            </a:r>
            <a:r>
              <a:rPr lang="en-US" sz="2600" dirty="0">
                <a:solidFill>
                  <a:srgbClr val="0000FF"/>
                </a:solidFill>
              </a:rPr>
              <a:t>ter</a:t>
            </a:r>
            <a:r>
              <a:rPr lang="en-US" sz="2600" spc="5" dirty="0">
                <a:solidFill>
                  <a:srgbClr val="0000FF"/>
                </a:solidFill>
              </a:rPr>
              <a:t>e</a:t>
            </a:r>
            <a:r>
              <a:rPr lang="en-US" sz="2600" spc="-5" dirty="0">
                <a:solidFill>
                  <a:srgbClr val="0000FF"/>
                </a:solidFill>
              </a:rPr>
              <a:t>s</a:t>
            </a:r>
            <a:r>
              <a:rPr lang="en-US" sz="2600" dirty="0">
                <a:solidFill>
                  <a:srgbClr val="0000FF"/>
                </a:solidFill>
              </a:rPr>
              <a:t>t</a:t>
            </a:r>
            <a:r>
              <a:rPr lang="en-US" sz="2600" spc="-25" dirty="0">
                <a:solidFill>
                  <a:srgbClr val="0000FF"/>
                </a:solidFill>
              </a:rPr>
              <a:t> </a:t>
            </a:r>
            <a:r>
              <a:rPr lang="en-US" sz="2600" spc="5" dirty="0">
                <a:solidFill>
                  <a:srgbClr val="0000FF"/>
                </a:solidFill>
              </a:rPr>
              <a:t>b</a:t>
            </a:r>
            <a:r>
              <a:rPr lang="en-US" sz="2600" spc="-5" dirty="0">
                <a:solidFill>
                  <a:srgbClr val="0000FF"/>
                </a:solidFill>
              </a:rPr>
              <a:t>e</a:t>
            </a:r>
            <a:r>
              <a:rPr lang="en-US" sz="2600" dirty="0">
                <a:solidFill>
                  <a:srgbClr val="0000FF"/>
                </a:solidFill>
              </a:rPr>
              <a:t>t</a:t>
            </a:r>
            <a:r>
              <a:rPr lang="en-US" sz="2600" spc="10" dirty="0">
                <a:solidFill>
                  <a:srgbClr val="0000FF"/>
                </a:solidFill>
              </a:rPr>
              <a:t>w</a:t>
            </a:r>
            <a:r>
              <a:rPr lang="en-US" sz="2600" spc="-5" dirty="0">
                <a:solidFill>
                  <a:srgbClr val="0000FF"/>
                </a:solidFill>
              </a:rPr>
              <a:t>ee</a:t>
            </a:r>
            <a:r>
              <a:rPr lang="en-US" sz="2600" dirty="0">
                <a:solidFill>
                  <a:srgbClr val="0000FF"/>
                </a:solidFill>
              </a:rPr>
              <a:t>n</a:t>
            </a:r>
            <a:r>
              <a:rPr lang="en-US" sz="2600" spc="-30" dirty="0">
                <a:solidFill>
                  <a:srgbClr val="0000FF"/>
                </a:solidFill>
              </a:rPr>
              <a:t> </a:t>
            </a:r>
            <a:r>
              <a:rPr lang="en-US" sz="2600" spc="5" dirty="0">
                <a:solidFill>
                  <a:srgbClr val="0000FF"/>
                </a:solidFill>
              </a:rPr>
              <a:t>th</a:t>
            </a:r>
            <a:r>
              <a:rPr lang="en-US" sz="2600" spc="-5" dirty="0">
                <a:solidFill>
                  <a:srgbClr val="0000FF"/>
                </a:solidFill>
              </a:rPr>
              <a:t>e</a:t>
            </a:r>
            <a:r>
              <a:rPr lang="en-US" sz="2600" dirty="0">
                <a:solidFill>
                  <a:srgbClr val="0000FF"/>
                </a:solidFill>
              </a:rPr>
              <a:t>ir</a:t>
            </a:r>
            <a:r>
              <a:rPr lang="en-US" sz="2600" spc="-20" dirty="0">
                <a:solidFill>
                  <a:srgbClr val="0000FF"/>
                </a:solidFill>
              </a:rPr>
              <a:t> </a:t>
            </a:r>
            <a:r>
              <a:rPr lang="en-US" sz="2600" spc="10" dirty="0">
                <a:solidFill>
                  <a:srgbClr val="0000FF"/>
                </a:solidFill>
              </a:rPr>
              <a:t>c</a:t>
            </a:r>
            <a:r>
              <a:rPr lang="en-US" sz="2600" dirty="0">
                <a:solidFill>
                  <a:srgbClr val="0000FF"/>
                </a:solidFill>
              </a:rPr>
              <a:t>li</a:t>
            </a:r>
            <a:r>
              <a:rPr lang="en-US" sz="2600" spc="-5" dirty="0">
                <a:solidFill>
                  <a:srgbClr val="0000FF"/>
                </a:solidFill>
              </a:rPr>
              <a:t>e</a:t>
            </a:r>
            <a:r>
              <a:rPr lang="en-US" sz="2600" spc="5" dirty="0">
                <a:solidFill>
                  <a:srgbClr val="0000FF"/>
                </a:solidFill>
              </a:rPr>
              <a:t>n</a:t>
            </a:r>
            <a:r>
              <a:rPr lang="en-US" sz="2600" dirty="0">
                <a:solidFill>
                  <a:srgbClr val="0000FF"/>
                </a:solidFill>
              </a:rPr>
              <a:t>ts</a:t>
            </a:r>
            <a:r>
              <a:rPr lang="en-US" sz="2600" spc="-30" dirty="0">
                <a:solidFill>
                  <a:srgbClr val="0000FF"/>
                </a:solidFill>
              </a:rPr>
              <a:t> </a:t>
            </a:r>
            <a:r>
              <a:rPr lang="en-US" sz="2600" dirty="0">
                <a:solidFill>
                  <a:srgbClr val="0000FF"/>
                </a:solidFill>
              </a:rPr>
              <a:t>/ </a:t>
            </a:r>
            <a:r>
              <a:rPr lang="en-US" sz="2600" spc="-5" dirty="0">
                <a:solidFill>
                  <a:srgbClr val="0000FF"/>
                </a:solidFill>
              </a:rPr>
              <a:t>em</a:t>
            </a:r>
            <a:r>
              <a:rPr lang="en-US" sz="2600" spc="5" dirty="0">
                <a:solidFill>
                  <a:srgbClr val="0000FF"/>
                </a:solidFill>
              </a:rPr>
              <a:t>p</a:t>
            </a:r>
            <a:r>
              <a:rPr lang="en-US" sz="2600" dirty="0">
                <a:solidFill>
                  <a:srgbClr val="0000FF"/>
                </a:solidFill>
              </a:rPr>
              <a:t>lo</a:t>
            </a:r>
            <a:r>
              <a:rPr lang="en-US" sz="2600" spc="5" dirty="0">
                <a:solidFill>
                  <a:srgbClr val="0000FF"/>
                </a:solidFill>
              </a:rPr>
              <a:t>y</a:t>
            </a:r>
            <a:r>
              <a:rPr lang="en-US" sz="2600" spc="-5" dirty="0">
                <a:solidFill>
                  <a:srgbClr val="0000FF"/>
                </a:solidFill>
              </a:rPr>
              <a:t>e</a:t>
            </a:r>
            <a:r>
              <a:rPr lang="en-US" sz="2600" spc="10" dirty="0">
                <a:solidFill>
                  <a:srgbClr val="0000FF"/>
                </a:solidFill>
              </a:rPr>
              <a:t>r</a:t>
            </a:r>
            <a:r>
              <a:rPr lang="en-US" sz="2600" dirty="0">
                <a:solidFill>
                  <a:srgbClr val="0000FF"/>
                </a:solidFill>
              </a:rPr>
              <a:t>s</a:t>
            </a:r>
            <a:r>
              <a:rPr lang="en-US" sz="2600" spc="-50" dirty="0">
                <a:solidFill>
                  <a:srgbClr val="0000FF"/>
                </a:solidFill>
              </a:rPr>
              <a:t> </a:t>
            </a:r>
            <a:r>
              <a:rPr lang="en-US" sz="2600" spc="5" dirty="0">
                <a:solidFill>
                  <a:srgbClr val="0000FF"/>
                </a:solidFill>
              </a:rPr>
              <a:t>an</a:t>
            </a:r>
            <a:r>
              <a:rPr lang="en-US" sz="2600" dirty="0">
                <a:solidFill>
                  <a:srgbClr val="0000FF"/>
                </a:solidFill>
              </a:rPr>
              <a:t>d</a:t>
            </a:r>
            <a:r>
              <a:rPr lang="en-US" sz="2600" spc="-10" dirty="0">
                <a:solidFill>
                  <a:srgbClr val="0000FF"/>
                </a:solidFill>
              </a:rPr>
              <a:t> </a:t>
            </a:r>
            <a:r>
              <a:rPr lang="en-US" sz="2600" spc="5" dirty="0">
                <a:solidFill>
                  <a:srgbClr val="0000FF"/>
                </a:solidFill>
              </a:rPr>
              <a:t>th</a:t>
            </a:r>
            <a:r>
              <a:rPr lang="en-US" sz="2600" dirty="0">
                <a:solidFill>
                  <a:srgbClr val="0000FF"/>
                </a:solidFill>
              </a:rPr>
              <a:t>e</a:t>
            </a:r>
            <a:r>
              <a:rPr lang="en-US" sz="2600" spc="-5" dirty="0">
                <a:solidFill>
                  <a:srgbClr val="0000FF"/>
                </a:solidFill>
              </a:rPr>
              <a:t> </a:t>
            </a:r>
            <a:r>
              <a:rPr lang="en-US" sz="2600" spc="5" dirty="0">
                <a:solidFill>
                  <a:srgbClr val="0000FF"/>
                </a:solidFill>
              </a:rPr>
              <a:t>pub</a:t>
            </a:r>
            <a:r>
              <a:rPr lang="en-US" sz="2600" dirty="0">
                <a:solidFill>
                  <a:srgbClr val="0000FF"/>
                </a:solidFill>
              </a:rPr>
              <a:t>lic</a:t>
            </a:r>
            <a:r>
              <a:rPr lang="en-US" sz="2600" spc="-30" dirty="0">
                <a:solidFill>
                  <a:srgbClr val="0000FF"/>
                </a:solidFill>
              </a:rPr>
              <a:t> </a:t>
            </a:r>
            <a:r>
              <a:rPr lang="en-US" sz="2600" spc="5" dirty="0">
                <a:solidFill>
                  <a:srgbClr val="0000FF"/>
                </a:solidFill>
              </a:rPr>
              <a:t>an</a:t>
            </a:r>
            <a:r>
              <a:rPr lang="en-US" sz="2600" dirty="0">
                <a:solidFill>
                  <a:srgbClr val="0000FF"/>
                </a:solidFill>
              </a:rPr>
              <a:t>d</a:t>
            </a:r>
            <a:r>
              <a:rPr lang="en-US" sz="2600" spc="-20" dirty="0">
                <a:solidFill>
                  <a:srgbClr val="0000FF"/>
                </a:solidFill>
              </a:rPr>
              <a:t> </a:t>
            </a:r>
            <a:r>
              <a:rPr lang="en-US" sz="2600" spc="-5" dirty="0">
                <a:solidFill>
                  <a:srgbClr val="0000FF"/>
                </a:solidFill>
              </a:rPr>
              <a:t>s</a:t>
            </a:r>
            <a:r>
              <a:rPr lang="en-US" sz="2600" spc="5" dirty="0">
                <a:solidFill>
                  <a:srgbClr val="0000FF"/>
                </a:solidFill>
              </a:rPr>
              <a:t>h</a:t>
            </a:r>
            <a:r>
              <a:rPr lang="en-US" sz="2600" dirty="0">
                <a:solidFill>
                  <a:srgbClr val="0000FF"/>
                </a:solidFill>
              </a:rPr>
              <a:t>all</a:t>
            </a:r>
            <a:r>
              <a:rPr lang="en-US" sz="2600" spc="-15" dirty="0">
                <a:solidFill>
                  <a:srgbClr val="0000FF"/>
                </a:solidFill>
              </a:rPr>
              <a:t> </a:t>
            </a:r>
            <a:r>
              <a:rPr lang="en-US" sz="2600" dirty="0">
                <a:solidFill>
                  <a:srgbClr val="0000FF"/>
                </a:solidFill>
              </a:rPr>
              <a:t>a</a:t>
            </a:r>
            <a:r>
              <a:rPr lang="en-US" sz="2600" spc="5" dirty="0">
                <a:solidFill>
                  <a:srgbClr val="0000FF"/>
                </a:solidFill>
              </a:rPr>
              <a:t>d</a:t>
            </a:r>
            <a:r>
              <a:rPr lang="en-US" sz="2600" spc="-5" dirty="0">
                <a:solidFill>
                  <a:srgbClr val="0000FF"/>
                </a:solidFill>
              </a:rPr>
              <a:t>v</a:t>
            </a:r>
            <a:r>
              <a:rPr lang="en-US" sz="2600" dirty="0">
                <a:solidFill>
                  <a:srgbClr val="0000FF"/>
                </a:solidFill>
              </a:rPr>
              <a:t>i</a:t>
            </a:r>
            <a:r>
              <a:rPr lang="en-US" sz="2600" spc="5" dirty="0">
                <a:solidFill>
                  <a:srgbClr val="0000FF"/>
                </a:solidFill>
              </a:rPr>
              <a:t>s</a:t>
            </a:r>
            <a:r>
              <a:rPr lang="en-US" sz="2600" dirty="0">
                <a:solidFill>
                  <a:srgbClr val="0000FF"/>
                </a:solidFill>
              </a:rPr>
              <a:t>e</a:t>
            </a:r>
            <a:r>
              <a:rPr lang="en-US" sz="2600" spc="-30" dirty="0">
                <a:solidFill>
                  <a:srgbClr val="0000FF"/>
                </a:solidFill>
              </a:rPr>
              <a:t> </a:t>
            </a:r>
            <a:r>
              <a:rPr lang="en-US" sz="2600" spc="5" dirty="0">
                <a:solidFill>
                  <a:srgbClr val="0000FF"/>
                </a:solidFill>
              </a:rPr>
              <a:t>th</a:t>
            </a:r>
            <a:r>
              <a:rPr lang="en-US" sz="2600" dirty="0">
                <a:solidFill>
                  <a:srgbClr val="0000FF"/>
                </a:solidFill>
              </a:rPr>
              <a:t>e</a:t>
            </a:r>
            <a:r>
              <a:rPr lang="en-US" sz="2600" spc="-20" dirty="0">
                <a:solidFill>
                  <a:srgbClr val="0000FF"/>
                </a:solidFill>
              </a:rPr>
              <a:t> </a:t>
            </a:r>
            <a:r>
              <a:rPr lang="en-US" sz="2600" dirty="0">
                <a:solidFill>
                  <a:srgbClr val="0000FF"/>
                </a:solidFill>
              </a:rPr>
              <a:t>cl</a:t>
            </a:r>
            <a:r>
              <a:rPr lang="en-US" sz="2600" spc="10" dirty="0">
                <a:solidFill>
                  <a:srgbClr val="0000FF"/>
                </a:solidFill>
              </a:rPr>
              <a:t>i</a:t>
            </a:r>
            <a:r>
              <a:rPr lang="en-US" sz="2600" spc="-5" dirty="0">
                <a:solidFill>
                  <a:srgbClr val="0000FF"/>
                </a:solidFill>
              </a:rPr>
              <a:t>e</a:t>
            </a:r>
            <a:r>
              <a:rPr lang="en-US" sz="2600" spc="5" dirty="0">
                <a:solidFill>
                  <a:srgbClr val="0000FF"/>
                </a:solidFill>
              </a:rPr>
              <a:t>n</a:t>
            </a:r>
            <a:r>
              <a:rPr lang="en-US" sz="2600" dirty="0">
                <a:solidFill>
                  <a:srgbClr val="0000FF"/>
                </a:solidFill>
              </a:rPr>
              <a:t>t</a:t>
            </a:r>
            <a:r>
              <a:rPr lang="en-US" sz="2600" spc="-15" dirty="0">
                <a:solidFill>
                  <a:srgbClr val="0000FF"/>
                </a:solidFill>
              </a:rPr>
              <a:t> </a:t>
            </a:r>
            <a:r>
              <a:rPr lang="en-US" sz="2600" dirty="0">
                <a:solidFill>
                  <a:srgbClr val="0000FF"/>
                </a:solidFill>
              </a:rPr>
              <a:t>of</a:t>
            </a:r>
            <a:r>
              <a:rPr lang="en-US" sz="2600" spc="-15" dirty="0">
                <a:solidFill>
                  <a:srgbClr val="0000FF"/>
                </a:solidFill>
              </a:rPr>
              <a:t> </a:t>
            </a:r>
            <a:r>
              <a:rPr lang="en-US" sz="2600" spc="5" dirty="0">
                <a:solidFill>
                  <a:srgbClr val="0000FF"/>
                </a:solidFill>
              </a:rPr>
              <a:t>th</a:t>
            </a:r>
            <a:r>
              <a:rPr lang="en-US" sz="2600" spc="-5" dirty="0">
                <a:solidFill>
                  <a:srgbClr val="0000FF"/>
                </a:solidFill>
              </a:rPr>
              <a:t>e</a:t>
            </a:r>
            <a:r>
              <a:rPr lang="en-US" sz="2600" dirty="0">
                <a:solidFill>
                  <a:srgbClr val="0000FF"/>
                </a:solidFill>
              </a:rPr>
              <a:t>ir</a:t>
            </a:r>
            <a:r>
              <a:rPr lang="en-US" sz="2600" spc="-5" dirty="0">
                <a:solidFill>
                  <a:srgbClr val="0000FF"/>
                </a:solidFill>
              </a:rPr>
              <a:t> </a:t>
            </a:r>
            <a:r>
              <a:rPr lang="en-US" sz="2600" dirty="0">
                <a:solidFill>
                  <a:srgbClr val="0000FF"/>
                </a:solidFill>
              </a:rPr>
              <a:t>co</a:t>
            </a:r>
            <a:r>
              <a:rPr lang="en-US" sz="2600" spc="5" dirty="0">
                <a:solidFill>
                  <a:srgbClr val="0000FF"/>
                </a:solidFill>
              </a:rPr>
              <a:t>n</a:t>
            </a:r>
            <a:r>
              <a:rPr lang="en-US" sz="2600" dirty="0">
                <a:solidFill>
                  <a:srgbClr val="0000FF"/>
                </a:solidFill>
              </a:rPr>
              <a:t>c</a:t>
            </a:r>
            <a:r>
              <a:rPr lang="en-US" sz="2600" spc="-5" dirty="0">
                <a:solidFill>
                  <a:srgbClr val="0000FF"/>
                </a:solidFill>
              </a:rPr>
              <a:t>e</a:t>
            </a:r>
            <a:r>
              <a:rPr lang="en-US" sz="2600" dirty="0">
                <a:solidFill>
                  <a:srgbClr val="0000FF"/>
                </a:solidFill>
              </a:rPr>
              <a:t>r</a:t>
            </a:r>
            <a:r>
              <a:rPr lang="en-US" sz="2600" spc="5" dirty="0">
                <a:solidFill>
                  <a:srgbClr val="0000FF"/>
                </a:solidFill>
              </a:rPr>
              <a:t>n</a:t>
            </a:r>
            <a:r>
              <a:rPr lang="en-US" sz="2600" spc="-5" dirty="0">
                <a:solidFill>
                  <a:srgbClr val="0000FF"/>
                </a:solidFill>
              </a:rPr>
              <a:t>s</a:t>
            </a:r>
            <a:r>
              <a:rPr lang="en-US" sz="2600" dirty="0">
                <a:solidFill>
                  <a:srgbClr val="0000FF"/>
                </a:solidFill>
              </a:rPr>
              <a:t>.</a:t>
            </a:r>
          </a:p>
          <a:p>
            <a:pPr lvl="1"/>
            <a:endParaRPr lang="en-US" sz="1200" dirty="0">
              <a:solidFill>
                <a:srgbClr val="0000FF"/>
              </a:solidFill>
            </a:endParaRPr>
          </a:p>
          <a:p>
            <a:pPr lvl="1"/>
            <a:r>
              <a:rPr lang="en-US" sz="2600" dirty="0">
                <a:solidFill>
                  <a:schemeClr val="accent5">
                    <a:lumMod val="75000"/>
                  </a:schemeClr>
                </a:solidFill>
              </a:rPr>
              <a:t>IESL Code of Ethics Clause 6.1</a:t>
            </a:r>
          </a:p>
          <a:p>
            <a:pPr lvl="1"/>
            <a:r>
              <a:rPr lang="en-US" sz="2600" dirty="0">
                <a:solidFill>
                  <a:schemeClr val="accent5">
                    <a:lumMod val="75000"/>
                  </a:schemeClr>
                </a:solidFill>
              </a:rPr>
              <a:t>Shall</a:t>
            </a:r>
            <a:r>
              <a:rPr lang="en-US" sz="2600" spc="-15" dirty="0">
                <a:solidFill>
                  <a:schemeClr val="accent5">
                    <a:lumMod val="75000"/>
                  </a:schemeClr>
                </a:solidFill>
              </a:rPr>
              <a:t> </a:t>
            </a:r>
            <a:r>
              <a:rPr lang="en-US" sz="2600" dirty="0">
                <a:solidFill>
                  <a:schemeClr val="accent5">
                    <a:lumMod val="75000"/>
                  </a:schemeClr>
                </a:solidFill>
              </a:rPr>
              <a:t>at</a:t>
            </a:r>
            <a:r>
              <a:rPr lang="en-US" sz="2600" spc="-5" dirty="0">
                <a:solidFill>
                  <a:schemeClr val="accent5">
                    <a:lumMod val="75000"/>
                  </a:schemeClr>
                </a:solidFill>
              </a:rPr>
              <a:t> </a:t>
            </a:r>
            <a:r>
              <a:rPr lang="en-US" sz="2600" spc="5" dirty="0">
                <a:solidFill>
                  <a:schemeClr val="accent5">
                    <a:lumMod val="75000"/>
                  </a:schemeClr>
                </a:solidFill>
              </a:rPr>
              <a:t>a</a:t>
            </a:r>
            <a:r>
              <a:rPr lang="en-US" sz="2600" dirty="0">
                <a:solidFill>
                  <a:schemeClr val="accent5">
                    <a:lumMod val="75000"/>
                  </a:schemeClr>
                </a:solidFill>
              </a:rPr>
              <a:t>ll</a:t>
            </a:r>
            <a:r>
              <a:rPr lang="en-US" sz="2600" spc="-10" dirty="0">
                <a:solidFill>
                  <a:schemeClr val="accent5">
                    <a:lumMod val="75000"/>
                  </a:schemeClr>
                </a:solidFill>
              </a:rPr>
              <a:t> </a:t>
            </a:r>
            <a:r>
              <a:rPr lang="en-US" sz="2600" dirty="0">
                <a:solidFill>
                  <a:schemeClr val="accent5">
                    <a:lumMod val="75000"/>
                  </a:schemeClr>
                </a:solidFill>
              </a:rPr>
              <a:t>ti</a:t>
            </a:r>
            <a:r>
              <a:rPr lang="en-US" sz="2600" spc="-5" dirty="0">
                <a:solidFill>
                  <a:schemeClr val="accent5">
                    <a:lumMod val="75000"/>
                  </a:schemeClr>
                </a:solidFill>
              </a:rPr>
              <a:t>me</a:t>
            </a:r>
            <a:r>
              <a:rPr lang="en-US" sz="2600" dirty="0">
                <a:solidFill>
                  <a:schemeClr val="accent5">
                    <a:lumMod val="75000"/>
                  </a:schemeClr>
                </a:solidFill>
              </a:rPr>
              <a:t>s</a:t>
            </a:r>
            <a:r>
              <a:rPr lang="en-US" sz="2600" spc="-25" dirty="0">
                <a:solidFill>
                  <a:schemeClr val="accent5">
                    <a:lumMod val="75000"/>
                  </a:schemeClr>
                </a:solidFill>
              </a:rPr>
              <a:t> </a:t>
            </a:r>
            <a:r>
              <a:rPr lang="en-US" sz="2600" spc="15" dirty="0">
                <a:solidFill>
                  <a:schemeClr val="accent5">
                    <a:lumMod val="75000"/>
                  </a:schemeClr>
                </a:solidFill>
              </a:rPr>
              <a:t>a</a:t>
            </a:r>
            <a:r>
              <a:rPr lang="en-US" sz="2600" spc="-5" dirty="0">
                <a:solidFill>
                  <a:schemeClr val="accent5">
                    <a:lumMod val="75000"/>
                  </a:schemeClr>
                </a:solidFill>
              </a:rPr>
              <a:t>v</a:t>
            </a:r>
            <a:r>
              <a:rPr lang="en-US" sz="2600" dirty="0">
                <a:solidFill>
                  <a:schemeClr val="accent5">
                    <a:lumMod val="75000"/>
                  </a:schemeClr>
                </a:solidFill>
              </a:rPr>
              <a:t>oid</a:t>
            </a:r>
            <a:r>
              <a:rPr lang="en-US" sz="2600" spc="-20" dirty="0">
                <a:solidFill>
                  <a:schemeClr val="accent5">
                    <a:lumMod val="75000"/>
                  </a:schemeClr>
                </a:solidFill>
              </a:rPr>
              <a:t> </a:t>
            </a:r>
            <a:r>
              <a:rPr lang="en-US" sz="2600" spc="5" dirty="0">
                <a:solidFill>
                  <a:schemeClr val="accent5">
                    <a:lumMod val="75000"/>
                  </a:schemeClr>
                </a:solidFill>
              </a:rPr>
              <a:t>a</a:t>
            </a:r>
            <a:r>
              <a:rPr lang="en-US" sz="2600" dirty="0">
                <a:solidFill>
                  <a:schemeClr val="accent5">
                    <a:lumMod val="75000"/>
                  </a:schemeClr>
                </a:solidFill>
              </a:rPr>
              <a:t>ll</a:t>
            </a:r>
            <a:r>
              <a:rPr lang="en-US" sz="2600" spc="-10" dirty="0">
                <a:solidFill>
                  <a:schemeClr val="accent5">
                    <a:lumMod val="75000"/>
                  </a:schemeClr>
                </a:solidFill>
              </a:rPr>
              <a:t> </a:t>
            </a:r>
            <a:r>
              <a:rPr lang="en-US" sz="2600" spc="5" dirty="0">
                <a:solidFill>
                  <a:schemeClr val="accent5">
                    <a:lumMod val="75000"/>
                  </a:schemeClr>
                </a:solidFill>
              </a:rPr>
              <a:t>kn</a:t>
            </a:r>
            <a:r>
              <a:rPr lang="en-US" sz="2600" dirty="0">
                <a:solidFill>
                  <a:schemeClr val="accent5">
                    <a:lumMod val="75000"/>
                  </a:schemeClr>
                </a:solidFill>
              </a:rPr>
              <a:t>o</a:t>
            </a:r>
            <a:r>
              <a:rPr lang="en-US" sz="2600" spc="-5" dirty="0">
                <a:solidFill>
                  <a:schemeClr val="accent5">
                    <a:lumMod val="75000"/>
                  </a:schemeClr>
                </a:solidFill>
              </a:rPr>
              <a:t>w</a:t>
            </a:r>
            <a:r>
              <a:rPr lang="en-US" sz="2600" dirty="0">
                <a:solidFill>
                  <a:schemeClr val="accent5">
                    <a:lumMod val="75000"/>
                  </a:schemeClr>
                </a:solidFill>
              </a:rPr>
              <a:t>n</a:t>
            </a:r>
            <a:r>
              <a:rPr lang="en-US" sz="2600" spc="-20" dirty="0">
                <a:solidFill>
                  <a:schemeClr val="accent5">
                    <a:lumMod val="75000"/>
                  </a:schemeClr>
                </a:solidFill>
              </a:rPr>
              <a:t> </a:t>
            </a:r>
            <a:r>
              <a:rPr lang="en-US" sz="2600" spc="5" dirty="0">
                <a:solidFill>
                  <a:schemeClr val="accent5">
                    <a:lumMod val="75000"/>
                  </a:schemeClr>
                </a:solidFill>
              </a:rPr>
              <a:t>o</a:t>
            </a:r>
            <a:r>
              <a:rPr lang="en-US" sz="2600" dirty="0">
                <a:solidFill>
                  <a:schemeClr val="accent5">
                    <a:lumMod val="75000"/>
                  </a:schemeClr>
                </a:solidFill>
              </a:rPr>
              <a:t>r</a:t>
            </a:r>
            <a:r>
              <a:rPr lang="en-US" sz="2600" spc="-10" dirty="0">
                <a:solidFill>
                  <a:schemeClr val="accent5">
                    <a:lumMod val="75000"/>
                  </a:schemeClr>
                </a:solidFill>
              </a:rPr>
              <a:t> </a:t>
            </a:r>
            <a:r>
              <a:rPr lang="en-US" sz="2600" spc="5" dirty="0">
                <a:solidFill>
                  <a:schemeClr val="accent5">
                    <a:lumMod val="75000"/>
                  </a:schemeClr>
                </a:solidFill>
              </a:rPr>
              <a:t>p</a:t>
            </a:r>
            <a:r>
              <a:rPr lang="en-US" sz="2600" dirty="0">
                <a:solidFill>
                  <a:schemeClr val="accent5">
                    <a:lumMod val="75000"/>
                  </a:schemeClr>
                </a:solidFill>
              </a:rPr>
              <a:t>otenti</a:t>
            </a:r>
            <a:r>
              <a:rPr lang="en-US" sz="2600" spc="5" dirty="0">
                <a:solidFill>
                  <a:schemeClr val="accent5">
                    <a:lumMod val="75000"/>
                  </a:schemeClr>
                </a:solidFill>
              </a:rPr>
              <a:t>a</a:t>
            </a:r>
            <a:r>
              <a:rPr lang="en-US" sz="2600" dirty="0">
                <a:solidFill>
                  <a:schemeClr val="accent5">
                    <a:lumMod val="75000"/>
                  </a:schemeClr>
                </a:solidFill>
              </a:rPr>
              <a:t>l</a:t>
            </a:r>
            <a:r>
              <a:rPr lang="en-US" sz="2600" spc="-35" dirty="0">
                <a:solidFill>
                  <a:schemeClr val="accent5">
                    <a:lumMod val="75000"/>
                  </a:schemeClr>
                </a:solidFill>
              </a:rPr>
              <a:t> </a:t>
            </a:r>
            <a:r>
              <a:rPr lang="en-US" sz="2600" dirty="0">
                <a:solidFill>
                  <a:schemeClr val="accent5">
                    <a:lumMod val="75000"/>
                  </a:schemeClr>
                </a:solidFill>
              </a:rPr>
              <a:t>c</a:t>
            </a:r>
            <a:r>
              <a:rPr lang="en-US" sz="2600" spc="5" dirty="0">
                <a:solidFill>
                  <a:schemeClr val="accent5">
                    <a:lumMod val="75000"/>
                  </a:schemeClr>
                </a:solidFill>
              </a:rPr>
              <a:t>on</a:t>
            </a:r>
            <a:r>
              <a:rPr lang="en-US" sz="2600" spc="-5" dirty="0">
                <a:solidFill>
                  <a:schemeClr val="accent5">
                    <a:lumMod val="75000"/>
                  </a:schemeClr>
                </a:solidFill>
              </a:rPr>
              <a:t>f</a:t>
            </a:r>
            <a:r>
              <a:rPr lang="en-US" sz="2600" dirty="0">
                <a:solidFill>
                  <a:schemeClr val="accent5">
                    <a:lumMod val="75000"/>
                  </a:schemeClr>
                </a:solidFill>
              </a:rPr>
              <a:t>licts</a:t>
            </a:r>
            <a:r>
              <a:rPr lang="en-US" sz="2600" spc="-40" dirty="0">
                <a:solidFill>
                  <a:schemeClr val="accent5">
                    <a:lumMod val="75000"/>
                  </a:schemeClr>
                </a:solidFill>
              </a:rPr>
              <a:t> </a:t>
            </a:r>
            <a:r>
              <a:rPr lang="en-US" sz="2600" spc="15" dirty="0">
                <a:solidFill>
                  <a:schemeClr val="accent5">
                    <a:lumMod val="75000"/>
                  </a:schemeClr>
                </a:solidFill>
              </a:rPr>
              <a:t>o</a:t>
            </a:r>
            <a:r>
              <a:rPr lang="en-US" sz="2600" dirty="0">
                <a:solidFill>
                  <a:schemeClr val="accent5">
                    <a:lumMod val="75000"/>
                  </a:schemeClr>
                </a:solidFill>
              </a:rPr>
              <a:t>f</a:t>
            </a:r>
            <a:r>
              <a:rPr lang="en-US" sz="2600" spc="-15" dirty="0">
                <a:solidFill>
                  <a:schemeClr val="accent5">
                    <a:lumMod val="75000"/>
                  </a:schemeClr>
                </a:solidFill>
              </a:rPr>
              <a:t> </a:t>
            </a:r>
            <a:r>
              <a:rPr lang="en-US" sz="2600" dirty="0">
                <a:solidFill>
                  <a:schemeClr val="accent5">
                    <a:lumMod val="75000"/>
                  </a:schemeClr>
                </a:solidFill>
              </a:rPr>
              <a:t>i</a:t>
            </a:r>
            <a:r>
              <a:rPr lang="en-US" sz="2600" spc="5" dirty="0">
                <a:solidFill>
                  <a:schemeClr val="accent5">
                    <a:lumMod val="75000"/>
                  </a:schemeClr>
                </a:solidFill>
              </a:rPr>
              <a:t>n</a:t>
            </a:r>
            <a:r>
              <a:rPr lang="en-US" sz="2600" dirty="0">
                <a:solidFill>
                  <a:schemeClr val="accent5">
                    <a:lumMod val="75000"/>
                  </a:schemeClr>
                </a:solidFill>
              </a:rPr>
              <a:t>ter</a:t>
            </a:r>
            <a:r>
              <a:rPr lang="en-US" sz="2600" spc="5" dirty="0">
                <a:solidFill>
                  <a:schemeClr val="accent5">
                    <a:lumMod val="75000"/>
                  </a:schemeClr>
                </a:solidFill>
              </a:rPr>
              <a:t>e</a:t>
            </a:r>
            <a:r>
              <a:rPr lang="en-US" sz="2600" spc="-5" dirty="0">
                <a:solidFill>
                  <a:schemeClr val="accent5">
                    <a:lumMod val="75000"/>
                  </a:schemeClr>
                </a:solidFill>
              </a:rPr>
              <a:t>s</a:t>
            </a:r>
            <a:r>
              <a:rPr lang="en-US" sz="2600" dirty="0">
                <a:solidFill>
                  <a:schemeClr val="accent5">
                    <a:lumMod val="75000"/>
                  </a:schemeClr>
                </a:solidFill>
              </a:rPr>
              <a:t>t</a:t>
            </a:r>
            <a:r>
              <a:rPr lang="en-US" sz="2600" spc="-25" dirty="0">
                <a:solidFill>
                  <a:schemeClr val="accent5">
                    <a:lumMod val="75000"/>
                  </a:schemeClr>
                </a:solidFill>
              </a:rPr>
              <a:t> </a:t>
            </a:r>
            <a:r>
              <a:rPr lang="en-US" sz="2600" dirty="0">
                <a:solidFill>
                  <a:schemeClr val="accent5">
                    <a:lumMod val="75000"/>
                  </a:schemeClr>
                </a:solidFill>
              </a:rPr>
              <a:t>t</a:t>
            </a:r>
            <a:r>
              <a:rPr lang="en-US" sz="2600" spc="5" dirty="0">
                <a:solidFill>
                  <a:schemeClr val="accent5">
                    <a:lumMod val="75000"/>
                  </a:schemeClr>
                </a:solidFill>
              </a:rPr>
              <a:t>h</a:t>
            </a:r>
            <a:r>
              <a:rPr lang="en-US" sz="2600" dirty="0">
                <a:solidFill>
                  <a:schemeClr val="accent5">
                    <a:lumMod val="75000"/>
                  </a:schemeClr>
                </a:solidFill>
              </a:rPr>
              <a:t>at</a:t>
            </a:r>
            <a:r>
              <a:rPr lang="en-US" sz="2600" spc="-10" dirty="0">
                <a:solidFill>
                  <a:schemeClr val="accent5">
                    <a:lumMod val="75000"/>
                  </a:schemeClr>
                </a:solidFill>
              </a:rPr>
              <a:t> </a:t>
            </a:r>
            <a:r>
              <a:rPr lang="en-US" sz="2600" dirty="0">
                <a:solidFill>
                  <a:schemeClr val="accent5">
                    <a:lumMod val="75000"/>
                  </a:schemeClr>
                </a:solidFill>
              </a:rPr>
              <a:t>i</a:t>
            </a:r>
            <a:r>
              <a:rPr lang="en-US" sz="2600" spc="5" dirty="0">
                <a:solidFill>
                  <a:schemeClr val="accent5">
                    <a:lumMod val="75000"/>
                  </a:schemeClr>
                </a:solidFill>
              </a:rPr>
              <a:t>n</a:t>
            </a:r>
            <a:r>
              <a:rPr lang="en-US" sz="2600" spc="-5" dirty="0">
                <a:solidFill>
                  <a:schemeClr val="accent5">
                    <a:lumMod val="75000"/>
                  </a:schemeClr>
                </a:solidFill>
              </a:rPr>
              <a:t>v</a:t>
            </a:r>
            <a:r>
              <a:rPr lang="en-US" sz="2600" dirty="0">
                <a:solidFill>
                  <a:schemeClr val="accent5">
                    <a:lumMod val="75000"/>
                  </a:schemeClr>
                </a:solidFill>
              </a:rPr>
              <a:t>ol</a:t>
            </a:r>
            <a:r>
              <a:rPr lang="en-US" sz="2600" spc="-5" dirty="0">
                <a:solidFill>
                  <a:schemeClr val="accent5">
                    <a:lumMod val="75000"/>
                  </a:schemeClr>
                </a:solidFill>
              </a:rPr>
              <a:t>v</a:t>
            </a:r>
            <a:r>
              <a:rPr lang="en-US" sz="2600" dirty="0">
                <a:solidFill>
                  <a:schemeClr val="accent5">
                    <a:lumMod val="75000"/>
                  </a:schemeClr>
                </a:solidFill>
              </a:rPr>
              <a:t>e</a:t>
            </a:r>
            <a:r>
              <a:rPr lang="en-US" sz="2600" spc="-35" dirty="0">
                <a:solidFill>
                  <a:schemeClr val="accent5">
                    <a:lumMod val="75000"/>
                  </a:schemeClr>
                </a:solidFill>
              </a:rPr>
              <a:t> </a:t>
            </a:r>
            <a:r>
              <a:rPr lang="en-US" sz="2600" spc="5" dirty="0">
                <a:solidFill>
                  <a:schemeClr val="accent5">
                    <a:lumMod val="75000"/>
                  </a:schemeClr>
                </a:solidFill>
              </a:rPr>
              <a:t>th</a:t>
            </a:r>
            <a:r>
              <a:rPr lang="en-US" sz="2600" dirty="0">
                <a:solidFill>
                  <a:schemeClr val="accent5">
                    <a:lumMod val="75000"/>
                  </a:schemeClr>
                </a:solidFill>
              </a:rPr>
              <a:t>e</a:t>
            </a:r>
            <a:r>
              <a:rPr lang="en-US" sz="2600" spc="-5" dirty="0">
                <a:solidFill>
                  <a:schemeClr val="accent5">
                    <a:lumMod val="75000"/>
                  </a:schemeClr>
                </a:solidFill>
              </a:rPr>
              <a:t> e</a:t>
            </a:r>
            <a:r>
              <a:rPr lang="en-US" sz="2600" spc="5" dirty="0">
                <a:solidFill>
                  <a:schemeClr val="accent5">
                    <a:lumMod val="75000"/>
                  </a:schemeClr>
                </a:solidFill>
              </a:rPr>
              <a:t>n</a:t>
            </a:r>
            <a:r>
              <a:rPr lang="en-US" sz="2600" dirty="0">
                <a:solidFill>
                  <a:schemeClr val="accent5">
                    <a:lumMod val="75000"/>
                  </a:schemeClr>
                </a:solidFill>
              </a:rPr>
              <a:t>gin</a:t>
            </a:r>
            <a:r>
              <a:rPr lang="en-US" sz="2600" spc="10" dirty="0">
                <a:solidFill>
                  <a:schemeClr val="accent5">
                    <a:lumMod val="75000"/>
                  </a:schemeClr>
                </a:solidFill>
              </a:rPr>
              <a:t>e</a:t>
            </a:r>
            <a:r>
              <a:rPr lang="en-US" sz="2600" spc="5" dirty="0">
                <a:solidFill>
                  <a:schemeClr val="accent5">
                    <a:lumMod val="75000"/>
                  </a:schemeClr>
                </a:solidFill>
              </a:rPr>
              <a:t>e</a:t>
            </a:r>
            <a:r>
              <a:rPr lang="en-US" sz="2600" dirty="0">
                <a:solidFill>
                  <a:schemeClr val="accent5">
                    <a:lumMod val="75000"/>
                  </a:schemeClr>
                </a:solidFill>
              </a:rPr>
              <a:t>r</a:t>
            </a:r>
            <a:r>
              <a:rPr lang="en-US" sz="2600" spc="-35" dirty="0">
                <a:solidFill>
                  <a:schemeClr val="accent5">
                    <a:lumMod val="75000"/>
                  </a:schemeClr>
                </a:solidFill>
              </a:rPr>
              <a:t> </a:t>
            </a:r>
            <a:r>
              <a:rPr lang="en-US" sz="2600" spc="5" dirty="0">
                <a:solidFill>
                  <a:schemeClr val="accent5">
                    <a:lumMod val="75000"/>
                  </a:schemeClr>
                </a:solidFill>
              </a:rPr>
              <a:t>h</a:t>
            </a:r>
            <a:r>
              <a:rPr lang="en-US" sz="2600" dirty="0">
                <a:solidFill>
                  <a:schemeClr val="accent5">
                    <a:lumMod val="75000"/>
                  </a:schemeClr>
                </a:solidFill>
              </a:rPr>
              <a:t>i</a:t>
            </a:r>
            <a:r>
              <a:rPr lang="en-US" sz="2600" spc="-5" dirty="0">
                <a:solidFill>
                  <a:schemeClr val="accent5">
                    <a:lumMod val="75000"/>
                  </a:schemeClr>
                </a:solidFill>
              </a:rPr>
              <a:t>ms</a:t>
            </a:r>
            <a:r>
              <a:rPr lang="en-US" sz="2600" spc="5" dirty="0">
                <a:solidFill>
                  <a:schemeClr val="accent5">
                    <a:lumMod val="75000"/>
                  </a:schemeClr>
                </a:solidFill>
              </a:rPr>
              <a:t>e</a:t>
            </a:r>
            <a:r>
              <a:rPr lang="en-US" sz="2600" dirty="0">
                <a:solidFill>
                  <a:schemeClr val="accent5">
                    <a:lumMod val="75000"/>
                  </a:schemeClr>
                </a:solidFill>
              </a:rPr>
              <a:t>l</a:t>
            </a:r>
            <a:r>
              <a:rPr lang="en-US" sz="2600" spc="-5" dirty="0">
                <a:solidFill>
                  <a:schemeClr val="accent5">
                    <a:lumMod val="75000"/>
                  </a:schemeClr>
                </a:solidFill>
              </a:rPr>
              <a:t>f</a:t>
            </a:r>
            <a:r>
              <a:rPr lang="en-US" sz="2600" dirty="0">
                <a:solidFill>
                  <a:schemeClr val="accent5">
                    <a:lumMod val="75000"/>
                  </a:schemeClr>
                </a:solidFill>
              </a:rPr>
              <a:t>.</a:t>
            </a:r>
            <a:r>
              <a:rPr lang="en-US" sz="2600" spc="15" dirty="0">
                <a:solidFill>
                  <a:schemeClr val="accent5">
                    <a:lumMod val="75000"/>
                  </a:schemeClr>
                </a:solidFill>
              </a:rPr>
              <a:t> </a:t>
            </a:r>
            <a:r>
              <a:rPr lang="en-US" sz="2600" spc="-5" dirty="0">
                <a:solidFill>
                  <a:schemeClr val="accent5">
                    <a:lumMod val="75000"/>
                  </a:schemeClr>
                </a:solidFill>
              </a:rPr>
              <a:t>T</a:t>
            </a:r>
            <a:r>
              <a:rPr lang="en-US" sz="2600" spc="15" dirty="0">
                <a:solidFill>
                  <a:schemeClr val="accent5">
                    <a:lumMod val="75000"/>
                  </a:schemeClr>
                </a:solidFill>
              </a:rPr>
              <a:t>h</a:t>
            </a:r>
            <a:r>
              <a:rPr lang="en-US" sz="2600" spc="-5" dirty="0">
                <a:solidFill>
                  <a:schemeClr val="accent5">
                    <a:lumMod val="75000"/>
                  </a:schemeClr>
                </a:solidFill>
              </a:rPr>
              <a:t>e</a:t>
            </a:r>
            <a:r>
              <a:rPr lang="en-US" sz="2600" dirty="0">
                <a:solidFill>
                  <a:schemeClr val="accent5">
                    <a:lumMod val="75000"/>
                  </a:schemeClr>
                </a:solidFill>
              </a:rPr>
              <a:t>y </a:t>
            </a:r>
            <a:r>
              <a:rPr lang="en-US" sz="2600" spc="-5" dirty="0">
                <a:solidFill>
                  <a:schemeClr val="accent5">
                    <a:lumMod val="75000"/>
                  </a:schemeClr>
                </a:solidFill>
              </a:rPr>
              <a:t>s</a:t>
            </a:r>
            <a:r>
              <a:rPr lang="en-US" sz="2600" spc="5" dirty="0">
                <a:solidFill>
                  <a:schemeClr val="accent5">
                    <a:lumMod val="75000"/>
                  </a:schemeClr>
                </a:solidFill>
              </a:rPr>
              <a:t>h</a:t>
            </a:r>
            <a:r>
              <a:rPr lang="en-US" sz="2600" dirty="0">
                <a:solidFill>
                  <a:schemeClr val="accent5">
                    <a:lumMod val="75000"/>
                  </a:schemeClr>
                </a:solidFill>
              </a:rPr>
              <a:t>o</a:t>
            </a:r>
            <a:r>
              <a:rPr lang="en-US" sz="2600" spc="5" dirty="0">
                <a:solidFill>
                  <a:schemeClr val="accent5">
                    <a:lumMod val="75000"/>
                  </a:schemeClr>
                </a:solidFill>
              </a:rPr>
              <a:t>u</a:t>
            </a:r>
            <a:r>
              <a:rPr lang="en-US" sz="2600" dirty="0">
                <a:solidFill>
                  <a:schemeClr val="accent5">
                    <a:lumMod val="75000"/>
                  </a:schemeClr>
                </a:solidFill>
              </a:rPr>
              <a:t>ld</a:t>
            </a:r>
            <a:r>
              <a:rPr lang="en-US" sz="2600" spc="-25" dirty="0">
                <a:solidFill>
                  <a:schemeClr val="accent5">
                    <a:lumMod val="75000"/>
                  </a:schemeClr>
                </a:solidFill>
              </a:rPr>
              <a:t> </a:t>
            </a:r>
            <a:r>
              <a:rPr lang="en-US" sz="2600" spc="5" dirty="0">
                <a:solidFill>
                  <a:schemeClr val="accent5">
                    <a:lumMod val="75000"/>
                  </a:schemeClr>
                </a:solidFill>
              </a:rPr>
              <a:t>k</a:t>
            </a:r>
            <a:r>
              <a:rPr lang="en-US" sz="2600" spc="-5" dirty="0">
                <a:solidFill>
                  <a:schemeClr val="accent5">
                    <a:lumMod val="75000"/>
                  </a:schemeClr>
                </a:solidFill>
              </a:rPr>
              <a:t>ee</a:t>
            </a:r>
            <a:r>
              <a:rPr lang="en-US" sz="2600" dirty="0">
                <a:solidFill>
                  <a:schemeClr val="accent5">
                    <a:lumMod val="75000"/>
                  </a:schemeClr>
                </a:solidFill>
              </a:rPr>
              <a:t>p</a:t>
            </a:r>
            <a:r>
              <a:rPr lang="en-US" sz="2600" spc="-15" dirty="0">
                <a:solidFill>
                  <a:schemeClr val="accent5">
                    <a:lumMod val="75000"/>
                  </a:schemeClr>
                </a:solidFill>
              </a:rPr>
              <a:t> </a:t>
            </a:r>
            <a:r>
              <a:rPr lang="en-US" sz="2600" spc="5" dirty="0">
                <a:solidFill>
                  <a:schemeClr val="accent5">
                    <a:lumMod val="75000"/>
                  </a:schemeClr>
                </a:solidFill>
              </a:rPr>
              <a:t>th</a:t>
            </a:r>
            <a:r>
              <a:rPr lang="en-US" sz="2600" spc="-5" dirty="0">
                <a:solidFill>
                  <a:schemeClr val="accent5">
                    <a:lumMod val="75000"/>
                  </a:schemeClr>
                </a:solidFill>
              </a:rPr>
              <a:t>e</a:t>
            </a:r>
            <a:r>
              <a:rPr lang="en-US" sz="2600" dirty="0">
                <a:solidFill>
                  <a:schemeClr val="accent5">
                    <a:lumMod val="75000"/>
                  </a:schemeClr>
                </a:solidFill>
              </a:rPr>
              <a:t>ir</a:t>
            </a:r>
            <a:r>
              <a:rPr lang="en-US" sz="2600" spc="-20" dirty="0">
                <a:solidFill>
                  <a:schemeClr val="accent5">
                    <a:lumMod val="75000"/>
                  </a:schemeClr>
                </a:solidFill>
              </a:rPr>
              <a:t> </a:t>
            </a:r>
            <a:r>
              <a:rPr lang="en-US" sz="2600" spc="10" dirty="0">
                <a:solidFill>
                  <a:schemeClr val="accent5">
                    <a:lumMod val="75000"/>
                  </a:schemeClr>
                </a:solidFill>
              </a:rPr>
              <a:t>e</a:t>
            </a:r>
            <a:r>
              <a:rPr lang="en-US" sz="2600" spc="-5" dirty="0">
                <a:solidFill>
                  <a:schemeClr val="accent5">
                    <a:lumMod val="75000"/>
                  </a:schemeClr>
                </a:solidFill>
              </a:rPr>
              <a:t>m</a:t>
            </a:r>
            <a:r>
              <a:rPr lang="en-US" sz="2600" spc="5" dirty="0">
                <a:solidFill>
                  <a:schemeClr val="accent5">
                    <a:lumMod val="75000"/>
                  </a:schemeClr>
                </a:solidFill>
              </a:rPr>
              <a:t>p</a:t>
            </a:r>
            <a:r>
              <a:rPr lang="en-US" sz="2600" dirty="0">
                <a:solidFill>
                  <a:schemeClr val="accent5">
                    <a:lumMod val="75000"/>
                  </a:schemeClr>
                </a:solidFill>
              </a:rPr>
              <a:t>lo</a:t>
            </a:r>
            <a:r>
              <a:rPr lang="en-US" sz="2600" spc="5" dirty="0">
                <a:solidFill>
                  <a:schemeClr val="accent5">
                    <a:lumMod val="75000"/>
                  </a:schemeClr>
                </a:solidFill>
              </a:rPr>
              <a:t>y</a:t>
            </a:r>
            <a:r>
              <a:rPr lang="en-US" sz="2600" spc="-5" dirty="0">
                <a:solidFill>
                  <a:schemeClr val="accent5">
                    <a:lumMod val="75000"/>
                  </a:schemeClr>
                </a:solidFill>
              </a:rPr>
              <a:t>e</a:t>
            </a:r>
            <a:r>
              <a:rPr lang="en-US" sz="2600" dirty="0">
                <a:solidFill>
                  <a:schemeClr val="accent5">
                    <a:lumMod val="75000"/>
                  </a:schemeClr>
                </a:solidFill>
              </a:rPr>
              <a:t>rs</a:t>
            </a:r>
            <a:r>
              <a:rPr lang="en-US" sz="2600" spc="-35" dirty="0">
                <a:solidFill>
                  <a:schemeClr val="accent5">
                    <a:lumMod val="75000"/>
                  </a:schemeClr>
                </a:solidFill>
              </a:rPr>
              <a:t> </a:t>
            </a:r>
            <a:r>
              <a:rPr lang="en-US" sz="2600" dirty="0">
                <a:solidFill>
                  <a:schemeClr val="accent5">
                    <a:lumMod val="75000"/>
                  </a:schemeClr>
                </a:solidFill>
              </a:rPr>
              <a:t>or</a:t>
            </a:r>
            <a:r>
              <a:rPr lang="en-US" sz="2600" spc="-10" dirty="0">
                <a:solidFill>
                  <a:schemeClr val="accent5">
                    <a:lumMod val="75000"/>
                  </a:schemeClr>
                </a:solidFill>
              </a:rPr>
              <a:t> </a:t>
            </a:r>
            <a:r>
              <a:rPr lang="en-US" sz="2600" dirty="0">
                <a:solidFill>
                  <a:schemeClr val="accent5">
                    <a:lumMod val="75000"/>
                  </a:schemeClr>
                </a:solidFill>
              </a:rPr>
              <a:t>cli</a:t>
            </a:r>
            <a:r>
              <a:rPr lang="en-US" sz="2600" spc="-5" dirty="0">
                <a:solidFill>
                  <a:schemeClr val="accent5">
                    <a:lumMod val="75000"/>
                  </a:schemeClr>
                </a:solidFill>
              </a:rPr>
              <a:t>e</a:t>
            </a:r>
            <a:r>
              <a:rPr lang="en-US" sz="2600" spc="5" dirty="0">
                <a:solidFill>
                  <a:schemeClr val="accent5">
                    <a:lumMod val="75000"/>
                  </a:schemeClr>
                </a:solidFill>
              </a:rPr>
              <a:t>n</a:t>
            </a:r>
            <a:r>
              <a:rPr lang="en-US" sz="2600" dirty="0">
                <a:solidFill>
                  <a:schemeClr val="accent5">
                    <a:lumMod val="75000"/>
                  </a:schemeClr>
                </a:solidFill>
              </a:rPr>
              <a:t>ts</a:t>
            </a:r>
            <a:r>
              <a:rPr lang="en-US" sz="2600" spc="-30" dirty="0">
                <a:solidFill>
                  <a:schemeClr val="accent5">
                    <a:lumMod val="75000"/>
                  </a:schemeClr>
                </a:solidFill>
              </a:rPr>
              <a:t> </a:t>
            </a:r>
            <a:r>
              <a:rPr lang="en-US" sz="2600" dirty="0">
                <a:solidFill>
                  <a:schemeClr val="accent5">
                    <a:lumMod val="75000"/>
                  </a:schemeClr>
                </a:solidFill>
              </a:rPr>
              <a:t>fully</a:t>
            </a:r>
            <a:r>
              <a:rPr lang="en-US" sz="2600" spc="-10" dirty="0">
                <a:solidFill>
                  <a:schemeClr val="accent5">
                    <a:lumMod val="75000"/>
                  </a:schemeClr>
                </a:solidFill>
              </a:rPr>
              <a:t> </a:t>
            </a:r>
            <a:r>
              <a:rPr lang="en-US" sz="2600" dirty="0">
                <a:solidFill>
                  <a:schemeClr val="accent5">
                    <a:lumMod val="75000"/>
                  </a:schemeClr>
                </a:solidFill>
              </a:rPr>
              <a:t>i</a:t>
            </a:r>
            <a:r>
              <a:rPr lang="en-US" sz="2600" spc="5" dirty="0">
                <a:solidFill>
                  <a:schemeClr val="accent5">
                    <a:lumMod val="75000"/>
                  </a:schemeClr>
                </a:solidFill>
              </a:rPr>
              <a:t>n</a:t>
            </a:r>
            <a:r>
              <a:rPr lang="en-US" sz="2600" spc="-5" dirty="0">
                <a:solidFill>
                  <a:schemeClr val="accent5">
                    <a:lumMod val="75000"/>
                  </a:schemeClr>
                </a:solidFill>
              </a:rPr>
              <a:t>f</a:t>
            </a:r>
            <a:r>
              <a:rPr lang="en-US" sz="2600" dirty="0">
                <a:solidFill>
                  <a:schemeClr val="accent5">
                    <a:lumMod val="75000"/>
                  </a:schemeClr>
                </a:solidFill>
              </a:rPr>
              <a:t>o</a:t>
            </a:r>
            <a:r>
              <a:rPr lang="en-US" sz="2600" spc="10" dirty="0">
                <a:solidFill>
                  <a:schemeClr val="accent5">
                    <a:lumMod val="75000"/>
                  </a:schemeClr>
                </a:solidFill>
              </a:rPr>
              <a:t>r</a:t>
            </a:r>
            <a:r>
              <a:rPr lang="en-US" sz="2600" spc="-5" dirty="0">
                <a:solidFill>
                  <a:schemeClr val="accent5">
                    <a:lumMod val="75000"/>
                  </a:schemeClr>
                </a:solidFill>
              </a:rPr>
              <a:t>me</a:t>
            </a:r>
            <a:r>
              <a:rPr lang="en-US" sz="2600" dirty="0">
                <a:solidFill>
                  <a:schemeClr val="accent5">
                    <a:lumMod val="75000"/>
                  </a:schemeClr>
                </a:solidFill>
              </a:rPr>
              <a:t>d</a:t>
            </a:r>
            <a:r>
              <a:rPr lang="en-US" sz="2600" spc="-35" dirty="0">
                <a:solidFill>
                  <a:schemeClr val="accent5">
                    <a:lumMod val="75000"/>
                  </a:schemeClr>
                </a:solidFill>
              </a:rPr>
              <a:t> </a:t>
            </a:r>
            <a:r>
              <a:rPr lang="en-US" sz="2600" spc="5" dirty="0">
                <a:solidFill>
                  <a:schemeClr val="accent5">
                    <a:lumMod val="75000"/>
                  </a:schemeClr>
                </a:solidFill>
              </a:rPr>
              <a:t>o</a:t>
            </a:r>
            <a:r>
              <a:rPr lang="en-US" sz="2600" dirty="0">
                <a:solidFill>
                  <a:schemeClr val="accent5">
                    <a:lumMod val="75000"/>
                  </a:schemeClr>
                </a:solidFill>
              </a:rPr>
              <a:t>n</a:t>
            </a:r>
            <a:r>
              <a:rPr lang="en-US" sz="2600" spc="-5" dirty="0">
                <a:solidFill>
                  <a:schemeClr val="accent5">
                    <a:lumMod val="75000"/>
                  </a:schemeClr>
                </a:solidFill>
              </a:rPr>
              <a:t> </a:t>
            </a:r>
            <a:r>
              <a:rPr lang="en-US" sz="2600" spc="5" dirty="0">
                <a:solidFill>
                  <a:schemeClr val="accent5">
                    <a:lumMod val="75000"/>
                  </a:schemeClr>
                </a:solidFill>
              </a:rPr>
              <a:t>a</a:t>
            </a:r>
            <a:r>
              <a:rPr lang="en-US" sz="2600" dirty="0">
                <a:solidFill>
                  <a:schemeClr val="accent5">
                    <a:lumMod val="75000"/>
                  </a:schemeClr>
                </a:solidFill>
              </a:rPr>
              <a:t>ll ma</a:t>
            </a:r>
            <a:r>
              <a:rPr lang="en-US" sz="2600" spc="5" dirty="0">
                <a:solidFill>
                  <a:schemeClr val="accent5">
                    <a:lumMod val="75000"/>
                  </a:schemeClr>
                </a:solidFill>
              </a:rPr>
              <a:t>t</a:t>
            </a:r>
            <a:r>
              <a:rPr lang="en-US" sz="2600" dirty="0">
                <a:solidFill>
                  <a:schemeClr val="accent5">
                    <a:lumMod val="75000"/>
                  </a:schemeClr>
                </a:solidFill>
              </a:rPr>
              <a:t>ter</a:t>
            </a:r>
            <a:r>
              <a:rPr lang="en-US" sz="2600" spc="-5" dirty="0">
                <a:solidFill>
                  <a:schemeClr val="accent5">
                    <a:lumMod val="75000"/>
                  </a:schemeClr>
                </a:solidFill>
              </a:rPr>
              <a:t>s</a:t>
            </a:r>
            <a:r>
              <a:rPr lang="en-US" sz="2600" dirty="0">
                <a:solidFill>
                  <a:schemeClr val="accent5">
                    <a:lumMod val="75000"/>
                  </a:schemeClr>
                </a:solidFill>
              </a:rPr>
              <a:t>,</a:t>
            </a:r>
            <a:r>
              <a:rPr lang="en-US" sz="2600" spc="-35" dirty="0">
                <a:solidFill>
                  <a:schemeClr val="accent5">
                    <a:lumMod val="75000"/>
                  </a:schemeClr>
                </a:solidFill>
              </a:rPr>
              <a:t> </a:t>
            </a:r>
            <a:r>
              <a:rPr lang="en-US" sz="2600" dirty="0">
                <a:solidFill>
                  <a:schemeClr val="accent5">
                    <a:lumMod val="75000"/>
                  </a:schemeClr>
                </a:solidFill>
              </a:rPr>
              <a:t>i</a:t>
            </a:r>
            <a:r>
              <a:rPr lang="en-US" sz="2600" spc="5" dirty="0">
                <a:solidFill>
                  <a:schemeClr val="accent5">
                    <a:lumMod val="75000"/>
                  </a:schemeClr>
                </a:solidFill>
              </a:rPr>
              <a:t>n</a:t>
            </a:r>
            <a:r>
              <a:rPr lang="en-US" sz="2600" dirty="0">
                <a:solidFill>
                  <a:schemeClr val="accent5">
                    <a:lumMod val="75000"/>
                  </a:schemeClr>
                </a:solidFill>
              </a:rPr>
              <a:t>clu</a:t>
            </a:r>
            <a:r>
              <a:rPr lang="en-US" sz="2600" spc="5" dirty="0">
                <a:solidFill>
                  <a:schemeClr val="accent5">
                    <a:lumMod val="75000"/>
                  </a:schemeClr>
                </a:solidFill>
              </a:rPr>
              <a:t>d</a:t>
            </a:r>
            <a:r>
              <a:rPr lang="en-US" sz="2600" dirty="0">
                <a:solidFill>
                  <a:schemeClr val="accent5">
                    <a:lumMod val="75000"/>
                  </a:schemeClr>
                </a:solidFill>
              </a:rPr>
              <a:t>i</a:t>
            </a:r>
            <a:r>
              <a:rPr lang="en-US" sz="2600" spc="5" dirty="0">
                <a:solidFill>
                  <a:schemeClr val="accent5">
                    <a:lumMod val="75000"/>
                  </a:schemeClr>
                </a:solidFill>
              </a:rPr>
              <a:t>n</a:t>
            </a:r>
            <a:r>
              <a:rPr lang="en-US" sz="2600" dirty="0">
                <a:solidFill>
                  <a:schemeClr val="accent5">
                    <a:lumMod val="75000"/>
                  </a:schemeClr>
                </a:solidFill>
              </a:rPr>
              <a:t>g</a:t>
            </a:r>
            <a:r>
              <a:rPr lang="en-US" sz="2600" spc="-35" dirty="0">
                <a:solidFill>
                  <a:schemeClr val="accent5">
                    <a:lumMod val="75000"/>
                  </a:schemeClr>
                </a:solidFill>
              </a:rPr>
              <a:t> </a:t>
            </a:r>
            <a:r>
              <a:rPr lang="en-US" sz="2600" dirty="0">
                <a:solidFill>
                  <a:schemeClr val="accent5">
                    <a:lumMod val="75000"/>
                  </a:schemeClr>
                </a:solidFill>
              </a:rPr>
              <a:t>f</a:t>
            </a:r>
            <a:r>
              <a:rPr lang="en-US" sz="2600" spc="-5" dirty="0">
                <a:solidFill>
                  <a:schemeClr val="accent5">
                    <a:lumMod val="75000"/>
                  </a:schemeClr>
                </a:solidFill>
              </a:rPr>
              <a:t>i</a:t>
            </a:r>
            <a:r>
              <a:rPr lang="en-US" sz="2600" spc="5" dirty="0">
                <a:solidFill>
                  <a:schemeClr val="accent5">
                    <a:lumMod val="75000"/>
                  </a:schemeClr>
                </a:solidFill>
              </a:rPr>
              <a:t>n</a:t>
            </a:r>
            <a:r>
              <a:rPr lang="en-US" sz="2600" dirty="0">
                <a:solidFill>
                  <a:schemeClr val="accent5">
                    <a:lumMod val="75000"/>
                  </a:schemeClr>
                </a:solidFill>
              </a:rPr>
              <a:t>a</a:t>
            </a:r>
            <a:r>
              <a:rPr lang="en-US" sz="2600" spc="5" dirty="0">
                <a:solidFill>
                  <a:schemeClr val="accent5">
                    <a:lumMod val="75000"/>
                  </a:schemeClr>
                </a:solidFill>
              </a:rPr>
              <a:t>n</a:t>
            </a:r>
            <a:r>
              <a:rPr lang="en-US" sz="2600" dirty="0">
                <a:solidFill>
                  <a:schemeClr val="accent5">
                    <a:lumMod val="75000"/>
                  </a:schemeClr>
                </a:solidFill>
              </a:rPr>
              <a:t>cial</a:t>
            </a:r>
            <a:r>
              <a:rPr lang="en-US" sz="2600" spc="-35" dirty="0">
                <a:solidFill>
                  <a:schemeClr val="accent5">
                    <a:lumMod val="75000"/>
                  </a:schemeClr>
                </a:solidFill>
              </a:rPr>
              <a:t> </a:t>
            </a:r>
            <a:r>
              <a:rPr lang="en-US" sz="2600" dirty="0">
                <a:solidFill>
                  <a:schemeClr val="accent5">
                    <a:lumMod val="75000"/>
                  </a:schemeClr>
                </a:solidFill>
              </a:rPr>
              <a:t>i</a:t>
            </a:r>
            <a:r>
              <a:rPr lang="en-US" sz="2600" spc="15" dirty="0">
                <a:solidFill>
                  <a:schemeClr val="accent5">
                    <a:lumMod val="75000"/>
                  </a:schemeClr>
                </a:solidFill>
              </a:rPr>
              <a:t>n</a:t>
            </a:r>
            <a:r>
              <a:rPr lang="en-US" sz="2600" dirty="0">
                <a:solidFill>
                  <a:schemeClr val="accent5">
                    <a:lumMod val="75000"/>
                  </a:schemeClr>
                </a:solidFill>
              </a:rPr>
              <a:t>ter</a:t>
            </a:r>
            <a:r>
              <a:rPr lang="en-US" sz="2600" spc="-5" dirty="0">
                <a:solidFill>
                  <a:schemeClr val="accent5">
                    <a:lumMod val="75000"/>
                  </a:schemeClr>
                </a:solidFill>
              </a:rPr>
              <a:t>es</a:t>
            </a:r>
            <a:r>
              <a:rPr lang="en-US" sz="2600" spc="15" dirty="0">
                <a:solidFill>
                  <a:schemeClr val="accent5">
                    <a:lumMod val="75000"/>
                  </a:schemeClr>
                </a:solidFill>
              </a:rPr>
              <a:t>t</a:t>
            </a:r>
            <a:r>
              <a:rPr lang="en-US" sz="2600" spc="-5" dirty="0">
                <a:solidFill>
                  <a:schemeClr val="accent5">
                    <a:lumMod val="75000"/>
                  </a:schemeClr>
                </a:solidFill>
              </a:rPr>
              <a:t>s</a:t>
            </a:r>
            <a:r>
              <a:rPr lang="en-US" sz="2600" dirty="0">
                <a:solidFill>
                  <a:schemeClr val="accent5">
                    <a:lumMod val="75000"/>
                  </a:schemeClr>
                </a:solidFill>
              </a:rPr>
              <a:t>,</a:t>
            </a:r>
            <a:r>
              <a:rPr lang="en-US" sz="2600" spc="-40" dirty="0">
                <a:solidFill>
                  <a:schemeClr val="accent5">
                    <a:lumMod val="75000"/>
                  </a:schemeClr>
                </a:solidFill>
              </a:rPr>
              <a:t> </a:t>
            </a:r>
            <a:r>
              <a:rPr lang="en-US" sz="2600" dirty="0">
                <a:solidFill>
                  <a:schemeClr val="accent5">
                    <a:lumMod val="75000"/>
                  </a:schemeClr>
                </a:solidFill>
              </a:rPr>
              <a:t>w</a:t>
            </a:r>
            <a:r>
              <a:rPr lang="en-US" sz="2600" spc="5" dirty="0">
                <a:solidFill>
                  <a:schemeClr val="accent5">
                    <a:lumMod val="75000"/>
                  </a:schemeClr>
                </a:solidFill>
              </a:rPr>
              <a:t>h</a:t>
            </a:r>
            <a:r>
              <a:rPr lang="en-US" sz="2600" dirty="0">
                <a:solidFill>
                  <a:schemeClr val="accent5">
                    <a:lumMod val="75000"/>
                  </a:schemeClr>
                </a:solidFill>
              </a:rPr>
              <a:t>ich co</a:t>
            </a:r>
            <a:r>
              <a:rPr lang="en-US" sz="2600" spc="5" dirty="0">
                <a:solidFill>
                  <a:schemeClr val="accent5">
                    <a:lumMod val="75000"/>
                  </a:schemeClr>
                </a:solidFill>
              </a:rPr>
              <a:t>u</a:t>
            </a:r>
            <a:r>
              <a:rPr lang="en-US" sz="2600" dirty="0">
                <a:solidFill>
                  <a:schemeClr val="accent5">
                    <a:lumMod val="75000"/>
                  </a:schemeClr>
                </a:solidFill>
              </a:rPr>
              <a:t>ld</a:t>
            </a:r>
            <a:r>
              <a:rPr lang="en-US" sz="2600" spc="-20" dirty="0">
                <a:solidFill>
                  <a:schemeClr val="accent5">
                    <a:lumMod val="75000"/>
                  </a:schemeClr>
                </a:solidFill>
              </a:rPr>
              <a:t> </a:t>
            </a:r>
            <a:r>
              <a:rPr lang="en-US" sz="2600" dirty="0">
                <a:solidFill>
                  <a:schemeClr val="accent5">
                    <a:lumMod val="75000"/>
                  </a:schemeClr>
                </a:solidFill>
              </a:rPr>
              <a:t>lead</a:t>
            </a:r>
            <a:r>
              <a:rPr lang="en-US" sz="2600" spc="-10" dirty="0">
                <a:solidFill>
                  <a:schemeClr val="accent5">
                    <a:lumMod val="75000"/>
                  </a:schemeClr>
                </a:solidFill>
              </a:rPr>
              <a:t> </a:t>
            </a:r>
            <a:r>
              <a:rPr lang="en-US" sz="2600" spc="5" dirty="0">
                <a:solidFill>
                  <a:schemeClr val="accent5">
                    <a:lumMod val="75000"/>
                  </a:schemeClr>
                </a:solidFill>
              </a:rPr>
              <a:t>t</a:t>
            </a:r>
            <a:r>
              <a:rPr lang="en-US" sz="2600" dirty="0">
                <a:solidFill>
                  <a:schemeClr val="accent5">
                    <a:lumMod val="75000"/>
                  </a:schemeClr>
                </a:solidFill>
              </a:rPr>
              <a:t>o</a:t>
            </a:r>
            <a:r>
              <a:rPr lang="en-US" sz="2600" spc="-10" dirty="0">
                <a:solidFill>
                  <a:schemeClr val="accent5">
                    <a:lumMod val="75000"/>
                  </a:schemeClr>
                </a:solidFill>
              </a:rPr>
              <a:t> </a:t>
            </a:r>
            <a:r>
              <a:rPr lang="en-US" sz="2600" dirty="0">
                <a:solidFill>
                  <a:schemeClr val="accent5">
                    <a:lumMod val="75000"/>
                  </a:schemeClr>
                </a:solidFill>
              </a:rPr>
              <a:t>such</a:t>
            </a:r>
            <a:r>
              <a:rPr lang="en-US" sz="2600" spc="-15" dirty="0">
                <a:solidFill>
                  <a:schemeClr val="accent5">
                    <a:lumMod val="75000"/>
                  </a:schemeClr>
                </a:solidFill>
              </a:rPr>
              <a:t> </a:t>
            </a:r>
            <a:r>
              <a:rPr lang="en-US" sz="2600" dirty="0">
                <a:solidFill>
                  <a:schemeClr val="accent5">
                    <a:lumMod val="75000"/>
                  </a:schemeClr>
                </a:solidFill>
              </a:rPr>
              <a:t>a c</a:t>
            </a:r>
            <a:r>
              <a:rPr lang="en-US" sz="2600" spc="5" dirty="0">
                <a:solidFill>
                  <a:schemeClr val="accent5">
                    <a:lumMod val="75000"/>
                  </a:schemeClr>
                </a:solidFill>
              </a:rPr>
              <a:t>on</a:t>
            </a:r>
            <a:r>
              <a:rPr lang="en-US" sz="2600" spc="-5" dirty="0">
                <a:solidFill>
                  <a:schemeClr val="accent5">
                    <a:lumMod val="75000"/>
                  </a:schemeClr>
                </a:solidFill>
              </a:rPr>
              <a:t>f</a:t>
            </a:r>
            <a:r>
              <a:rPr lang="en-US" sz="2600" dirty="0">
                <a:solidFill>
                  <a:schemeClr val="accent5">
                    <a:lumMod val="75000"/>
                  </a:schemeClr>
                </a:solidFill>
              </a:rPr>
              <a:t>lict,</a:t>
            </a:r>
            <a:r>
              <a:rPr lang="en-US" sz="2600" spc="-25" dirty="0">
                <a:solidFill>
                  <a:schemeClr val="accent5">
                    <a:lumMod val="75000"/>
                  </a:schemeClr>
                </a:solidFill>
              </a:rPr>
              <a:t> </a:t>
            </a:r>
            <a:r>
              <a:rPr lang="en-US" sz="2600" spc="5" dirty="0">
                <a:solidFill>
                  <a:schemeClr val="accent5">
                    <a:lumMod val="75000"/>
                  </a:schemeClr>
                </a:solidFill>
              </a:rPr>
              <a:t>an</a:t>
            </a:r>
            <a:r>
              <a:rPr lang="en-US" sz="2600" dirty="0">
                <a:solidFill>
                  <a:schemeClr val="accent5">
                    <a:lumMod val="75000"/>
                  </a:schemeClr>
                </a:solidFill>
              </a:rPr>
              <a:t>d</a:t>
            </a:r>
            <a:r>
              <a:rPr lang="en-US" sz="2600" spc="-10" dirty="0">
                <a:solidFill>
                  <a:schemeClr val="accent5">
                    <a:lumMod val="75000"/>
                  </a:schemeClr>
                </a:solidFill>
              </a:rPr>
              <a:t> </a:t>
            </a:r>
            <a:r>
              <a:rPr lang="en-US" sz="2600" spc="5" dirty="0">
                <a:solidFill>
                  <a:schemeClr val="accent5">
                    <a:lumMod val="75000"/>
                  </a:schemeClr>
                </a:solidFill>
              </a:rPr>
              <a:t>und</a:t>
            </a:r>
            <a:r>
              <a:rPr lang="en-US" sz="2600" spc="-5" dirty="0">
                <a:solidFill>
                  <a:schemeClr val="accent5">
                    <a:lumMod val="75000"/>
                  </a:schemeClr>
                </a:solidFill>
              </a:rPr>
              <a:t>e</a:t>
            </a:r>
            <a:r>
              <a:rPr lang="en-US" sz="2600" dirty="0">
                <a:solidFill>
                  <a:schemeClr val="accent5">
                    <a:lumMod val="75000"/>
                  </a:schemeClr>
                </a:solidFill>
              </a:rPr>
              <a:t>r</a:t>
            </a:r>
            <a:r>
              <a:rPr lang="en-US" sz="2600" spc="-25" dirty="0">
                <a:solidFill>
                  <a:schemeClr val="accent5">
                    <a:lumMod val="75000"/>
                  </a:schemeClr>
                </a:solidFill>
              </a:rPr>
              <a:t> </a:t>
            </a:r>
            <a:r>
              <a:rPr lang="en-US" sz="2600" spc="5" dirty="0">
                <a:solidFill>
                  <a:schemeClr val="accent5">
                    <a:lumMod val="75000"/>
                  </a:schemeClr>
                </a:solidFill>
              </a:rPr>
              <a:t>n</a:t>
            </a:r>
            <a:r>
              <a:rPr lang="en-US" sz="2600" dirty="0">
                <a:solidFill>
                  <a:schemeClr val="accent5">
                    <a:lumMod val="75000"/>
                  </a:schemeClr>
                </a:solidFill>
              </a:rPr>
              <a:t>o</a:t>
            </a:r>
            <a:r>
              <a:rPr lang="en-US" sz="2600" spc="-10" dirty="0">
                <a:solidFill>
                  <a:schemeClr val="accent5">
                    <a:lumMod val="75000"/>
                  </a:schemeClr>
                </a:solidFill>
              </a:rPr>
              <a:t> </a:t>
            </a:r>
            <a:r>
              <a:rPr lang="en-US" sz="2600" dirty="0">
                <a:solidFill>
                  <a:schemeClr val="accent5">
                    <a:lumMod val="75000"/>
                  </a:schemeClr>
                </a:solidFill>
              </a:rPr>
              <a:t>circ</a:t>
            </a:r>
            <a:r>
              <a:rPr lang="en-US" sz="2600" spc="5" dirty="0">
                <a:solidFill>
                  <a:schemeClr val="accent5">
                    <a:lumMod val="75000"/>
                  </a:schemeClr>
                </a:solidFill>
              </a:rPr>
              <a:t>u</a:t>
            </a:r>
            <a:r>
              <a:rPr lang="en-US" sz="2600" spc="-5" dirty="0">
                <a:solidFill>
                  <a:schemeClr val="accent5">
                    <a:lumMod val="75000"/>
                  </a:schemeClr>
                </a:solidFill>
              </a:rPr>
              <a:t>ms</a:t>
            </a:r>
            <a:r>
              <a:rPr lang="en-US" sz="2600" dirty="0">
                <a:solidFill>
                  <a:schemeClr val="accent5">
                    <a:lumMod val="75000"/>
                  </a:schemeClr>
                </a:solidFill>
              </a:rPr>
              <a:t>t</a:t>
            </a:r>
            <a:r>
              <a:rPr lang="en-US" sz="2600" spc="5" dirty="0">
                <a:solidFill>
                  <a:schemeClr val="accent5">
                    <a:lumMod val="75000"/>
                  </a:schemeClr>
                </a:solidFill>
              </a:rPr>
              <a:t>an</a:t>
            </a:r>
            <a:r>
              <a:rPr lang="en-US" sz="2600" dirty="0">
                <a:solidFill>
                  <a:schemeClr val="accent5">
                    <a:lumMod val="75000"/>
                  </a:schemeClr>
                </a:solidFill>
              </a:rPr>
              <a:t>c</a:t>
            </a:r>
            <a:r>
              <a:rPr lang="en-US" sz="2600" spc="-5" dirty="0">
                <a:solidFill>
                  <a:schemeClr val="accent5">
                    <a:lumMod val="75000"/>
                  </a:schemeClr>
                </a:solidFill>
              </a:rPr>
              <a:t>e</a:t>
            </a:r>
            <a:r>
              <a:rPr lang="en-US" sz="2600" dirty="0">
                <a:solidFill>
                  <a:schemeClr val="accent5">
                    <a:lumMod val="75000"/>
                  </a:schemeClr>
                </a:solidFill>
              </a:rPr>
              <a:t>s</a:t>
            </a:r>
            <a:r>
              <a:rPr lang="en-US" sz="2600" spc="-50" dirty="0">
                <a:solidFill>
                  <a:schemeClr val="accent5">
                    <a:lumMod val="75000"/>
                  </a:schemeClr>
                </a:solidFill>
              </a:rPr>
              <a:t> </a:t>
            </a:r>
            <a:r>
              <a:rPr lang="en-US" sz="2600" spc="-5" dirty="0">
                <a:solidFill>
                  <a:schemeClr val="accent5">
                    <a:lumMod val="75000"/>
                  </a:schemeClr>
                </a:solidFill>
              </a:rPr>
              <a:t>s</a:t>
            </a:r>
            <a:r>
              <a:rPr lang="en-US" sz="2600" spc="5" dirty="0">
                <a:solidFill>
                  <a:schemeClr val="accent5">
                    <a:lumMod val="75000"/>
                  </a:schemeClr>
                </a:solidFill>
              </a:rPr>
              <a:t>h</a:t>
            </a:r>
            <a:r>
              <a:rPr lang="en-US" sz="2600" dirty="0">
                <a:solidFill>
                  <a:schemeClr val="accent5">
                    <a:lumMod val="75000"/>
                  </a:schemeClr>
                </a:solidFill>
              </a:rPr>
              <a:t>o</a:t>
            </a:r>
            <a:r>
              <a:rPr lang="en-US" sz="2600" spc="5" dirty="0">
                <a:solidFill>
                  <a:schemeClr val="accent5">
                    <a:lumMod val="75000"/>
                  </a:schemeClr>
                </a:solidFill>
              </a:rPr>
              <a:t>u</a:t>
            </a:r>
            <a:r>
              <a:rPr lang="en-US" sz="2600" dirty="0">
                <a:solidFill>
                  <a:schemeClr val="accent5">
                    <a:lumMod val="75000"/>
                  </a:schemeClr>
                </a:solidFill>
              </a:rPr>
              <a:t>ld</a:t>
            </a:r>
            <a:r>
              <a:rPr lang="en-US" sz="2600" spc="-25" dirty="0">
                <a:solidFill>
                  <a:schemeClr val="accent5">
                    <a:lumMod val="75000"/>
                  </a:schemeClr>
                </a:solidFill>
              </a:rPr>
              <a:t> </a:t>
            </a:r>
            <a:r>
              <a:rPr lang="en-US" sz="2600" spc="5" dirty="0">
                <a:solidFill>
                  <a:schemeClr val="accent5">
                    <a:lumMod val="75000"/>
                  </a:schemeClr>
                </a:solidFill>
              </a:rPr>
              <a:t>th</a:t>
            </a:r>
            <a:r>
              <a:rPr lang="en-US" sz="2600" spc="-5" dirty="0">
                <a:solidFill>
                  <a:schemeClr val="accent5">
                    <a:lumMod val="75000"/>
                  </a:schemeClr>
                </a:solidFill>
              </a:rPr>
              <a:t>e</a:t>
            </a:r>
            <a:r>
              <a:rPr lang="en-US" sz="2600" dirty="0">
                <a:solidFill>
                  <a:schemeClr val="accent5">
                    <a:lumMod val="75000"/>
                  </a:schemeClr>
                </a:solidFill>
              </a:rPr>
              <a:t>y</a:t>
            </a:r>
            <a:r>
              <a:rPr lang="en-US" sz="2600" spc="-15" dirty="0">
                <a:solidFill>
                  <a:schemeClr val="accent5">
                    <a:lumMod val="75000"/>
                  </a:schemeClr>
                </a:solidFill>
              </a:rPr>
              <a:t> </a:t>
            </a:r>
            <a:r>
              <a:rPr lang="en-US" sz="2600" spc="5" dirty="0">
                <a:solidFill>
                  <a:schemeClr val="accent5">
                    <a:lumMod val="75000"/>
                  </a:schemeClr>
                </a:solidFill>
              </a:rPr>
              <a:t>p</a:t>
            </a:r>
            <a:r>
              <a:rPr lang="en-US" sz="2600" dirty="0">
                <a:solidFill>
                  <a:schemeClr val="accent5">
                    <a:lumMod val="75000"/>
                  </a:schemeClr>
                </a:solidFill>
              </a:rPr>
              <a:t>artici</a:t>
            </a:r>
            <a:r>
              <a:rPr lang="en-US" sz="2600" spc="5" dirty="0">
                <a:solidFill>
                  <a:schemeClr val="accent5">
                    <a:lumMod val="75000"/>
                  </a:schemeClr>
                </a:solidFill>
              </a:rPr>
              <a:t>p</a:t>
            </a:r>
            <a:r>
              <a:rPr lang="en-US" sz="2600" dirty="0">
                <a:solidFill>
                  <a:schemeClr val="accent5">
                    <a:lumMod val="75000"/>
                  </a:schemeClr>
                </a:solidFill>
              </a:rPr>
              <a:t>a</a:t>
            </a:r>
            <a:r>
              <a:rPr lang="en-US" sz="2600" spc="5" dirty="0">
                <a:solidFill>
                  <a:schemeClr val="accent5">
                    <a:lumMod val="75000"/>
                  </a:schemeClr>
                </a:solidFill>
              </a:rPr>
              <a:t>t</a:t>
            </a:r>
            <a:r>
              <a:rPr lang="en-US" sz="2600" dirty="0">
                <a:solidFill>
                  <a:schemeClr val="accent5">
                    <a:lumMod val="75000"/>
                  </a:schemeClr>
                </a:solidFill>
              </a:rPr>
              <a:t>e</a:t>
            </a:r>
            <a:r>
              <a:rPr lang="en-US" sz="2600" spc="-50" dirty="0">
                <a:solidFill>
                  <a:schemeClr val="accent5">
                    <a:lumMod val="75000"/>
                  </a:schemeClr>
                </a:solidFill>
              </a:rPr>
              <a:t> </a:t>
            </a:r>
            <a:r>
              <a:rPr lang="en-US" sz="2600" dirty="0">
                <a:solidFill>
                  <a:schemeClr val="accent5">
                    <a:lumMod val="75000"/>
                  </a:schemeClr>
                </a:solidFill>
              </a:rPr>
              <a:t>in</a:t>
            </a:r>
            <a:r>
              <a:rPr lang="en-US" sz="2600" spc="-5" dirty="0">
                <a:solidFill>
                  <a:schemeClr val="accent5">
                    <a:lumMod val="75000"/>
                  </a:schemeClr>
                </a:solidFill>
              </a:rPr>
              <a:t> </a:t>
            </a:r>
            <a:r>
              <a:rPr lang="en-US" sz="2600" spc="5" dirty="0">
                <a:solidFill>
                  <a:schemeClr val="accent5">
                    <a:lumMod val="75000"/>
                  </a:schemeClr>
                </a:solidFill>
              </a:rPr>
              <a:t>a</a:t>
            </a:r>
            <a:r>
              <a:rPr lang="en-US" sz="2600" spc="-5" dirty="0">
                <a:solidFill>
                  <a:schemeClr val="accent5">
                    <a:lumMod val="75000"/>
                  </a:schemeClr>
                </a:solidFill>
              </a:rPr>
              <a:t>n</a:t>
            </a:r>
            <a:r>
              <a:rPr lang="en-US" sz="2600" dirty="0">
                <a:solidFill>
                  <a:schemeClr val="accent5">
                    <a:lumMod val="75000"/>
                  </a:schemeClr>
                </a:solidFill>
              </a:rPr>
              <a:t>y</a:t>
            </a:r>
            <a:r>
              <a:rPr lang="en-US" sz="2600" spc="-10" dirty="0">
                <a:solidFill>
                  <a:schemeClr val="accent5">
                    <a:lumMod val="75000"/>
                  </a:schemeClr>
                </a:solidFill>
              </a:rPr>
              <a:t> </a:t>
            </a:r>
            <a:r>
              <a:rPr lang="en-US" sz="2600" spc="-5" dirty="0">
                <a:solidFill>
                  <a:schemeClr val="accent5">
                    <a:lumMod val="75000"/>
                  </a:schemeClr>
                </a:solidFill>
              </a:rPr>
              <a:t>de</a:t>
            </a:r>
            <a:r>
              <a:rPr lang="en-US" sz="2600" dirty="0">
                <a:solidFill>
                  <a:schemeClr val="accent5">
                    <a:lumMod val="75000"/>
                  </a:schemeClr>
                </a:solidFill>
              </a:rPr>
              <a:t>ci</a:t>
            </a:r>
            <a:r>
              <a:rPr lang="en-US" sz="2600" spc="5" dirty="0">
                <a:solidFill>
                  <a:schemeClr val="accent5">
                    <a:lumMod val="75000"/>
                  </a:schemeClr>
                </a:solidFill>
              </a:rPr>
              <a:t>s</a:t>
            </a:r>
            <a:r>
              <a:rPr lang="en-US" sz="2600" dirty="0">
                <a:solidFill>
                  <a:schemeClr val="accent5">
                    <a:lumMod val="75000"/>
                  </a:schemeClr>
                </a:solidFill>
              </a:rPr>
              <a:t>ion</a:t>
            </a:r>
            <a:r>
              <a:rPr lang="en-US" sz="2600" spc="-30" dirty="0">
                <a:solidFill>
                  <a:schemeClr val="accent5">
                    <a:lumMod val="75000"/>
                  </a:schemeClr>
                </a:solidFill>
              </a:rPr>
              <a:t> </a:t>
            </a:r>
            <a:r>
              <a:rPr lang="en-US" sz="2600" dirty="0">
                <a:solidFill>
                  <a:schemeClr val="accent5">
                    <a:lumMod val="75000"/>
                  </a:schemeClr>
                </a:solidFill>
              </a:rPr>
              <a:t>w</a:t>
            </a:r>
            <a:r>
              <a:rPr lang="en-US" sz="2600" spc="5" dirty="0">
                <a:solidFill>
                  <a:schemeClr val="accent5">
                    <a:lumMod val="75000"/>
                  </a:schemeClr>
                </a:solidFill>
              </a:rPr>
              <a:t>h</a:t>
            </a:r>
            <a:r>
              <a:rPr lang="en-US" sz="2600" dirty="0">
                <a:solidFill>
                  <a:schemeClr val="accent5">
                    <a:lumMod val="75000"/>
                  </a:schemeClr>
                </a:solidFill>
              </a:rPr>
              <a:t>ich co</a:t>
            </a:r>
            <a:r>
              <a:rPr lang="en-US" sz="2600" spc="5" dirty="0">
                <a:solidFill>
                  <a:schemeClr val="accent5">
                    <a:lumMod val="75000"/>
                  </a:schemeClr>
                </a:solidFill>
              </a:rPr>
              <a:t>u</a:t>
            </a:r>
            <a:r>
              <a:rPr lang="en-US" sz="2600" dirty="0">
                <a:solidFill>
                  <a:schemeClr val="accent5">
                    <a:lumMod val="75000"/>
                  </a:schemeClr>
                </a:solidFill>
              </a:rPr>
              <a:t>ld</a:t>
            </a:r>
            <a:r>
              <a:rPr lang="en-US" sz="2600" spc="-20" dirty="0">
                <a:solidFill>
                  <a:schemeClr val="accent5">
                    <a:lumMod val="75000"/>
                  </a:schemeClr>
                </a:solidFill>
              </a:rPr>
              <a:t> </a:t>
            </a:r>
            <a:r>
              <a:rPr lang="en-US" sz="2600" dirty="0">
                <a:solidFill>
                  <a:schemeClr val="accent5">
                    <a:lumMod val="75000"/>
                  </a:schemeClr>
                </a:solidFill>
              </a:rPr>
              <a:t>i</a:t>
            </a:r>
            <a:r>
              <a:rPr lang="en-US" sz="2600" spc="5" dirty="0">
                <a:solidFill>
                  <a:schemeClr val="accent5">
                    <a:lumMod val="75000"/>
                  </a:schemeClr>
                </a:solidFill>
              </a:rPr>
              <a:t>n</a:t>
            </a:r>
            <a:r>
              <a:rPr lang="en-US" sz="2600" spc="-5" dirty="0">
                <a:solidFill>
                  <a:schemeClr val="accent5">
                    <a:lumMod val="75000"/>
                  </a:schemeClr>
                </a:solidFill>
              </a:rPr>
              <a:t>v</a:t>
            </a:r>
            <a:r>
              <a:rPr lang="en-US" sz="2600" dirty="0">
                <a:solidFill>
                  <a:schemeClr val="accent5">
                    <a:lumMod val="75000"/>
                  </a:schemeClr>
                </a:solidFill>
              </a:rPr>
              <a:t>ol</a:t>
            </a:r>
            <a:r>
              <a:rPr lang="en-US" sz="2600" spc="-5" dirty="0">
                <a:solidFill>
                  <a:schemeClr val="accent5">
                    <a:lumMod val="75000"/>
                  </a:schemeClr>
                </a:solidFill>
              </a:rPr>
              <a:t>v</a:t>
            </a:r>
            <a:r>
              <a:rPr lang="en-US" sz="2600" dirty="0">
                <a:solidFill>
                  <a:schemeClr val="accent5">
                    <a:lumMod val="75000"/>
                  </a:schemeClr>
                </a:solidFill>
              </a:rPr>
              <a:t>e</a:t>
            </a:r>
            <a:r>
              <a:rPr lang="en-US" sz="2600" spc="-35" dirty="0">
                <a:solidFill>
                  <a:schemeClr val="accent5">
                    <a:lumMod val="75000"/>
                  </a:schemeClr>
                </a:solidFill>
              </a:rPr>
              <a:t> </a:t>
            </a:r>
            <a:r>
              <a:rPr lang="en-US" sz="2600" spc="5" dirty="0">
                <a:solidFill>
                  <a:schemeClr val="accent5">
                    <a:lumMod val="75000"/>
                  </a:schemeClr>
                </a:solidFill>
              </a:rPr>
              <a:t>the</a:t>
            </a:r>
            <a:r>
              <a:rPr lang="en-US" sz="2600" dirty="0">
                <a:solidFill>
                  <a:schemeClr val="accent5">
                    <a:lumMod val="75000"/>
                  </a:schemeClr>
                </a:solidFill>
              </a:rPr>
              <a:t>m</a:t>
            </a:r>
            <a:r>
              <a:rPr lang="en-US" sz="2600" spc="-25" dirty="0">
                <a:solidFill>
                  <a:schemeClr val="accent5">
                    <a:lumMod val="75000"/>
                  </a:schemeClr>
                </a:solidFill>
              </a:rPr>
              <a:t> </a:t>
            </a:r>
            <a:r>
              <a:rPr lang="en-US" sz="2600" dirty="0">
                <a:solidFill>
                  <a:schemeClr val="accent5">
                    <a:lumMod val="75000"/>
                  </a:schemeClr>
                </a:solidFill>
              </a:rPr>
              <a:t>in</a:t>
            </a:r>
            <a:r>
              <a:rPr lang="en-US" sz="2600" spc="-5" dirty="0">
                <a:solidFill>
                  <a:schemeClr val="accent5">
                    <a:lumMod val="75000"/>
                  </a:schemeClr>
                </a:solidFill>
              </a:rPr>
              <a:t> </a:t>
            </a:r>
            <a:r>
              <a:rPr lang="en-US" sz="2600" dirty="0">
                <a:solidFill>
                  <a:schemeClr val="accent5">
                    <a:lumMod val="75000"/>
                  </a:schemeClr>
                </a:solidFill>
              </a:rPr>
              <a:t>c</a:t>
            </a:r>
            <a:r>
              <a:rPr lang="en-US" sz="2600" spc="5" dirty="0">
                <a:solidFill>
                  <a:schemeClr val="accent5">
                    <a:lumMod val="75000"/>
                  </a:schemeClr>
                </a:solidFill>
              </a:rPr>
              <a:t>on</a:t>
            </a:r>
            <a:r>
              <a:rPr lang="en-US" sz="2600" spc="-5" dirty="0">
                <a:solidFill>
                  <a:schemeClr val="accent5">
                    <a:lumMod val="75000"/>
                  </a:schemeClr>
                </a:solidFill>
              </a:rPr>
              <a:t>f</a:t>
            </a:r>
            <a:r>
              <a:rPr lang="en-US" sz="2600" dirty="0">
                <a:solidFill>
                  <a:schemeClr val="accent5">
                    <a:lumMod val="75000"/>
                  </a:schemeClr>
                </a:solidFill>
              </a:rPr>
              <a:t>l</a:t>
            </a:r>
            <a:r>
              <a:rPr lang="en-US" sz="2600" spc="10" dirty="0">
                <a:solidFill>
                  <a:schemeClr val="accent5">
                    <a:lumMod val="75000"/>
                  </a:schemeClr>
                </a:solidFill>
              </a:rPr>
              <a:t>i</a:t>
            </a:r>
            <a:r>
              <a:rPr lang="en-US" sz="2600" dirty="0">
                <a:solidFill>
                  <a:schemeClr val="accent5">
                    <a:lumMod val="75000"/>
                  </a:schemeClr>
                </a:solidFill>
              </a:rPr>
              <a:t>ct</a:t>
            </a:r>
            <a:r>
              <a:rPr lang="en-US" sz="2600" spc="-30" dirty="0">
                <a:solidFill>
                  <a:schemeClr val="accent5">
                    <a:lumMod val="75000"/>
                  </a:schemeClr>
                </a:solidFill>
              </a:rPr>
              <a:t> </a:t>
            </a:r>
            <a:r>
              <a:rPr lang="en-US" sz="2600" dirty="0">
                <a:solidFill>
                  <a:schemeClr val="accent5">
                    <a:lumMod val="75000"/>
                  </a:schemeClr>
                </a:solidFill>
              </a:rPr>
              <a:t>of</a:t>
            </a:r>
            <a:r>
              <a:rPr lang="en-US" sz="2600" spc="-15" dirty="0">
                <a:solidFill>
                  <a:schemeClr val="accent5">
                    <a:lumMod val="75000"/>
                  </a:schemeClr>
                </a:solidFill>
              </a:rPr>
              <a:t> </a:t>
            </a:r>
            <a:r>
              <a:rPr lang="en-US" sz="2600" dirty="0">
                <a:solidFill>
                  <a:schemeClr val="accent5">
                    <a:lumMod val="75000"/>
                  </a:schemeClr>
                </a:solidFill>
              </a:rPr>
              <a:t>i</a:t>
            </a:r>
            <a:r>
              <a:rPr lang="en-US" sz="2600" spc="5" dirty="0">
                <a:solidFill>
                  <a:schemeClr val="accent5">
                    <a:lumMod val="75000"/>
                  </a:schemeClr>
                </a:solidFill>
              </a:rPr>
              <a:t>n</a:t>
            </a:r>
            <a:r>
              <a:rPr lang="en-US" sz="2600" dirty="0">
                <a:solidFill>
                  <a:schemeClr val="accent5">
                    <a:lumMod val="75000"/>
                  </a:schemeClr>
                </a:solidFill>
              </a:rPr>
              <a:t>te</a:t>
            </a:r>
            <a:r>
              <a:rPr lang="en-US" sz="2600" spc="15" dirty="0">
                <a:solidFill>
                  <a:schemeClr val="accent5">
                    <a:lumMod val="75000"/>
                  </a:schemeClr>
                </a:solidFill>
              </a:rPr>
              <a:t>r</a:t>
            </a:r>
            <a:r>
              <a:rPr lang="en-US" sz="2600" spc="5" dirty="0">
                <a:solidFill>
                  <a:schemeClr val="accent5">
                    <a:lumMod val="75000"/>
                  </a:schemeClr>
                </a:solidFill>
              </a:rPr>
              <a:t>e</a:t>
            </a:r>
            <a:r>
              <a:rPr lang="en-US" sz="2600" spc="-5" dirty="0">
                <a:solidFill>
                  <a:schemeClr val="accent5">
                    <a:lumMod val="75000"/>
                  </a:schemeClr>
                </a:solidFill>
              </a:rPr>
              <a:t>s</a:t>
            </a:r>
            <a:r>
              <a:rPr lang="en-US" sz="2600" dirty="0">
                <a:solidFill>
                  <a:schemeClr val="accent5">
                    <a:lumMod val="75000"/>
                  </a:schemeClr>
                </a:solidFill>
              </a:rPr>
              <a:t>t.</a:t>
            </a:r>
            <a:endParaRPr lang="en-US" sz="2600" dirty="0">
              <a:solidFill>
                <a:schemeClr val="accent5">
                  <a:lumMod val="75000"/>
                </a:schemeClr>
              </a:solidFill>
              <a:latin typeface="Calibri" panose="020F0502020204030204" pitchFamily="34" charset="0"/>
              <a:ea typeface="Times New Roman" panose="02020603050405020304" pitchFamily="18" charset="0"/>
              <a:cs typeface="Times New Roman" panose="02020603050405020304" pitchFamily="18" charset="0"/>
            </a:endParaRPr>
          </a:p>
          <a:p>
            <a:pPr lvl="1"/>
            <a:endParaRPr lang="en-US" dirty="0"/>
          </a:p>
          <a:p>
            <a:endParaRPr lang="en-US" dirty="0"/>
          </a:p>
        </p:txBody>
      </p:sp>
    </p:spTree>
    <p:extLst>
      <p:ext uri="{BB962C8B-B14F-4D97-AF65-F5344CB8AC3E}">
        <p14:creationId xmlns:p14="http://schemas.microsoft.com/office/powerpoint/2010/main" val="78177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 calcmode="lin" valueType="num">
                                      <p:cBhvr additive="base">
                                        <p:cTn id="1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 calcmode="lin" valueType="num">
                                      <p:cBhvr additive="base">
                                        <p:cTn id="2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 calcmode="lin" valueType="num">
                                      <p:cBhvr additive="base">
                                        <p:cTn id="28"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Conflict of Interest</a:t>
            </a:r>
          </a:p>
        </p:txBody>
      </p:sp>
      <p:sp>
        <p:nvSpPr>
          <p:cNvPr id="3" name="Content Placeholder 2"/>
          <p:cNvSpPr>
            <a:spLocks noGrp="1"/>
          </p:cNvSpPr>
          <p:nvPr>
            <p:ph sz="half" idx="1"/>
          </p:nvPr>
        </p:nvSpPr>
        <p:spPr/>
        <p:txBody>
          <a:bodyPr/>
          <a:lstStyle/>
          <a:p>
            <a:r>
              <a:rPr lang="en-US" dirty="0"/>
              <a:t>DEFINITION :</a:t>
            </a:r>
          </a:p>
          <a:p>
            <a:r>
              <a:rPr lang="en-US" dirty="0"/>
              <a:t>Sometimes such an interest involves serving in some other professional role, say, as a consultant for a competitor’s company. </a:t>
            </a:r>
          </a:p>
          <a:p>
            <a:r>
              <a:rPr lang="en-US" dirty="0"/>
              <a:t>Other times it is a more personal interest, such as making substantial private investments in a competitor’s company</a:t>
            </a:r>
          </a:p>
        </p:txBody>
      </p:sp>
      <p:pic>
        <p:nvPicPr>
          <p:cNvPr id="9" name="Content Placeholder 8"/>
          <p:cNvPicPr>
            <a:picLocks noGrp="1" noChangeAspect="1"/>
          </p:cNvPicPr>
          <p:nvPr>
            <p:ph sz="half" idx="2"/>
          </p:nvPr>
        </p:nvPicPr>
        <p:blipFill>
          <a:blip r:embed="rId2"/>
          <a:stretch>
            <a:fillRect/>
          </a:stretch>
        </p:blipFill>
        <p:spPr>
          <a:xfrm>
            <a:off x="7074217" y="1660208"/>
            <a:ext cx="3913823" cy="3932714"/>
          </a:xfrm>
          <a:prstGeom prst="rect">
            <a:avLst/>
          </a:prstGeom>
        </p:spPr>
      </p:pic>
    </p:spTree>
    <p:extLst>
      <p:ext uri="{BB962C8B-B14F-4D97-AF65-F5344CB8AC3E}">
        <p14:creationId xmlns:p14="http://schemas.microsoft.com/office/powerpoint/2010/main" val="1270772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3600"/>
          </a:xfrm>
        </p:spPr>
        <p:txBody>
          <a:bodyPr/>
          <a:lstStyle/>
          <a:p>
            <a:r>
              <a:rPr lang="en-US" dirty="0"/>
              <a:t>Conflict of Interest</a:t>
            </a:r>
          </a:p>
        </p:txBody>
      </p:sp>
      <p:sp>
        <p:nvSpPr>
          <p:cNvPr id="3" name="Content Placeholder 2"/>
          <p:cNvSpPr>
            <a:spLocks noGrp="1"/>
          </p:cNvSpPr>
          <p:nvPr>
            <p:ph idx="1"/>
          </p:nvPr>
        </p:nvSpPr>
        <p:spPr>
          <a:xfrm>
            <a:off x="838200" y="1228726"/>
            <a:ext cx="10515600" cy="5471619"/>
          </a:xfrm>
        </p:spPr>
        <p:txBody>
          <a:bodyPr>
            <a:normAutofit lnSpcReduction="10000"/>
          </a:bodyPr>
          <a:lstStyle/>
          <a:p>
            <a:r>
              <a:rPr lang="en-US" dirty="0"/>
              <a:t>DEFINITION :</a:t>
            </a:r>
          </a:p>
          <a:p>
            <a:r>
              <a:rPr lang="en-US" dirty="0"/>
              <a:t>Concern about conflicts of interest largely centers on their potential to distort good judgment in faithfully serving an employer or client.</a:t>
            </a:r>
          </a:p>
          <a:p>
            <a:r>
              <a:rPr lang="en-US" dirty="0"/>
              <a:t> Exercising good judgment means arriving at beliefs on the basis of expertise and experience, as opposed to merely following simple rules. Thus, we can refine our definition of conflicts of interest by saying that they typically arise when two conditions are met: </a:t>
            </a:r>
          </a:p>
          <a:p>
            <a:r>
              <a:rPr lang="en-US" dirty="0"/>
              <a:t>(1) The professional is in a relationship or role that requires exercising good judgment on behalf of the interests of an employer or client, and </a:t>
            </a:r>
          </a:p>
          <a:p>
            <a:r>
              <a:rPr lang="en-US" dirty="0"/>
              <a:t>(2) the professional has some additional or side interest that could threaten good judgment in serving the interests of the employer or client—either the good judgment of that professional or the judgment of a typical professional in that situation. </a:t>
            </a:r>
          </a:p>
        </p:txBody>
      </p:sp>
    </p:spTree>
    <p:extLst>
      <p:ext uri="{BB962C8B-B14F-4D97-AF65-F5344CB8AC3E}">
        <p14:creationId xmlns:p14="http://schemas.microsoft.com/office/powerpoint/2010/main" val="315500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5114"/>
            <a:ext cx="10515600" cy="706438"/>
          </a:xfrm>
        </p:spPr>
        <p:txBody>
          <a:bodyPr/>
          <a:lstStyle/>
          <a:p>
            <a:r>
              <a:rPr lang="en-US" dirty="0"/>
              <a:t>Conflict of Interest</a:t>
            </a:r>
          </a:p>
        </p:txBody>
      </p:sp>
      <p:sp>
        <p:nvSpPr>
          <p:cNvPr id="3" name="Content Placeholder 2"/>
          <p:cNvSpPr>
            <a:spLocks noGrp="1"/>
          </p:cNvSpPr>
          <p:nvPr>
            <p:ph idx="1"/>
          </p:nvPr>
        </p:nvSpPr>
        <p:spPr>
          <a:xfrm>
            <a:off x="838200" y="1314450"/>
            <a:ext cx="10515600" cy="4862513"/>
          </a:xfrm>
        </p:spPr>
        <p:txBody>
          <a:bodyPr/>
          <a:lstStyle/>
          <a:p>
            <a:r>
              <a:rPr lang="en-US" dirty="0"/>
              <a:t>Because of the great variety of possible outside interests, conflicts of interest can arise in innumerable ways, and with many degrees of subtlety. </a:t>
            </a:r>
          </a:p>
          <a:p>
            <a:r>
              <a:rPr lang="en-US" dirty="0"/>
              <a:t>Let us look at a few of the more common situations involving </a:t>
            </a:r>
          </a:p>
          <a:p>
            <a:pPr marL="914400" lvl="1" indent="-457200">
              <a:buAutoNum type="arabicParenBoth"/>
            </a:pPr>
            <a:r>
              <a:rPr lang="en-US" sz="2600" dirty="0"/>
              <a:t>gifts, bribes, and kickbacks, </a:t>
            </a:r>
          </a:p>
          <a:p>
            <a:pPr marL="914400" lvl="1" indent="-457200">
              <a:buAutoNum type="arabicParenBoth"/>
            </a:pPr>
            <a:r>
              <a:rPr lang="en-US" sz="2600" dirty="0"/>
              <a:t>interests in other companies, and </a:t>
            </a:r>
          </a:p>
          <a:p>
            <a:pPr marL="914400" lvl="1" indent="-457200">
              <a:buAutoNum type="arabicParenBoth"/>
            </a:pPr>
            <a:r>
              <a:rPr lang="en-US" sz="2600" dirty="0"/>
              <a:t>insider information.</a:t>
            </a:r>
          </a:p>
        </p:txBody>
      </p:sp>
    </p:spTree>
    <p:extLst>
      <p:ext uri="{BB962C8B-B14F-4D97-AF65-F5344CB8AC3E}">
        <p14:creationId xmlns:p14="http://schemas.microsoft.com/office/powerpoint/2010/main" val="286903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40348"/>
            <a:ext cx="10515600" cy="663575"/>
          </a:xfrm>
        </p:spPr>
        <p:txBody>
          <a:bodyPr>
            <a:normAutofit fontScale="90000"/>
          </a:bodyPr>
          <a:lstStyle/>
          <a:p>
            <a:r>
              <a:rPr lang="en-US" dirty="0"/>
              <a:t>Conflict of Interest</a:t>
            </a:r>
          </a:p>
        </p:txBody>
      </p:sp>
      <p:sp>
        <p:nvSpPr>
          <p:cNvPr id="3" name="Content Placeholder 2"/>
          <p:cNvSpPr>
            <a:spLocks noGrp="1"/>
          </p:cNvSpPr>
          <p:nvPr>
            <p:ph idx="1"/>
          </p:nvPr>
        </p:nvSpPr>
        <p:spPr>
          <a:xfrm>
            <a:off x="838200" y="1028700"/>
            <a:ext cx="10515600" cy="5148263"/>
          </a:xfrm>
        </p:spPr>
        <p:txBody>
          <a:bodyPr>
            <a:normAutofit lnSpcReduction="10000"/>
          </a:bodyPr>
          <a:lstStyle/>
          <a:p>
            <a:r>
              <a:rPr lang="en-US" b="1" dirty="0">
                <a:solidFill>
                  <a:srgbClr val="FF0000"/>
                </a:solidFill>
              </a:rPr>
              <a:t>Gifts, Bribes, and Kickbacks</a:t>
            </a:r>
            <a:r>
              <a:rPr lang="en-US" dirty="0"/>
              <a:t>. </a:t>
            </a:r>
          </a:p>
          <a:p>
            <a:r>
              <a:rPr lang="en-US" dirty="0"/>
              <a:t>A </a:t>
            </a:r>
            <a:r>
              <a:rPr lang="en-US" b="1" dirty="0">
                <a:solidFill>
                  <a:srgbClr val="0000FF"/>
                </a:solidFill>
              </a:rPr>
              <a:t>bribe </a:t>
            </a:r>
            <a:r>
              <a:rPr lang="en-US" dirty="0"/>
              <a:t>is a substantial amount of money or goods offered beyond a stated business contract with the aim of winning an advantage in gaining or keeping the contract, and where the advantage is illegal or otherwise unethical. </a:t>
            </a:r>
          </a:p>
          <a:p>
            <a:r>
              <a:rPr lang="en-US" dirty="0"/>
              <a:t>It involves amounts, beyond acceptable gratuities, that are sufficient to distort the judgment of a person. Typically, although not always, bribes are made in secret. </a:t>
            </a:r>
          </a:p>
          <a:p>
            <a:r>
              <a:rPr lang="en-US" b="1" dirty="0">
                <a:solidFill>
                  <a:srgbClr val="0000FF"/>
                </a:solidFill>
              </a:rPr>
              <a:t>Gifts</a:t>
            </a:r>
            <a:r>
              <a:rPr lang="en-US" dirty="0"/>
              <a:t> are not bribes as long as they are small gratuities offered in the normal conduct of business. </a:t>
            </a:r>
          </a:p>
          <a:p>
            <a:r>
              <a:rPr lang="en-US" dirty="0"/>
              <a:t>Prearranged payments made by contractors to companies or their representatives in exchange for contracts actually granted are called </a:t>
            </a:r>
            <a:r>
              <a:rPr lang="en-US" b="1" dirty="0">
                <a:solidFill>
                  <a:srgbClr val="0000FF"/>
                </a:solidFill>
              </a:rPr>
              <a:t>“kickbacks”.  </a:t>
            </a:r>
          </a:p>
        </p:txBody>
      </p:sp>
    </p:spTree>
    <p:extLst>
      <p:ext uri="{BB962C8B-B14F-4D97-AF65-F5344CB8AC3E}">
        <p14:creationId xmlns:p14="http://schemas.microsoft.com/office/powerpoint/2010/main" val="348878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285"/>
            <a:ext cx="10515600" cy="747395"/>
          </a:xfrm>
        </p:spPr>
        <p:txBody>
          <a:bodyPr/>
          <a:lstStyle/>
          <a:p>
            <a:r>
              <a:rPr lang="en-US" dirty="0"/>
              <a:t>Conflict of Interest</a:t>
            </a:r>
          </a:p>
        </p:txBody>
      </p:sp>
      <p:sp>
        <p:nvSpPr>
          <p:cNvPr id="3" name="Content Placeholder 2"/>
          <p:cNvSpPr>
            <a:spLocks noGrp="1"/>
          </p:cNvSpPr>
          <p:nvPr>
            <p:ph idx="1"/>
          </p:nvPr>
        </p:nvSpPr>
        <p:spPr>
          <a:xfrm>
            <a:off x="838200" y="990600"/>
            <a:ext cx="10515600" cy="5867400"/>
          </a:xfrm>
        </p:spPr>
        <p:txBody>
          <a:bodyPr>
            <a:normAutofit fontScale="92500" lnSpcReduction="10000"/>
          </a:bodyPr>
          <a:lstStyle/>
          <a:p>
            <a:r>
              <a:rPr lang="en-US" b="1" dirty="0">
                <a:solidFill>
                  <a:srgbClr val="FF0000"/>
                </a:solidFill>
              </a:rPr>
              <a:t>BRIBE:</a:t>
            </a:r>
          </a:p>
          <a:p>
            <a:pPr marL="514350" indent="-514350">
              <a:buFont typeface="+mj-lt"/>
              <a:buAutoNum type="arabicPeriod"/>
            </a:pPr>
            <a:r>
              <a:rPr lang="en-US" dirty="0"/>
              <a:t> If an engineer takes a bribe, he/she is creating a situation that will most likely corrupt his/her professional judgment and tarnish the reputation of the engineering profession. </a:t>
            </a:r>
          </a:p>
          <a:p>
            <a:pPr marL="514350" indent="-514350">
              <a:buFont typeface="+mj-lt"/>
              <a:buAutoNum type="arabicPeriod"/>
            </a:pPr>
            <a:r>
              <a:rPr lang="en-US" dirty="0">
                <a:solidFill>
                  <a:schemeClr val="accent5">
                    <a:lumMod val="75000"/>
                  </a:schemeClr>
                </a:solidFill>
              </a:rPr>
              <a:t>If he/she offers a bribe, then he/she engages in activity that will also tarnish the reputation of his/her profession if discovered and probably violate his/her obligation to promote the well-being of the public. </a:t>
            </a:r>
          </a:p>
          <a:p>
            <a:pPr marL="514350" indent="-514350">
              <a:buFont typeface="+mj-lt"/>
              <a:buAutoNum type="arabicPeriod"/>
            </a:pPr>
            <a:r>
              <a:rPr lang="en-US" dirty="0"/>
              <a:t>Bribery induces the person who takes the bribe to act immorally by violating the obligation to act on behalf of the interests of his client or employer. For example, it can induce a government official to break the obligation to act on behalf of the best interests of the citizenry. </a:t>
            </a:r>
          </a:p>
          <a:p>
            <a:pPr marL="514350" indent="-514350">
              <a:buFont typeface="+mj-lt"/>
              <a:buAutoNum type="arabicPeriod"/>
            </a:pPr>
            <a:r>
              <a:rPr lang="en-US" dirty="0">
                <a:solidFill>
                  <a:schemeClr val="accent5">
                    <a:lumMod val="75000"/>
                  </a:schemeClr>
                </a:solidFill>
              </a:rPr>
              <a:t>Bribery can undermine the efficiency of the market by inducing someone to buy products that are not the best for the price. </a:t>
            </a:r>
          </a:p>
          <a:p>
            <a:pPr marL="514350" indent="-514350">
              <a:buFont typeface="+mj-lt"/>
              <a:buAutoNum type="arabicPeriod"/>
            </a:pPr>
            <a:r>
              <a:rPr lang="en-US" dirty="0"/>
              <a:t>Bribery can give someone an unfair advantage over his competitors, thus violating the standards of justice and fair play.  </a:t>
            </a:r>
          </a:p>
        </p:txBody>
      </p:sp>
    </p:spTree>
    <p:extLst>
      <p:ext uri="{BB962C8B-B14F-4D97-AF65-F5344CB8AC3E}">
        <p14:creationId xmlns:p14="http://schemas.microsoft.com/office/powerpoint/2010/main" val="297258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down)">
                                      <p:cBhvr>
                                        <p:cTn id="19" dur="500"/>
                                        <p:tgtEl>
                                          <p:spTgt spid="3">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 calcmode="lin" valueType="num">
                                      <p:cBhvr additive="base">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90600"/>
          </a:xfrm>
        </p:spPr>
        <p:txBody>
          <a:bodyPr/>
          <a:lstStyle/>
          <a:p>
            <a:r>
              <a:rPr lang="en-US" dirty="0"/>
              <a:t>Conflict of Interest</a:t>
            </a:r>
          </a:p>
        </p:txBody>
      </p:sp>
      <p:sp>
        <p:nvSpPr>
          <p:cNvPr id="3" name="Content Placeholder 2"/>
          <p:cNvSpPr>
            <a:spLocks noGrp="1"/>
          </p:cNvSpPr>
          <p:nvPr>
            <p:ph idx="1"/>
          </p:nvPr>
        </p:nvSpPr>
        <p:spPr>
          <a:xfrm>
            <a:off x="838200" y="990600"/>
            <a:ext cx="10515600" cy="5867400"/>
          </a:xfrm>
        </p:spPr>
        <p:txBody>
          <a:bodyPr>
            <a:normAutofit fontScale="92500" lnSpcReduction="20000"/>
          </a:bodyPr>
          <a:lstStyle/>
          <a:p>
            <a:r>
              <a:rPr lang="en-US" b="1" dirty="0">
                <a:solidFill>
                  <a:srgbClr val="FF0000"/>
                </a:solidFill>
              </a:rPr>
              <a:t>Gifts, Bribes, and Kickbacks</a:t>
            </a:r>
          </a:p>
          <a:p>
            <a:endParaRPr lang="en-US" b="1" dirty="0">
              <a:solidFill>
                <a:srgbClr val="FF0000"/>
              </a:solidFill>
            </a:endParaRPr>
          </a:p>
          <a:p>
            <a:r>
              <a:rPr lang="en-US" dirty="0">
                <a:solidFill>
                  <a:srgbClr val="0000FF"/>
                </a:solidFill>
              </a:rPr>
              <a:t>IESL Code of Ethics  Clause 4.1</a:t>
            </a:r>
          </a:p>
          <a:p>
            <a:r>
              <a:rPr lang="en-US" dirty="0"/>
              <a:t>Shall</a:t>
            </a:r>
            <a:r>
              <a:rPr lang="en-US" spc="-15" dirty="0"/>
              <a:t> </a:t>
            </a:r>
            <a:r>
              <a:rPr lang="en-US" spc="5" dirty="0"/>
              <a:t>n</a:t>
            </a:r>
            <a:r>
              <a:rPr lang="en-US" spc="-5" dirty="0"/>
              <a:t>e</a:t>
            </a:r>
            <a:r>
              <a:rPr lang="en-US" dirty="0"/>
              <a:t>it</a:t>
            </a:r>
            <a:r>
              <a:rPr lang="en-US" spc="5" dirty="0"/>
              <a:t>h</a:t>
            </a:r>
            <a:r>
              <a:rPr lang="en-US" spc="-5" dirty="0"/>
              <a:t>e</a:t>
            </a:r>
            <a:r>
              <a:rPr lang="en-US" dirty="0"/>
              <a:t>r</a:t>
            </a:r>
            <a:r>
              <a:rPr lang="en-US" spc="-30" dirty="0"/>
              <a:t> </a:t>
            </a:r>
            <a:r>
              <a:rPr lang="en-US" spc="5" dirty="0"/>
              <a:t>p</a:t>
            </a:r>
            <a:r>
              <a:rPr lang="en-US" dirty="0"/>
              <a:t>ay</a:t>
            </a:r>
            <a:r>
              <a:rPr lang="en-US" spc="-10" dirty="0"/>
              <a:t> </a:t>
            </a:r>
            <a:r>
              <a:rPr lang="en-US" spc="5" dirty="0"/>
              <a:t>n</a:t>
            </a:r>
            <a:r>
              <a:rPr lang="en-US" dirty="0"/>
              <a:t>or</a:t>
            </a:r>
            <a:r>
              <a:rPr lang="en-US" spc="-15" dirty="0"/>
              <a:t> </a:t>
            </a:r>
            <a:r>
              <a:rPr lang="en-US" dirty="0"/>
              <a:t>o</a:t>
            </a:r>
            <a:r>
              <a:rPr lang="en-US" spc="-5" dirty="0"/>
              <a:t>ffe</a:t>
            </a:r>
            <a:r>
              <a:rPr lang="en-US" dirty="0"/>
              <a:t>r,</a:t>
            </a:r>
            <a:r>
              <a:rPr lang="en-US" spc="-20" dirty="0"/>
              <a:t> </a:t>
            </a:r>
            <a:r>
              <a:rPr lang="en-US" spc="5" dirty="0"/>
              <a:t>d</a:t>
            </a:r>
            <a:r>
              <a:rPr lang="en-US" dirty="0"/>
              <a:t>ir</a:t>
            </a:r>
            <a:r>
              <a:rPr lang="en-US" spc="-5" dirty="0"/>
              <a:t>e</a:t>
            </a:r>
            <a:r>
              <a:rPr lang="en-US" dirty="0"/>
              <a:t>ctly</a:t>
            </a:r>
            <a:r>
              <a:rPr lang="en-US" spc="-25" dirty="0"/>
              <a:t> </a:t>
            </a:r>
            <a:r>
              <a:rPr lang="en-US" spc="5" dirty="0"/>
              <a:t>o</a:t>
            </a:r>
            <a:r>
              <a:rPr lang="en-US" dirty="0"/>
              <a:t>r</a:t>
            </a:r>
            <a:r>
              <a:rPr lang="en-US" spc="-10" dirty="0"/>
              <a:t> </a:t>
            </a:r>
            <a:r>
              <a:rPr lang="en-US" dirty="0"/>
              <a:t>i</a:t>
            </a:r>
            <a:r>
              <a:rPr lang="en-US" spc="5" dirty="0"/>
              <a:t>nd</a:t>
            </a:r>
            <a:r>
              <a:rPr lang="en-US" dirty="0"/>
              <a:t>ir</a:t>
            </a:r>
            <a:r>
              <a:rPr lang="en-US" spc="-5" dirty="0"/>
              <a:t>e</a:t>
            </a:r>
            <a:r>
              <a:rPr lang="en-US" dirty="0"/>
              <a:t>ctl</a:t>
            </a:r>
            <a:r>
              <a:rPr lang="en-US" spc="5" dirty="0"/>
              <a:t>y</a:t>
            </a:r>
            <a:r>
              <a:rPr lang="en-US" dirty="0"/>
              <a:t>,</a:t>
            </a:r>
            <a:r>
              <a:rPr lang="en-US" spc="-40" dirty="0"/>
              <a:t> </a:t>
            </a:r>
            <a:r>
              <a:rPr lang="en-US" dirty="0"/>
              <a:t>i</a:t>
            </a:r>
            <a:r>
              <a:rPr lang="en-US" spc="5" dirty="0"/>
              <a:t>ndu</a:t>
            </a:r>
            <a:r>
              <a:rPr lang="en-US" dirty="0"/>
              <a:t>c</a:t>
            </a:r>
            <a:r>
              <a:rPr lang="en-US" spc="-5" dirty="0"/>
              <a:t>eme</a:t>
            </a:r>
            <a:r>
              <a:rPr lang="en-US" spc="15" dirty="0"/>
              <a:t>n</a:t>
            </a:r>
            <a:r>
              <a:rPr lang="en-US" dirty="0"/>
              <a:t>ts</a:t>
            </a:r>
            <a:r>
              <a:rPr lang="en-US" spc="-60" dirty="0"/>
              <a:t> </a:t>
            </a:r>
            <a:r>
              <a:rPr lang="en-US" spc="5" dirty="0"/>
              <a:t>t</a:t>
            </a:r>
            <a:r>
              <a:rPr lang="en-US" dirty="0"/>
              <a:t>o</a:t>
            </a:r>
            <a:r>
              <a:rPr lang="en-US" spc="-10" dirty="0"/>
              <a:t> </a:t>
            </a:r>
            <a:r>
              <a:rPr lang="en-US" spc="5" dirty="0"/>
              <a:t>o</a:t>
            </a:r>
            <a:r>
              <a:rPr lang="en-US" dirty="0"/>
              <a:t>t</a:t>
            </a:r>
            <a:r>
              <a:rPr lang="en-US" spc="5" dirty="0"/>
              <a:t>h</a:t>
            </a:r>
            <a:r>
              <a:rPr lang="en-US" spc="-5" dirty="0"/>
              <a:t>e</a:t>
            </a:r>
            <a:r>
              <a:rPr lang="en-US" dirty="0"/>
              <a:t>r</a:t>
            </a:r>
            <a:r>
              <a:rPr lang="en-US" spc="-5" dirty="0"/>
              <a:t>s</a:t>
            </a:r>
            <a:r>
              <a:rPr lang="en-US" dirty="0"/>
              <a:t>.</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solidFill>
                <a:srgbClr val="0000FF"/>
              </a:solidFill>
            </a:endParaRPr>
          </a:p>
          <a:p>
            <a:r>
              <a:rPr lang="en-US" dirty="0">
                <a:solidFill>
                  <a:srgbClr val="0000FF"/>
                </a:solidFill>
              </a:rPr>
              <a:t>IESL Code of Ethics  Clause 6.3</a:t>
            </a:r>
          </a:p>
          <a:p>
            <a:r>
              <a:rPr lang="en-US" dirty="0"/>
              <a:t>Shall</a:t>
            </a:r>
            <a:r>
              <a:rPr lang="en-US" spc="-15" dirty="0"/>
              <a:t> </a:t>
            </a:r>
            <a:r>
              <a:rPr lang="en-US" spc="5" dirty="0"/>
              <a:t>n</a:t>
            </a:r>
            <a:r>
              <a:rPr lang="en-US" dirty="0"/>
              <a:t>ot</a:t>
            </a:r>
            <a:r>
              <a:rPr lang="en-US" spc="-10" dirty="0"/>
              <a:t> </a:t>
            </a:r>
            <a:r>
              <a:rPr lang="en-US" dirty="0"/>
              <a:t>acc</a:t>
            </a:r>
            <a:r>
              <a:rPr lang="en-US" spc="-5" dirty="0"/>
              <a:t>e</a:t>
            </a:r>
            <a:r>
              <a:rPr lang="en-US" spc="5" dirty="0"/>
              <a:t>p</a:t>
            </a:r>
            <a:r>
              <a:rPr lang="en-US" dirty="0"/>
              <a:t>t</a:t>
            </a:r>
            <a:r>
              <a:rPr lang="en-US" spc="-20" dirty="0"/>
              <a:t> </a:t>
            </a:r>
            <a:r>
              <a:rPr lang="en-US" dirty="0"/>
              <a:t>comp</a:t>
            </a:r>
            <a:r>
              <a:rPr lang="en-US" spc="-5" dirty="0"/>
              <a:t>e</a:t>
            </a:r>
            <a:r>
              <a:rPr lang="en-US" spc="5" dirty="0"/>
              <a:t>n</a:t>
            </a:r>
            <a:r>
              <a:rPr lang="en-US" spc="-5" dirty="0"/>
              <a:t>s</a:t>
            </a:r>
            <a:r>
              <a:rPr lang="en-US" dirty="0"/>
              <a:t>a</a:t>
            </a:r>
            <a:r>
              <a:rPr lang="en-US" spc="5" dirty="0"/>
              <a:t>t</a:t>
            </a:r>
            <a:r>
              <a:rPr lang="en-US" dirty="0"/>
              <a:t>i</a:t>
            </a:r>
            <a:r>
              <a:rPr lang="en-US" spc="15" dirty="0"/>
              <a:t>o</a:t>
            </a:r>
            <a:r>
              <a:rPr lang="en-US" spc="5" dirty="0"/>
              <a:t>n</a:t>
            </a:r>
            <a:r>
              <a:rPr lang="en-US" dirty="0"/>
              <a:t>,</a:t>
            </a:r>
            <a:r>
              <a:rPr lang="en-US" spc="-60" dirty="0"/>
              <a:t> </a:t>
            </a:r>
            <a:r>
              <a:rPr lang="en-US" dirty="0"/>
              <a:t>fina</a:t>
            </a:r>
            <a:r>
              <a:rPr lang="en-US" spc="5" dirty="0"/>
              <a:t>n</a:t>
            </a:r>
            <a:r>
              <a:rPr lang="en-US" dirty="0"/>
              <a:t>cial</a:t>
            </a:r>
            <a:r>
              <a:rPr lang="en-US" spc="-35" dirty="0"/>
              <a:t> </a:t>
            </a:r>
            <a:r>
              <a:rPr lang="en-US" spc="5" dirty="0"/>
              <a:t>o</a:t>
            </a:r>
            <a:r>
              <a:rPr lang="en-US" dirty="0"/>
              <a:t>r</a:t>
            </a:r>
            <a:r>
              <a:rPr lang="en-US" spc="-10" dirty="0"/>
              <a:t> </a:t>
            </a:r>
            <a:r>
              <a:rPr lang="en-US" dirty="0"/>
              <a:t>ot</a:t>
            </a:r>
            <a:r>
              <a:rPr lang="en-US" spc="5" dirty="0"/>
              <a:t>h</a:t>
            </a:r>
            <a:r>
              <a:rPr lang="en-US" spc="-5" dirty="0"/>
              <a:t>e</a:t>
            </a:r>
            <a:r>
              <a:rPr lang="en-US" dirty="0"/>
              <a:t>r</a:t>
            </a:r>
            <a:r>
              <a:rPr lang="en-US" spc="-5" dirty="0"/>
              <a:t>w</a:t>
            </a:r>
            <a:r>
              <a:rPr lang="en-US" dirty="0"/>
              <a:t>i</a:t>
            </a:r>
            <a:r>
              <a:rPr lang="en-US" spc="5" dirty="0"/>
              <a:t>s</a:t>
            </a:r>
            <a:r>
              <a:rPr lang="en-US" dirty="0"/>
              <a:t>e</a:t>
            </a:r>
            <a:r>
              <a:rPr lang="en-US" spc="-45" dirty="0"/>
              <a:t> </a:t>
            </a:r>
            <a:r>
              <a:rPr lang="en-US" dirty="0"/>
              <a:t>from</a:t>
            </a:r>
            <a:r>
              <a:rPr lang="en-US" spc="-10" dirty="0"/>
              <a:t> </a:t>
            </a:r>
            <a:r>
              <a:rPr lang="en-US" spc="-5" dirty="0"/>
              <a:t>m</a:t>
            </a:r>
            <a:r>
              <a:rPr lang="en-US" dirty="0"/>
              <a:t>ore</a:t>
            </a:r>
            <a:r>
              <a:rPr lang="en-US" spc="-25" dirty="0"/>
              <a:t> </a:t>
            </a:r>
            <a:r>
              <a:rPr lang="en-US" spc="5" dirty="0"/>
              <a:t>th</a:t>
            </a:r>
            <a:r>
              <a:rPr lang="en-US" dirty="0"/>
              <a:t>an</a:t>
            </a:r>
            <a:r>
              <a:rPr lang="en-US" spc="-15" dirty="0"/>
              <a:t> </a:t>
            </a:r>
            <a:r>
              <a:rPr lang="en-US" spc="5" dirty="0"/>
              <a:t>on</a:t>
            </a:r>
            <a:r>
              <a:rPr lang="en-US" dirty="0"/>
              <a:t>e</a:t>
            </a:r>
            <a:r>
              <a:rPr lang="en-US" spc="-20" dirty="0"/>
              <a:t> </a:t>
            </a:r>
            <a:r>
              <a:rPr lang="en-US" spc="5" dirty="0"/>
              <a:t>p</a:t>
            </a:r>
            <a:r>
              <a:rPr lang="en-US" dirty="0"/>
              <a:t>arty</a:t>
            </a:r>
            <a:r>
              <a:rPr lang="en-US" spc="-15" dirty="0"/>
              <a:t> </a:t>
            </a:r>
            <a:r>
              <a:rPr lang="en-US" dirty="0"/>
              <a:t>for</a:t>
            </a:r>
            <a:r>
              <a:rPr lang="en-US" spc="-5" dirty="0"/>
              <a:t> se</a:t>
            </a:r>
            <a:r>
              <a:rPr lang="en-US" dirty="0"/>
              <a:t>r</a:t>
            </a:r>
            <a:r>
              <a:rPr lang="en-US" spc="5" dirty="0"/>
              <a:t>v</a:t>
            </a:r>
            <a:r>
              <a:rPr lang="en-US" spc="10" dirty="0"/>
              <a:t>i</a:t>
            </a:r>
            <a:r>
              <a:rPr lang="en-US" dirty="0"/>
              <a:t>c</a:t>
            </a:r>
            <a:r>
              <a:rPr lang="en-US" spc="-5" dirty="0"/>
              <a:t>e</a:t>
            </a:r>
            <a:r>
              <a:rPr lang="en-US" dirty="0"/>
              <a:t>s</a:t>
            </a:r>
            <a:r>
              <a:rPr lang="en-US" spc="-35" dirty="0"/>
              <a:t> </a:t>
            </a:r>
            <a:r>
              <a:rPr lang="en-US" spc="5" dirty="0"/>
              <a:t>o</a:t>
            </a:r>
            <a:r>
              <a:rPr lang="en-US" dirty="0"/>
              <a:t>n</a:t>
            </a:r>
            <a:r>
              <a:rPr lang="en-US" spc="-5" dirty="0"/>
              <a:t> </a:t>
            </a:r>
            <a:r>
              <a:rPr lang="en-US" spc="5" dirty="0"/>
              <a:t>th</a:t>
            </a:r>
            <a:r>
              <a:rPr lang="en-US" dirty="0"/>
              <a:t>e </a:t>
            </a:r>
            <a:r>
              <a:rPr lang="en-US" spc="-5" dirty="0"/>
              <a:t>s</a:t>
            </a:r>
            <a:r>
              <a:rPr lang="en-US" dirty="0"/>
              <a:t>a</a:t>
            </a:r>
            <a:r>
              <a:rPr lang="en-US" spc="10" dirty="0"/>
              <a:t>m</a:t>
            </a:r>
            <a:r>
              <a:rPr lang="en-US" dirty="0"/>
              <a:t>e</a:t>
            </a:r>
            <a:r>
              <a:rPr lang="en-US" spc="-25" dirty="0"/>
              <a:t> </a:t>
            </a:r>
            <a:r>
              <a:rPr lang="en-US" spc="5" dirty="0"/>
              <a:t>p</a:t>
            </a:r>
            <a:r>
              <a:rPr lang="en-US" dirty="0"/>
              <a:t>r</a:t>
            </a:r>
            <a:r>
              <a:rPr lang="en-US" spc="5" dirty="0"/>
              <a:t>o</a:t>
            </a:r>
            <a:r>
              <a:rPr lang="en-US" dirty="0"/>
              <a:t>je</a:t>
            </a:r>
            <a:r>
              <a:rPr lang="en-US" spc="-5" dirty="0"/>
              <a:t>c</a:t>
            </a:r>
            <a:r>
              <a:rPr lang="en-US" dirty="0"/>
              <a:t>t,</a:t>
            </a:r>
            <a:r>
              <a:rPr lang="en-US" spc="-25" dirty="0"/>
              <a:t> </a:t>
            </a:r>
            <a:r>
              <a:rPr lang="en-US" spc="5" dirty="0"/>
              <a:t>un</a:t>
            </a:r>
            <a:r>
              <a:rPr lang="en-US" dirty="0"/>
              <a:t>l</a:t>
            </a:r>
            <a:r>
              <a:rPr lang="en-US" spc="-5" dirty="0"/>
              <a:t>e</a:t>
            </a:r>
            <a:r>
              <a:rPr lang="en-US" spc="5" dirty="0"/>
              <a:t>s</a:t>
            </a:r>
            <a:r>
              <a:rPr lang="en-US" dirty="0"/>
              <a:t>s</a:t>
            </a:r>
            <a:r>
              <a:rPr lang="en-US" spc="-30" dirty="0"/>
              <a:t> </a:t>
            </a:r>
            <a:r>
              <a:rPr lang="en-US" spc="5" dirty="0"/>
              <a:t>th</a:t>
            </a:r>
            <a:r>
              <a:rPr lang="en-US" dirty="0"/>
              <a:t>e</a:t>
            </a:r>
            <a:r>
              <a:rPr lang="en-US" spc="-20" dirty="0"/>
              <a:t> </a:t>
            </a:r>
            <a:r>
              <a:rPr lang="en-US" dirty="0"/>
              <a:t>circ</a:t>
            </a:r>
            <a:r>
              <a:rPr lang="en-US" spc="15" dirty="0"/>
              <a:t>u</a:t>
            </a:r>
            <a:r>
              <a:rPr lang="en-US" spc="-5" dirty="0"/>
              <a:t>ms</a:t>
            </a:r>
            <a:r>
              <a:rPr lang="en-US" dirty="0"/>
              <a:t>t</a:t>
            </a:r>
            <a:r>
              <a:rPr lang="en-US" spc="5" dirty="0"/>
              <a:t>an</a:t>
            </a:r>
            <a:r>
              <a:rPr lang="en-US" dirty="0"/>
              <a:t>c</a:t>
            </a:r>
            <a:r>
              <a:rPr lang="en-US" spc="5" dirty="0"/>
              <a:t>e</a:t>
            </a:r>
            <a:r>
              <a:rPr lang="en-US" dirty="0"/>
              <a:t>s</a:t>
            </a:r>
            <a:r>
              <a:rPr lang="en-US" spc="-65" dirty="0"/>
              <a:t> </a:t>
            </a:r>
            <a:r>
              <a:rPr lang="en-US" spc="5" dirty="0"/>
              <a:t>a</a:t>
            </a:r>
            <a:r>
              <a:rPr lang="en-US" dirty="0"/>
              <a:t>re</a:t>
            </a:r>
            <a:r>
              <a:rPr lang="en-US" spc="-5" dirty="0"/>
              <a:t> f</a:t>
            </a:r>
            <a:r>
              <a:rPr lang="en-US" spc="5" dirty="0"/>
              <a:t>u</a:t>
            </a:r>
            <a:r>
              <a:rPr lang="en-US" dirty="0"/>
              <a:t>lly</a:t>
            </a:r>
            <a:r>
              <a:rPr lang="en-US" spc="-10" dirty="0"/>
              <a:t> </a:t>
            </a:r>
            <a:r>
              <a:rPr lang="en-US" spc="5" dirty="0"/>
              <a:t>d</a:t>
            </a:r>
            <a:r>
              <a:rPr lang="en-US" dirty="0"/>
              <a:t>i</a:t>
            </a:r>
            <a:r>
              <a:rPr lang="en-US" spc="-5" dirty="0"/>
              <a:t>s</a:t>
            </a:r>
            <a:r>
              <a:rPr lang="en-US" dirty="0"/>
              <a:t>cl</a:t>
            </a:r>
            <a:r>
              <a:rPr lang="en-US" spc="10" dirty="0"/>
              <a:t>o</a:t>
            </a:r>
            <a:r>
              <a:rPr lang="en-US" spc="-5" dirty="0"/>
              <a:t>se</a:t>
            </a:r>
            <a:r>
              <a:rPr lang="en-US" dirty="0"/>
              <a:t>d</a:t>
            </a:r>
            <a:r>
              <a:rPr lang="en-US" spc="-30" dirty="0"/>
              <a:t> </a:t>
            </a:r>
            <a:r>
              <a:rPr lang="en-US" spc="15" dirty="0"/>
              <a:t>a</a:t>
            </a:r>
            <a:r>
              <a:rPr lang="en-US" spc="5" dirty="0"/>
              <a:t>n</a:t>
            </a:r>
            <a:r>
              <a:rPr lang="en-US" dirty="0"/>
              <a:t>d</a:t>
            </a:r>
            <a:r>
              <a:rPr lang="en-US" spc="-10" dirty="0"/>
              <a:t> </a:t>
            </a:r>
            <a:r>
              <a:rPr lang="en-US" spc="5" dirty="0"/>
              <a:t>a</a:t>
            </a:r>
            <a:r>
              <a:rPr lang="en-US" dirty="0"/>
              <a:t>gr</a:t>
            </a:r>
            <a:r>
              <a:rPr lang="en-US" spc="-5" dirty="0"/>
              <a:t>ee</a:t>
            </a:r>
            <a:r>
              <a:rPr lang="en-US" dirty="0"/>
              <a:t>d</a:t>
            </a:r>
            <a:r>
              <a:rPr lang="en-US" spc="-25" dirty="0"/>
              <a:t> </a:t>
            </a:r>
            <a:r>
              <a:rPr lang="en-US" spc="5" dirty="0"/>
              <a:t>t</a:t>
            </a:r>
            <a:r>
              <a:rPr lang="en-US" dirty="0"/>
              <a:t>o,</a:t>
            </a:r>
            <a:r>
              <a:rPr lang="en-US" spc="-10" dirty="0"/>
              <a:t> </a:t>
            </a:r>
            <a:r>
              <a:rPr lang="en-US" spc="5" dirty="0"/>
              <a:t>b</a:t>
            </a:r>
            <a:r>
              <a:rPr lang="en-US" dirty="0"/>
              <a:t>y</a:t>
            </a:r>
            <a:r>
              <a:rPr lang="en-US" spc="-5" dirty="0"/>
              <a:t> </a:t>
            </a:r>
            <a:r>
              <a:rPr lang="en-US" spc="5" dirty="0"/>
              <a:t>a</a:t>
            </a:r>
            <a:r>
              <a:rPr lang="en-US" dirty="0"/>
              <a:t>ll</a:t>
            </a:r>
            <a:r>
              <a:rPr lang="en-US" spc="-10" dirty="0"/>
              <a:t> </a:t>
            </a:r>
            <a:r>
              <a:rPr lang="en-US" dirty="0"/>
              <a:t>i</a:t>
            </a:r>
            <a:r>
              <a:rPr lang="en-US" spc="5" dirty="0"/>
              <a:t>n</a:t>
            </a:r>
            <a:r>
              <a:rPr lang="en-US" dirty="0"/>
              <a:t>ter</a:t>
            </a:r>
            <a:r>
              <a:rPr lang="en-US" spc="-5" dirty="0"/>
              <a:t>es</a:t>
            </a:r>
            <a:r>
              <a:rPr lang="en-US" dirty="0"/>
              <a:t>ted</a:t>
            </a:r>
            <a:r>
              <a:rPr lang="en-US" spc="-25" dirty="0"/>
              <a:t> </a:t>
            </a:r>
            <a:r>
              <a:rPr lang="en-US" spc="5" dirty="0"/>
              <a:t>p</a:t>
            </a:r>
            <a:r>
              <a:rPr lang="en-US" dirty="0"/>
              <a:t>artie</a:t>
            </a:r>
            <a:r>
              <a:rPr lang="en-US" spc="-5" dirty="0"/>
              <a:t>s</a:t>
            </a:r>
            <a:r>
              <a:rPr lang="en-US" dirty="0"/>
              <a:t>.</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FF"/>
              </a:solidFill>
            </a:endParaRPr>
          </a:p>
          <a:p>
            <a:r>
              <a:rPr lang="en-US" dirty="0">
                <a:solidFill>
                  <a:srgbClr val="0000FF"/>
                </a:solidFill>
              </a:rPr>
              <a:t>ESL Code of Ethics  Clause 6.4</a:t>
            </a:r>
          </a:p>
          <a:p>
            <a:r>
              <a:rPr lang="en-US" dirty="0"/>
              <a:t>Shall</a:t>
            </a:r>
            <a:r>
              <a:rPr lang="en-US" spc="-15" dirty="0"/>
              <a:t> </a:t>
            </a:r>
            <a:r>
              <a:rPr lang="en-US" spc="5" dirty="0"/>
              <a:t>n</a:t>
            </a:r>
            <a:r>
              <a:rPr lang="en-US" spc="-5" dirty="0"/>
              <a:t>e</a:t>
            </a:r>
            <a:r>
              <a:rPr lang="en-US" dirty="0"/>
              <a:t>it</a:t>
            </a:r>
            <a:r>
              <a:rPr lang="en-US" spc="5" dirty="0"/>
              <a:t>h</a:t>
            </a:r>
            <a:r>
              <a:rPr lang="en-US" spc="-5" dirty="0"/>
              <a:t>e</a:t>
            </a:r>
            <a:r>
              <a:rPr lang="en-US" dirty="0"/>
              <a:t>r</a:t>
            </a:r>
            <a:r>
              <a:rPr lang="en-US" spc="-30" dirty="0"/>
              <a:t> </a:t>
            </a:r>
            <a:r>
              <a:rPr lang="en-US" spc="-5" dirty="0"/>
              <a:t>s</a:t>
            </a:r>
            <a:r>
              <a:rPr lang="en-US" dirty="0"/>
              <a:t>ol</a:t>
            </a:r>
            <a:r>
              <a:rPr lang="en-US" spc="10" dirty="0"/>
              <a:t>i</a:t>
            </a:r>
            <a:r>
              <a:rPr lang="en-US" dirty="0"/>
              <a:t>cit</a:t>
            </a:r>
            <a:r>
              <a:rPr lang="en-US" spc="-25" dirty="0"/>
              <a:t> </a:t>
            </a:r>
            <a:r>
              <a:rPr lang="en-US" spc="5" dirty="0"/>
              <a:t>n</a:t>
            </a:r>
            <a:r>
              <a:rPr lang="en-US" dirty="0"/>
              <a:t>or</a:t>
            </a:r>
            <a:r>
              <a:rPr lang="en-US" spc="-15" dirty="0"/>
              <a:t> </a:t>
            </a:r>
            <a:r>
              <a:rPr lang="en-US" dirty="0"/>
              <a:t>acc</a:t>
            </a:r>
            <a:r>
              <a:rPr lang="en-US" spc="-5" dirty="0"/>
              <a:t>e</a:t>
            </a:r>
            <a:r>
              <a:rPr lang="en-US" spc="5" dirty="0"/>
              <a:t>p</a:t>
            </a:r>
            <a:r>
              <a:rPr lang="en-US" dirty="0"/>
              <a:t>t</a:t>
            </a:r>
            <a:r>
              <a:rPr lang="en-US" spc="-15" dirty="0"/>
              <a:t> </a:t>
            </a:r>
            <a:r>
              <a:rPr lang="en-US" dirty="0"/>
              <a:t>fina</a:t>
            </a:r>
            <a:r>
              <a:rPr lang="en-US" spc="5" dirty="0"/>
              <a:t>n</a:t>
            </a:r>
            <a:r>
              <a:rPr lang="en-US" dirty="0"/>
              <a:t>cial</a:t>
            </a:r>
            <a:r>
              <a:rPr lang="en-US" spc="-35" dirty="0"/>
              <a:t> </a:t>
            </a:r>
            <a:r>
              <a:rPr lang="en-US" spc="5" dirty="0"/>
              <a:t>o</a:t>
            </a:r>
            <a:r>
              <a:rPr lang="en-US" dirty="0"/>
              <a:t>r</a:t>
            </a:r>
            <a:r>
              <a:rPr lang="en-US" spc="-10" dirty="0"/>
              <a:t> </a:t>
            </a:r>
            <a:r>
              <a:rPr lang="en-US" dirty="0"/>
              <a:t>ot</a:t>
            </a:r>
            <a:r>
              <a:rPr lang="en-US" spc="5" dirty="0"/>
              <a:t>h</a:t>
            </a:r>
            <a:r>
              <a:rPr lang="en-US" spc="-5" dirty="0"/>
              <a:t>e</a:t>
            </a:r>
            <a:r>
              <a:rPr lang="en-US" dirty="0"/>
              <a:t>r</a:t>
            </a:r>
            <a:r>
              <a:rPr lang="en-US" spc="-20" dirty="0"/>
              <a:t> </a:t>
            </a:r>
            <a:r>
              <a:rPr lang="en-US" spc="-5" dirty="0"/>
              <a:t>v</a:t>
            </a:r>
            <a:r>
              <a:rPr lang="en-US" dirty="0"/>
              <a:t>al</a:t>
            </a:r>
            <a:r>
              <a:rPr lang="en-US" spc="5" dirty="0"/>
              <a:t>u</a:t>
            </a:r>
            <a:r>
              <a:rPr lang="en-US" dirty="0"/>
              <a:t>a</a:t>
            </a:r>
            <a:r>
              <a:rPr lang="en-US" spc="5" dirty="0"/>
              <a:t>b</a:t>
            </a:r>
            <a:r>
              <a:rPr lang="en-US" dirty="0"/>
              <a:t>le</a:t>
            </a:r>
            <a:r>
              <a:rPr lang="en-US" spc="-40" dirty="0"/>
              <a:t> </a:t>
            </a:r>
            <a:r>
              <a:rPr lang="en-US" dirty="0"/>
              <a:t>c</a:t>
            </a:r>
            <a:r>
              <a:rPr lang="en-US" spc="15" dirty="0"/>
              <a:t>o</a:t>
            </a:r>
            <a:r>
              <a:rPr lang="en-US" spc="5" dirty="0"/>
              <a:t>n</a:t>
            </a:r>
            <a:r>
              <a:rPr lang="en-US" spc="-5" dirty="0"/>
              <a:t>s</a:t>
            </a:r>
            <a:r>
              <a:rPr lang="en-US" dirty="0"/>
              <a:t>i</a:t>
            </a:r>
            <a:r>
              <a:rPr lang="en-US" spc="5" dirty="0"/>
              <a:t>d</a:t>
            </a:r>
            <a:r>
              <a:rPr lang="en-US" spc="-5" dirty="0"/>
              <a:t>e</a:t>
            </a:r>
            <a:r>
              <a:rPr lang="en-US" dirty="0"/>
              <a:t>rati</a:t>
            </a:r>
            <a:r>
              <a:rPr lang="en-US" spc="5" dirty="0"/>
              <a:t>on</a:t>
            </a:r>
            <a:r>
              <a:rPr lang="en-US" dirty="0"/>
              <a:t>,</a:t>
            </a:r>
            <a:r>
              <a:rPr lang="en-US" spc="-60" dirty="0"/>
              <a:t> </a:t>
            </a:r>
            <a:r>
              <a:rPr lang="en-US" dirty="0"/>
              <a:t>i</a:t>
            </a:r>
            <a:r>
              <a:rPr lang="en-US" spc="5" dirty="0"/>
              <a:t>n</a:t>
            </a:r>
            <a:r>
              <a:rPr lang="en-US" dirty="0"/>
              <a:t>clu</a:t>
            </a:r>
            <a:r>
              <a:rPr lang="en-US" spc="5" dirty="0"/>
              <a:t>d</a:t>
            </a:r>
            <a:r>
              <a:rPr lang="en-US" dirty="0"/>
              <a:t>i</a:t>
            </a:r>
            <a:r>
              <a:rPr lang="en-US" spc="5" dirty="0"/>
              <a:t>n</a:t>
            </a:r>
            <a:r>
              <a:rPr lang="en-US" dirty="0"/>
              <a:t>g</a:t>
            </a:r>
            <a:r>
              <a:rPr lang="en-US" spc="-35" dirty="0"/>
              <a:t> </a:t>
            </a:r>
            <a:r>
              <a:rPr lang="en-US" dirty="0"/>
              <a:t>fr</a:t>
            </a:r>
            <a:r>
              <a:rPr lang="en-US" spc="-5" dirty="0"/>
              <a:t>e</a:t>
            </a:r>
            <a:r>
              <a:rPr lang="en-US" dirty="0"/>
              <a:t>e</a:t>
            </a:r>
            <a:r>
              <a:rPr lang="en-US" spc="-5" dirty="0"/>
              <a:t> e</a:t>
            </a:r>
            <a:r>
              <a:rPr lang="en-US" spc="5" dirty="0"/>
              <a:t>n</a:t>
            </a:r>
            <a:r>
              <a:rPr lang="en-US" dirty="0"/>
              <a:t>gine</a:t>
            </a:r>
            <a:r>
              <a:rPr lang="en-US" spc="-5" dirty="0"/>
              <a:t>e</a:t>
            </a:r>
            <a:r>
              <a:rPr lang="en-US" dirty="0"/>
              <a:t>ri</a:t>
            </a:r>
            <a:r>
              <a:rPr lang="en-US" spc="5" dirty="0"/>
              <a:t>n</a:t>
            </a:r>
            <a:r>
              <a:rPr lang="en-US" dirty="0"/>
              <a:t>g </a:t>
            </a:r>
            <a:r>
              <a:rPr lang="en-US" spc="5" dirty="0"/>
              <a:t>d</a:t>
            </a:r>
            <a:r>
              <a:rPr lang="en-US" spc="-5" dirty="0"/>
              <a:t>es</a:t>
            </a:r>
            <a:r>
              <a:rPr lang="en-US" dirty="0"/>
              <a:t>ig</a:t>
            </a:r>
            <a:r>
              <a:rPr lang="en-US" spc="15" dirty="0"/>
              <a:t>n</a:t>
            </a:r>
            <a:r>
              <a:rPr lang="en-US" spc="-5" dirty="0"/>
              <a:t>s</a:t>
            </a:r>
            <a:r>
              <a:rPr lang="en-US" dirty="0"/>
              <a:t>,</a:t>
            </a:r>
            <a:r>
              <a:rPr lang="en-US" spc="-35" dirty="0"/>
              <a:t> </a:t>
            </a:r>
            <a:r>
              <a:rPr lang="en-US" dirty="0"/>
              <a:t>from</a:t>
            </a:r>
            <a:r>
              <a:rPr lang="en-US" spc="-10" dirty="0"/>
              <a:t> </a:t>
            </a:r>
            <a:r>
              <a:rPr lang="en-US" spc="-5" dirty="0"/>
              <a:t>m</a:t>
            </a:r>
            <a:r>
              <a:rPr lang="en-US" dirty="0"/>
              <a:t>a</a:t>
            </a:r>
            <a:r>
              <a:rPr lang="en-US" spc="5" dirty="0"/>
              <a:t>t</a:t>
            </a:r>
            <a:r>
              <a:rPr lang="en-US" spc="-5" dirty="0"/>
              <a:t>e</a:t>
            </a:r>
            <a:r>
              <a:rPr lang="en-US" dirty="0"/>
              <a:t>rial</a:t>
            </a:r>
            <a:r>
              <a:rPr lang="en-US" spc="-30" dirty="0"/>
              <a:t> </a:t>
            </a:r>
            <a:r>
              <a:rPr lang="en-US" dirty="0"/>
              <a:t>or</a:t>
            </a:r>
            <a:r>
              <a:rPr lang="en-US" spc="-10" dirty="0"/>
              <a:t> </a:t>
            </a:r>
            <a:r>
              <a:rPr lang="en-US" spc="-5" dirty="0"/>
              <a:t>e</a:t>
            </a:r>
            <a:r>
              <a:rPr lang="en-US" spc="5" dirty="0"/>
              <a:t>qu</a:t>
            </a:r>
            <a:r>
              <a:rPr lang="en-US" spc="10" dirty="0"/>
              <a:t>i</a:t>
            </a:r>
            <a:r>
              <a:rPr lang="en-US" spc="5" dirty="0"/>
              <a:t>p</a:t>
            </a:r>
            <a:r>
              <a:rPr lang="en-US" spc="-5" dirty="0"/>
              <a:t>me</a:t>
            </a:r>
            <a:r>
              <a:rPr lang="en-US" spc="5" dirty="0"/>
              <a:t>n</a:t>
            </a:r>
            <a:r>
              <a:rPr lang="en-US" dirty="0"/>
              <a:t>t</a:t>
            </a:r>
            <a:r>
              <a:rPr lang="en-US" spc="-40" dirty="0"/>
              <a:t> </a:t>
            </a:r>
            <a:r>
              <a:rPr lang="en-US" spc="-5" dirty="0"/>
              <a:t>s</a:t>
            </a:r>
            <a:r>
              <a:rPr lang="en-US" spc="5" dirty="0"/>
              <a:t>upp</a:t>
            </a:r>
            <a:r>
              <a:rPr lang="en-US" dirty="0"/>
              <a:t>li</a:t>
            </a:r>
            <a:r>
              <a:rPr lang="en-US" spc="-5" dirty="0"/>
              <a:t>e</a:t>
            </a:r>
            <a:r>
              <a:rPr lang="en-US" spc="10" dirty="0"/>
              <a:t>r</a:t>
            </a:r>
            <a:r>
              <a:rPr lang="en-US" dirty="0"/>
              <a:t>s</a:t>
            </a:r>
            <a:r>
              <a:rPr lang="en-US" spc="-40" dirty="0"/>
              <a:t> </a:t>
            </a:r>
            <a:r>
              <a:rPr lang="en-US" dirty="0"/>
              <a:t>for</a:t>
            </a:r>
            <a:r>
              <a:rPr lang="en-US" spc="-5" dirty="0"/>
              <a:t> s</a:t>
            </a:r>
            <a:r>
              <a:rPr lang="en-US" spc="15" dirty="0"/>
              <a:t>p</a:t>
            </a:r>
            <a:r>
              <a:rPr lang="en-US" spc="-5" dirty="0"/>
              <a:t>e</a:t>
            </a:r>
            <a:r>
              <a:rPr lang="en-US" dirty="0"/>
              <a:t>ci</a:t>
            </a:r>
            <a:r>
              <a:rPr lang="en-US" spc="-5" dirty="0"/>
              <a:t>f</a:t>
            </a:r>
            <a:r>
              <a:rPr lang="en-US" spc="5" dirty="0"/>
              <a:t>y</a:t>
            </a:r>
            <a:r>
              <a:rPr lang="en-US" dirty="0"/>
              <a:t>i</a:t>
            </a:r>
            <a:r>
              <a:rPr lang="en-US" spc="5" dirty="0"/>
              <a:t>n</a:t>
            </a:r>
            <a:r>
              <a:rPr lang="en-US" dirty="0"/>
              <a:t>g</a:t>
            </a:r>
            <a:r>
              <a:rPr lang="en-US" spc="-30" dirty="0"/>
              <a:t> </a:t>
            </a:r>
            <a:r>
              <a:rPr lang="en-US" spc="5" dirty="0"/>
              <a:t>th</a:t>
            </a:r>
            <a:r>
              <a:rPr lang="en-US" spc="-5" dirty="0"/>
              <a:t>e</a:t>
            </a:r>
            <a:r>
              <a:rPr lang="en-US" dirty="0"/>
              <a:t>ir</a:t>
            </a:r>
            <a:r>
              <a:rPr lang="en-US" spc="-20" dirty="0"/>
              <a:t> </a:t>
            </a:r>
            <a:r>
              <a:rPr lang="en-US" spc="5" dirty="0"/>
              <a:t>p</a:t>
            </a:r>
            <a:r>
              <a:rPr lang="en-US" dirty="0"/>
              <a:t>r</a:t>
            </a:r>
            <a:r>
              <a:rPr lang="en-US" spc="5" dirty="0"/>
              <a:t>odu</a:t>
            </a:r>
            <a:r>
              <a:rPr lang="en-US" dirty="0"/>
              <a:t>cts</a:t>
            </a:r>
            <a:r>
              <a:rPr lang="en-US" spc="-40" dirty="0"/>
              <a:t> </a:t>
            </a:r>
            <a:r>
              <a:rPr lang="en-US" dirty="0"/>
              <a:t>(ex</a:t>
            </a:r>
            <a:r>
              <a:rPr lang="en-US" spc="10" dirty="0"/>
              <a:t>c</a:t>
            </a:r>
            <a:r>
              <a:rPr lang="en-US" spc="-5" dirty="0"/>
              <a:t>e</a:t>
            </a:r>
            <a:r>
              <a:rPr lang="en-US" spc="5" dirty="0"/>
              <a:t>p</a:t>
            </a:r>
            <a:r>
              <a:rPr lang="en-US" dirty="0"/>
              <a:t>t</a:t>
            </a:r>
            <a:r>
              <a:rPr lang="en-US" spc="-25" dirty="0"/>
              <a:t> </a:t>
            </a:r>
            <a:r>
              <a:rPr lang="en-US" spc="-5" dirty="0"/>
              <a:t>s</a:t>
            </a:r>
            <a:r>
              <a:rPr lang="en-US" spc="5" dirty="0"/>
              <a:t>u</a:t>
            </a:r>
            <a:r>
              <a:rPr lang="en-US" dirty="0"/>
              <a:t>ch</a:t>
            </a:r>
            <a:r>
              <a:rPr lang="en-US" spc="-20" dirty="0"/>
              <a:t> </a:t>
            </a:r>
            <a:r>
              <a:rPr lang="en-US" spc="5" dirty="0"/>
              <a:t>d</a:t>
            </a:r>
            <a:r>
              <a:rPr lang="en-US" spc="-5" dirty="0"/>
              <a:t>es</a:t>
            </a:r>
            <a:r>
              <a:rPr lang="en-US" dirty="0"/>
              <a:t>ig</a:t>
            </a:r>
            <a:r>
              <a:rPr lang="en-US" spc="15" dirty="0"/>
              <a:t>n</a:t>
            </a:r>
            <a:r>
              <a:rPr lang="en-US" dirty="0"/>
              <a:t>s o</a:t>
            </a:r>
            <a:r>
              <a:rPr lang="en-US" spc="5" dirty="0"/>
              <a:t>b</a:t>
            </a:r>
            <a:r>
              <a:rPr lang="en-US" dirty="0"/>
              <a:t>t</a:t>
            </a:r>
            <a:r>
              <a:rPr lang="en-US" spc="5" dirty="0"/>
              <a:t>a</a:t>
            </a:r>
            <a:r>
              <a:rPr lang="en-US" dirty="0"/>
              <a:t>i</a:t>
            </a:r>
            <a:r>
              <a:rPr lang="en-US" spc="5" dirty="0"/>
              <a:t>n</a:t>
            </a:r>
            <a:r>
              <a:rPr lang="en-US" spc="-5" dirty="0"/>
              <a:t>e</a:t>
            </a:r>
            <a:r>
              <a:rPr lang="en-US" dirty="0"/>
              <a:t>d</a:t>
            </a:r>
            <a:r>
              <a:rPr lang="en-US" spc="-30" dirty="0"/>
              <a:t> </a:t>
            </a:r>
            <a:r>
              <a:rPr lang="en-US" dirty="0"/>
              <a:t>with</a:t>
            </a:r>
            <a:r>
              <a:rPr lang="en-US" spc="-15" dirty="0"/>
              <a:t> </a:t>
            </a:r>
            <a:r>
              <a:rPr lang="en-US" spc="5" dirty="0"/>
              <a:t>th</a:t>
            </a:r>
            <a:r>
              <a:rPr lang="en-US" dirty="0"/>
              <a:t>e</a:t>
            </a:r>
            <a:r>
              <a:rPr lang="en-US" spc="-20" dirty="0"/>
              <a:t> </a:t>
            </a:r>
            <a:r>
              <a:rPr lang="en-US" spc="5" dirty="0"/>
              <a:t>kn</a:t>
            </a:r>
            <a:r>
              <a:rPr lang="en-US" dirty="0"/>
              <a:t>o</a:t>
            </a:r>
            <a:r>
              <a:rPr lang="en-US" spc="-5" dirty="0"/>
              <a:t>w</a:t>
            </a:r>
            <a:r>
              <a:rPr lang="en-US" dirty="0"/>
              <a:t>l</a:t>
            </a:r>
            <a:r>
              <a:rPr lang="en-US" spc="-5" dirty="0"/>
              <a:t>e</a:t>
            </a:r>
            <a:r>
              <a:rPr lang="en-US" spc="5" dirty="0"/>
              <a:t>d</a:t>
            </a:r>
            <a:r>
              <a:rPr lang="en-US" dirty="0"/>
              <a:t>ge</a:t>
            </a:r>
            <a:r>
              <a:rPr lang="en-US" spc="-35" dirty="0"/>
              <a:t> </a:t>
            </a:r>
            <a:r>
              <a:rPr lang="en-US" dirty="0"/>
              <a:t>a</a:t>
            </a:r>
            <a:r>
              <a:rPr lang="en-US" spc="5" dirty="0"/>
              <a:t>n</a:t>
            </a:r>
            <a:r>
              <a:rPr lang="en-US" dirty="0"/>
              <a:t>d</a:t>
            </a:r>
            <a:r>
              <a:rPr lang="en-US" spc="-10" dirty="0"/>
              <a:t> </a:t>
            </a:r>
            <a:r>
              <a:rPr lang="en-US" dirty="0"/>
              <a:t>c</a:t>
            </a:r>
            <a:r>
              <a:rPr lang="en-US" spc="5" dirty="0"/>
              <a:t>on</a:t>
            </a:r>
            <a:r>
              <a:rPr lang="en-US" spc="-5" dirty="0"/>
              <a:t>se</a:t>
            </a:r>
            <a:r>
              <a:rPr lang="en-US" spc="5" dirty="0"/>
              <a:t>n</a:t>
            </a:r>
            <a:r>
              <a:rPr lang="en-US" dirty="0"/>
              <a:t>t</a:t>
            </a:r>
            <a:r>
              <a:rPr lang="en-US" spc="-25" dirty="0"/>
              <a:t> </a:t>
            </a:r>
            <a:r>
              <a:rPr lang="en-US" dirty="0"/>
              <a:t>of</a:t>
            </a:r>
            <a:r>
              <a:rPr lang="en-US" spc="-15" dirty="0"/>
              <a:t> </a:t>
            </a:r>
            <a:r>
              <a:rPr lang="en-US" spc="5" dirty="0"/>
              <a:t>th</a:t>
            </a:r>
            <a:r>
              <a:rPr lang="en-US" dirty="0"/>
              <a:t>e</a:t>
            </a:r>
            <a:r>
              <a:rPr lang="en-US" spc="-20" dirty="0"/>
              <a:t> </a:t>
            </a:r>
            <a:r>
              <a:rPr lang="en-US" dirty="0"/>
              <a:t>e</a:t>
            </a:r>
            <a:r>
              <a:rPr lang="en-US" spc="-5" dirty="0"/>
              <a:t>m</a:t>
            </a:r>
            <a:r>
              <a:rPr lang="en-US" spc="5" dirty="0"/>
              <a:t>p</a:t>
            </a:r>
            <a:r>
              <a:rPr lang="en-US" dirty="0"/>
              <a:t>lo</a:t>
            </a:r>
            <a:r>
              <a:rPr lang="en-US" spc="5" dirty="0"/>
              <a:t>y</a:t>
            </a:r>
            <a:r>
              <a:rPr lang="en-US" spc="-5" dirty="0"/>
              <a:t>e</a:t>
            </a:r>
            <a:r>
              <a:rPr lang="en-US" dirty="0"/>
              <a:t>r</a:t>
            </a:r>
            <a:r>
              <a:rPr lang="en-US" spc="-25" dirty="0"/>
              <a:t> </a:t>
            </a:r>
            <a:r>
              <a:rPr lang="en-US" dirty="0"/>
              <a:t>or</a:t>
            </a:r>
            <a:r>
              <a:rPr lang="en-US" spc="-10" dirty="0"/>
              <a:t> </a:t>
            </a:r>
            <a:r>
              <a:rPr lang="en-US" dirty="0"/>
              <a:t>c</a:t>
            </a:r>
            <a:r>
              <a:rPr lang="en-US" spc="30" dirty="0"/>
              <a:t>l</a:t>
            </a:r>
            <a:r>
              <a:rPr lang="en-US" dirty="0"/>
              <a:t>i</a:t>
            </a:r>
            <a:r>
              <a:rPr lang="en-US" spc="-5" dirty="0"/>
              <a:t>e</a:t>
            </a:r>
            <a:r>
              <a:rPr lang="en-US" spc="5" dirty="0"/>
              <a:t>n</a:t>
            </a:r>
            <a:r>
              <a:rPr lang="en-US" dirty="0"/>
              <a:t>t).</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solidFill>
                <a:srgbClr val="0000FF"/>
              </a:solidFill>
            </a:endParaRPr>
          </a:p>
          <a:p>
            <a:endParaRPr lang="en-US" dirty="0"/>
          </a:p>
          <a:p>
            <a:endParaRPr lang="en-US" dirty="0"/>
          </a:p>
          <a:p>
            <a:endParaRPr lang="en-US" dirty="0"/>
          </a:p>
        </p:txBody>
      </p:sp>
    </p:spTree>
    <p:extLst>
      <p:ext uri="{BB962C8B-B14F-4D97-AF65-F5344CB8AC3E}">
        <p14:creationId xmlns:p14="http://schemas.microsoft.com/office/powerpoint/2010/main" val="268212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1000"/>
                                        <p:tgtEl>
                                          <p:spTgt spid="3">
                                            <p:txEl>
                                              <p:pRg st="6" end="6"/>
                                            </p:txEl>
                                          </p:spTgt>
                                        </p:tgtEl>
                                      </p:cBhvr>
                                    </p:animEffect>
                                    <p:anim calcmode="lin" valueType="num">
                                      <p:cBhvr>
                                        <p:cTn id="2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fade">
                                      <p:cBhvr>
                                        <p:cTn id="31" dur="1000"/>
                                        <p:tgtEl>
                                          <p:spTgt spid="3">
                                            <p:txEl>
                                              <p:pRg st="8" end="8"/>
                                            </p:txEl>
                                          </p:spTgt>
                                        </p:tgtEl>
                                      </p:cBhvr>
                                    </p:animEffect>
                                    <p:anim calcmode="lin" valueType="num">
                                      <p:cBhvr>
                                        <p:cTn id="3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1000"/>
                                        <p:tgtEl>
                                          <p:spTgt spid="3">
                                            <p:txEl>
                                              <p:pRg st="9" end="9"/>
                                            </p:txEl>
                                          </p:spTgt>
                                        </p:tgtEl>
                                      </p:cBhvr>
                                    </p:animEffect>
                                    <p:anim calcmode="lin" valueType="num">
                                      <p:cBhvr>
                                        <p:cTn id="3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97485"/>
            <a:ext cx="10515600" cy="625475"/>
          </a:xfrm>
        </p:spPr>
        <p:txBody>
          <a:bodyPr>
            <a:normAutofit fontScale="90000"/>
          </a:bodyPr>
          <a:lstStyle/>
          <a:p>
            <a:r>
              <a:rPr lang="en-US" dirty="0"/>
              <a:t>Conflict of Interest</a:t>
            </a:r>
          </a:p>
        </p:txBody>
      </p:sp>
      <p:sp>
        <p:nvSpPr>
          <p:cNvPr id="3" name="Content Placeholder 2"/>
          <p:cNvSpPr>
            <a:spLocks noGrp="1"/>
          </p:cNvSpPr>
          <p:nvPr>
            <p:ph sz="half" idx="1"/>
          </p:nvPr>
        </p:nvSpPr>
        <p:spPr>
          <a:xfrm>
            <a:off x="838200" y="1082040"/>
            <a:ext cx="6309360" cy="5349240"/>
          </a:xfrm>
        </p:spPr>
        <p:txBody>
          <a:bodyPr>
            <a:normAutofit fontScale="92500" lnSpcReduction="10000"/>
          </a:bodyPr>
          <a:lstStyle/>
          <a:p>
            <a:r>
              <a:rPr lang="en-US" b="1" dirty="0">
                <a:solidFill>
                  <a:srgbClr val="FF0000"/>
                </a:solidFill>
              </a:rPr>
              <a:t>Gifts, Bribes, and Kickbacks</a:t>
            </a:r>
          </a:p>
          <a:p>
            <a:r>
              <a:rPr lang="en-US" dirty="0">
                <a:solidFill>
                  <a:srgbClr val="0000FF"/>
                </a:solidFill>
              </a:rPr>
              <a:t>IESL Code of Ethics  Clause 6.5</a:t>
            </a:r>
          </a:p>
          <a:p>
            <a:r>
              <a:rPr lang="en-US" dirty="0"/>
              <a:t>Shall</a:t>
            </a:r>
            <a:r>
              <a:rPr lang="en-US" spc="-15" dirty="0"/>
              <a:t> </a:t>
            </a:r>
            <a:r>
              <a:rPr lang="en-US" spc="5" dirty="0"/>
              <a:t>n</a:t>
            </a:r>
            <a:r>
              <a:rPr lang="en-US" spc="-5" dirty="0"/>
              <a:t>e</a:t>
            </a:r>
            <a:r>
              <a:rPr lang="en-US" dirty="0"/>
              <a:t>it</a:t>
            </a:r>
            <a:r>
              <a:rPr lang="en-US" spc="5" dirty="0"/>
              <a:t>h</a:t>
            </a:r>
            <a:r>
              <a:rPr lang="en-US" spc="-5" dirty="0"/>
              <a:t>e</a:t>
            </a:r>
            <a:r>
              <a:rPr lang="en-US" dirty="0"/>
              <a:t>r</a:t>
            </a:r>
            <a:r>
              <a:rPr lang="en-US" spc="-30" dirty="0"/>
              <a:t> </a:t>
            </a:r>
            <a:r>
              <a:rPr lang="en-US" spc="-5" dirty="0"/>
              <a:t>s</a:t>
            </a:r>
            <a:r>
              <a:rPr lang="en-US" dirty="0"/>
              <a:t>ol</a:t>
            </a:r>
            <a:r>
              <a:rPr lang="en-US" spc="10" dirty="0"/>
              <a:t>i</a:t>
            </a:r>
            <a:r>
              <a:rPr lang="en-US" dirty="0"/>
              <a:t>cit</a:t>
            </a:r>
            <a:r>
              <a:rPr lang="en-US" spc="-25" dirty="0"/>
              <a:t> </a:t>
            </a:r>
            <a:r>
              <a:rPr lang="en-US" spc="5" dirty="0"/>
              <a:t>n</a:t>
            </a:r>
            <a:r>
              <a:rPr lang="en-US" dirty="0"/>
              <a:t>or</a:t>
            </a:r>
            <a:r>
              <a:rPr lang="en-US" spc="-15" dirty="0"/>
              <a:t> </a:t>
            </a:r>
            <a:r>
              <a:rPr lang="en-US" dirty="0"/>
              <a:t>acc</a:t>
            </a:r>
            <a:r>
              <a:rPr lang="en-US" spc="-5" dirty="0"/>
              <a:t>e</a:t>
            </a:r>
            <a:r>
              <a:rPr lang="en-US" spc="5" dirty="0"/>
              <a:t>p</a:t>
            </a:r>
            <a:r>
              <a:rPr lang="en-US" dirty="0"/>
              <a:t>t</a:t>
            </a:r>
            <a:r>
              <a:rPr lang="en-US" spc="-15" dirty="0"/>
              <a:t> </a:t>
            </a:r>
            <a:r>
              <a:rPr lang="en-US" dirty="0"/>
              <a:t>gr</a:t>
            </a:r>
            <a:r>
              <a:rPr lang="en-US" spc="5" dirty="0"/>
              <a:t>a</a:t>
            </a:r>
            <a:r>
              <a:rPr lang="en-US" dirty="0"/>
              <a:t>t</a:t>
            </a:r>
            <a:r>
              <a:rPr lang="en-US" spc="5" dirty="0"/>
              <a:t>u</a:t>
            </a:r>
            <a:r>
              <a:rPr lang="en-US" dirty="0"/>
              <a:t>itie</a:t>
            </a:r>
            <a:r>
              <a:rPr lang="en-US" spc="-5" dirty="0"/>
              <a:t>s</a:t>
            </a:r>
            <a:r>
              <a:rPr lang="en-US" dirty="0"/>
              <a:t>,</a:t>
            </a:r>
            <a:r>
              <a:rPr lang="en-US" spc="-40" dirty="0"/>
              <a:t> </a:t>
            </a:r>
            <a:r>
              <a:rPr lang="en-US" spc="5" dirty="0"/>
              <a:t>d</a:t>
            </a:r>
            <a:r>
              <a:rPr lang="en-US" dirty="0"/>
              <a:t>ir</a:t>
            </a:r>
            <a:r>
              <a:rPr lang="en-US" spc="-5" dirty="0"/>
              <a:t>e</a:t>
            </a:r>
            <a:r>
              <a:rPr lang="en-US" dirty="0"/>
              <a:t>ctly</a:t>
            </a:r>
            <a:r>
              <a:rPr lang="en-US" spc="-25" dirty="0"/>
              <a:t> </a:t>
            </a:r>
            <a:r>
              <a:rPr lang="en-US" spc="5" dirty="0"/>
              <a:t>o</a:t>
            </a:r>
            <a:r>
              <a:rPr lang="en-US" dirty="0"/>
              <a:t>r</a:t>
            </a:r>
            <a:r>
              <a:rPr lang="en-US" spc="-10" dirty="0"/>
              <a:t> </a:t>
            </a:r>
            <a:r>
              <a:rPr lang="en-US" dirty="0"/>
              <a:t>i</a:t>
            </a:r>
            <a:r>
              <a:rPr lang="en-US" spc="5" dirty="0"/>
              <a:t>nd</a:t>
            </a:r>
            <a:r>
              <a:rPr lang="en-US" dirty="0"/>
              <a:t>ir</a:t>
            </a:r>
            <a:r>
              <a:rPr lang="en-US" spc="-5" dirty="0"/>
              <a:t>e</a:t>
            </a:r>
            <a:r>
              <a:rPr lang="en-US" dirty="0"/>
              <a:t>ct</a:t>
            </a:r>
            <a:r>
              <a:rPr lang="en-US" spc="10" dirty="0"/>
              <a:t>l</a:t>
            </a:r>
            <a:r>
              <a:rPr lang="en-US" dirty="0"/>
              <a:t>y</a:t>
            </a:r>
            <a:r>
              <a:rPr lang="en-US" spc="-35" dirty="0"/>
              <a:t> </a:t>
            </a:r>
            <a:r>
              <a:rPr lang="en-US" dirty="0"/>
              <a:t>from</a:t>
            </a:r>
            <a:r>
              <a:rPr lang="en-US" spc="-20" dirty="0"/>
              <a:t> </a:t>
            </a:r>
            <a:r>
              <a:rPr lang="en-US" dirty="0"/>
              <a:t>c</a:t>
            </a:r>
            <a:r>
              <a:rPr lang="en-US" spc="5" dirty="0"/>
              <a:t>on</a:t>
            </a:r>
            <a:r>
              <a:rPr lang="en-US" dirty="0"/>
              <a:t>tr</a:t>
            </a:r>
            <a:r>
              <a:rPr lang="en-US" spc="5" dirty="0"/>
              <a:t>a</a:t>
            </a:r>
            <a:r>
              <a:rPr lang="en-US" dirty="0"/>
              <a:t>ct</a:t>
            </a:r>
            <a:r>
              <a:rPr lang="en-US" spc="5" dirty="0"/>
              <a:t>o</a:t>
            </a:r>
            <a:r>
              <a:rPr lang="en-US" dirty="0"/>
              <a:t>rs</a:t>
            </a:r>
            <a:r>
              <a:rPr lang="en-US" spc="-50" dirty="0"/>
              <a:t> </a:t>
            </a:r>
            <a:r>
              <a:rPr lang="en-US" spc="5" dirty="0"/>
              <a:t>o</a:t>
            </a:r>
            <a:r>
              <a:rPr lang="en-US" dirty="0"/>
              <a:t>r</a:t>
            </a:r>
            <a:r>
              <a:rPr lang="en-US" spc="-10" dirty="0"/>
              <a:t> </a:t>
            </a:r>
            <a:r>
              <a:rPr lang="en-US" dirty="0"/>
              <a:t>t</a:t>
            </a:r>
            <a:r>
              <a:rPr lang="en-US" spc="5" dirty="0"/>
              <a:t>h</a:t>
            </a:r>
            <a:r>
              <a:rPr lang="en-US" spc="-5" dirty="0"/>
              <a:t>e</a:t>
            </a:r>
            <a:r>
              <a:rPr lang="en-US" dirty="0"/>
              <a:t>ir</a:t>
            </a:r>
            <a:r>
              <a:rPr lang="en-US" spc="-20" dirty="0"/>
              <a:t> </a:t>
            </a:r>
            <a:r>
              <a:rPr lang="en-US" spc="5" dirty="0"/>
              <a:t>a</a:t>
            </a:r>
            <a:r>
              <a:rPr lang="en-US" spc="10" dirty="0"/>
              <a:t>g</a:t>
            </a:r>
            <a:r>
              <a:rPr lang="en-US" spc="-5" dirty="0"/>
              <a:t>e</a:t>
            </a:r>
            <a:r>
              <a:rPr lang="en-US" spc="5" dirty="0"/>
              <a:t>n</a:t>
            </a:r>
            <a:r>
              <a:rPr lang="en-US" dirty="0"/>
              <a:t>t</a:t>
            </a:r>
            <a:r>
              <a:rPr lang="en-US" spc="-5" dirty="0"/>
              <a:t>s</a:t>
            </a:r>
            <a:r>
              <a:rPr lang="en-US" dirty="0"/>
              <a:t>,</a:t>
            </a:r>
            <a:r>
              <a:rPr lang="en-US" spc="-30" dirty="0"/>
              <a:t> </a:t>
            </a:r>
            <a:r>
              <a:rPr lang="en-US" spc="5" dirty="0"/>
              <a:t>o</a:t>
            </a:r>
            <a:r>
              <a:rPr lang="en-US" dirty="0"/>
              <a:t>r</a:t>
            </a:r>
            <a:r>
              <a:rPr lang="en-US" spc="-10" dirty="0"/>
              <a:t> </a:t>
            </a:r>
            <a:r>
              <a:rPr lang="en-US" dirty="0"/>
              <a:t>ot</a:t>
            </a:r>
            <a:r>
              <a:rPr lang="en-US" spc="5" dirty="0"/>
              <a:t>h</a:t>
            </a:r>
            <a:r>
              <a:rPr lang="en-US" spc="-5" dirty="0"/>
              <a:t>e</a:t>
            </a:r>
            <a:r>
              <a:rPr lang="en-US" dirty="0"/>
              <a:t>r </a:t>
            </a:r>
            <a:r>
              <a:rPr lang="en-US" spc="5" dirty="0"/>
              <a:t>p</a:t>
            </a:r>
            <a:r>
              <a:rPr lang="en-US" dirty="0"/>
              <a:t>arties</a:t>
            </a:r>
            <a:r>
              <a:rPr lang="en-US" spc="-40" dirty="0"/>
              <a:t> </a:t>
            </a:r>
            <a:r>
              <a:rPr lang="en-US" spc="5" dirty="0"/>
              <a:t>d</a:t>
            </a:r>
            <a:r>
              <a:rPr lang="en-US" spc="-5" dirty="0"/>
              <a:t>e</a:t>
            </a:r>
            <a:r>
              <a:rPr lang="en-US" dirty="0"/>
              <a:t>ali</a:t>
            </a:r>
            <a:r>
              <a:rPr lang="en-US" spc="5" dirty="0"/>
              <a:t>n</a:t>
            </a:r>
            <a:r>
              <a:rPr lang="en-US" dirty="0"/>
              <a:t>g</a:t>
            </a:r>
            <a:r>
              <a:rPr lang="en-US" spc="-20" dirty="0"/>
              <a:t> </a:t>
            </a:r>
            <a:r>
              <a:rPr lang="en-US" spc="-5" dirty="0"/>
              <a:t>w</a:t>
            </a:r>
            <a:r>
              <a:rPr lang="en-US" dirty="0"/>
              <a:t>ith</a:t>
            </a:r>
            <a:r>
              <a:rPr lang="en-US" spc="-15" dirty="0"/>
              <a:t> </a:t>
            </a:r>
            <a:r>
              <a:rPr lang="en-US" spc="5" dirty="0"/>
              <a:t>th</a:t>
            </a:r>
            <a:r>
              <a:rPr lang="en-US" spc="-5" dirty="0"/>
              <a:t>e</a:t>
            </a:r>
            <a:r>
              <a:rPr lang="en-US" dirty="0"/>
              <a:t>ir</a:t>
            </a:r>
            <a:r>
              <a:rPr lang="en-US" spc="-20" dirty="0"/>
              <a:t> </a:t>
            </a:r>
            <a:r>
              <a:rPr lang="en-US" dirty="0"/>
              <a:t>cli</a:t>
            </a:r>
            <a:r>
              <a:rPr lang="en-US" spc="10" dirty="0"/>
              <a:t>e</a:t>
            </a:r>
            <a:r>
              <a:rPr lang="en-US" spc="5" dirty="0"/>
              <a:t>n</a:t>
            </a:r>
            <a:r>
              <a:rPr lang="en-US" dirty="0"/>
              <a:t>ts</a:t>
            </a:r>
            <a:r>
              <a:rPr lang="en-US" spc="-30" dirty="0"/>
              <a:t> </a:t>
            </a:r>
            <a:r>
              <a:rPr lang="en-US" spc="5" dirty="0"/>
              <a:t>o</a:t>
            </a:r>
            <a:r>
              <a:rPr lang="en-US" dirty="0"/>
              <a:t>r</a:t>
            </a:r>
            <a:r>
              <a:rPr lang="en-US" spc="-10" dirty="0"/>
              <a:t> </a:t>
            </a:r>
            <a:r>
              <a:rPr lang="en-US" spc="-5" dirty="0"/>
              <a:t>em</a:t>
            </a:r>
            <a:r>
              <a:rPr lang="en-US" spc="5" dirty="0"/>
              <a:t>p</a:t>
            </a:r>
            <a:r>
              <a:rPr lang="en-US" dirty="0"/>
              <a:t>lo</a:t>
            </a:r>
            <a:r>
              <a:rPr lang="en-US" spc="5" dirty="0"/>
              <a:t>y</a:t>
            </a:r>
            <a:r>
              <a:rPr lang="en-US" spc="-5" dirty="0"/>
              <a:t>e</a:t>
            </a:r>
            <a:r>
              <a:rPr lang="en-US" spc="10" dirty="0"/>
              <a:t>r</a:t>
            </a:r>
            <a:r>
              <a:rPr lang="en-US" dirty="0"/>
              <a:t>s</a:t>
            </a:r>
            <a:r>
              <a:rPr lang="en-US" spc="-50" dirty="0"/>
              <a:t> </a:t>
            </a:r>
            <a:r>
              <a:rPr lang="en-US" dirty="0"/>
              <a:t>in</a:t>
            </a:r>
            <a:r>
              <a:rPr lang="en-US" spc="-5" dirty="0"/>
              <a:t> </a:t>
            </a:r>
            <a:r>
              <a:rPr lang="en-US" dirty="0"/>
              <a:t>c</a:t>
            </a:r>
            <a:r>
              <a:rPr lang="en-US" spc="5" dirty="0"/>
              <a:t>onn</a:t>
            </a:r>
            <a:r>
              <a:rPr lang="en-US" spc="-5" dirty="0"/>
              <a:t>e</a:t>
            </a:r>
            <a:r>
              <a:rPr lang="en-US" dirty="0"/>
              <a:t>cti</a:t>
            </a:r>
            <a:r>
              <a:rPr lang="en-US" spc="15" dirty="0"/>
              <a:t>o</a:t>
            </a:r>
            <a:r>
              <a:rPr lang="en-US" dirty="0"/>
              <a:t>n</a:t>
            </a:r>
            <a:r>
              <a:rPr lang="en-US" spc="-40" dirty="0"/>
              <a:t> </a:t>
            </a:r>
            <a:r>
              <a:rPr lang="en-US" dirty="0"/>
              <a:t>with</a:t>
            </a:r>
            <a:r>
              <a:rPr lang="en-US" spc="-15" dirty="0"/>
              <a:t> </a:t>
            </a:r>
            <a:r>
              <a:rPr lang="en-US" dirty="0"/>
              <a:t>work</a:t>
            </a:r>
            <a:r>
              <a:rPr lang="en-US" spc="-15" dirty="0"/>
              <a:t> </a:t>
            </a:r>
            <a:r>
              <a:rPr lang="en-US" dirty="0"/>
              <a:t>for</a:t>
            </a:r>
            <a:r>
              <a:rPr lang="en-US" spc="-5" dirty="0"/>
              <a:t> w</a:t>
            </a:r>
            <a:r>
              <a:rPr lang="en-US" spc="5" dirty="0"/>
              <a:t>h</a:t>
            </a:r>
            <a:r>
              <a:rPr lang="en-US" dirty="0"/>
              <a:t>ich</a:t>
            </a:r>
            <a:r>
              <a:rPr lang="en-US" spc="-20" dirty="0"/>
              <a:t> </a:t>
            </a:r>
            <a:r>
              <a:rPr lang="en-US" dirty="0"/>
              <a:t>t</a:t>
            </a:r>
            <a:r>
              <a:rPr lang="en-US" spc="5" dirty="0"/>
              <a:t>h</a:t>
            </a:r>
            <a:r>
              <a:rPr lang="en-US" spc="-5" dirty="0"/>
              <a:t>e</a:t>
            </a:r>
            <a:r>
              <a:rPr lang="en-US" dirty="0"/>
              <a:t>y</a:t>
            </a:r>
            <a:r>
              <a:rPr lang="en-US" spc="-15" dirty="0"/>
              <a:t> </a:t>
            </a:r>
            <a:r>
              <a:rPr lang="en-US" spc="5" dirty="0"/>
              <a:t>a</a:t>
            </a:r>
            <a:r>
              <a:rPr lang="en-US" spc="10" dirty="0"/>
              <a:t>r</a:t>
            </a:r>
            <a:r>
              <a:rPr lang="en-US" dirty="0"/>
              <a:t>e</a:t>
            </a:r>
            <a:r>
              <a:rPr lang="en-US" spc="-20" dirty="0"/>
              <a:t> </a:t>
            </a:r>
            <a:r>
              <a:rPr lang="en-US" dirty="0"/>
              <a:t>r</a:t>
            </a:r>
            <a:r>
              <a:rPr lang="en-US" spc="-5" dirty="0"/>
              <a:t>es</a:t>
            </a:r>
            <a:r>
              <a:rPr lang="en-US" spc="5" dirty="0"/>
              <a:t>p</a:t>
            </a:r>
            <a:r>
              <a:rPr lang="en-US" dirty="0"/>
              <a:t>o</a:t>
            </a:r>
            <a:r>
              <a:rPr lang="en-US" spc="15" dirty="0"/>
              <a:t>n</a:t>
            </a:r>
            <a:r>
              <a:rPr lang="en-US" spc="-5" dirty="0"/>
              <a:t>s</a:t>
            </a:r>
            <a:r>
              <a:rPr lang="en-US" dirty="0"/>
              <a:t>i</a:t>
            </a:r>
            <a:r>
              <a:rPr lang="en-US" spc="5" dirty="0"/>
              <a:t>b</a:t>
            </a:r>
            <a:r>
              <a:rPr lang="en-US" dirty="0"/>
              <a:t>l</a:t>
            </a:r>
            <a:r>
              <a:rPr lang="en-US" spc="-5" dirty="0"/>
              <a:t>e</a:t>
            </a:r>
            <a:r>
              <a:rPr lang="en-US" dirty="0"/>
              <a:t>.</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a:p>
            <a:r>
              <a:rPr lang="en-US" dirty="0">
                <a:solidFill>
                  <a:srgbClr val="0000FF"/>
                </a:solidFill>
              </a:rPr>
              <a:t>IESL Code of Ethics  Clause 6.6</a:t>
            </a:r>
          </a:p>
          <a:p>
            <a:pPr marL="34290" algn="just">
              <a:lnSpc>
                <a:spcPct val="100000"/>
              </a:lnSpc>
              <a:spcBef>
                <a:spcPts val="0"/>
              </a:spcBef>
            </a:pPr>
            <a:r>
              <a:rPr lang="en-US" spc="5" dirty="0"/>
              <a:t>Sha</a:t>
            </a:r>
            <a:r>
              <a:rPr lang="en-US" dirty="0"/>
              <a:t>ll</a:t>
            </a:r>
            <a:r>
              <a:rPr lang="en-US" spc="-15" dirty="0"/>
              <a:t> </a:t>
            </a:r>
            <a:r>
              <a:rPr lang="en-US" spc="5" dirty="0"/>
              <a:t>no</a:t>
            </a:r>
            <a:r>
              <a:rPr lang="en-US" dirty="0"/>
              <a:t>t</a:t>
            </a:r>
            <a:r>
              <a:rPr lang="en-US" spc="-10" dirty="0"/>
              <a:t> </a:t>
            </a:r>
            <a:r>
              <a:rPr lang="en-US" spc="5" dirty="0"/>
              <a:t>a</a:t>
            </a:r>
            <a:r>
              <a:rPr lang="en-US" spc="-5" dirty="0"/>
              <a:t>c</a:t>
            </a:r>
            <a:r>
              <a:rPr lang="en-US" spc="5" dirty="0"/>
              <a:t>cep</a:t>
            </a:r>
            <a:r>
              <a:rPr lang="en-US" dirty="0"/>
              <a:t>t</a:t>
            </a:r>
            <a:r>
              <a:rPr lang="en-US" spc="-35" dirty="0"/>
              <a:t> </a:t>
            </a:r>
            <a:r>
              <a:rPr lang="en-US" dirty="0"/>
              <a:t>a</a:t>
            </a:r>
            <a:r>
              <a:rPr lang="en-US" spc="-5" dirty="0"/>
              <a:t> </a:t>
            </a:r>
            <a:r>
              <a:rPr lang="en-US" spc="10" dirty="0"/>
              <a:t>c</a:t>
            </a:r>
            <a:r>
              <a:rPr lang="en-US" spc="5" dirty="0"/>
              <a:t>omm</a:t>
            </a:r>
            <a:r>
              <a:rPr lang="en-US" dirty="0"/>
              <a:t>i</a:t>
            </a:r>
            <a:r>
              <a:rPr lang="en-US" spc="-5" dirty="0"/>
              <a:t>ss</a:t>
            </a:r>
            <a:r>
              <a:rPr lang="en-US" dirty="0"/>
              <a:t>i</a:t>
            </a:r>
            <a:r>
              <a:rPr lang="en-US" spc="-10" dirty="0"/>
              <a:t>o</a:t>
            </a:r>
            <a:r>
              <a:rPr lang="en-US" spc="5" dirty="0"/>
              <a:t>n</a:t>
            </a:r>
            <a:r>
              <a:rPr lang="en-US" dirty="0"/>
              <a:t>,</a:t>
            </a:r>
            <a:r>
              <a:rPr lang="en-US" spc="-50" dirty="0"/>
              <a:t> </a:t>
            </a:r>
            <a:r>
              <a:rPr lang="en-US" dirty="0"/>
              <a:t>fe</a:t>
            </a:r>
            <a:r>
              <a:rPr lang="en-US" spc="5" dirty="0"/>
              <a:t>e</a:t>
            </a:r>
            <a:r>
              <a:rPr lang="en-US" dirty="0"/>
              <a:t>,</a:t>
            </a:r>
            <a:r>
              <a:rPr lang="en-US" spc="-15" dirty="0"/>
              <a:t> </a:t>
            </a:r>
            <a:r>
              <a:rPr lang="en-US" dirty="0"/>
              <a:t>rewa</a:t>
            </a:r>
            <a:r>
              <a:rPr lang="en-US" spc="-5" dirty="0"/>
              <a:t>r</a:t>
            </a:r>
            <a:r>
              <a:rPr lang="en-US" dirty="0"/>
              <a:t>d</a:t>
            </a:r>
            <a:r>
              <a:rPr lang="en-US" spc="-30" dirty="0"/>
              <a:t> </a:t>
            </a:r>
            <a:r>
              <a:rPr lang="en-US" spc="5" dirty="0"/>
              <a:t>o</a:t>
            </a:r>
            <a:r>
              <a:rPr lang="en-US" dirty="0"/>
              <a:t>r</a:t>
            </a:r>
            <a:r>
              <a:rPr lang="en-US" spc="-15" dirty="0"/>
              <a:t> </a:t>
            </a:r>
            <a:r>
              <a:rPr lang="en-US" spc="5" dirty="0"/>
              <a:t>o</a:t>
            </a:r>
            <a:r>
              <a:rPr lang="en-US" dirty="0"/>
              <a:t>t</a:t>
            </a:r>
            <a:r>
              <a:rPr lang="en-US" spc="5" dirty="0"/>
              <a:t>he</a:t>
            </a:r>
            <a:r>
              <a:rPr lang="en-US" dirty="0"/>
              <a:t>r</a:t>
            </a:r>
            <a:r>
              <a:rPr lang="en-US" spc="-25" dirty="0"/>
              <a:t> </a:t>
            </a:r>
            <a:r>
              <a:rPr lang="en-US" spc="5" dirty="0"/>
              <a:t>bene</a:t>
            </a:r>
            <a:r>
              <a:rPr lang="en-US" spc="-5" dirty="0"/>
              <a:t>f</a:t>
            </a:r>
            <a:r>
              <a:rPr lang="en-US" dirty="0"/>
              <a:t>it</a:t>
            </a:r>
            <a:r>
              <a:rPr lang="en-US" spc="-25" dirty="0"/>
              <a:t> </a:t>
            </a:r>
            <a:r>
              <a:rPr lang="en-US" spc="-5" dirty="0"/>
              <a:t>fr</a:t>
            </a:r>
            <a:r>
              <a:rPr lang="en-US" spc="5" dirty="0"/>
              <a:t>o</a:t>
            </a:r>
            <a:r>
              <a:rPr lang="en-US" dirty="0"/>
              <a:t>m</a:t>
            </a:r>
            <a:r>
              <a:rPr lang="en-US" spc="-20" dirty="0"/>
              <a:t> </a:t>
            </a:r>
            <a:r>
              <a:rPr lang="en-US" dirty="0"/>
              <a:t>a Thi</a:t>
            </a:r>
            <a:r>
              <a:rPr lang="en-US" spc="-5" dirty="0"/>
              <a:t>r</a:t>
            </a:r>
            <a:r>
              <a:rPr lang="en-US" dirty="0"/>
              <a:t>d</a:t>
            </a:r>
            <a:r>
              <a:rPr lang="en-US" spc="-20" dirty="0"/>
              <a:t> </a:t>
            </a:r>
            <a:r>
              <a:rPr lang="en-US" spc="5" dirty="0"/>
              <a:t>Pa</a:t>
            </a:r>
            <a:r>
              <a:rPr lang="en-US" spc="-5" dirty="0"/>
              <a:t>r</a:t>
            </a:r>
            <a:r>
              <a:rPr lang="en-US" spc="15" dirty="0"/>
              <a:t>t</a:t>
            </a:r>
            <a:r>
              <a:rPr lang="en-US" dirty="0"/>
              <a:t>y,</a:t>
            </a:r>
            <a:r>
              <a:rPr lang="en-US" spc="-20" dirty="0"/>
              <a:t> </a:t>
            </a:r>
            <a:r>
              <a:rPr lang="en-US" spc="-5" dirty="0"/>
              <a:t>w</a:t>
            </a:r>
            <a:r>
              <a:rPr lang="en-US" spc="5" dirty="0"/>
              <a:t>h</a:t>
            </a:r>
            <a:r>
              <a:rPr lang="en-US" dirty="0"/>
              <a:t>ile</a:t>
            </a:r>
            <a:r>
              <a:rPr lang="en-US" spc="-15" dirty="0"/>
              <a:t> </a:t>
            </a:r>
            <a:r>
              <a:rPr lang="en-US" spc="5" dirty="0"/>
              <a:t>ad</a:t>
            </a:r>
            <a:r>
              <a:rPr lang="en-US" dirty="0"/>
              <a:t>v</a:t>
            </a:r>
            <a:r>
              <a:rPr lang="en-US" spc="10" dirty="0"/>
              <a:t>i</a:t>
            </a:r>
            <a:r>
              <a:rPr lang="en-US" spc="-5" dirty="0"/>
              <a:t>s</a:t>
            </a:r>
            <a:r>
              <a:rPr lang="en-US" dirty="0"/>
              <a:t>ing</a:t>
            </a:r>
            <a:r>
              <a:rPr lang="en-US" spc="-30" dirty="0"/>
              <a:t> </a:t>
            </a:r>
            <a:r>
              <a:rPr lang="en-US" dirty="0"/>
              <a:t>a </a:t>
            </a:r>
            <a:r>
              <a:rPr lang="en-US" spc="10" dirty="0"/>
              <a:t>c</a:t>
            </a:r>
            <a:r>
              <a:rPr lang="en-US" dirty="0"/>
              <a:t>lie</a:t>
            </a:r>
            <a:r>
              <a:rPr lang="en-US" spc="5" dirty="0"/>
              <a:t>n</a:t>
            </a:r>
            <a:r>
              <a:rPr lang="en-US" dirty="0"/>
              <a:t>t.</a:t>
            </a:r>
            <a:r>
              <a:rPr lang="en-US" spc="5" dirty="0"/>
              <a:t> Sha</a:t>
            </a:r>
            <a:r>
              <a:rPr lang="en-US" dirty="0"/>
              <a:t>ll</a:t>
            </a:r>
            <a:r>
              <a:rPr lang="en-US" spc="-15" dirty="0"/>
              <a:t> </a:t>
            </a:r>
            <a:r>
              <a:rPr lang="en-US" spc="5" dirty="0"/>
              <a:t>no</a:t>
            </a:r>
            <a:r>
              <a:rPr lang="en-US" dirty="0"/>
              <a:t>t</a:t>
            </a:r>
            <a:r>
              <a:rPr lang="en-US" spc="-10" dirty="0"/>
              <a:t> </a:t>
            </a:r>
            <a:r>
              <a:rPr lang="en-US" spc="5" dirty="0"/>
              <a:t>a</a:t>
            </a:r>
            <a:r>
              <a:rPr lang="en-US" spc="-5" dirty="0"/>
              <a:t>c</a:t>
            </a:r>
            <a:r>
              <a:rPr lang="en-US" spc="5" dirty="0"/>
              <a:t>cep</a:t>
            </a:r>
            <a:r>
              <a:rPr lang="en-US" dirty="0"/>
              <a:t>t</a:t>
            </a:r>
            <a:r>
              <a:rPr lang="en-US" spc="-35" dirty="0"/>
              <a:t> </a:t>
            </a:r>
            <a:r>
              <a:rPr lang="en-US" dirty="0"/>
              <a:t>a</a:t>
            </a:r>
            <a:r>
              <a:rPr lang="en-US" spc="-5" dirty="0"/>
              <a:t> </a:t>
            </a:r>
            <a:r>
              <a:rPr lang="en-US" spc="10" dirty="0"/>
              <a:t>c</a:t>
            </a:r>
            <a:r>
              <a:rPr lang="en-US" spc="5" dirty="0"/>
              <a:t>omm</a:t>
            </a:r>
            <a:r>
              <a:rPr lang="en-US" dirty="0"/>
              <a:t>i</a:t>
            </a:r>
            <a:r>
              <a:rPr lang="en-US" spc="-5" dirty="0"/>
              <a:t>ss</a:t>
            </a:r>
            <a:r>
              <a:rPr lang="en-US" dirty="0"/>
              <a:t>i</a:t>
            </a:r>
            <a:r>
              <a:rPr lang="en-US" spc="-10" dirty="0"/>
              <a:t>o</a:t>
            </a:r>
            <a:r>
              <a:rPr lang="en-US" spc="5" dirty="0"/>
              <a:t>n</a:t>
            </a:r>
            <a:r>
              <a:rPr lang="en-US" dirty="0"/>
              <a:t>,</a:t>
            </a:r>
            <a:r>
              <a:rPr lang="en-US" spc="-50" dirty="0"/>
              <a:t> </a:t>
            </a:r>
            <a:r>
              <a:rPr lang="en-US" dirty="0"/>
              <a:t>fe</a:t>
            </a:r>
            <a:r>
              <a:rPr lang="en-US" spc="5" dirty="0"/>
              <a:t>e</a:t>
            </a:r>
            <a:r>
              <a:rPr lang="en-US" dirty="0"/>
              <a:t>,</a:t>
            </a:r>
            <a:r>
              <a:rPr lang="en-US" spc="-15" dirty="0"/>
              <a:t> </a:t>
            </a:r>
            <a:r>
              <a:rPr lang="en-US" dirty="0"/>
              <a:t>rewa</a:t>
            </a:r>
            <a:r>
              <a:rPr lang="en-US" spc="-5" dirty="0"/>
              <a:t>r</a:t>
            </a:r>
            <a:r>
              <a:rPr lang="en-US" dirty="0"/>
              <a:t>d</a:t>
            </a:r>
            <a:r>
              <a:rPr lang="en-US" spc="-30" dirty="0"/>
              <a:t> </a:t>
            </a:r>
            <a:r>
              <a:rPr lang="en-US" spc="5" dirty="0"/>
              <a:t>o</a:t>
            </a:r>
            <a:r>
              <a:rPr lang="en-US" dirty="0"/>
              <a:t>r</a:t>
            </a:r>
            <a:r>
              <a:rPr lang="en-US" spc="-15" dirty="0"/>
              <a:t> </a:t>
            </a:r>
            <a:r>
              <a:rPr lang="en-US" spc="5" dirty="0"/>
              <a:t>o</a:t>
            </a:r>
            <a:r>
              <a:rPr lang="en-US" dirty="0"/>
              <a:t>t</a:t>
            </a:r>
            <a:r>
              <a:rPr lang="en-US" spc="5" dirty="0"/>
              <a:t>he</a:t>
            </a:r>
            <a:r>
              <a:rPr lang="en-US" dirty="0"/>
              <a:t>r</a:t>
            </a:r>
            <a:r>
              <a:rPr lang="en-US" spc="-25" dirty="0"/>
              <a:t> </a:t>
            </a:r>
            <a:r>
              <a:rPr lang="en-US" spc="5" dirty="0"/>
              <a:t>bene</a:t>
            </a:r>
            <a:r>
              <a:rPr lang="en-US" spc="-5" dirty="0"/>
              <a:t>f</a:t>
            </a:r>
            <a:r>
              <a:rPr lang="en-US" dirty="0"/>
              <a:t>it</a:t>
            </a:r>
            <a:r>
              <a:rPr lang="en-US" spc="-25" dirty="0"/>
              <a:t> </a:t>
            </a:r>
            <a:r>
              <a:rPr lang="en-US" spc="-5" dirty="0"/>
              <a:t>fr</a:t>
            </a:r>
            <a:r>
              <a:rPr lang="en-US" spc="5" dirty="0"/>
              <a:t>o</a:t>
            </a:r>
            <a:r>
              <a:rPr lang="en-US" dirty="0"/>
              <a:t>m</a:t>
            </a:r>
            <a:r>
              <a:rPr lang="en-US" spc="-20" dirty="0"/>
              <a:t> </a:t>
            </a:r>
            <a:r>
              <a:rPr lang="en-US" dirty="0"/>
              <a:t>a Thi</a:t>
            </a:r>
            <a:r>
              <a:rPr lang="en-US" spc="-5" dirty="0"/>
              <a:t>r</a:t>
            </a:r>
            <a:r>
              <a:rPr lang="en-US" dirty="0"/>
              <a:t>d</a:t>
            </a:r>
            <a:r>
              <a:rPr lang="en-US" spc="-20" dirty="0"/>
              <a:t> </a:t>
            </a:r>
            <a:r>
              <a:rPr lang="en-US" spc="5" dirty="0"/>
              <a:t>Pa</a:t>
            </a:r>
            <a:r>
              <a:rPr lang="en-US" spc="-5" dirty="0"/>
              <a:t>r</a:t>
            </a:r>
            <a:r>
              <a:rPr lang="en-US" spc="15" dirty="0"/>
              <a:t>t</a:t>
            </a:r>
            <a:r>
              <a:rPr lang="en-US" dirty="0"/>
              <a:t>y,</a:t>
            </a:r>
            <a:r>
              <a:rPr lang="en-US" spc="-20" dirty="0"/>
              <a:t> </a:t>
            </a:r>
            <a:r>
              <a:rPr lang="en-US" spc="-5" dirty="0"/>
              <a:t>w</a:t>
            </a:r>
            <a:r>
              <a:rPr lang="en-US" spc="5" dirty="0"/>
              <a:t>h</a:t>
            </a:r>
            <a:r>
              <a:rPr lang="en-US" dirty="0"/>
              <a:t>ile</a:t>
            </a:r>
            <a:r>
              <a:rPr lang="en-US" spc="-15" dirty="0"/>
              <a:t> </a:t>
            </a:r>
            <a:r>
              <a:rPr lang="en-US" spc="5" dirty="0"/>
              <a:t>ad</a:t>
            </a:r>
            <a:r>
              <a:rPr lang="en-US" dirty="0"/>
              <a:t>v</a:t>
            </a:r>
            <a:r>
              <a:rPr lang="en-US" spc="10" dirty="0"/>
              <a:t>i</a:t>
            </a:r>
            <a:r>
              <a:rPr lang="en-US" spc="-5" dirty="0"/>
              <a:t>s</a:t>
            </a:r>
            <a:r>
              <a:rPr lang="en-US" dirty="0"/>
              <a:t>ing</a:t>
            </a:r>
            <a:r>
              <a:rPr lang="en-US" spc="-30" dirty="0"/>
              <a:t> </a:t>
            </a:r>
            <a:r>
              <a:rPr lang="en-US" dirty="0"/>
              <a:t>a </a:t>
            </a:r>
            <a:r>
              <a:rPr lang="en-US" spc="10" dirty="0"/>
              <a:t>c</a:t>
            </a:r>
            <a:r>
              <a:rPr lang="en-US" dirty="0"/>
              <a:t>lie</a:t>
            </a:r>
            <a:r>
              <a:rPr lang="en-US" spc="5" dirty="0"/>
              <a:t>n</a:t>
            </a:r>
            <a:r>
              <a:rPr lang="en-US" dirty="0"/>
              <a:t>t.</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 marR="0" algn="just">
              <a:lnSpc>
                <a:spcPct val="100000"/>
              </a:lnSpc>
              <a:spcBef>
                <a:spcPts val="0"/>
              </a:spcBef>
              <a:spcAft>
                <a:spcPts val="0"/>
              </a:spcAft>
            </a:pPr>
            <a:endParaRPr lang="en-US" dirty="0">
              <a:latin typeface="Calibri" panose="020F0502020204030204" pitchFamily="34" charset="0"/>
              <a:ea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sz="half" idx="2"/>
          </p:nvPr>
        </p:nvPicPr>
        <p:blipFill>
          <a:blip r:embed="rId2"/>
          <a:stretch>
            <a:fillRect/>
          </a:stretch>
        </p:blipFill>
        <p:spPr>
          <a:xfrm>
            <a:off x="7810500" y="1508760"/>
            <a:ext cx="3299460" cy="3505200"/>
          </a:xfrm>
          <a:prstGeom prst="rect">
            <a:avLst/>
          </a:prstGeom>
        </p:spPr>
      </p:pic>
    </p:spTree>
    <p:extLst>
      <p:ext uri="{BB962C8B-B14F-4D97-AF65-F5344CB8AC3E}">
        <p14:creationId xmlns:p14="http://schemas.microsoft.com/office/powerpoint/2010/main" val="304577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circle(in)">
                                      <p:cBhvr>
                                        <p:cTn id="7" dur="2000"/>
                                        <p:tgtEl>
                                          <p:spTgt spid="3">
                                            <p:txEl>
                                              <p:pRg st="1" end="1"/>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circle(in)">
                                      <p:cBhvr>
                                        <p:cTn id="10" dur="20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circle(in)">
                                      <p:cBhvr>
                                        <p:cTn id="15" dur="2000"/>
                                        <p:tgtEl>
                                          <p:spTgt spid="3">
                                            <p:txEl>
                                              <p:pRg st="4" end="4"/>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circle(in)">
                                      <p:cBhvr>
                                        <p:cTn id="18"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3588"/>
          </a:xfrm>
        </p:spPr>
        <p:txBody>
          <a:bodyPr/>
          <a:lstStyle/>
          <a:p>
            <a:r>
              <a:rPr lang="en-US" dirty="0"/>
              <a:t>Conflict of Interest</a:t>
            </a:r>
          </a:p>
        </p:txBody>
      </p:sp>
      <p:sp>
        <p:nvSpPr>
          <p:cNvPr id="3" name="Content Placeholder 2"/>
          <p:cNvSpPr>
            <a:spLocks noGrp="1"/>
          </p:cNvSpPr>
          <p:nvPr>
            <p:ph idx="1"/>
          </p:nvPr>
        </p:nvSpPr>
        <p:spPr>
          <a:xfrm>
            <a:off x="838200" y="1128714"/>
            <a:ext cx="10515600" cy="5272086"/>
          </a:xfrm>
        </p:spPr>
        <p:txBody>
          <a:bodyPr>
            <a:normAutofit lnSpcReduction="10000"/>
          </a:bodyPr>
          <a:lstStyle/>
          <a:p>
            <a:r>
              <a:rPr lang="en-US" b="1" dirty="0">
                <a:solidFill>
                  <a:srgbClr val="FF0000"/>
                </a:solidFill>
              </a:rPr>
              <a:t>Interests in Other Companies</a:t>
            </a:r>
            <a:r>
              <a:rPr lang="en-US" dirty="0"/>
              <a:t>.</a:t>
            </a:r>
          </a:p>
          <a:p>
            <a:r>
              <a:rPr lang="en-US" dirty="0"/>
              <a:t> Some conflicts of interest consist in having an interest in a competitor’s or a subcontractor’s business. </a:t>
            </a:r>
          </a:p>
          <a:p>
            <a:r>
              <a:rPr lang="en-US" dirty="0">
                <a:solidFill>
                  <a:srgbClr val="0070C0"/>
                </a:solidFill>
              </a:rPr>
              <a:t>One blatant example is actually working for the competitor or subcontractor as an employee or consultant.</a:t>
            </a:r>
          </a:p>
          <a:p>
            <a:r>
              <a:rPr lang="en-US" dirty="0"/>
              <a:t>Another example is partial ownership or substantial stockholdings in the competitor’s business. </a:t>
            </a:r>
          </a:p>
          <a:p>
            <a:r>
              <a:rPr lang="en-US" dirty="0">
                <a:solidFill>
                  <a:srgbClr val="0070C0"/>
                </a:solidFill>
              </a:rPr>
              <a:t>Should there be a general prohibition on moonlighting, that is, working in one’s spare time for another company? That would violate the rights to pursue one’s legitimate self-interest.. </a:t>
            </a:r>
          </a:p>
          <a:p>
            <a:r>
              <a:rPr lang="en-US" dirty="0"/>
              <a:t>A special kind of conflict of interest arises, however, when moonlighting leaves one exhausted and thereby harms job performance.</a:t>
            </a:r>
          </a:p>
        </p:txBody>
      </p:sp>
    </p:spTree>
    <p:extLst>
      <p:ext uri="{BB962C8B-B14F-4D97-AF65-F5344CB8AC3E}">
        <p14:creationId xmlns:p14="http://schemas.microsoft.com/office/powerpoint/2010/main" val="390656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8925"/>
            <a:ext cx="10515600" cy="732155"/>
          </a:xfrm>
        </p:spPr>
        <p:txBody>
          <a:bodyPr/>
          <a:lstStyle/>
          <a:p>
            <a:r>
              <a:rPr lang="en-US" dirty="0"/>
              <a:t>Conflict of Interest</a:t>
            </a:r>
          </a:p>
        </p:txBody>
      </p:sp>
      <p:sp>
        <p:nvSpPr>
          <p:cNvPr id="3" name="Content Placeholder 2"/>
          <p:cNvSpPr>
            <a:spLocks noGrp="1"/>
          </p:cNvSpPr>
          <p:nvPr>
            <p:ph sz="half" idx="1"/>
          </p:nvPr>
        </p:nvSpPr>
        <p:spPr>
          <a:xfrm>
            <a:off x="838200" y="1188720"/>
            <a:ext cx="5181600" cy="4988243"/>
          </a:xfrm>
        </p:spPr>
        <p:txBody>
          <a:bodyPr>
            <a:normAutofit fontScale="92500" lnSpcReduction="10000"/>
          </a:bodyPr>
          <a:lstStyle/>
          <a:p>
            <a:r>
              <a:rPr lang="en-US" b="1" dirty="0">
                <a:solidFill>
                  <a:srgbClr val="FF0000"/>
                </a:solidFill>
              </a:rPr>
              <a:t>Interests in Other Companies</a:t>
            </a:r>
            <a:r>
              <a:rPr lang="en-US" dirty="0"/>
              <a:t>.</a:t>
            </a:r>
          </a:p>
          <a:p>
            <a:endParaRPr lang="en-US" dirty="0"/>
          </a:p>
          <a:p>
            <a:pPr marL="568325" lvl="1" indent="-512763"/>
            <a:r>
              <a:rPr lang="en-US" sz="2600" dirty="0">
                <a:solidFill>
                  <a:srgbClr val="002060"/>
                </a:solidFill>
              </a:rPr>
              <a:t>IESL Code of Ethics Clause 6.1</a:t>
            </a:r>
          </a:p>
          <a:p>
            <a:pPr marL="568325" lvl="1" indent="-512763"/>
            <a:r>
              <a:rPr lang="en-US" sz="2600" dirty="0">
                <a:solidFill>
                  <a:srgbClr val="002060"/>
                </a:solidFill>
              </a:rPr>
              <a:t>Shall</a:t>
            </a:r>
            <a:r>
              <a:rPr lang="en-US" sz="2600" spc="-15" dirty="0">
                <a:solidFill>
                  <a:srgbClr val="002060"/>
                </a:solidFill>
              </a:rPr>
              <a:t> </a:t>
            </a:r>
            <a:r>
              <a:rPr lang="en-US" sz="2600" dirty="0">
                <a:solidFill>
                  <a:srgbClr val="002060"/>
                </a:solidFill>
              </a:rPr>
              <a:t>at</a:t>
            </a:r>
            <a:r>
              <a:rPr lang="en-US" sz="2600" spc="-5" dirty="0">
                <a:solidFill>
                  <a:srgbClr val="002060"/>
                </a:solidFill>
              </a:rPr>
              <a:t> </a:t>
            </a:r>
            <a:r>
              <a:rPr lang="en-US" sz="2600" spc="5" dirty="0">
                <a:solidFill>
                  <a:srgbClr val="002060"/>
                </a:solidFill>
              </a:rPr>
              <a:t>a</a:t>
            </a:r>
            <a:r>
              <a:rPr lang="en-US" sz="2600" dirty="0">
                <a:solidFill>
                  <a:srgbClr val="002060"/>
                </a:solidFill>
              </a:rPr>
              <a:t>ll</a:t>
            </a:r>
            <a:r>
              <a:rPr lang="en-US" sz="2600" spc="-10" dirty="0">
                <a:solidFill>
                  <a:srgbClr val="002060"/>
                </a:solidFill>
              </a:rPr>
              <a:t> </a:t>
            </a:r>
            <a:r>
              <a:rPr lang="en-US" sz="2600" dirty="0">
                <a:solidFill>
                  <a:srgbClr val="002060"/>
                </a:solidFill>
              </a:rPr>
              <a:t>ti</a:t>
            </a:r>
            <a:r>
              <a:rPr lang="en-US" sz="2600" spc="-5" dirty="0">
                <a:solidFill>
                  <a:srgbClr val="002060"/>
                </a:solidFill>
              </a:rPr>
              <a:t>me</a:t>
            </a:r>
            <a:r>
              <a:rPr lang="en-US" sz="2600" dirty="0">
                <a:solidFill>
                  <a:srgbClr val="002060"/>
                </a:solidFill>
              </a:rPr>
              <a:t>s</a:t>
            </a:r>
            <a:r>
              <a:rPr lang="en-US" sz="2600" spc="-25" dirty="0">
                <a:solidFill>
                  <a:srgbClr val="002060"/>
                </a:solidFill>
              </a:rPr>
              <a:t> </a:t>
            </a:r>
            <a:r>
              <a:rPr lang="en-US" sz="2600" spc="15" dirty="0">
                <a:solidFill>
                  <a:srgbClr val="002060"/>
                </a:solidFill>
              </a:rPr>
              <a:t>a</a:t>
            </a:r>
            <a:r>
              <a:rPr lang="en-US" sz="2600" spc="-5" dirty="0">
                <a:solidFill>
                  <a:srgbClr val="002060"/>
                </a:solidFill>
              </a:rPr>
              <a:t>v</a:t>
            </a:r>
            <a:r>
              <a:rPr lang="en-US" sz="2600" dirty="0">
                <a:solidFill>
                  <a:srgbClr val="002060"/>
                </a:solidFill>
              </a:rPr>
              <a:t>oid</a:t>
            </a:r>
            <a:r>
              <a:rPr lang="en-US" sz="2600" spc="-20" dirty="0">
                <a:solidFill>
                  <a:srgbClr val="002060"/>
                </a:solidFill>
              </a:rPr>
              <a:t> </a:t>
            </a:r>
            <a:r>
              <a:rPr lang="en-US" sz="2600" spc="5" dirty="0">
                <a:solidFill>
                  <a:srgbClr val="002060"/>
                </a:solidFill>
              </a:rPr>
              <a:t>a</a:t>
            </a:r>
            <a:r>
              <a:rPr lang="en-US" sz="2600" dirty="0">
                <a:solidFill>
                  <a:srgbClr val="002060"/>
                </a:solidFill>
              </a:rPr>
              <a:t>ll</a:t>
            </a:r>
            <a:r>
              <a:rPr lang="en-US" sz="2600" spc="-10" dirty="0">
                <a:solidFill>
                  <a:srgbClr val="002060"/>
                </a:solidFill>
              </a:rPr>
              <a:t> </a:t>
            </a:r>
            <a:r>
              <a:rPr lang="en-US" sz="2600" spc="5" dirty="0">
                <a:solidFill>
                  <a:srgbClr val="002060"/>
                </a:solidFill>
              </a:rPr>
              <a:t>kn</a:t>
            </a:r>
            <a:r>
              <a:rPr lang="en-US" sz="2600" dirty="0">
                <a:solidFill>
                  <a:srgbClr val="002060"/>
                </a:solidFill>
              </a:rPr>
              <a:t>o</a:t>
            </a:r>
            <a:r>
              <a:rPr lang="en-US" sz="2600" spc="-5" dirty="0">
                <a:solidFill>
                  <a:srgbClr val="002060"/>
                </a:solidFill>
              </a:rPr>
              <a:t>w</a:t>
            </a:r>
            <a:r>
              <a:rPr lang="en-US" sz="2600" dirty="0">
                <a:solidFill>
                  <a:srgbClr val="002060"/>
                </a:solidFill>
              </a:rPr>
              <a:t>n</a:t>
            </a:r>
            <a:r>
              <a:rPr lang="en-US" sz="2600" spc="-20" dirty="0">
                <a:solidFill>
                  <a:srgbClr val="002060"/>
                </a:solidFill>
              </a:rPr>
              <a:t> </a:t>
            </a:r>
            <a:r>
              <a:rPr lang="en-US" sz="2600" spc="5" dirty="0">
                <a:solidFill>
                  <a:srgbClr val="002060"/>
                </a:solidFill>
              </a:rPr>
              <a:t>o</a:t>
            </a:r>
            <a:r>
              <a:rPr lang="en-US" sz="2600" dirty="0">
                <a:solidFill>
                  <a:srgbClr val="002060"/>
                </a:solidFill>
              </a:rPr>
              <a:t>r</a:t>
            </a:r>
            <a:r>
              <a:rPr lang="en-US" sz="2600" spc="-10" dirty="0">
                <a:solidFill>
                  <a:srgbClr val="002060"/>
                </a:solidFill>
              </a:rPr>
              <a:t> </a:t>
            </a:r>
            <a:r>
              <a:rPr lang="en-US" sz="2600" spc="5" dirty="0">
                <a:solidFill>
                  <a:srgbClr val="002060"/>
                </a:solidFill>
              </a:rPr>
              <a:t>p</a:t>
            </a:r>
            <a:r>
              <a:rPr lang="en-US" sz="2600" dirty="0">
                <a:solidFill>
                  <a:srgbClr val="002060"/>
                </a:solidFill>
              </a:rPr>
              <a:t>otenti</a:t>
            </a:r>
            <a:r>
              <a:rPr lang="en-US" sz="2600" spc="5" dirty="0">
                <a:solidFill>
                  <a:srgbClr val="002060"/>
                </a:solidFill>
              </a:rPr>
              <a:t>a</a:t>
            </a:r>
            <a:r>
              <a:rPr lang="en-US" sz="2600" dirty="0">
                <a:solidFill>
                  <a:srgbClr val="002060"/>
                </a:solidFill>
              </a:rPr>
              <a:t>l</a:t>
            </a:r>
            <a:r>
              <a:rPr lang="en-US" sz="2600" spc="-35" dirty="0">
                <a:solidFill>
                  <a:srgbClr val="002060"/>
                </a:solidFill>
              </a:rPr>
              <a:t> </a:t>
            </a:r>
            <a:r>
              <a:rPr lang="en-US" sz="2600" dirty="0">
                <a:solidFill>
                  <a:srgbClr val="002060"/>
                </a:solidFill>
              </a:rPr>
              <a:t>c</a:t>
            </a:r>
            <a:r>
              <a:rPr lang="en-US" sz="2600" spc="5" dirty="0">
                <a:solidFill>
                  <a:srgbClr val="002060"/>
                </a:solidFill>
              </a:rPr>
              <a:t>on</a:t>
            </a:r>
            <a:r>
              <a:rPr lang="en-US" sz="2600" spc="-5" dirty="0">
                <a:solidFill>
                  <a:srgbClr val="002060"/>
                </a:solidFill>
              </a:rPr>
              <a:t>f</a:t>
            </a:r>
            <a:r>
              <a:rPr lang="en-US" sz="2600" dirty="0">
                <a:solidFill>
                  <a:srgbClr val="002060"/>
                </a:solidFill>
              </a:rPr>
              <a:t>licts</a:t>
            </a:r>
            <a:r>
              <a:rPr lang="en-US" sz="2600" spc="-40" dirty="0">
                <a:solidFill>
                  <a:srgbClr val="002060"/>
                </a:solidFill>
              </a:rPr>
              <a:t> </a:t>
            </a:r>
            <a:r>
              <a:rPr lang="en-US" sz="2600" spc="15" dirty="0">
                <a:solidFill>
                  <a:srgbClr val="002060"/>
                </a:solidFill>
              </a:rPr>
              <a:t>o</a:t>
            </a:r>
            <a:r>
              <a:rPr lang="en-US" sz="2600" dirty="0">
                <a:solidFill>
                  <a:srgbClr val="002060"/>
                </a:solidFill>
              </a:rPr>
              <a:t>f</a:t>
            </a:r>
            <a:r>
              <a:rPr lang="en-US" sz="2600" spc="-15" dirty="0">
                <a:solidFill>
                  <a:srgbClr val="002060"/>
                </a:solidFill>
              </a:rPr>
              <a:t> </a:t>
            </a:r>
            <a:r>
              <a:rPr lang="en-US" sz="2600" dirty="0">
                <a:solidFill>
                  <a:srgbClr val="002060"/>
                </a:solidFill>
              </a:rPr>
              <a:t>i</a:t>
            </a:r>
            <a:r>
              <a:rPr lang="en-US" sz="2600" spc="5" dirty="0">
                <a:solidFill>
                  <a:srgbClr val="002060"/>
                </a:solidFill>
              </a:rPr>
              <a:t>n</a:t>
            </a:r>
            <a:r>
              <a:rPr lang="en-US" sz="2600" dirty="0">
                <a:solidFill>
                  <a:srgbClr val="002060"/>
                </a:solidFill>
              </a:rPr>
              <a:t>ter</a:t>
            </a:r>
            <a:r>
              <a:rPr lang="en-US" sz="2600" spc="5" dirty="0">
                <a:solidFill>
                  <a:srgbClr val="002060"/>
                </a:solidFill>
              </a:rPr>
              <a:t>e</a:t>
            </a:r>
            <a:r>
              <a:rPr lang="en-US" sz="2600" spc="-5" dirty="0">
                <a:solidFill>
                  <a:srgbClr val="002060"/>
                </a:solidFill>
              </a:rPr>
              <a:t>s</a:t>
            </a:r>
            <a:r>
              <a:rPr lang="en-US" sz="2600" dirty="0">
                <a:solidFill>
                  <a:srgbClr val="002060"/>
                </a:solidFill>
              </a:rPr>
              <a:t>t</a:t>
            </a:r>
            <a:r>
              <a:rPr lang="en-US" sz="2600" spc="-25" dirty="0">
                <a:solidFill>
                  <a:srgbClr val="002060"/>
                </a:solidFill>
              </a:rPr>
              <a:t> </a:t>
            </a:r>
            <a:r>
              <a:rPr lang="en-US" sz="2600" dirty="0">
                <a:solidFill>
                  <a:srgbClr val="002060"/>
                </a:solidFill>
              </a:rPr>
              <a:t>t</a:t>
            </a:r>
            <a:r>
              <a:rPr lang="en-US" sz="2600" spc="5" dirty="0">
                <a:solidFill>
                  <a:srgbClr val="002060"/>
                </a:solidFill>
              </a:rPr>
              <a:t>h</a:t>
            </a:r>
            <a:r>
              <a:rPr lang="en-US" sz="2600" dirty="0">
                <a:solidFill>
                  <a:srgbClr val="002060"/>
                </a:solidFill>
              </a:rPr>
              <a:t>at</a:t>
            </a:r>
            <a:r>
              <a:rPr lang="en-US" sz="2600" spc="-10" dirty="0">
                <a:solidFill>
                  <a:srgbClr val="002060"/>
                </a:solidFill>
              </a:rPr>
              <a:t> </a:t>
            </a:r>
            <a:r>
              <a:rPr lang="en-US" sz="2600" dirty="0">
                <a:solidFill>
                  <a:srgbClr val="002060"/>
                </a:solidFill>
              </a:rPr>
              <a:t>i</a:t>
            </a:r>
            <a:r>
              <a:rPr lang="en-US" sz="2600" spc="5" dirty="0">
                <a:solidFill>
                  <a:srgbClr val="002060"/>
                </a:solidFill>
              </a:rPr>
              <a:t>n</a:t>
            </a:r>
            <a:r>
              <a:rPr lang="en-US" sz="2600" spc="-5" dirty="0">
                <a:solidFill>
                  <a:srgbClr val="002060"/>
                </a:solidFill>
              </a:rPr>
              <a:t>v</a:t>
            </a:r>
            <a:r>
              <a:rPr lang="en-US" sz="2600" dirty="0">
                <a:solidFill>
                  <a:srgbClr val="002060"/>
                </a:solidFill>
              </a:rPr>
              <a:t>ol</a:t>
            </a:r>
            <a:r>
              <a:rPr lang="en-US" sz="2600" spc="-5" dirty="0">
                <a:solidFill>
                  <a:srgbClr val="002060"/>
                </a:solidFill>
              </a:rPr>
              <a:t>v</a:t>
            </a:r>
            <a:r>
              <a:rPr lang="en-US" sz="2600" dirty="0">
                <a:solidFill>
                  <a:srgbClr val="002060"/>
                </a:solidFill>
              </a:rPr>
              <a:t>e</a:t>
            </a:r>
            <a:r>
              <a:rPr lang="en-US" sz="2600" spc="-35" dirty="0">
                <a:solidFill>
                  <a:srgbClr val="002060"/>
                </a:solidFill>
              </a:rPr>
              <a:t> </a:t>
            </a:r>
            <a:r>
              <a:rPr lang="en-US" sz="2600" spc="5" dirty="0">
                <a:solidFill>
                  <a:srgbClr val="002060"/>
                </a:solidFill>
              </a:rPr>
              <a:t>th</a:t>
            </a:r>
            <a:r>
              <a:rPr lang="en-US" sz="2600" dirty="0">
                <a:solidFill>
                  <a:srgbClr val="002060"/>
                </a:solidFill>
              </a:rPr>
              <a:t>e</a:t>
            </a:r>
            <a:r>
              <a:rPr lang="en-US" sz="2600" spc="-5" dirty="0">
                <a:solidFill>
                  <a:srgbClr val="002060"/>
                </a:solidFill>
              </a:rPr>
              <a:t> e</a:t>
            </a:r>
            <a:r>
              <a:rPr lang="en-US" sz="2600" spc="5" dirty="0">
                <a:solidFill>
                  <a:srgbClr val="002060"/>
                </a:solidFill>
              </a:rPr>
              <a:t>n</a:t>
            </a:r>
            <a:r>
              <a:rPr lang="en-US" sz="2600" dirty="0">
                <a:solidFill>
                  <a:srgbClr val="002060"/>
                </a:solidFill>
              </a:rPr>
              <a:t>gin</a:t>
            </a:r>
            <a:r>
              <a:rPr lang="en-US" sz="2600" spc="10" dirty="0">
                <a:solidFill>
                  <a:srgbClr val="002060"/>
                </a:solidFill>
              </a:rPr>
              <a:t>e</a:t>
            </a:r>
            <a:r>
              <a:rPr lang="en-US" sz="2600" spc="5" dirty="0">
                <a:solidFill>
                  <a:srgbClr val="002060"/>
                </a:solidFill>
              </a:rPr>
              <a:t>e</a:t>
            </a:r>
            <a:r>
              <a:rPr lang="en-US" sz="2600" dirty="0">
                <a:solidFill>
                  <a:srgbClr val="002060"/>
                </a:solidFill>
              </a:rPr>
              <a:t>r</a:t>
            </a:r>
            <a:r>
              <a:rPr lang="en-US" sz="2600" spc="-35" dirty="0">
                <a:solidFill>
                  <a:srgbClr val="002060"/>
                </a:solidFill>
              </a:rPr>
              <a:t> </a:t>
            </a:r>
            <a:r>
              <a:rPr lang="en-US" sz="2600" spc="5" dirty="0">
                <a:solidFill>
                  <a:srgbClr val="002060"/>
                </a:solidFill>
              </a:rPr>
              <a:t>h</a:t>
            </a:r>
            <a:r>
              <a:rPr lang="en-US" sz="2600" dirty="0">
                <a:solidFill>
                  <a:srgbClr val="002060"/>
                </a:solidFill>
              </a:rPr>
              <a:t>i</a:t>
            </a:r>
            <a:r>
              <a:rPr lang="en-US" sz="2600" spc="-5" dirty="0">
                <a:solidFill>
                  <a:srgbClr val="002060"/>
                </a:solidFill>
              </a:rPr>
              <a:t>ms</a:t>
            </a:r>
            <a:r>
              <a:rPr lang="en-US" sz="2600" spc="5" dirty="0">
                <a:solidFill>
                  <a:srgbClr val="002060"/>
                </a:solidFill>
              </a:rPr>
              <a:t>e</a:t>
            </a:r>
            <a:r>
              <a:rPr lang="en-US" sz="2600" dirty="0">
                <a:solidFill>
                  <a:srgbClr val="002060"/>
                </a:solidFill>
              </a:rPr>
              <a:t>l</a:t>
            </a:r>
            <a:r>
              <a:rPr lang="en-US" sz="2600" spc="-5" dirty="0">
                <a:solidFill>
                  <a:srgbClr val="002060"/>
                </a:solidFill>
              </a:rPr>
              <a:t>f</a:t>
            </a:r>
            <a:r>
              <a:rPr lang="en-US" sz="2600" dirty="0">
                <a:solidFill>
                  <a:srgbClr val="002060"/>
                </a:solidFill>
              </a:rPr>
              <a:t>.</a:t>
            </a:r>
            <a:r>
              <a:rPr lang="en-US" sz="2600" spc="15" dirty="0">
                <a:solidFill>
                  <a:srgbClr val="002060"/>
                </a:solidFill>
              </a:rPr>
              <a:t> </a:t>
            </a:r>
            <a:r>
              <a:rPr lang="en-US" sz="2600" spc="-5" dirty="0">
                <a:solidFill>
                  <a:srgbClr val="002060"/>
                </a:solidFill>
              </a:rPr>
              <a:t>T</a:t>
            </a:r>
            <a:r>
              <a:rPr lang="en-US" sz="2600" spc="15" dirty="0">
                <a:solidFill>
                  <a:srgbClr val="002060"/>
                </a:solidFill>
              </a:rPr>
              <a:t>h</a:t>
            </a:r>
            <a:r>
              <a:rPr lang="en-US" sz="2600" spc="-5" dirty="0">
                <a:solidFill>
                  <a:srgbClr val="002060"/>
                </a:solidFill>
              </a:rPr>
              <a:t>e</a:t>
            </a:r>
            <a:r>
              <a:rPr lang="en-US" sz="2600" dirty="0">
                <a:solidFill>
                  <a:srgbClr val="002060"/>
                </a:solidFill>
              </a:rPr>
              <a:t>y </a:t>
            </a:r>
            <a:r>
              <a:rPr lang="en-US" sz="2600" spc="-5" dirty="0">
                <a:solidFill>
                  <a:srgbClr val="002060"/>
                </a:solidFill>
              </a:rPr>
              <a:t>s</a:t>
            </a:r>
            <a:r>
              <a:rPr lang="en-US" sz="2600" spc="5" dirty="0">
                <a:solidFill>
                  <a:srgbClr val="002060"/>
                </a:solidFill>
              </a:rPr>
              <a:t>h</a:t>
            </a:r>
            <a:r>
              <a:rPr lang="en-US" sz="2600" dirty="0">
                <a:solidFill>
                  <a:srgbClr val="002060"/>
                </a:solidFill>
              </a:rPr>
              <a:t>o</a:t>
            </a:r>
            <a:r>
              <a:rPr lang="en-US" sz="2600" spc="5" dirty="0">
                <a:solidFill>
                  <a:srgbClr val="002060"/>
                </a:solidFill>
              </a:rPr>
              <a:t>u</a:t>
            </a:r>
            <a:r>
              <a:rPr lang="en-US" sz="2600" dirty="0">
                <a:solidFill>
                  <a:srgbClr val="002060"/>
                </a:solidFill>
              </a:rPr>
              <a:t>ld</a:t>
            </a:r>
            <a:r>
              <a:rPr lang="en-US" sz="2600" spc="-25" dirty="0">
                <a:solidFill>
                  <a:srgbClr val="002060"/>
                </a:solidFill>
              </a:rPr>
              <a:t> </a:t>
            </a:r>
            <a:r>
              <a:rPr lang="en-US" sz="2600" spc="5" dirty="0">
                <a:solidFill>
                  <a:srgbClr val="002060"/>
                </a:solidFill>
              </a:rPr>
              <a:t>k</a:t>
            </a:r>
            <a:r>
              <a:rPr lang="en-US" sz="2600" spc="-5" dirty="0">
                <a:solidFill>
                  <a:srgbClr val="002060"/>
                </a:solidFill>
              </a:rPr>
              <a:t>ee</a:t>
            </a:r>
            <a:r>
              <a:rPr lang="en-US" sz="2600" dirty="0">
                <a:solidFill>
                  <a:srgbClr val="002060"/>
                </a:solidFill>
              </a:rPr>
              <a:t>p</a:t>
            </a:r>
            <a:r>
              <a:rPr lang="en-US" sz="2600" spc="-15" dirty="0">
                <a:solidFill>
                  <a:srgbClr val="002060"/>
                </a:solidFill>
              </a:rPr>
              <a:t> </a:t>
            </a:r>
            <a:r>
              <a:rPr lang="en-US" sz="2600" spc="5" dirty="0">
                <a:solidFill>
                  <a:srgbClr val="002060"/>
                </a:solidFill>
              </a:rPr>
              <a:t>th</a:t>
            </a:r>
            <a:r>
              <a:rPr lang="en-US" sz="2600" spc="-5" dirty="0">
                <a:solidFill>
                  <a:srgbClr val="002060"/>
                </a:solidFill>
              </a:rPr>
              <a:t>e</a:t>
            </a:r>
            <a:r>
              <a:rPr lang="en-US" sz="2600" dirty="0">
                <a:solidFill>
                  <a:srgbClr val="002060"/>
                </a:solidFill>
              </a:rPr>
              <a:t>ir</a:t>
            </a:r>
            <a:r>
              <a:rPr lang="en-US" sz="2600" spc="-20" dirty="0">
                <a:solidFill>
                  <a:srgbClr val="002060"/>
                </a:solidFill>
              </a:rPr>
              <a:t> </a:t>
            </a:r>
            <a:r>
              <a:rPr lang="en-US" sz="2600" spc="10" dirty="0">
                <a:solidFill>
                  <a:srgbClr val="002060"/>
                </a:solidFill>
              </a:rPr>
              <a:t>e</a:t>
            </a:r>
            <a:r>
              <a:rPr lang="en-US" sz="2600" spc="-5" dirty="0">
                <a:solidFill>
                  <a:srgbClr val="002060"/>
                </a:solidFill>
              </a:rPr>
              <a:t>m</a:t>
            </a:r>
            <a:r>
              <a:rPr lang="en-US" sz="2600" spc="5" dirty="0">
                <a:solidFill>
                  <a:srgbClr val="002060"/>
                </a:solidFill>
              </a:rPr>
              <a:t>p</a:t>
            </a:r>
            <a:r>
              <a:rPr lang="en-US" sz="2600" dirty="0">
                <a:solidFill>
                  <a:srgbClr val="002060"/>
                </a:solidFill>
              </a:rPr>
              <a:t>lo</a:t>
            </a:r>
            <a:r>
              <a:rPr lang="en-US" sz="2600" spc="5" dirty="0">
                <a:solidFill>
                  <a:srgbClr val="002060"/>
                </a:solidFill>
              </a:rPr>
              <a:t>y</a:t>
            </a:r>
            <a:r>
              <a:rPr lang="en-US" sz="2600" spc="-5" dirty="0">
                <a:solidFill>
                  <a:srgbClr val="002060"/>
                </a:solidFill>
              </a:rPr>
              <a:t>e</a:t>
            </a:r>
            <a:r>
              <a:rPr lang="en-US" sz="2600" dirty="0">
                <a:solidFill>
                  <a:srgbClr val="002060"/>
                </a:solidFill>
              </a:rPr>
              <a:t>rs</a:t>
            </a:r>
            <a:r>
              <a:rPr lang="en-US" sz="2600" spc="-35" dirty="0">
                <a:solidFill>
                  <a:srgbClr val="002060"/>
                </a:solidFill>
              </a:rPr>
              <a:t> </a:t>
            </a:r>
            <a:r>
              <a:rPr lang="en-US" sz="2600" dirty="0">
                <a:solidFill>
                  <a:srgbClr val="002060"/>
                </a:solidFill>
              </a:rPr>
              <a:t>or</a:t>
            </a:r>
            <a:r>
              <a:rPr lang="en-US" sz="2600" spc="-10" dirty="0">
                <a:solidFill>
                  <a:srgbClr val="002060"/>
                </a:solidFill>
              </a:rPr>
              <a:t> </a:t>
            </a:r>
            <a:r>
              <a:rPr lang="en-US" sz="2600" dirty="0">
                <a:solidFill>
                  <a:srgbClr val="002060"/>
                </a:solidFill>
              </a:rPr>
              <a:t>cli</a:t>
            </a:r>
            <a:r>
              <a:rPr lang="en-US" sz="2600" spc="-5" dirty="0">
                <a:solidFill>
                  <a:srgbClr val="002060"/>
                </a:solidFill>
              </a:rPr>
              <a:t>e</a:t>
            </a:r>
            <a:r>
              <a:rPr lang="en-US" sz="2600" spc="5" dirty="0">
                <a:solidFill>
                  <a:srgbClr val="002060"/>
                </a:solidFill>
              </a:rPr>
              <a:t>n</a:t>
            </a:r>
            <a:r>
              <a:rPr lang="en-US" sz="2600" dirty="0">
                <a:solidFill>
                  <a:srgbClr val="002060"/>
                </a:solidFill>
              </a:rPr>
              <a:t>ts</a:t>
            </a:r>
            <a:r>
              <a:rPr lang="en-US" sz="2600" spc="-30" dirty="0">
                <a:solidFill>
                  <a:srgbClr val="002060"/>
                </a:solidFill>
              </a:rPr>
              <a:t> </a:t>
            </a:r>
            <a:r>
              <a:rPr lang="en-US" sz="2600" dirty="0">
                <a:solidFill>
                  <a:srgbClr val="002060"/>
                </a:solidFill>
              </a:rPr>
              <a:t>fully</a:t>
            </a:r>
            <a:r>
              <a:rPr lang="en-US" sz="2600" spc="-10" dirty="0">
                <a:solidFill>
                  <a:srgbClr val="002060"/>
                </a:solidFill>
              </a:rPr>
              <a:t> </a:t>
            </a:r>
            <a:r>
              <a:rPr lang="en-US" sz="2600" dirty="0">
                <a:solidFill>
                  <a:srgbClr val="002060"/>
                </a:solidFill>
              </a:rPr>
              <a:t>i</a:t>
            </a:r>
            <a:r>
              <a:rPr lang="en-US" sz="2600" spc="5" dirty="0">
                <a:solidFill>
                  <a:srgbClr val="002060"/>
                </a:solidFill>
              </a:rPr>
              <a:t>n</a:t>
            </a:r>
            <a:r>
              <a:rPr lang="en-US" sz="2600" spc="-5" dirty="0">
                <a:solidFill>
                  <a:srgbClr val="002060"/>
                </a:solidFill>
              </a:rPr>
              <a:t>f</a:t>
            </a:r>
            <a:r>
              <a:rPr lang="en-US" sz="2600" dirty="0">
                <a:solidFill>
                  <a:srgbClr val="002060"/>
                </a:solidFill>
              </a:rPr>
              <a:t>o</a:t>
            </a:r>
            <a:r>
              <a:rPr lang="en-US" sz="2600" spc="10" dirty="0">
                <a:solidFill>
                  <a:srgbClr val="002060"/>
                </a:solidFill>
              </a:rPr>
              <a:t>r</a:t>
            </a:r>
            <a:r>
              <a:rPr lang="en-US" sz="2600" spc="-5" dirty="0">
                <a:solidFill>
                  <a:srgbClr val="002060"/>
                </a:solidFill>
              </a:rPr>
              <a:t>me</a:t>
            </a:r>
            <a:r>
              <a:rPr lang="en-US" sz="2600" dirty="0">
                <a:solidFill>
                  <a:srgbClr val="002060"/>
                </a:solidFill>
              </a:rPr>
              <a:t>d</a:t>
            </a:r>
            <a:r>
              <a:rPr lang="en-US" sz="2600" spc="-35" dirty="0">
                <a:solidFill>
                  <a:srgbClr val="002060"/>
                </a:solidFill>
              </a:rPr>
              <a:t> </a:t>
            </a:r>
            <a:r>
              <a:rPr lang="en-US" sz="2600" spc="5" dirty="0">
                <a:solidFill>
                  <a:srgbClr val="002060"/>
                </a:solidFill>
              </a:rPr>
              <a:t>o</a:t>
            </a:r>
            <a:r>
              <a:rPr lang="en-US" sz="2600" dirty="0">
                <a:solidFill>
                  <a:srgbClr val="002060"/>
                </a:solidFill>
              </a:rPr>
              <a:t>n</a:t>
            </a:r>
            <a:r>
              <a:rPr lang="en-US" sz="2600" spc="-5" dirty="0">
                <a:solidFill>
                  <a:srgbClr val="002060"/>
                </a:solidFill>
              </a:rPr>
              <a:t> </a:t>
            </a:r>
            <a:r>
              <a:rPr lang="en-US" sz="2600" spc="5" dirty="0">
                <a:solidFill>
                  <a:srgbClr val="002060"/>
                </a:solidFill>
              </a:rPr>
              <a:t>a</a:t>
            </a:r>
            <a:r>
              <a:rPr lang="en-US" sz="2600" dirty="0">
                <a:solidFill>
                  <a:srgbClr val="002060"/>
                </a:solidFill>
              </a:rPr>
              <a:t>ll ma</a:t>
            </a:r>
            <a:r>
              <a:rPr lang="en-US" sz="2600" spc="5" dirty="0">
                <a:solidFill>
                  <a:srgbClr val="002060"/>
                </a:solidFill>
              </a:rPr>
              <a:t>t</a:t>
            </a:r>
            <a:r>
              <a:rPr lang="en-US" sz="2600" dirty="0">
                <a:solidFill>
                  <a:srgbClr val="002060"/>
                </a:solidFill>
              </a:rPr>
              <a:t>ter</a:t>
            </a:r>
            <a:r>
              <a:rPr lang="en-US" sz="2600" spc="-5" dirty="0">
                <a:solidFill>
                  <a:srgbClr val="002060"/>
                </a:solidFill>
              </a:rPr>
              <a:t>s</a:t>
            </a:r>
            <a:r>
              <a:rPr lang="en-US" sz="2600" dirty="0">
                <a:solidFill>
                  <a:srgbClr val="002060"/>
                </a:solidFill>
              </a:rPr>
              <a:t>,</a:t>
            </a:r>
            <a:r>
              <a:rPr lang="en-US" sz="2600" spc="-35" dirty="0">
                <a:solidFill>
                  <a:srgbClr val="002060"/>
                </a:solidFill>
              </a:rPr>
              <a:t> </a:t>
            </a:r>
            <a:r>
              <a:rPr lang="en-US" sz="2600" dirty="0">
                <a:solidFill>
                  <a:srgbClr val="002060"/>
                </a:solidFill>
              </a:rPr>
              <a:t>i</a:t>
            </a:r>
            <a:r>
              <a:rPr lang="en-US" sz="2600" spc="5" dirty="0">
                <a:solidFill>
                  <a:srgbClr val="002060"/>
                </a:solidFill>
              </a:rPr>
              <a:t>n</a:t>
            </a:r>
            <a:r>
              <a:rPr lang="en-US" sz="2600" dirty="0">
                <a:solidFill>
                  <a:srgbClr val="002060"/>
                </a:solidFill>
              </a:rPr>
              <a:t>clu</a:t>
            </a:r>
            <a:r>
              <a:rPr lang="en-US" sz="2600" spc="5" dirty="0">
                <a:solidFill>
                  <a:srgbClr val="002060"/>
                </a:solidFill>
              </a:rPr>
              <a:t>d</a:t>
            </a:r>
            <a:r>
              <a:rPr lang="en-US" sz="2600" dirty="0">
                <a:solidFill>
                  <a:srgbClr val="002060"/>
                </a:solidFill>
              </a:rPr>
              <a:t>i</a:t>
            </a:r>
            <a:r>
              <a:rPr lang="en-US" sz="2600" spc="5" dirty="0">
                <a:solidFill>
                  <a:srgbClr val="002060"/>
                </a:solidFill>
              </a:rPr>
              <a:t>n</a:t>
            </a:r>
            <a:r>
              <a:rPr lang="en-US" sz="2600" dirty="0">
                <a:solidFill>
                  <a:srgbClr val="002060"/>
                </a:solidFill>
              </a:rPr>
              <a:t>g</a:t>
            </a:r>
            <a:r>
              <a:rPr lang="en-US" sz="2600" spc="-35" dirty="0">
                <a:solidFill>
                  <a:srgbClr val="002060"/>
                </a:solidFill>
              </a:rPr>
              <a:t> </a:t>
            </a:r>
            <a:r>
              <a:rPr lang="en-US" sz="2600" dirty="0">
                <a:solidFill>
                  <a:srgbClr val="002060"/>
                </a:solidFill>
              </a:rPr>
              <a:t>f</a:t>
            </a:r>
            <a:r>
              <a:rPr lang="en-US" sz="2600" spc="-5" dirty="0">
                <a:solidFill>
                  <a:srgbClr val="002060"/>
                </a:solidFill>
              </a:rPr>
              <a:t>i</a:t>
            </a:r>
            <a:r>
              <a:rPr lang="en-US" sz="2600" spc="5" dirty="0">
                <a:solidFill>
                  <a:srgbClr val="002060"/>
                </a:solidFill>
              </a:rPr>
              <a:t>n</a:t>
            </a:r>
            <a:r>
              <a:rPr lang="en-US" sz="2600" dirty="0">
                <a:solidFill>
                  <a:srgbClr val="002060"/>
                </a:solidFill>
              </a:rPr>
              <a:t>a</a:t>
            </a:r>
            <a:r>
              <a:rPr lang="en-US" sz="2600" spc="5" dirty="0">
                <a:solidFill>
                  <a:srgbClr val="002060"/>
                </a:solidFill>
              </a:rPr>
              <a:t>n</a:t>
            </a:r>
            <a:r>
              <a:rPr lang="en-US" sz="2600" dirty="0">
                <a:solidFill>
                  <a:srgbClr val="002060"/>
                </a:solidFill>
              </a:rPr>
              <a:t>cial</a:t>
            </a:r>
            <a:r>
              <a:rPr lang="en-US" sz="2600" spc="-35" dirty="0">
                <a:solidFill>
                  <a:srgbClr val="002060"/>
                </a:solidFill>
              </a:rPr>
              <a:t> </a:t>
            </a:r>
            <a:r>
              <a:rPr lang="en-US" sz="2600" dirty="0">
                <a:solidFill>
                  <a:srgbClr val="002060"/>
                </a:solidFill>
              </a:rPr>
              <a:t>i</a:t>
            </a:r>
            <a:r>
              <a:rPr lang="en-US" sz="2600" spc="15" dirty="0">
                <a:solidFill>
                  <a:srgbClr val="002060"/>
                </a:solidFill>
              </a:rPr>
              <a:t>n</a:t>
            </a:r>
            <a:r>
              <a:rPr lang="en-US" sz="2600" dirty="0">
                <a:solidFill>
                  <a:srgbClr val="002060"/>
                </a:solidFill>
              </a:rPr>
              <a:t>ter</a:t>
            </a:r>
            <a:r>
              <a:rPr lang="en-US" sz="2600" spc="-5" dirty="0">
                <a:solidFill>
                  <a:srgbClr val="002060"/>
                </a:solidFill>
              </a:rPr>
              <a:t>es</a:t>
            </a:r>
            <a:r>
              <a:rPr lang="en-US" sz="2600" spc="15" dirty="0">
                <a:solidFill>
                  <a:srgbClr val="002060"/>
                </a:solidFill>
              </a:rPr>
              <a:t>t</a:t>
            </a:r>
            <a:r>
              <a:rPr lang="en-US" sz="2600" spc="-5" dirty="0">
                <a:solidFill>
                  <a:srgbClr val="002060"/>
                </a:solidFill>
              </a:rPr>
              <a:t>s</a:t>
            </a:r>
            <a:r>
              <a:rPr lang="en-US" sz="2600" dirty="0">
                <a:solidFill>
                  <a:srgbClr val="002060"/>
                </a:solidFill>
              </a:rPr>
              <a:t>,</a:t>
            </a:r>
            <a:r>
              <a:rPr lang="en-US" sz="2600" spc="-40" dirty="0">
                <a:solidFill>
                  <a:srgbClr val="002060"/>
                </a:solidFill>
              </a:rPr>
              <a:t> </a:t>
            </a:r>
            <a:r>
              <a:rPr lang="en-US" sz="2600" dirty="0">
                <a:solidFill>
                  <a:srgbClr val="002060"/>
                </a:solidFill>
              </a:rPr>
              <a:t>w</a:t>
            </a:r>
            <a:r>
              <a:rPr lang="en-US" sz="2600" spc="5" dirty="0">
                <a:solidFill>
                  <a:srgbClr val="002060"/>
                </a:solidFill>
              </a:rPr>
              <a:t>h</a:t>
            </a:r>
            <a:r>
              <a:rPr lang="en-US" sz="2600" dirty="0">
                <a:solidFill>
                  <a:srgbClr val="002060"/>
                </a:solidFill>
              </a:rPr>
              <a:t>ich co</a:t>
            </a:r>
            <a:r>
              <a:rPr lang="en-US" sz="2600" spc="5" dirty="0">
                <a:solidFill>
                  <a:srgbClr val="002060"/>
                </a:solidFill>
              </a:rPr>
              <a:t>u</a:t>
            </a:r>
            <a:r>
              <a:rPr lang="en-US" sz="2600" dirty="0">
                <a:solidFill>
                  <a:srgbClr val="002060"/>
                </a:solidFill>
              </a:rPr>
              <a:t>ld</a:t>
            </a:r>
            <a:r>
              <a:rPr lang="en-US" sz="2600" spc="-20" dirty="0">
                <a:solidFill>
                  <a:srgbClr val="002060"/>
                </a:solidFill>
              </a:rPr>
              <a:t> </a:t>
            </a:r>
            <a:r>
              <a:rPr lang="en-US" sz="2600" dirty="0">
                <a:solidFill>
                  <a:srgbClr val="002060"/>
                </a:solidFill>
              </a:rPr>
              <a:t>lead</a:t>
            </a:r>
            <a:r>
              <a:rPr lang="en-US" sz="2600" spc="-10" dirty="0">
                <a:solidFill>
                  <a:srgbClr val="002060"/>
                </a:solidFill>
              </a:rPr>
              <a:t> </a:t>
            </a:r>
            <a:r>
              <a:rPr lang="en-US" sz="2600" spc="5" dirty="0">
                <a:solidFill>
                  <a:srgbClr val="002060"/>
                </a:solidFill>
              </a:rPr>
              <a:t>t</a:t>
            </a:r>
            <a:r>
              <a:rPr lang="en-US" sz="2600" dirty="0">
                <a:solidFill>
                  <a:srgbClr val="002060"/>
                </a:solidFill>
              </a:rPr>
              <a:t>o</a:t>
            </a:r>
            <a:r>
              <a:rPr lang="en-US" sz="2600" spc="-10" dirty="0">
                <a:solidFill>
                  <a:srgbClr val="002060"/>
                </a:solidFill>
              </a:rPr>
              <a:t> </a:t>
            </a:r>
            <a:r>
              <a:rPr lang="en-US" sz="2600" dirty="0">
                <a:solidFill>
                  <a:srgbClr val="002060"/>
                </a:solidFill>
              </a:rPr>
              <a:t>such</a:t>
            </a:r>
            <a:r>
              <a:rPr lang="en-US" sz="2600" spc="-15" dirty="0">
                <a:solidFill>
                  <a:srgbClr val="002060"/>
                </a:solidFill>
              </a:rPr>
              <a:t> </a:t>
            </a:r>
            <a:r>
              <a:rPr lang="en-US" sz="2600" dirty="0">
                <a:solidFill>
                  <a:srgbClr val="002060"/>
                </a:solidFill>
              </a:rPr>
              <a:t>a c</a:t>
            </a:r>
            <a:r>
              <a:rPr lang="en-US" sz="2600" spc="5" dirty="0">
                <a:solidFill>
                  <a:srgbClr val="002060"/>
                </a:solidFill>
              </a:rPr>
              <a:t>on</a:t>
            </a:r>
            <a:r>
              <a:rPr lang="en-US" sz="2600" spc="-5" dirty="0">
                <a:solidFill>
                  <a:srgbClr val="002060"/>
                </a:solidFill>
              </a:rPr>
              <a:t>f</a:t>
            </a:r>
            <a:r>
              <a:rPr lang="en-US" sz="2600" dirty="0">
                <a:solidFill>
                  <a:srgbClr val="002060"/>
                </a:solidFill>
              </a:rPr>
              <a:t>lict,</a:t>
            </a:r>
            <a:r>
              <a:rPr lang="en-US" sz="2600" spc="-25" dirty="0">
                <a:solidFill>
                  <a:srgbClr val="002060"/>
                </a:solidFill>
              </a:rPr>
              <a:t> </a:t>
            </a:r>
            <a:r>
              <a:rPr lang="en-US" sz="2600" spc="5" dirty="0">
                <a:solidFill>
                  <a:srgbClr val="002060"/>
                </a:solidFill>
              </a:rPr>
              <a:t>an</a:t>
            </a:r>
            <a:r>
              <a:rPr lang="en-US" sz="2600" dirty="0">
                <a:solidFill>
                  <a:srgbClr val="002060"/>
                </a:solidFill>
              </a:rPr>
              <a:t>d</a:t>
            </a:r>
            <a:r>
              <a:rPr lang="en-US" sz="2600" spc="-10" dirty="0">
                <a:solidFill>
                  <a:srgbClr val="002060"/>
                </a:solidFill>
              </a:rPr>
              <a:t> </a:t>
            </a:r>
            <a:r>
              <a:rPr lang="en-US" sz="2600" spc="5" dirty="0">
                <a:solidFill>
                  <a:srgbClr val="002060"/>
                </a:solidFill>
              </a:rPr>
              <a:t>und</a:t>
            </a:r>
            <a:r>
              <a:rPr lang="en-US" sz="2600" spc="-5" dirty="0">
                <a:solidFill>
                  <a:srgbClr val="002060"/>
                </a:solidFill>
              </a:rPr>
              <a:t>e</a:t>
            </a:r>
            <a:r>
              <a:rPr lang="en-US" sz="2600" dirty="0">
                <a:solidFill>
                  <a:srgbClr val="002060"/>
                </a:solidFill>
              </a:rPr>
              <a:t>r</a:t>
            </a:r>
            <a:r>
              <a:rPr lang="en-US" sz="2600" spc="-25" dirty="0">
                <a:solidFill>
                  <a:srgbClr val="002060"/>
                </a:solidFill>
              </a:rPr>
              <a:t> </a:t>
            </a:r>
            <a:r>
              <a:rPr lang="en-US" sz="2600" spc="5" dirty="0">
                <a:solidFill>
                  <a:srgbClr val="002060"/>
                </a:solidFill>
              </a:rPr>
              <a:t>n</a:t>
            </a:r>
            <a:r>
              <a:rPr lang="en-US" sz="2600" dirty="0">
                <a:solidFill>
                  <a:srgbClr val="002060"/>
                </a:solidFill>
              </a:rPr>
              <a:t>o</a:t>
            </a:r>
            <a:r>
              <a:rPr lang="en-US" sz="2600" spc="-10" dirty="0">
                <a:solidFill>
                  <a:srgbClr val="002060"/>
                </a:solidFill>
              </a:rPr>
              <a:t> </a:t>
            </a:r>
            <a:r>
              <a:rPr lang="en-US" sz="2600" dirty="0">
                <a:solidFill>
                  <a:srgbClr val="002060"/>
                </a:solidFill>
              </a:rPr>
              <a:t>circ</a:t>
            </a:r>
            <a:r>
              <a:rPr lang="en-US" sz="2600" spc="5" dirty="0">
                <a:solidFill>
                  <a:srgbClr val="002060"/>
                </a:solidFill>
              </a:rPr>
              <a:t>u</a:t>
            </a:r>
            <a:r>
              <a:rPr lang="en-US" sz="2600" spc="-5" dirty="0">
                <a:solidFill>
                  <a:srgbClr val="002060"/>
                </a:solidFill>
              </a:rPr>
              <a:t>ms</a:t>
            </a:r>
            <a:r>
              <a:rPr lang="en-US" sz="2600" dirty="0">
                <a:solidFill>
                  <a:srgbClr val="002060"/>
                </a:solidFill>
              </a:rPr>
              <a:t>t</a:t>
            </a:r>
            <a:r>
              <a:rPr lang="en-US" sz="2600" spc="5" dirty="0">
                <a:solidFill>
                  <a:srgbClr val="002060"/>
                </a:solidFill>
              </a:rPr>
              <a:t>an</a:t>
            </a:r>
            <a:r>
              <a:rPr lang="en-US" sz="2600" dirty="0">
                <a:solidFill>
                  <a:srgbClr val="002060"/>
                </a:solidFill>
              </a:rPr>
              <a:t>c</a:t>
            </a:r>
            <a:r>
              <a:rPr lang="en-US" sz="2600" spc="-5" dirty="0">
                <a:solidFill>
                  <a:srgbClr val="002060"/>
                </a:solidFill>
              </a:rPr>
              <a:t>e</a:t>
            </a:r>
            <a:r>
              <a:rPr lang="en-US" sz="2600" dirty="0">
                <a:solidFill>
                  <a:srgbClr val="002060"/>
                </a:solidFill>
              </a:rPr>
              <a:t>s</a:t>
            </a:r>
            <a:r>
              <a:rPr lang="en-US" sz="2600" spc="-50" dirty="0">
                <a:solidFill>
                  <a:srgbClr val="002060"/>
                </a:solidFill>
              </a:rPr>
              <a:t> </a:t>
            </a:r>
            <a:r>
              <a:rPr lang="en-US" sz="2600" spc="-5" dirty="0">
                <a:solidFill>
                  <a:srgbClr val="002060"/>
                </a:solidFill>
              </a:rPr>
              <a:t>s</a:t>
            </a:r>
            <a:r>
              <a:rPr lang="en-US" sz="2600" spc="5" dirty="0">
                <a:solidFill>
                  <a:srgbClr val="002060"/>
                </a:solidFill>
              </a:rPr>
              <a:t>h</a:t>
            </a:r>
            <a:r>
              <a:rPr lang="en-US" sz="2600" dirty="0">
                <a:solidFill>
                  <a:srgbClr val="002060"/>
                </a:solidFill>
              </a:rPr>
              <a:t>o</a:t>
            </a:r>
            <a:r>
              <a:rPr lang="en-US" sz="2600" spc="5" dirty="0">
                <a:solidFill>
                  <a:srgbClr val="002060"/>
                </a:solidFill>
              </a:rPr>
              <a:t>u</a:t>
            </a:r>
            <a:r>
              <a:rPr lang="en-US" sz="2600" dirty="0">
                <a:solidFill>
                  <a:srgbClr val="002060"/>
                </a:solidFill>
              </a:rPr>
              <a:t>ld</a:t>
            </a:r>
            <a:r>
              <a:rPr lang="en-US" sz="2600" spc="-25" dirty="0">
                <a:solidFill>
                  <a:srgbClr val="002060"/>
                </a:solidFill>
              </a:rPr>
              <a:t> </a:t>
            </a:r>
            <a:r>
              <a:rPr lang="en-US" sz="2600" spc="5" dirty="0">
                <a:solidFill>
                  <a:srgbClr val="002060"/>
                </a:solidFill>
              </a:rPr>
              <a:t>th</a:t>
            </a:r>
            <a:r>
              <a:rPr lang="en-US" sz="2600" spc="-5" dirty="0">
                <a:solidFill>
                  <a:srgbClr val="002060"/>
                </a:solidFill>
              </a:rPr>
              <a:t>e</a:t>
            </a:r>
            <a:r>
              <a:rPr lang="en-US" sz="2600" dirty="0">
                <a:solidFill>
                  <a:srgbClr val="002060"/>
                </a:solidFill>
              </a:rPr>
              <a:t>y</a:t>
            </a:r>
            <a:r>
              <a:rPr lang="en-US" sz="2600" spc="-15" dirty="0">
                <a:solidFill>
                  <a:srgbClr val="002060"/>
                </a:solidFill>
              </a:rPr>
              <a:t> </a:t>
            </a:r>
            <a:r>
              <a:rPr lang="en-US" sz="2600" spc="5" dirty="0">
                <a:solidFill>
                  <a:srgbClr val="002060"/>
                </a:solidFill>
              </a:rPr>
              <a:t>p</a:t>
            </a:r>
            <a:r>
              <a:rPr lang="en-US" sz="2600" dirty="0">
                <a:solidFill>
                  <a:srgbClr val="002060"/>
                </a:solidFill>
              </a:rPr>
              <a:t>artici</a:t>
            </a:r>
            <a:r>
              <a:rPr lang="en-US" sz="2600" spc="5" dirty="0">
                <a:solidFill>
                  <a:srgbClr val="002060"/>
                </a:solidFill>
              </a:rPr>
              <a:t>p</a:t>
            </a:r>
            <a:r>
              <a:rPr lang="en-US" sz="2600" dirty="0">
                <a:solidFill>
                  <a:srgbClr val="002060"/>
                </a:solidFill>
              </a:rPr>
              <a:t>a</a:t>
            </a:r>
            <a:r>
              <a:rPr lang="en-US" sz="2600" spc="5" dirty="0">
                <a:solidFill>
                  <a:srgbClr val="002060"/>
                </a:solidFill>
              </a:rPr>
              <a:t>t</a:t>
            </a:r>
            <a:r>
              <a:rPr lang="en-US" sz="2600" dirty="0">
                <a:solidFill>
                  <a:srgbClr val="002060"/>
                </a:solidFill>
              </a:rPr>
              <a:t>e</a:t>
            </a:r>
            <a:r>
              <a:rPr lang="en-US" sz="2600" spc="-50" dirty="0">
                <a:solidFill>
                  <a:srgbClr val="002060"/>
                </a:solidFill>
              </a:rPr>
              <a:t> </a:t>
            </a:r>
            <a:r>
              <a:rPr lang="en-US" sz="2600" dirty="0">
                <a:solidFill>
                  <a:srgbClr val="002060"/>
                </a:solidFill>
              </a:rPr>
              <a:t>in</a:t>
            </a:r>
            <a:r>
              <a:rPr lang="en-US" sz="2600" spc="-5" dirty="0">
                <a:solidFill>
                  <a:srgbClr val="002060"/>
                </a:solidFill>
              </a:rPr>
              <a:t> </a:t>
            </a:r>
            <a:r>
              <a:rPr lang="en-US" sz="2600" spc="5" dirty="0">
                <a:solidFill>
                  <a:srgbClr val="002060"/>
                </a:solidFill>
              </a:rPr>
              <a:t>a</a:t>
            </a:r>
            <a:r>
              <a:rPr lang="en-US" sz="2600" spc="-5" dirty="0">
                <a:solidFill>
                  <a:srgbClr val="002060"/>
                </a:solidFill>
              </a:rPr>
              <a:t>n</a:t>
            </a:r>
            <a:r>
              <a:rPr lang="en-US" sz="2600" dirty="0">
                <a:solidFill>
                  <a:srgbClr val="002060"/>
                </a:solidFill>
              </a:rPr>
              <a:t>y</a:t>
            </a:r>
            <a:r>
              <a:rPr lang="en-US" sz="2600" spc="-10" dirty="0">
                <a:solidFill>
                  <a:srgbClr val="002060"/>
                </a:solidFill>
              </a:rPr>
              <a:t> </a:t>
            </a:r>
            <a:r>
              <a:rPr lang="en-US" sz="2600" spc="-5" dirty="0">
                <a:solidFill>
                  <a:srgbClr val="002060"/>
                </a:solidFill>
              </a:rPr>
              <a:t>de</a:t>
            </a:r>
            <a:r>
              <a:rPr lang="en-US" sz="2600" dirty="0">
                <a:solidFill>
                  <a:srgbClr val="002060"/>
                </a:solidFill>
              </a:rPr>
              <a:t>ci</a:t>
            </a:r>
            <a:r>
              <a:rPr lang="en-US" sz="2600" spc="5" dirty="0">
                <a:solidFill>
                  <a:srgbClr val="002060"/>
                </a:solidFill>
              </a:rPr>
              <a:t>s</a:t>
            </a:r>
            <a:r>
              <a:rPr lang="en-US" sz="2600" dirty="0">
                <a:solidFill>
                  <a:srgbClr val="002060"/>
                </a:solidFill>
              </a:rPr>
              <a:t>ion</a:t>
            </a:r>
            <a:r>
              <a:rPr lang="en-US" sz="2600" spc="-30" dirty="0">
                <a:solidFill>
                  <a:srgbClr val="002060"/>
                </a:solidFill>
              </a:rPr>
              <a:t> </a:t>
            </a:r>
            <a:r>
              <a:rPr lang="en-US" sz="2600" dirty="0">
                <a:solidFill>
                  <a:srgbClr val="002060"/>
                </a:solidFill>
              </a:rPr>
              <a:t>w</a:t>
            </a:r>
            <a:r>
              <a:rPr lang="en-US" sz="2600" spc="5" dirty="0">
                <a:solidFill>
                  <a:srgbClr val="002060"/>
                </a:solidFill>
              </a:rPr>
              <a:t>h</a:t>
            </a:r>
            <a:r>
              <a:rPr lang="en-US" sz="2600" dirty="0">
                <a:solidFill>
                  <a:srgbClr val="002060"/>
                </a:solidFill>
              </a:rPr>
              <a:t>ich co</a:t>
            </a:r>
            <a:r>
              <a:rPr lang="en-US" sz="2600" spc="5" dirty="0">
                <a:solidFill>
                  <a:srgbClr val="002060"/>
                </a:solidFill>
              </a:rPr>
              <a:t>u</a:t>
            </a:r>
            <a:r>
              <a:rPr lang="en-US" sz="2600" dirty="0">
                <a:solidFill>
                  <a:srgbClr val="002060"/>
                </a:solidFill>
              </a:rPr>
              <a:t>ld</a:t>
            </a:r>
            <a:r>
              <a:rPr lang="en-US" sz="2600" spc="-20" dirty="0">
                <a:solidFill>
                  <a:srgbClr val="002060"/>
                </a:solidFill>
              </a:rPr>
              <a:t> </a:t>
            </a:r>
            <a:r>
              <a:rPr lang="en-US" sz="2600" dirty="0">
                <a:solidFill>
                  <a:srgbClr val="002060"/>
                </a:solidFill>
              </a:rPr>
              <a:t>i</a:t>
            </a:r>
            <a:r>
              <a:rPr lang="en-US" sz="2600" spc="5" dirty="0">
                <a:solidFill>
                  <a:srgbClr val="002060"/>
                </a:solidFill>
              </a:rPr>
              <a:t>n</a:t>
            </a:r>
            <a:r>
              <a:rPr lang="en-US" sz="2600" spc="-5" dirty="0">
                <a:solidFill>
                  <a:srgbClr val="002060"/>
                </a:solidFill>
              </a:rPr>
              <a:t>v</a:t>
            </a:r>
            <a:r>
              <a:rPr lang="en-US" sz="2600" dirty="0">
                <a:solidFill>
                  <a:srgbClr val="002060"/>
                </a:solidFill>
              </a:rPr>
              <a:t>ol</a:t>
            </a:r>
            <a:r>
              <a:rPr lang="en-US" sz="2600" spc="-5" dirty="0">
                <a:solidFill>
                  <a:srgbClr val="002060"/>
                </a:solidFill>
              </a:rPr>
              <a:t>v</a:t>
            </a:r>
            <a:r>
              <a:rPr lang="en-US" sz="2600" dirty="0">
                <a:solidFill>
                  <a:srgbClr val="002060"/>
                </a:solidFill>
              </a:rPr>
              <a:t>e</a:t>
            </a:r>
            <a:r>
              <a:rPr lang="en-US" sz="2600" spc="-35" dirty="0">
                <a:solidFill>
                  <a:srgbClr val="002060"/>
                </a:solidFill>
              </a:rPr>
              <a:t> </a:t>
            </a:r>
            <a:r>
              <a:rPr lang="en-US" sz="2600" spc="5" dirty="0">
                <a:solidFill>
                  <a:srgbClr val="002060"/>
                </a:solidFill>
              </a:rPr>
              <a:t>the</a:t>
            </a:r>
            <a:r>
              <a:rPr lang="en-US" sz="2600" dirty="0">
                <a:solidFill>
                  <a:srgbClr val="002060"/>
                </a:solidFill>
              </a:rPr>
              <a:t>m</a:t>
            </a:r>
            <a:r>
              <a:rPr lang="en-US" sz="2600" spc="-25" dirty="0">
                <a:solidFill>
                  <a:srgbClr val="002060"/>
                </a:solidFill>
              </a:rPr>
              <a:t> </a:t>
            </a:r>
            <a:r>
              <a:rPr lang="en-US" sz="2600" dirty="0">
                <a:solidFill>
                  <a:srgbClr val="002060"/>
                </a:solidFill>
              </a:rPr>
              <a:t>in</a:t>
            </a:r>
            <a:r>
              <a:rPr lang="en-US" sz="2600" spc="-5" dirty="0">
                <a:solidFill>
                  <a:srgbClr val="002060"/>
                </a:solidFill>
              </a:rPr>
              <a:t> </a:t>
            </a:r>
            <a:r>
              <a:rPr lang="en-US" sz="2600" dirty="0">
                <a:solidFill>
                  <a:srgbClr val="002060"/>
                </a:solidFill>
              </a:rPr>
              <a:t>c</a:t>
            </a:r>
            <a:r>
              <a:rPr lang="en-US" sz="2600" spc="5" dirty="0">
                <a:solidFill>
                  <a:srgbClr val="002060"/>
                </a:solidFill>
              </a:rPr>
              <a:t>on</a:t>
            </a:r>
            <a:r>
              <a:rPr lang="en-US" sz="2600" spc="-5" dirty="0">
                <a:solidFill>
                  <a:srgbClr val="002060"/>
                </a:solidFill>
              </a:rPr>
              <a:t>f</a:t>
            </a:r>
            <a:r>
              <a:rPr lang="en-US" sz="2600" dirty="0">
                <a:solidFill>
                  <a:srgbClr val="002060"/>
                </a:solidFill>
              </a:rPr>
              <a:t>l</a:t>
            </a:r>
            <a:r>
              <a:rPr lang="en-US" sz="2600" spc="10" dirty="0">
                <a:solidFill>
                  <a:srgbClr val="002060"/>
                </a:solidFill>
              </a:rPr>
              <a:t>i</a:t>
            </a:r>
            <a:r>
              <a:rPr lang="en-US" sz="2600" dirty="0">
                <a:solidFill>
                  <a:srgbClr val="002060"/>
                </a:solidFill>
              </a:rPr>
              <a:t>ct</a:t>
            </a:r>
            <a:r>
              <a:rPr lang="en-US" sz="2600" spc="-30" dirty="0">
                <a:solidFill>
                  <a:srgbClr val="002060"/>
                </a:solidFill>
              </a:rPr>
              <a:t> </a:t>
            </a:r>
            <a:r>
              <a:rPr lang="en-US" sz="2600" dirty="0">
                <a:solidFill>
                  <a:srgbClr val="002060"/>
                </a:solidFill>
              </a:rPr>
              <a:t>of</a:t>
            </a:r>
            <a:r>
              <a:rPr lang="en-US" sz="2600" spc="-15" dirty="0">
                <a:solidFill>
                  <a:srgbClr val="002060"/>
                </a:solidFill>
              </a:rPr>
              <a:t> </a:t>
            </a:r>
            <a:r>
              <a:rPr lang="en-US" sz="2600" dirty="0">
                <a:solidFill>
                  <a:srgbClr val="002060"/>
                </a:solidFill>
              </a:rPr>
              <a:t>i</a:t>
            </a:r>
            <a:r>
              <a:rPr lang="en-US" sz="2600" spc="5" dirty="0">
                <a:solidFill>
                  <a:srgbClr val="002060"/>
                </a:solidFill>
              </a:rPr>
              <a:t>n</a:t>
            </a:r>
            <a:r>
              <a:rPr lang="en-US" sz="2600" dirty="0">
                <a:solidFill>
                  <a:srgbClr val="002060"/>
                </a:solidFill>
              </a:rPr>
              <a:t>te</a:t>
            </a:r>
            <a:r>
              <a:rPr lang="en-US" sz="2600" spc="15" dirty="0">
                <a:solidFill>
                  <a:srgbClr val="002060"/>
                </a:solidFill>
              </a:rPr>
              <a:t>r</a:t>
            </a:r>
            <a:r>
              <a:rPr lang="en-US" sz="2600" spc="5" dirty="0">
                <a:solidFill>
                  <a:srgbClr val="002060"/>
                </a:solidFill>
              </a:rPr>
              <a:t>e</a:t>
            </a:r>
            <a:r>
              <a:rPr lang="en-US" sz="2600" spc="-5" dirty="0">
                <a:solidFill>
                  <a:srgbClr val="002060"/>
                </a:solidFill>
              </a:rPr>
              <a:t>s</a:t>
            </a:r>
            <a:r>
              <a:rPr lang="en-US" sz="2600" dirty="0">
                <a:solidFill>
                  <a:srgbClr val="002060"/>
                </a:solidFill>
              </a:rPr>
              <a:t>t.</a:t>
            </a:r>
            <a:endParaRPr lang="en-US" sz="2600" dirty="0">
              <a:solidFill>
                <a:srgbClr val="002060"/>
              </a:solidFill>
              <a:latin typeface="Calibri" panose="020F0502020204030204" pitchFamily="34" charset="0"/>
              <a:ea typeface="Times New Roman" panose="02020603050405020304" pitchFamily="18" charset="0"/>
              <a:cs typeface="Times New Roman" panose="02020603050405020304" pitchFamily="18" charset="0"/>
            </a:endParaRPr>
          </a:p>
          <a:p>
            <a:endParaRPr lang="en-US" dirty="0">
              <a:solidFill>
                <a:srgbClr val="002060"/>
              </a:solidFill>
            </a:endParaRPr>
          </a:p>
          <a:p>
            <a:endParaRPr lang="en-US" dirty="0"/>
          </a:p>
        </p:txBody>
      </p:sp>
      <p:pic>
        <p:nvPicPr>
          <p:cNvPr id="5" name="Content Placeholder 4"/>
          <p:cNvPicPr>
            <a:picLocks noGrp="1" noChangeAspect="1"/>
          </p:cNvPicPr>
          <p:nvPr>
            <p:ph sz="half" idx="2"/>
          </p:nvPr>
        </p:nvPicPr>
        <p:blipFill>
          <a:blip r:embed="rId2"/>
          <a:stretch>
            <a:fillRect/>
          </a:stretch>
        </p:blipFill>
        <p:spPr>
          <a:xfrm>
            <a:off x="6583680" y="1188720"/>
            <a:ext cx="4770120" cy="4988243"/>
          </a:xfrm>
          <a:prstGeom prst="rect">
            <a:avLst/>
          </a:prstGeom>
        </p:spPr>
      </p:pic>
    </p:spTree>
    <p:extLst>
      <p:ext uri="{BB962C8B-B14F-4D97-AF65-F5344CB8AC3E}">
        <p14:creationId xmlns:p14="http://schemas.microsoft.com/office/powerpoint/2010/main" val="1579215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245"/>
            <a:ext cx="10515600" cy="655955"/>
          </a:xfrm>
        </p:spPr>
        <p:txBody>
          <a:bodyPr>
            <a:normAutofit fontScale="90000"/>
          </a:bodyPr>
          <a:lstStyle/>
          <a:p>
            <a:r>
              <a:rPr lang="en-US" dirty="0"/>
              <a:t>Conflict of Interest - Example</a:t>
            </a:r>
          </a:p>
        </p:txBody>
      </p:sp>
      <p:sp>
        <p:nvSpPr>
          <p:cNvPr id="3" name="Content Placeholder 2"/>
          <p:cNvSpPr>
            <a:spLocks noGrp="1"/>
          </p:cNvSpPr>
          <p:nvPr>
            <p:ph idx="1"/>
          </p:nvPr>
        </p:nvSpPr>
        <p:spPr>
          <a:xfrm>
            <a:off x="838200" y="838200"/>
            <a:ext cx="10515600" cy="6019800"/>
          </a:xfrm>
        </p:spPr>
        <p:txBody>
          <a:bodyPr>
            <a:normAutofit lnSpcReduction="10000"/>
          </a:bodyPr>
          <a:lstStyle/>
          <a:p>
            <a:r>
              <a:rPr lang="en-US" dirty="0"/>
              <a:t>A professor of electrical engineering at a West Coast university was found to have used $144,000 in grant funds to purchase electronic equipment from a company he owned in part. He had not revealed his ownership to the university.</a:t>
            </a:r>
          </a:p>
          <a:p>
            <a:r>
              <a:rPr lang="en-US" dirty="0"/>
              <a:t>He had priced the equipment much higher than market value, and some of the purchased items were never received. The required documentation had been submitted as required but with falsified content. </a:t>
            </a:r>
          </a:p>
          <a:p>
            <a:r>
              <a:rPr lang="en-US" dirty="0"/>
              <a:t>In addition, the professor had hired a brother and two sisters for several years, concealing their relationship to him in violation of </a:t>
            </a:r>
            <a:r>
              <a:rPr lang="en-US" dirty="0" err="1"/>
              <a:t>antinepotism</a:t>
            </a:r>
            <a:r>
              <a:rPr lang="en-US" dirty="0"/>
              <a:t> rules and paying them for research work they did not perform.</a:t>
            </a:r>
          </a:p>
          <a:p>
            <a:r>
              <a:rPr lang="en-US" dirty="0"/>
              <a:t> All told, he had defrauded the university of at least $500,000 in research funds. Needless to say, the professor lost his university position and had to stand trial in civil court when an internal audit and subsequent hearings revealed these irregularities.</a:t>
            </a:r>
          </a:p>
        </p:txBody>
      </p:sp>
    </p:spTree>
    <p:extLst>
      <p:ext uri="{BB962C8B-B14F-4D97-AF65-F5344CB8AC3E}">
        <p14:creationId xmlns:p14="http://schemas.microsoft.com/office/powerpoint/2010/main" val="50682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725"/>
            <a:ext cx="10515600" cy="838835"/>
          </a:xfrm>
        </p:spPr>
        <p:txBody>
          <a:bodyPr/>
          <a:lstStyle/>
          <a:p>
            <a:r>
              <a:rPr lang="en-US" dirty="0"/>
              <a:t>Conflict of Interest</a:t>
            </a:r>
          </a:p>
        </p:txBody>
      </p:sp>
      <p:sp>
        <p:nvSpPr>
          <p:cNvPr id="3" name="Content Placeholder 2"/>
          <p:cNvSpPr>
            <a:spLocks noGrp="1"/>
          </p:cNvSpPr>
          <p:nvPr>
            <p:ph idx="1"/>
          </p:nvPr>
        </p:nvSpPr>
        <p:spPr>
          <a:xfrm>
            <a:off x="919655" y="1203960"/>
            <a:ext cx="10515600" cy="5654040"/>
          </a:xfrm>
        </p:spPr>
        <p:txBody>
          <a:bodyPr>
            <a:normAutofit fontScale="92500"/>
          </a:bodyPr>
          <a:lstStyle/>
          <a:p>
            <a:r>
              <a:rPr lang="en-US" b="1" dirty="0">
                <a:solidFill>
                  <a:srgbClr val="FF0000"/>
                </a:solidFill>
              </a:rPr>
              <a:t>Insider Information. </a:t>
            </a:r>
          </a:p>
          <a:p>
            <a:r>
              <a:rPr lang="en-US" dirty="0"/>
              <a:t>An especially sensitive conflict of interest consists in using “inside” information to gain an advantage or set up a business opportunity for oneself, one’s family, or one’s friends. The information might concern one’s own company or another company with which one does business. </a:t>
            </a:r>
          </a:p>
          <a:p>
            <a:r>
              <a:rPr lang="en-US" dirty="0">
                <a:solidFill>
                  <a:srgbClr val="008000"/>
                </a:solidFill>
              </a:rPr>
              <a:t>For example, engineers might tell their friends about the impending announcement of a revolutionary invention, which they have been perfecting, or of their corporation’s plans for a merger that will greatly improve the worth of another company’s stock. In doing so, they give those friends an edge on an investment promising high returns.</a:t>
            </a:r>
          </a:p>
          <a:p>
            <a:r>
              <a:rPr lang="en-US" dirty="0"/>
              <a:t>Owning stock in the company for which one works is of course not objectionable, and this is often encouraged by employers. But that ownership should be based on the same information available to the general public.</a:t>
            </a:r>
          </a:p>
        </p:txBody>
      </p:sp>
    </p:spTree>
    <p:extLst>
      <p:ext uri="{BB962C8B-B14F-4D97-AF65-F5344CB8AC3E}">
        <p14:creationId xmlns:p14="http://schemas.microsoft.com/office/powerpoint/2010/main" val="1562697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7965"/>
            <a:ext cx="10515600" cy="915035"/>
          </a:xfrm>
        </p:spPr>
        <p:txBody>
          <a:bodyPr/>
          <a:lstStyle/>
          <a:p>
            <a:r>
              <a:rPr lang="en-US" dirty="0"/>
              <a:t>Conflict of Interest</a:t>
            </a:r>
          </a:p>
        </p:txBody>
      </p:sp>
      <p:sp>
        <p:nvSpPr>
          <p:cNvPr id="3" name="Content Placeholder 2"/>
          <p:cNvSpPr>
            <a:spLocks noGrp="1"/>
          </p:cNvSpPr>
          <p:nvPr>
            <p:ph sz="half" idx="1"/>
          </p:nvPr>
        </p:nvSpPr>
        <p:spPr>
          <a:xfrm>
            <a:off x="838200" y="1280160"/>
            <a:ext cx="5181600" cy="5425439"/>
          </a:xfrm>
        </p:spPr>
        <p:txBody>
          <a:bodyPr>
            <a:normAutofit/>
          </a:bodyPr>
          <a:lstStyle/>
          <a:p>
            <a:r>
              <a:rPr lang="en-US" b="1" dirty="0">
                <a:solidFill>
                  <a:srgbClr val="FF0000"/>
                </a:solidFill>
              </a:rPr>
              <a:t>Insider Information. </a:t>
            </a:r>
          </a:p>
          <a:p>
            <a:r>
              <a:rPr lang="en-US" dirty="0">
                <a:solidFill>
                  <a:srgbClr val="008000"/>
                </a:solidFill>
              </a:rPr>
              <a:t>IESL Clause 6.8</a:t>
            </a:r>
          </a:p>
          <a:p>
            <a:r>
              <a:rPr lang="en-US" dirty="0">
                <a:solidFill>
                  <a:srgbClr val="008000"/>
                </a:solidFill>
              </a:rPr>
              <a:t>Shall</a:t>
            </a:r>
            <a:r>
              <a:rPr lang="en-US" spc="-15" dirty="0">
                <a:solidFill>
                  <a:srgbClr val="008000"/>
                </a:solidFill>
              </a:rPr>
              <a:t> </a:t>
            </a:r>
            <a:r>
              <a:rPr lang="en-US" spc="5" dirty="0">
                <a:solidFill>
                  <a:srgbClr val="008000"/>
                </a:solidFill>
              </a:rPr>
              <a:t>n</a:t>
            </a:r>
            <a:r>
              <a:rPr lang="en-US" spc="-5" dirty="0">
                <a:solidFill>
                  <a:srgbClr val="008000"/>
                </a:solidFill>
              </a:rPr>
              <a:t>e</a:t>
            </a:r>
            <a:r>
              <a:rPr lang="en-US" dirty="0">
                <a:solidFill>
                  <a:srgbClr val="008000"/>
                </a:solidFill>
              </a:rPr>
              <a:t>it</a:t>
            </a:r>
            <a:r>
              <a:rPr lang="en-US" spc="5" dirty="0">
                <a:solidFill>
                  <a:srgbClr val="008000"/>
                </a:solidFill>
              </a:rPr>
              <a:t>h</a:t>
            </a:r>
            <a:r>
              <a:rPr lang="en-US" spc="-5" dirty="0">
                <a:solidFill>
                  <a:srgbClr val="008000"/>
                </a:solidFill>
              </a:rPr>
              <a:t>e</a:t>
            </a:r>
            <a:r>
              <a:rPr lang="en-US" dirty="0">
                <a:solidFill>
                  <a:srgbClr val="008000"/>
                </a:solidFill>
              </a:rPr>
              <a:t>r</a:t>
            </a:r>
            <a:r>
              <a:rPr lang="en-US" spc="-30" dirty="0">
                <a:solidFill>
                  <a:srgbClr val="008000"/>
                </a:solidFill>
              </a:rPr>
              <a:t> </a:t>
            </a:r>
            <a:r>
              <a:rPr lang="en-US" spc="5" dirty="0">
                <a:solidFill>
                  <a:srgbClr val="008000"/>
                </a:solidFill>
              </a:rPr>
              <a:t>d</a:t>
            </a:r>
            <a:r>
              <a:rPr lang="en-US" dirty="0">
                <a:solidFill>
                  <a:srgbClr val="008000"/>
                </a:solidFill>
              </a:rPr>
              <a:t>i</a:t>
            </a:r>
            <a:r>
              <a:rPr lang="en-US" spc="-5" dirty="0">
                <a:solidFill>
                  <a:srgbClr val="008000"/>
                </a:solidFill>
              </a:rPr>
              <a:t>s</a:t>
            </a:r>
            <a:r>
              <a:rPr lang="en-US" dirty="0">
                <a:solidFill>
                  <a:srgbClr val="008000"/>
                </a:solidFill>
              </a:rPr>
              <a:t>cl</a:t>
            </a:r>
            <a:r>
              <a:rPr lang="en-US" spc="10" dirty="0">
                <a:solidFill>
                  <a:srgbClr val="008000"/>
                </a:solidFill>
              </a:rPr>
              <a:t>o</a:t>
            </a:r>
            <a:r>
              <a:rPr lang="en-US" spc="-5" dirty="0">
                <a:solidFill>
                  <a:srgbClr val="008000"/>
                </a:solidFill>
              </a:rPr>
              <a:t>s</a:t>
            </a:r>
            <a:r>
              <a:rPr lang="en-US" dirty="0">
                <a:solidFill>
                  <a:srgbClr val="008000"/>
                </a:solidFill>
              </a:rPr>
              <a:t>e</a:t>
            </a:r>
            <a:r>
              <a:rPr lang="en-US" spc="-35" dirty="0">
                <a:solidFill>
                  <a:srgbClr val="008000"/>
                </a:solidFill>
              </a:rPr>
              <a:t> </a:t>
            </a:r>
            <a:r>
              <a:rPr lang="en-US" spc="5" dirty="0">
                <a:solidFill>
                  <a:srgbClr val="008000"/>
                </a:solidFill>
              </a:rPr>
              <a:t>n</a:t>
            </a:r>
            <a:r>
              <a:rPr lang="en-US" dirty="0">
                <a:solidFill>
                  <a:srgbClr val="008000"/>
                </a:solidFill>
              </a:rPr>
              <a:t>or</a:t>
            </a:r>
            <a:r>
              <a:rPr lang="en-US" spc="-15" dirty="0">
                <a:solidFill>
                  <a:srgbClr val="008000"/>
                </a:solidFill>
              </a:rPr>
              <a:t> </a:t>
            </a:r>
            <a:r>
              <a:rPr lang="en-US" spc="5" dirty="0">
                <a:solidFill>
                  <a:srgbClr val="008000"/>
                </a:solidFill>
              </a:rPr>
              <a:t>us</a:t>
            </a:r>
            <a:r>
              <a:rPr lang="en-US" dirty="0">
                <a:solidFill>
                  <a:srgbClr val="008000"/>
                </a:solidFill>
              </a:rPr>
              <a:t>e</a:t>
            </a:r>
            <a:r>
              <a:rPr lang="en-US" spc="-5" dirty="0">
                <a:solidFill>
                  <a:srgbClr val="008000"/>
                </a:solidFill>
              </a:rPr>
              <a:t> </a:t>
            </a:r>
            <a:r>
              <a:rPr lang="en-US" dirty="0">
                <a:solidFill>
                  <a:srgbClr val="008000"/>
                </a:solidFill>
              </a:rPr>
              <a:t>co</a:t>
            </a:r>
            <a:r>
              <a:rPr lang="en-US" spc="5" dirty="0">
                <a:solidFill>
                  <a:srgbClr val="008000"/>
                </a:solidFill>
              </a:rPr>
              <a:t>n</a:t>
            </a:r>
            <a:r>
              <a:rPr lang="en-US" spc="-5" dirty="0">
                <a:solidFill>
                  <a:srgbClr val="008000"/>
                </a:solidFill>
              </a:rPr>
              <a:t>f</a:t>
            </a:r>
            <a:r>
              <a:rPr lang="en-US" dirty="0">
                <a:solidFill>
                  <a:srgbClr val="008000"/>
                </a:solidFill>
              </a:rPr>
              <a:t>i</a:t>
            </a:r>
            <a:r>
              <a:rPr lang="en-US" spc="5" dirty="0">
                <a:solidFill>
                  <a:srgbClr val="008000"/>
                </a:solidFill>
              </a:rPr>
              <a:t>d</a:t>
            </a:r>
            <a:r>
              <a:rPr lang="en-US" spc="-5" dirty="0">
                <a:solidFill>
                  <a:srgbClr val="008000"/>
                </a:solidFill>
              </a:rPr>
              <a:t>e</a:t>
            </a:r>
            <a:r>
              <a:rPr lang="en-US" spc="5" dirty="0">
                <a:solidFill>
                  <a:srgbClr val="008000"/>
                </a:solidFill>
              </a:rPr>
              <a:t>n</a:t>
            </a:r>
            <a:r>
              <a:rPr lang="en-US" dirty="0">
                <a:solidFill>
                  <a:srgbClr val="008000"/>
                </a:solidFill>
              </a:rPr>
              <a:t>ti</a:t>
            </a:r>
            <a:r>
              <a:rPr lang="en-US" spc="5" dirty="0">
                <a:solidFill>
                  <a:srgbClr val="008000"/>
                </a:solidFill>
              </a:rPr>
              <a:t>a</a:t>
            </a:r>
            <a:r>
              <a:rPr lang="en-US" dirty="0">
                <a:solidFill>
                  <a:srgbClr val="008000"/>
                </a:solidFill>
              </a:rPr>
              <a:t>l</a:t>
            </a:r>
            <a:r>
              <a:rPr lang="en-US" spc="-50" dirty="0">
                <a:solidFill>
                  <a:srgbClr val="008000"/>
                </a:solidFill>
              </a:rPr>
              <a:t> </a:t>
            </a:r>
            <a:r>
              <a:rPr lang="en-US" dirty="0">
                <a:solidFill>
                  <a:srgbClr val="008000"/>
                </a:solidFill>
              </a:rPr>
              <a:t>i</a:t>
            </a:r>
            <a:r>
              <a:rPr lang="en-US" spc="5" dirty="0">
                <a:solidFill>
                  <a:srgbClr val="008000"/>
                </a:solidFill>
              </a:rPr>
              <a:t>n</a:t>
            </a:r>
            <a:r>
              <a:rPr lang="en-US" spc="-5" dirty="0">
                <a:solidFill>
                  <a:srgbClr val="008000"/>
                </a:solidFill>
              </a:rPr>
              <a:t>f</a:t>
            </a:r>
            <a:r>
              <a:rPr lang="en-US" dirty="0">
                <a:solidFill>
                  <a:srgbClr val="008000"/>
                </a:solidFill>
              </a:rPr>
              <a:t>orma</a:t>
            </a:r>
            <a:r>
              <a:rPr lang="en-US" spc="5" dirty="0">
                <a:solidFill>
                  <a:srgbClr val="008000"/>
                </a:solidFill>
              </a:rPr>
              <a:t>t</a:t>
            </a:r>
            <a:r>
              <a:rPr lang="en-US" dirty="0">
                <a:solidFill>
                  <a:srgbClr val="008000"/>
                </a:solidFill>
              </a:rPr>
              <a:t>ion</a:t>
            </a:r>
            <a:r>
              <a:rPr lang="en-US" spc="-45" dirty="0">
                <a:solidFill>
                  <a:srgbClr val="008000"/>
                </a:solidFill>
              </a:rPr>
              <a:t> </a:t>
            </a:r>
            <a:r>
              <a:rPr lang="en-US" dirty="0">
                <a:solidFill>
                  <a:srgbClr val="008000"/>
                </a:solidFill>
              </a:rPr>
              <a:t>g</a:t>
            </a:r>
            <a:r>
              <a:rPr lang="en-US" spc="5" dirty="0">
                <a:solidFill>
                  <a:srgbClr val="008000"/>
                </a:solidFill>
              </a:rPr>
              <a:t>a</a:t>
            </a:r>
            <a:r>
              <a:rPr lang="en-US" dirty="0">
                <a:solidFill>
                  <a:srgbClr val="008000"/>
                </a:solidFill>
              </a:rPr>
              <a:t>i</a:t>
            </a:r>
            <a:r>
              <a:rPr lang="en-US" spc="15" dirty="0">
                <a:solidFill>
                  <a:srgbClr val="008000"/>
                </a:solidFill>
              </a:rPr>
              <a:t>n</a:t>
            </a:r>
            <a:r>
              <a:rPr lang="en-US" spc="-5" dirty="0">
                <a:solidFill>
                  <a:srgbClr val="008000"/>
                </a:solidFill>
              </a:rPr>
              <a:t>e</a:t>
            </a:r>
            <a:r>
              <a:rPr lang="en-US" dirty="0">
                <a:solidFill>
                  <a:srgbClr val="008000"/>
                </a:solidFill>
              </a:rPr>
              <a:t>d</a:t>
            </a:r>
            <a:r>
              <a:rPr lang="en-US" spc="-20" dirty="0">
                <a:solidFill>
                  <a:srgbClr val="008000"/>
                </a:solidFill>
              </a:rPr>
              <a:t> </a:t>
            </a:r>
            <a:r>
              <a:rPr lang="en-US" dirty="0">
                <a:solidFill>
                  <a:srgbClr val="008000"/>
                </a:solidFill>
              </a:rPr>
              <a:t>in</a:t>
            </a:r>
            <a:r>
              <a:rPr lang="en-US" spc="-5" dirty="0">
                <a:solidFill>
                  <a:srgbClr val="008000"/>
                </a:solidFill>
              </a:rPr>
              <a:t> </a:t>
            </a:r>
            <a:r>
              <a:rPr lang="en-US" spc="5" dirty="0">
                <a:solidFill>
                  <a:srgbClr val="008000"/>
                </a:solidFill>
              </a:rPr>
              <a:t>th</a:t>
            </a:r>
            <a:r>
              <a:rPr lang="en-US" dirty="0">
                <a:solidFill>
                  <a:srgbClr val="008000"/>
                </a:solidFill>
              </a:rPr>
              <a:t>e</a:t>
            </a:r>
            <a:r>
              <a:rPr lang="en-US" spc="-20" dirty="0">
                <a:solidFill>
                  <a:srgbClr val="008000"/>
                </a:solidFill>
              </a:rPr>
              <a:t> </a:t>
            </a:r>
            <a:r>
              <a:rPr lang="en-US" dirty="0">
                <a:solidFill>
                  <a:srgbClr val="008000"/>
                </a:solidFill>
              </a:rPr>
              <a:t>c</a:t>
            </a:r>
            <a:r>
              <a:rPr lang="en-US" spc="5" dirty="0">
                <a:solidFill>
                  <a:srgbClr val="008000"/>
                </a:solidFill>
              </a:rPr>
              <a:t>ou</a:t>
            </a:r>
            <a:r>
              <a:rPr lang="en-US" dirty="0">
                <a:solidFill>
                  <a:srgbClr val="008000"/>
                </a:solidFill>
              </a:rPr>
              <a:t>r</a:t>
            </a:r>
            <a:r>
              <a:rPr lang="en-US" spc="-5" dirty="0">
                <a:solidFill>
                  <a:srgbClr val="008000"/>
                </a:solidFill>
              </a:rPr>
              <a:t>s</a:t>
            </a:r>
            <a:r>
              <a:rPr lang="en-US" dirty="0">
                <a:solidFill>
                  <a:srgbClr val="008000"/>
                </a:solidFill>
              </a:rPr>
              <a:t>e</a:t>
            </a:r>
            <a:r>
              <a:rPr lang="en-US" spc="-30" dirty="0">
                <a:solidFill>
                  <a:srgbClr val="008000"/>
                </a:solidFill>
              </a:rPr>
              <a:t> </a:t>
            </a:r>
            <a:r>
              <a:rPr lang="en-US" spc="5" dirty="0">
                <a:solidFill>
                  <a:srgbClr val="008000"/>
                </a:solidFill>
              </a:rPr>
              <a:t>o</a:t>
            </a:r>
            <a:r>
              <a:rPr lang="en-US" dirty="0">
                <a:solidFill>
                  <a:srgbClr val="008000"/>
                </a:solidFill>
              </a:rPr>
              <a:t>f</a:t>
            </a:r>
            <a:r>
              <a:rPr lang="en-US" spc="-15" dirty="0">
                <a:solidFill>
                  <a:srgbClr val="008000"/>
                </a:solidFill>
              </a:rPr>
              <a:t> </a:t>
            </a:r>
            <a:r>
              <a:rPr lang="en-US" spc="5" dirty="0">
                <a:solidFill>
                  <a:srgbClr val="008000"/>
                </a:solidFill>
              </a:rPr>
              <a:t>th</a:t>
            </a:r>
            <a:r>
              <a:rPr lang="en-US" spc="-5" dirty="0">
                <a:solidFill>
                  <a:srgbClr val="008000"/>
                </a:solidFill>
              </a:rPr>
              <a:t>e</a:t>
            </a:r>
            <a:r>
              <a:rPr lang="en-US" dirty="0">
                <a:solidFill>
                  <a:srgbClr val="008000"/>
                </a:solidFill>
              </a:rPr>
              <a:t>ir</a:t>
            </a:r>
            <a:r>
              <a:rPr lang="en-US" spc="-5" dirty="0">
                <a:solidFill>
                  <a:srgbClr val="008000"/>
                </a:solidFill>
              </a:rPr>
              <a:t> em</a:t>
            </a:r>
            <a:r>
              <a:rPr lang="en-US" spc="5" dirty="0">
                <a:solidFill>
                  <a:srgbClr val="008000"/>
                </a:solidFill>
              </a:rPr>
              <a:t>p</a:t>
            </a:r>
            <a:r>
              <a:rPr lang="en-US" spc="10" dirty="0">
                <a:solidFill>
                  <a:srgbClr val="008000"/>
                </a:solidFill>
              </a:rPr>
              <a:t>l</a:t>
            </a:r>
            <a:r>
              <a:rPr lang="en-US" dirty="0">
                <a:solidFill>
                  <a:srgbClr val="008000"/>
                </a:solidFill>
              </a:rPr>
              <a:t>o</a:t>
            </a:r>
            <a:r>
              <a:rPr lang="en-US" spc="5" dirty="0">
                <a:solidFill>
                  <a:srgbClr val="008000"/>
                </a:solidFill>
              </a:rPr>
              <a:t>y</a:t>
            </a:r>
            <a:r>
              <a:rPr lang="en-US" spc="-5" dirty="0">
                <a:solidFill>
                  <a:srgbClr val="008000"/>
                </a:solidFill>
              </a:rPr>
              <a:t>me</a:t>
            </a:r>
            <a:r>
              <a:rPr lang="en-US" spc="5" dirty="0">
                <a:solidFill>
                  <a:srgbClr val="008000"/>
                </a:solidFill>
              </a:rPr>
              <a:t>n</a:t>
            </a:r>
            <a:r>
              <a:rPr lang="en-US" dirty="0">
                <a:solidFill>
                  <a:srgbClr val="008000"/>
                </a:solidFill>
              </a:rPr>
              <a:t>t</a:t>
            </a:r>
            <a:r>
              <a:rPr lang="en-US" spc="-45" dirty="0">
                <a:solidFill>
                  <a:srgbClr val="008000"/>
                </a:solidFill>
              </a:rPr>
              <a:t> </a:t>
            </a:r>
            <a:r>
              <a:rPr lang="en-US" spc="-5" dirty="0">
                <a:solidFill>
                  <a:srgbClr val="008000"/>
                </a:solidFill>
              </a:rPr>
              <a:t>w</a:t>
            </a:r>
            <a:r>
              <a:rPr lang="en-US" dirty="0">
                <a:solidFill>
                  <a:srgbClr val="008000"/>
                </a:solidFill>
              </a:rPr>
              <a:t>it</a:t>
            </a:r>
            <a:r>
              <a:rPr lang="en-US" spc="5" dirty="0">
                <a:solidFill>
                  <a:srgbClr val="008000"/>
                </a:solidFill>
              </a:rPr>
              <a:t>h</a:t>
            </a:r>
            <a:r>
              <a:rPr lang="en-US" dirty="0">
                <a:solidFill>
                  <a:srgbClr val="008000"/>
                </a:solidFill>
              </a:rPr>
              <a:t>o</a:t>
            </a:r>
            <a:r>
              <a:rPr lang="en-US" spc="5" dirty="0">
                <a:solidFill>
                  <a:srgbClr val="008000"/>
                </a:solidFill>
              </a:rPr>
              <a:t>u</a:t>
            </a:r>
            <a:r>
              <a:rPr lang="en-US" dirty="0">
                <a:solidFill>
                  <a:srgbClr val="008000"/>
                </a:solidFill>
              </a:rPr>
              <a:t>t </a:t>
            </a:r>
            <a:r>
              <a:rPr lang="en-US" spc="-5" dirty="0">
                <a:solidFill>
                  <a:srgbClr val="008000"/>
                </a:solidFill>
              </a:rPr>
              <a:t>e</a:t>
            </a:r>
            <a:r>
              <a:rPr lang="en-US" dirty="0">
                <a:solidFill>
                  <a:srgbClr val="008000"/>
                </a:solidFill>
              </a:rPr>
              <a:t>x</a:t>
            </a:r>
            <a:r>
              <a:rPr lang="en-US" spc="5" dirty="0">
                <a:solidFill>
                  <a:srgbClr val="008000"/>
                </a:solidFill>
              </a:rPr>
              <a:t>p</a:t>
            </a:r>
            <a:r>
              <a:rPr lang="en-US" dirty="0">
                <a:solidFill>
                  <a:srgbClr val="008000"/>
                </a:solidFill>
              </a:rPr>
              <a:t>r</a:t>
            </a:r>
            <a:r>
              <a:rPr lang="en-US" spc="-5" dirty="0">
                <a:solidFill>
                  <a:srgbClr val="008000"/>
                </a:solidFill>
              </a:rPr>
              <a:t>e</a:t>
            </a:r>
            <a:r>
              <a:rPr lang="en-US" spc="5" dirty="0">
                <a:solidFill>
                  <a:srgbClr val="008000"/>
                </a:solidFill>
              </a:rPr>
              <a:t>s</a:t>
            </a:r>
            <a:r>
              <a:rPr lang="en-US" dirty="0">
                <a:solidFill>
                  <a:srgbClr val="008000"/>
                </a:solidFill>
              </a:rPr>
              <a:t>s</a:t>
            </a:r>
            <a:r>
              <a:rPr lang="en-US" spc="-35" dirty="0">
                <a:solidFill>
                  <a:srgbClr val="008000"/>
                </a:solidFill>
              </a:rPr>
              <a:t> </a:t>
            </a:r>
            <a:r>
              <a:rPr lang="en-US" spc="5" dirty="0">
                <a:solidFill>
                  <a:srgbClr val="008000"/>
                </a:solidFill>
              </a:rPr>
              <a:t>p</a:t>
            </a:r>
            <a:r>
              <a:rPr lang="en-US" spc="-5" dirty="0">
                <a:solidFill>
                  <a:srgbClr val="008000"/>
                </a:solidFill>
              </a:rPr>
              <a:t>e</a:t>
            </a:r>
            <a:r>
              <a:rPr lang="en-US" spc="10" dirty="0">
                <a:solidFill>
                  <a:srgbClr val="008000"/>
                </a:solidFill>
              </a:rPr>
              <a:t>r</a:t>
            </a:r>
            <a:r>
              <a:rPr lang="en-US" spc="-5" dirty="0">
                <a:solidFill>
                  <a:srgbClr val="008000"/>
                </a:solidFill>
              </a:rPr>
              <a:t>m</a:t>
            </a:r>
            <a:r>
              <a:rPr lang="en-US" spc="10" dirty="0">
                <a:solidFill>
                  <a:srgbClr val="008000"/>
                </a:solidFill>
              </a:rPr>
              <a:t>i</a:t>
            </a:r>
            <a:r>
              <a:rPr lang="en-US" spc="-5" dirty="0">
                <a:solidFill>
                  <a:srgbClr val="008000"/>
                </a:solidFill>
              </a:rPr>
              <a:t>ss</a:t>
            </a:r>
            <a:r>
              <a:rPr lang="en-US" dirty="0">
                <a:solidFill>
                  <a:srgbClr val="008000"/>
                </a:solidFill>
              </a:rPr>
              <a:t>io</a:t>
            </a:r>
            <a:r>
              <a:rPr lang="en-US" spc="5" dirty="0">
                <a:solidFill>
                  <a:srgbClr val="008000"/>
                </a:solidFill>
              </a:rPr>
              <a:t>n</a:t>
            </a:r>
            <a:r>
              <a:rPr lang="en-US" dirty="0">
                <a:solidFill>
                  <a:srgbClr val="008000"/>
                </a:solidFill>
              </a:rPr>
              <a:t>,</a:t>
            </a:r>
            <a:r>
              <a:rPr lang="en-US" spc="-45" dirty="0">
                <a:solidFill>
                  <a:srgbClr val="008000"/>
                </a:solidFill>
              </a:rPr>
              <a:t> </a:t>
            </a:r>
            <a:r>
              <a:rPr lang="en-US" dirty="0">
                <a:solidFill>
                  <a:srgbClr val="008000"/>
                </a:solidFill>
              </a:rPr>
              <a:t>ex</a:t>
            </a:r>
            <a:r>
              <a:rPr lang="en-US" spc="10" dirty="0">
                <a:solidFill>
                  <a:srgbClr val="008000"/>
                </a:solidFill>
              </a:rPr>
              <a:t>c</a:t>
            </a:r>
            <a:r>
              <a:rPr lang="en-US" spc="-5" dirty="0">
                <a:solidFill>
                  <a:srgbClr val="008000"/>
                </a:solidFill>
              </a:rPr>
              <a:t>e</a:t>
            </a:r>
            <a:r>
              <a:rPr lang="en-US" spc="5" dirty="0">
                <a:solidFill>
                  <a:srgbClr val="008000"/>
                </a:solidFill>
              </a:rPr>
              <a:t>p</a:t>
            </a:r>
            <a:r>
              <a:rPr lang="en-US" dirty="0">
                <a:solidFill>
                  <a:srgbClr val="008000"/>
                </a:solidFill>
              </a:rPr>
              <a:t>t</a:t>
            </a:r>
            <a:r>
              <a:rPr lang="en-US" spc="-20" dirty="0">
                <a:solidFill>
                  <a:srgbClr val="008000"/>
                </a:solidFill>
              </a:rPr>
              <a:t> </a:t>
            </a:r>
            <a:r>
              <a:rPr lang="en-US" spc="5" dirty="0">
                <a:solidFill>
                  <a:srgbClr val="008000"/>
                </a:solidFill>
              </a:rPr>
              <a:t>wh</a:t>
            </a:r>
            <a:r>
              <a:rPr lang="en-US" spc="-5" dirty="0">
                <a:solidFill>
                  <a:srgbClr val="008000"/>
                </a:solidFill>
              </a:rPr>
              <a:t>e</a:t>
            </a:r>
            <a:r>
              <a:rPr lang="en-US" dirty="0">
                <a:solidFill>
                  <a:srgbClr val="008000"/>
                </a:solidFill>
              </a:rPr>
              <a:t>re</a:t>
            </a:r>
            <a:r>
              <a:rPr lang="en-US" spc="-30" dirty="0">
                <a:solidFill>
                  <a:srgbClr val="008000"/>
                </a:solidFill>
              </a:rPr>
              <a:t> </a:t>
            </a:r>
            <a:r>
              <a:rPr lang="en-US" spc="5" dirty="0">
                <a:solidFill>
                  <a:srgbClr val="008000"/>
                </a:solidFill>
              </a:rPr>
              <a:t>pub</a:t>
            </a:r>
            <a:r>
              <a:rPr lang="en-US" dirty="0">
                <a:solidFill>
                  <a:srgbClr val="008000"/>
                </a:solidFill>
              </a:rPr>
              <a:t>lic</a:t>
            </a:r>
            <a:r>
              <a:rPr lang="en-US" spc="-30" dirty="0">
                <a:solidFill>
                  <a:srgbClr val="008000"/>
                </a:solidFill>
              </a:rPr>
              <a:t> </a:t>
            </a:r>
            <a:r>
              <a:rPr lang="en-US" dirty="0">
                <a:solidFill>
                  <a:srgbClr val="008000"/>
                </a:solidFill>
              </a:rPr>
              <a:t>i</a:t>
            </a:r>
            <a:r>
              <a:rPr lang="en-US" spc="5" dirty="0">
                <a:solidFill>
                  <a:srgbClr val="008000"/>
                </a:solidFill>
              </a:rPr>
              <a:t>n</a:t>
            </a:r>
            <a:r>
              <a:rPr lang="en-US" dirty="0">
                <a:solidFill>
                  <a:srgbClr val="008000"/>
                </a:solidFill>
              </a:rPr>
              <a:t>ter</a:t>
            </a:r>
            <a:r>
              <a:rPr lang="en-US" spc="5" dirty="0">
                <a:solidFill>
                  <a:srgbClr val="008000"/>
                </a:solidFill>
              </a:rPr>
              <a:t>e</a:t>
            </a:r>
            <a:r>
              <a:rPr lang="en-US" spc="-5" dirty="0">
                <a:solidFill>
                  <a:srgbClr val="008000"/>
                </a:solidFill>
              </a:rPr>
              <a:t>s</a:t>
            </a:r>
            <a:r>
              <a:rPr lang="en-US" dirty="0">
                <a:solidFill>
                  <a:srgbClr val="008000"/>
                </a:solidFill>
              </a:rPr>
              <a:t>t</a:t>
            </a:r>
            <a:r>
              <a:rPr lang="en-US" spc="-25" dirty="0">
                <a:solidFill>
                  <a:srgbClr val="008000"/>
                </a:solidFill>
              </a:rPr>
              <a:t> </a:t>
            </a:r>
            <a:r>
              <a:rPr lang="en-US" dirty="0">
                <a:solidFill>
                  <a:srgbClr val="008000"/>
                </a:solidFill>
              </a:rPr>
              <a:t>a</a:t>
            </a:r>
            <a:r>
              <a:rPr lang="en-US" spc="5" dirty="0">
                <a:solidFill>
                  <a:srgbClr val="008000"/>
                </a:solidFill>
              </a:rPr>
              <a:t>n</a:t>
            </a:r>
            <a:r>
              <a:rPr lang="en-US" dirty="0">
                <a:solidFill>
                  <a:srgbClr val="008000"/>
                </a:solidFill>
              </a:rPr>
              <a:t>d</a:t>
            </a:r>
            <a:r>
              <a:rPr lang="en-US" spc="-10" dirty="0">
                <a:solidFill>
                  <a:srgbClr val="008000"/>
                </a:solidFill>
              </a:rPr>
              <a:t> </a:t>
            </a:r>
            <a:r>
              <a:rPr lang="en-US" dirty="0">
                <a:solidFill>
                  <a:srgbClr val="008000"/>
                </a:solidFill>
              </a:rPr>
              <a:t>sa</a:t>
            </a:r>
            <a:r>
              <a:rPr lang="en-US" spc="-5" dirty="0">
                <a:solidFill>
                  <a:srgbClr val="008000"/>
                </a:solidFill>
              </a:rPr>
              <a:t>fe</a:t>
            </a:r>
            <a:r>
              <a:rPr lang="en-US" spc="15" dirty="0">
                <a:solidFill>
                  <a:srgbClr val="008000"/>
                </a:solidFill>
              </a:rPr>
              <a:t>t</a:t>
            </a:r>
            <a:r>
              <a:rPr lang="en-US" dirty="0">
                <a:solidFill>
                  <a:srgbClr val="008000"/>
                </a:solidFill>
              </a:rPr>
              <a:t>y</a:t>
            </a:r>
            <a:r>
              <a:rPr lang="en-US" spc="-20" dirty="0">
                <a:solidFill>
                  <a:srgbClr val="008000"/>
                </a:solidFill>
              </a:rPr>
              <a:t> </a:t>
            </a:r>
            <a:r>
              <a:rPr lang="en-US" spc="5" dirty="0">
                <a:solidFill>
                  <a:srgbClr val="008000"/>
                </a:solidFill>
              </a:rPr>
              <a:t>a</a:t>
            </a:r>
            <a:r>
              <a:rPr lang="en-US" dirty="0">
                <a:solidFill>
                  <a:srgbClr val="008000"/>
                </a:solidFill>
              </a:rPr>
              <a:t>re</a:t>
            </a:r>
            <a:r>
              <a:rPr lang="en-US" spc="-20" dirty="0">
                <a:solidFill>
                  <a:srgbClr val="008000"/>
                </a:solidFill>
              </a:rPr>
              <a:t> </a:t>
            </a:r>
            <a:r>
              <a:rPr lang="en-US" dirty="0">
                <a:solidFill>
                  <a:srgbClr val="008000"/>
                </a:solidFill>
              </a:rPr>
              <a:t>i</a:t>
            </a:r>
            <a:r>
              <a:rPr lang="en-US" spc="5" dirty="0">
                <a:solidFill>
                  <a:srgbClr val="008000"/>
                </a:solidFill>
              </a:rPr>
              <a:t>n</a:t>
            </a:r>
            <a:r>
              <a:rPr lang="en-US" spc="-5" dirty="0">
                <a:solidFill>
                  <a:srgbClr val="008000"/>
                </a:solidFill>
              </a:rPr>
              <a:t>v</a:t>
            </a:r>
            <a:r>
              <a:rPr lang="en-US" dirty="0">
                <a:solidFill>
                  <a:srgbClr val="008000"/>
                </a:solidFill>
              </a:rPr>
              <a:t>ol</a:t>
            </a:r>
            <a:r>
              <a:rPr lang="en-US" spc="5" dirty="0">
                <a:solidFill>
                  <a:srgbClr val="008000"/>
                </a:solidFill>
              </a:rPr>
              <a:t>v</a:t>
            </a:r>
            <a:r>
              <a:rPr lang="en-US" spc="-5" dirty="0">
                <a:solidFill>
                  <a:srgbClr val="008000"/>
                </a:solidFill>
              </a:rPr>
              <a:t>e</a:t>
            </a:r>
            <a:r>
              <a:rPr lang="en-US" spc="5" dirty="0">
                <a:solidFill>
                  <a:srgbClr val="008000"/>
                </a:solidFill>
              </a:rPr>
              <a:t>d</a:t>
            </a:r>
            <a:r>
              <a:rPr lang="en-US" dirty="0">
                <a:solidFill>
                  <a:srgbClr val="008000"/>
                </a:solidFill>
              </a:rPr>
              <a:t>.</a:t>
            </a:r>
            <a:endParaRPr lang="en-US" dirty="0">
              <a:solidFill>
                <a:srgbClr val="008000"/>
              </a:solidFill>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pic>
        <p:nvPicPr>
          <p:cNvPr id="5" name="Content Placeholder 4"/>
          <p:cNvPicPr>
            <a:picLocks noGrp="1" noChangeAspect="1"/>
          </p:cNvPicPr>
          <p:nvPr>
            <p:ph sz="half" idx="2"/>
          </p:nvPr>
        </p:nvPicPr>
        <p:blipFill>
          <a:blip r:embed="rId3"/>
          <a:stretch>
            <a:fillRect/>
          </a:stretch>
        </p:blipFill>
        <p:spPr>
          <a:xfrm>
            <a:off x="6537960" y="1280160"/>
            <a:ext cx="4571999" cy="4374832"/>
          </a:xfrm>
          <a:prstGeom prst="rect">
            <a:avLst/>
          </a:prstGeom>
        </p:spPr>
      </p:pic>
    </p:spTree>
    <p:extLst>
      <p:ext uri="{BB962C8B-B14F-4D97-AF65-F5344CB8AC3E}">
        <p14:creationId xmlns:p14="http://schemas.microsoft.com/office/powerpoint/2010/main" val="1146389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1765"/>
            <a:ext cx="10515600" cy="808355"/>
          </a:xfrm>
        </p:spPr>
        <p:txBody>
          <a:bodyPr/>
          <a:lstStyle/>
          <a:p>
            <a:r>
              <a:rPr lang="en-US" dirty="0"/>
              <a:t>Teamwork</a:t>
            </a:r>
          </a:p>
        </p:txBody>
      </p:sp>
      <p:sp>
        <p:nvSpPr>
          <p:cNvPr id="3" name="Content Placeholder 2"/>
          <p:cNvSpPr>
            <a:spLocks noGrp="1"/>
          </p:cNvSpPr>
          <p:nvPr>
            <p:ph idx="1"/>
          </p:nvPr>
        </p:nvSpPr>
        <p:spPr>
          <a:xfrm>
            <a:off x="838200" y="960120"/>
            <a:ext cx="10515600" cy="5897880"/>
          </a:xfrm>
        </p:spPr>
        <p:txBody>
          <a:bodyPr>
            <a:normAutofit/>
          </a:bodyPr>
          <a:lstStyle/>
          <a:p>
            <a:r>
              <a:rPr lang="en-US" dirty="0"/>
              <a:t>Working effectively as an engineer requires the virtues of loyalty to employers and organizations, colleagues, respect for authority, and contributing to an </a:t>
            </a:r>
            <a:r>
              <a:rPr lang="en-US" b="1" dirty="0">
                <a:solidFill>
                  <a:schemeClr val="accent5">
                    <a:lumMod val="75000"/>
                  </a:schemeClr>
                </a:solidFill>
              </a:rPr>
              <a:t>ethical climate </a:t>
            </a:r>
            <a:r>
              <a:rPr lang="en-US" dirty="0"/>
              <a:t>within the organization. It also involves respect for the rights of engineers and others who work together to achieve common goals.</a:t>
            </a:r>
          </a:p>
          <a:p>
            <a:r>
              <a:rPr lang="en-US" dirty="0"/>
              <a:t>What are the defining features of an ethical corporate climate? </a:t>
            </a:r>
          </a:p>
          <a:p>
            <a:pPr marL="514350" indent="-514350">
              <a:buFont typeface="+mj-lt"/>
              <a:buAutoNum type="alphaLcPeriod"/>
            </a:pPr>
            <a:r>
              <a:rPr lang="en-US" sz="2400" dirty="0">
                <a:solidFill>
                  <a:srgbClr val="0070C0"/>
                </a:solidFill>
              </a:rPr>
              <a:t>ethical values in their full complexity are widely acknowledged and appreciated by managers and employees alike. </a:t>
            </a:r>
          </a:p>
          <a:p>
            <a:pPr marL="514350" indent="-514350">
              <a:buFont typeface="+mj-lt"/>
              <a:buAutoNum type="alphaLcPeriod"/>
            </a:pPr>
            <a:r>
              <a:rPr lang="en-US" sz="2400" dirty="0"/>
              <a:t> ethical language is honestly applied through a corporate code of ethics or including a statement of ethical responsibilities in the job descriptions of all layers of management. </a:t>
            </a:r>
          </a:p>
          <a:p>
            <a:pPr marL="514350" indent="-514350">
              <a:buFont typeface="+mj-lt"/>
              <a:buAutoNum type="alphaLcPeriod"/>
            </a:pPr>
            <a:r>
              <a:rPr lang="en-US" sz="2400" dirty="0">
                <a:solidFill>
                  <a:srgbClr val="0070C0"/>
                </a:solidFill>
              </a:rPr>
              <a:t>top management sets a moral tone in words, in policies, and by personal example</a:t>
            </a:r>
          </a:p>
          <a:p>
            <a:pPr marL="514350" indent="-514350">
              <a:buFont typeface="+mj-lt"/>
              <a:buAutoNum type="alphaLcPeriod"/>
            </a:pPr>
            <a:r>
              <a:rPr lang="en-US" sz="2400" dirty="0"/>
              <a:t>there are procedures for conflict resolution.</a:t>
            </a:r>
          </a:p>
          <a:p>
            <a:pPr marL="514350" indent="-514350">
              <a:buFont typeface="+mj-lt"/>
              <a:buAutoNum type="alphaLcPeriod"/>
            </a:pPr>
            <a:endParaRPr lang="en-US" sz="2400" dirty="0"/>
          </a:p>
          <a:p>
            <a:pPr marL="514350" indent="-514350">
              <a:buFont typeface="+mj-lt"/>
              <a:buAutoNum type="alphaLcPeriod"/>
            </a:pPr>
            <a:endParaRPr lang="en-US" sz="2400" dirty="0"/>
          </a:p>
        </p:txBody>
      </p:sp>
    </p:spTree>
    <p:extLst>
      <p:ext uri="{BB962C8B-B14F-4D97-AF65-F5344CB8AC3E}">
        <p14:creationId xmlns:p14="http://schemas.microsoft.com/office/powerpoint/2010/main" val="361969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additive="base">
                                        <p:cTn id="3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 calcmode="lin" valueType="num">
                                      <p:cBhvr additive="base">
                                        <p:cTn id="3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82869"/>
          </a:xfrm>
        </p:spPr>
        <p:txBody>
          <a:bodyPr/>
          <a:lstStyle/>
          <a:p>
            <a:r>
              <a:rPr lang="en-US" dirty="0"/>
              <a:t>TEAMWORK</a:t>
            </a:r>
          </a:p>
        </p:txBody>
      </p:sp>
      <p:sp>
        <p:nvSpPr>
          <p:cNvPr id="3" name="Content Placeholder 2"/>
          <p:cNvSpPr>
            <a:spLocks noGrp="1"/>
          </p:cNvSpPr>
          <p:nvPr>
            <p:ph idx="1"/>
          </p:nvPr>
        </p:nvSpPr>
        <p:spPr>
          <a:xfrm>
            <a:off x="838200" y="882869"/>
            <a:ext cx="10515600" cy="5294094"/>
          </a:xfrm>
        </p:spPr>
        <p:txBody>
          <a:bodyPr>
            <a:normAutofit lnSpcReduction="10000"/>
          </a:bodyPr>
          <a:lstStyle/>
          <a:p>
            <a:r>
              <a:rPr lang="en-US" b="1" dirty="0">
                <a:solidFill>
                  <a:srgbClr val="CC0066"/>
                </a:solidFill>
              </a:rPr>
              <a:t>Creates synergy </a:t>
            </a:r>
            <a:r>
              <a:rPr lang="en-US" dirty="0"/>
              <a:t>– ultimately if you have a team that works well together the sum is always going to be greater than the parts</a:t>
            </a:r>
          </a:p>
          <a:p>
            <a:r>
              <a:rPr lang="en-US" b="1" dirty="0">
                <a:solidFill>
                  <a:srgbClr val="CC0066"/>
                </a:solidFill>
              </a:rPr>
              <a:t>Brings new ideas </a:t>
            </a:r>
            <a:r>
              <a:rPr lang="en-US" dirty="0"/>
              <a:t>– businesses will always need new, fresh ideas to stay competitive in the workplace. The more diverse the team, the better the ability is to bring unique ideas to the table.</a:t>
            </a:r>
          </a:p>
          <a:p>
            <a:r>
              <a:rPr lang="en-US" b="1" dirty="0">
                <a:solidFill>
                  <a:srgbClr val="CC0066"/>
                </a:solidFill>
              </a:rPr>
              <a:t>Teamwork helps to solve problems </a:t>
            </a:r>
            <a:r>
              <a:rPr lang="en-US" dirty="0"/>
              <a:t>– when you have difficult problems they can’t always be handled by one person. That’s why collaboration with a team that can exchange ideas to facilitate an answer.</a:t>
            </a:r>
          </a:p>
          <a:p>
            <a:r>
              <a:rPr lang="en-US" b="1" dirty="0">
                <a:solidFill>
                  <a:srgbClr val="CC0066"/>
                </a:solidFill>
              </a:rPr>
              <a:t>It’s supportive </a:t>
            </a:r>
            <a:r>
              <a:rPr lang="en-US" dirty="0"/>
              <a:t>– any time you have a team their abilities will vary from one person to the next. That’s why when you have a team with various talents it allows for others to pick up the slack if one member falls behind.</a:t>
            </a:r>
          </a:p>
        </p:txBody>
      </p:sp>
    </p:spTree>
    <p:extLst>
      <p:ext uri="{BB962C8B-B14F-4D97-AF65-F5344CB8AC3E}">
        <p14:creationId xmlns:p14="http://schemas.microsoft.com/office/powerpoint/2010/main" val="1727487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04041"/>
          </a:xfrm>
        </p:spPr>
        <p:txBody>
          <a:bodyPr/>
          <a:lstStyle/>
          <a:p>
            <a:r>
              <a:rPr lang="en-US" dirty="0"/>
              <a:t>TEAMWORK</a:t>
            </a:r>
          </a:p>
        </p:txBody>
      </p:sp>
      <p:sp>
        <p:nvSpPr>
          <p:cNvPr id="3" name="Content Placeholder 2"/>
          <p:cNvSpPr>
            <a:spLocks noGrp="1"/>
          </p:cNvSpPr>
          <p:nvPr>
            <p:ph idx="1"/>
          </p:nvPr>
        </p:nvSpPr>
        <p:spPr>
          <a:xfrm>
            <a:off x="838200" y="804041"/>
            <a:ext cx="10515600" cy="5372922"/>
          </a:xfrm>
        </p:spPr>
        <p:txBody>
          <a:bodyPr/>
          <a:lstStyle/>
          <a:p>
            <a:r>
              <a:rPr lang="en-US" b="1" dirty="0">
                <a:solidFill>
                  <a:srgbClr val="CC0066"/>
                </a:solidFill>
              </a:rPr>
              <a:t>Builds trust </a:t>
            </a:r>
            <a:r>
              <a:rPr lang="en-US" dirty="0"/>
              <a:t>–The company needs individuals to believe in the firm’s vision and mission. Relying on other people builds trust, and teamwork establishes strong relationships with coworkers</a:t>
            </a:r>
          </a:p>
          <a:p>
            <a:r>
              <a:rPr lang="en-US" b="1" dirty="0">
                <a:solidFill>
                  <a:srgbClr val="CC0066"/>
                </a:solidFill>
              </a:rPr>
              <a:t>Teaches conflict resolution skills </a:t>
            </a:r>
            <a:r>
              <a:rPr lang="en-US" dirty="0"/>
              <a:t>– </a:t>
            </a:r>
          </a:p>
          <a:p>
            <a:r>
              <a:rPr lang="en-US" dirty="0"/>
              <a:t>Anytime you have a group of people working together, conflicts inevitably arise. Employees have different work styles and habits. While these unique viewpoints create the most successful work, they can also generate resentment that quickly turns into conflict.</a:t>
            </a:r>
          </a:p>
          <a:p>
            <a:endParaRPr lang="en-US" dirty="0"/>
          </a:p>
        </p:txBody>
      </p:sp>
      <p:pic>
        <p:nvPicPr>
          <p:cNvPr id="4" name="Picture 3"/>
          <p:cNvPicPr>
            <a:picLocks noChangeAspect="1"/>
          </p:cNvPicPr>
          <p:nvPr/>
        </p:nvPicPr>
        <p:blipFill>
          <a:blip r:embed="rId2"/>
          <a:stretch>
            <a:fillRect/>
          </a:stretch>
        </p:blipFill>
        <p:spPr>
          <a:xfrm>
            <a:off x="3657600" y="4256690"/>
            <a:ext cx="4876800" cy="2601310"/>
          </a:xfrm>
          <a:prstGeom prst="rect">
            <a:avLst/>
          </a:prstGeom>
        </p:spPr>
      </p:pic>
    </p:spTree>
    <p:extLst>
      <p:ext uri="{BB962C8B-B14F-4D97-AF65-F5344CB8AC3E}">
        <p14:creationId xmlns:p14="http://schemas.microsoft.com/office/powerpoint/2010/main" val="3735542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par>
                                <p:cTn id="13" presetID="6" presetClass="entr" presetSubtype="16"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ircle(in)">
                                      <p:cBhvr>
                                        <p:cTn id="15" dur="2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77862" y="709447"/>
            <a:ext cx="3846786" cy="5076497"/>
          </a:xfrm>
          <a:prstGeom prst="rect">
            <a:avLst/>
          </a:prstGeom>
        </p:spPr>
      </p:pic>
    </p:spTree>
    <p:extLst>
      <p:ext uri="{BB962C8B-B14F-4D97-AF65-F5344CB8AC3E}">
        <p14:creationId xmlns:p14="http://schemas.microsoft.com/office/powerpoint/2010/main" val="30835611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77875"/>
          </a:xfrm>
        </p:spPr>
        <p:txBody>
          <a:bodyPr/>
          <a:lstStyle/>
          <a:p>
            <a:r>
              <a:rPr lang="en-US" dirty="0"/>
              <a:t>ACKNOWLEDGEMENT</a:t>
            </a:r>
          </a:p>
        </p:txBody>
      </p:sp>
      <p:sp>
        <p:nvSpPr>
          <p:cNvPr id="3" name="Content Placeholder 2"/>
          <p:cNvSpPr>
            <a:spLocks noGrp="1"/>
          </p:cNvSpPr>
          <p:nvPr>
            <p:ph idx="1"/>
          </p:nvPr>
        </p:nvSpPr>
        <p:spPr>
          <a:xfrm>
            <a:off x="723900" y="777875"/>
            <a:ext cx="10515600" cy="5954001"/>
          </a:xfrm>
        </p:spPr>
        <p:txBody>
          <a:bodyPr>
            <a:normAutofit fontScale="92500" lnSpcReduction="10000"/>
          </a:bodyPr>
          <a:lstStyle/>
          <a:p>
            <a:r>
              <a:rPr lang="en-US" dirty="0"/>
              <a:t>Charles Harris, Michael Pritchard, Michael </a:t>
            </a:r>
            <a:r>
              <a:rPr lang="en-US" dirty="0" err="1"/>
              <a:t>Rabins</a:t>
            </a:r>
            <a:r>
              <a:rPr lang="en-US" dirty="0"/>
              <a:t> : Engineering Ethics – Concepts and Cases;  Wadsworth Cengage Learning, 4</a:t>
            </a:r>
            <a:r>
              <a:rPr lang="en-US" baseline="30000" dirty="0"/>
              <a:t>th</a:t>
            </a:r>
            <a:r>
              <a:rPr lang="en-US" dirty="0"/>
              <a:t> Edition</a:t>
            </a:r>
          </a:p>
          <a:p>
            <a:r>
              <a:rPr lang="en-US" dirty="0"/>
              <a:t>Introduction to Engineering Ethics by Mike W. Martin Professor of Philosophy Chapman University and Roland </a:t>
            </a:r>
            <a:r>
              <a:rPr lang="en-US" dirty="0" err="1"/>
              <a:t>Schinzinger</a:t>
            </a:r>
            <a:r>
              <a:rPr lang="en-US" dirty="0"/>
              <a:t> Late Professor Emeritus of Electrical Engineering University of California, Irvine : McGraw Hill Higher Education : ISBN 978-0-07-248311-6 MHID 0-07-248311-3</a:t>
            </a:r>
          </a:p>
          <a:p>
            <a:r>
              <a:rPr lang="en-US" dirty="0"/>
              <a:t>https://www.mycustomer.com/experience/loyalty/emotional-vs-transactional-loyalty-is-it-more-important-to-win-hearts-or-minds</a:t>
            </a:r>
          </a:p>
          <a:p>
            <a:r>
              <a:rPr lang="en-US" dirty="0">
                <a:hlinkClick r:id="rId2"/>
              </a:rPr>
              <a:t>https://www.vectorstock.com/royalty-free-vector/bribery-money-bag-concept-background-isometric-vector-22606620</a:t>
            </a:r>
            <a:endParaRPr lang="en-US" dirty="0"/>
          </a:p>
          <a:p>
            <a:r>
              <a:rPr lang="en-US" dirty="0">
                <a:hlinkClick r:id="rId3"/>
              </a:rPr>
              <a:t>https://www.cartoonstock.com/directory/c/conflicts_of_interest.asp</a:t>
            </a:r>
            <a:endParaRPr lang="en-US" dirty="0"/>
          </a:p>
          <a:p>
            <a:r>
              <a:rPr lang="en-US" dirty="0">
                <a:hlinkClick r:id="rId4"/>
              </a:rPr>
              <a:t>https://www.bing.com/search?q=confidentiality+meaning&amp;form=ANSPH1&amp;refig=df41d450</a:t>
            </a:r>
            <a:endParaRPr lang="en-US" dirty="0"/>
          </a:p>
          <a:p>
            <a:r>
              <a:rPr lang="en-US" dirty="0">
                <a:hlinkClick r:id="rId5"/>
              </a:rPr>
              <a:t>confidentiality cartoon images - Bing</a:t>
            </a:r>
            <a:endParaRPr lang="en-US" dirty="0"/>
          </a:p>
          <a:p>
            <a:r>
              <a:rPr lang="en-US" dirty="0"/>
              <a:t>evenueconsultant.com/2017/11/30/importance-teamwork-workplace/</a:t>
            </a:r>
          </a:p>
          <a:p>
            <a:endParaRPr lang="en-US" dirty="0"/>
          </a:p>
          <a:p>
            <a:endParaRPr lang="en-US" dirty="0"/>
          </a:p>
          <a:p>
            <a:endParaRPr lang="en-US" dirty="0"/>
          </a:p>
        </p:txBody>
      </p:sp>
    </p:spTree>
    <p:extLst>
      <p:ext uri="{BB962C8B-B14F-4D97-AF65-F5344CB8AC3E}">
        <p14:creationId xmlns:p14="http://schemas.microsoft.com/office/powerpoint/2010/main" val="3774507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96310" y="2509236"/>
            <a:ext cx="10515600" cy="1325563"/>
          </a:xfrm>
        </p:spPr>
        <p:txBody>
          <a:bodyPr/>
          <a:lstStyle/>
          <a:p>
            <a:endParaRPr lang="en-US" dirty="0"/>
          </a:p>
        </p:txBody>
      </p:sp>
      <p:sp>
        <p:nvSpPr>
          <p:cNvPr id="5" name="Rectangle 4"/>
          <p:cNvSpPr/>
          <p:nvPr/>
        </p:nvSpPr>
        <p:spPr>
          <a:xfrm rot="19546964">
            <a:off x="2015745" y="2188786"/>
            <a:ext cx="7789505" cy="1569660"/>
          </a:xfrm>
          <a:prstGeom prst="rect">
            <a:avLst/>
          </a:prstGeom>
          <a:noFill/>
        </p:spPr>
        <p:txBody>
          <a:bodyPr wrap="none" lIns="91440" tIns="45720" rIns="91440" bIns="45720">
            <a:spAutoFit/>
          </a:bodyPr>
          <a:lstStyle/>
          <a:p>
            <a:pPr algn="ctr"/>
            <a:r>
              <a:rPr lang="en-US" sz="96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THANK YOU !!!</a:t>
            </a:r>
          </a:p>
        </p:txBody>
      </p:sp>
      <p:pic>
        <p:nvPicPr>
          <p:cNvPr id="1032" name="Picture 8">
            <a:extLst>
              <a:ext uri="{FF2B5EF4-FFF2-40B4-BE49-F238E27FC236}">
                <a16:creationId xmlns:a16="http://schemas.microsoft.com/office/drawing/2014/main" id="{9AA32257-9B2A-48BE-8A97-DC533E81EF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5487" y="134485"/>
            <a:ext cx="3246120" cy="227047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776D0C58-6331-4773-9016-FED2BEF957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99960" y="3939079"/>
            <a:ext cx="4099560" cy="2646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319616"/>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1230</TotalTime>
  <Words>3374</Words>
  <Application>Microsoft Office PowerPoint</Application>
  <PresentationFormat>Widescreen</PresentationFormat>
  <Paragraphs>203</Paragraphs>
  <Slides>32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Calibri Light</vt:lpstr>
      <vt:lpstr>Wingdings</vt:lpstr>
      <vt:lpstr>Office Theme</vt:lpstr>
      <vt:lpstr>   PROFESSIONAL ETHICS - CE 3142     ETHICAL WORKPLACE RESPONSIBILITIES  </vt:lpstr>
      <vt:lpstr>TOPICS</vt:lpstr>
      <vt:lpstr>LOYALTY</vt:lpstr>
      <vt:lpstr>LOYALTY</vt:lpstr>
      <vt:lpstr>LOYALTY</vt:lpstr>
      <vt:lpstr>CONFIDENTIALITY</vt:lpstr>
      <vt:lpstr>CONFIDENTIALITY</vt:lpstr>
      <vt:lpstr>CONFIDENTIALITY</vt:lpstr>
      <vt:lpstr>Confidentiality and changing jobs</vt:lpstr>
      <vt:lpstr>Confidentiality and changing jobs</vt:lpstr>
      <vt:lpstr>Confidentiality and changing jobs</vt:lpstr>
      <vt:lpstr>Confidentiality and changing jobs</vt:lpstr>
      <vt:lpstr>Confidentiality and changing jobs</vt:lpstr>
      <vt:lpstr>Conflict of Interest</vt:lpstr>
      <vt:lpstr>Conflict of Interest</vt:lpstr>
      <vt:lpstr>Conflict of Interest</vt:lpstr>
      <vt:lpstr>Conflict of Interest</vt:lpstr>
      <vt:lpstr>Conflict of Interest</vt:lpstr>
      <vt:lpstr>Conflict of Interest</vt:lpstr>
      <vt:lpstr>Conflict of Interest</vt:lpstr>
      <vt:lpstr>Conflict of Interest</vt:lpstr>
      <vt:lpstr>Conflict of Interest</vt:lpstr>
      <vt:lpstr>Conflict of Interest</vt:lpstr>
      <vt:lpstr>Conflict of Interest - Example</vt:lpstr>
      <vt:lpstr>Conflict of Interest</vt:lpstr>
      <vt:lpstr>Conflict of Interest</vt:lpstr>
      <vt:lpstr>Teamwork</vt:lpstr>
      <vt:lpstr>TEAMWORK</vt:lpstr>
      <vt:lpstr>TEAMWORK</vt:lpstr>
      <vt:lpstr>PowerPoint Presentation</vt:lpstr>
      <vt:lpstr>ACKNOWLEDGEMENT</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ETHICS - CE 3142     WORKPLACE RESPONSIBILITIES  AND RIGHTS</dc:title>
  <dc:creator>User</dc:creator>
  <cp:lastModifiedBy>Russel De Zilwa</cp:lastModifiedBy>
  <cp:revision>64</cp:revision>
  <dcterms:created xsi:type="dcterms:W3CDTF">2020-01-30T05:52:15Z</dcterms:created>
  <dcterms:modified xsi:type="dcterms:W3CDTF">2024-02-29T12:07:40Z</dcterms:modified>
</cp:coreProperties>
</file>