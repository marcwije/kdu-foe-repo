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3.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81"/>
  </p:notesMasterIdLst>
  <p:sldIdLst>
    <p:sldId id="301" r:id="rId3"/>
    <p:sldId id="413" r:id="rId4"/>
    <p:sldId id="457" r:id="rId5"/>
    <p:sldId id="458" r:id="rId6"/>
    <p:sldId id="459" r:id="rId7"/>
    <p:sldId id="460" r:id="rId8"/>
    <p:sldId id="461" r:id="rId9"/>
    <p:sldId id="462" r:id="rId10"/>
    <p:sldId id="463" r:id="rId11"/>
    <p:sldId id="464" r:id="rId12"/>
    <p:sldId id="465" r:id="rId13"/>
    <p:sldId id="466" r:id="rId14"/>
    <p:sldId id="467" r:id="rId15"/>
    <p:sldId id="468" r:id="rId16"/>
    <p:sldId id="469" r:id="rId17"/>
    <p:sldId id="470" r:id="rId18"/>
    <p:sldId id="471" r:id="rId19"/>
    <p:sldId id="472" r:id="rId20"/>
    <p:sldId id="473" r:id="rId21"/>
    <p:sldId id="474" r:id="rId22"/>
    <p:sldId id="475" r:id="rId23"/>
    <p:sldId id="476" r:id="rId24"/>
    <p:sldId id="477" r:id="rId25"/>
    <p:sldId id="478" r:id="rId26"/>
    <p:sldId id="479" r:id="rId27"/>
    <p:sldId id="480" r:id="rId28"/>
    <p:sldId id="481" r:id="rId29"/>
    <p:sldId id="482" r:id="rId30"/>
    <p:sldId id="483" r:id="rId31"/>
    <p:sldId id="484" r:id="rId32"/>
    <p:sldId id="485" r:id="rId33"/>
    <p:sldId id="486" r:id="rId34"/>
    <p:sldId id="487" r:id="rId35"/>
    <p:sldId id="488" r:id="rId36"/>
    <p:sldId id="489" r:id="rId37"/>
    <p:sldId id="490" r:id="rId38"/>
    <p:sldId id="491" r:id="rId39"/>
    <p:sldId id="493" r:id="rId40"/>
    <p:sldId id="494" r:id="rId41"/>
    <p:sldId id="495" r:id="rId42"/>
    <p:sldId id="496" r:id="rId43"/>
    <p:sldId id="497" r:id="rId44"/>
    <p:sldId id="498" r:id="rId45"/>
    <p:sldId id="499" r:id="rId46"/>
    <p:sldId id="500" r:id="rId47"/>
    <p:sldId id="501" r:id="rId48"/>
    <p:sldId id="502" r:id="rId49"/>
    <p:sldId id="503" r:id="rId50"/>
    <p:sldId id="504" r:id="rId51"/>
    <p:sldId id="505" r:id="rId52"/>
    <p:sldId id="506" r:id="rId53"/>
    <p:sldId id="507" r:id="rId54"/>
    <p:sldId id="508" r:id="rId55"/>
    <p:sldId id="509" r:id="rId56"/>
    <p:sldId id="510" r:id="rId57"/>
    <p:sldId id="511" r:id="rId58"/>
    <p:sldId id="512" r:id="rId59"/>
    <p:sldId id="513" r:id="rId60"/>
    <p:sldId id="514" r:id="rId61"/>
    <p:sldId id="515" r:id="rId62"/>
    <p:sldId id="516" r:id="rId63"/>
    <p:sldId id="517" r:id="rId64"/>
    <p:sldId id="518" r:id="rId65"/>
    <p:sldId id="519" r:id="rId66"/>
    <p:sldId id="520" r:id="rId67"/>
    <p:sldId id="521" r:id="rId68"/>
    <p:sldId id="522" r:id="rId69"/>
    <p:sldId id="523" r:id="rId70"/>
    <p:sldId id="524" r:id="rId71"/>
    <p:sldId id="525" r:id="rId72"/>
    <p:sldId id="526" r:id="rId73"/>
    <p:sldId id="527" r:id="rId74"/>
    <p:sldId id="528" r:id="rId75"/>
    <p:sldId id="529" r:id="rId76"/>
    <p:sldId id="530" r:id="rId77"/>
    <p:sldId id="531" r:id="rId78"/>
    <p:sldId id="532" r:id="rId79"/>
    <p:sldId id="456"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cas" initials="J R" lastIdx="1" clrIdx="0">
    <p:extLst>
      <p:ext uri="{19B8F6BF-5375-455C-9EA6-DF929625EA0E}">
        <p15:presenceInfo xmlns:p15="http://schemas.microsoft.com/office/powerpoint/2012/main" userId="Luc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6AF00"/>
    <a:srgbClr val="00FF00"/>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65" autoAdjust="0"/>
    <p:restoredTop sz="79516" autoAdjust="0"/>
  </p:normalViewPr>
  <p:slideViewPr>
    <p:cSldViewPr snapToGrid="0">
      <p:cViewPr varScale="1">
        <p:scale>
          <a:sx n="64" d="100"/>
          <a:sy n="64" d="100"/>
        </p:scale>
        <p:origin x="918" y="6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commentAuthors" Target="commentAuthors.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notesMaster" Target="notesMasters/notesMaster1.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413385-33B6-432C-BCB5-D28242722B6F}" type="datetimeFigureOut">
              <a:rPr lang="en-GB" smtClean="0"/>
              <a:t>28/07/2021</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C4AAFD-141F-4056-A367-1845A08BF131}" type="slidenum">
              <a:rPr lang="en-GB" smtClean="0"/>
              <a:t>‹#›</a:t>
            </a:fld>
            <a:endParaRPr lang="en-GB"/>
          </a:p>
        </p:txBody>
      </p:sp>
    </p:spTree>
    <p:extLst>
      <p:ext uri="{BB962C8B-B14F-4D97-AF65-F5344CB8AC3E}">
        <p14:creationId xmlns:p14="http://schemas.microsoft.com/office/powerpoint/2010/main" val="258324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tx1"/>
                </a:solidFill>
              </a:rPr>
              <a:t>The next lecture is on non-sinusoidal waveforms.  This will be studied under two sections, namely Fourier Series dealing with non-sinusoidal periodic waveforms, and Laplace Transform which will deal with non-repetitive waveforms.</a:t>
            </a:r>
            <a:endParaRPr lang="en-GB" dirty="0">
              <a:solidFill>
                <a:schemeClr val="tx1"/>
              </a:solidFill>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E7AF17-32A2-4BCF-8664-2B97A4DCC40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434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lectures on Fourier Series comes under the learning outcome LO4 which deals with the analysis of waveforms for its harmonics.</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2</a:t>
            </a:fld>
            <a:endParaRPr lang="en-GB"/>
          </a:p>
        </p:txBody>
      </p:sp>
    </p:spTree>
    <p:extLst>
      <p:ext uri="{BB962C8B-B14F-4D97-AF65-F5344CB8AC3E}">
        <p14:creationId xmlns:p14="http://schemas.microsoft.com/office/powerpoint/2010/main" val="2776332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You are now familiar with direct waveforms and sinusoidal alternating waveforms</a:t>
            </a:r>
            <a:endParaRPr kumimoji="0" lang="en-GB" altLang="en-US" sz="800" b="0" i="0" u="none" strike="noStrike" cap="none" normalizeH="0" baseline="0" dirty="0">
              <a:ln>
                <a:noFill/>
              </a:ln>
              <a:solidFill>
                <a:schemeClr val="tx1"/>
              </a:solidFill>
              <a:effectLst/>
              <a:latin typeface="Arial" panose="020B0604020202020204" pitchFamily="34" charset="0"/>
            </a:endParaRPr>
          </a:p>
          <a:p>
            <a:r>
              <a:rPr lang="en-GB" dirty="0"/>
              <a:t>The pure direct waveform has a constant value independent of time and has a mean value “A”, while the pure sinusoidal waveform varies sinusoidally with time, has a zero mean value, a peak value of Am, an angular frequency of omega, and a phase angle of theta as shown.</a:t>
            </a:r>
          </a:p>
        </p:txBody>
      </p:sp>
      <p:sp>
        <p:nvSpPr>
          <p:cNvPr id="4" name="Slide Number Placeholder 3"/>
          <p:cNvSpPr>
            <a:spLocks noGrp="1"/>
          </p:cNvSpPr>
          <p:nvPr>
            <p:ph type="sldNum" sz="quarter" idx="5"/>
          </p:nvPr>
        </p:nvSpPr>
        <p:spPr/>
        <p:txBody>
          <a:bodyPr/>
          <a:lstStyle/>
          <a:p>
            <a:fld id="{2FC4AAFD-141F-4056-A367-1845A08BF131}" type="slidenum">
              <a:rPr lang="en-GB" smtClean="0"/>
              <a:t>3</a:t>
            </a:fld>
            <a:endParaRPr lang="en-GB"/>
          </a:p>
        </p:txBody>
      </p:sp>
    </p:spTree>
    <p:extLst>
      <p:ext uri="{BB962C8B-B14F-4D97-AF65-F5344CB8AC3E}">
        <p14:creationId xmlns:p14="http://schemas.microsoft.com/office/powerpoint/2010/main" val="1545663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starting on the Fourier series, let us try to understand different types of waveforms.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Waveforms </a:t>
            </a:r>
            <a:r>
              <a:rPr lang="en-GB" sz="1200" dirty="0">
                <a:solidFill>
                  <a:srgbClr val="002060"/>
                </a:solidFill>
                <a:latin typeface="Times New Roman" panose="02020603050405020304" pitchFamily="18" charset="0"/>
                <a:ea typeface="Times New Roman" panose="02020603050405020304" pitchFamily="18" charset="0"/>
              </a:rPr>
              <a:t>(a), (b), (c) and (d) are </a:t>
            </a:r>
            <a:r>
              <a:rPr lang="en-GB" sz="1200" dirty="0" err="1">
                <a:solidFill>
                  <a:srgbClr val="002060"/>
                </a:solidFill>
                <a:latin typeface="Times New Roman" panose="02020603050405020304" pitchFamily="18" charset="0"/>
                <a:ea typeface="Times New Roman" panose="02020603050405020304" pitchFamily="18" charset="0"/>
              </a:rPr>
              <a:t>uni</a:t>
            </a:r>
            <a:r>
              <a:rPr lang="en-GB" sz="1200" dirty="0">
                <a:solidFill>
                  <a:srgbClr val="002060"/>
                </a:solidFill>
                <a:latin typeface="Times New Roman" panose="02020603050405020304" pitchFamily="18" charset="0"/>
                <a:ea typeface="Times New Roman" panose="02020603050405020304" pitchFamily="18" charset="0"/>
              </a:rPr>
              <a:t>-directional, although not purely direct, while waveforms (e) and (f) are repetitive with zero mean value.  On the </a:t>
            </a:r>
            <a:r>
              <a:rPr lang="en-GB" sz="1200" dirty="0" err="1">
                <a:solidFill>
                  <a:srgbClr val="002060"/>
                </a:solidFill>
                <a:latin typeface="Times New Roman" panose="02020603050405020304" pitchFamily="18" charset="0"/>
                <a:ea typeface="Times New Roman" panose="02020603050405020304" pitchFamily="18" charset="0"/>
              </a:rPr>
              <a:t>otherhand</a:t>
            </a:r>
            <a:r>
              <a:rPr lang="en-GB" sz="1200" dirty="0">
                <a:solidFill>
                  <a:srgbClr val="002060"/>
                </a:solidFill>
                <a:latin typeface="Times New Roman" panose="02020603050405020304" pitchFamily="18" charset="0"/>
                <a:ea typeface="Times New Roman" panose="02020603050405020304" pitchFamily="18" charset="0"/>
              </a:rPr>
              <a:t>, waveforms (c), (h) and (</a:t>
            </a:r>
            <a:r>
              <a:rPr lang="en-GB" sz="1200" dirty="0" err="1">
                <a:solidFill>
                  <a:srgbClr val="002060"/>
                </a:solidFill>
                <a:latin typeface="Times New Roman" panose="02020603050405020304" pitchFamily="18" charset="0"/>
                <a:ea typeface="Times New Roman" panose="02020603050405020304" pitchFamily="18" charset="0"/>
              </a:rPr>
              <a:t>i</a:t>
            </a:r>
            <a:r>
              <a:rPr lang="en-GB" sz="1200" dirty="0">
                <a:solidFill>
                  <a:srgbClr val="002060"/>
                </a:solidFill>
                <a:latin typeface="Times New Roman" panose="02020603050405020304" pitchFamily="18" charset="0"/>
                <a:ea typeface="Times New Roman" panose="02020603050405020304" pitchFamily="18" charset="0"/>
              </a:rPr>
              <a:t>) are repetitive waveforms with finite mean values.</a:t>
            </a:r>
          </a:p>
        </p:txBody>
      </p:sp>
      <p:sp>
        <p:nvSpPr>
          <p:cNvPr id="4" name="Slide Number Placeholder 3"/>
          <p:cNvSpPr>
            <a:spLocks noGrp="1"/>
          </p:cNvSpPr>
          <p:nvPr>
            <p:ph type="sldNum" sz="quarter" idx="5"/>
          </p:nvPr>
        </p:nvSpPr>
        <p:spPr/>
        <p:txBody>
          <a:bodyPr/>
          <a:lstStyle/>
          <a:p>
            <a:fld id="{2FC4AAFD-141F-4056-A367-1845A08BF131}" type="slidenum">
              <a:rPr lang="en-GB" smtClean="0"/>
              <a:t>4</a:t>
            </a:fld>
            <a:endParaRPr lang="en-GB"/>
          </a:p>
        </p:txBody>
      </p:sp>
    </p:spTree>
    <p:extLst>
      <p:ext uri="{BB962C8B-B14F-4D97-AF65-F5344CB8AC3E}">
        <p14:creationId xmlns:p14="http://schemas.microsoft.com/office/powerpoint/2010/main" val="2988735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rgbClr val="002060"/>
                </a:solidFill>
                <a:latin typeface="Times New Roman" panose="02020603050405020304" pitchFamily="18" charset="0"/>
              </a:rPr>
              <a:t>With Fourier analysis, we will only be dealing with repetitive waveforms, whether they have mean values or not.  Non repetitive waveforms will be dealt with under Laplace transform in a later lecture.</a:t>
            </a:r>
          </a:p>
          <a:p>
            <a:pPr algn="just"/>
            <a:r>
              <a:rPr lang="en-GB" sz="1200" dirty="0">
                <a:solidFill>
                  <a:srgbClr val="002060"/>
                </a:solidFill>
                <a:latin typeface="Times New Roman" panose="02020603050405020304" pitchFamily="18" charset="0"/>
              </a:rPr>
              <a:t>For the </a:t>
            </a:r>
            <a:r>
              <a:rPr lang="en-GB" sz="1200" dirty="0">
                <a:solidFill>
                  <a:srgbClr val="002060"/>
                </a:solidFill>
                <a:latin typeface="Times New Roman" panose="02020603050405020304" pitchFamily="18" charset="0"/>
                <a:ea typeface="Times New Roman" panose="02020603050405020304" pitchFamily="18" charset="0"/>
              </a:rPr>
              <a:t>repetitive waveform, only one period “T” needs  to be defined.</a:t>
            </a:r>
            <a:endParaRPr lang="en-GB" sz="1200" dirty="0">
              <a:latin typeface="Times New Roman" panose="02020603050405020304" pitchFamily="18" charset="0"/>
              <a:ea typeface="Times New Roman" panose="02020603050405020304" pitchFamily="18" charset="0"/>
            </a:endParaRPr>
          </a:p>
          <a:p>
            <a:pPr marL="0" lvl="0" indent="0">
              <a:buFont typeface="Symbol" panose="05050102010706020507" pitchFamily="18" charset="2"/>
              <a:buNone/>
            </a:pPr>
            <a:r>
              <a:rPr lang="en-GB" sz="1200" dirty="0">
                <a:solidFill>
                  <a:srgbClr val="002060"/>
                </a:solidFill>
                <a:latin typeface="Times New Roman" panose="02020603050405020304" pitchFamily="18" charset="0"/>
                <a:ea typeface="Times New Roman" panose="02020603050405020304" pitchFamily="18" charset="0"/>
              </a:rPr>
              <a:t>It can be broken up to a fundamental component (corresponding to period T, or frequency f or angular frequency omega) and its harmonics.  </a:t>
            </a:r>
            <a:endParaRPr lang="en-GB" sz="1200" dirty="0">
              <a:latin typeface="Times New Roman" panose="02020603050405020304" pitchFamily="18" charset="0"/>
              <a:ea typeface="Times New Roman" panose="02020603050405020304" pitchFamily="18" charset="0"/>
            </a:endParaRPr>
          </a:p>
          <a:p>
            <a:r>
              <a:rPr lang="en-GB" sz="1200" dirty="0">
                <a:solidFill>
                  <a:srgbClr val="002060"/>
                </a:solidFill>
                <a:latin typeface="Times New Roman" panose="02020603050405020304" pitchFamily="18" charset="0"/>
                <a:ea typeface="Times New Roman" panose="02020603050405020304" pitchFamily="18" charset="0"/>
              </a:rPr>
              <a:t>Uni-directional term (direct component) may exist.</a:t>
            </a:r>
            <a:endParaRPr lang="en-GB"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p>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5</a:t>
            </a:fld>
            <a:endParaRPr lang="en-GB"/>
          </a:p>
        </p:txBody>
      </p:sp>
    </p:spTree>
    <p:extLst>
      <p:ext uri="{BB962C8B-B14F-4D97-AF65-F5344CB8AC3E}">
        <p14:creationId xmlns:p14="http://schemas.microsoft.com/office/powerpoint/2010/main" val="4211870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Fourier series is named after the French mathematician who formulated the series in 1822. It</a:t>
            </a:r>
            <a:r>
              <a:rPr lang="en-US" sz="1200" b="0" i="0" kern="1200" dirty="0">
                <a:solidFill>
                  <a:schemeClr val="tx1"/>
                </a:solidFill>
                <a:effectLst/>
                <a:latin typeface="+mn-lt"/>
                <a:ea typeface="+mn-ea"/>
                <a:cs typeface="+mn-cs"/>
              </a:rPr>
              <a:t> is a way of representing a periodic function as an infinite series of sinusoidal functions having integer multiple frequencies.  It can also be represented by an infinite sum of sine and cosine functions, with a direct component, as shown.</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6</a:t>
            </a:fld>
            <a:endParaRPr lang="en-GB"/>
          </a:p>
        </p:txBody>
      </p:sp>
    </p:spTree>
    <p:extLst>
      <p:ext uri="{BB962C8B-B14F-4D97-AF65-F5344CB8AC3E}">
        <p14:creationId xmlns:p14="http://schemas.microsoft.com/office/powerpoint/2010/main" val="2541261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15000"/>
              </a:lnSpc>
            </a:pPr>
            <a:r>
              <a:rPr lang="en-GB" sz="1200" dirty="0">
                <a:solidFill>
                  <a:srgbClr val="002060"/>
                </a:solidFill>
                <a:latin typeface="Times New Roman" panose="02020603050405020304" pitchFamily="18" charset="0"/>
                <a:ea typeface="Times New Roman" panose="02020603050405020304" pitchFamily="18" charset="0"/>
              </a:rPr>
              <a:t>Many periodic waveforms exhibit symmetry which may be made use of in simplifying the determination of the coefficients of the Fourier series.</a:t>
            </a:r>
            <a:endParaRPr lang="en-GB" sz="1200" dirty="0">
              <a:latin typeface="Times New Roman" panose="02020603050405020304" pitchFamily="18" charset="0"/>
              <a:ea typeface="Times New Roman" panose="02020603050405020304" pitchFamily="18" charset="0"/>
            </a:endParaRPr>
          </a:p>
          <a:p>
            <a:pPr marL="0" marR="0" lvl="0" indent="0" algn="just">
              <a:lnSpc>
                <a:spcPct val="150000"/>
              </a:lnSpc>
              <a:spcBef>
                <a:spcPts val="0"/>
              </a:spcBef>
              <a:spcAft>
                <a:spcPts val="600"/>
              </a:spcAft>
              <a:buFont typeface="+mj-lt"/>
              <a:buNone/>
              <a:tabLst>
                <a:tab pos="1143000" algn="l"/>
              </a:tabLst>
            </a:pPr>
            <a:r>
              <a:rPr lang="en-GB" sz="1200" dirty="0">
                <a:solidFill>
                  <a:srgbClr val="002060"/>
                </a:solidFill>
                <a:latin typeface="Times New Roman" panose="02020603050405020304" pitchFamily="18" charset="0"/>
                <a:ea typeface="Times New Roman" panose="02020603050405020304" pitchFamily="18" charset="0"/>
              </a:rPr>
              <a:t>These are Even symmetry, Odd symmetry, and Half-wave symmetry, all of which will be explained in detail in the following slides.</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7</a:t>
            </a:fld>
            <a:endParaRPr lang="en-GB"/>
          </a:p>
        </p:txBody>
      </p:sp>
    </p:spTree>
    <p:extLst>
      <p:ext uri="{BB962C8B-B14F-4D97-AF65-F5344CB8AC3E}">
        <p14:creationId xmlns:p14="http://schemas.microsoft.com/office/powerpoint/2010/main" val="33091188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consider first even symmetry.  This is like drawing the right half of a person and holding it against a mirror to complete the missing part of the image.  Likewise, a waveform with even symmetry will have the half of the waveform on the negative side of the axis the mirror image of that on the positive side of the axis as shown in the figures.  </a:t>
            </a:r>
          </a:p>
        </p:txBody>
      </p:sp>
      <p:sp>
        <p:nvSpPr>
          <p:cNvPr id="4" name="Slide Number Placeholder 3"/>
          <p:cNvSpPr>
            <a:spLocks noGrp="1"/>
          </p:cNvSpPr>
          <p:nvPr>
            <p:ph type="sldNum" sz="quarter" idx="5"/>
          </p:nvPr>
        </p:nvSpPr>
        <p:spPr/>
        <p:txBody>
          <a:bodyPr/>
          <a:lstStyle/>
          <a:p>
            <a:fld id="{2FC4AAFD-141F-4056-A367-1845A08BF131}" type="slidenum">
              <a:rPr lang="en-GB" smtClean="0"/>
              <a:t>8</a:t>
            </a:fld>
            <a:endParaRPr lang="en-GB"/>
          </a:p>
        </p:txBody>
      </p:sp>
    </p:spTree>
    <p:extLst>
      <p:ext uri="{BB962C8B-B14F-4D97-AF65-F5344CB8AC3E}">
        <p14:creationId xmlns:p14="http://schemas.microsoft.com/office/powerpoint/2010/main" val="27638084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simplest form of alternating waveform having even symmetry is the cosine waveform shown in figure (a), while the direct waveform of figure (b) also has even symmetry.</a:t>
            </a:r>
          </a:p>
          <a:p>
            <a:pPr algn="just">
              <a:spcAft>
                <a:spcPts val="600"/>
              </a:spcAft>
            </a:pPr>
            <a:r>
              <a:rPr lang="en-GB" sz="1200" dirty="0">
                <a:solidFill>
                  <a:srgbClr val="002060"/>
                </a:solidFill>
                <a:latin typeface="Times New Roman" panose="02020603050405020304" pitchFamily="18" charset="0"/>
                <a:ea typeface="Times New Roman" panose="02020603050405020304" pitchFamily="18" charset="0"/>
              </a:rPr>
              <a:t>Even symmetry can exist in both periodic and non-periodic waveforms.</a:t>
            </a:r>
            <a:endParaRPr lang="en-GB" sz="1200" dirty="0">
              <a:latin typeface="Times New Roman" panose="02020603050405020304" pitchFamily="18" charset="0"/>
              <a:ea typeface="Times New Roman" panose="02020603050405020304" pitchFamily="18" charset="0"/>
            </a:endParaRPr>
          </a:p>
          <a:p>
            <a:pPr algn="just">
              <a:spcAft>
                <a:spcPts val="600"/>
              </a:spcAft>
            </a:pPr>
            <a:r>
              <a:rPr lang="en-GB" sz="1200" dirty="0">
                <a:solidFill>
                  <a:srgbClr val="002060"/>
                </a:solidFill>
                <a:latin typeface="Times New Roman" panose="02020603050405020304" pitchFamily="18" charset="0"/>
                <a:ea typeface="Times New Roman" panose="02020603050405020304" pitchFamily="18" charset="0"/>
              </a:rPr>
              <a:t>Both direct terms as well as varying terms can exist in waveforms with even symmetry.</a:t>
            </a:r>
            <a:endParaRPr lang="en-GB" sz="1200" dirty="0">
              <a:latin typeface="Times New Roman" panose="02020603050405020304" pitchFamily="18" charset="0"/>
              <a:ea typeface="Times New Roman" panose="02020603050405020304" pitchFamily="18" charset="0"/>
            </a:endParaRPr>
          </a:p>
          <a:p>
            <a:pPr algn="just">
              <a:spcAft>
                <a:spcPts val="600"/>
              </a:spcAft>
            </a:pPr>
            <a:r>
              <a:rPr lang="en-GB" sz="1200" dirty="0">
                <a:solidFill>
                  <a:srgbClr val="002060"/>
                </a:solidFill>
                <a:latin typeface="Times New Roman" panose="02020603050405020304" pitchFamily="18" charset="0"/>
                <a:ea typeface="Times New Roman" panose="02020603050405020304" pitchFamily="18" charset="0"/>
              </a:rPr>
              <a:t>If waveform is defined for only for the positive half, that is t greater than or equal to zero, </a:t>
            </a:r>
            <a:endParaRPr lang="en-GB" sz="1200" dirty="0">
              <a:latin typeface="Times New Roman" panose="02020603050405020304" pitchFamily="18" charset="0"/>
              <a:ea typeface="Times New Roman" panose="02020603050405020304" pitchFamily="18" charset="0"/>
            </a:endParaRPr>
          </a:p>
          <a:p>
            <a:pPr algn="just">
              <a:spcAft>
                <a:spcPts val="600"/>
              </a:spcAft>
            </a:pPr>
            <a:r>
              <a:rPr lang="en-GB" sz="1200" dirty="0">
                <a:solidFill>
                  <a:srgbClr val="002060"/>
                </a:solidFill>
                <a:latin typeface="Times New Roman" panose="02020603050405020304" pitchFamily="18" charset="0"/>
                <a:ea typeface="Times New Roman" panose="02020603050405020304" pitchFamily="18" charset="0"/>
              </a:rPr>
              <a:t>the remainder can automatically be obtained by symmetry.</a:t>
            </a:r>
            <a:endParaRPr lang="en-GB" sz="12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2FC4AAFD-141F-4056-A367-1845A08BF131}" type="slidenum">
              <a:rPr lang="en-GB" smtClean="0"/>
              <a:t>9</a:t>
            </a:fld>
            <a:endParaRPr lang="en-GB"/>
          </a:p>
        </p:txBody>
      </p:sp>
    </p:spTree>
    <p:extLst>
      <p:ext uri="{BB962C8B-B14F-4D97-AF65-F5344CB8AC3E}">
        <p14:creationId xmlns:p14="http://schemas.microsoft.com/office/powerpoint/2010/main" val="15944840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 us next consider odd symmetry.  This is like drawing the right half of a waveform and then creating the negative half by taking a mirror image of the negated right side. Such waveforms are shown in the figures.  </a:t>
            </a:r>
          </a:p>
          <a:p>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10</a:t>
            </a:fld>
            <a:endParaRPr lang="en-GB"/>
          </a:p>
        </p:txBody>
      </p:sp>
    </p:spTree>
    <p:extLst>
      <p:ext uri="{BB962C8B-B14F-4D97-AF65-F5344CB8AC3E}">
        <p14:creationId xmlns:p14="http://schemas.microsoft.com/office/powerpoint/2010/main" val="2850097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Aft>
                <a:spcPts val="600"/>
              </a:spcAft>
            </a:pPr>
            <a:r>
              <a:rPr lang="en-GB" sz="1200" dirty="0">
                <a:solidFill>
                  <a:srgbClr val="002060"/>
                </a:solidFill>
                <a:latin typeface="Times New Roman" panose="02020603050405020304" pitchFamily="18" charset="0"/>
                <a:ea typeface="Times New Roman" panose="02020603050405020304" pitchFamily="18" charset="0"/>
              </a:rPr>
              <a:t>The Simplest alternating waveform </a:t>
            </a:r>
            <a:r>
              <a:rPr lang="en-GB" sz="1200" b="1" i="1" dirty="0">
                <a:solidFill>
                  <a:srgbClr val="002060"/>
                </a:solidFill>
                <a:latin typeface="Times New Roman" panose="02020603050405020304" pitchFamily="18" charset="0"/>
                <a:ea typeface="Times New Roman" panose="02020603050405020304" pitchFamily="18" charset="0"/>
              </a:rPr>
              <a:t>with odd symmetry </a:t>
            </a:r>
            <a:r>
              <a:rPr lang="en-GB" sz="1200" i="1" dirty="0">
                <a:solidFill>
                  <a:srgbClr val="002060"/>
                </a:solidFill>
                <a:latin typeface="Times New Roman" panose="02020603050405020304" pitchFamily="18" charset="0"/>
                <a:ea typeface="Times New Roman" panose="02020603050405020304" pitchFamily="18" charset="0"/>
              </a:rPr>
              <a:t>is the sine</a:t>
            </a:r>
            <a:r>
              <a:rPr lang="en-GB" sz="1200" dirty="0">
                <a:solidFill>
                  <a:srgbClr val="002060"/>
                </a:solidFill>
                <a:latin typeface="Times New Roman" panose="02020603050405020304" pitchFamily="18" charset="0"/>
                <a:ea typeface="Times New Roman" panose="02020603050405020304" pitchFamily="18" charset="0"/>
              </a:rPr>
              <a:t> waveform shown in figure  (a), while the simplest non-repetitive waveform is the </a:t>
            </a:r>
            <a:r>
              <a:rPr lang="en-GB" sz="1200" i="1" dirty="0">
                <a:solidFill>
                  <a:srgbClr val="002060"/>
                </a:solidFill>
                <a:latin typeface="Times New Roman" panose="02020603050405020304" pitchFamily="18" charset="0"/>
                <a:ea typeface="Times New Roman" panose="02020603050405020304" pitchFamily="18" charset="0"/>
              </a:rPr>
              <a:t>ramp</a:t>
            </a:r>
            <a:r>
              <a:rPr lang="en-GB" sz="1200" dirty="0">
                <a:solidFill>
                  <a:srgbClr val="002060"/>
                </a:solidFill>
                <a:latin typeface="Times New Roman" panose="02020603050405020304" pitchFamily="18" charset="0"/>
                <a:ea typeface="Times New Roman" panose="02020603050405020304" pitchFamily="18" charset="0"/>
              </a:rPr>
              <a:t> waveform shown in figure (b).  However, figure (b) cannot be included in the Fourier series.</a:t>
            </a:r>
            <a:endParaRPr lang="en-GB" sz="1200" dirty="0">
              <a:latin typeface="Times New Roman" panose="02020603050405020304" pitchFamily="18" charset="0"/>
              <a:ea typeface="Times New Roman" panose="02020603050405020304" pitchFamily="18" charset="0"/>
            </a:endParaRPr>
          </a:p>
          <a:p>
            <a:pPr algn="just">
              <a:spcAft>
                <a:spcPts val="600"/>
              </a:spcAft>
            </a:pPr>
            <a:r>
              <a:rPr lang="en-GB" sz="1200" dirty="0">
                <a:solidFill>
                  <a:srgbClr val="002060"/>
                </a:solidFill>
                <a:latin typeface="Times New Roman" panose="02020603050405020304" pitchFamily="18" charset="0"/>
                <a:ea typeface="Times New Roman" panose="02020603050405020304" pitchFamily="18" charset="0"/>
              </a:rPr>
              <a:t>Odd symmetry can exist in both periodic and non-periodic waveforms. </a:t>
            </a:r>
            <a:endParaRPr lang="en-GB" sz="1200" dirty="0">
              <a:latin typeface="Times New Roman" panose="02020603050405020304" pitchFamily="18" charset="0"/>
              <a:ea typeface="Times New Roman" panose="02020603050405020304" pitchFamily="18" charset="0"/>
            </a:endParaRPr>
          </a:p>
          <a:p>
            <a:pPr algn="just">
              <a:spcAft>
                <a:spcPts val="600"/>
              </a:spcAft>
            </a:pPr>
            <a:r>
              <a:rPr lang="en-GB" sz="1200" dirty="0">
                <a:solidFill>
                  <a:srgbClr val="002060"/>
                </a:solidFill>
                <a:latin typeface="Times New Roman" panose="02020603050405020304" pitchFamily="18" charset="0"/>
                <a:ea typeface="Times New Roman" panose="02020603050405020304" pitchFamily="18" charset="0"/>
              </a:rPr>
              <a:t>However, only varying terms can exist in such waveforms and a direct term is not possible.</a:t>
            </a:r>
            <a:endParaRPr lang="en-GB" sz="1200" dirty="0">
              <a:latin typeface="Times New Roman" panose="02020603050405020304" pitchFamily="18" charset="0"/>
              <a:ea typeface="Times New Roman" panose="02020603050405020304" pitchFamily="18" charset="0"/>
            </a:endParaRPr>
          </a:p>
          <a:p>
            <a:pPr algn="just">
              <a:spcAft>
                <a:spcPts val="600"/>
              </a:spcAft>
            </a:pPr>
            <a:r>
              <a:rPr lang="en-GB" sz="1200" dirty="0">
                <a:solidFill>
                  <a:srgbClr val="002060"/>
                </a:solidFill>
                <a:latin typeface="Times New Roman" panose="02020603050405020304" pitchFamily="18" charset="0"/>
                <a:ea typeface="Times New Roman" panose="02020603050405020304" pitchFamily="18" charset="0"/>
              </a:rPr>
              <a:t>If the waveform is defined for only time greater than zero, the remainder is automatically known by symmetry.</a:t>
            </a:r>
            <a:endParaRPr lang="en-GB" sz="1200" dirty="0"/>
          </a:p>
        </p:txBody>
      </p:sp>
      <p:sp>
        <p:nvSpPr>
          <p:cNvPr id="4" name="Slide Number Placeholder 3"/>
          <p:cNvSpPr>
            <a:spLocks noGrp="1"/>
          </p:cNvSpPr>
          <p:nvPr>
            <p:ph type="sldNum" sz="quarter" idx="5"/>
          </p:nvPr>
        </p:nvSpPr>
        <p:spPr/>
        <p:txBody>
          <a:bodyPr/>
          <a:lstStyle/>
          <a:p>
            <a:fld id="{2FC4AAFD-141F-4056-A367-1845A08BF131}" type="slidenum">
              <a:rPr lang="en-GB" smtClean="0"/>
              <a:t>11</a:t>
            </a:fld>
            <a:endParaRPr lang="en-GB"/>
          </a:p>
        </p:txBody>
      </p:sp>
    </p:spTree>
    <p:extLst>
      <p:ext uri="{BB962C8B-B14F-4D97-AF65-F5344CB8AC3E}">
        <p14:creationId xmlns:p14="http://schemas.microsoft.com/office/powerpoint/2010/main" val="16574721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rtl="0" eaLnBrk="0" fontAlgn="base" latinLnBrk="0" hangingPunct="0">
              <a:lnSpc>
                <a:spcPct val="120000"/>
              </a:lnSpc>
              <a:spcBef>
                <a:spcPct val="0"/>
              </a:spcBef>
              <a:spcAft>
                <a:spcPct val="0"/>
              </a:spcAft>
              <a:buClrTx/>
              <a:buSzTx/>
              <a:buFontTx/>
              <a:buNone/>
              <a:tabLst/>
            </a:pP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Waveforms in general need not be either odd or even, but can be split into a combination of odd and even.  This can be verified as follows.</a:t>
            </a:r>
            <a:endParaRPr kumimoji="0" lang="en-GB" altLang="en-US" sz="12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20000"/>
              </a:lnSpc>
              <a:spcBef>
                <a:spcPct val="0"/>
              </a:spcBef>
              <a:spcAft>
                <a:spcPct val="0"/>
              </a:spcAft>
              <a:buClrTx/>
              <a:buSzTx/>
              <a:buFontTx/>
              <a:buNone/>
              <a:tabLst/>
            </a:pP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Let us assume that the function </a:t>
            </a:r>
            <a:r>
              <a:rPr kumimoji="0" lang="en-GB" altLang="en-US" sz="12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f(t) can be made up of the summation of </a:t>
            </a:r>
            <a:r>
              <a:rPr kumimoji="0" lang="en-GB" altLang="en-US" sz="1200" b="0" i="1"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f</a:t>
            </a:r>
            <a:r>
              <a:rPr kumimoji="0" lang="en-GB" altLang="en-US" sz="1200" b="0" i="1" u="none" strike="noStrike" cap="none" normalizeH="0" baseline="-30000" dirty="0" err="1">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odd</a:t>
            </a:r>
            <a:r>
              <a:rPr kumimoji="0" lang="en-GB" altLang="en-US" sz="12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 and </a:t>
            </a:r>
            <a:r>
              <a:rPr kumimoji="0" lang="en-GB" altLang="en-US" sz="1200" b="0" i="1"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f</a:t>
            </a:r>
            <a:r>
              <a:rPr kumimoji="0" lang="en-GB" altLang="en-US" sz="1200" b="0" i="1" u="none" strike="noStrike" cap="none" normalizeH="0" baseline="-30000" dirty="0" err="1">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even</a:t>
            </a:r>
            <a:r>
              <a:rPr kumimoji="0" lang="en-GB" altLang="en-US" sz="12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a:t>
            </a:r>
            <a:endParaRPr kumimoji="0" lang="en-GB"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20000"/>
              </a:lnSpc>
              <a:spcBef>
                <a:spcPct val="0"/>
              </a:spcBef>
              <a:spcAft>
                <a:spcPct val="0"/>
              </a:spcAft>
              <a:buClrTx/>
              <a:buSzTx/>
              <a:buFontTx/>
              <a:buNone/>
              <a:tabLst/>
            </a:pPr>
            <a:r>
              <a:rPr kumimoji="0" lang="de-DE"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Then  </a:t>
            </a:r>
            <a:r>
              <a:rPr kumimoji="0" lang="de-DE" altLang="en-US" sz="12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f(-t) can be calculated as f</a:t>
            </a:r>
            <a:r>
              <a:rPr kumimoji="0" lang="de-DE" altLang="en-US" sz="1200" b="0" i="1"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odd</a:t>
            </a:r>
            <a:r>
              <a:rPr kumimoji="0" lang="de-DE" altLang="en-US" sz="12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 + f</a:t>
            </a:r>
            <a:r>
              <a:rPr kumimoji="0" lang="de-DE" altLang="en-US" sz="1200" b="0" i="1"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even</a:t>
            </a:r>
            <a:r>
              <a:rPr kumimoji="0" lang="de-DE" altLang="en-US" sz="12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  or  </a:t>
            </a:r>
            <a:r>
              <a:rPr kumimoji="0" lang="en-GB" altLang="en-US" sz="12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de-DE" altLang="en-US" sz="12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f</a:t>
            </a:r>
            <a:r>
              <a:rPr kumimoji="0" lang="de-DE" altLang="en-US" sz="1200" b="0" i="1"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odd</a:t>
            </a:r>
            <a:r>
              <a:rPr kumimoji="0" lang="de-DE" altLang="en-US" sz="12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 + f</a:t>
            </a:r>
            <a:r>
              <a:rPr kumimoji="0" lang="de-DE" altLang="en-US" sz="1200" b="0" i="1"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even</a:t>
            </a:r>
            <a:r>
              <a:rPr kumimoji="0" lang="de-DE" altLang="en-US" sz="12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a:t>
            </a:r>
            <a:endParaRPr kumimoji="0" lang="en-GB"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20000"/>
              </a:lnSpc>
              <a:spcBef>
                <a:spcPct val="0"/>
              </a:spcBef>
              <a:spcAft>
                <a:spcPct val="0"/>
              </a:spcAft>
              <a:buClrTx/>
              <a:buSzTx/>
              <a:buFontTx/>
              <a:buNone/>
              <a:tabLst/>
            </a:pP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Addition and subtraction thus gives</a:t>
            </a:r>
            <a:endParaRPr kumimoji="0" lang="en-GB" altLang="en-US" sz="1200" b="0" i="0" u="none" strike="noStrike" cap="none" normalizeH="0" baseline="0" dirty="0">
              <a:ln>
                <a:noFill/>
              </a:ln>
              <a:solidFill>
                <a:schemeClr val="tx1"/>
              </a:solidFill>
              <a:effectLst/>
              <a:latin typeface="Arial" panose="020B0604020202020204" pitchFamily="34" charset="0"/>
            </a:endParaRPr>
          </a:p>
          <a:p>
            <a:r>
              <a:rPr lang="en-GB" dirty="0"/>
              <a:t>f odd (t) equals half the difference between f(t) and f(-t), while f even (t) is composed of half the sum of f(t) and f(-t)</a:t>
            </a:r>
          </a:p>
          <a:p>
            <a:r>
              <a:rPr lang="en-GB" dirty="0"/>
              <a:t>This </a:t>
            </a:r>
            <a:r>
              <a:rPr lang="en-GB" dirty="0" err="1"/>
              <a:t>veries</a:t>
            </a:r>
            <a:r>
              <a:rPr lang="en-GB" dirty="0"/>
              <a:t> that any general waveform can be split into a combination of odd and even waveforms paving the way for the Fourier series to be made up of direct terms, cosine terms and sine terms.</a:t>
            </a:r>
          </a:p>
        </p:txBody>
      </p:sp>
      <p:sp>
        <p:nvSpPr>
          <p:cNvPr id="4" name="Slide Number Placeholder 3"/>
          <p:cNvSpPr>
            <a:spLocks noGrp="1"/>
          </p:cNvSpPr>
          <p:nvPr>
            <p:ph type="sldNum" sz="quarter" idx="5"/>
          </p:nvPr>
        </p:nvSpPr>
        <p:spPr/>
        <p:txBody>
          <a:bodyPr/>
          <a:lstStyle/>
          <a:p>
            <a:fld id="{2FC4AAFD-141F-4056-A367-1845A08BF131}" type="slidenum">
              <a:rPr lang="en-GB" smtClean="0"/>
              <a:t>12</a:t>
            </a:fld>
            <a:endParaRPr lang="en-GB"/>
          </a:p>
        </p:txBody>
      </p:sp>
    </p:spTree>
    <p:extLst>
      <p:ext uri="{BB962C8B-B14F-4D97-AF65-F5344CB8AC3E}">
        <p14:creationId xmlns:p14="http://schemas.microsoft.com/office/powerpoint/2010/main" val="37017071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both even waveforms and odd waveforms depend on the origin and the positive and negative sides of the axis, half wave symmetry is not dependent on the position of the axis.</a:t>
            </a:r>
          </a:p>
          <a:p>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 function </a:t>
            </a:r>
            <a:r>
              <a:rPr kumimoji="0" lang="en-GB" altLang="en-US" sz="1200" b="0"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f(t)</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exhibits half-wave symmetry, when one half of waveform is exactly equal to the negation of previous or next half of waveform</a:t>
            </a:r>
            <a:r>
              <a:rPr kumimoji="0" lang="en-GB" altLang="en-US" sz="1200" b="0"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as shown.</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13</a:t>
            </a:fld>
            <a:endParaRPr lang="en-GB"/>
          </a:p>
        </p:txBody>
      </p:sp>
    </p:spTree>
    <p:extLst>
      <p:ext uri="{BB962C8B-B14F-4D97-AF65-F5344CB8AC3E}">
        <p14:creationId xmlns:p14="http://schemas.microsoft.com/office/powerpoint/2010/main" val="3469214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Aft>
                <a:spcPts val="600"/>
              </a:spcAft>
            </a:pPr>
            <a:r>
              <a:rPr lang="en-GB" sz="1200" dirty="0">
                <a:solidFill>
                  <a:srgbClr val="002060"/>
                </a:solidFill>
                <a:latin typeface="Times New Roman" panose="02020603050405020304" pitchFamily="18" charset="0"/>
                <a:ea typeface="Times New Roman" panose="02020603050405020304" pitchFamily="18" charset="0"/>
              </a:rPr>
              <a:t>The simplest form of </a:t>
            </a:r>
            <a:r>
              <a:rPr lang="en-GB" sz="1200" i="1" dirty="0">
                <a:solidFill>
                  <a:srgbClr val="002060"/>
                </a:solidFill>
                <a:latin typeface="Times New Roman" panose="02020603050405020304" pitchFamily="18" charset="0"/>
                <a:ea typeface="Times New Roman" panose="02020603050405020304" pitchFamily="18" charset="0"/>
              </a:rPr>
              <a:t>Half-wave Symmetry</a:t>
            </a:r>
            <a:r>
              <a:rPr lang="en-GB" sz="1200" dirty="0">
                <a:solidFill>
                  <a:srgbClr val="002060"/>
                </a:solidFill>
                <a:latin typeface="Times New Roman" panose="02020603050405020304" pitchFamily="18" charset="0"/>
                <a:ea typeface="Times New Roman" panose="02020603050405020304" pitchFamily="18" charset="0"/>
              </a:rPr>
              <a:t> is the </a:t>
            </a:r>
            <a:r>
              <a:rPr lang="en-GB" sz="1200" i="1" dirty="0">
                <a:solidFill>
                  <a:srgbClr val="002060"/>
                </a:solidFill>
                <a:latin typeface="Times New Roman" panose="02020603050405020304" pitchFamily="18" charset="0"/>
                <a:ea typeface="Times New Roman" panose="02020603050405020304" pitchFamily="18" charset="0"/>
              </a:rPr>
              <a:t>sinusoidal waveform shown</a:t>
            </a:r>
            <a:r>
              <a:rPr lang="en-GB" sz="1200" dirty="0">
                <a:solidFill>
                  <a:srgbClr val="002060"/>
                </a:solidFill>
                <a:latin typeface="Times New Roman" panose="02020603050405020304" pitchFamily="18" charset="0"/>
                <a:ea typeface="Times New Roman" panose="02020603050405020304" pitchFamily="18" charset="0"/>
              </a:rPr>
              <a:t> in figure (a). You will notice that it need not be a sine waveform or a cosine waveform, but can have any phase angle.</a:t>
            </a:r>
            <a:endParaRPr lang="en-GB" sz="1200" dirty="0">
              <a:latin typeface="Times New Roman" panose="02020603050405020304" pitchFamily="18" charset="0"/>
              <a:ea typeface="Times New Roman" panose="02020603050405020304" pitchFamily="18" charset="0"/>
            </a:endParaRPr>
          </a:p>
          <a:p>
            <a:pPr algn="just">
              <a:spcAft>
                <a:spcPts val="600"/>
              </a:spcAft>
            </a:pPr>
            <a:r>
              <a:rPr lang="en-GB" sz="1200" dirty="0">
                <a:solidFill>
                  <a:srgbClr val="002060"/>
                </a:solidFill>
                <a:latin typeface="Times New Roman" panose="02020603050405020304" pitchFamily="18" charset="0"/>
                <a:ea typeface="Times New Roman" panose="02020603050405020304" pitchFamily="18" charset="0"/>
              </a:rPr>
              <a:t>Half-wave symmetry can only exist in periodic waveforms. </a:t>
            </a:r>
            <a:endParaRPr lang="en-GB" sz="1200" dirty="0">
              <a:latin typeface="Times New Roman" panose="02020603050405020304" pitchFamily="18" charset="0"/>
              <a:ea typeface="Times New Roman" panose="02020603050405020304" pitchFamily="18" charset="0"/>
            </a:endParaRPr>
          </a:p>
          <a:p>
            <a:pPr algn="just">
              <a:spcAft>
                <a:spcPts val="600"/>
              </a:spcAft>
            </a:pPr>
            <a:r>
              <a:rPr lang="en-GB" sz="1200" dirty="0">
                <a:solidFill>
                  <a:srgbClr val="002060"/>
                </a:solidFill>
                <a:latin typeface="Times New Roman" panose="02020603050405020304" pitchFamily="18" charset="0"/>
                <a:ea typeface="Times New Roman" panose="02020603050405020304" pitchFamily="18" charset="0"/>
              </a:rPr>
              <a:t>Only varying terms can exist in such waveforms.</a:t>
            </a:r>
            <a:endParaRPr lang="en-GB" sz="1200" dirty="0">
              <a:latin typeface="Times New Roman" panose="02020603050405020304" pitchFamily="18" charset="0"/>
              <a:ea typeface="Times New Roman" panose="02020603050405020304" pitchFamily="18" charset="0"/>
            </a:endParaRPr>
          </a:p>
          <a:p>
            <a:pPr algn="just">
              <a:spcAft>
                <a:spcPts val="600"/>
              </a:spcAft>
            </a:pPr>
            <a:r>
              <a:rPr lang="en-GB" sz="1200" dirty="0">
                <a:solidFill>
                  <a:srgbClr val="002060"/>
                </a:solidFill>
                <a:latin typeface="Times New Roman" panose="02020603050405020304" pitchFamily="18" charset="0"/>
                <a:ea typeface="Times New Roman" panose="02020603050405020304" pitchFamily="18" charset="0"/>
              </a:rPr>
              <a:t>Direct terms cannot exist in half-wave symmetrical waveforms.</a:t>
            </a:r>
            <a:endParaRPr lang="en-GB" sz="1200" dirty="0">
              <a:latin typeface="Times New Roman" panose="02020603050405020304" pitchFamily="18" charset="0"/>
              <a:ea typeface="Times New Roman" panose="02020603050405020304" pitchFamily="18" charset="0"/>
            </a:endParaRPr>
          </a:p>
          <a:p>
            <a:r>
              <a:rPr lang="en-GB" sz="1200" dirty="0">
                <a:solidFill>
                  <a:srgbClr val="002060"/>
                </a:solidFill>
                <a:latin typeface="Times New Roman" panose="02020603050405020304" pitchFamily="18" charset="0"/>
                <a:ea typeface="Times New Roman" panose="02020603050405020304" pitchFamily="18" charset="0"/>
              </a:rPr>
              <a:t>If the waveform is defined for only </a:t>
            </a:r>
            <a:r>
              <a:rPr lang="en-GB" sz="1200" b="1" dirty="0">
                <a:solidFill>
                  <a:srgbClr val="002060"/>
                </a:solidFill>
                <a:latin typeface="Times New Roman" panose="02020603050405020304" pitchFamily="18" charset="0"/>
                <a:ea typeface="Times New Roman" panose="02020603050405020304" pitchFamily="18" charset="0"/>
              </a:rPr>
              <a:t>one half cycle</a:t>
            </a:r>
            <a:r>
              <a:rPr lang="en-GB" sz="1200" dirty="0">
                <a:solidFill>
                  <a:srgbClr val="002060"/>
                </a:solidFill>
                <a:latin typeface="Times New Roman" panose="02020603050405020304" pitchFamily="18" charset="0"/>
                <a:ea typeface="Times New Roman" panose="02020603050405020304" pitchFamily="18" charset="0"/>
              </a:rPr>
              <a:t>, not necessarily starting from t=0, the remaining half of the waveform can automatically be determined by symmetry. </a:t>
            </a:r>
            <a:endParaRPr lang="en-GB" sz="1200" dirty="0"/>
          </a:p>
        </p:txBody>
      </p:sp>
      <p:sp>
        <p:nvSpPr>
          <p:cNvPr id="4" name="Slide Number Placeholder 3"/>
          <p:cNvSpPr>
            <a:spLocks noGrp="1"/>
          </p:cNvSpPr>
          <p:nvPr>
            <p:ph type="sldNum" sz="quarter" idx="5"/>
          </p:nvPr>
        </p:nvSpPr>
        <p:spPr/>
        <p:txBody>
          <a:bodyPr/>
          <a:lstStyle/>
          <a:p>
            <a:fld id="{2FC4AAFD-141F-4056-A367-1845A08BF131}" type="slidenum">
              <a:rPr lang="en-GB" smtClean="0"/>
              <a:t>14</a:t>
            </a:fld>
            <a:endParaRPr lang="en-GB"/>
          </a:p>
        </p:txBody>
      </p:sp>
    </p:spTree>
    <p:extLst>
      <p:ext uri="{BB962C8B-B14F-4D97-AF65-F5344CB8AC3E}">
        <p14:creationId xmlns:p14="http://schemas.microsoft.com/office/powerpoint/2010/main" val="40858981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recall for you some of the basics that you have learnt in trigonometry that will be useful in determining the Fourier coefficients.</a:t>
            </a:r>
          </a:p>
          <a:p>
            <a:r>
              <a:rPr lang="en-US" dirty="0"/>
              <a:t>The area under one cycle of a sinusoidal waveform is zero, whether cosine, or sine or any other phase angle.  Thus if a complete number of cycles are completed within a given period, then the integral of that waveform is also zero.</a:t>
            </a:r>
          </a:p>
          <a:p>
            <a:r>
              <a:rPr lang="en-US" dirty="0"/>
              <a:t>Since the product of sine and cos, or sine and sine, or cos and cos yields sinusoidal waveforms, unless the frequency and phase angle of the two terms are equal, the above expressions can be shown to be true.</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15</a:t>
            </a:fld>
            <a:endParaRPr lang="en-GB"/>
          </a:p>
        </p:txBody>
      </p:sp>
    </p:spTree>
    <p:extLst>
      <p:ext uri="{BB962C8B-B14F-4D97-AF65-F5344CB8AC3E}">
        <p14:creationId xmlns:p14="http://schemas.microsoft.com/office/powerpoint/2010/main" val="14849713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quest is to obtain the coefficients of the terms in the Fourier series.  Let us examine how that can be done.</a:t>
            </a:r>
          </a:p>
          <a:p>
            <a:r>
              <a:rPr lang="en-US" dirty="0"/>
              <a:t>As we saw earlier, the Fourier series of a periodic function f(t) is defined as the sum of a direct term A zero by 2 plus the sum from 1 to infinity of An cos n omega t plus Bn sin n omega t.</a:t>
            </a:r>
          </a:p>
          <a:p>
            <a:r>
              <a:rPr lang="en-US" dirty="0"/>
              <a:t>You might wonder why the first term is written as A zero by 2 rather than A0.  This is because mathematically the same expression can be used to calculate both A0 and An.</a:t>
            </a:r>
          </a:p>
          <a:p>
            <a:r>
              <a:rPr lang="en-US" dirty="0"/>
              <a:t>I will explain logically why that happens.</a:t>
            </a:r>
          </a:p>
          <a:p>
            <a:r>
              <a:rPr lang="en-GB" dirty="0"/>
              <a:t>Consider the x-axis, or in this case the omega axis.  It goes from minus infinity in the left to plus infinity in the right.</a:t>
            </a:r>
          </a:p>
          <a:p>
            <a:r>
              <a:rPr lang="en-GB" dirty="0"/>
              <a:t>When we look at sin omega t or cos omega t, we can see that minus sin minus omega t and cos minus omega t have the same values as those with positive angular frequency.  Thus it is not feasible to mathematically separate a positive frequency from a negative frequency.  Thus frequency must be limited to the positive values.  </a:t>
            </a:r>
          </a:p>
          <a:p>
            <a:r>
              <a:rPr lang="en-GB" dirty="0"/>
              <a:t>If you again look at the axis, you will see that zero frequency or direct value, does not really belong to either the positive side or the negative side, but in between.  Or in other words we can say that half of zero mathematically belongs to the positive side and half to the negative side.  </a:t>
            </a:r>
          </a:p>
          <a:p>
            <a:r>
              <a:rPr lang="en-GB" dirty="0"/>
              <a:t>That is why A zero appears as A zero by 2 in the Fourier series.  This is not a proof but an explanation to help you to visualise.</a:t>
            </a:r>
          </a:p>
        </p:txBody>
      </p:sp>
      <p:sp>
        <p:nvSpPr>
          <p:cNvPr id="4" name="Slide Number Placeholder 3"/>
          <p:cNvSpPr>
            <a:spLocks noGrp="1"/>
          </p:cNvSpPr>
          <p:nvPr>
            <p:ph type="sldNum" sz="quarter" idx="5"/>
          </p:nvPr>
        </p:nvSpPr>
        <p:spPr/>
        <p:txBody>
          <a:bodyPr/>
          <a:lstStyle/>
          <a:p>
            <a:fld id="{2FC4AAFD-141F-4056-A367-1845A08BF131}" type="slidenum">
              <a:rPr lang="en-GB" smtClean="0"/>
              <a:t>16</a:t>
            </a:fld>
            <a:endParaRPr lang="en-GB"/>
          </a:p>
        </p:txBody>
      </p:sp>
    </p:spTree>
    <p:extLst>
      <p:ext uri="{BB962C8B-B14F-4D97-AF65-F5344CB8AC3E}">
        <p14:creationId xmlns:p14="http://schemas.microsoft.com/office/powerpoint/2010/main" val="39012722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now integrate f(t) with respect to t, and also its Fourier series, as shown.</a:t>
            </a:r>
          </a:p>
          <a:p>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Using the properties of trigonometry which we recently recalled, only first term gives a non zero integral.</a:t>
            </a:r>
          </a:p>
          <a:p>
            <a:r>
              <a:rPr kumimoji="0" lang="en-GB" sz="1200" b="0" i="0" u="none" strike="noStrike" cap="none" normalizeH="0" baseline="0" dirty="0">
                <a:ln>
                  <a:noFill/>
                </a:ln>
                <a:solidFill>
                  <a:srgbClr val="002060"/>
                </a:solidFill>
                <a:effectLst/>
                <a:latin typeface="Arial" panose="020B0604020202020204" pitchFamily="34" charset="0"/>
              </a:rPr>
              <a:t>This gives A zero equal to two over T integral over one complete cycle from any t zero of f(t).</a:t>
            </a:r>
          </a:p>
          <a:p>
            <a:r>
              <a:rPr kumimoji="0" lang="en-GB" sz="1200" b="0" i="0" u="none" strike="noStrike" cap="none" normalizeH="0" baseline="0" dirty="0">
                <a:ln>
                  <a:noFill/>
                </a:ln>
                <a:solidFill>
                  <a:srgbClr val="002060"/>
                </a:solidFill>
                <a:effectLst/>
                <a:latin typeface="Arial" panose="020B0604020202020204" pitchFamily="34" charset="0"/>
              </a:rPr>
              <a:t>The mean value of f(t) is one over  T integral over one complete cycle from any t zero of f(t), or half the integral for A zero.</a:t>
            </a:r>
          </a:p>
          <a:p>
            <a:r>
              <a:rPr kumimoji="0" lang="en-GB" sz="1200" b="0" i="0" u="none" strike="noStrike" cap="none" normalizeH="0" baseline="0" dirty="0">
                <a:ln>
                  <a:noFill/>
                </a:ln>
                <a:solidFill>
                  <a:srgbClr val="002060"/>
                </a:solidFill>
                <a:effectLst/>
                <a:latin typeface="Arial" panose="020B0604020202020204" pitchFamily="34" charset="0"/>
              </a:rPr>
              <a:t>Thus half A zero can also be determined by determining the mean value.</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17</a:t>
            </a:fld>
            <a:endParaRPr lang="en-GB"/>
          </a:p>
        </p:txBody>
      </p:sp>
    </p:spTree>
    <p:extLst>
      <p:ext uri="{BB962C8B-B14F-4D97-AF65-F5344CB8AC3E}">
        <p14:creationId xmlns:p14="http://schemas.microsoft.com/office/powerpoint/2010/main" val="14405747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similar manner, to determine the coefficient An can be determined by </a:t>
            </a:r>
            <a:r>
              <a:rPr kumimoji="0" lang="en-GB" altLang="en-US" sz="1200" b="0" i="0" u="none" strike="noStrike" cap="none" normalizeH="0" baseline="0" dirty="0">
                <a:ln>
                  <a:noFill/>
                </a:ln>
                <a:solidFill>
                  <a:srgbClr val="002060"/>
                </a:solidFill>
                <a:effectLst/>
                <a:ea typeface="Times New Roman" panose="02020603050405020304" pitchFamily="18" charset="0"/>
              </a:rPr>
              <a:t>each term by  </a:t>
            </a:r>
            <a:r>
              <a:rPr kumimoji="0" lang="en-GB" altLang="en-US" sz="1200" b="0" i="1" u="none" strike="noStrike" cap="none" normalizeH="0" baseline="0" dirty="0">
                <a:ln>
                  <a:noFill/>
                </a:ln>
                <a:solidFill>
                  <a:srgbClr val="002060"/>
                </a:solidFill>
                <a:effectLst/>
                <a:ea typeface="Times New Roman" panose="02020603050405020304" pitchFamily="18" charset="0"/>
              </a:rPr>
              <a:t>cos m</a:t>
            </a:r>
            <a:r>
              <a:rPr kumimoji="0" lang="en-GB" altLang="en-US" sz="1200" b="0" i="1"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 </a:t>
            </a:r>
            <a:r>
              <a:rPr kumimoji="0" lang="en-GB" altLang="en-US" sz="1200" b="0" i="1"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rPr>
              <a:t>omeg</a:t>
            </a:r>
            <a:r>
              <a:rPr kumimoji="0" lang="en-GB" altLang="en-US" sz="1200" b="0" i="1"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 zero</a:t>
            </a:r>
            <a:r>
              <a:rPr kumimoji="0" lang="en-GB" altLang="en-US" sz="1200" b="0" i="1" u="none" strike="noStrike" cap="none" normalizeH="0" baseline="-30000" dirty="0">
                <a:ln>
                  <a:noFill/>
                </a:ln>
                <a:solidFill>
                  <a:srgbClr val="002060"/>
                </a:solidFill>
                <a:effectLst/>
                <a:ea typeface="Times New Roman" panose="02020603050405020304" pitchFamily="18" charset="0"/>
              </a:rPr>
              <a:t> </a:t>
            </a:r>
            <a:r>
              <a:rPr kumimoji="0" lang="en-GB" altLang="en-US" sz="1200" b="0" i="1" u="none" strike="noStrike" cap="none" normalizeH="0" baseline="0" dirty="0">
                <a:ln>
                  <a:noFill/>
                </a:ln>
                <a:solidFill>
                  <a:srgbClr val="002060"/>
                </a:solidFill>
                <a:effectLst/>
                <a:ea typeface="Times New Roman" panose="02020603050405020304" pitchFamily="18" charset="0"/>
              </a:rPr>
              <a:t>t  </a:t>
            </a:r>
            <a:r>
              <a:rPr kumimoji="0" lang="en-GB" altLang="en-US" sz="1200" b="0" i="0" u="none" strike="noStrike" cap="none" normalizeH="0" baseline="0" dirty="0">
                <a:ln>
                  <a:noFill/>
                </a:ln>
                <a:solidFill>
                  <a:srgbClr val="002060"/>
                </a:solidFill>
                <a:effectLst/>
                <a:ea typeface="Times New Roman" panose="02020603050405020304" pitchFamily="18" charset="0"/>
              </a:rPr>
              <a:t>before integrating.</a:t>
            </a:r>
          </a:p>
          <a:p>
            <a:r>
              <a:rPr kumimoji="0" lang="en-GB" sz="1200" b="0" i="0" u="none" strike="noStrike" cap="none" normalizeH="0" baseline="0" dirty="0">
                <a:ln>
                  <a:noFill/>
                </a:ln>
                <a:solidFill>
                  <a:srgbClr val="002060"/>
                </a:solidFill>
                <a:effectLst/>
              </a:rPr>
              <a:t>In this integral too, only </a:t>
            </a:r>
            <a:r>
              <a:rPr kumimoji="0" lang="en-US" sz="1200" b="0" i="0" u="none" strike="noStrike" cap="none" normalizeH="0" baseline="0" dirty="0">
                <a:ln>
                  <a:noFill/>
                </a:ln>
                <a:solidFill>
                  <a:srgbClr val="002060"/>
                </a:solidFill>
                <a:effectLst/>
              </a:rPr>
              <a:t>cos n omega zero t term on right hand side of equation will give a non-zero integral, and that too only when m=n.</a:t>
            </a:r>
          </a:p>
          <a:p>
            <a:r>
              <a:rPr kumimoji="0" lang="en-US" sz="1200" b="0" i="0" u="none" strike="noStrike" cap="none" normalizeH="0" baseline="0" dirty="0">
                <a:ln>
                  <a:noFill/>
                </a:ln>
                <a:solidFill>
                  <a:srgbClr val="002060"/>
                </a:solidFill>
                <a:effectLst/>
              </a:rPr>
              <a:t>Thus An may be determined as two over T integral over any complete cycle of f(t) times cos n omega zero t, and Bn as two over T integral over any complete cycle of f(t) times sin n omega zero t.</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18</a:t>
            </a:fld>
            <a:endParaRPr lang="en-GB"/>
          </a:p>
        </p:txBody>
      </p:sp>
    </p:spTree>
    <p:extLst>
      <p:ext uri="{BB962C8B-B14F-4D97-AF65-F5344CB8AC3E}">
        <p14:creationId xmlns:p14="http://schemas.microsoft.com/office/powerpoint/2010/main" val="4725967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now see how the symmetrical properties of waveforms may be made use of to reduce the complexity of calculation of the Fourier coefficients.</a:t>
            </a:r>
          </a:p>
          <a:p>
            <a:r>
              <a:rPr lang="en-US" dirty="0"/>
              <a:t>First let us consider a waveform with even symmetry as shown in the figure.</a:t>
            </a:r>
          </a:p>
          <a:p>
            <a:r>
              <a:rPr lang="en-GB" dirty="0"/>
              <a:t>It is to be noted that the waveform from </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0 to T/2  corresponds to the mirror image from –T/2  to  0.</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19</a:t>
            </a:fld>
            <a:endParaRPr lang="en-GB"/>
          </a:p>
        </p:txBody>
      </p:sp>
    </p:spTree>
    <p:extLst>
      <p:ext uri="{BB962C8B-B14F-4D97-AF65-F5344CB8AC3E}">
        <p14:creationId xmlns:p14="http://schemas.microsoft.com/office/powerpoint/2010/main" val="29932827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symmetry for an even function is across the y-axis, consider a period from minus half T to plus half T.  This may then be split into two regions from minus half T to zero, and from zero to plus half T.</a:t>
            </a:r>
          </a:p>
          <a:p>
            <a:r>
              <a:rPr lang="en-US" dirty="0"/>
              <a:t>Then using the mathematical properties of change of variable from </a:t>
            </a:r>
            <a:r>
              <a:rPr kumimoji="0" lang="en-GB" altLang="en-US" sz="1200" b="0" i="0" u="none" strike="noStrike" cap="none" normalizeH="0" baseline="0" dirty="0">
                <a:ln>
                  <a:noFill/>
                </a:ln>
                <a:solidFill>
                  <a:srgbClr val="002060"/>
                </a:solidFill>
                <a:effectLst/>
                <a:ea typeface="Times New Roman" panose="02020603050405020304" pitchFamily="18" charset="0"/>
              </a:rPr>
              <a:t>In first part of expression, ‘t’ is replaced by ‘</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1200" b="0" i="0" u="none" strike="noStrike" cap="none" normalizeH="0" baseline="0" dirty="0">
                <a:ln>
                  <a:noFill/>
                </a:ln>
                <a:solidFill>
                  <a:srgbClr val="002060"/>
                </a:solidFill>
                <a:effectLst/>
                <a:ea typeface="Times New Roman" panose="02020603050405020304" pitchFamily="18" charset="0"/>
              </a:rPr>
              <a:t>t’ in the first part of expression, the two integrals can be seen to be similar.</a:t>
            </a:r>
          </a:p>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1200" b="0" i="0" u="none" strike="noStrike" cap="none" normalizeH="0" baseline="0" dirty="0">
                <a:ln>
                  <a:noFill/>
                </a:ln>
                <a:solidFill>
                  <a:srgbClr val="002060"/>
                </a:solidFill>
                <a:effectLst/>
                <a:ea typeface="Times New Roman" panose="02020603050405020304" pitchFamily="18" charset="0"/>
              </a:rPr>
              <a:t>Since function  is even, f(</a:t>
            </a:r>
            <a:r>
              <a:rPr kumimoji="0" lang="en-GB" altLang="en-US" sz="1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cs typeface="Times New Roman" panose="02020603050405020304" pitchFamily="18" charset="0"/>
              </a:rPr>
              <a:t>-</a:t>
            </a:r>
            <a:r>
              <a:rPr kumimoji="0" lang="en-GB" altLang="en-US" sz="1200" b="0" i="0" u="none" strike="noStrike" cap="none" normalizeH="0" baseline="0" dirty="0">
                <a:ln>
                  <a:noFill/>
                </a:ln>
                <a:solidFill>
                  <a:srgbClr val="002060"/>
                </a:solidFill>
                <a:effectLst/>
                <a:ea typeface="Times New Roman" panose="02020603050405020304" pitchFamily="18" charset="0"/>
              </a:rPr>
              <a:t>t) = f(t),  and cos(</a:t>
            </a:r>
            <a:r>
              <a:rPr kumimoji="0" lang="en-GB" altLang="en-US" sz="1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cs typeface="Times New Roman" panose="02020603050405020304" pitchFamily="18" charset="0"/>
              </a:rPr>
              <a:t>minus </a:t>
            </a:r>
            <a:r>
              <a:rPr kumimoji="0" lang="en-GB" altLang="en-US" sz="1200" b="0" i="0" u="none" strike="noStrike" cap="none" normalizeH="0" baseline="0" dirty="0">
                <a:ln>
                  <a:noFill/>
                </a:ln>
                <a:solidFill>
                  <a:srgbClr val="002060"/>
                </a:solidFill>
                <a:effectLst/>
                <a:ea typeface="Times New Roman" panose="02020603050405020304" pitchFamily="18" charset="0"/>
              </a:rPr>
              <a:t>n omega zero t) = cos(n </a:t>
            </a:r>
            <a:r>
              <a:rPr kumimoji="0" lang="en-GB" altLang="en-US" sz="1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cs typeface="Times New Roman" panose="02020603050405020304" pitchFamily="18" charset="0"/>
              </a:rPr>
              <a:t>omega zero </a:t>
            </a:r>
            <a:r>
              <a:rPr kumimoji="0" lang="en-GB" altLang="en-US" sz="1200" b="0" i="0" u="none" strike="noStrike" cap="none" normalizeH="0" baseline="0" dirty="0">
                <a:ln>
                  <a:noFill/>
                </a:ln>
                <a:solidFill>
                  <a:srgbClr val="002060"/>
                </a:solidFill>
                <a:effectLst/>
                <a:ea typeface="Times New Roman" panose="02020603050405020304" pitchFamily="18" charset="0"/>
              </a:rPr>
              <a:t>t)</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20</a:t>
            </a:fld>
            <a:endParaRPr lang="en-GB"/>
          </a:p>
        </p:txBody>
      </p:sp>
    </p:spTree>
    <p:extLst>
      <p:ext uri="{BB962C8B-B14F-4D97-AF65-F5344CB8AC3E}">
        <p14:creationId xmlns:p14="http://schemas.microsoft.com/office/powerpoint/2010/main" val="40457946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I have shown the mathematics step by step, I am not going to read them out.</a:t>
            </a:r>
          </a:p>
          <a:p>
            <a:r>
              <a:rPr lang="en-US" dirty="0"/>
              <a:t>Simplification yields the result that An equals twice the integral over half a cycle starting from zero.</a:t>
            </a:r>
          </a:p>
          <a:p>
            <a:r>
              <a:rPr lang="en-US" dirty="0"/>
              <a:t>We may use similar simplification to simplify Bn</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21</a:t>
            </a:fld>
            <a:endParaRPr lang="en-GB"/>
          </a:p>
        </p:txBody>
      </p:sp>
    </p:spTree>
    <p:extLst>
      <p:ext uri="{BB962C8B-B14F-4D97-AF65-F5344CB8AC3E}">
        <p14:creationId xmlns:p14="http://schemas.microsoft.com/office/powerpoint/2010/main" val="7874922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t>
            </a:r>
            <a:r>
              <a:rPr lang="en-US" dirty="0" err="1"/>
              <a:t>simplying</a:t>
            </a:r>
            <a:r>
              <a:rPr lang="en-US" dirty="0"/>
              <a:t> you will </a:t>
            </a:r>
            <a:r>
              <a:rPr lang="en-US" dirty="0" err="1"/>
              <a:t>realise</a:t>
            </a:r>
            <a:r>
              <a:rPr lang="en-US" dirty="0"/>
              <a:t> that although the two integrals have equal magnitude, they have opposite signs.</a:t>
            </a:r>
          </a:p>
          <a:p>
            <a:pPr marL="404813" marR="0" lvl="0" indent="-404813" algn="l" defTabSz="914400" rtl="0" eaLnBrk="0" fontAlgn="base" latinLnBrk="0" hangingPunct="0">
              <a:lnSpc>
                <a:spcPct val="120000"/>
              </a:lnSpc>
              <a:spcBef>
                <a:spcPct val="0"/>
              </a:spcBef>
              <a:spcAft>
                <a:spcPct val="0"/>
              </a:spcAft>
              <a:buClrTx/>
              <a:buSzTx/>
              <a:buFontTx/>
              <a:buNone/>
              <a:tabLst>
                <a:tab pos="381000" algn="l"/>
                <a:tab pos="3276600" algn="l"/>
              </a:tabLst>
            </a:pPr>
            <a:r>
              <a:rPr kumimoji="0" lang="en-GB" altLang="en-US" sz="1200" b="0" i="0" u="none" strike="noStrike" cap="none" normalizeH="0" baseline="0" dirty="0">
                <a:ln>
                  <a:noFill/>
                </a:ln>
                <a:solidFill>
                  <a:srgbClr val="002060"/>
                </a:solidFill>
                <a:effectLst/>
                <a:ea typeface="Times New Roman" panose="02020603050405020304" pitchFamily="18" charset="0"/>
              </a:rPr>
              <a:t>Thus for waveforms with</a:t>
            </a:r>
            <a:r>
              <a:rPr kumimoji="0" lang="en-GB" altLang="en-US" sz="1200" b="1" i="0" u="none" strike="noStrike" cap="none" normalizeH="0" baseline="0" dirty="0">
                <a:ln>
                  <a:noFill/>
                </a:ln>
                <a:solidFill>
                  <a:srgbClr val="002060"/>
                </a:solidFill>
                <a:effectLst/>
                <a:ea typeface="Times New Roman" panose="02020603050405020304" pitchFamily="18" charset="0"/>
              </a:rPr>
              <a:t> even symmetry, B</a:t>
            </a:r>
            <a:r>
              <a:rPr kumimoji="0" lang="en-GB" altLang="en-US" sz="1200" b="1" i="0" u="none" strike="noStrike" cap="none" normalizeH="0" baseline="-30000" dirty="0">
                <a:ln>
                  <a:noFill/>
                </a:ln>
                <a:solidFill>
                  <a:srgbClr val="002060"/>
                </a:solidFill>
                <a:effectLst/>
                <a:ea typeface="Times New Roman" panose="02020603050405020304" pitchFamily="18" charset="0"/>
              </a:rPr>
              <a:t>n</a:t>
            </a:r>
            <a:r>
              <a:rPr kumimoji="0" lang="en-GB" altLang="en-US" sz="1200" b="1" i="0" u="none" strike="noStrike" cap="none" normalizeH="0" baseline="0" dirty="0">
                <a:ln>
                  <a:noFill/>
                </a:ln>
                <a:solidFill>
                  <a:srgbClr val="002060"/>
                </a:solidFill>
                <a:effectLst/>
                <a:ea typeface="Times New Roman" panose="02020603050405020304" pitchFamily="18" charset="0"/>
              </a:rPr>
              <a:t> = 0</a:t>
            </a:r>
            <a:r>
              <a:rPr kumimoji="0" lang="en-GB" altLang="en-US" sz="1200" b="0" i="0" u="none" strike="noStrike" cap="none" normalizeH="0" baseline="0" dirty="0">
                <a:ln>
                  <a:noFill/>
                </a:ln>
                <a:solidFill>
                  <a:srgbClr val="002060"/>
                </a:solidFill>
                <a:effectLst/>
                <a:ea typeface="Times New Roman" panose="02020603050405020304" pitchFamily="18" charset="0"/>
              </a:rPr>
              <a:t>  for all </a:t>
            </a:r>
            <a:r>
              <a:rPr kumimoji="0" lang="en-GB" altLang="en-US" sz="1200" b="1" i="0" u="none" strike="noStrike" cap="none" normalizeH="0" baseline="0" dirty="0">
                <a:ln>
                  <a:noFill/>
                </a:ln>
                <a:solidFill>
                  <a:srgbClr val="002060"/>
                </a:solidFill>
                <a:effectLst/>
                <a:ea typeface="Times New Roman" panose="02020603050405020304" pitchFamily="18" charset="0"/>
              </a:rPr>
              <a:t> </a:t>
            </a:r>
            <a:r>
              <a:rPr kumimoji="0" lang="en-GB" altLang="en-US" sz="1200" b="0" i="0" u="none" strike="noStrike" cap="none" normalizeH="0" baseline="0" dirty="0">
                <a:ln>
                  <a:noFill/>
                </a:ln>
                <a:solidFill>
                  <a:srgbClr val="002060"/>
                </a:solidFill>
                <a:effectLst/>
                <a:ea typeface="Times New Roman" panose="02020603050405020304" pitchFamily="18" charset="0"/>
              </a:rPr>
              <a:t>n and </a:t>
            </a:r>
            <a:r>
              <a:rPr kumimoji="0" lang="en-GB" altLang="en-US" sz="1200" b="1" i="0" u="none" strike="noStrike" cap="none" normalizeH="0" baseline="0" dirty="0">
                <a:ln>
                  <a:noFill/>
                </a:ln>
                <a:solidFill>
                  <a:srgbClr val="002060"/>
                </a:solidFill>
                <a:effectLst/>
                <a:ea typeface="Times New Roman" panose="02020603050405020304" pitchFamily="18" charset="0"/>
              </a:rPr>
              <a:t>A</a:t>
            </a:r>
            <a:r>
              <a:rPr kumimoji="0" lang="en-GB" altLang="en-US" sz="1200" b="1" i="0" u="none" strike="noStrike" cap="none" normalizeH="0" baseline="-30000" dirty="0">
                <a:ln>
                  <a:noFill/>
                </a:ln>
                <a:solidFill>
                  <a:srgbClr val="002060"/>
                </a:solidFill>
                <a:effectLst/>
                <a:ea typeface="Times New Roman" panose="02020603050405020304" pitchFamily="18" charset="0"/>
              </a:rPr>
              <a:t>n</a:t>
            </a:r>
            <a:r>
              <a:rPr kumimoji="0" lang="en-GB" altLang="en-US" sz="1200" b="0" i="0" u="none" strike="noStrike" cap="none" normalizeH="0" baseline="0" dirty="0">
                <a:ln>
                  <a:noFill/>
                </a:ln>
                <a:solidFill>
                  <a:srgbClr val="002060"/>
                </a:solidFill>
                <a:effectLst/>
                <a:ea typeface="Times New Roman" panose="02020603050405020304" pitchFamily="18" charset="0"/>
              </a:rPr>
              <a:t> is calculated as twice integral over half cycle from zero.</a:t>
            </a:r>
            <a:endParaRPr kumimoji="0" lang="en-GB" altLang="en-US" sz="1200" b="0" i="0" u="none" strike="noStrike" cap="none" normalizeH="0" baseline="0" dirty="0">
              <a:ln>
                <a:noFill/>
              </a:ln>
              <a:solidFill>
                <a:schemeClr val="tx1"/>
              </a:solidFill>
              <a:effectLst/>
            </a:endParaRPr>
          </a:p>
          <a:p>
            <a:pPr marL="404813" marR="0" lvl="0" indent="-404813" algn="l" defTabSz="914400" rtl="0" eaLnBrk="0" fontAlgn="base" latinLnBrk="0" hangingPunct="0">
              <a:lnSpc>
                <a:spcPct val="120000"/>
              </a:lnSpc>
              <a:spcBef>
                <a:spcPct val="0"/>
              </a:spcBef>
              <a:spcAft>
                <a:spcPct val="0"/>
              </a:spcAft>
              <a:buClrTx/>
              <a:buSzTx/>
              <a:buFontTx/>
              <a:buNone/>
              <a:tabLst>
                <a:tab pos="381000" algn="l"/>
                <a:tab pos="3276600" algn="l"/>
              </a:tabLst>
            </a:pPr>
            <a:r>
              <a:rPr kumimoji="0" lang="en-GB" altLang="en-US" sz="1200" b="0" i="0" u="none" strike="noStrike" cap="none" normalizeH="0" baseline="0" dirty="0">
                <a:ln>
                  <a:noFill/>
                </a:ln>
                <a:solidFill>
                  <a:srgbClr val="002060"/>
                </a:solidFill>
                <a:effectLst/>
                <a:ea typeface="Times New Roman" panose="02020603050405020304" pitchFamily="18" charset="0"/>
              </a:rPr>
              <a:t>Waveforms with even symmetry can only have </a:t>
            </a:r>
            <a:r>
              <a:rPr kumimoji="0" lang="en-GB" altLang="en-US" sz="1200" b="1" i="1" u="none" strike="noStrike" cap="none" normalizeH="0" baseline="0" dirty="0">
                <a:ln>
                  <a:noFill/>
                </a:ln>
                <a:solidFill>
                  <a:srgbClr val="002060"/>
                </a:solidFill>
                <a:effectLst/>
                <a:ea typeface="Times New Roman" panose="02020603050405020304" pitchFamily="18" charset="0"/>
              </a:rPr>
              <a:t>cosine</a:t>
            </a:r>
            <a:r>
              <a:rPr kumimoji="0" lang="en-GB" altLang="en-US" sz="1200" b="0" i="0" u="none" strike="noStrike" cap="none" normalizeH="0" baseline="0" dirty="0">
                <a:ln>
                  <a:noFill/>
                </a:ln>
                <a:solidFill>
                  <a:srgbClr val="002060"/>
                </a:solidFill>
                <a:effectLst/>
                <a:ea typeface="Times New Roman" panose="02020603050405020304" pitchFamily="18" charset="0"/>
              </a:rPr>
              <a:t> terms and a direct term. </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22</a:t>
            </a:fld>
            <a:endParaRPr lang="en-GB"/>
          </a:p>
        </p:txBody>
      </p:sp>
    </p:spTree>
    <p:extLst>
      <p:ext uri="{BB962C8B-B14F-4D97-AF65-F5344CB8AC3E}">
        <p14:creationId xmlns:p14="http://schemas.microsoft.com/office/powerpoint/2010/main" val="24141190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now see how the symmetrical properties of waveforms may be made use of to reduce the complexity of calculation of the Fourier coefficients.</a:t>
            </a:r>
          </a:p>
          <a:p>
            <a:r>
              <a:rPr lang="en-US" dirty="0"/>
              <a:t>Let us now consider a waveform with odd symmetry as shown in the figure.</a:t>
            </a:r>
          </a:p>
          <a:p>
            <a:r>
              <a:rPr lang="en-GB" dirty="0"/>
              <a:t>It is to be noted that the waveform from </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0 to T/2  corresponds to the negated mirror image from –T/2  to  0.</a:t>
            </a:r>
            <a:endParaRPr lang="en-GB" dirty="0"/>
          </a:p>
          <a:p>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23</a:t>
            </a:fld>
            <a:endParaRPr lang="en-GB"/>
          </a:p>
        </p:txBody>
      </p:sp>
    </p:spTree>
    <p:extLst>
      <p:ext uri="{BB962C8B-B14F-4D97-AF65-F5344CB8AC3E}">
        <p14:creationId xmlns:p14="http://schemas.microsoft.com/office/powerpoint/2010/main" val="28608770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Integration is again split into two parts, from minus half T to zero and from zero to half T.</a:t>
            </a:r>
          </a:p>
          <a:p>
            <a:r>
              <a:rPr lang="en-US" dirty="0"/>
              <a:t>Mathematics is similar to the earlier case. Thus no more explanation will be made as it is easy to follow.</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24</a:t>
            </a:fld>
            <a:endParaRPr lang="en-GB"/>
          </a:p>
        </p:txBody>
      </p:sp>
    </p:spTree>
    <p:extLst>
      <p:ext uri="{BB962C8B-B14F-4D97-AF65-F5344CB8AC3E}">
        <p14:creationId xmlns:p14="http://schemas.microsoft.com/office/powerpoint/2010/main" val="20891941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0" fontAlgn="base" latinLnBrk="0" hangingPunct="0">
              <a:lnSpc>
                <a:spcPct val="120000"/>
              </a:lnSpc>
              <a:spcBef>
                <a:spcPct val="0"/>
              </a:spcBef>
              <a:spcAft>
                <a:spcPct val="0"/>
              </a:spcAft>
              <a:buClrTx/>
              <a:buSzTx/>
              <a:buFontTx/>
              <a:buNone/>
              <a:tabLst>
                <a:tab pos="381000" algn="l"/>
                <a:tab pos="3276600" algn="l"/>
              </a:tabLst>
            </a:pP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Thus for waveforms with</a:t>
            </a:r>
            <a:r>
              <a:rPr kumimoji="0" lang="en-GB" altLang="en-US" sz="12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odd symmetry</a:t>
            </a:r>
            <a:endParaRPr kumimoji="0" lang="en-GB" altLang="en-US" sz="1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20000"/>
              </a:lnSpc>
              <a:spcBef>
                <a:spcPct val="0"/>
              </a:spcBef>
              <a:spcAft>
                <a:spcPct val="0"/>
              </a:spcAft>
              <a:buClrTx/>
              <a:buSzTx/>
              <a:buFontTx/>
              <a:buNone/>
              <a:tabLst>
                <a:tab pos="381000" algn="l"/>
                <a:tab pos="3276600" algn="l"/>
              </a:tabLst>
            </a:pPr>
            <a:r>
              <a:rPr kumimoji="0" lang="en-GB" altLang="en-US" sz="12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a:t>
            </a:r>
            <a:r>
              <a:rPr kumimoji="0" lang="en-GB" altLang="en-US" sz="1200" b="1"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n</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12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0</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for all values of </a:t>
            </a:r>
            <a:r>
              <a:rPr kumimoji="0" lang="en-GB" altLang="en-US" sz="12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n </a:t>
            </a:r>
            <a:endParaRPr kumimoji="0" lang="en-GB" altLang="en-US" sz="1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20000"/>
              </a:lnSpc>
              <a:spcBef>
                <a:spcPct val="0"/>
              </a:spcBef>
              <a:spcAft>
                <a:spcPct val="0"/>
              </a:spcAft>
              <a:buClrTx/>
              <a:buSzTx/>
              <a:buFontTx/>
              <a:buNone/>
              <a:tabLst>
                <a:tab pos="381000" algn="l"/>
                <a:tab pos="3276600" algn="l"/>
              </a:tabLst>
            </a:pPr>
            <a:r>
              <a:rPr kumimoji="0" lang="en-GB" altLang="en-US" sz="12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B</a:t>
            </a:r>
            <a:r>
              <a:rPr kumimoji="0" lang="en-GB" altLang="en-US" sz="1200" b="1"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n</a:t>
            </a:r>
            <a:r>
              <a:rPr kumimoji="0" lang="en-GB" altLang="en-US" sz="12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is calculated as twice integral over half cycle from zero.</a:t>
            </a:r>
          </a:p>
          <a:p>
            <a:pPr marL="0" marR="0" lvl="0" indent="0" algn="just" defTabSz="914400" rtl="0" eaLnBrk="0" fontAlgn="base" latinLnBrk="0" hangingPunct="0">
              <a:lnSpc>
                <a:spcPct val="120000"/>
              </a:lnSpc>
              <a:spcBef>
                <a:spcPct val="0"/>
              </a:spcBef>
              <a:spcAft>
                <a:spcPct val="0"/>
              </a:spcAft>
              <a:buClrTx/>
              <a:buSzTx/>
              <a:buFontTx/>
              <a:buNone/>
              <a:tabLst>
                <a:tab pos="381000" algn="l"/>
                <a:tab pos="3276600" algn="l"/>
              </a:tabLst>
            </a:pPr>
            <a:r>
              <a:rPr kumimoji="0" lang="en-GB" sz="1200" b="0" i="0" u="none" strike="noStrike" cap="none" normalizeH="0" baseline="0" dirty="0">
                <a:ln>
                  <a:noFill/>
                </a:ln>
                <a:solidFill>
                  <a:srgbClr val="002060"/>
                </a:solidFill>
                <a:effectLst/>
                <a:latin typeface="Arial" panose="020B0604020202020204" pitchFamily="34" charset="0"/>
              </a:rPr>
              <a:t>Also, a B zero term cannot exist.</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26</a:t>
            </a:fld>
            <a:endParaRPr lang="en-GB"/>
          </a:p>
        </p:txBody>
      </p:sp>
    </p:spTree>
    <p:extLst>
      <p:ext uri="{BB962C8B-B14F-4D97-AF65-F5344CB8AC3E}">
        <p14:creationId xmlns:p14="http://schemas.microsoft.com/office/powerpoint/2010/main" val="21867914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let us consider the case of half wave symmetry as shown in the figure.  The waveform has no relationship to the y-axis, but to the successive positive and negative half cycles.</a:t>
            </a:r>
          </a:p>
          <a:p>
            <a:r>
              <a:rPr lang="en-US" dirty="0"/>
              <a:t>The </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Half-cycle from (</a:t>
            </a:r>
            <a:r>
              <a:rPr kumimoji="0" lang="en-GB" altLang="en-US" sz="1200" b="1"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t</a:t>
            </a:r>
            <a:r>
              <a:rPr kumimoji="0" lang="en-GB" altLang="en-US" sz="1200" b="1"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o</a:t>
            </a:r>
            <a:r>
              <a:rPr kumimoji="0" lang="en-GB" altLang="en-US" sz="1200" b="1"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+T</a:t>
            </a:r>
            <a:r>
              <a:rPr kumimoji="0" lang="en-GB" altLang="en-US" sz="12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/2</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to  (</a:t>
            </a:r>
            <a:r>
              <a:rPr kumimoji="0" lang="en-GB" altLang="en-US" sz="1200" b="1"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t</a:t>
            </a:r>
            <a:r>
              <a:rPr kumimoji="0" lang="en-GB" altLang="en-US" sz="1200" b="1"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o</a:t>
            </a:r>
            <a:r>
              <a:rPr kumimoji="0" lang="en-GB" altLang="en-US" sz="1200" b="1"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+T</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corresponds to  negated value of  previous half cycle from </a:t>
            </a:r>
            <a:r>
              <a:rPr kumimoji="0" lang="en-GB" altLang="en-US" sz="12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a:t>
            </a:r>
            <a:r>
              <a:rPr kumimoji="0" lang="en-GB" altLang="en-US" sz="1200" b="1"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o</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12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to</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1200" b="1"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t</a:t>
            </a:r>
            <a:r>
              <a:rPr kumimoji="0" lang="en-GB" altLang="en-US" sz="1200" b="1"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o</a:t>
            </a:r>
            <a:r>
              <a:rPr kumimoji="0" lang="en-GB" altLang="en-US" sz="1200" b="1"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+T</a:t>
            </a:r>
            <a:r>
              <a:rPr kumimoji="0" lang="en-GB" altLang="en-US" sz="12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/2</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27</a:t>
            </a:fld>
            <a:endParaRPr lang="en-GB"/>
          </a:p>
        </p:txBody>
      </p:sp>
    </p:spTree>
    <p:extLst>
      <p:ext uri="{BB962C8B-B14F-4D97-AF65-F5344CB8AC3E}">
        <p14:creationId xmlns:p14="http://schemas.microsoft.com/office/powerpoint/2010/main" val="13836416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left for you to </a:t>
            </a:r>
            <a:r>
              <a:rPr lang="en-US" dirty="0" err="1"/>
              <a:t>analyse</a:t>
            </a:r>
            <a:r>
              <a:rPr lang="en-US" dirty="0"/>
              <a:t> the mathematics in this case.</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28</a:t>
            </a:fld>
            <a:endParaRPr lang="en-GB"/>
          </a:p>
        </p:txBody>
      </p:sp>
    </p:spTree>
    <p:extLst>
      <p:ext uri="{BB962C8B-B14F-4D97-AF65-F5344CB8AC3E}">
        <p14:creationId xmlns:p14="http://schemas.microsoft.com/office/powerpoint/2010/main" val="41880514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 shows that both An and Bn are zero with half wave symmetry when the harmonic number n is even, or explicitly stated, even harmonics do not exist.</a:t>
            </a:r>
          </a:p>
          <a:p>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For odd harmonics both coefficients A</a:t>
            </a:r>
            <a:r>
              <a:rPr kumimoji="0" lang="en-GB" altLang="en-US" sz="1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n</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and B</a:t>
            </a:r>
            <a:r>
              <a:rPr kumimoji="0" lang="en-GB" altLang="en-US" sz="1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n</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can be obtained by taking double the integral over any half cycle.</a:t>
            </a:r>
          </a:p>
          <a:p>
            <a:r>
              <a:rPr kumimoji="0" lang="en-GB" sz="1200" b="0" i="0" u="none" strike="noStrike" cap="none" normalizeH="0" baseline="0" dirty="0">
                <a:ln>
                  <a:noFill/>
                </a:ln>
                <a:solidFill>
                  <a:srgbClr val="002060"/>
                </a:solidFill>
                <a:effectLst/>
                <a:latin typeface="Arial" panose="020B0604020202020204" pitchFamily="34" charset="0"/>
              </a:rPr>
              <a:t>It is to be noted, that m</a:t>
            </a:r>
            <a:r>
              <a:rPr lang="en-GB" altLang="en-US" sz="1200" dirty="0">
                <a:solidFill>
                  <a:srgbClr val="002060"/>
                </a:solidFill>
                <a:latin typeface="Arial" panose="020B0604020202020204" pitchFamily="34" charset="0"/>
                <a:ea typeface="Times New Roman" panose="02020603050405020304" pitchFamily="18" charset="0"/>
              </a:rPr>
              <a:t>ost practical waveforms have half-wave symmetry due to natural causes.</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29</a:t>
            </a:fld>
            <a:endParaRPr lang="en-GB"/>
          </a:p>
        </p:txBody>
      </p:sp>
    </p:spTree>
    <p:extLst>
      <p:ext uri="{BB962C8B-B14F-4D97-AF65-F5344CB8AC3E}">
        <p14:creationId xmlns:p14="http://schemas.microsoft.com/office/powerpoint/2010/main" val="2946835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now summarize the simplifications that occur in the evaluation of the Fourier coefficients with symmetrical properties.</a:t>
            </a:r>
          </a:p>
          <a:p>
            <a:pPr marL="342900" marR="0" lvl="0" indent="-342900" algn="just">
              <a:spcBef>
                <a:spcPts val="0"/>
              </a:spcBef>
              <a:spcAft>
                <a:spcPts val="600"/>
              </a:spcAft>
              <a:tabLst>
                <a:tab pos="800100" algn="l"/>
              </a:tabLst>
            </a:pPr>
            <a:r>
              <a:rPr lang="en-GB" sz="1200" dirty="0">
                <a:solidFill>
                  <a:srgbClr val="002060"/>
                </a:solidFill>
                <a:latin typeface="Times New Roman" panose="02020603050405020304" pitchFamily="18" charset="0"/>
                <a:ea typeface="Times New Roman" panose="02020603050405020304" pitchFamily="18" charset="0"/>
              </a:rPr>
              <a:t>1. With </a:t>
            </a:r>
            <a:r>
              <a:rPr lang="en-GB" sz="1200" b="1" dirty="0">
                <a:solidFill>
                  <a:srgbClr val="002060"/>
                </a:solidFill>
                <a:latin typeface="Times New Roman" panose="02020603050405020304" pitchFamily="18" charset="0"/>
                <a:ea typeface="Times New Roman" panose="02020603050405020304" pitchFamily="18" charset="0"/>
              </a:rPr>
              <a:t>even symmetry</a:t>
            </a:r>
            <a:r>
              <a:rPr lang="en-GB" sz="1200" dirty="0">
                <a:solidFill>
                  <a:srgbClr val="002060"/>
                </a:solidFill>
                <a:latin typeface="Times New Roman" panose="02020603050405020304" pitchFamily="18" charset="0"/>
                <a:ea typeface="Times New Roman" panose="02020603050405020304" pitchFamily="18" charset="0"/>
              </a:rPr>
              <a:t>, </a:t>
            </a:r>
            <a:r>
              <a:rPr lang="en-GB" sz="1200" b="1" dirty="0">
                <a:solidFill>
                  <a:srgbClr val="002060"/>
                </a:solidFill>
                <a:latin typeface="Times New Roman" panose="02020603050405020304" pitchFamily="18" charset="0"/>
                <a:ea typeface="Times New Roman" panose="02020603050405020304" pitchFamily="18" charset="0"/>
              </a:rPr>
              <a:t>B</a:t>
            </a:r>
            <a:r>
              <a:rPr lang="en-GB" sz="1200" b="1" baseline="-25000" dirty="0">
                <a:solidFill>
                  <a:srgbClr val="002060"/>
                </a:solidFill>
                <a:latin typeface="Times New Roman" panose="02020603050405020304" pitchFamily="18" charset="0"/>
                <a:ea typeface="Times New Roman" panose="02020603050405020304" pitchFamily="18" charset="0"/>
              </a:rPr>
              <a:t>n</a:t>
            </a:r>
            <a:r>
              <a:rPr lang="en-GB" sz="1200" dirty="0">
                <a:solidFill>
                  <a:srgbClr val="002060"/>
                </a:solidFill>
                <a:latin typeface="Times New Roman" panose="02020603050405020304" pitchFamily="18" charset="0"/>
                <a:ea typeface="Times New Roman" panose="02020603050405020304" pitchFamily="18" charset="0"/>
              </a:rPr>
              <a:t> is 0 for all n, </a:t>
            </a:r>
            <a:r>
              <a:rPr lang="en-GB" sz="1200" b="1" dirty="0">
                <a:solidFill>
                  <a:srgbClr val="002060"/>
                </a:solidFill>
                <a:latin typeface="Times New Roman" panose="02020603050405020304" pitchFamily="18" charset="0"/>
                <a:ea typeface="Times New Roman" panose="02020603050405020304" pitchFamily="18" charset="0"/>
              </a:rPr>
              <a:t>A</a:t>
            </a:r>
            <a:r>
              <a:rPr lang="en-GB" sz="1200" b="1" baseline="-25000" dirty="0">
                <a:solidFill>
                  <a:srgbClr val="002060"/>
                </a:solidFill>
                <a:latin typeface="Times New Roman" panose="02020603050405020304" pitchFamily="18" charset="0"/>
                <a:ea typeface="Times New Roman" panose="02020603050405020304" pitchFamily="18" charset="0"/>
              </a:rPr>
              <a:t>n</a:t>
            </a:r>
            <a:r>
              <a:rPr lang="en-GB" sz="1200" dirty="0">
                <a:solidFill>
                  <a:srgbClr val="002060"/>
                </a:solidFill>
                <a:latin typeface="Times New Roman" panose="02020603050405020304" pitchFamily="18" charset="0"/>
                <a:ea typeface="Times New Roman" panose="02020603050405020304" pitchFamily="18" charset="0"/>
              </a:rPr>
              <a:t> is twice integral over half a cycle from zero.</a:t>
            </a:r>
            <a:endParaRPr lang="en-GB" sz="1200" dirty="0">
              <a:latin typeface="Times New Roman" panose="02020603050405020304" pitchFamily="18" charset="0"/>
              <a:ea typeface="Times New Roman" panose="02020603050405020304" pitchFamily="18" charset="0"/>
            </a:endParaRPr>
          </a:p>
          <a:p>
            <a:pPr marL="342900" marR="0" lvl="0" indent="-342900" algn="just">
              <a:spcBef>
                <a:spcPts val="0"/>
              </a:spcBef>
              <a:spcAft>
                <a:spcPts val="600"/>
              </a:spcAft>
              <a:tabLst>
                <a:tab pos="800100" algn="l"/>
              </a:tabLst>
            </a:pPr>
            <a:r>
              <a:rPr lang="en-GB" sz="1200" dirty="0">
                <a:solidFill>
                  <a:srgbClr val="002060"/>
                </a:solidFill>
                <a:latin typeface="Times New Roman" panose="02020603050405020304" pitchFamily="18" charset="0"/>
                <a:ea typeface="Times New Roman" panose="02020603050405020304" pitchFamily="18" charset="0"/>
              </a:rPr>
              <a:t>2. With </a:t>
            </a:r>
            <a:r>
              <a:rPr lang="en-GB" sz="1200" b="1" dirty="0">
                <a:solidFill>
                  <a:srgbClr val="002060"/>
                </a:solidFill>
                <a:latin typeface="Times New Roman" panose="02020603050405020304" pitchFamily="18" charset="0"/>
                <a:ea typeface="Times New Roman" panose="02020603050405020304" pitchFamily="18" charset="0"/>
              </a:rPr>
              <a:t>odd symmetry</a:t>
            </a:r>
            <a:r>
              <a:rPr lang="en-GB" sz="1200" dirty="0">
                <a:solidFill>
                  <a:srgbClr val="002060"/>
                </a:solidFill>
                <a:latin typeface="Times New Roman" panose="02020603050405020304" pitchFamily="18" charset="0"/>
                <a:ea typeface="Times New Roman" panose="02020603050405020304" pitchFamily="18" charset="0"/>
              </a:rPr>
              <a:t>, </a:t>
            </a:r>
            <a:r>
              <a:rPr lang="en-GB" sz="1200" b="1" dirty="0">
                <a:solidFill>
                  <a:srgbClr val="002060"/>
                </a:solidFill>
                <a:latin typeface="Times New Roman" panose="02020603050405020304" pitchFamily="18" charset="0"/>
                <a:ea typeface="Times New Roman" panose="02020603050405020304" pitchFamily="18" charset="0"/>
              </a:rPr>
              <a:t>A</a:t>
            </a:r>
            <a:r>
              <a:rPr lang="en-GB" sz="1200" b="1" baseline="-25000" dirty="0">
                <a:solidFill>
                  <a:srgbClr val="002060"/>
                </a:solidFill>
                <a:latin typeface="Times New Roman" panose="02020603050405020304" pitchFamily="18" charset="0"/>
                <a:ea typeface="Times New Roman" panose="02020603050405020304" pitchFamily="18" charset="0"/>
              </a:rPr>
              <a:t>n</a:t>
            </a:r>
            <a:r>
              <a:rPr lang="en-GB" sz="1200" dirty="0">
                <a:solidFill>
                  <a:srgbClr val="002060"/>
                </a:solidFill>
                <a:latin typeface="Times New Roman" panose="02020603050405020304" pitchFamily="18" charset="0"/>
                <a:ea typeface="Times New Roman" panose="02020603050405020304" pitchFamily="18" charset="0"/>
              </a:rPr>
              <a:t> is 0 for all n, </a:t>
            </a:r>
            <a:r>
              <a:rPr lang="en-GB" sz="1200" b="1" dirty="0">
                <a:solidFill>
                  <a:srgbClr val="002060"/>
                </a:solidFill>
                <a:latin typeface="Times New Roman" panose="02020603050405020304" pitchFamily="18" charset="0"/>
                <a:ea typeface="Times New Roman" panose="02020603050405020304" pitchFamily="18" charset="0"/>
              </a:rPr>
              <a:t>B</a:t>
            </a:r>
            <a:r>
              <a:rPr lang="en-GB" sz="1200" b="1" baseline="-25000" dirty="0">
                <a:solidFill>
                  <a:srgbClr val="002060"/>
                </a:solidFill>
                <a:latin typeface="Times New Roman" panose="02020603050405020304" pitchFamily="18" charset="0"/>
                <a:ea typeface="Times New Roman" panose="02020603050405020304" pitchFamily="18" charset="0"/>
              </a:rPr>
              <a:t>n</a:t>
            </a:r>
            <a:r>
              <a:rPr lang="en-GB" sz="1200" dirty="0">
                <a:solidFill>
                  <a:srgbClr val="002060"/>
                </a:solidFill>
                <a:latin typeface="Times New Roman" panose="02020603050405020304" pitchFamily="18" charset="0"/>
                <a:ea typeface="Times New Roman" panose="02020603050405020304" pitchFamily="18" charset="0"/>
              </a:rPr>
              <a:t> is twice integral over half a cycle from zero.</a:t>
            </a:r>
            <a:endParaRPr lang="en-GB" sz="1200" dirty="0">
              <a:latin typeface="Times New Roman" panose="02020603050405020304" pitchFamily="18" charset="0"/>
              <a:ea typeface="Times New Roman" panose="02020603050405020304" pitchFamily="18" charset="0"/>
            </a:endParaRPr>
          </a:p>
          <a:p>
            <a:pPr marL="342900" marR="0" lvl="0" indent="-342900" algn="just">
              <a:spcBef>
                <a:spcPts val="0"/>
              </a:spcBef>
              <a:spcAft>
                <a:spcPts val="600"/>
              </a:spcAft>
              <a:tabLst>
                <a:tab pos="800100" algn="l"/>
              </a:tabLst>
            </a:pPr>
            <a:r>
              <a:rPr lang="en-GB" sz="1200" dirty="0">
                <a:solidFill>
                  <a:srgbClr val="002060"/>
                </a:solidFill>
                <a:latin typeface="Times New Roman" panose="02020603050405020304" pitchFamily="18" charset="0"/>
                <a:ea typeface="Times New Roman" panose="02020603050405020304" pitchFamily="18" charset="0"/>
              </a:rPr>
              <a:t>3. With </a:t>
            </a:r>
            <a:r>
              <a:rPr lang="en-GB" sz="1200" b="1" dirty="0">
                <a:solidFill>
                  <a:srgbClr val="002060"/>
                </a:solidFill>
                <a:latin typeface="Times New Roman" panose="02020603050405020304" pitchFamily="18" charset="0"/>
                <a:ea typeface="Times New Roman" panose="02020603050405020304" pitchFamily="18" charset="0"/>
              </a:rPr>
              <a:t>half-wave symmetry</a:t>
            </a:r>
            <a:r>
              <a:rPr lang="en-GB" sz="1200" dirty="0">
                <a:solidFill>
                  <a:srgbClr val="002060"/>
                </a:solidFill>
                <a:latin typeface="Times New Roman" panose="02020603050405020304" pitchFamily="18" charset="0"/>
                <a:ea typeface="Times New Roman" panose="02020603050405020304" pitchFamily="18" charset="0"/>
              </a:rPr>
              <a:t>, </a:t>
            </a:r>
            <a:r>
              <a:rPr lang="en-GB" sz="1200" b="1" dirty="0">
                <a:solidFill>
                  <a:srgbClr val="002060"/>
                </a:solidFill>
                <a:latin typeface="Times New Roman" panose="02020603050405020304" pitchFamily="18" charset="0"/>
                <a:ea typeface="Times New Roman" panose="02020603050405020304" pitchFamily="18" charset="0"/>
              </a:rPr>
              <a:t>A</a:t>
            </a:r>
            <a:r>
              <a:rPr lang="en-GB" sz="1200" b="1" baseline="-25000" dirty="0">
                <a:solidFill>
                  <a:srgbClr val="002060"/>
                </a:solidFill>
                <a:latin typeface="Times New Roman" panose="02020603050405020304" pitchFamily="18" charset="0"/>
                <a:ea typeface="Times New Roman" panose="02020603050405020304" pitchFamily="18" charset="0"/>
              </a:rPr>
              <a:t>n</a:t>
            </a:r>
            <a:r>
              <a:rPr lang="en-GB" sz="1200" dirty="0">
                <a:solidFill>
                  <a:srgbClr val="002060"/>
                </a:solidFill>
                <a:latin typeface="Times New Roman" panose="02020603050405020304" pitchFamily="18" charset="0"/>
                <a:ea typeface="Times New Roman" panose="02020603050405020304" pitchFamily="18" charset="0"/>
              </a:rPr>
              <a:t> and </a:t>
            </a:r>
            <a:r>
              <a:rPr lang="en-GB" sz="1200" b="1" dirty="0">
                <a:solidFill>
                  <a:srgbClr val="002060"/>
                </a:solidFill>
                <a:latin typeface="Times New Roman" panose="02020603050405020304" pitchFamily="18" charset="0"/>
                <a:ea typeface="Times New Roman" panose="02020603050405020304" pitchFamily="18" charset="0"/>
              </a:rPr>
              <a:t>B</a:t>
            </a:r>
            <a:r>
              <a:rPr lang="en-GB" sz="1200" b="1" baseline="-25000" dirty="0">
                <a:solidFill>
                  <a:srgbClr val="002060"/>
                </a:solidFill>
                <a:latin typeface="Times New Roman" panose="02020603050405020304" pitchFamily="18" charset="0"/>
                <a:ea typeface="Times New Roman" panose="02020603050405020304" pitchFamily="18" charset="0"/>
              </a:rPr>
              <a:t>n</a:t>
            </a:r>
            <a:r>
              <a:rPr lang="en-GB" sz="1200" dirty="0">
                <a:solidFill>
                  <a:srgbClr val="002060"/>
                </a:solidFill>
                <a:latin typeface="Times New Roman" panose="02020603050405020304" pitchFamily="18" charset="0"/>
                <a:ea typeface="Times New Roman" panose="02020603050405020304" pitchFamily="18" charset="0"/>
              </a:rPr>
              <a:t> are 0 for even n, </a:t>
            </a:r>
            <a:r>
              <a:rPr lang="en-GB" sz="1200" b="1" dirty="0">
                <a:solidFill>
                  <a:srgbClr val="002060"/>
                </a:solidFill>
                <a:latin typeface="Times New Roman" panose="02020603050405020304" pitchFamily="18" charset="0"/>
                <a:ea typeface="Times New Roman" panose="02020603050405020304" pitchFamily="18" charset="0"/>
              </a:rPr>
              <a:t>A</a:t>
            </a:r>
            <a:r>
              <a:rPr lang="en-GB" sz="1200" b="1" baseline="-25000" dirty="0">
                <a:solidFill>
                  <a:srgbClr val="002060"/>
                </a:solidFill>
                <a:latin typeface="Times New Roman" panose="02020603050405020304" pitchFamily="18" charset="0"/>
                <a:ea typeface="Times New Roman" panose="02020603050405020304" pitchFamily="18" charset="0"/>
              </a:rPr>
              <a:t>n</a:t>
            </a:r>
            <a:r>
              <a:rPr lang="en-GB" sz="1200" dirty="0">
                <a:solidFill>
                  <a:srgbClr val="002060"/>
                </a:solidFill>
                <a:latin typeface="Times New Roman" panose="02020603050405020304" pitchFamily="18" charset="0"/>
                <a:ea typeface="Times New Roman" panose="02020603050405020304" pitchFamily="18" charset="0"/>
              </a:rPr>
              <a:t> and </a:t>
            </a:r>
            <a:r>
              <a:rPr lang="en-GB" sz="1200" b="1" dirty="0">
                <a:solidFill>
                  <a:srgbClr val="002060"/>
                </a:solidFill>
                <a:latin typeface="Times New Roman" panose="02020603050405020304" pitchFamily="18" charset="0"/>
                <a:ea typeface="Times New Roman" panose="02020603050405020304" pitchFamily="18" charset="0"/>
              </a:rPr>
              <a:t>B</a:t>
            </a:r>
            <a:r>
              <a:rPr lang="en-GB" sz="1200" b="1" baseline="-25000" dirty="0">
                <a:solidFill>
                  <a:srgbClr val="002060"/>
                </a:solidFill>
                <a:latin typeface="Times New Roman" panose="02020603050405020304" pitchFamily="18" charset="0"/>
                <a:ea typeface="Times New Roman" panose="02020603050405020304" pitchFamily="18" charset="0"/>
              </a:rPr>
              <a:t>n</a:t>
            </a:r>
            <a:r>
              <a:rPr lang="en-GB" sz="1200" dirty="0">
                <a:solidFill>
                  <a:srgbClr val="002060"/>
                </a:solidFill>
                <a:latin typeface="Times New Roman" panose="02020603050405020304" pitchFamily="18" charset="0"/>
                <a:ea typeface="Times New Roman" panose="02020603050405020304" pitchFamily="18" charset="0"/>
              </a:rPr>
              <a:t> are twice the integral over any half cycle for odd n.</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30</a:t>
            </a:fld>
            <a:endParaRPr lang="en-GB"/>
          </a:p>
        </p:txBody>
      </p:sp>
    </p:spTree>
    <p:extLst>
      <p:ext uri="{BB962C8B-B14F-4D97-AF65-F5344CB8AC3E}">
        <p14:creationId xmlns:p14="http://schemas.microsoft.com/office/powerpoint/2010/main" val="220185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04813" marR="0" lvl="0" indent="-404813">
              <a:spcBef>
                <a:spcPts val="0"/>
              </a:spcBef>
              <a:spcAft>
                <a:spcPts val="600"/>
              </a:spcAft>
              <a:tabLst>
                <a:tab pos="800100" algn="l"/>
              </a:tabLst>
            </a:pPr>
            <a:r>
              <a:rPr lang="en-GB" sz="1200" dirty="0">
                <a:solidFill>
                  <a:srgbClr val="002060"/>
                </a:solidFill>
                <a:latin typeface="Times New Roman" panose="02020603050405020304" pitchFamily="18" charset="0"/>
                <a:ea typeface="Times New Roman" panose="02020603050405020304" pitchFamily="18" charset="0"/>
              </a:rPr>
              <a:t>4. With </a:t>
            </a:r>
            <a:r>
              <a:rPr lang="en-GB" sz="1200" b="1" dirty="0">
                <a:solidFill>
                  <a:srgbClr val="002060"/>
                </a:solidFill>
                <a:latin typeface="Times New Roman" panose="02020603050405020304" pitchFamily="18" charset="0"/>
                <a:ea typeface="Times New Roman" panose="02020603050405020304" pitchFamily="18" charset="0"/>
              </a:rPr>
              <a:t>half-wave symmetry</a:t>
            </a:r>
            <a:r>
              <a:rPr lang="en-GB" sz="1200" dirty="0">
                <a:solidFill>
                  <a:srgbClr val="002060"/>
                </a:solidFill>
                <a:latin typeface="Times New Roman" panose="02020603050405020304" pitchFamily="18" charset="0"/>
                <a:ea typeface="Times New Roman" panose="02020603050405020304" pitchFamily="18" charset="0"/>
              </a:rPr>
              <a:t> and either </a:t>
            </a:r>
            <a:r>
              <a:rPr lang="en-GB" sz="1200" b="1" dirty="0">
                <a:solidFill>
                  <a:srgbClr val="002060"/>
                </a:solidFill>
                <a:latin typeface="Times New Roman" panose="02020603050405020304" pitchFamily="18" charset="0"/>
                <a:ea typeface="Times New Roman" panose="02020603050405020304" pitchFamily="18" charset="0"/>
              </a:rPr>
              <a:t>even symmetry </a:t>
            </a:r>
            <a:r>
              <a:rPr lang="en-GB" sz="1200" dirty="0">
                <a:solidFill>
                  <a:srgbClr val="002060"/>
                </a:solidFill>
                <a:latin typeface="Times New Roman" panose="02020603050405020304" pitchFamily="18" charset="0"/>
                <a:ea typeface="Times New Roman" panose="02020603050405020304" pitchFamily="18" charset="0"/>
              </a:rPr>
              <a:t>or </a:t>
            </a:r>
            <a:r>
              <a:rPr lang="en-GB" sz="1200" b="1" dirty="0">
                <a:solidFill>
                  <a:srgbClr val="002060"/>
                </a:solidFill>
                <a:latin typeface="Times New Roman" panose="02020603050405020304" pitchFamily="18" charset="0"/>
                <a:ea typeface="Times New Roman" panose="02020603050405020304" pitchFamily="18" charset="0"/>
              </a:rPr>
              <a:t>odd symmetry</a:t>
            </a:r>
            <a:r>
              <a:rPr lang="en-GB" sz="1200" dirty="0">
                <a:solidFill>
                  <a:srgbClr val="002060"/>
                </a:solidFill>
                <a:latin typeface="Times New Roman" panose="02020603050405020304" pitchFamily="18" charset="0"/>
                <a:ea typeface="Times New Roman" panose="02020603050405020304" pitchFamily="18" charset="0"/>
              </a:rPr>
              <a:t> present, A</a:t>
            </a:r>
            <a:r>
              <a:rPr lang="en-GB" sz="1200" baseline="-25000" dirty="0">
                <a:solidFill>
                  <a:srgbClr val="002060"/>
                </a:solidFill>
                <a:latin typeface="Times New Roman" panose="02020603050405020304" pitchFamily="18" charset="0"/>
                <a:ea typeface="Times New Roman" panose="02020603050405020304" pitchFamily="18" charset="0"/>
              </a:rPr>
              <a:t>n</a:t>
            </a:r>
            <a:r>
              <a:rPr lang="en-GB" sz="1200" dirty="0">
                <a:solidFill>
                  <a:srgbClr val="002060"/>
                </a:solidFill>
                <a:latin typeface="Times New Roman" panose="02020603050405020304" pitchFamily="18" charset="0"/>
                <a:ea typeface="Times New Roman" panose="02020603050405020304" pitchFamily="18" charset="0"/>
              </a:rPr>
              <a:t> and B</a:t>
            </a:r>
            <a:r>
              <a:rPr lang="en-GB" sz="1200" baseline="-25000" dirty="0">
                <a:solidFill>
                  <a:srgbClr val="002060"/>
                </a:solidFill>
                <a:latin typeface="Times New Roman" panose="02020603050405020304" pitchFamily="18" charset="0"/>
                <a:ea typeface="Times New Roman" panose="02020603050405020304" pitchFamily="18" charset="0"/>
              </a:rPr>
              <a:t>n</a:t>
            </a:r>
            <a:r>
              <a:rPr lang="en-GB" sz="1200" dirty="0">
                <a:solidFill>
                  <a:srgbClr val="002060"/>
                </a:solidFill>
                <a:latin typeface="Times New Roman" panose="02020603050405020304" pitchFamily="18" charset="0"/>
                <a:ea typeface="Times New Roman" panose="02020603050405020304" pitchFamily="18" charset="0"/>
              </a:rPr>
              <a:t> are 0 for even n, four times integral over quarter cycle from time zero, for odd n for A</a:t>
            </a:r>
            <a:r>
              <a:rPr lang="en-GB" sz="1200" baseline="-25000" dirty="0">
                <a:solidFill>
                  <a:srgbClr val="002060"/>
                </a:solidFill>
                <a:latin typeface="Times New Roman" panose="02020603050405020304" pitchFamily="18" charset="0"/>
                <a:ea typeface="Times New Roman" panose="02020603050405020304" pitchFamily="18" charset="0"/>
              </a:rPr>
              <a:t>n</a:t>
            </a:r>
            <a:r>
              <a:rPr lang="en-GB" sz="1200" dirty="0">
                <a:solidFill>
                  <a:srgbClr val="002060"/>
                </a:solidFill>
                <a:latin typeface="Times New Roman" panose="02020603050405020304" pitchFamily="18" charset="0"/>
                <a:ea typeface="Times New Roman" panose="02020603050405020304" pitchFamily="18" charset="0"/>
              </a:rPr>
              <a:t> or B</a:t>
            </a:r>
            <a:r>
              <a:rPr lang="en-GB" sz="1200" baseline="-25000" dirty="0">
                <a:solidFill>
                  <a:srgbClr val="002060"/>
                </a:solidFill>
                <a:latin typeface="Times New Roman" panose="02020603050405020304" pitchFamily="18" charset="0"/>
                <a:ea typeface="Times New Roman" panose="02020603050405020304" pitchFamily="18" charset="0"/>
              </a:rPr>
              <a:t>n</a:t>
            </a:r>
            <a:r>
              <a:rPr lang="en-GB" sz="1200" dirty="0">
                <a:solidFill>
                  <a:srgbClr val="002060"/>
                </a:solidFill>
                <a:latin typeface="Times New Roman" panose="02020603050405020304" pitchFamily="18" charset="0"/>
                <a:ea typeface="Times New Roman" panose="02020603050405020304" pitchFamily="18" charset="0"/>
              </a:rPr>
              <a:t> , zero for the remaining coefficient B</a:t>
            </a:r>
            <a:r>
              <a:rPr lang="en-GB" sz="1200" baseline="-25000" dirty="0">
                <a:solidFill>
                  <a:srgbClr val="002060"/>
                </a:solidFill>
                <a:latin typeface="Times New Roman" panose="02020603050405020304" pitchFamily="18" charset="0"/>
                <a:ea typeface="Times New Roman" panose="02020603050405020304" pitchFamily="18" charset="0"/>
              </a:rPr>
              <a:t>n</a:t>
            </a:r>
            <a:r>
              <a:rPr lang="en-GB" sz="1200" dirty="0">
                <a:solidFill>
                  <a:srgbClr val="002060"/>
                </a:solidFill>
                <a:latin typeface="Times New Roman" panose="02020603050405020304" pitchFamily="18" charset="0"/>
                <a:ea typeface="Times New Roman" panose="02020603050405020304" pitchFamily="18" charset="0"/>
              </a:rPr>
              <a:t> or A</a:t>
            </a:r>
            <a:r>
              <a:rPr lang="en-GB" sz="1200" baseline="-25000" dirty="0">
                <a:solidFill>
                  <a:srgbClr val="002060"/>
                </a:solidFill>
                <a:latin typeface="Times New Roman" panose="02020603050405020304" pitchFamily="18" charset="0"/>
                <a:ea typeface="Times New Roman" panose="02020603050405020304" pitchFamily="18" charset="0"/>
              </a:rPr>
              <a:t>n</a:t>
            </a:r>
            <a:r>
              <a:rPr lang="en-GB" sz="1200" dirty="0">
                <a:solidFill>
                  <a:srgbClr val="002060"/>
                </a:solidFill>
                <a:latin typeface="Times New Roman" panose="02020603050405020304" pitchFamily="18" charset="0"/>
                <a:ea typeface="Times New Roman" panose="02020603050405020304" pitchFamily="18" charset="0"/>
              </a:rPr>
              <a:t>.</a:t>
            </a:r>
            <a:endParaRPr lang="en-GB" sz="1200" dirty="0">
              <a:latin typeface="Times New Roman" panose="02020603050405020304" pitchFamily="18" charset="0"/>
              <a:ea typeface="Times New Roman" panose="02020603050405020304" pitchFamily="18" charset="0"/>
            </a:endParaRPr>
          </a:p>
          <a:p>
            <a:pPr marL="342900" marR="0" lvl="0" indent="-342900" algn="just">
              <a:spcBef>
                <a:spcPts val="0"/>
              </a:spcBef>
              <a:spcAft>
                <a:spcPts val="600"/>
              </a:spcAft>
              <a:tabLst>
                <a:tab pos="800100" algn="l"/>
              </a:tabLst>
            </a:pPr>
            <a:r>
              <a:rPr lang="en-GB" sz="1200" dirty="0">
                <a:solidFill>
                  <a:srgbClr val="002060"/>
                </a:solidFill>
                <a:latin typeface="Times New Roman" panose="02020603050405020304" pitchFamily="18" charset="0"/>
                <a:ea typeface="Times New Roman" panose="02020603050405020304" pitchFamily="18" charset="0"/>
              </a:rPr>
              <a:t>5. Note that in any waveform, </a:t>
            </a:r>
            <a:r>
              <a:rPr lang="en-GB" sz="1200" b="1" dirty="0" err="1">
                <a:solidFill>
                  <a:srgbClr val="002060"/>
                </a:solidFill>
                <a:latin typeface="Times New Roman" panose="02020603050405020304" pitchFamily="18" charset="0"/>
                <a:ea typeface="Times New Roman" panose="02020603050405020304" pitchFamily="18" charset="0"/>
              </a:rPr>
              <a:t>A</a:t>
            </a:r>
            <a:r>
              <a:rPr lang="en-GB" sz="1200" b="1" baseline="-25000" dirty="0" err="1">
                <a:solidFill>
                  <a:srgbClr val="002060"/>
                </a:solidFill>
                <a:latin typeface="Times New Roman" panose="02020603050405020304" pitchFamily="18" charset="0"/>
                <a:ea typeface="Times New Roman" panose="02020603050405020304" pitchFamily="18" charset="0"/>
              </a:rPr>
              <a:t>o</a:t>
            </a:r>
            <a:r>
              <a:rPr lang="en-GB" sz="1200" b="1" dirty="0">
                <a:solidFill>
                  <a:srgbClr val="002060"/>
                </a:solidFill>
                <a:latin typeface="Times New Roman" panose="02020603050405020304" pitchFamily="18" charset="0"/>
                <a:ea typeface="Times New Roman" panose="02020603050405020304" pitchFamily="18" charset="0"/>
              </a:rPr>
              <a:t>/2</a:t>
            </a:r>
            <a:r>
              <a:rPr lang="en-GB" sz="1200" dirty="0">
                <a:solidFill>
                  <a:srgbClr val="002060"/>
                </a:solidFill>
                <a:latin typeface="Times New Roman" panose="02020603050405020304" pitchFamily="18" charset="0"/>
                <a:ea typeface="Times New Roman" panose="02020603050405020304" pitchFamily="18" charset="0"/>
              </a:rPr>
              <a:t> corresponds to mean value of waveform; </a:t>
            </a:r>
          </a:p>
          <a:p>
            <a:pPr marL="342900" marR="0" lvl="0" indent="-342900" algn="just">
              <a:spcBef>
                <a:spcPts val="0"/>
              </a:spcBef>
              <a:spcAft>
                <a:spcPts val="600"/>
              </a:spcAft>
              <a:tabLst>
                <a:tab pos="800100" algn="l"/>
              </a:tabLst>
            </a:pPr>
            <a:r>
              <a:rPr lang="en-GB" sz="1200" dirty="0">
                <a:solidFill>
                  <a:srgbClr val="002060"/>
                </a:solidFill>
                <a:latin typeface="Times New Roman" panose="02020603050405020304" pitchFamily="18" charset="0"/>
                <a:ea typeface="Times New Roman" panose="02020603050405020304" pitchFamily="18" charset="0"/>
              </a:rPr>
              <a:t>a symmetrical property may sometimes be obtained by    subtracting mean value from  waveform.</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31</a:t>
            </a:fld>
            <a:endParaRPr lang="en-GB"/>
          </a:p>
        </p:txBody>
      </p:sp>
    </p:spTree>
    <p:extLst>
      <p:ext uri="{BB962C8B-B14F-4D97-AF65-F5344CB8AC3E}">
        <p14:creationId xmlns:p14="http://schemas.microsoft.com/office/powerpoint/2010/main" val="24460501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Most practical waveforms are continuous and single valued (i.e. having a single value at any particular instant).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When sudden changes occur (such as in switching), or in square waveforms, near vertical lines could occur giving multi-value instants.  </a:t>
            </a:r>
            <a:endParaRPr kumimoji="0" lang="en-GB"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As long as these multi-values occur over finite bounds, the waveform is single-valued and continuous in pieces, or said to be </a:t>
            </a:r>
            <a:r>
              <a:rPr kumimoji="0" lang="en-GB" altLang="en-US" sz="12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Piecewise continuous.</a:t>
            </a:r>
          </a:p>
          <a:p>
            <a:pPr marL="0" marR="0" lvl="0" indent="0" algn="l" defTabSz="914400" rtl="0" eaLnBrk="0" fontAlgn="base" latinLnBrk="0" hangingPunct="0">
              <a:lnSpc>
                <a:spcPct val="100000"/>
              </a:lnSpc>
              <a:spcBef>
                <a:spcPct val="0"/>
              </a:spcBef>
              <a:spcAft>
                <a:spcPct val="0"/>
              </a:spcAft>
              <a:buClrTx/>
              <a:buSzTx/>
              <a:buFontTx/>
              <a:buNone/>
              <a:tabLst/>
            </a:pPr>
            <a:r>
              <a:rPr lang="en-GB" altLang="en-US" sz="1200" dirty="0">
                <a:solidFill>
                  <a:srgbClr val="002060"/>
                </a:solidFill>
                <a:latin typeface="Arial" panose="020B0604020202020204" pitchFamily="34" charset="0"/>
                <a:ea typeface="Times New Roman" panose="02020603050405020304" pitchFamily="18" charset="0"/>
              </a:rPr>
              <a:t>Analysis can be carried out using the Fourier Series for both continuous or piecewise continuous waveforms.</a:t>
            </a:r>
            <a:r>
              <a:rPr lang="en-GB" altLang="en-US" sz="1200" dirty="0">
                <a:latin typeface="Arial" panose="020B0604020202020204" pitchFamily="34" charset="0"/>
              </a:rPr>
              <a:t> </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32</a:t>
            </a:fld>
            <a:endParaRPr lang="en-GB"/>
          </a:p>
        </p:txBody>
      </p:sp>
    </p:spTree>
    <p:extLst>
      <p:ext uri="{BB962C8B-B14F-4D97-AF65-F5344CB8AC3E}">
        <p14:creationId xmlns:p14="http://schemas.microsoft.com/office/powerpoint/2010/main" val="10097233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spcBef>
                <a:spcPts val="0"/>
              </a:spcBef>
              <a:spcAft>
                <a:spcPts val="0"/>
              </a:spcAft>
              <a:buFont typeface="Symbol" panose="05050102010706020507" pitchFamily="18" charset="2"/>
              <a:buNone/>
            </a:pPr>
            <a:r>
              <a:rPr lang="en-GB" dirty="0"/>
              <a:t>Line Frequency Spectrum is </a:t>
            </a:r>
            <a:r>
              <a:rPr lang="en-GB" sz="1200" dirty="0">
                <a:solidFill>
                  <a:srgbClr val="002060"/>
                </a:solidFill>
                <a:latin typeface="Times New Roman" panose="02020603050405020304" pitchFamily="18" charset="0"/>
              </a:rPr>
              <a:t>a plot showing </a:t>
            </a:r>
            <a:r>
              <a:rPr lang="en-GB" sz="1200" dirty="0" err="1">
                <a:solidFill>
                  <a:srgbClr val="002060"/>
                </a:solidFill>
                <a:latin typeface="Times New Roman" panose="02020603050405020304" pitchFamily="18" charset="0"/>
              </a:rPr>
              <a:t>d.c.</a:t>
            </a:r>
            <a:r>
              <a:rPr lang="en-GB" sz="1200" dirty="0">
                <a:solidFill>
                  <a:srgbClr val="002060"/>
                </a:solidFill>
                <a:latin typeface="Times New Roman" panose="02020603050405020304" pitchFamily="18" charset="0"/>
              </a:rPr>
              <a:t>, fundamental, and each of harmonics (usually amplitude) against frequency, with values </a:t>
            </a:r>
            <a:r>
              <a:rPr lang="en-GB" sz="1200" dirty="0" err="1">
                <a:solidFill>
                  <a:srgbClr val="002060"/>
                </a:solidFill>
                <a:latin typeface="Times New Roman" panose="02020603050405020304" pitchFamily="18" charset="0"/>
              </a:rPr>
              <a:t>occuring</a:t>
            </a:r>
            <a:r>
              <a:rPr lang="en-GB" sz="1200" dirty="0">
                <a:solidFill>
                  <a:srgbClr val="002060"/>
                </a:solidFill>
                <a:latin typeface="Times New Roman" panose="02020603050405020304" pitchFamily="18" charset="0"/>
              </a:rPr>
              <a:t> at distinct points.</a:t>
            </a:r>
            <a:endParaRPr lang="en-GB" sz="1200" b="1" i="1" dirty="0">
              <a:latin typeface="Times New Roman" panose="02020603050405020304" pitchFamily="18" charset="0"/>
            </a:endParaRPr>
          </a:p>
          <a:p>
            <a:pPr>
              <a:spcBef>
                <a:spcPts val="1200"/>
              </a:spcBef>
            </a:pPr>
            <a:r>
              <a:rPr lang="en-GB" sz="1200" dirty="0">
                <a:solidFill>
                  <a:srgbClr val="002060"/>
                </a:solidFill>
                <a:latin typeface="Times New Roman" panose="02020603050405020304" pitchFamily="18" charset="0"/>
              </a:rPr>
              <a:t>In practical waveforms, higher harmonics usually have lower amplitudes</a:t>
            </a:r>
            <a:endParaRPr lang="en-GB" sz="1200" b="1" i="1" dirty="0">
              <a:latin typeface="Times New Roman" panose="02020603050405020304" pitchFamily="18" charset="0"/>
            </a:endParaRPr>
          </a:p>
          <a:p>
            <a:pPr marL="0" marR="0" lvl="0" indent="0">
              <a:spcBef>
                <a:spcPts val="0"/>
              </a:spcBef>
              <a:spcAft>
                <a:spcPts val="0"/>
              </a:spcAft>
              <a:buFont typeface="Symbol" panose="05050102010706020507" pitchFamily="18" charset="2"/>
              <a:buNone/>
            </a:pPr>
            <a:r>
              <a:rPr lang="en-GB" sz="1200" dirty="0">
                <a:solidFill>
                  <a:srgbClr val="002060"/>
                </a:solidFill>
                <a:latin typeface="Times New Roman" panose="02020603050405020304" pitchFamily="18" charset="0"/>
              </a:rPr>
              <a:t>For smooth waveforms, high harmonics are negligible.</a:t>
            </a:r>
          </a:p>
          <a:p>
            <a:pPr marL="0" marR="0" lvl="0" indent="0">
              <a:spcBef>
                <a:spcPts val="0"/>
              </a:spcBef>
              <a:spcAft>
                <a:spcPts val="0"/>
              </a:spcAft>
              <a:buFont typeface="Symbol" panose="05050102010706020507" pitchFamily="18" charset="2"/>
              <a:buNone/>
            </a:pPr>
            <a:r>
              <a:rPr lang="en-US" dirty="0"/>
              <a:t>For piecewise continuous waveforms (such as square waveform) harmonics do not decrease very rapidly as near vertical lines correspond to very high frequencies.</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33</a:t>
            </a:fld>
            <a:endParaRPr lang="en-GB"/>
          </a:p>
        </p:txBody>
      </p:sp>
    </p:spTree>
    <p:extLst>
      <p:ext uri="{BB962C8B-B14F-4D97-AF65-F5344CB8AC3E}">
        <p14:creationId xmlns:p14="http://schemas.microsoft.com/office/powerpoint/2010/main" val="37614685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Fourier series, we have obtained the An and Bn coefficients.  How do we combine these to obtain the harmonic magnitudes and phase angles.</a:t>
            </a:r>
          </a:p>
          <a:p>
            <a:r>
              <a:rPr lang="en-US" dirty="0"/>
              <a:t>Using trigonometry, it can easily be seen that the magnitude of each harmonic (nth) is determined as the square root of the sum of the squares of An and Bn.   This is always a positive value.</a:t>
            </a:r>
          </a:p>
          <a:p>
            <a:r>
              <a:rPr lang="en-US" dirty="0"/>
              <a:t>Similarly the harmonic phase angle can be obtained as the inverse tan of Bn over An. </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34</a:t>
            </a:fld>
            <a:endParaRPr lang="en-GB"/>
          </a:p>
        </p:txBody>
      </p:sp>
    </p:spTree>
    <p:extLst>
      <p:ext uri="{BB962C8B-B14F-4D97-AF65-F5344CB8AC3E}">
        <p14:creationId xmlns:p14="http://schemas.microsoft.com/office/powerpoint/2010/main" val="969133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an example, let us determine the Fourier series of the rectangular waveform shown, which obviously is piecewise continuous at the vertical edges.</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35</a:t>
            </a:fld>
            <a:endParaRPr lang="en-GB"/>
          </a:p>
        </p:txBody>
      </p:sp>
    </p:spTree>
    <p:extLst>
      <p:ext uri="{BB962C8B-B14F-4D97-AF65-F5344CB8AC3E}">
        <p14:creationId xmlns:p14="http://schemas.microsoft.com/office/powerpoint/2010/main" val="36577455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dirty="0"/>
              <a:t>It can be seen that the </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Period of waveform = 2T. Note, although the expression in the Fourier series has the period as T, in this example the period is 2T.</a:t>
            </a:r>
            <a:endParaRPr kumimoji="0" lang="en-GB"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Mean value of waveform = 0, so that </a:t>
            </a:r>
            <a:r>
              <a:rPr kumimoji="0" lang="en-GB" altLang="en-US" sz="1200" b="0" i="0" u="none" strike="noStrike" cap="none" normalizeH="0" baseline="0" dirty="0">
                <a:ln>
                  <a:noFill/>
                </a:ln>
                <a:solidFill>
                  <a:srgbClr val="002060"/>
                </a:solidFill>
                <a:effectLst/>
                <a:ea typeface="Times New Roman" panose="02020603050405020304" pitchFamily="18" charset="0"/>
              </a:rPr>
              <a:t> A</a:t>
            </a:r>
            <a:r>
              <a:rPr kumimoji="0" lang="en-GB" altLang="en-US" sz="1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zero by</a:t>
            </a:r>
            <a:r>
              <a:rPr kumimoji="0" lang="en-GB" altLang="en-US" sz="1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2 = 0</a:t>
            </a:r>
            <a:endParaRPr kumimoji="0" lang="en-GB" altLang="en-US" sz="8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It can easily be seen that the waveform has even symmetry giving rise to </a:t>
            </a:r>
            <a:r>
              <a:rPr kumimoji="0" lang="en-GB" altLang="en-US" sz="1200" b="0" i="0" u="none" strike="noStrike" cap="none" normalizeH="0" baseline="0" dirty="0">
                <a:ln>
                  <a:noFill/>
                </a:ln>
                <a:solidFill>
                  <a:srgbClr val="002060"/>
                </a:solidFill>
                <a:effectLst/>
                <a:ea typeface="Times New Roman" panose="02020603050405020304" pitchFamily="18" charset="0"/>
              </a:rPr>
              <a:t>B</a:t>
            </a:r>
            <a:r>
              <a:rPr kumimoji="0" lang="en-GB" altLang="en-US" sz="1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 0 for all n</a:t>
            </a:r>
            <a:endParaRPr kumimoji="0" lang="en-GB" altLang="en-US" sz="8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and half-wave symmetry giving </a:t>
            </a:r>
            <a:r>
              <a:rPr kumimoji="0" lang="en-GB" altLang="en-US" sz="1200" b="0" i="0" u="none" strike="noStrike" cap="none" normalizeH="0" baseline="0" dirty="0">
                <a:ln>
                  <a:noFill/>
                </a:ln>
                <a:solidFill>
                  <a:srgbClr val="002060"/>
                </a:solidFill>
                <a:effectLst/>
                <a:ea typeface="Times New Roman" panose="02020603050405020304" pitchFamily="18" charset="0"/>
              </a:rPr>
              <a:t>A</a:t>
            </a:r>
            <a:r>
              <a:rPr kumimoji="0" lang="en-GB" altLang="en-US" sz="1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B</a:t>
            </a:r>
            <a:r>
              <a:rPr kumimoji="0" lang="en-GB" altLang="en-US" sz="1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 0 for even n</a:t>
            </a:r>
            <a:endParaRPr kumimoji="0" lang="en-GB" altLang="en-US" sz="8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Therefore,</a:t>
            </a:r>
            <a:r>
              <a:rPr kumimoji="0" lang="en-GB" altLang="en-US" sz="1200" b="0" i="0" u="none" strike="noStrike" cap="none" normalizeH="0" baseline="0" dirty="0">
                <a:ln>
                  <a:noFill/>
                </a:ln>
                <a:solidFill>
                  <a:srgbClr val="002060"/>
                </a:solidFill>
                <a:effectLst/>
                <a:ea typeface="Times New Roman" panose="02020603050405020304" pitchFamily="18" charset="0"/>
              </a:rPr>
              <a:t> A</a:t>
            </a:r>
            <a:r>
              <a:rPr kumimoji="0" lang="en-GB" altLang="en-US" sz="1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can be obtained, for odd values of n, as 4 times  integral over quarter cycle</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36</a:t>
            </a:fld>
            <a:endParaRPr lang="en-GB"/>
          </a:p>
        </p:txBody>
      </p:sp>
    </p:spTree>
    <p:extLst>
      <p:ext uri="{BB962C8B-B14F-4D97-AF65-F5344CB8AC3E}">
        <p14:creationId xmlns:p14="http://schemas.microsoft.com/office/powerpoint/2010/main" val="33936387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mathematical simplifications are shown, yielding a general expression 4 E over n Pi times sin n Pi over 2.</a:t>
            </a:r>
          </a:p>
          <a:p>
            <a:r>
              <a:rPr lang="en-US" dirty="0"/>
              <a:t>By substituting different odd values of n, the coefficients A1, A3, A5 </a:t>
            </a:r>
            <a:r>
              <a:rPr lang="en-US" dirty="0" err="1"/>
              <a:t>etc</a:t>
            </a:r>
            <a:r>
              <a:rPr lang="en-US" dirty="0"/>
              <a:t> can be determined.</a:t>
            </a:r>
          </a:p>
          <a:p>
            <a:r>
              <a:rPr lang="en-US" dirty="0"/>
              <a:t>Do not try to evaluate An for even values of n, as any answer obtained will have to be multiplied by (1 minus 1) or zero and not (1 plus 1) or double.</a:t>
            </a:r>
          </a:p>
          <a:p>
            <a:r>
              <a:rPr lang="en-US" dirty="0"/>
              <a:t>The resulting series is seen to be a cosine series with alternate terms being plus and minus and each subsequent term decreasing inversely as its harmonic number.</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37</a:t>
            </a:fld>
            <a:endParaRPr lang="en-GB"/>
          </a:p>
        </p:txBody>
      </p:sp>
    </p:spTree>
    <p:extLst>
      <p:ext uri="{BB962C8B-B14F-4D97-AF65-F5344CB8AC3E}">
        <p14:creationId xmlns:p14="http://schemas.microsoft.com/office/powerpoint/2010/main" val="18326006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In the waveforms shown, first the original rectangular waveform is shown, then only the fundamental has been plotted, then fundamental plus third harmonic, then  corresponding to fundamental + third harmonic + fifth harmonic, then fundamental, third,  fifth and seventh harmonics.</a:t>
            </a:r>
          </a:p>
          <a:p>
            <a:r>
              <a:rPr lang="en-GB" sz="1200" kern="1200" dirty="0">
                <a:solidFill>
                  <a:schemeClr val="tx1"/>
                </a:solidFill>
                <a:effectLst/>
                <a:latin typeface="+mn-lt"/>
                <a:ea typeface="+mn-ea"/>
                <a:cs typeface="+mn-cs"/>
              </a:rPr>
              <a:t>It can be seen that with addition of each harmonic component, the waveform approaches original waveform more closely, however without an infinite number of components it will never become exactly equal to  original.</a:t>
            </a:r>
          </a:p>
        </p:txBody>
      </p:sp>
      <p:sp>
        <p:nvSpPr>
          <p:cNvPr id="4" name="Slide Number Placeholder 3"/>
          <p:cNvSpPr>
            <a:spLocks noGrp="1"/>
          </p:cNvSpPr>
          <p:nvPr>
            <p:ph type="sldNum" sz="quarter" idx="5"/>
          </p:nvPr>
        </p:nvSpPr>
        <p:spPr/>
        <p:txBody>
          <a:bodyPr/>
          <a:lstStyle/>
          <a:p>
            <a:fld id="{2FC4AAFD-141F-4056-A367-1845A08BF131}" type="slidenum">
              <a:rPr lang="en-GB" smtClean="0"/>
              <a:t>38</a:t>
            </a:fld>
            <a:endParaRPr lang="en-GB"/>
          </a:p>
        </p:txBody>
      </p:sp>
    </p:spTree>
    <p:extLst>
      <p:ext uri="{BB962C8B-B14F-4D97-AF65-F5344CB8AC3E}">
        <p14:creationId xmlns:p14="http://schemas.microsoft.com/office/powerpoint/2010/main" val="27312289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Frequency spectrum of the earlier rectangular waveform is shown.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Let us now see what will happen if the waveform is shifted horizontally or vertically.  If the waveform is shifted horizontally, phase angles would change, while if shifted vertically a direct component would be added.</a:t>
            </a:r>
            <a:endParaRPr lang="en-GB" dirty="0"/>
          </a:p>
          <a:p>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39</a:t>
            </a:fld>
            <a:endParaRPr lang="en-GB"/>
          </a:p>
        </p:txBody>
      </p:sp>
    </p:spTree>
    <p:extLst>
      <p:ext uri="{BB962C8B-B14F-4D97-AF65-F5344CB8AC3E}">
        <p14:creationId xmlns:p14="http://schemas.microsoft.com/office/powerpoint/2010/main" val="25684599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2 shows the rectangular waveform in example 1, being amplified one and half times from (–E and E) to from (-E to 2E) giving a non-zero mean value, and a horizontal shift of T by 6 making the waveform to be not even.</a:t>
            </a:r>
          </a:p>
          <a:p>
            <a:r>
              <a:rPr lang="en-US" dirty="0"/>
              <a:t>In its present form, </a:t>
            </a:r>
            <a:r>
              <a:rPr lang="en-US" sz="1200" dirty="0">
                <a:solidFill>
                  <a:srgbClr val="002060"/>
                </a:solidFill>
                <a:latin typeface="Times New Roman" panose="02020603050405020304" pitchFamily="18" charset="0"/>
                <a:cs typeface="Times New Roman" panose="02020603050405020304" pitchFamily="18" charset="0"/>
              </a:rPr>
              <a:t>Waveform does not have any symmetrical properties, although it is virtually same waveform as in example 1. </a:t>
            </a:r>
          </a:p>
          <a:p>
            <a:r>
              <a:rPr lang="en-US" sz="1200" dirty="0">
                <a:solidFill>
                  <a:srgbClr val="002060"/>
                </a:solidFill>
                <a:latin typeface="Times New Roman" panose="02020603050405020304" pitchFamily="18" charset="0"/>
                <a:cs typeface="Times New Roman" panose="02020603050405020304" pitchFamily="18" charset="0"/>
              </a:rPr>
              <a:t>It can be seen that the Period = 2T,  mean value = E/2</a:t>
            </a:r>
          </a:p>
          <a:p>
            <a:r>
              <a:rPr lang="en-US" sz="1200" dirty="0">
                <a:solidFill>
                  <a:srgbClr val="002060"/>
                </a:solidFill>
                <a:latin typeface="Times New Roman" panose="02020603050405020304" pitchFamily="18" charset="0"/>
                <a:cs typeface="Times New Roman" panose="02020603050405020304" pitchFamily="18" charset="0"/>
              </a:rPr>
              <a:t>If E/2 is subtracted from the waveform b(t), half wave symmetry is observed.</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40</a:t>
            </a:fld>
            <a:endParaRPr lang="en-GB"/>
          </a:p>
        </p:txBody>
      </p:sp>
    </p:spTree>
    <p:extLst>
      <p:ext uri="{BB962C8B-B14F-4D97-AF65-F5344CB8AC3E}">
        <p14:creationId xmlns:p14="http://schemas.microsoft.com/office/powerpoint/2010/main" val="9574494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0" fontAlgn="base" latinLnBrk="0" hangingPunct="0">
              <a:lnSpc>
                <a:spcPct val="110000"/>
              </a:lnSpc>
              <a:spcBef>
                <a:spcPct val="0"/>
              </a:spcBef>
              <a:spcAft>
                <a:spcPct val="0"/>
              </a:spcAft>
              <a:buClrTx/>
              <a:buSzTx/>
              <a:buFontTx/>
              <a:buNone/>
              <a:tabLst/>
            </a:pP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If waveform is shifted by T/6 to left, even symmetry is observed.</a:t>
            </a:r>
            <a:endParaRPr kumimoji="0" lang="en-GB"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10000"/>
              </a:lnSpc>
              <a:spcBef>
                <a:spcPct val="0"/>
              </a:spcBef>
              <a:spcAft>
                <a:spcPct val="0"/>
              </a:spcAft>
              <a:buClrTx/>
              <a:buSzTx/>
              <a:buFontTx/>
              <a:buNone/>
              <a:tabLst/>
            </a:pP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Now consider the modified waveform b</a:t>
            </a:r>
            <a:r>
              <a:rPr kumimoji="0" lang="en-GB" altLang="en-US" sz="1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 = b(t -T/6) - E/2 as shown.</a:t>
            </a:r>
            <a:endParaRPr kumimoji="0" lang="en-GB"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10000"/>
              </a:lnSpc>
              <a:spcBef>
                <a:spcPct val="0"/>
              </a:spcBef>
              <a:spcAft>
                <a:spcPct val="0"/>
              </a:spcAft>
              <a:buClrTx/>
              <a:buSzTx/>
              <a:buFontTx/>
              <a:buNone/>
              <a:tabLst/>
            </a:pP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b</a:t>
            </a:r>
            <a:r>
              <a:rPr kumimoji="0" lang="en-GB" altLang="en-US" sz="1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 differs from the waveform a(t) in the earlier problem in magnitude only (1.5 times).  </a:t>
            </a:r>
            <a:endParaRPr kumimoji="0" lang="en-GB"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10000"/>
              </a:lnSpc>
              <a:spcBef>
                <a:spcPct val="0"/>
              </a:spcBef>
              <a:spcAft>
                <a:spcPct val="0"/>
              </a:spcAft>
              <a:buClrTx/>
              <a:buSzTx/>
              <a:buFontTx/>
              <a:buNone/>
              <a:tabLst/>
            </a:pP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Thus b</a:t>
            </a:r>
            <a:r>
              <a:rPr kumimoji="0" lang="en-GB" altLang="en-US" sz="1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 can be obtained directly from earlier analysis and given as shown.</a:t>
            </a:r>
          </a:p>
          <a:p>
            <a:pPr marL="0" marR="0" lvl="0" indent="0" algn="just" defTabSz="914400" rtl="0" eaLnBrk="0" fontAlgn="base" latinLnBrk="0" hangingPunct="0">
              <a:lnSpc>
                <a:spcPct val="110000"/>
              </a:lnSpc>
              <a:spcBef>
                <a:spcPct val="0"/>
              </a:spcBef>
              <a:spcAft>
                <a:spcPct val="0"/>
              </a:spcAft>
              <a:buClrTx/>
              <a:buSzTx/>
              <a:buFontTx/>
              <a:buNone/>
              <a:tabLst/>
            </a:pPr>
            <a:r>
              <a:rPr kumimoji="0" lang="en-GB" sz="1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Please note that without considering any earlier analysis, this waveform can be analysed from first principles.</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41</a:t>
            </a:fld>
            <a:endParaRPr lang="en-GB"/>
          </a:p>
        </p:txBody>
      </p:sp>
    </p:spTree>
    <p:extLst>
      <p:ext uri="{BB962C8B-B14F-4D97-AF65-F5344CB8AC3E}">
        <p14:creationId xmlns:p14="http://schemas.microsoft.com/office/powerpoint/2010/main" val="20077085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waveform b(t) is obtained by phase shifting and addition of the removed direct term as shown.</a:t>
            </a:r>
          </a:p>
          <a:p>
            <a:r>
              <a:rPr lang="en-GB" dirty="0"/>
              <a:t>I</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f problem is worked from first principles you would still obtain the same result.</a:t>
            </a:r>
          </a:p>
          <a:p>
            <a:r>
              <a:rPr kumimoji="0" lang="en-GB" sz="1200" b="0" i="0" u="none" strike="noStrike" cap="none" normalizeH="0" baseline="0" dirty="0">
                <a:ln>
                  <a:noFill/>
                </a:ln>
                <a:solidFill>
                  <a:srgbClr val="002060"/>
                </a:solidFill>
                <a:effectLst/>
                <a:latin typeface="Arial" panose="020B0604020202020204" pitchFamily="34" charset="0"/>
              </a:rPr>
              <a:t>The line spectrum of this waveform is also shown.</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42</a:t>
            </a:fld>
            <a:endParaRPr lang="en-GB"/>
          </a:p>
        </p:txBody>
      </p:sp>
    </p:spTree>
    <p:extLst>
      <p:ext uri="{BB962C8B-B14F-4D97-AF65-F5344CB8AC3E}">
        <p14:creationId xmlns:p14="http://schemas.microsoft.com/office/powerpoint/2010/main" val="13597252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consider how to determine the Fourier Series of the triangular waveform passing through the origin.</a:t>
            </a:r>
          </a:p>
          <a:p>
            <a:pPr marL="0" marR="0" lvl="0" indent="0" algn="l" defTabSz="914400" rtl="0" eaLnBrk="0" fontAlgn="base" latinLnBrk="0" hangingPunct="0">
              <a:lnSpc>
                <a:spcPct val="120000"/>
              </a:lnSpc>
              <a:spcBef>
                <a:spcPct val="0"/>
              </a:spcBef>
              <a:spcAft>
                <a:spcPct val="0"/>
              </a:spcAft>
              <a:buClrTx/>
              <a:buSzTx/>
              <a:buFontTx/>
              <a:buNone/>
              <a:tabLst>
                <a:tab pos="457200" algn="r"/>
                <a:tab pos="2743200" algn="ctr"/>
                <a:tab pos="5486400" algn="r"/>
              </a:tabLst>
            </a:pPr>
            <a:r>
              <a:rPr lang="en-US" dirty="0"/>
              <a:t>It is seen that the </a:t>
            </a:r>
            <a:r>
              <a:rPr kumimoji="0" lang="en-GB" altLang="en-US" sz="1200" b="0" i="0" u="none" strike="noStrike" cap="none" normalizeH="0" baseline="0" dirty="0">
                <a:ln>
                  <a:noFill/>
                </a:ln>
                <a:solidFill>
                  <a:srgbClr val="002060"/>
                </a:solidFill>
                <a:effectLst/>
                <a:ea typeface="Times New Roman" panose="02020603050405020304" pitchFamily="18" charset="0"/>
              </a:rPr>
              <a:t>Period of waveform is again 2T  so that </a:t>
            </a:r>
            <a:r>
              <a:rPr kumimoji="0" lang="en-GB" altLang="en-US" sz="1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omega zero times </a:t>
            </a:r>
            <a:r>
              <a:rPr kumimoji="0" lang="en-GB" altLang="en-US" sz="1200" b="0" i="0" u="none" strike="noStrike" cap="none" normalizeH="0" baseline="0" dirty="0">
                <a:ln>
                  <a:noFill/>
                </a:ln>
                <a:solidFill>
                  <a:srgbClr val="002060"/>
                </a:solidFill>
                <a:effectLst/>
                <a:ea typeface="Times New Roman" panose="02020603050405020304" pitchFamily="18" charset="0"/>
              </a:rPr>
              <a:t>2T = 2</a:t>
            </a:r>
            <a:r>
              <a:rPr kumimoji="0" lang="en-GB" altLang="en-US" sz="1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a:t>
            </a:r>
            <a:r>
              <a:rPr kumimoji="0" lang="en-GB" altLang="en-US" sz="1200" b="0" i="0" u="none" strike="noStrike" cap="none" normalizeH="0" baseline="0" dirty="0">
                <a:ln>
                  <a:noFill/>
                </a:ln>
                <a:solidFill>
                  <a:schemeClr val="tx1"/>
                </a:solidFill>
                <a:effectLst/>
                <a:latin typeface="Symbol" panose="05050102010706020507" pitchFamily="18" charset="2"/>
                <a:ea typeface="Times New Roman" panose="02020603050405020304" pitchFamily="18" charset="0"/>
              </a:rPr>
              <a:t> Pi.</a:t>
            </a:r>
          </a:p>
          <a:p>
            <a:pPr marL="0" marR="0" lvl="0" indent="0" algn="l" defTabSz="914400" rtl="0" eaLnBrk="0" fontAlgn="base" latinLnBrk="0" hangingPunct="0">
              <a:lnSpc>
                <a:spcPct val="120000"/>
              </a:lnSpc>
              <a:spcBef>
                <a:spcPct val="0"/>
              </a:spcBef>
              <a:spcAft>
                <a:spcPct val="0"/>
              </a:spcAft>
              <a:buClrTx/>
              <a:buSzTx/>
              <a:buFontTx/>
              <a:buNone/>
              <a:tabLst>
                <a:tab pos="457200" algn="r"/>
                <a:tab pos="2743200" algn="ctr"/>
                <a:tab pos="5486400" algn="r"/>
              </a:tabLst>
            </a:pPr>
            <a:r>
              <a:rPr kumimoji="0" lang="en-GB" altLang="en-US" sz="1200" b="0" i="0" u="none" strike="noStrike" cap="none" normalizeH="0" baseline="0" dirty="0">
                <a:ln>
                  <a:noFill/>
                </a:ln>
                <a:solidFill>
                  <a:schemeClr val="tx1"/>
                </a:solidFill>
                <a:effectLst/>
                <a:latin typeface="Symbol" panose="05050102010706020507" pitchFamily="18" charset="2"/>
                <a:ea typeface="Times New Roman" panose="02020603050405020304" pitchFamily="18" charset="0"/>
              </a:rPr>
              <a:t>Also visual observation will show you that the </a:t>
            </a:r>
            <a:r>
              <a:rPr kumimoji="0" lang="en-GB" altLang="en-US" sz="1200" b="0" i="0" u="none" strike="noStrike" cap="none" normalizeH="0" baseline="0" dirty="0">
                <a:ln>
                  <a:noFill/>
                </a:ln>
                <a:solidFill>
                  <a:srgbClr val="002060"/>
                </a:solidFill>
                <a:effectLst/>
                <a:ea typeface="Times New Roman" panose="02020603050405020304" pitchFamily="18" charset="0"/>
              </a:rPr>
              <a:t>mean value is 0 so that A</a:t>
            </a:r>
            <a:r>
              <a:rPr kumimoji="0" lang="en-GB" altLang="en-US" sz="1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zero by 2 equals 0.</a:t>
            </a:r>
            <a:endParaRPr kumimoji="0" lang="en-GB" altLang="en-US" sz="12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20000"/>
              </a:lnSpc>
              <a:spcBef>
                <a:spcPct val="0"/>
              </a:spcBef>
              <a:spcAft>
                <a:spcPct val="0"/>
              </a:spcAft>
              <a:buClrTx/>
              <a:buSzTx/>
              <a:buFontTx/>
              <a:buNone/>
              <a:tabLst>
                <a:tab pos="457200" algn="r"/>
              </a:tabLst>
            </a:pPr>
            <a:r>
              <a:rPr kumimoji="0" lang="en-GB" altLang="en-US" sz="1200" b="0" i="0" u="none" strike="noStrike" cap="none" normalizeH="0" baseline="0" dirty="0">
                <a:ln>
                  <a:noFill/>
                </a:ln>
                <a:solidFill>
                  <a:srgbClr val="002060"/>
                </a:solidFill>
                <a:effectLst/>
                <a:ea typeface="Times New Roman" panose="02020603050405020304" pitchFamily="18" charset="0"/>
                <a:cs typeface="Arial" panose="020B0604020202020204" pitchFamily="34" charset="0"/>
                <a:sym typeface="Symbol" panose="05050102010706020507" pitchFamily="18" charset="2"/>
              </a:rPr>
              <a:t>It can be seen that the waveform has odd symmetry so that </a:t>
            </a:r>
            <a:r>
              <a:rPr kumimoji="0" lang="en-GB" altLang="en-US" sz="1200" b="0" i="0" u="none" strike="noStrike" cap="none" normalizeH="0" baseline="0" dirty="0">
                <a:ln>
                  <a:noFill/>
                </a:ln>
                <a:solidFill>
                  <a:srgbClr val="002060"/>
                </a:solidFill>
                <a:effectLst/>
                <a:ea typeface="Times New Roman" panose="02020603050405020304" pitchFamily="18" charset="0"/>
              </a:rPr>
              <a:t>A</a:t>
            </a:r>
            <a:r>
              <a:rPr kumimoji="0" lang="en-GB" altLang="en-US" sz="1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 </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0  </a:t>
            </a:r>
            <a:r>
              <a:rPr kumimoji="0" lang="en-GB" altLang="en-US" sz="1200" b="0" i="0" u="none" strike="noStrike" cap="none" normalizeH="0" baseline="0" dirty="0">
                <a:ln>
                  <a:noFill/>
                </a:ln>
                <a:solidFill>
                  <a:srgbClr val="002060"/>
                </a:solidFill>
                <a:effectLst/>
                <a:ea typeface="Times New Roman" panose="02020603050405020304" pitchFamily="18" charset="0"/>
                <a:cs typeface="Arial" panose="020B0604020202020204" pitchFamily="34" charset="0"/>
                <a:sym typeface="Symbol" panose="05050102010706020507" pitchFamily="18" charset="2"/>
              </a:rPr>
              <a:t>for all n</a:t>
            </a:r>
            <a:endParaRPr kumimoji="0" lang="en-GB" altLang="en-US" sz="1200" b="0" i="0" u="none" strike="noStrike" cap="none" normalizeH="0" baseline="0" dirty="0">
              <a:ln>
                <a:noFill/>
              </a:ln>
              <a:solidFill>
                <a:schemeClr val="tx1"/>
              </a:solidFill>
              <a:effectLst/>
              <a:cs typeface="Arial" panose="020B0604020202020204" pitchFamily="34" charset="0"/>
              <a:sym typeface="Symbol" panose="05050102010706020507" pitchFamily="18" charset="2"/>
            </a:endParaRPr>
          </a:p>
          <a:p>
            <a:pPr marL="0" marR="0" lvl="0" indent="0" algn="l" defTabSz="914400" rtl="0" eaLnBrk="0" fontAlgn="base" latinLnBrk="0" hangingPunct="0">
              <a:lnSpc>
                <a:spcPct val="120000"/>
              </a:lnSpc>
              <a:spcBef>
                <a:spcPct val="0"/>
              </a:spcBef>
              <a:spcAft>
                <a:spcPct val="0"/>
              </a:spcAft>
              <a:buClrTx/>
              <a:buSzTx/>
              <a:buFontTx/>
              <a:buNone/>
              <a:tabLst>
                <a:tab pos="457200" algn="r"/>
                <a:tab pos="2743200" algn="ctr"/>
                <a:tab pos="5486400" algn="r"/>
              </a:tabLst>
            </a:pPr>
            <a:r>
              <a:rPr kumimoji="0" lang="en-GB" altLang="en-US" sz="1200" b="0" i="0" u="none" strike="noStrike" cap="none" normalizeH="0" baseline="0" dirty="0">
                <a:ln>
                  <a:noFill/>
                </a:ln>
                <a:solidFill>
                  <a:srgbClr val="002060"/>
                </a:solidFill>
                <a:effectLst/>
                <a:ea typeface="Times New Roman" panose="02020603050405020304" pitchFamily="18" charset="0"/>
                <a:cs typeface="Arial" panose="020B0604020202020204" pitchFamily="34" charset="0"/>
                <a:sym typeface="Symbol" panose="05050102010706020507" pitchFamily="18" charset="2"/>
              </a:rPr>
              <a:t>It also has half-wave symmetry so that even harmonics are absent and </a:t>
            </a:r>
            <a:r>
              <a:rPr kumimoji="0" lang="en-GB" altLang="en-US" sz="1200" b="0" i="0" u="none" strike="noStrike" cap="none" normalizeH="0" baseline="0" dirty="0">
                <a:ln>
                  <a:noFill/>
                </a:ln>
                <a:solidFill>
                  <a:srgbClr val="002060"/>
                </a:solidFill>
                <a:effectLst/>
                <a:ea typeface="Times New Roman" panose="02020603050405020304" pitchFamily="18" charset="0"/>
              </a:rPr>
              <a:t>A</a:t>
            </a:r>
            <a:r>
              <a:rPr kumimoji="0" lang="en-GB" altLang="en-US" sz="1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and B</a:t>
            </a:r>
            <a:r>
              <a:rPr kumimoji="0" lang="en-GB" altLang="en-US" sz="1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are zero  </a:t>
            </a:r>
            <a:r>
              <a:rPr lang="en-GB" altLang="en-US" sz="1200" dirty="0">
                <a:solidFill>
                  <a:srgbClr val="002060"/>
                </a:solidFill>
                <a:cs typeface="Arial" panose="020B0604020202020204" pitchFamily="34" charset="0"/>
                <a:sym typeface="Symbol" panose="05050102010706020507" pitchFamily="18" charset="2"/>
              </a:rPr>
              <a:t>for even n.</a:t>
            </a:r>
          </a:p>
          <a:p>
            <a:pPr marL="0" marR="0" lvl="0" indent="0" algn="l" defTabSz="914400" rtl="0" eaLnBrk="0" fontAlgn="base" latinLnBrk="0" hangingPunct="0">
              <a:lnSpc>
                <a:spcPct val="120000"/>
              </a:lnSpc>
              <a:spcBef>
                <a:spcPct val="0"/>
              </a:spcBef>
              <a:spcAft>
                <a:spcPct val="0"/>
              </a:spcAft>
              <a:buClrTx/>
              <a:buSzTx/>
              <a:buFontTx/>
              <a:buNone/>
              <a:tabLst>
                <a:tab pos="457200" algn="r"/>
                <a:tab pos="2743200" algn="ctr"/>
                <a:tab pos="5486400" algn="r"/>
              </a:tabLst>
            </a:pPr>
            <a:r>
              <a:rPr lang="en-GB" sz="1200" dirty="0">
                <a:solidFill>
                  <a:srgbClr val="002060"/>
                </a:solidFill>
                <a:cs typeface="Arial" panose="020B0604020202020204" pitchFamily="34" charset="0"/>
                <a:sym typeface="Symbol" panose="05050102010706020507" pitchFamily="18" charset="2"/>
              </a:rPr>
              <a:t>Since there are two properties, odd symmetry and half-wave symmetry, Bn for odd harmonics can b determined by four times the integral over quarter cycle starting from 0. That is, from zero to T/2.</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43</a:t>
            </a:fld>
            <a:endParaRPr lang="en-GB"/>
          </a:p>
        </p:txBody>
      </p:sp>
    </p:spTree>
    <p:extLst>
      <p:ext uri="{BB962C8B-B14F-4D97-AF65-F5344CB8AC3E}">
        <p14:creationId xmlns:p14="http://schemas.microsoft.com/office/powerpoint/2010/main" val="25079218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Simplifying the mathematics, a general expression for Bn can be obtained as shown, and the individual values of the odd harmonics B1, B3, B5, B7 are evaluated as shown and the Fourier series may then be stated as y (t) equals 8E by Pi squared times sin omega zero t minus sin 3 omega zero t over 3 squared plus sin 5 omega zero t over 5 squared minus sin 7 omega zero t over 7 squared and so on. </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44</a:t>
            </a:fld>
            <a:endParaRPr lang="en-GB"/>
          </a:p>
        </p:txBody>
      </p:sp>
    </p:spTree>
    <p:extLst>
      <p:ext uri="{BB962C8B-B14F-4D97-AF65-F5344CB8AC3E}">
        <p14:creationId xmlns:p14="http://schemas.microsoft.com/office/powerpoint/2010/main" val="178088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is now see what happens when you differentiate the waveform y(t) of example 3.</a:t>
            </a:r>
          </a:p>
          <a:p>
            <a:r>
              <a:rPr lang="en-US" dirty="0"/>
              <a:t>Positive slope of the triangular waveform becomes a positive constant while the negative slope of the triangular waveform becomes a negative constant.  This differentiated triangular waveform is shown in figure 17.</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It can be seen that this corresponds to same type of rectangular waveform in example  1, </a:t>
            </a:r>
            <a:endParaRPr kumimoji="0" lang="en-GB"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except that the amplitude is 2/T times higher.  </a:t>
            </a:r>
            <a:endParaRPr kumimoji="0" lang="en-GB"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Thus we could use the integral of analyzed rectangular waveform a(t) to obtain y(t).</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45</a:t>
            </a:fld>
            <a:endParaRPr lang="en-GB"/>
          </a:p>
        </p:txBody>
      </p:sp>
    </p:spTree>
    <p:extLst>
      <p:ext uri="{BB962C8B-B14F-4D97-AF65-F5344CB8AC3E}">
        <p14:creationId xmlns:p14="http://schemas.microsoft.com/office/powerpoint/2010/main" val="312262934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Y(t) is the integral of a(t) and gives the expected answer.</a:t>
            </a:r>
          </a:p>
          <a:p>
            <a:r>
              <a:rPr kumimoji="0" lang="en-US"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The constant of integration must be selected correctly, in this case zero as the mean value of the triangular waveform is zero. Otherwise there could be a difference of a constant between the 2 answers.</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46</a:t>
            </a:fld>
            <a:endParaRPr lang="en-GB"/>
          </a:p>
        </p:txBody>
      </p:sp>
    </p:spTree>
    <p:extLst>
      <p:ext uri="{BB962C8B-B14F-4D97-AF65-F5344CB8AC3E}">
        <p14:creationId xmlns:p14="http://schemas.microsoft.com/office/powerpoint/2010/main" val="34169146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analyze a more complicated waveform as shown in the figure.</a:t>
            </a:r>
          </a:p>
          <a:p>
            <a:r>
              <a:rPr lang="en-US" dirty="0"/>
              <a:t>In this case, Period equals T so that omega zero T equals  2 Pi.  It can also be seen that the mean value=0 so that A zero by 2 is also zero. If this could not be visually observed, you could find the area under one cycle and divide by the base to get the mean value.</a:t>
            </a:r>
          </a:p>
          <a:p>
            <a:r>
              <a:rPr lang="en-US" dirty="0"/>
              <a:t>It can also be seen that the waveform has half-wave symmetry so that  even harmonics are absent.</a:t>
            </a:r>
          </a:p>
          <a:p>
            <a:r>
              <a:rPr lang="en-US" dirty="0"/>
              <a:t>As the waveform has half-wave symmetry, both An and Bn can be determined by taking twice the integral over half a cycle.</a:t>
            </a:r>
          </a:p>
          <a:p>
            <a:endParaRPr lang="en-US" dirty="0"/>
          </a:p>
        </p:txBody>
      </p:sp>
      <p:sp>
        <p:nvSpPr>
          <p:cNvPr id="4" name="Slide Number Placeholder 3"/>
          <p:cNvSpPr>
            <a:spLocks noGrp="1"/>
          </p:cNvSpPr>
          <p:nvPr>
            <p:ph type="sldNum" sz="quarter" idx="5"/>
          </p:nvPr>
        </p:nvSpPr>
        <p:spPr/>
        <p:txBody>
          <a:bodyPr/>
          <a:lstStyle/>
          <a:p>
            <a:fld id="{2FC4AAFD-141F-4056-A367-1845A08BF131}" type="slidenum">
              <a:rPr lang="en-GB" smtClean="0"/>
              <a:t>47</a:t>
            </a:fld>
            <a:endParaRPr lang="en-GB"/>
          </a:p>
        </p:txBody>
      </p:sp>
    </p:spTree>
    <p:extLst>
      <p:ext uri="{BB962C8B-B14F-4D97-AF65-F5344CB8AC3E}">
        <p14:creationId xmlns:p14="http://schemas.microsoft.com/office/powerpoint/2010/main" val="107343921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Mathematical analysis gives the coefficients A1, A3, A5, A7 and so on.  The Bn terms can similarly be obtained.</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48</a:t>
            </a:fld>
            <a:endParaRPr lang="en-GB"/>
          </a:p>
        </p:txBody>
      </p:sp>
    </p:spTree>
    <p:extLst>
      <p:ext uri="{BB962C8B-B14F-4D97-AF65-F5344CB8AC3E}">
        <p14:creationId xmlns:p14="http://schemas.microsoft.com/office/powerpoint/2010/main" val="9966103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steps in evaluating Bn are shown, but I will not explain them step by step.</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49</a:t>
            </a:fld>
            <a:endParaRPr lang="en-GB"/>
          </a:p>
        </p:txBody>
      </p:sp>
    </p:spTree>
    <p:extLst>
      <p:ext uri="{BB962C8B-B14F-4D97-AF65-F5344CB8AC3E}">
        <p14:creationId xmlns:p14="http://schemas.microsoft.com/office/powerpoint/2010/main" val="364145917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values of Bn are also obtained, the amplitudes and phase angle of each harmonic is determined and the line spectrum is shown.</a:t>
            </a:r>
          </a:p>
          <a:p>
            <a:r>
              <a:rPr lang="en-US" dirty="0"/>
              <a:t>Since each harmonic is known in magnitude and phase, the corresponding sinusoidal quantities can be added together.  You can see from the graph, that as the harmonics are added one by one, the sum approaches the original waveform.</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50</a:t>
            </a:fld>
            <a:endParaRPr lang="en-GB"/>
          </a:p>
        </p:txBody>
      </p:sp>
    </p:spTree>
    <p:extLst>
      <p:ext uri="{BB962C8B-B14F-4D97-AF65-F5344CB8AC3E}">
        <p14:creationId xmlns:p14="http://schemas.microsoft.com/office/powerpoint/2010/main" val="37329083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now consider a typical type of waveform that may arise with power electronic devices.</a:t>
            </a:r>
          </a:p>
          <a:p>
            <a:r>
              <a:rPr lang="en-US" sz="1200" dirty="0">
                <a:solidFill>
                  <a:srgbClr val="002060"/>
                </a:solidFill>
                <a:latin typeface="Times New Roman" panose="02020603050405020304" pitchFamily="18" charset="0"/>
                <a:cs typeface="Times New Roman" panose="02020603050405020304" pitchFamily="18" charset="0"/>
              </a:rPr>
              <a:t>f(t) is defined as follows for one cycle.</a:t>
            </a:r>
          </a:p>
          <a:p>
            <a:r>
              <a:rPr lang="en-US" sz="1200" dirty="0">
                <a:solidFill>
                  <a:srgbClr val="002060"/>
                </a:solidFill>
                <a:latin typeface="Times New Roman" panose="02020603050405020304" pitchFamily="18" charset="0"/>
                <a:cs typeface="Times New Roman" panose="02020603050405020304" pitchFamily="18" charset="0"/>
              </a:rPr>
              <a:t>   f(t) = 100 cos 314.16 t  for –0.333 &lt; t &lt; 2.5 </a:t>
            </a:r>
            <a:r>
              <a:rPr lang="en-US" sz="1200" dirty="0" err="1">
                <a:solidFill>
                  <a:srgbClr val="002060"/>
                </a:solidFill>
                <a:latin typeface="Times New Roman" panose="02020603050405020304" pitchFamily="18" charset="0"/>
                <a:cs typeface="Times New Roman" panose="02020603050405020304" pitchFamily="18" charset="0"/>
              </a:rPr>
              <a:t>ms</a:t>
            </a:r>
            <a:r>
              <a:rPr lang="en-US" sz="1200" dirty="0">
                <a:solidFill>
                  <a:srgbClr val="002060"/>
                </a:solidFill>
                <a:latin typeface="Times New Roman" panose="02020603050405020304" pitchFamily="18" charset="0"/>
                <a:cs typeface="Times New Roman" panose="02020603050405020304" pitchFamily="18" charset="0"/>
              </a:rPr>
              <a:t>, and </a:t>
            </a:r>
          </a:p>
          <a:p>
            <a:r>
              <a:rPr lang="en-US" sz="1200" dirty="0">
                <a:solidFill>
                  <a:srgbClr val="002060"/>
                </a:solidFill>
                <a:latin typeface="Times New Roman" panose="02020603050405020304" pitchFamily="18" charset="0"/>
                <a:cs typeface="Times New Roman" panose="02020603050405020304" pitchFamily="18" charset="0"/>
              </a:rPr>
              <a:t>   f(t) = 86.6 cos (314.16 t – 0.5236)  for 2.5 &lt; t &lt; 3.0 </a:t>
            </a:r>
            <a:r>
              <a:rPr lang="en-US" sz="1200" dirty="0" err="1">
                <a:solidFill>
                  <a:srgbClr val="002060"/>
                </a:solidFill>
                <a:latin typeface="Times New Roman" panose="02020603050405020304" pitchFamily="18" charset="0"/>
                <a:cs typeface="Times New Roman" panose="02020603050405020304" pitchFamily="18" charset="0"/>
              </a:rPr>
              <a:t>ms</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51</a:t>
            </a:fld>
            <a:endParaRPr lang="en-GB"/>
          </a:p>
        </p:txBody>
      </p:sp>
    </p:spTree>
    <p:extLst>
      <p:ext uri="{BB962C8B-B14F-4D97-AF65-F5344CB8AC3E}">
        <p14:creationId xmlns:p14="http://schemas.microsoft.com/office/powerpoint/2010/main" val="14273044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1200" b="0" i="0" u="none" strike="noStrike" cap="none" normalizeH="0" baseline="0" dirty="0">
                <a:ln>
                  <a:noFill/>
                </a:ln>
                <a:solidFill>
                  <a:srgbClr val="002060"/>
                </a:solidFill>
                <a:effectLst/>
                <a:ea typeface="Times New Roman" panose="02020603050405020304" pitchFamily="18" charset="0"/>
              </a:rPr>
              <a:t>It is seen that the waveform does not have any symmetrical properties.  </a:t>
            </a:r>
            <a:endParaRPr kumimoji="0" lang="en-GB"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1200" b="0" i="0" u="none" strike="noStrike" cap="none" normalizeH="0" baseline="0" dirty="0">
                <a:ln>
                  <a:noFill/>
                </a:ln>
                <a:solidFill>
                  <a:srgbClr val="002060"/>
                </a:solidFill>
                <a:effectLst/>
                <a:ea typeface="Times New Roman" panose="02020603050405020304" pitchFamily="18" charset="0"/>
              </a:rPr>
              <a:t>The period T = 0.003333 s and the corresponding omega zero </a:t>
            </a:r>
            <a:r>
              <a:rPr kumimoji="0" lang="en-GB" altLang="en-US" sz="1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 equals</a:t>
            </a:r>
            <a:r>
              <a:rPr kumimoji="0" lang="en-GB" altLang="en-US" sz="1200" b="0" i="0" u="none" strike="noStrike" cap="none" normalizeH="0" baseline="0" dirty="0">
                <a:ln>
                  <a:noFill/>
                </a:ln>
                <a:solidFill>
                  <a:srgbClr val="002060"/>
                </a:solidFill>
                <a:effectLst/>
                <a:ea typeface="Times New Roman" panose="02020603050405020304" pitchFamily="18" charset="0"/>
              </a:rPr>
              <a:t> 2</a:t>
            </a:r>
            <a:r>
              <a:rPr kumimoji="0" lang="en-GB" altLang="en-US" sz="1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pi over </a:t>
            </a:r>
            <a:r>
              <a:rPr kumimoji="0" lang="en-GB" altLang="en-US" sz="1200" b="0" i="0" u="none" strike="noStrike" cap="none" normalizeH="0" baseline="0" dirty="0">
                <a:ln>
                  <a:noFill/>
                </a:ln>
                <a:solidFill>
                  <a:srgbClr val="002060"/>
                </a:solidFill>
                <a:effectLst/>
                <a:ea typeface="Times New Roman" panose="02020603050405020304" pitchFamily="18" charset="0"/>
              </a:rPr>
              <a:t>T = 1885 rad/s</a:t>
            </a: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1200" b="0" i="0" u="none" strike="noStrike" cap="none" normalizeH="0" baseline="0" dirty="0">
                <a:ln>
                  <a:noFill/>
                </a:ln>
                <a:solidFill>
                  <a:srgbClr val="002060"/>
                </a:solidFill>
                <a:effectLst/>
              </a:rPr>
              <a:t>An and Bn are evaluated without an simplifications.</a:t>
            </a:r>
            <a:endParaRPr kumimoji="0" lang="en-GB" altLang="en-US" sz="1200" b="0" i="0" u="none" strike="noStrike" cap="none" normalizeH="0" baseline="0" dirty="0">
              <a:ln>
                <a:noFill/>
              </a:ln>
              <a:solidFill>
                <a:schemeClr val="tx1"/>
              </a:solidFill>
              <a:effectLst/>
            </a:endParaRPr>
          </a:p>
          <a:p>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52</a:t>
            </a:fld>
            <a:endParaRPr lang="en-GB"/>
          </a:p>
        </p:txBody>
      </p:sp>
    </p:spTree>
    <p:extLst>
      <p:ext uri="{BB962C8B-B14F-4D97-AF65-F5344CB8AC3E}">
        <p14:creationId xmlns:p14="http://schemas.microsoft.com/office/powerpoint/2010/main" val="2288580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Intermediate steps of the calculation for those interested</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53</a:t>
            </a:fld>
            <a:endParaRPr lang="en-GB"/>
          </a:p>
        </p:txBody>
      </p:sp>
    </p:spTree>
    <p:extLst>
      <p:ext uri="{BB962C8B-B14F-4D97-AF65-F5344CB8AC3E}">
        <p14:creationId xmlns:p14="http://schemas.microsoft.com/office/powerpoint/2010/main" val="627539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lang="en-US" dirty="0"/>
              <a:t>Thus A1, A2, A3, A4, A5, A6, …. can be determined.  Similarly </a:t>
            </a:r>
            <a:r>
              <a:rPr kumimoji="0" lang="en-GB" altLang="en-US" sz="1200" b="0" i="0" u="none" strike="noStrike" cap="none" normalizeH="0" baseline="0" dirty="0">
                <a:ln>
                  <a:noFill/>
                </a:ln>
                <a:solidFill>
                  <a:srgbClr val="002060"/>
                </a:solidFill>
                <a:effectLst/>
                <a:ea typeface="Times New Roman" panose="02020603050405020304" pitchFamily="18" charset="0"/>
              </a:rPr>
              <a:t>B</a:t>
            </a:r>
            <a:r>
              <a:rPr kumimoji="0" lang="en-GB" altLang="en-US" sz="1200" b="0" i="0" u="none" strike="noStrike" cap="none" normalizeH="0" baseline="-30000" dirty="0">
                <a:ln>
                  <a:noFill/>
                </a:ln>
                <a:solidFill>
                  <a:srgbClr val="002060"/>
                </a:solidFill>
                <a:effectLst/>
                <a:ea typeface="Times New Roman" panose="02020603050405020304" pitchFamily="18" charset="0"/>
              </a:rPr>
              <a:t>1</a:t>
            </a:r>
            <a:r>
              <a:rPr kumimoji="0" lang="en-GB" altLang="en-US" sz="1200" b="0" i="0" u="none" strike="noStrike" cap="none" normalizeH="0" baseline="0" dirty="0">
                <a:ln>
                  <a:noFill/>
                </a:ln>
                <a:solidFill>
                  <a:srgbClr val="002060"/>
                </a:solidFill>
                <a:effectLst/>
                <a:ea typeface="Times New Roman" panose="02020603050405020304" pitchFamily="18" charset="0"/>
              </a:rPr>
              <a:t>, B</a:t>
            </a:r>
            <a:r>
              <a:rPr kumimoji="0" lang="en-GB" altLang="en-US" sz="1200" b="0" i="0" u="none" strike="noStrike" cap="none" normalizeH="0" baseline="-30000" dirty="0">
                <a:ln>
                  <a:noFill/>
                </a:ln>
                <a:solidFill>
                  <a:srgbClr val="002060"/>
                </a:solidFill>
                <a:effectLst/>
                <a:ea typeface="Times New Roman" panose="02020603050405020304" pitchFamily="18" charset="0"/>
              </a:rPr>
              <a:t>2</a:t>
            </a:r>
            <a:r>
              <a:rPr kumimoji="0" lang="en-GB" altLang="en-US" sz="1200" b="0" i="0" u="none" strike="noStrike" cap="none" normalizeH="0" baseline="0" dirty="0">
                <a:ln>
                  <a:noFill/>
                </a:ln>
                <a:solidFill>
                  <a:srgbClr val="002060"/>
                </a:solidFill>
                <a:effectLst/>
                <a:ea typeface="Times New Roman" panose="02020603050405020304" pitchFamily="18" charset="0"/>
              </a:rPr>
              <a:t>, B</a:t>
            </a:r>
            <a:r>
              <a:rPr kumimoji="0" lang="en-GB" altLang="en-US" sz="1200" b="0" i="0" u="none" strike="noStrike" cap="none" normalizeH="0" baseline="-30000" dirty="0">
                <a:ln>
                  <a:noFill/>
                </a:ln>
                <a:solidFill>
                  <a:srgbClr val="002060"/>
                </a:solidFill>
                <a:effectLst/>
                <a:ea typeface="Times New Roman" panose="02020603050405020304" pitchFamily="18" charset="0"/>
              </a:rPr>
              <a:t>3</a:t>
            </a:r>
            <a:r>
              <a:rPr kumimoji="0" lang="en-GB" altLang="en-US" sz="1200" b="0" i="0" u="none" strike="noStrike" cap="none" normalizeH="0" baseline="0" dirty="0">
                <a:ln>
                  <a:noFill/>
                </a:ln>
                <a:solidFill>
                  <a:srgbClr val="002060"/>
                </a:solidFill>
                <a:effectLst/>
                <a:ea typeface="Times New Roman" panose="02020603050405020304" pitchFamily="18" charset="0"/>
              </a:rPr>
              <a:t>, B</a:t>
            </a:r>
            <a:r>
              <a:rPr kumimoji="0" lang="en-GB" altLang="en-US" sz="1200" b="0" i="0" u="none" strike="noStrike" cap="none" normalizeH="0" baseline="-30000" dirty="0">
                <a:ln>
                  <a:noFill/>
                </a:ln>
                <a:solidFill>
                  <a:srgbClr val="002060"/>
                </a:solidFill>
                <a:effectLst/>
                <a:ea typeface="Times New Roman" panose="02020603050405020304" pitchFamily="18" charset="0"/>
              </a:rPr>
              <a:t>4</a:t>
            </a:r>
            <a:r>
              <a:rPr kumimoji="0" lang="en-GB" altLang="en-US" sz="1200" b="0" i="0" u="none" strike="noStrike" cap="none" normalizeH="0" baseline="0" dirty="0">
                <a:ln>
                  <a:noFill/>
                </a:ln>
                <a:solidFill>
                  <a:srgbClr val="002060"/>
                </a:solidFill>
                <a:effectLst/>
                <a:ea typeface="Times New Roman" panose="02020603050405020304" pitchFamily="18" charset="0"/>
              </a:rPr>
              <a:t>, B</a:t>
            </a:r>
            <a:r>
              <a:rPr kumimoji="0" lang="en-GB" altLang="en-US" sz="1200" b="0" i="0" u="none" strike="noStrike" cap="none" normalizeH="0" baseline="-30000" dirty="0">
                <a:ln>
                  <a:noFill/>
                </a:ln>
                <a:solidFill>
                  <a:srgbClr val="002060"/>
                </a:solidFill>
                <a:effectLst/>
                <a:ea typeface="Times New Roman" panose="02020603050405020304" pitchFamily="18" charset="0"/>
              </a:rPr>
              <a:t>5</a:t>
            </a:r>
            <a:r>
              <a:rPr kumimoji="0" lang="en-GB" altLang="en-US" sz="1200" b="0" i="0" u="none" strike="noStrike" cap="none" normalizeH="0" baseline="0" dirty="0">
                <a:ln>
                  <a:noFill/>
                </a:ln>
                <a:solidFill>
                  <a:srgbClr val="002060"/>
                </a:solidFill>
                <a:effectLst/>
                <a:ea typeface="Times New Roman" panose="02020603050405020304" pitchFamily="18" charset="0"/>
              </a:rPr>
              <a:t>, B</a:t>
            </a:r>
            <a:r>
              <a:rPr kumimoji="0" lang="en-GB" altLang="en-US" sz="1200" b="0" i="0" u="none" strike="noStrike" cap="none" normalizeH="0" baseline="-30000" dirty="0">
                <a:ln>
                  <a:noFill/>
                </a:ln>
                <a:solidFill>
                  <a:srgbClr val="002060"/>
                </a:solidFill>
                <a:effectLst/>
                <a:ea typeface="Times New Roman" panose="02020603050405020304" pitchFamily="18" charset="0"/>
              </a:rPr>
              <a:t>6</a:t>
            </a:r>
            <a:r>
              <a:rPr kumimoji="0" lang="en-GB" altLang="en-US" sz="1200" b="0" i="0" u="none" strike="noStrike" cap="none" normalizeH="0" baseline="0" dirty="0">
                <a:ln>
                  <a:noFill/>
                </a:ln>
                <a:solidFill>
                  <a:srgbClr val="002060"/>
                </a:solidFill>
                <a:effectLst/>
                <a:ea typeface="Times New Roman" panose="02020603050405020304" pitchFamily="18" charset="0"/>
              </a:rPr>
              <a:t>, …. can be determined. Fourier Series of waveform can then be determined.</a:t>
            </a:r>
          </a:p>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1200" b="0" i="0" u="none" strike="noStrike" cap="none" normalizeH="0" baseline="0" dirty="0">
                <a:ln>
                  <a:noFill/>
                </a:ln>
                <a:solidFill>
                  <a:srgbClr val="002060"/>
                </a:solidFill>
                <a:effectLst/>
                <a:ea typeface="Times New Roman" panose="02020603050405020304" pitchFamily="18" charset="0"/>
              </a:rPr>
              <a:t>The remaining calculations are left to reader as an exercise</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54</a:t>
            </a:fld>
            <a:endParaRPr lang="en-GB"/>
          </a:p>
        </p:txBody>
      </p:sp>
    </p:spTree>
    <p:extLst>
      <p:ext uri="{BB962C8B-B14F-4D97-AF65-F5344CB8AC3E}">
        <p14:creationId xmlns:p14="http://schemas.microsoft.com/office/powerpoint/2010/main" val="364880332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know now how to determine the Fourier series of a given periodic waveform.  We now need to define the effective value of the waveform.</a:t>
            </a:r>
          </a:p>
          <a:p>
            <a:r>
              <a:rPr lang="en-US" dirty="0"/>
              <a:t>As active power is the most important parameter, the effective value of a periodic waveform is defined in the same way as the rms value of a sinusoidal waveform.</a:t>
            </a:r>
          </a:p>
          <a:p>
            <a:r>
              <a:rPr lang="en-US" dirty="0"/>
              <a:t>Thus the effective value A effective is defined as the square root of the mean of the squared waveform.</a:t>
            </a:r>
          </a:p>
          <a:p>
            <a:r>
              <a:rPr lang="en-US" dirty="0"/>
              <a:t>Since the periodic waveform can be defined in terms of the Fourier series, the corresponding terms are made use of in the evaluation of the effective value.</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55</a:t>
            </a:fld>
            <a:endParaRPr lang="en-GB"/>
          </a:p>
        </p:txBody>
      </p:sp>
    </p:spTree>
    <p:extLst>
      <p:ext uri="{BB962C8B-B14F-4D97-AF65-F5344CB8AC3E}">
        <p14:creationId xmlns:p14="http://schemas.microsoft.com/office/powerpoint/2010/main" val="25476762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the expansion of the square of a sum is equal to the sum of the squares and twice the sum of the product terms, the effective value is determined.</a:t>
            </a:r>
          </a:p>
          <a:p>
            <a:r>
              <a:rPr lang="en-US" dirty="0"/>
              <a:t>.</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56</a:t>
            </a:fld>
            <a:endParaRPr lang="en-GB"/>
          </a:p>
        </p:txBody>
      </p:sp>
    </p:spTree>
    <p:extLst>
      <p:ext uri="{BB962C8B-B14F-4D97-AF65-F5344CB8AC3E}">
        <p14:creationId xmlns:p14="http://schemas.microsoft.com/office/powerpoint/2010/main" val="54429973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effective value is thus works out as the square root of the sum of the squares of the direct term and the harmonic terms</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57</a:t>
            </a:fld>
            <a:endParaRPr lang="en-GB"/>
          </a:p>
        </p:txBody>
      </p:sp>
    </p:spTree>
    <p:extLst>
      <p:ext uri="{BB962C8B-B14F-4D97-AF65-F5344CB8AC3E}">
        <p14:creationId xmlns:p14="http://schemas.microsoft.com/office/powerpoint/2010/main" val="31457418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now see how the power and power factor may be evaluated when non-sinusoidal periodic waveforms are involved.</a:t>
            </a:r>
          </a:p>
          <a:p>
            <a:r>
              <a:rPr lang="en-US" dirty="0"/>
              <a:t>If v(t) has the Fourier series Vdc plus sigma </a:t>
            </a:r>
            <a:r>
              <a:rPr lang="en-US" dirty="0" err="1"/>
              <a:t>Vn</a:t>
            </a:r>
            <a:r>
              <a:rPr lang="en-US" dirty="0"/>
              <a:t> sin n omega t plus alpha n from n equals 1 to infinity, and </a:t>
            </a:r>
            <a:r>
              <a:rPr lang="en-US" dirty="0" err="1"/>
              <a:t>i</a:t>
            </a:r>
            <a:r>
              <a:rPr lang="en-US" dirty="0"/>
              <a:t>(t) has the Fourier series </a:t>
            </a:r>
            <a:r>
              <a:rPr lang="en-US" dirty="0" err="1"/>
              <a:t>Idc</a:t>
            </a:r>
            <a:r>
              <a:rPr lang="en-US" dirty="0"/>
              <a:t> plus sigma In sin n omega t plus beta n from n equals 1 to infinity,</a:t>
            </a:r>
          </a:p>
          <a:p>
            <a:r>
              <a:rPr lang="en-US" dirty="0"/>
              <a:t>Then the active power p(t) is given by v(t) times </a:t>
            </a:r>
            <a:r>
              <a:rPr lang="en-US" dirty="0" err="1"/>
              <a:t>i</a:t>
            </a:r>
            <a:r>
              <a:rPr lang="en-US" dirty="0"/>
              <a:t>(t), and the average power is given by</a:t>
            </a:r>
          </a:p>
          <a:p>
            <a:r>
              <a:rPr lang="en-US" dirty="0"/>
              <a:t>P = one over T integral from t zero to t zero plus capital T, v(t) times </a:t>
            </a:r>
            <a:r>
              <a:rPr lang="en-US" dirty="0" err="1"/>
              <a:t>i</a:t>
            </a:r>
            <a:r>
              <a:rPr lang="en-US" dirty="0"/>
              <a:t>(t) dt</a:t>
            </a:r>
          </a:p>
          <a:p>
            <a:r>
              <a:rPr lang="en-US" dirty="0"/>
              <a:t>Expressions for v(t) and </a:t>
            </a:r>
            <a:r>
              <a:rPr lang="en-US" dirty="0" err="1"/>
              <a:t>i</a:t>
            </a:r>
            <a:r>
              <a:rPr lang="en-US" dirty="0"/>
              <a:t>(t) are next substituted and the product expanded</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58</a:t>
            </a:fld>
            <a:endParaRPr lang="en-GB"/>
          </a:p>
        </p:txBody>
      </p:sp>
    </p:spTree>
    <p:extLst>
      <p:ext uri="{BB962C8B-B14F-4D97-AF65-F5344CB8AC3E}">
        <p14:creationId xmlns:p14="http://schemas.microsoft.com/office/powerpoint/2010/main" val="65864017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20000"/>
              </a:lnSpc>
              <a:spcAft>
                <a:spcPts val="600"/>
              </a:spcAft>
              <a:tabLst>
                <a:tab pos="381000" algn="l"/>
                <a:tab pos="3276600" algn="l"/>
              </a:tabLst>
            </a:pPr>
            <a:r>
              <a:rPr lang="en-GB" sz="1200" dirty="0">
                <a:solidFill>
                  <a:srgbClr val="002060"/>
                </a:solidFill>
                <a:latin typeface="Times New Roman" panose="02020603050405020304" pitchFamily="18" charset="0"/>
                <a:ea typeface="Times New Roman" panose="02020603050405020304" pitchFamily="18" charset="0"/>
              </a:rPr>
              <a:t>Using trigonometric properties, only similar terms from </a:t>
            </a:r>
            <a:r>
              <a:rPr lang="en-GB" sz="1200" i="1" dirty="0">
                <a:solidFill>
                  <a:srgbClr val="002060"/>
                </a:solidFill>
                <a:latin typeface="Times New Roman" panose="02020603050405020304" pitchFamily="18" charset="0"/>
                <a:ea typeface="Times New Roman" panose="02020603050405020304" pitchFamily="18" charset="0"/>
              </a:rPr>
              <a:t>v(t)</a:t>
            </a:r>
            <a:r>
              <a:rPr lang="en-GB" sz="1200" dirty="0">
                <a:solidFill>
                  <a:srgbClr val="002060"/>
                </a:solidFill>
                <a:latin typeface="Times New Roman" panose="02020603050405020304" pitchFamily="18" charset="0"/>
                <a:ea typeface="Times New Roman" panose="02020603050405020304" pitchFamily="18" charset="0"/>
              </a:rPr>
              <a:t> and </a:t>
            </a:r>
            <a:r>
              <a:rPr lang="en-GB" sz="1200" i="1" dirty="0" err="1">
                <a:solidFill>
                  <a:srgbClr val="002060"/>
                </a:solidFill>
                <a:latin typeface="Times New Roman" panose="02020603050405020304" pitchFamily="18" charset="0"/>
                <a:ea typeface="Times New Roman" panose="02020603050405020304" pitchFamily="18" charset="0"/>
              </a:rPr>
              <a:t>i</a:t>
            </a:r>
            <a:r>
              <a:rPr lang="en-GB" sz="1200" i="1" dirty="0">
                <a:solidFill>
                  <a:srgbClr val="002060"/>
                </a:solidFill>
                <a:latin typeface="Times New Roman" panose="02020603050405020304" pitchFamily="18" charset="0"/>
                <a:ea typeface="Times New Roman" panose="02020603050405020304" pitchFamily="18" charset="0"/>
              </a:rPr>
              <a:t>(t)</a:t>
            </a:r>
            <a:r>
              <a:rPr lang="en-GB" sz="1200" dirty="0">
                <a:solidFill>
                  <a:srgbClr val="002060"/>
                </a:solidFill>
                <a:latin typeface="Times New Roman" panose="02020603050405020304" pitchFamily="18" charset="0"/>
                <a:ea typeface="Times New Roman" panose="02020603050405020304" pitchFamily="18" charset="0"/>
              </a:rPr>
              <a:t> can give rise to non-zero integrals.</a:t>
            </a:r>
            <a:endParaRPr lang="en-GB" sz="1200" dirty="0">
              <a:latin typeface="Times New Roman" panose="02020603050405020304" pitchFamily="18" charset="0"/>
              <a:ea typeface="Times New Roman" panose="02020603050405020304" pitchFamily="18" charset="0"/>
            </a:endParaRPr>
          </a:p>
          <a:p>
            <a:pPr algn="just">
              <a:lnSpc>
                <a:spcPct val="120000"/>
              </a:lnSpc>
              <a:spcAft>
                <a:spcPts val="600"/>
              </a:spcAft>
              <a:tabLst>
                <a:tab pos="381000" algn="l"/>
                <a:tab pos="3276600" algn="l"/>
              </a:tabLst>
            </a:pPr>
            <a:r>
              <a:rPr lang="en-GB" sz="1200" i="1" dirty="0">
                <a:solidFill>
                  <a:srgbClr val="002060"/>
                </a:solidFill>
                <a:latin typeface="Times New Roman" panose="02020603050405020304" pitchFamily="18" charset="0"/>
                <a:ea typeface="Times New Roman" panose="02020603050405020304" pitchFamily="18" charset="0"/>
              </a:rPr>
              <a:t>Thus P =</a:t>
            </a:r>
            <a:r>
              <a:rPr lang="en-GB" sz="1200" dirty="0">
                <a:solidFill>
                  <a:srgbClr val="002060"/>
                </a:solidFill>
                <a:latin typeface="Times New Roman" panose="02020603050405020304" pitchFamily="18" charset="0"/>
                <a:ea typeface="Times New Roman" panose="02020603050405020304" pitchFamily="18" charset="0"/>
              </a:rPr>
              <a:t> </a:t>
            </a:r>
            <a:r>
              <a:rPr lang="en-GB" sz="1200" i="1" dirty="0" err="1">
                <a:solidFill>
                  <a:srgbClr val="002060"/>
                </a:solidFill>
                <a:latin typeface="Times New Roman" panose="02020603050405020304" pitchFamily="18" charset="0"/>
                <a:ea typeface="Times New Roman" panose="02020603050405020304" pitchFamily="18" charset="0"/>
              </a:rPr>
              <a:t>V</a:t>
            </a:r>
            <a:r>
              <a:rPr lang="en-GB" sz="1200" i="1" baseline="-25000" dirty="0" err="1">
                <a:solidFill>
                  <a:srgbClr val="002060"/>
                </a:solidFill>
                <a:latin typeface="Times New Roman" panose="02020603050405020304" pitchFamily="18" charset="0"/>
                <a:ea typeface="Times New Roman" panose="02020603050405020304" pitchFamily="18" charset="0"/>
              </a:rPr>
              <a:t>dc</a:t>
            </a:r>
            <a:r>
              <a:rPr lang="en-GB" sz="1200" i="1" dirty="0" err="1">
                <a:solidFill>
                  <a:srgbClr val="002060"/>
                </a:solidFill>
                <a:latin typeface="Times New Roman" panose="02020603050405020304" pitchFamily="18" charset="0"/>
                <a:ea typeface="Times New Roman" panose="02020603050405020304" pitchFamily="18" charset="0"/>
              </a:rPr>
              <a:t>.I</a:t>
            </a:r>
            <a:r>
              <a:rPr lang="en-GB" sz="1200" i="1" baseline="-25000" dirty="0" err="1">
                <a:solidFill>
                  <a:srgbClr val="002060"/>
                </a:solidFill>
                <a:latin typeface="Times New Roman" panose="02020603050405020304" pitchFamily="18" charset="0"/>
                <a:ea typeface="Times New Roman" panose="02020603050405020304" pitchFamily="18" charset="0"/>
              </a:rPr>
              <a:t>dc</a:t>
            </a:r>
            <a:r>
              <a:rPr lang="en-GB" sz="1200" i="1" dirty="0">
                <a:solidFill>
                  <a:srgbClr val="002060"/>
                </a:solidFill>
                <a:latin typeface="Times New Roman" panose="02020603050405020304" pitchFamily="18" charset="0"/>
                <a:ea typeface="Times New Roman" panose="02020603050405020304" pitchFamily="18" charset="0"/>
              </a:rPr>
              <a:t> + </a:t>
            </a:r>
            <a:r>
              <a:rPr lang="en-GB" sz="1200" i="1" dirty="0">
                <a:solidFill>
                  <a:srgbClr val="002060"/>
                </a:solidFill>
                <a:latin typeface="Symbol" panose="05050102010706020507" pitchFamily="18" charset="2"/>
                <a:ea typeface="Times New Roman" panose="02020603050405020304" pitchFamily="18" charset="0"/>
              </a:rPr>
              <a:t>sigma</a:t>
            </a:r>
            <a:r>
              <a:rPr lang="en-GB" sz="1200" i="1" dirty="0">
                <a:solidFill>
                  <a:srgbClr val="002060"/>
                </a:solidFill>
                <a:latin typeface="Times New Roman" panose="02020603050405020304" pitchFamily="18" charset="0"/>
                <a:ea typeface="Times New Roman" panose="02020603050405020304" pitchFamily="18" charset="0"/>
              </a:rPr>
              <a:t> half </a:t>
            </a:r>
            <a:r>
              <a:rPr lang="en-GB" sz="1200" i="1" dirty="0" err="1">
                <a:solidFill>
                  <a:srgbClr val="002060"/>
                </a:solidFill>
                <a:latin typeface="Times New Roman" panose="02020603050405020304" pitchFamily="18" charset="0"/>
                <a:ea typeface="Times New Roman" panose="02020603050405020304" pitchFamily="18" charset="0"/>
              </a:rPr>
              <a:t>V</a:t>
            </a:r>
            <a:r>
              <a:rPr lang="en-GB" sz="1200" i="1" baseline="-25000" dirty="0" err="1">
                <a:solidFill>
                  <a:srgbClr val="002060"/>
                </a:solidFill>
                <a:latin typeface="Times New Roman" panose="02020603050405020304" pitchFamily="18" charset="0"/>
                <a:ea typeface="Times New Roman" panose="02020603050405020304" pitchFamily="18" charset="0"/>
              </a:rPr>
              <a:t>n</a:t>
            </a:r>
            <a:r>
              <a:rPr lang="en-GB" sz="1200" i="1" baseline="-25000" dirty="0">
                <a:solidFill>
                  <a:srgbClr val="002060"/>
                </a:solidFill>
                <a:latin typeface="Times New Roman" panose="02020603050405020304" pitchFamily="18" charset="0"/>
                <a:ea typeface="Times New Roman" panose="02020603050405020304" pitchFamily="18" charset="0"/>
              </a:rPr>
              <a:t> </a:t>
            </a:r>
            <a:r>
              <a:rPr lang="en-GB" sz="1200" i="1" dirty="0">
                <a:solidFill>
                  <a:srgbClr val="002060"/>
                </a:solidFill>
                <a:latin typeface="Times New Roman" panose="02020603050405020304" pitchFamily="18" charset="0"/>
                <a:ea typeface="Times New Roman" panose="02020603050405020304" pitchFamily="18" charset="0"/>
              </a:rPr>
              <a:t>I</a:t>
            </a:r>
            <a:r>
              <a:rPr lang="en-GB" sz="1200" i="1" baseline="-25000" dirty="0">
                <a:solidFill>
                  <a:srgbClr val="002060"/>
                </a:solidFill>
                <a:latin typeface="Times New Roman" panose="02020603050405020304" pitchFamily="18" charset="0"/>
                <a:ea typeface="Times New Roman" panose="02020603050405020304" pitchFamily="18" charset="0"/>
              </a:rPr>
              <a:t>n</a:t>
            </a:r>
            <a:r>
              <a:rPr lang="en-GB" sz="1200" i="1" dirty="0">
                <a:solidFill>
                  <a:srgbClr val="002060"/>
                </a:solidFill>
                <a:latin typeface="Times New Roman" panose="02020603050405020304" pitchFamily="18" charset="0"/>
                <a:ea typeface="Times New Roman" panose="02020603050405020304" pitchFamily="18" charset="0"/>
              </a:rPr>
              <a:t> </a:t>
            </a:r>
            <a:r>
              <a:rPr lang="en-GB" sz="1200" dirty="0">
                <a:solidFill>
                  <a:srgbClr val="002060"/>
                </a:solidFill>
                <a:latin typeface="Times New Roman" panose="02020603050405020304" pitchFamily="18" charset="0"/>
                <a:ea typeface="Times New Roman" panose="02020603050405020304" pitchFamily="18" charset="0"/>
              </a:rPr>
              <a:t>cos</a:t>
            </a:r>
            <a:r>
              <a:rPr lang="en-GB" sz="1200" i="1" dirty="0">
                <a:solidFill>
                  <a:srgbClr val="002060"/>
                </a:solidFill>
                <a:latin typeface="Times New Roman" panose="02020603050405020304" pitchFamily="18" charset="0"/>
                <a:ea typeface="Times New Roman" panose="02020603050405020304" pitchFamily="18" charset="0"/>
              </a:rPr>
              <a:t>(</a:t>
            </a:r>
            <a:r>
              <a:rPr lang="en-GB" sz="1200" i="1" dirty="0">
                <a:solidFill>
                  <a:srgbClr val="002060"/>
                </a:solidFill>
                <a:latin typeface="Symbol" panose="05050102010706020507" pitchFamily="18" charset="2"/>
                <a:ea typeface="Times New Roman" panose="02020603050405020304" pitchFamily="18" charset="0"/>
              </a:rPr>
              <a:t>alpha </a:t>
            </a:r>
            <a:r>
              <a:rPr lang="en-GB" sz="1200" i="1" baseline="-25000" dirty="0">
                <a:solidFill>
                  <a:srgbClr val="002060"/>
                </a:solidFill>
                <a:latin typeface="Symbol" panose="05050102010706020507" pitchFamily="18" charset="2"/>
                <a:ea typeface="Times New Roman" panose="02020603050405020304" pitchFamily="18" charset="0"/>
              </a:rPr>
              <a:t> </a:t>
            </a:r>
            <a:r>
              <a:rPr lang="en-GB" sz="1200" i="1" baseline="-25000" dirty="0">
                <a:solidFill>
                  <a:srgbClr val="002060"/>
                </a:solidFill>
                <a:latin typeface="Times New Roman" panose="02020603050405020304" pitchFamily="18" charset="0"/>
                <a:ea typeface="Times New Roman" panose="02020603050405020304" pitchFamily="18" charset="0"/>
              </a:rPr>
              <a:t>n </a:t>
            </a:r>
            <a:r>
              <a:rPr lang="en-GB" sz="1200" i="1" dirty="0">
                <a:solidFill>
                  <a:srgbClr val="002060"/>
                </a:solidFill>
                <a:latin typeface="Times New Roman" panose="02020603050405020304" pitchFamily="18" charset="0"/>
                <a:ea typeface="Times New Roman" panose="02020603050405020304" pitchFamily="18" charset="0"/>
              </a:rPr>
              <a:t>- </a:t>
            </a:r>
            <a:r>
              <a:rPr lang="en-GB" sz="1200" i="1" dirty="0">
                <a:solidFill>
                  <a:srgbClr val="002060"/>
                </a:solidFill>
                <a:latin typeface="Symbol" panose="05050102010706020507" pitchFamily="18" charset="2"/>
                <a:ea typeface="Times New Roman" panose="02020603050405020304" pitchFamily="18" charset="0"/>
              </a:rPr>
              <a:t>beta</a:t>
            </a:r>
            <a:r>
              <a:rPr lang="en-GB" sz="1200" i="1" baseline="-25000" dirty="0">
                <a:solidFill>
                  <a:srgbClr val="002060"/>
                </a:solidFill>
                <a:latin typeface="Symbol" panose="05050102010706020507" pitchFamily="18" charset="2"/>
                <a:ea typeface="Times New Roman" panose="02020603050405020304" pitchFamily="18" charset="0"/>
              </a:rPr>
              <a:t> </a:t>
            </a:r>
            <a:r>
              <a:rPr lang="en-GB" sz="1200" i="1" baseline="-25000" dirty="0">
                <a:solidFill>
                  <a:srgbClr val="002060"/>
                </a:solidFill>
                <a:latin typeface="Times New Roman" panose="02020603050405020304" pitchFamily="18" charset="0"/>
                <a:ea typeface="Times New Roman" panose="02020603050405020304" pitchFamily="18" charset="0"/>
              </a:rPr>
              <a:t>n</a:t>
            </a:r>
            <a:r>
              <a:rPr lang="en-GB" sz="1200" i="1" dirty="0">
                <a:solidFill>
                  <a:srgbClr val="002060"/>
                </a:solidFill>
                <a:latin typeface="Times New Roman" panose="02020603050405020304" pitchFamily="18" charset="0"/>
                <a:ea typeface="Times New Roman" panose="02020603050405020304" pitchFamily="18" charset="0"/>
              </a:rPr>
              <a:t>) </a:t>
            </a:r>
            <a:endParaRPr lang="en-GB" sz="1200" dirty="0">
              <a:latin typeface="Times New Roman" panose="02020603050405020304" pitchFamily="18" charset="0"/>
              <a:ea typeface="Times New Roman" panose="02020603050405020304" pitchFamily="18" charset="0"/>
            </a:endParaRPr>
          </a:p>
          <a:p>
            <a:pPr algn="just">
              <a:lnSpc>
                <a:spcPct val="120000"/>
              </a:lnSpc>
              <a:spcAft>
                <a:spcPts val="600"/>
              </a:spcAft>
              <a:tabLst>
                <a:tab pos="381000" algn="l"/>
                <a:tab pos="3276600" algn="l"/>
              </a:tabLst>
            </a:pPr>
            <a:r>
              <a:rPr lang="en-GB" sz="1200" i="1" dirty="0">
                <a:solidFill>
                  <a:srgbClr val="002060"/>
                </a:solidFill>
                <a:latin typeface="Times New Roman" panose="02020603050405020304" pitchFamily="18" charset="0"/>
                <a:ea typeface="Times New Roman" panose="02020603050405020304" pitchFamily="18" charset="0"/>
              </a:rPr>
              <a:t>	   = </a:t>
            </a:r>
            <a:r>
              <a:rPr lang="en-GB" sz="1200" i="1" dirty="0" err="1">
                <a:solidFill>
                  <a:srgbClr val="002060"/>
                </a:solidFill>
                <a:latin typeface="Times New Roman" panose="02020603050405020304" pitchFamily="18" charset="0"/>
                <a:ea typeface="Times New Roman" panose="02020603050405020304" pitchFamily="18" charset="0"/>
              </a:rPr>
              <a:t>V</a:t>
            </a:r>
            <a:r>
              <a:rPr lang="en-GB" sz="1200" i="1" baseline="-25000" dirty="0" err="1">
                <a:solidFill>
                  <a:srgbClr val="002060"/>
                </a:solidFill>
                <a:latin typeface="Times New Roman" panose="02020603050405020304" pitchFamily="18" charset="0"/>
                <a:ea typeface="Times New Roman" panose="02020603050405020304" pitchFamily="18" charset="0"/>
              </a:rPr>
              <a:t>dc</a:t>
            </a:r>
            <a:r>
              <a:rPr lang="en-GB" sz="1200" i="1" dirty="0" err="1">
                <a:solidFill>
                  <a:srgbClr val="002060"/>
                </a:solidFill>
                <a:latin typeface="Times New Roman" panose="02020603050405020304" pitchFamily="18" charset="0"/>
                <a:ea typeface="Times New Roman" panose="02020603050405020304" pitchFamily="18" charset="0"/>
              </a:rPr>
              <a:t>.I</a:t>
            </a:r>
            <a:r>
              <a:rPr lang="en-GB" sz="1200" i="1" baseline="-25000" dirty="0" err="1">
                <a:solidFill>
                  <a:srgbClr val="002060"/>
                </a:solidFill>
                <a:latin typeface="Times New Roman" panose="02020603050405020304" pitchFamily="18" charset="0"/>
                <a:ea typeface="Times New Roman" panose="02020603050405020304" pitchFamily="18" charset="0"/>
              </a:rPr>
              <a:t>dc</a:t>
            </a:r>
            <a:r>
              <a:rPr lang="en-GB" sz="1200" i="1" dirty="0">
                <a:solidFill>
                  <a:srgbClr val="002060"/>
                </a:solidFill>
                <a:latin typeface="Times New Roman" panose="02020603050405020304" pitchFamily="18" charset="0"/>
                <a:ea typeface="Times New Roman" panose="02020603050405020304" pitchFamily="18" charset="0"/>
              </a:rPr>
              <a:t> + </a:t>
            </a:r>
            <a:r>
              <a:rPr lang="en-GB" sz="1200" i="1" dirty="0">
                <a:solidFill>
                  <a:srgbClr val="002060"/>
                </a:solidFill>
                <a:latin typeface="Symbol" panose="05050102010706020507" pitchFamily="18" charset="2"/>
                <a:ea typeface="Times New Roman" panose="02020603050405020304" pitchFamily="18" charset="0"/>
              </a:rPr>
              <a:t>sigma</a:t>
            </a:r>
            <a:r>
              <a:rPr lang="en-GB" sz="1200" i="1" dirty="0">
                <a:solidFill>
                  <a:srgbClr val="002060"/>
                </a:solidFill>
                <a:latin typeface="Times New Roman" panose="02020603050405020304" pitchFamily="18" charset="0"/>
                <a:ea typeface="Times New Roman" panose="02020603050405020304" pitchFamily="18" charset="0"/>
              </a:rPr>
              <a:t> </a:t>
            </a:r>
            <a:r>
              <a:rPr lang="en-GB" sz="1200" i="1" dirty="0" err="1">
                <a:solidFill>
                  <a:srgbClr val="002060"/>
                </a:solidFill>
                <a:latin typeface="Times New Roman" panose="02020603050405020304" pitchFamily="18" charset="0"/>
                <a:ea typeface="Times New Roman" panose="02020603050405020304" pitchFamily="18" charset="0"/>
              </a:rPr>
              <a:t>V</a:t>
            </a:r>
            <a:r>
              <a:rPr lang="en-GB" sz="1200" i="1" baseline="-25000" dirty="0" err="1">
                <a:solidFill>
                  <a:srgbClr val="002060"/>
                </a:solidFill>
                <a:latin typeface="Times New Roman" panose="02020603050405020304" pitchFamily="18" charset="0"/>
                <a:ea typeface="Times New Roman" panose="02020603050405020304" pitchFamily="18" charset="0"/>
              </a:rPr>
              <a:t>rms,n</a:t>
            </a:r>
            <a:r>
              <a:rPr lang="en-GB" sz="1200" i="1" baseline="-25000" dirty="0">
                <a:solidFill>
                  <a:srgbClr val="002060"/>
                </a:solidFill>
                <a:latin typeface="Times New Roman" panose="02020603050405020304" pitchFamily="18" charset="0"/>
                <a:ea typeface="Times New Roman" panose="02020603050405020304" pitchFamily="18" charset="0"/>
              </a:rPr>
              <a:t> </a:t>
            </a:r>
            <a:r>
              <a:rPr lang="en-GB" sz="1200" i="1" dirty="0" err="1">
                <a:solidFill>
                  <a:srgbClr val="002060"/>
                </a:solidFill>
                <a:latin typeface="Times New Roman" panose="02020603050405020304" pitchFamily="18" charset="0"/>
                <a:ea typeface="Times New Roman" panose="02020603050405020304" pitchFamily="18" charset="0"/>
              </a:rPr>
              <a:t>I</a:t>
            </a:r>
            <a:r>
              <a:rPr lang="en-GB" sz="1200" i="1" baseline="-25000" dirty="0" err="1">
                <a:solidFill>
                  <a:srgbClr val="002060"/>
                </a:solidFill>
                <a:latin typeface="Times New Roman" panose="02020603050405020304" pitchFamily="18" charset="0"/>
                <a:ea typeface="Times New Roman" panose="02020603050405020304" pitchFamily="18" charset="0"/>
              </a:rPr>
              <a:t>rms,n</a:t>
            </a:r>
            <a:r>
              <a:rPr lang="en-GB" sz="1200" i="1" dirty="0">
                <a:solidFill>
                  <a:srgbClr val="002060"/>
                </a:solidFill>
                <a:latin typeface="Times New Roman" panose="02020603050405020304" pitchFamily="18" charset="0"/>
                <a:ea typeface="Times New Roman" panose="02020603050405020304" pitchFamily="18" charset="0"/>
              </a:rPr>
              <a:t> </a:t>
            </a:r>
            <a:r>
              <a:rPr lang="en-GB" sz="1200" dirty="0" err="1">
                <a:solidFill>
                  <a:srgbClr val="002060"/>
                </a:solidFill>
                <a:latin typeface="Times New Roman" panose="02020603050405020304" pitchFamily="18" charset="0"/>
                <a:ea typeface="Times New Roman" panose="02020603050405020304" pitchFamily="18" charset="0"/>
              </a:rPr>
              <a:t>cos</a:t>
            </a:r>
            <a:r>
              <a:rPr lang="en-GB" sz="1200" i="1" dirty="0" err="1">
                <a:solidFill>
                  <a:srgbClr val="002060"/>
                </a:solidFill>
                <a:latin typeface="Symbol" panose="05050102010706020507" pitchFamily="18" charset="2"/>
                <a:ea typeface="Times New Roman" panose="02020603050405020304" pitchFamily="18" charset="0"/>
              </a:rPr>
              <a:t>f</a:t>
            </a:r>
            <a:r>
              <a:rPr lang="en-GB" sz="1200" i="1" baseline="-25000" dirty="0">
                <a:solidFill>
                  <a:srgbClr val="002060"/>
                </a:solidFill>
                <a:latin typeface="Symbol" panose="05050102010706020507" pitchFamily="18" charset="2"/>
                <a:ea typeface="Times New Roman" panose="02020603050405020304" pitchFamily="18" charset="0"/>
              </a:rPr>
              <a:t> </a:t>
            </a:r>
            <a:r>
              <a:rPr lang="en-GB" sz="1200" i="1" baseline="-25000" dirty="0">
                <a:solidFill>
                  <a:srgbClr val="002060"/>
                </a:solidFill>
                <a:latin typeface="Times New Roman" panose="02020603050405020304" pitchFamily="18" charset="0"/>
                <a:ea typeface="Times New Roman" panose="02020603050405020304" pitchFamily="18" charset="0"/>
              </a:rPr>
              <a:t>n</a:t>
            </a:r>
            <a:endParaRPr lang="en-GB" sz="1200" dirty="0">
              <a:latin typeface="Times New Roman" panose="02020603050405020304" pitchFamily="18" charset="0"/>
              <a:ea typeface="Times New Roman" panose="02020603050405020304" pitchFamily="18" charset="0"/>
            </a:endParaRPr>
          </a:p>
          <a:p>
            <a:pPr>
              <a:lnSpc>
                <a:spcPct val="120000"/>
              </a:lnSpc>
            </a:pPr>
            <a:r>
              <a:rPr lang="en-GB" sz="1200" dirty="0">
                <a:solidFill>
                  <a:srgbClr val="002060"/>
                </a:solidFill>
                <a:latin typeface="Times New Roman" panose="02020603050405020304" pitchFamily="18" charset="0"/>
                <a:ea typeface="Times New Roman" panose="02020603050405020304" pitchFamily="18" charset="0"/>
              </a:rPr>
              <a:t>The total active power is given as sum of the active powers of the individual harmonics including the fundamental and the direct term.</a:t>
            </a:r>
            <a:endParaRPr lang="en-GB" sz="1200" dirty="0"/>
          </a:p>
        </p:txBody>
      </p:sp>
      <p:sp>
        <p:nvSpPr>
          <p:cNvPr id="4" name="Slide Number Placeholder 3"/>
          <p:cNvSpPr>
            <a:spLocks noGrp="1"/>
          </p:cNvSpPr>
          <p:nvPr>
            <p:ph type="sldNum" sz="quarter" idx="5"/>
          </p:nvPr>
        </p:nvSpPr>
        <p:spPr/>
        <p:txBody>
          <a:bodyPr/>
          <a:lstStyle/>
          <a:p>
            <a:fld id="{2FC4AAFD-141F-4056-A367-1845A08BF131}" type="slidenum">
              <a:rPr lang="en-GB" smtClean="0"/>
              <a:t>59</a:t>
            </a:fld>
            <a:endParaRPr lang="en-GB"/>
          </a:p>
        </p:txBody>
      </p:sp>
    </p:spTree>
    <p:extLst>
      <p:ext uri="{BB962C8B-B14F-4D97-AF65-F5344CB8AC3E}">
        <p14:creationId xmlns:p14="http://schemas.microsoft.com/office/powerpoint/2010/main" val="204053560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tabLst>
                <a:tab pos="381000" algn="l"/>
                <a:tab pos="3276600" algn="l"/>
              </a:tabLst>
            </a:pPr>
            <a:r>
              <a:rPr lang="en-US" dirty="0"/>
              <a:t>Let us now consider an example to determine the </a:t>
            </a:r>
            <a:r>
              <a:rPr lang="en-GB" sz="1200" dirty="0">
                <a:solidFill>
                  <a:srgbClr val="002060"/>
                </a:solidFill>
                <a:latin typeface="Times New Roman" panose="02020603050405020304" pitchFamily="18" charset="0"/>
                <a:ea typeface="Times New Roman" panose="02020603050405020304" pitchFamily="18" charset="0"/>
              </a:rPr>
              <a:t>effective values of voltage and current, total power consumed, overall power factor and fundamental displacement factor, if Fourier series of voltage (V) and current (A) are</a:t>
            </a:r>
            <a:endParaRPr lang="en-GB" sz="1200" dirty="0">
              <a:effectLst/>
              <a:latin typeface="Times New Roman" panose="02020603050405020304" pitchFamily="18" charset="0"/>
              <a:ea typeface="Times New Roman" panose="02020603050405020304" pitchFamily="18" charset="0"/>
            </a:endParaRPr>
          </a:p>
          <a:p>
            <a:pPr algn="just">
              <a:tabLst>
                <a:tab pos="228600" algn="l"/>
                <a:tab pos="3276600" algn="l"/>
              </a:tabLst>
            </a:pPr>
            <a:r>
              <a:rPr lang="en-GB" sz="1200" dirty="0">
                <a:solidFill>
                  <a:srgbClr val="002060"/>
                </a:solidFill>
                <a:latin typeface="Times New Roman" panose="02020603050405020304" pitchFamily="18" charset="0"/>
                <a:ea typeface="Times New Roman" panose="02020603050405020304" pitchFamily="18" charset="0"/>
              </a:rPr>
              <a:t>	</a:t>
            </a:r>
            <a:r>
              <a:rPr lang="en-GB" sz="1200" i="1" dirty="0">
                <a:solidFill>
                  <a:srgbClr val="002060"/>
                </a:solidFill>
                <a:latin typeface="Times New Roman" panose="02020603050405020304" pitchFamily="18" charset="0"/>
                <a:ea typeface="Times New Roman" panose="02020603050405020304" pitchFamily="18" charset="0"/>
              </a:rPr>
              <a:t>v(t) = 5 + 8 </a:t>
            </a:r>
            <a:r>
              <a:rPr lang="en-GB" sz="1200" dirty="0">
                <a:solidFill>
                  <a:srgbClr val="002060"/>
                </a:solidFill>
                <a:latin typeface="Times New Roman" panose="02020603050405020304" pitchFamily="18" charset="0"/>
                <a:ea typeface="Times New Roman" panose="02020603050405020304" pitchFamily="18" charset="0"/>
              </a:rPr>
              <a:t>sin</a:t>
            </a:r>
            <a:r>
              <a:rPr lang="en-GB" sz="1200" i="1" dirty="0">
                <a:solidFill>
                  <a:srgbClr val="002060"/>
                </a:solidFill>
                <a:latin typeface="Times New Roman" panose="02020603050405020304" pitchFamily="18" charset="0"/>
                <a:ea typeface="Times New Roman" panose="02020603050405020304" pitchFamily="18" charset="0"/>
              </a:rPr>
              <a:t>(</a:t>
            </a:r>
            <a:r>
              <a:rPr lang="en-GB" sz="1200" i="1" dirty="0">
                <a:solidFill>
                  <a:srgbClr val="002060"/>
                </a:solidFill>
                <a:latin typeface="Symbol" panose="05050102010706020507" pitchFamily="18" charset="2"/>
                <a:ea typeface="Times New Roman" panose="02020603050405020304" pitchFamily="18" charset="0"/>
              </a:rPr>
              <a:t>omega </a:t>
            </a:r>
            <a:r>
              <a:rPr lang="en-GB" sz="1200" i="1" dirty="0">
                <a:solidFill>
                  <a:srgbClr val="002060"/>
                </a:solidFill>
                <a:latin typeface="Times New Roman" panose="02020603050405020304" pitchFamily="18" charset="0"/>
                <a:ea typeface="Times New Roman" panose="02020603050405020304" pitchFamily="18" charset="0"/>
              </a:rPr>
              <a:t>t + </a:t>
            </a:r>
            <a:r>
              <a:rPr lang="en-GB" sz="1200" i="1" dirty="0">
                <a:solidFill>
                  <a:srgbClr val="002060"/>
                </a:solidFill>
                <a:latin typeface="Symbol" panose="05050102010706020507" pitchFamily="18" charset="2"/>
                <a:ea typeface="Times New Roman" panose="02020603050405020304" pitchFamily="18" charset="0"/>
              </a:rPr>
              <a:t>Pi</a:t>
            </a:r>
            <a:r>
              <a:rPr lang="en-GB" sz="1200" i="1" dirty="0">
                <a:solidFill>
                  <a:srgbClr val="002060"/>
                </a:solidFill>
                <a:latin typeface="Times New Roman" panose="02020603050405020304" pitchFamily="18" charset="0"/>
                <a:ea typeface="Times New Roman" panose="02020603050405020304" pitchFamily="18" charset="0"/>
              </a:rPr>
              <a:t>/6) + 2</a:t>
            </a:r>
            <a:r>
              <a:rPr lang="en-GB" sz="1200" dirty="0">
                <a:solidFill>
                  <a:srgbClr val="002060"/>
                </a:solidFill>
                <a:latin typeface="Times New Roman" panose="02020603050405020304" pitchFamily="18" charset="0"/>
                <a:ea typeface="Times New Roman" panose="02020603050405020304" pitchFamily="18" charset="0"/>
              </a:rPr>
              <a:t> sin </a:t>
            </a:r>
            <a:r>
              <a:rPr lang="en-GB" sz="1200" i="1" dirty="0">
                <a:solidFill>
                  <a:srgbClr val="002060"/>
                </a:solidFill>
                <a:latin typeface="Times New Roman" panose="02020603050405020304" pitchFamily="18" charset="0"/>
                <a:ea typeface="Times New Roman" panose="02020603050405020304" pitchFamily="18" charset="0"/>
              </a:rPr>
              <a:t>3</a:t>
            </a:r>
            <a:r>
              <a:rPr lang="en-GB" sz="1200" i="1" dirty="0">
                <a:solidFill>
                  <a:srgbClr val="002060"/>
                </a:solidFill>
                <a:latin typeface="Symbol" panose="05050102010706020507" pitchFamily="18" charset="2"/>
                <a:ea typeface="Times New Roman" panose="02020603050405020304" pitchFamily="18" charset="0"/>
              </a:rPr>
              <a:t> omega </a:t>
            </a:r>
            <a:r>
              <a:rPr lang="en-GB" sz="1200" i="1" dirty="0">
                <a:solidFill>
                  <a:srgbClr val="002060"/>
                </a:solidFill>
                <a:latin typeface="Times New Roman" panose="02020603050405020304" pitchFamily="18" charset="0"/>
                <a:ea typeface="Times New Roman" panose="02020603050405020304" pitchFamily="18" charset="0"/>
              </a:rPr>
              <a:t>t</a:t>
            </a:r>
            <a:r>
              <a:rPr lang="en-GB" sz="1200" dirty="0">
                <a:solidFill>
                  <a:srgbClr val="002060"/>
                </a:solidFill>
                <a:latin typeface="Times New Roman" panose="02020603050405020304" pitchFamily="18" charset="0"/>
                <a:ea typeface="Times New Roman" panose="02020603050405020304" pitchFamily="18" charset="0"/>
              </a:rPr>
              <a:t>	</a:t>
            </a:r>
            <a:endParaRPr lang="en-GB" sz="1200" dirty="0">
              <a:effectLst/>
              <a:latin typeface="Times New Roman" panose="02020603050405020304" pitchFamily="18" charset="0"/>
              <a:ea typeface="Times New Roman" panose="02020603050405020304" pitchFamily="18" charset="0"/>
            </a:endParaRPr>
          </a:p>
          <a:p>
            <a:pPr algn="just">
              <a:tabLst>
                <a:tab pos="228600" algn="l"/>
                <a:tab pos="3276600" algn="l"/>
              </a:tabLst>
            </a:pPr>
            <a:r>
              <a:rPr lang="en-GB" sz="1200" dirty="0">
                <a:solidFill>
                  <a:srgbClr val="002060"/>
                </a:solidFill>
                <a:latin typeface="Times New Roman" panose="02020603050405020304" pitchFamily="18" charset="0"/>
                <a:ea typeface="Times New Roman" panose="02020603050405020304" pitchFamily="18" charset="0"/>
              </a:rPr>
              <a:t>	</a:t>
            </a:r>
            <a:r>
              <a:rPr lang="en-GB" sz="1200" i="1" dirty="0" err="1">
                <a:solidFill>
                  <a:srgbClr val="002060"/>
                </a:solidFill>
                <a:latin typeface="Times New Roman" panose="02020603050405020304" pitchFamily="18" charset="0"/>
                <a:ea typeface="Times New Roman" panose="02020603050405020304" pitchFamily="18" charset="0"/>
              </a:rPr>
              <a:t>i</a:t>
            </a:r>
            <a:r>
              <a:rPr lang="en-GB" sz="1200" i="1" dirty="0">
                <a:solidFill>
                  <a:srgbClr val="002060"/>
                </a:solidFill>
                <a:latin typeface="Times New Roman" panose="02020603050405020304" pitchFamily="18" charset="0"/>
                <a:ea typeface="Times New Roman" panose="02020603050405020304" pitchFamily="18" charset="0"/>
              </a:rPr>
              <a:t>(t)=3+5</a:t>
            </a:r>
            <a:r>
              <a:rPr lang="en-GB" sz="1200" dirty="0">
                <a:solidFill>
                  <a:srgbClr val="002060"/>
                </a:solidFill>
                <a:latin typeface="Times New Roman" panose="02020603050405020304" pitchFamily="18" charset="0"/>
                <a:ea typeface="Times New Roman" panose="02020603050405020304" pitchFamily="18" charset="0"/>
              </a:rPr>
              <a:t>sin</a:t>
            </a:r>
            <a:r>
              <a:rPr lang="en-GB" sz="1200" i="1" dirty="0">
                <a:solidFill>
                  <a:srgbClr val="002060"/>
                </a:solidFill>
                <a:latin typeface="Times New Roman" panose="02020603050405020304" pitchFamily="18" charset="0"/>
                <a:ea typeface="Times New Roman" panose="02020603050405020304" pitchFamily="18" charset="0"/>
              </a:rPr>
              <a:t>(</a:t>
            </a:r>
            <a:r>
              <a:rPr lang="en-GB" sz="1200" i="1" dirty="0">
                <a:solidFill>
                  <a:srgbClr val="002060"/>
                </a:solidFill>
                <a:latin typeface="Symbol" panose="05050102010706020507" pitchFamily="18" charset="2"/>
                <a:ea typeface="Times New Roman" panose="02020603050405020304" pitchFamily="18" charset="0"/>
              </a:rPr>
              <a:t>omega </a:t>
            </a:r>
            <a:r>
              <a:rPr lang="en-GB" sz="1200" i="1" dirty="0" err="1">
                <a:solidFill>
                  <a:srgbClr val="002060"/>
                </a:solidFill>
                <a:latin typeface="Times New Roman" panose="02020603050405020304" pitchFamily="18" charset="0"/>
                <a:ea typeface="Times New Roman" panose="02020603050405020304" pitchFamily="18" charset="0"/>
              </a:rPr>
              <a:t>t+</a:t>
            </a:r>
            <a:r>
              <a:rPr lang="en-GB" sz="1200" i="1" dirty="0" err="1">
                <a:solidFill>
                  <a:srgbClr val="002060"/>
                </a:solidFill>
                <a:latin typeface="Symbol" panose="05050102010706020507" pitchFamily="18" charset="2"/>
                <a:ea typeface="Times New Roman" panose="02020603050405020304" pitchFamily="18" charset="0"/>
              </a:rPr>
              <a:t>Pi</a:t>
            </a:r>
            <a:r>
              <a:rPr lang="en-GB" sz="1200" i="1" dirty="0">
                <a:solidFill>
                  <a:srgbClr val="002060"/>
                </a:solidFill>
                <a:latin typeface="Times New Roman" panose="02020603050405020304" pitchFamily="18" charset="0"/>
                <a:ea typeface="Times New Roman" panose="02020603050405020304" pitchFamily="18" charset="0"/>
              </a:rPr>
              <a:t>/2)+1 </a:t>
            </a:r>
            <a:r>
              <a:rPr lang="en-GB" sz="1200" dirty="0">
                <a:solidFill>
                  <a:srgbClr val="002060"/>
                </a:solidFill>
                <a:latin typeface="Times New Roman" panose="02020603050405020304" pitchFamily="18" charset="0"/>
                <a:ea typeface="Times New Roman" panose="02020603050405020304" pitchFamily="18" charset="0"/>
              </a:rPr>
              <a:t>sin</a:t>
            </a:r>
            <a:r>
              <a:rPr lang="en-GB" sz="1200" i="1" dirty="0">
                <a:solidFill>
                  <a:srgbClr val="002060"/>
                </a:solidFill>
                <a:latin typeface="Times New Roman" panose="02020603050405020304" pitchFamily="18" charset="0"/>
                <a:ea typeface="Times New Roman" panose="02020603050405020304" pitchFamily="18" charset="0"/>
              </a:rPr>
              <a:t>(2 </a:t>
            </a:r>
            <a:r>
              <a:rPr lang="en-GB" sz="1200" i="1" dirty="0">
                <a:solidFill>
                  <a:srgbClr val="002060"/>
                </a:solidFill>
                <a:latin typeface="Symbol" panose="05050102010706020507" pitchFamily="18" charset="2"/>
                <a:ea typeface="Times New Roman" panose="02020603050405020304" pitchFamily="18" charset="0"/>
              </a:rPr>
              <a:t>omega </a:t>
            </a:r>
            <a:r>
              <a:rPr lang="en-GB" sz="1200" i="1" dirty="0">
                <a:solidFill>
                  <a:srgbClr val="002060"/>
                </a:solidFill>
                <a:latin typeface="Times New Roman" panose="02020603050405020304" pitchFamily="18" charset="0"/>
                <a:ea typeface="Times New Roman" panose="02020603050405020304" pitchFamily="18" charset="0"/>
              </a:rPr>
              <a:t>t- </a:t>
            </a:r>
            <a:r>
              <a:rPr lang="en-GB" sz="1200" i="1" dirty="0">
                <a:solidFill>
                  <a:srgbClr val="002060"/>
                </a:solidFill>
                <a:latin typeface="Symbol" panose="05050102010706020507" pitchFamily="18" charset="2"/>
                <a:ea typeface="Times New Roman" panose="02020603050405020304" pitchFamily="18" charset="0"/>
              </a:rPr>
              <a:t>Pi</a:t>
            </a:r>
            <a:r>
              <a:rPr lang="en-GB" sz="1200" i="1" dirty="0">
                <a:solidFill>
                  <a:srgbClr val="002060"/>
                </a:solidFill>
                <a:latin typeface="Times New Roman" panose="02020603050405020304" pitchFamily="18" charset="0"/>
                <a:ea typeface="Times New Roman" panose="02020603050405020304" pitchFamily="18" charset="0"/>
              </a:rPr>
              <a:t>/3)+1.414</a:t>
            </a:r>
            <a:r>
              <a:rPr lang="en-GB" sz="1200" dirty="0">
                <a:solidFill>
                  <a:srgbClr val="002060"/>
                </a:solidFill>
                <a:latin typeface="Times New Roman" panose="02020603050405020304" pitchFamily="18" charset="0"/>
                <a:ea typeface="Times New Roman" panose="02020603050405020304" pitchFamily="18" charset="0"/>
              </a:rPr>
              <a:t>cos</a:t>
            </a:r>
            <a:r>
              <a:rPr lang="en-GB" sz="1200" i="1" dirty="0">
                <a:solidFill>
                  <a:srgbClr val="002060"/>
                </a:solidFill>
                <a:latin typeface="Times New Roman" panose="02020603050405020304" pitchFamily="18" charset="0"/>
                <a:ea typeface="Times New Roman" panose="02020603050405020304" pitchFamily="18" charset="0"/>
              </a:rPr>
              <a:t>(3 </a:t>
            </a:r>
            <a:r>
              <a:rPr lang="en-GB" sz="1200" i="1" dirty="0">
                <a:solidFill>
                  <a:srgbClr val="002060"/>
                </a:solidFill>
                <a:latin typeface="Symbol" panose="05050102010706020507" pitchFamily="18" charset="2"/>
                <a:ea typeface="Times New Roman" panose="02020603050405020304" pitchFamily="18" charset="0"/>
              </a:rPr>
              <a:t>omega </a:t>
            </a:r>
            <a:r>
              <a:rPr lang="en-GB" sz="1200" i="1" dirty="0" err="1">
                <a:solidFill>
                  <a:srgbClr val="002060"/>
                </a:solidFill>
                <a:latin typeface="Times New Roman" panose="02020603050405020304" pitchFamily="18" charset="0"/>
                <a:ea typeface="Times New Roman" panose="02020603050405020304" pitchFamily="18" charset="0"/>
              </a:rPr>
              <a:t>t+</a:t>
            </a:r>
            <a:r>
              <a:rPr lang="en-GB" sz="1200" i="1" dirty="0" err="1">
                <a:solidFill>
                  <a:srgbClr val="002060"/>
                </a:solidFill>
                <a:latin typeface="Symbol" panose="05050102010706020507" pitchFamily="18" charset="2"/>
                <a:ea typeface="Times New Roman" panose="02020603050405020304" pitchFamily="18" charset="0"/>
              </a:rPr>
              <a:t>Pi</a:t>
            </a:r>
            <a:r>
              <a:rPr lang="en-GB" sz="1200" i="1" dirty="0">
                <a:solidFill>
                  <a:srgbClr val="002060"/>
                </a:solidFill>
                <a:latin typeface="Times New Roman" panose="02020603050405020304" pitchFamily="18" charset="0"/>
                <a:ea typeface="Times New Roman" panose="02020603050405020304" pitchFamily="18" charset="0"/>
              </a:rPr>
              <a:t>/4) </a:t>
            </a:r>
          </a:p>
          <a:p>
            <a:pPr algn="just">
              <a:tabLst>
                <a:tab pos="228600" algn="l"/>
                <a:tab pos="3276600" algn="l"/>
              </a:tabLst>
            </a:pPr>
            <a:endParaRPr lang="en-GB" sz="1200" i="1" dirty="0">
              <a:solidFill>
                <a:srgbClr val="002060"/>
              </a:solidFill>
              <a:effectLst/>
              <a:latin typeface="Times New Roman" panose="02020603050405020304" pitchFamily="18" charset="0"/>
              <a:ea typeface="Times New Roman" panose="02020603050405020304" pitchFamily="18" charset="0"/>
            </a:endParaRPr>
          </a:p>
          <a:p>
            <a:pPr algn="just">
              <a:tabLst>
                <a:tab pos="228600" algn="l"/>
                <a:tab pos="3276600" algn="l"/>
              </a:tabLst>
            </a:pPr>
            <a:r>
              <a:rPr lang="en-GB" sz="1200" i="1" dirty="0" err="1">
                <a:solidFill>
                  <a:srgbClr val="002060"/>
                </a:solidFill>
                <a:effectLst/>
                <a:latin typeface="Times New Roman" panose="02020603050405020304" pitchFamily="18" charset="0"/>
                <a:ea typeface="Times New Roman" panose="02020603050405020304" pitchFamily="18" charset="0"/>
              </a:rPr>
              <a:t>Vrms</a:t>
            </a:r>
            <a:r>
              <a:rPr lang="en-GB" sz="1200" i="1" dirty="0">
                <a:solidFill>
                  <a:srgbClr val="002060"/>
                </a:solidFill>
                <a:effectLst/>
                <a:latin typeface="Times New Roman" panose="02020603050405020304" pitchFamily="18" charset="0"/>
                <a:ea typeface="Times New Roman" panose="02020603050405020304" pitchFamily="18" charset="0"/>
              </a:rPr>
              <a:t> </a:t>
            </a:r>
            <a:r>
              <a:rPr lang="en-GB" sz="1200" i="0" dirty="0">
                <a:solidFill>
                  <a:srgbClr val="002060"/>
                </a:solidFill>
                <a:effectLst/>
                <a:latin typeface="Times New Roman" panose="02020603050405020304" pitchFamily="18" charset="0"/>
                <a:ea typeface="Times New Roman" panose="02020603050405020304" pitchFamily="18" charset="0"/>
              </a:rPr>
              <a:t>is calculated as square root of the sum of squares as shown giving 7.681V</a:t>
            </a:r>
            <a:endParaRPr lang="en-GB" sz="1200" i="0" dirty="0">
              <a:effectLst/>
              <a:latin typeface="Times New Roman" panose="02020603050405020304" pitchFamily="18" charset="0"/>
              <a:ea typeface="Times New Roman" panose="02020603050405020304" pitchFamily="18" charset="0"/>
            </a:endParaRPr>
          </a:p>
          <a:p>
            <a:pPr algn="just">
              <a:tabLst>
                <a:tab pos="381000" algn="l"/>
                <a:tab pos="3276600" algn="l"/>
              </a:tabLst>
            </a:pPr>
            <a:r>
              <a:rPr lang="en-GB" sz="1200" i="0" dirty="0" err="1">
                <a:solidFill>
                  <a:srgbClr val="002060"/>
                </a:solidFill>
                <a:effectLst/>
                <a:latin typeface="Times New Roman" panose="02020603050405020304" pitchFamily="18" charset="0"/>
                <a:ea typeface="Times New Roman" panose="02020603050405020304" pitchFamily="18" charset="0"/>
              </a:rPr>
              <a:t>Irms</a:t>
            </a:r>
            <a:r>
              <a:rPr lang="en-GB" sz="1200" i="0" dirty="0">
                <a:solidFill>
                  <a:srgbClr val="002060"/>
                </a:solidFill>
                <a:effectLst/>
                <a:latin typeface="Times New Roman" panose="02020603050405020304" pitchFamily="18" charset="0"/>
                <a:ea typeface="Times New Roman" panose="02020603050405020304" pitchFamily="18" charset="0"/>
              </a:rPr>
              <a:t> is similarly given as the square root of the sum of squares as 4.796 A</a:t>
            </a:r>
            <a:endParaRPr lang="en-GB" sz="1200" i="0" dirty="0">
              <a:effectLst/>
              <a:latin typeface="Times New Roman" panose="02020603050405020304" pitchFamily="18" charset="0"/>
              <a:ea typeface="Times New Roman" panose="02020603050405020304" pitchFamily="18" charset="0"/>
            </a:endParaRPr>
          </a:p>
          <a:p>
            <a:pPr algn="just">
              <a:tabLst>
                <a:tab pos="381000" algn="l"/>
                <a:tab pos="685800" algn="l"/>
                <a:tab pos="3276600" algn="l"/>
              </a:tabLst>
            </a:pPr>
            <a:r>
              <a:rPr lang="en-GB" sz="1100" i="0" dirty="0">
                <a:solidFill>
                  <a:srgbClr val="002060"/>
                </a:solidFill>
                <a:effectLst/>
                <a:latin typeface="Times New Roman" panose="02020603050405020304" pitchFamily="18" charset="0"/>
                <a:ea typeface="Times New Roman" panose="02020603050405020304" pitchFamily="18" charset="0"/>
              </a:rPr>
              <a:t>And active power P is given as the sum of the active powers as shown and given the result 24W.</a:t>
            </a:r>
          </a:p>
        </p:txBody>
      </p:sp>
      <p:sp>
        <p:nvSpPr>
          <p:cNvPr id="4" name="Slide Number Placeholder 3"/>
          <p:cNvSpPr>
            <a:spLocks noGrp="1"/>
          </p:cNvSpPr>
          <p:nvPr>
            <p:ph type="sldNum" sz="quarter" idx="5"/>
          </p:nvPr>
        </p:nvSpPr>
        <p:spPr/>
        <p:txBody>
          <a:bodyPr/>
          <a:lstStyle/>
          <a:p>
            <a:fld id="{2FC4AAFD-141F-4056-A367-1845A08BF131}" type="slidenum">
              <a:rPr lang="en-GB" smtClean="0"/>
              <a:t>60</a:t>
            </a:fld>
            <a:endParaRPr lang="en-GB"/>
          </a:p>
        </p:txBody>
      </p:sp>
    </p:spTree>
    <p:extLst>
      <p:ext uri="{BB962C8B-B14F-4D97-AF65-F5344CB8AC3E}">
        <p14:creationId xmlns:p14="http://schemas.microsoft.com/office/powerpoint/2010/main" val="428889530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685800" algn="l"/>
                <a:tab pos="3276600" algn="l"/>
              </a:tabLst>
            </a:pP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Let us now see how to calculate the overall power factor of a periodic waveform.  As we already know, it is defined as ratio of active power to apparent power. </a:t>
            </a:r>
          </a:p>
          <a:p>
            <a:pPr marL="0" marR="0" lvl="0" indent="0" algn="just" defTabSz="914400" rtl="0" eaLnBrk="0" fontAlgn="base" latinLnBrk="0" hangingPunct="0">
              <a:lnSpc>
                <a:spcPct val="100000"/>
              </a:lnSpc>
              <a:spcBef>
                <a:spcPct val="0"/>
              </a:spcBef>
              <a:spcAft>
                <a:spcPct val="0"/>
              </a:spcAft>
              <a:buClrTx/>
              <a:buSzTx/>
              <a:buFontTx/>
              <a:buNone/>
              <a:tabLst>
                <a:tab pos="381000" algn="l"/>
                <a:tab pos="685800" algn="l"/>
                <a:tab pos="3276600" algn="l"/>
              </a:tabLst>
            </a:pPr>
            <a:r>
              <a:rPr kumimoji="0" lang="en-GB" altLang="en-US" sz="1200" b="0" i="0" u="none" strike="noStrike" cap="none" normalizeH="0" baseline="0" dirty="0">
                <a:ln>
                  <a:noFill/>
                </a:ln>
                <a:solidFill>
                  <a:srgbClr val="002060"/>
                </a:solidFill>
                <a:effectLst/>
                <a:latin typeface="Arial" panose="020B0604020202020204" pitchFamily="34" charset="0"/>
              </a:rPr>
              <a:t>Thus in the example considered, the overall power factor is 24 divided by 7.681 times 4.796 or 0.651.</a:t>
            </a:r>
          </a:p>
          <a:p>
            <a:pPr marL="0" marR="0" lvl="0" indent="0" algn="just" defTabSz="914400" rtl="0" eaLnBrk="0" fontAlgn="base" latinLnBrk="0" hangingPunct="0">
              <a:lnSpc>
                <a:spcPct val="100000"/>
              </a:lnSpc>
              <a:spcBef>
                <a:spcPct val="0"/>
              </a:spcBef>
              <a:spcAft>
                <a:spcPct val="0"/>
              </a:spcAft>
              <a:buClrTx/>
              <a:buSzTx/>
              <a:buFontTx/>
              <a:buNone/>
              <a:tabLst>
                <a:tab pos="381000" algn="l"/>
                <a:tab pos="685800" algn="l"/>
                <a:tab pos="3276600" algn="l"/>
              </a:tabLst>
            </a:pP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With non-sinusoidal waveforms, power factor is not associated with lead or lag as these no longer have any meaning.</a:t>
            </a:r>
            <a:r>
              <a:rPr kumimoji="0" lang="en-GB"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 </a:t>
            </a:r>
            <a:endParaRPr kumimoji="0" lang="en-GB" altLang="en-US" sz="1200" b="0" i="0" u="none" strike="noStrike" cap="none" normalizeH="0" baseline="0" dirty="0">
              <a:ln>
                <a:noFill/>
              </a:ln>
              <a:solidFill>
                <a:schemeClr val="tx1"/>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2FC4AAFD-141F-4056-A367-1845A08BF131}" type="slidenum">
              <a:rPr lang="en-GB" smtClean="0"/>
              <a:t>61</a:t>
            </a:fld>
            <a:endParaRPr lang="en-GB"/>
          </a:p>
        </p:txBody>
      </p:sp>
    </p:spTree>
    <p:extLst>
      <p:ext uri="{BB962C8B-B14F-4D97-AF65-F5344CB8AC3E}">
        <p14:creationId xmlns:p14="http://schemas.microsoft.com/office/powerpoint/2010/main" val="117167774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Aft>
                <a:spcPts val="600"/>
              </a:spcAft>
              <a:tabLst>
                <a:tab pos="381000" algn="l"/>
                <a:tab pos="685800" algn="l"/>
                <a:tab pos="3276600" algn="l"/>
              </a:tabLst>
            </a:pPr>
            <a:r>
              <a:rPr lang="en-GB" sz="1200" dirty="0">
                <a:solidFill>
                  <a:srgbClr val="002060"/>
                </a:solidFill>
                <a:latin typeface="Times New Roman" panose="02020603050405020304" pitchFamily="18" charset="0"/>
                <a:ea typeface="Times New Roman" panose="02020603050405020304" pitchFamily="18" charset="0"/>
              </a:rPr>
              <a:t>Although the overall power factor does not have a lag or lead, the fundamental components of current and voltage will have a lag or lead.  Thus Fundamental displacement factor is defined corresponding to the power factor of the fundamental.  </a:t>
            </a:r>
            <a:endParaRPr lang="en-GB" sz="1200" dirty="0">
              <a:latin typeface="Times New Roman" panose="02020603050405020304" pitchFamily="18" charset="0"/>
              <a:ea typeface="Times New Roman" panose="02020603050405020304" pitchFamily="18" charset="0"/>
            </a:endParaRPr>
          </a:p>
          <a:p>
            <a:pPr algn="just">
              <a:spcAft>
                <a:spcPts val="600"/>
              </a:spcAft>
              <a:tabLst>
                <a:tab pos="381000" algn="l"/>
                <a:tab pos="685800" algn="l"/>
                <a:tab pos="3276600" algn="l"/>
              </a:tabLst>
            </a:pPr>
            <a:r>
              <a:rPr lang="en-GB" sz="1200" dirty="0">
                <a:solidFill>
                  <a:srgbClr val="002060"/>
                </a:solidFill>
                <a:latin typeface="Times New Roman" panose="02020603050405020304" pitchFamily="18" charset="0"/>
                <a:ea typeface="Times New Roman" panose="02020603050405020304" pitchFamily="18" charset="0"/>
              </a:rPr>
              <a:t>It tells by how much the fundamental component of current is displaced from the fundamental component of voltage, and hence is also associated with the terms lead and lag.</a:t>
            </a:r>
            <a:endParaRPr lang="en-GB" sz="1200" dirty="0">
              <a:latin typeface="Times New Roman" panose="02020603050405020304" pitchFamily="18" charset="0"/>
              <a:ea typeface="Times New Roman" panose="02020603050405020304" pitchFamily="18" charset="0"/>
            </a:endParaRPr>
          </a:p>
          <a:p>
            <a:pPr algn="just">
              <a:spcAft>
                <a:spcPts val="600"/>
              </a:spcAft>
              <a:tabLst>
                <a:tab pos="381000" algn="l"/>
                <a:tab pos="685800" algn="l"/>
                <a:tab pos="3276600" algn="l"/>
              </a:tabLst>
            </a:pPr>
            <a:r>
              <a:rPr lang="en-GB" sz="1200" dirty="0">
                <a:solidFill>
                  <a:srgbClr val="002060"/>
                </a:solidFill>
                <a:latin typeface="Times New Roman" panose="02020603050405020304" pitchFamily="18" charset="0"/>
                <a:ea typeface="Times New Roman" panose="02020603050405020304" pitchFamily="18" charset="0"/>
              </a:rPr>
              <a:t>Fundamental displacement factor (</a:t>
            </a:r>
            <a:r>
              <a:rPr lang="en-GB" sz="1200" dirty="0" err="1">
                <a:solidFill>
                  <a:srgbClr val="002060"/>
                </a:solidFill>
                <a:latin typeface="Times New Roman" panose="02020603050405020304" pitchFamily="18" charset="0"/>
                <a:ea typeface="Times New Roman" panose="02020603050405020304" pitchFamily="18" charset="0"/>
              </a:rPr>
              <a:t>FDF</a:t>
            </a:r>
            <a:r>
              <a:rPr lang="en-GB" sz="1200" dirty="0">
                <a:solidFill>
                  <a:srgbClr val="002060"/>
                </a:solidFill>
                <a:latin typeface="Times New Roman" panose="02020603050405020304" pitchFamily="18" charset="0"/>
                <a:ea typeface="Times New Roman" panose="02020603050405020304" pitchFamily="18" charset="0"/>
              </a:rPr>
              <a:t>) = cos </a:t>
            </a:r>
            <a:r>
              <a:rPr lang="en-GB" sz="1200" dirty="0">
                <a:solidFill>
                  <a:srgbClr val="002060"/>
                </a:solidFill>
                <a:latin typeface="Symbol" panose="05050102010706020507" pitchFamily="18" charset="2"/>
                <a:ea typeface="Times New Roman" panose="02020603050405020304" pitchFamily="18" charset="0"/>
              </a:rPr>
              <a:t>phi</a:t>
            </a:r>
            <a:r>
              <a:rPr lang="en-GB" sz="1200" baseline="-25000" dirty="0">
                <a:solidFill>
                  <a:srgbClr val="002060"/>
                </a:solidFill>
                <a:latin typeface="Times New Roman" panose="02020603050405020304" pitchFamily="18" charset="0"/>
                <a:ea typeface="Times New Roman" panose="02020603050405020304" pitchFamily="18" charset="0"/>
              </a:rPr>
              <a:t>1</a:t>
            </a:r>
            <a:r>
              <a:rPr lang="en-GB" sz="1200" dirty="0">
                <a:solidFill>
                  <a:srgbClr val="002060"/>
                </a:solidFill>
                <a:latin typeface="Times New Roman" panose="02020603050405020304" pitchFamily="18" charset="0"/>
                <a:ea typeface="Times New Roman" panose="02020603050405020304" pitchFamily="18" charset="0"/>
              </a:rPr>
              <a:t> = cos (</a:t>
            </a:r>
            <a:r>
              <a:rPr lang="en-GB" sz="1200" dirty="0">
                <a:solidFill>
                  <a:srgbClr val="002060"/>
                </a:solidFill>
                <a:latin typeface="Symbol" panose="05050102010706020507" pitchFamily="18" charset="2"/>
                <a:ea typeface="Times New Roman" panose="02020603050405020304" pitchFamily="18" charset="0"/>
              </a:rPr>
              <a:t>Pi</a:t>
            </a:r>
            <a:r>
              <a:rPr lang="en-GB" sz="1200" dirty="0">
                <a:solidFill>
                  <a:srgbClr val="002060"/>
                </a:solidFill>
                <a:latin typeface="Times New Roman" panose="02020603050405020304" pitchFamily="18" charset="0"/>
                <a:ea typeface="Times New Roman" panose="02020603050405020304" pitchFamily="18" charset="0"/>
              </a:rPr>
              <a:t>/2 - </a:t>
            </a:r>
            <a:r>
              <a:rPr lang="en-GB" sz="1200" dirty="0">
                <a:solidFill>
                  <a:srgbClr val="002060"/>
                </a:solidFill>
                <a:latin typeface="Symbol" panose="05050102010706020507" pitchFamily="18" charset="2"/>
                <a:ea typeface="Times New Roman" panose="02020603050405020304" pitchFamily="18" charset="0"/>
              </a:rPr>
              <a:t>Pi</a:t>
            </a:r>
            <a:r>
              <a:rPr lang="en-GB" sz="1200" dirty="0">
                <a:solidFill>
                  <a:srgbClr val="002060"/>
                </a:solidFill>
                <a:latin typeface="Times New Roman" panose="02020603050405020304" pitchFamily="18" charset="0"/>
                <a:ea typeface="Times New Roman" panose="02020603050405020304" pitchFamily="18" charset="0"/>
              </a:rPr>
              <a:t>/6) = cos</a:t>
            </a:r>
            <a:r>
              <a:rPr lang="en-GB" sz="1200" dirty="0">
                <a:solidFill>
                  <a:srgbClr val="002060"/>
                </a:solidFill>
                <a:latin typeface="Symbol" panose="05050102010706020507" pitchFamily="18" charset="2"/>
                <a:ea typeface="Times New Roman" panose="02020603050405020304" pitchFamily="18" charset="0"/>
              </a:rPr>
              <a:t> Pi</a:t>
            </a:r>
            <a:r>
              <a:rPr lang="en-GB" sz="1200" dirty="0">
                <a:solidFill>
                  <a:srgbClr val="002060"/>
                </a:solidFill>
                <a:latin typeface="Times New Roman" panose="02020603050405020304" pitchFamily="18" charset="0"/>
                <a:ea typeface="Times New Roman" panose="02020603050405020304" pitchFamily="18" charset="0"/>
              </a:rPr>
              <a:t>/3 = 0.5 lead in the example just considered.</a:t>
            </a:r>
            <a:endParaRPr lang="en-GB" sz="1200" dirty="0">
              <a:latin typeface="Times New Roman" panose="02020603050405020304" pitchFamily="18" charset="0"/>
              <a:ea typeface="Times New Roman" panose="02020603050405020304" pitchFamily="18" charset="0"/>
            </a:endParaRPr>
          </a:p>
          <a:p>
            <a:r>
              <a:rPr lang="en-GB" sz="1200" dirty="0">
                <a:solidFill>
                  <a:srgbClr val="002060"/>
                </a:solidFill>
                <a:latin typeface="Times New Roman" panose="02020603050405020304" pitchFamily="18" charset="0"/>
                <a:ea typeface="Times New Roman" panose="02020603050405020304" pitchFamily="18" charset="0"/>
              </a:rPr>
              <a:t>Note that the term lead is used as the original current is leading the voltage  by an angle </a:t>
            </a:r>
            <a:r>
              <a:rPr lang="en-GB" sz="1200" dirty="0">
                <a:solidFill>
                  <a:srgbClr val="002060"/>
                </a:solidFill>
                <a:latin typeface="Symbol" panose="05050102010706020507" pitchFamily="18" charset="2"/>
                <a:ea typeface="Times New Roman" panose="02020603050405020304" pitchFamily="18" charset="0"/>
                <a:cs typeface="Times New Roman" panose="02020603050405020304" pitchFamily="18" charset="0"/>
              </a:rPr>
              <a:t>Pi</a:t>
            </a:r>
            <a:r>
              <a:rPr lang="en-GB" sz="1200" dirty="0">
                <a:solidFill>
                  <a:srgbClr val="002060"/>
                </a:solidFill>
                <a:latin typeface="Times New Roman" panose="02020603050405020304" pitchFamily="18" charset="0"/>
                <a:ea typeface="Times New Roman" panose="02020603050405020304" pitchFamily="18" charset="0"/>
              </a:rPr>
              <a:t>/3.</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62</a:t>
            </a:fld>
            <a:endParaRPr lang="en-GB"/>
          </a:p>
        </p:txBody>
      </p:sp>
    </p:spTree>
    <p:extLst>
      <p:ext uri="{BB962C8B-B14F-4D97-AF65-F5344CB8AC3E}">
        <p14:creationId xmlns:p14="http://schemas.microsoft.com/office/powerpoint/2010/main" val="247017741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now see how </a:t>
            </a:r>
            <a:r>
              <a:rPr lang="en-GB" dirty="0"/>
              <a:t>Circuits can be analysed in  the presence of Harmonics in the Source.</a:t>
            </a:r>
          </a:p>
          <a:p>
            <a:pPr algn="just">
              <a:spcAft>
                <a:spcPts val="600"/>
              </a:spcAft>
              <a:tabLst>
                <a:tab pos="381000" algn="l"/>
                <a:tab pos="3276600" algn="l"/>
              </a:tabLst>
            </a:pPr>
            <a:r>
              <a:rPr lang="en-GB" sz="1200" dirty="0">
                <a:solidFill>
                  <a:srgbClr val="002060"/>
                </a:solidFill>
                <a:latin typeface="Times New Roman" panose="02020603050405020304" pitchFamily="18" charset="0"/>
                <a:ea typeface="Times New Roman" panose="02020603050405020304" pitchFamily="18" charset="0"/>
              </a:rPr>
              <a:t>Due to presence of non-linear devices in the system, voltages and currents get distorted from sinusoidal.</a:t>
            </a:r>
            <a:endParaRPr lang="en-GB" sz="1200" dirty="0">
              <a:latin typeface="Times New Roman" panose="02020603050405020304" pitchFamily="18" charset="0"/>
              <a:ea typeface="Times New Roman" panose="02020603050405020304" pitchFamily="18" charset="0"/>
            </a:endParaRPr>
          </a:p>
          <a:p>
            <a:pPr algn="just">
              <a:spcAft>
                <a:spcPts val="600"/>
              </a:spcAft>
              <a:tabLst>
                <a:tab pos="381000" algn="l"/>
                <a:tab pos="3276600" algn="l"/>
              </a:tabLst>
            </a:pPr>
            <a:r>
              <a:rPr lang="en-GB" sz="1200" dirty="0">
                <a:solidFill>
                  <a:srgbClr val="002060"/>
                </a:solidFill>
                <a:latin typeface="Times New Roman" panose="02020603050405020304" pitchFamily="18" charset="0"/>
                <a:ea typeface="Times New Roman" panose="02020603050405020304" pitchFamily="18" charset="0"/>
              </a:rPr>
              <a:t>Thus it becomes necessary to analyse circuits in the presence of a distortion in source.</a:t>
            </a:r>
            <a:endParaRPr lang="en-GB" sz="1200" dirty="0">
              <a:latin typeface="Times New Roman" panose="02020603050405020304" pitchFamily="18" charset="0"/>
              <a:ea typeface="Times New Roman" panose="02020603050405020304" pitchFamily="18" charset="0"/>
            </a:endParaRPr>
          </a:p>
          <a:p>
            <a:pPr algn="just">
              <a:spcAft>
                <a:spcPts val="600"/>
              </a:spcAft>
              <a:tabLst>
                <a:tab pos="381000" algn="l"/>
                <a:tab pos="3276600" algn="l"/>
              </a:tabLst>
            </a:pPr>
            <a:r>
              <a:rPr lang="en-GB" sz="1200" dirty="0">
                <a:solidFill>
                  <a:srgbClr val="002060"/>
                </a:solidFill>
                <a:latin typeface="Times New Roman" panose="02020603050405020304" pitchFamily="18" charset="0"/>
                <a:ea typeface="Times New Roman" panose="02020603050405020304" pitchFamily="18" charset="0"/>
              </a:rPr>
              <a:t>This can be done by using the Fourier Series of the supply voltage and the principle of superposition.</a:t>
            </a:r>
          </a:p>
          <a:p>
            <a:pPr algn="just">
              <a:spcAft>
                <a:spcPts val="600"/>
              </a:spcAft>
              <a:tabLst>
                <a:tab pos="381000" algn="l"/>
                <a:tab pos="3276600" algn="l"/>
              </a:tabLst>
            </a:pPr>
            <a:r>
              <a:rPr lang="en-GB" sz="1200" cap="all" dirty="0">
                <a:solidFill>
                  <a:srgbClr val="002060"/>
                </a:solidFill>
                <a:latin typeface="Times New Roman" panose="02020603050405020304" pitchFamily="18" charset="0"/>
                <a:ea typeface="Times New Roman" panose="02020603050405020304" pitchFamily="18" charset="0"/>
              </a:rPr>
              <a:t>F</a:t>
            </a:r>
            <a:r>
              <a:rPr lang="en-GB" sz="1200" dirty="0">
                <a:solidFill>
                  <a:srgbClr val="002060"/>
                </a:solidFill>
                <a:latin typeface="Times New Roman" panose="02020603050405020304" pitchFamily="18" charset="0"/>
                <a:ea typeface="Times New Roman" panose="02020603050405020304" pitchFamily="18" charset="0"/>
              </a:rPr>
              <a:t>or each frequency component, the circuit is analysed, as for pure sinusoidal quantities, using normal complex number analysis, and the results are summed up to give the resultant waveform.</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63</a:t>
            </a:fld>
            <a:endParaRPr lang="en-GB"/>
          </a:p>
        </p:txBody>
      </p:sp>
    </p:spTree>
    <p:extLst>
      <p:ext uri="{BB962C8B-B14F-4D97-AF65-F5344CB8AC3E}">
        <p14:creationId xmlns:p14="http://schemas.microsoft.com/office/powerpoint/2010/main" val="428079718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consider an example to illustrate this.</a:t>
            </a:r>
          </a:p>
          <a:p>
            <a:pPr>
              <a:spcAft>
                <a:spcPts val="600"/>
              </a:spcAft>
              <a:tabLst>
                <a:tab pos="381000" algn="l"/>
                <a:tab pos="3276600" algn="l"/>
              </a:tabLst>
            </a:pPr>
            <a:r>
              <a:rPr lang="en-US" dirty="0"/>
              <a:t>For the circuit shown, </a:t>
            </a:r>
            <a:r>
              <a:rPr lang="en-GB" sz="1200" dirty="0">
                <a:solidFill>
                  <a:srgbClr val="002060"/>
                </a:solidFill>
                <a:latin typeface="Times New Roman" panose="02020603050405020304" pitchFamily="18" charset="0"/>
              </a:rPr>
              <a:t>d</a:t>
            </a:r>
            <a:r>
              <a:rPr lang="en-GB" sz="1200" dirty="0">
                <a:solidFill>
                  <a:srgbClr val="002060"/>
                </a:solidFill>
                <a:latin typeface="Times New Roman" panose="02020603050405020304" pitchFamily="18" charset="0"/>
                <a:ea typeface="Times New Roman" panose="02020603050405020304" pitchFamily="18" charset="0"/>
              </a:rPr>
              <a:t>etermine the voltage across the load R for a supply voltage e(t) </a:t>
            </a:r>
            <a:r>
              <a:rPr lang="en-US" sz="1200" dirty="0">
                <a:solidFill>
                  <a:srgbClr val="002060"/>
                </a:solidFill>
                <a:latin typeface="Times New Roman" panose="02020603050405020304" pitchFamily="18" charset="0"/>
                <a:ea typeface="Times New Roman" panose="02020603050405020304" pitchFamily="18" charset="0"/>
              </a:rPr>
              <a:t>given by</a:t>
            </a:r>
            <a:r>
              <a:rPr lang="de-DE" sz="1200" dirty="0">
                <a:solidFill>
                  <a:srgbClr val="002060"/>
                </a:solidFill>
                <a:latin typeface="Times New Roman" panose="02020603050405020304" pitchFamily="18" charset="0"/>
                <a:ea typeface="Times New Roman" panose="02020603050405020304" pitchFamily="18" charset="0"/>
              </a:rPr>
              <a:t> 100 + 30 sin(300t + </a:t>
            </a:r>
            <a:r>
              <a:rPr lang="en-GB" sz="1200" dirty="0">
                <a:solidFill>
                  <a:srgbClr val="002060"/>
                </a:solidFill>
                <a:latin typeface="Symbol" panose="05050102010706020507" pitchFamily="18" charset="2"/>
                <a:ea typeface="Times New Roman" panose="02020603050405020304" pitchFamily="18" charset="0"/>
              </a:rPr>
              <a:t>Pi</a:t>
            </a:r>
            <a:r>
              <a:rPr lang="de-DE" sz="1200" dirty="0">
                <a:solidFill>
                  <a:srgbClr val="002060"/>
                </a:solidFill>
                <a:latin typeface="Times New Roman" panose="02020603050405020304" pitchFamily="18" charset="0"/>
                <a:ea typeface="Times New Roman" panose="02020603050405020304" pitchFamily="18" charset="0"/>
              </a:rPr>
              <a:t>/6) + 20 sin 900t + </a:t>
            </a:r>
            <a:r>
              <a:rPr lang="en-GB" sz="1200" dirty="0">
                <a:solidFill>
                  <a:srgbClr val="002060"/>
                </a:solidFill>
                <a:latin typeface="Times New Roman" panose="02020603050405020304" pitchFamily="18" charset="0"/>
                <a:ea typeface="Times New Roman" panose="02020603050405020304" pitchFamily="18" charset="0"/>
              </a:rPr>
              <a:t>15 sin (1500t - </a:t>
            </a:r>
            <a:r>
              <a:rPr lang="en-GB" sz="1200" dirty="0">
                <a:solidFill>
                  <a:srgbClr val="002060"/>
                </a:solidFill>
                <a:latin typeface="Symbol" panose="05050102010706020507" pitchFamily="18" charset="2"/>
                <a:ea typeface="Times New Roman" panose="02020603050405020304" pitchFamily="18" charset="0"/>
                <a:cs typeface="Times New Roman" panose="02020603050405020304" pitchFamily="18" charset="0"/>
              </a:rPr>
              <a:t>Pi</a:t>
            </a:r>
            <a:r>
              <a:rPr lang="en-GB" sz="1200" dirty="0">
                <a:solidFill>
                  <a:srgbClr val="002060"/>
                </a:solidFill>
                <a:latin typeface="Times New Roman" panose="02020603050405020304" pitchFamily="18" charset="0"/>
                <a:ea typeface="Times New Roman" panose="02020603050405020304" pitchFamily="18" charset="0"/>
              </a:rPr>
              <a:t>/6) + 10 sin 2100t</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64</a:t>
            </a:fld>
            <a:endParaRPr lang="en-GB"/>
          </a:p>
        </p:txBody>
      </p:sp>
    </p:spTree>
    <p:extLst>
      <p:ext uri="{BB962C8B-B14F-4D97-AF65-F5344CB8AC3E}">
        <p14:creationId xmlns:p14="http://schemas.microsoft.com/office/powerpoint/2010/main" val="326004872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a:t>
            </a:r>
            <a:r>
              <a:rPr lang="en-US" dirty="0" err="1"/>
              <a:t>analyse</a:t>
            </a:r>
            <a:r>
              <a:rPr lang="en-US" dirty="0"/>
              <a:t> with the dc term first, and then with the ac terms.</a:t>
            </a:r>
          </a:p>
          <a:p>
            <a:r>
              <a:rPr lang="en-US" dirty="0"/>
              <a:t>For the dc term, Vdc can be easily seen to be equal to 100 times 100 upon 110 or 90.91 V</a:t>
            </a:r>
          </a:p>
          <a:p>
            <a:r>
              <a:rPr lang="en-US" dirty="0"/>
              <a:t>For any ac term, </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if </a:t>
            </a:r>
            <a:r>
              <a:rPr kumimoji="0" lang="en-GB" altLang="en-US" sz="1200" b="0" i="0"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V</a:t>
            </a:r>
            <a:r>
              <a:rPr kumimoji="0" lang="en-GB" altLang="en-US" sz="1200" b="0" i="0" u="none" strike="noStrike" cap="none" normalizeH="0" baseline="-3000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nm</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is the peak value of n</a:t>
            </a:r>
            <a:r>
              <a:rPr kumimoji="0" lang="en-GB" altLang="en-US" sz="1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th</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harmonic of output voltage, using normal complex number theory but remembering that the angular frequency is n time omega, the general expression for </a:t>
            </a:r>
            <a:r>
              <a:rPr kumimoji="0" lang="en-GB" altLang="en-US" sz="1200" b="0" i="0"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Vnm</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is obtained in terms of </a:t>
            </a:r>
            <a:r>
              <a:rPr kumimoji="0" lang="en-GB" altLang="en-US" sz="1200" b="0" i="0"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Enm</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as shown.</a:t>
            </a:r>
            <a:r>
              <a:rPr lang="en-US" dirty="0"/>
              <a:t> </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65</a:t>
            </a:fld>
            <a:endParaRPr lang="en-GB"/>
          </a:p>
        </p:txBody>
      </p:sp>
    </p:spTree>
    <p:extLst>
      <p:ext uri="{BB962C8B-B14F-4D97-AF65-F5344CB8AC3E}">
        <p14:creationId xmlns:p14="http://schemas.microsoft.com/office/powerpoint/2010/main" val="378314135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simplification, </a:t>
            </a:r>
            <a:r>
              <a:rPr lang="en-US" dirty="0" err="1"/>
              <a:t>Vnm</a:t>
            </a:r>
            <a:r>
              <a:rPr lang="en-US" dirty="0"/>
              <a:t> works out to </a:t>
            </a:r>
            <a:r>
              <a:rPr lang="en-US" dirty="0" err="1"/>
              <a:t>Enm</a:t>
            </a:r>
            <a:r>
              <a:rPr lang="en-US" dirty="0"/>
              <a:t> times 100 over 110 minus 45 n squared + j 45 n</a:t>
            </a:r>
          </a:p>
          <a:p>
            <a:r>
              <a:rPr lang="en-US" dirty="0"/>
              <a:t>To determine the fundamental, substitute n=1,  Similarly n=3, 5, 7 </a:t>
            </a:r>
            <a:r>
              <a:rPr lang="en-US" dirty="0" err="1"/>
              <a:t>etc</a:t>
            </a:r>
            <a:r>
              <a:rPr lang="en-US" dirty="0"/>
              <a:t> to obtain the harmonics.</a:t>
            </a:r>
          </a:p>
          <a:p>
            <a:r>
              <a:rPr lang="en-US" dirty="0"/>
              <a:t>Once these are obtained, v(t) may be obtained in the form of a Fourier series as shown.</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66</a:t>
            </a:fld>
            <a:endParaRPr lang="en-GB"/>
          </a:p>
        </p:txBody>
      </p:sp>
    </p:spTree>
    <p:extLst>
      <p:ext uri="{BB962C8B-B14F-4D97-AF65-F5344CB8AC3E}">
        <p14:creationId xmlns:p14="http://schemas.microsoft.com/office/powerpoint/2010/main" val="284850286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1200" b="0" i="0" u="none" strike="noStrike" cap="none" normalizeH="0" baseline="0" dirty="0">
                <a:ln>
                  <a:noFill/>
                </a:ln>
                <a:solidFill>
                  <a:srgbClr val="002060"/>
                </a:solidFill>
                <a:effectLst/>
                <a:ea typeface="Times New Roman" panose="02020603050405020304" pitchFamily="18" charset="0"/>
              </a:rPr>
              <a:t>Experimental waveforms, are known at discrete points, usually obtained digitally and not as a  function of t. </a:t>
            </a:r>
            <a:endParaRPr kumimoji="0" lang="en-GB"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1200" b="0" i="0" u="none" strike="noStrike" cap="none" normalizeH="0" baseline="0" dirty="0">
                <a:ln>
                  <a:noFill/>
                </a:ln>
                <a:solidFill>
                  <a:srgbClr val="002060"/>
                </a:solidFill>
                <a:effectLst/>
                <a:ea typeface="Times New Roman" panose="02020603050405020304" pitchFamily="18" charset="0"/>
              </a:rPr>
              <a:t>In this case the Fourier coefficients need to be obtained from the graphically measured values</a:t>
            </a:r>
            <a:endParaRPr kumimoji="0" lang="en-GB"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1200" b="0" i="0" u="none" strike="noStrike" cap="none" normalizeH="0" baseline="0" dirty="0">
                <a:ln>
                  <a:noFill/>
                </a:ln>
                <a:solidFill>
                  <a:srgbClr val="002060"/>
                </a:solidFill>
                <a:effectLst/>
                <a:ea typeface="Times New Roman" panose="02020603050405020304" pitchFamily="18" charset="0"/>
              </a:rPr>
              <a:t>As the data is discrete, approximations need to be made to the Fourier series.</a:t>
            </a:r>
            <a:endParaRPr kumimoji="0" lang="en-GB"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1200" b="0" i="0" u="none" strike="noStrike" cap="none" normalizeH="0" baseline="0" dirty="0">
                <a:ln>
                  <a:noFill/>
                </a:ln>
                <a:solidFill>
                  <a:srgbClr val="002060"/>
                </a:solidFill>
                <a:effectLst/>
                <a:ea typeface="Times New Roman" panose="02020603050405020304" pitchFamily="18" charset="0"/>
              </a:rPr>
              <a:t>Integrals used are replaced by finite summations.</a:t>
            </a:r>
            <a:endParaRPr kumimoji="0" lang="en-GB"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1200" b="0" i="0" u="none" strike="noStrike" cap="none" normalizeH="0" baseline="0" dirty="0">
                <a:ln>
                  <a:noFill/>
                </a:ln>
                <a:solidFill>
                  <a:srgbClr val="002060"/>
                </a:solidFill>
                <a:effectLst/>
                <a:ea typeface="Times New Roman" panose="02020603050405020304" pitchFamily="18" charset="0"/>
              </a:rPr>
              <a:t>If period T, equalling 2</a:t>
            </a:r>
            <a:r>
              <a:rPr kumimoji="0" lang="en-GB" altLang="en-US" sz="1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Pi </a:t>
            </a:r>
            <a:r>
              <a:rPr kumimoji="0" lang="en-GB" altLang="en-US" sz="1200" b="0" i="0" u="none" strike="noStrike" cap="none" normalizeH="0" baseline="0" dirty="0">
                <a:ln>
                  <a:noFill/>
                </a:ln>
                <a:solidFill>
                  <a:srgbClr val="002060"/>
                </a:solidFill>
                <a:effectLst/>
                <a:ea typeface="Times New Roman" panose="02020603050405020304" pitchFamily="18" charset="0"/>
              </a:rPr>
              <a:t>over omega, is divided into N equal intervals </a:t>
            </a:r>
            <a:r>
              <a:rPr kumimoji="0" lang="en-GB" altLang="en-US" sz="1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of delta </a:t>
            </a:r>
            <a:r>
              <a:rPr kumimoji="0" lang="en-GB" altLang="en-US" sz="1200" b="0" i="0" u="none" strike="noStrike" cap="none" normalizeH="0" baseline="0" dirty="0">
                <a:ln>
                  <a:noFill/>
                </a:ln>
                <a:solidFill>
                  <a:srgbClr val="002060"/>
                </a:solidFill>
                <a:effectLst/>
                <a:ea typeface="Times New Roman" panose="02020603050405020304" pitchFamily="18" charset="0"/>
              </a:rPr>
              <a:t>t, </a:t>
            </a: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sz="1200" b="0" i="0" u="none" strike="noStrike" cap="none" normalizeH="0" baseline="0" dirty="0">
                <a:ln>
                  <a:noFill/>
                </a:ln>
                <a:solidFill>
                  <a:srgbClr val="002060"/>
                </a:solidFill>
                <a:effectLst/>
              </a:rPr>
              <a:t>Delta t equals T over N equals 2 Pi over N omega</a:t>
            </a: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sz="1200" b="0" i="0" u="none" strike="noStrike" cap="none" normalizeH="0" baseline="0" dirty="0">
                <a:ln>
                  <a:noFill/>
                </a:ln>
                <a:solidFill>
                  <a:srgbClr val="002060"/>
                </a:solidFill>
                <a:effectLst/>
              </a:rPr>
              <a:t>Substitution and simplification gives A zero equals 2 over N sigma </a:t>
            </a:r>
            <a:r>
              <a:rPr kumimoji="0" lang="en-GB" sz="1200" b="0" i="0" u="none" strike="noStrike" cap="none" normalizeH="0" baseline="0" dirty="0" err="1">
                <a:ln>
                  <a:noFill/>
                </a:ln>
                <a:solidFill>
                  <a:srgbClr val="002060"/>
                </a:solidFill>
                <a:effectLst/>
              </a:rPr>
              <a:t>fp</a:t>
            </a:r>
            <a:r>
              <a:rPr kumimoji="0" lang="en-GB" sz="1200" b="0" i="0" u="none" strike="noStrike" cap="none" normalizeH="0" baseline="0" dirty="0">
                <a:ln>
                  <a:noFill/>
                </a:ln>
                <a:solidFill>
                  <a:srgbClr val="002060"/>
                </a:solidFill>
                <a:effectLst/>
              </a:rPr>
              <a:t> of t, where </a:t>
            </a:r>
            <a:r>
              <a:rPr kumimoji="0" lang="en-GB" sz="1200" b="0" i="0" u="none" strike="noStrike" cap="none" normalizeH="0" baseline="0" dirty="0" err="1">
                <a:ln>
                  <a:noFill/>
                </a:ln>
                <a:solidFill>
                  <a:srgbClr val="002060"/>
                </a:solidFill>
                <a:effectLst/>
              </a:rPr>
              <a:t>fp</a:t>
            </a:r>
            <a:r>
              <a:rPr kumimoji="0" lang="en-GB" sz="1200" b="0" i="0" u="none" strike="noStrike" cap="none" normalizeH="0" baseline="0" dirty="0">
                <a:ln>
                  <a:noFill/>
                </a:ln>
                <a:solidFill>
                  <a:srgbClr val="002060"/>
                </a:solidFill>
                <a:effectLst/>
              </a:rPr>
              <a:t> is the magnitude at the </a:t>
            </a:r>
            <a:r>
              <a:rPr kumimoji="0" lang="en-GB" sz="1200" b="0" i="0" u="none" strike="noStrike" cap="none" normalizeH="0" baseline="0" dirty="0" err="1">
                <a:ln>
                  <a:noFill/>
                </a:ln>
                <a:solidFill>
                  <a:srgbClr val="002060"/>
                </a:solidFill>
                <a:effectLst/>
              </a:rPr>
              <a:t>pth</a:t>
            </a:r>
            <a:r>
              <a:rPr kumimoji="0" lang="en-GB" sz="1200" b="0" i="0" u="none" strike="noStrike" cap="none" normalizeH="0" baseline="0" dirty="0">
                <a:ln>
                  <a:noFill/>
                </a:ln>
                <a:solidFill>
                  <a:srgbClr val="002060"/>
                </a:solidFill>
                <a:effectLst/>
              </a:rPr>
              <a:t> instant of time.</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67</a:t>
            </a:fld>
            <a:endParaRPr lang="en-GB"/>
          </a:p>
        </p:txBody>
      </p:sp>
    </p:spTree>
    <p:extLst>
      <p:ext uri="{BB962C8B-B14F-4D97-AF65-F5344CB8AC3E}">
        <p14:creationId xmlns:p14="http://schemas.microsoft.com/office/powerpoint/2010/main" val="2349188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like manner, the integrals for An and Bn can be converted to summations.</a:t>
            </a:r>
          </a:p>
          <a:p>
            <a:r>
              <a:rPr lang="en-US" dirty="0"/>
              <a:t>For higher accuracy in numerical integration, </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values of cos </a:t>
            </a:r>
            <a:r>
              <a:rPr kumimoji="0" lang="en-GB" altLang="en-US" sz="1200" b="0"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n </a:t>
            </a:r>
            <a:r>
              <a:rPr kumimoji="0" lang="en-GB" altLang="en-US" sz="1200" b="0" i="1"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omega</a:t>
            </a:r>
            <a:r>
              <a:rPr kumimoji="0" lang="en-GB" altLang="en-US" sz="1200" b="0" i="1" u="none" strike="noStrike" cap="none" normalizeH="0" baseline="0" dirty="0">
                <a:ln>
                  <a:noFill/>
                </a:ln>
                <a:solidFill>
                  <a:srgbClr val="002060"/>
                </a:solidFill>
                <a:effectLst/>
                <a:ea typeface="Times New Roman" panose="02020603050405020304" pitchFamily="18" charset="0"/>
              </a:rPr>
              <a:t> </a:t>
            </a:r>
            <a:r>
              <a:rPr kumimoji="0" lang="en-GB" altLang="en-US" sz="1200" b="0" i="1" u="none" strike="noStrike" cap="none" normalizeH="0" baseline="0" dirty="0" err="1">
                <a:ln>
                  <a:noFill/>
                </a:ln>
                <a:solidFill>
                  <a:srgbClr val="002060"/>
                </a:solidFill>
                <a:effectLst/>
                <a:ea typeface="Times New Roman" panose="02020603050405020304" pitchFamily="18" charset="0"/>
              </a:rPr>
              <a:t>t</a:t>
            </a:r>
            <a:r>
              <a:rPr kumimoji="0" lang="en-GB" altLang="en-US" sz="1200" b="0" i="1"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p</a:t>
            </a:r>
            <a:r>
              <a:rPr kumimoji="0" lang="en-GB" altLang="en-US" sz="1200" b="0"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and sin </a:t>
            </a:r>
            <a:r>
              <a:rPr kumimoji="0" lang="en-GB" altLang="en-US" sz="1200" b="0"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n </a:t>
            </a:r>
            <a:r>
              <a:rPr kumimoji="0" lang="en-GB" altLang="en-US" sz="1200" b="0" i="1"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omega</a:t>
            </a:r>
            <a:r>
              <a:rPr kumimoji="0" lang="en-GB" altLang="en-US" sz="1200" b="0" i="1" u="none" strike="noStrike" cap="none" normalizeH="0" baseline="0" dirty="0">
                <a:ln>
                  <a:noFill/>
                </a:ln>
                <a:solidFill>
                  <a:srgbClr val="002060"/>
                </a:solidFill>
                <a:effectLst/>
                <a:ea typeface="Times New Roman" panose="02020603050405020304" pitchFamily="18" charset="0"/>
              </a:rPr>
              <a:t> </a:t>
            </a:r>
            <a:r>
              <a:rPr kumimoji="0" lang="en-GB" altLang="en-US" sz="1200" b="0" i="1" u="none" strike="noStrike" cap="none" normalizeH="0" baseline="0" dirty="0" err="1">
                <a:ln>
                  <a:noFill/>
                </a:ln>
                <a:solidFill>
                  <a:srgbClr val="002060"/>
                </a:solidFill>
                <a:effectLst/>
                <a:ea typeface="Times New Roman" panose="02020603050405020304" pitchFamily="18" charset="0"/>
              </a:rPr>
              <a:t>t</a:t>
            </a:r>
            <a:r>
              <a:rPr kumimoji="0" lang="en-GB" altLang="en-US" sz="1200" b="0" i="1"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p</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are calculated at mid interval.</a:t>
            </a:r>
          </a:p>
          <a:p>
            <a:r>
              <a:rPr kumimoji="0" lang="en-GB" sz="1200" b="0" i="0" u="none" strike="noStrike" cap="none" normalizeH="0" baseline="0" dirty="0">
                <a:ln>
                  <a:noFill/>
                </a:ln>
                <a:solidFill>
                  <a:srgbClr val="002060"/>
                </a:solidFill>
                <a:effectLst/>
                <a:latin typeface="Arial" panose="020B0604020202020204" pitchFamily="34" charset="0"/>
              </a:rPr>
              <a:t>Also omega </a:t>
            </a:r>
            <a:r>
              <a:rPr kumimoji="0" lang="en-GB" sz="1200" b="0" i="0" u="none" strike="noStrike" cap="none" normalizeH="0" baseline="0" dirty="0" err="1">
                <a:ln>
                  <a:noFill/>
                </a:ln>
                <a:solidFill>
                  <a:srgbClr val="002060"/>
                </a:solidFill>
                <a:effectLst/>
                <a:latin typeface="Arial" panose="020B0604020202020204" pitchFamily="34" charset="0"/>
              </a:rPr>
              <a:t>tp</a:t>
            </a:r>
            <a:r>
              <a:rPr kumimoji="0" lang="en-GB" sz="1200" b="0" i="0" u="none" strike="noStrike" cap="none" normalizeH="0" baseline="0" dirty="0">
                <a:ln>
                  <a:noFill/>
                </a:ln>
                <a:solidFill>
                  <a:srgbClr val="002060"/>
                </a:solidFill>
                <a:effectLst/>
                <a:latin typeface="Arial" panose="020B0604020202020204" pitchFamily="34" charset="0"/>
              </a:rPr>
              <a:t> equals 2 Pi over N time p.</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68</a:t>
            </a:fld>
            <a:endParaRPr lang="en-GB"/>
          </a:p>
        </p:txBody>
      </p:sp>
    </p:spTree>
    <p:extLst>
      <p:ext uri="{BB962C8B-B14F-4D97-AF65-F5344CB8AC3E}">
        <p14:creationId xmlns:p14="http://schemas.microsoft.com/office/powerpoint/2010/main" val="318679911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now consider an example of numerically determining the Fourier coefficients for a digitally given waveform. Since the waveform has half wave symmetry, only half the waveform needs to be defined.</a:t>
            </a:r>
          </a:p>
          <a:p>
            <a:r>
              <a:rPr lang="en-US" dirty="0"/>
              <a:t>In this example the period is divided into 24 intervals so that data is need at half these points.  Also since 360 degrees is divided into 24 intervals, the spacing between data corresponds to 15 degrees.</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69</a:t>
            </a:fld>
            <a:endParaRPr lang="en-GB"/>
          </a:p>
        </p:txBody>
      </p:sp>
    </p:spTree>
    <p:extLst>
      <p:ext uri="{BB962C8B-B14F-4D97-AF65-F5344CB8AC3E}">
        <p14:creationId xmlns:p14="http://schemas.microsoft.com/office/powerpoint/2010/main" val="401784970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Waveform has half-wave symmetry </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so that</a:t>
            </a:r>
            <a:r>
              <a:rPr kumimoji="0" lang="en-GB" altLang="en-US" sz="1200" b="0" i="0" u="none" strike="noStrike" cap="none" normalizeH="0" baseline="0" dirty="0">
                <a:ln>
                  <a:noFill/>
                </a:ln>
                <a:solidFill>
                  <a:srgbClr val="002060"/>
                </a:solidFill>
                <a:effectLst/>
                <a:ea typeface="Times New Roman" panose="02020603050405020304" pitchFamily="18" charset="0"/>
              </a:rPr>
              <a:t> no even harmonics</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are present.  Integration (or summation) is done only over half a  cycle.</a:t>
            </a:r>
            <a:endParaRPr kumimoji="0" lang="en-GB" altLang="en-US" sz="8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It is seen that mean value of waveform is zero so that </a:t>
            </a:r>
            <a:r>
              <a:rPr kumimoji="0" lang="en-GB" altLang="en-US" sz="1200" b="0" i="0"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a:t>
            </a:r>
            <a:r>
              <a:rPr kumimoji="0" lang="en-GB" altLang="en-US" sz="1200" b="0" i="0" u="none" strike="noStrike" cap="none" normalizeH="0" baseline="-3000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o</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/2 = 0.</a:t>
            </a:r>
            <a:endParaRPr kumimoji="0" lang="en-GB" altLang="en-US" sz="8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Numerical evaluation of individual coefficients is shown.</a:t>
            </a:r>
            <a:endParaRPr kumimoji="0" lang="en-GB" altLang="en-US" sz="8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70</a:t>
            </a:fld>
            <a:endParaRPr lang="en-GB"/>
          </a:p>
        </p:txBody>
      </p:sp>
    </p:spTree>
    <p:extLst>
      <p:ext uri="{BB962C8B-B14F-4D97-AF65-F5344CB8AC3E}">
        <p14:creationId xmlns:p14="http://schemas.microsoft.com/office/powerpoint/2010/main" val="89892376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Since the number of data points is very limited, </a:t>
            </a:r>
            <a:r>
              <a:rPr lang="en-GB" sz="1200" dirty="0">
                <a:solidFill>
                  <a:srgbClr val="002060"/>
                </a:solidFill>
                <a:latin typeface="Times New Roman" panose="02020603050405020304" pitchFamily="18" charset="0"/>
              </a:rPr>
              <a:t>the d</a:t>
            </a:r>
            <a:r>
              <a:rPr lang="en-GB" sz="1200" dirty="0">
                <a:solidFill>
                  <a:srgbClr val="002060"/>
                </a:solidFill>
                <a:latin typeface="Times New Roman" panose="02020603050405020304" pitchFamily="18" charset="0"/>
                <a:ea typeface="Times New Roman" panose="02020603050405020304" pitchFamily="18" charset="0"/>
              </a:rPr>
              <a:t>etermination of higher harmonics would not be accurate unless more points are defined on waveform.</a:t>
            </a:r>
            <a:endParaRPr lang="en-GB" sz="1200" dirty="0"/>
          </a:p>
          <a:p>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71</a:t>
            </a:fld>
            <a:endParaRPr lang="en-GB"/>
          </a:p>
        </p:txBody>
      </p:sp>
    </p:spTree>
    <p:extLst>
      <p:ext uri="{BB962C8B-B14F-4D97-AF65-F5344CB8AC3E}">
        <p14:creationId xmlns:p14="http://schemas.microsoft.com/office/powerpoint/2010/main" val="231900111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the fundamental and third harmonic determined, the effective value can be estimated.  Much more data points and many harmonics would be necessary to obtain a realistic effective value.</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72</a:t>
            </a:fld>
            <a:endParaRPr lang="en-GB"/>
          </a:p>
        </p:txBody>
      </p:sp>
    </p:spTree>
    <p:extLst>
      <p:ext uri="{BB962C8B-B14F-4D97-AF65-F5344CB8AC3E}">
        <p14:creationId xmlns:p14="http://schemas.microsoft.com/office/powerpoint/2010/main" val="338020910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tabLst>
                <a:tab pos="381000" algn="l"/>
                <a:tab pos="3276600" algn="l"/>
              </a:tabLst>
            </a:pPr>
            <a:r>
              <a:rPr lang="en-GB" sz="1200" dirty="0">
                <a:solidFill>
                  <a:srgbClr val="002060"/>
                </a:solidFill>
                <a:latin typeface="Times New Roman" panose="02020603050405020304" pitchFamily="18" charset="0"/>
                <a:ea typeface="Times New Roman" panose="02020603050405020304" pitchFamily="18" charset="0"/>
              </a:rPr>
              <a:t>It would have been noted that the only frequency terms that were considered were positive frequency terms going up to infinity but that time was not limited to positive values.  </a:t>
            </a:r>
            <a:endParaRPr lang="en-GB" sz="1200" dirty="0">
              <a:latin typeface="Times New Roman" panose="02020603050405020304" pitchFamily="18" charset="0"/>
              <a:ea typeface="Times New Roman" panose="02020603050405020304" pitchFamily="18" charset="0"/>
            </a:endParaRPr>
          </a:p>
          <a:p>
            <a:pPr algn="just">
              <a:tabLst>
                <a:tab pos="381000" algn="l"/>
                <a:tab pos="3276600" algn="l"/>
              </a:tabLst>
            </a:pPr>
            <a:r>
              <a:rPr lang="en-GB" sz="1200" dirty="0">
                <a:solidFill>
                  <a:srgbClr val="002060"/>
                </a:solidFill>
                <a:latin typeface="Times New Roman" panose="02020603050405020304" pitchFamily="18" charset="0"/>
                <a:ea typeface="Times New Roman" panose="02020603050405020304" pitchFamily="18" charset="0"/>
              </a:rPr>
              <a:t>Mathematically speaking, frequency can have negative values, but as will be obvious, negative frequency terms would have a corresponding positive frequency term giving the same Fourier component. </a:t>
            </a:r>
            <a:endParaRPr lang="en-GB" sz="1200" dirty="0">
              <a:latin typeface="Times New Roman" panose="02020603050405020304" pitchFamily="18" charset="0"/>
              <a:ea typeface="Times New Roman" panose="02020603050405020304" pitchFamily="18" charset="0"/>
            </a:endParaRPr>
          </a:p>
          <a:p>
            <a:pPr algn="just">
              <a:tabLst>
                <a:tab pos="381000" algn="l"/>
                <a:tab pos="3276600" algn="l"/>
              </a:tabLst>
            </a:pPr>
            <a:r>
              <a:rPr lang="en-GB" sz="1200" dirty="0">
                <a:solidFill>
                  <a:srgbClr val="002060"/>
                </a:solidFill>
                <a:latin typeface="Times New Roman" panose="02020603050405020304" pitchFamily="18" charset="0"/>
                <a:ea typeface="Times New Roman" panose="02020603050405020304" pitchFamily="18" charset="0"/>
              </a:rPr>
              <a:t>In the complex form, negative frequency terms are also defined.</a:t>
            </a:r>
            <a:endParaRPr lang="en-GB" sz="1200" dirty="0">
              <a:latin typeface="Times New Roman" panose="02020603050405020304" pitchFamily="18" charset="0"/>
              <a:ea typeface="Times New Roman" panose="02020603050405020304" pitchFamily="18" charset="0"/>
            </a:endParaRPr>
          </a:p>
          <a:p>
            <a:pPr algn="just">
              <a:tabLst>
                <a:tab pos="381000" algn="l"/>
                <a:tab pos="3276600" algn="l"/>
              </a:tabLst>
            </a:pPr>
            <a:r>
              <a:rPr lang="en-GB" sz="1200" dirty="0">
                <a:solidFill>
                  <a:srgbClr val="002060"/>
                </a:solidFill>
                <a:latin typeface="Times New Roman" panose="02020603050405020304" pitchFamily="18" charset="0"/>
                <a:ea typeface="Times New Roman" panose="02020603050405020304" pitchFamily="18" charset="0"/>
              </a:rPr>
              <a:t>Using the trigonometric expressions</a:t>
            </a:r>
            <a:endParaRPr lang="en-GB" sz="1200" dirty="0">
              <a:latin typeface="Times New Roman" panose="02020603050405020304" pitchFamily="18" charset="0"/>
              <a:ea typeface="Times New Roman" panose="02020603050405020304" pitchFamily="18" charset="0"/>
            </a:endParaRPr>
          </a:p>
          <a:p>
            <a:pPr algn="just">
              <a:tabLst>
                <a:tab pos="381000" algn="l"/>
                <a:tab pos="3276600" algn="l"/>
              </a:tabLst>
            </a:pPr>
            <a:r>
              <a:rPr lang="en-GB" sz="1200" dirty="0">
                <a:solidFill>
                  <a:srgbClr val="002060"/>
                </a:solidFill>
                <a:latin typeface="Times New Roman" panose="02020603050405020304" pitchFamily="18" charset="0"/>
                <a:ea typeface="Times New Roman" panose="02020603050405020304" pitchFamily="18" charset="0"/>
              </a:rPr>
              <a:t>E to the power j theta = cos </a:t>
            </a:r>
            <a:r>
              <a:rPr lang="en-GB" sz="1200" dirty="0">
                <a:solidFill>
                  <a:srgbClr val="002060"/>
                </a:solidFill>
                <a:latin typeface="Symbol" panose="05050102010706020507" pitchFamily="18" charset="2"/>
                <a:ea typeface="Times New Roman" panose="02020603050405020304" pitchFamily="18" charset="0"/>
              </a:rPr>
              <a:t>theta</a:t>
            </a:r>
            <a:r>
              <a:rPr lang="en-GB" sz="1200" dirty="0">
                <a:solidFill>
                  <a:srgbClr val="002060"/>
                </a:solidFill>
                <a:latin typeface="Times New Roman" panose="02020603050405020304" pitchFamily="18" charset="0"/>
                <a:ea typeface="Times New Roman" panose="02020603050405020304" pitchFamily="18" charset="0"/>
              </a:rPr>
              <a:t> + j sin </a:t>
            </a:r>
            <a:r>
              <a:rPr lang="en-GB" sz="1200" dirty="0">
                <a:solidFill>
                  <a:srgbClr val="002060"/>
                </a:solidFill>
                <a:latin typeface="Symbol" panose="05050102010706020507" pitchFamily="18" charset="2"/>
                <a:ea typeface="Times New Roman" panose="02020603050405020304" pitchFamily="18" charset="0"/>
              </a:rPr>
              <a:t>theta   </a:t>
            </a:r>
            <a:r>
              <a:rPr lang="en-GB" sz="1200" dirty="0">
                <a:solidFill>
                  <a:srgbClr val="002060"/>
                </a:solidFill>
                <a:latin typeface="Times New Roman" panose="02020603050405020304" pitchFamily="18" charset="0"/>
                <a:ea typeface="Times New Roman" panose="02020603050405020304" pitchFamily="18" charset="0"/>
              </a:rPr>
              <a:t>and</a:t>
            </a:r>
            <a:r>
              <a:rPr lang="en-GB" sz="1200" dirty="0">
                <a:solidFill>
                  <a:srgbClr val="002060"/>
                </a:solidFill>
                <a:latin typeface="Symbol" panose="05050102010706020507" pitchFamily="18" charset="2"/>
                <a:ea typeface="Times New Roman" panose="02020603050405020304" pitchFamily="18" charset="0"/>
              </a:rPr>
              <a:t>  </a:t>
            </a:r>
            <a:r>
              <a:rPr lang="en-GB" sz="1200" dirty="0">
                <a:solidFill>
                  <a:srgbClr val="002060"/>
                </a:solidFill>
                <a:latin typeface="Times New Roman" panose="02020603050405020304" pitchFamily="18" charset="0"/>
                <a:ea typeface="Times New Roman" panose="02020603050405020304" pitchFamily="18" charset="0"/>
              </a:rPr>
              <a:t>e</a:t>
            </a:r>
            <a:r>
              <a:rPr lang="en-GB" sz="1200" baseline="0" dirty="0">
                <a:solidFill>
                  <a:srgbClr val="002060"/>
                </a:solidFill>
                <a:latin typeface="Times New Roman" panose="02020603050405020304" pitchFamily="18" charset="0"/>
                <a:ea typeface="Times New Roman" panose="02020603050405020304" pitchFamily="18" charset="0"/>
              </a:rPr>
              <a:t> </a:t>
            </a:r>
            <a:r>
              <a:rPr lang="en-GB" sz="1200" baseline="0" dirty="0">
                <a:solidFill>
                  <a:srgbClr val="002060"/>
                </a:solidFill>
                <a:latin typeface="Arial" panose="020B0604020202020204" pitchFamily="34" charset="0"/>
                <a:ea typeface="Times New Roman" panose="02020603050405020304" pitchFamily="18" charset="0"/>
              </a:rPr>
              <a:t>to the power minus j theta </a:t>
            </a:r>
            <a:r>
              <a:rPr lang="en-GB" sz="1200" dirty="0">
                <a:solidFill>
                  <a:srgbClr val="002060"/>
                </a:solidFill>
                <a:latin typeface="Times New Roman" panose="02020603050405020304" pitchFamily="18" charset="0"/>
                <a:ea typeface="Times New Roman" panose="02020603050405020304" pitchFamily="18" charset="0"/>
              </a:rPr>
              <a:t> = cos </a:t>
            </a:r>
            <a:r>
              <a:rPr lang="en-GB" sz="1200" dirty="0">
                <a:solidFill>
                  <a:srgbClr val="002060"/>
                </a:solidFill>
                <a:latin typeface="Symbol" panose="05050102010706020507" pitchFamily="18" charset="2"/>
                <a:ea typeface="Times New Roman" panose="02020603050405020304" pitchFamily="18" charset="0"/>
              </a:rPr>
              <a:t>theta</a:t>
            </a:r>
            <a:r>
              <a:rPr lang="en-GB" sz="1200" dirty="0">
                <a:solidFill>
                  <a:srgbClr val="002060"/>
                </a:solidFill>
                <a:latin typeface="Times New Roman" panose="02020603050405020304" pitchFamily="18" charset="0"/>
                <a:ea typeface="Times New Roman" panose="02020603050405020304" pitchFamily="18" charset="0"/>
              </a:rPr>
              <a:t> </a:t>
            </a:r>
            <a:r>
              <a:rPr lang="en-GB" sz="1200" dirty="0">
                <a:solidFill>
                  <a:srgbClr val="002060"/>
                </a:solidFill>
                <a:latin typeface="Arial" panose="020B0604020202020204" pitchFamily="34" charset="0"/>
                <a:ea typeface="Times New Roman" panose="02020603050405020304" pitchFamily="18" charset="0"/>
              </a:rPr>
              <a:t>–</a:t>
            </a:r>
            <a:r>
              <a:rPr lang="en-GB" sz="1200" dirty="0">
                <a:solidFill>
                  <a:srgbClr val="002060"/>
                </a:solidFill>
                <a:latin typeface="Times New Roman" panose="02020603050405020304" pitchFamily="18" charset="0"/>
                <a:ea typeface="Times New Roman" panose="02020603050405020304" pitchFamily="18" charset="0"/>
              </a:rPr>
              <a:t> j sin </a:t>
            </a:r>
            <a:r>
              <a:rPr lang="en-GB" sz="1200" dirty="0">
                <a:solidFill>
                  <a:srgbClr val="002060"/>
                </a:solidFill>
                <a:latin typeface="Symbol" panose="05050102010706020507" pitchFamily="18" charset="2"/>
                <a:ea typeface="Times New Roman" panose="02020603050405020304" pitchFamily="18" charset="0"/>
              </a:rPr>
              <a:t>theta</a:t>
            </a:r>
            <a:endParaRPr lang="en-GB" sz="1200" dirty="0">
              <a:latin typeface="Times New Roman" panose="02020603050405020304" pitchFamily="18" charset="0"/>
              <a:ea typeface="Times New Roman" panose="02020603050405020304" pitchFamily="18" charset="0"/>
            </a:endParaRPr>
          </a:p>
          <a:p>
            <a:r>
              <a:rPr lang="en-GB" sz="1200" dirty="0">
                <a:solidFill>
                  <a:srgbClr val="002060"/>
                </a:solidFill>
                <a:latin typeface="Times New Roman" panose="02020603050405020304" pitchFamily="18" charset="0"/>
                <a:ea typeface="Times New Roman" panose="02020603050405020304" pitchFamily="18" charset="0"/>
              </a:rPr>
              <a:t>Now the Fourier series may be written in complex form.</a:t>
            </a:r>
            <a:endParaRPr lang="en-GB" sz="1200" dirty="0"/>
          </a:p>
        </p:txBody>
      </p:sp>
      <p:sp>
        <p:nvSpPr>
          <p:cNvPr id="4" name="Slide Number Placeholder 3"/>
          <p:cNvSpPr>
            <a:spLocks noGrp="1"/>
          </p:cNvSpPr>
          <p:nvPr>
            <p:ph type="sldNum" sz="quarter" idx="5"/>
          </p:nvPr>
        </p:nvSpPr>
        <p:spPr/>
        <p:txBody>
          <a:bodyPr/>
          <a:lstStyle/>
          <a:p>
            <a:fld id="{2FC4AAFD-141F-4056-A367-1845A08BF131}" type="slidenum">
              <a:rPr lang="en-GB" smtClean="0"/>
              <a:t>73</a:t>
            </a:fld>
            <a:endParaRPr lang="en-GB"/>
          </a:p>
        </p:txBody>
      </p:sp>
    </p:spTree>
    <p:extLst>
      <p:ext uri="{BB962C8B-B14F-4D97-AF65-F5344CB8AC3E}">
        <p14:creationId xmlns:p14="http://schemas.microsoft.com/office/powerpoint/2010/main" val="118132820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not explain the individual steps, but will leave it for you to figure out.</a:t>
            </a:r>
          </a:p>
          <a:p>
            <a:r>
              <a:rPr lang="en-US" dirty="0"/>
              <a:t>It must be noted that we now define a new term Cn which is half the sum of An and minus j Bn.</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74</a:t>
            </a:fld>
            <a:endParaRPr lang="en-GB"/>
          </a:p>
        </p:txBody>
      </p:sp>
    </p:spTree>
    <p:extLst>
      <p:ext uri="{BB962C8B-B14F-4D97-AF65-F5344CB8AC3E}">
        <p14:creationId xmlns:p14="http://schemas.microsoft.com/office/powerpoint/2010/main" val="402317404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can be easily seen that C zero corresponds to A zero by 2 and that C minus n corresponds to half the sum of An and j Bn</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75</a:t>
            </a:fld>
            <a:endParaRPr lang="en-GB"/>
          </a:p>
        </p:txBody>
      </p:sp>
    </p:spTree>
    <p:extLst>
      <p:ext uri="{BB962C8B-B14F-4D97-AF65-F5344CB8AC3E}">
        <p14:creationId xmlns:p14="http://schemas.microsoft.com/office/powerpoint/2010/main" val="19962236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Combining terms, the Fourier series may be written in complex form as</a:t>
            </a:r>
          </a:p>
          <a:p>
            <a:r>
              <a:rPr lang="en-US" dirty="0"/>
              <a:t>f(t) equals sum from minus infinity to plus infinity of Cn e to the power of j n omega zero t</a:t>
            </a:r>
          </a:p>
          <a:p>
            <a:r>
              <a:rPr lang="en-US" dirty="0"/>
              <a:t>and the Fourier coefficient Cn can be calculated from one </a:t>
            </a:r>
            <a:r>
              <a:rPr lang="en-US" dirty="0" err="1"/>
              <a:t>ove</a:t>
            </a:r>
            <a:r>
              <a:rPr lang="en-US" dirty="0"/>
              <a:t> T integral t to t + capital T integral over a cycle of ft(t) time e to the power of –j n omega t times dt </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76</a:t>
            </a:fld>
            <a:endParaRPr lang="en-GB"/>
          </a:p>
        </p:txBody>
      </p:sp>
    </p:spTree>
    <p:extLst>
      <p:ext uri="{BB962C8B-B14F-4D97-AF65-F5344CB8AC3E}">
        <p14:creationId xmlns:p14="http://schemas.microsoft.com/office/powerpoint/2010/main" val="410723381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Determination of the complex form of the Fourier series and the Fourier coefficients are shown.</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77</a:t>
            </a:fld>
            <a:endParaRPr lang="en-GB"/>
          </a:p>
        </p:txBody>
      </p:sp>
    </p:spTree>
    <p:extLst>
      <p:ext uri="{BB962C8B-B14F-4D97-AF65-F5344CB8AC3E}">
        <p14:creationId xmlns:p14="http://schemas.microsoft.com/office/powerpoint/2010/main" val="16524337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988DE-CD73-4994-BB42-9A633DA0AB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D8D3E0B-20EC-4D0C-BDEC-5F64CC445C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30574F8-A3DB-48D2-9728-3D6E3664C354}"/>
              </a:ext>
            </a:extLst>
          </p:cNvPr>
          <p:cNvSpPr>
            <a:spLocks noGrp="1"/>
          </p:cNvSpPr>
          <p:nvPr>
            <p:ph type="dt" sz="half" idx="10"/>
          </p:nvPr>
        </p:nvSpPr>
        <p:spPr/>
        <p:txBody>
          <a:bodyPr/>
          <a:lstStyle/>
          <a:p>
            <a:fld id="{63DC8808-64BE-459B-935E-D1C096534883}" type="datetimeFigureOut">
              <a:rPr lang="en-GB" smtClean="0"/>
              <a:t>28/07/2021</a:t>
            </a:fld>
            <a:endParaRPr lang="en-GB"/>
          </a:p>
        </p:txBody>
      </p:sp>
      <p:sp>
        <p:nvSpPr>
          <p:cNvPr id="5" name="Footer Placeholder 4">
            <a:extLst>
              <a:ext uri="{FF2B5EF4-FFF2-40B4-BE49-F238E27FC236}">
                <a16:creationId xmlns:a16="http://schemas.microsoft.com/office/drawing/2014/main" id="{93EC6304-CDC6-49A6-B285-393CB01859A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0CA9079-5455-4256-A07C-9493AC33F466}"/>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3606975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F90CB-4690-4A91-8AF9-083DC561B09F}"/>
              </a:ext>
            </a:extLst>
          </p:cNvPr>
          <p:cNvSpPr>
            <a:spLocks noGrp="1"/>
          </p:cNvSpPr>
          <p:nvPr>
            <p:ph type="title"/>
          </p:nvPr>
        </p:nvSpPr>
        <p:spPr>
          <a:xfrm>
            <a:off x="429715" y="634543"/>
            <a:ext cx="10924085" cy="482745"/>
          </a:xfrm>
        </p:spPr>
        <p:txBody>
          <a:bodyPr>
            <a:normAutofit/>
          </a:bodyPr>
          <a:lstStyle>
            <a:lvl1pPr algn="ctr">
              <a:defRPr sz="3200" b="1">
                <a:solidFill>
                  <a:srgbClr val="C00000"/>
                </a:solidFill>
                <a:latin typeface="Times New Roman" panose="02020603050405020304" pitchFamily="18" charset="0"/>
                <a:cs typeface="Times New Roman" panose="02020603050405020304" pitchFamily="18"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40584F62-959D-4731-9C9B-E08757CDB6EE}"/>
              </a:ext>
            </a:extLst>
          </p:cNvPr>
          <p:cNvSpPr>
            <a:spLocks noGrp="1"/>
          </p:cNvSpPr>
          <p:nvPr>
            <p:ph idx="1"/>
          </p:nvPr>
        </p:nvSpPr>
        <p:spPr>
          <a:xfrm>
            <a:off x="429715" y="1208323"/>
            <a:ext cx="11360503" cy="4024078"/>
          </a:xfrm>
        </p:spPr>
        <p:txBody>
          <a:bodyPr>
            <a:normAutofit/>
          </a:bodyPr>
          <a:lstStyle>
            <a:lvl1pPr>
              <a:defRPr sz="3600">
                <a:solidFill>
                  <a:srgbClr val="002060"/>
                </a:solidFill>
              </a:defRPr>
            </a:lvl1pPr>
            <a:lvl2pPr>
              <a:defRPr sz="3200">
                <a:solidFill>
                  <a:srgbClr val="002060"/>
                </a:solidFill>
              </a:defRPr>
            </a:lvl2pPr>
            <a:lvl3pPr>
              <a:defRPr sz="2800">
                <a:solidFill>
                  <a:srgbClr val="002060"/>
                </a:solidFill>
              </a:defRPr>
            </a:lvl3pPr>
            <a:lvl4pPr>
              <a:defRPr sz="2400">
                <a:solidFill>
                  <a:srgbClr val="002060"/>
                </a:solidFill>
              </a:defRPr>
            </a:lvl4pPr>
            <a:lvl5pPr>
              <a:defRPr sz="2400">
                <a:solidFill>
                  <a:srgbClr val="00206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object 2">
            <a:extLst>
              <a:ext uri="{FF2B5EF4-FFF2-40B4-BE49-F238E27FC236}">
                <a16:creationId xmlns:a16="http://schemas.microsoft.com/office/drawing/2014/main" id="{B1DDA2E2-A596-4428-8BCB-4DAC8028B274}"/>
              </a:ext>
            </a:extLst>
          </p:cNvPr>
          <p:cNvSpPr txBox="1"/>
          <p:nvPr userDrawn="1"/>
        </p:nvSpPr>
        <p:spPr>
          <a:xfrm>
            <a:off x="566702" y="313267"/>
            <a:ext cx="8989252" cy="230242"/>
          </a:xfrm>
          <a:prstGeom prst="rect">
            <a:avLst/>
          </a:prstGeom>
        </p:spPr>
        <p:txBody>
          <a:bodyPr vert="horz" wrap="square" lIns="0" tIns="11289" rIns="0" bIns="0" rtlCol="0">
            <a:spAutoFit/>
          </a:bodyPr>
          <a:lstStyle/>
          <a:p>
            <a:pPr marL="11289" marR="0" lvl="0" indent="0" algn="l" defTabSz="914400" rtl="0" eaLnBrk="1" fontAlgn="auto" latinLnBrk="0" hangingPunct="1">
              <a:lnSpc>
                <a:spcPct val="100000"/>
              </a:lnSpc>
              <a:spcBef>
                <a:spcPts val="89"/>
              </a:spcBef>
              <a:spcAft>
                <a:spcPts val="0"/>
              </a:spcAft>
              <a:buClrTx/>
              <a:buSzTx/>
              <a:buFontTx/>
              <a:buNone/>
              <a:tabLst>
                <a:tab pos="4765664" algn="l"/>
              </a:tabLst>
              <a:defRPr/>
            </a:pPr>
            <a:r>
              <a:rPr kumimoji="0" sz="1422" b="0" i="0" u="none" strike="noStrike" kern="1200" cap="none" spc="-4" normalizeH="0" baseline="0" noProof="0" dirty="0">
                <a:ln>
                  <a:noFill/>
                </a:ln>
                <a:solidFill>
                  <a:prstClr val="black"/>
                </a:solidFill>
                <a:effectLst/>
                <a:uLnTx/>
                <a:uFillTx/>
                <a:latin typeface="Arial"/>
                <a:ea typeface="+mn-ea"/>
                <a:cs typeface="Arial"/>
              </a:rPr>
              <a:t>EE </a:t>
            </a:r>
            <a:r>
              <a:rPr kumimoji="0" sz="1422" b="0" i="0" u="none" strike="noStrike" kern="1200" cap="none" spc="-9" normalizeH="0" baseline="0" noProof="0" dirty="0">
                <a:ln>
                  <a:noFill/>
                </a:ln>
                <a:solidFill>
                  <a:prstClr val="black"/>
                </a:solidFill>
                <a:effectLst/>
                <a:uLnTx/>
                <a:uFillTx/>
                <a:latin typeface="Arial"/>
                <a:ea typeface="+mn-ea"/>
                <a:cs typeface="Arial"/>
              </a:rPr>
              <a:t>1</a:t>
            </a:r>
            <a:r>
              <a:rPr kumimoji="0" lang="en-US" sz="1422" b="0" i="0" u="none" strike="noStrike" kern="1200" cap="none" spc="-9" normalizeH="0" baseline="0" noProof="0" dirty="0">
                <a:ln>
                  <a:noFill/>
                </a:ln>
                <a:solidFill>
                  <a:prstClr val="black"/>
                </a:solidFill>
                <a:effectLst/>
                <a:uLnTx/>
                <a:uFillTx/>
                <a:latin typeface="Arial"/>
                <a:ea typeface="+mn-ea"/>
                <a:cs typeface="Arial"/>
              </a:rPr>
              <a:t>203Theory of Electricity</a:t>
            </a:r>
            <a:r>
              <a:rPr kumimoji="0" sz="1422" b="0" i="0" u="none" strike="noStrike" kern="1200" cap="none" spc="-13" normalizeH="0" baseline="0" noProof="0" dirty="0">
                <a:ln>
                  <a:noFill/>
                </a:ln>
                <a:solidFill>
                  <a:prstClr val="black"/>
                </a:solidFill>
                <a:effectLst/>
                <a:uLnTx/>
                <a:uFillTx/>
                <a:latin typeface="Arial"/>
                <a:ea typeface="+mn-ea"/>
                <a:cs typeface="Arial"/>
              </a:rPr>
              <a:t>	</a:t>
            </a:r>
            <a:r>
              <a:rPr kumimoji="0" lang="en-US" sz="1422" b="0" i="0" u="none" strike="noStrike" kern="1200" cap="none" spc="-4" normalizeH="0" baseline="0" noProof="0" dirty="0">
                <a:ln>
                  <a:noFill/>
                </a:ln>
                <a:solidFill>
                  <a:prstClr val="black"/>
                </a:solidFill>
                <a:effectLst/>
                <a:uLnTx/>
                <a:uFillTx/>
                <a:latin typeface="Arial"/>
                <a:ea typeface="+mn-ea"/>
                <a:cs typeface="Arial"/>
              </a:rPr>
              <a:t>Fourier Analysis</a:t>
            </a:r>
            <a:endParaRPr kumimoji="0" sz="1422" b="0" i="0" u="none" strike="noStrike" kern="1200" cap="none" spc="0" normalizeH="0" baseline="0" noProof="0" dirty="0">
              <a:ln>
                <a:noFill/>
              </a:ln>
              <a:solidFill>
                <a:prstClr val="black"/>
              </a:solidFill>
              <a:effectLst/>
              <a:uLnTx/>
              <a:uFillTx/>
              <a:latin typeface="Arial"/>
              <a:ea typeface="+mn-ea"/>
              <a:cs typeface="Arial"/>
            </a:endParaRPr>
          </a:p>
        </p:txBody>
      </p:sp>
      <p:sp>
        <p:nvSpPr>
          <p:cNvPr id="8" name="object 17">
            <a:extLst>
              <a:ext uri="{FF2B5EF4-FFF2-40B4-BE49-F238E27FC236}">
                <a16:creationId xmlns:a16="http://schemas.microsoft.com/office/drawing/2014/main" id="{D9290862-A2B6-4690-8DD9-3E247011FE75}"/>
              </a:ext>
            </a:extLst>
          </p:cNvPr>
          <p:cNvSpPr txBox="1">
            <a:spLocks/>
          </p:cNvSpPr>
          <p:nvPr userDrawn="1"/>
        </p:nvSpPr>
        <p:spPr>
          <a:xfrm>
            <a:off x="429714" y="6630501"/>
            <a:ext cx="3340181" cy="169277"/>
          </a:xfrm>
          <a:prstGeom prst="rect">
            <a:avLst/>
          </a:prstGeom>
        </p:spPr>
        <p:txBody>
          <a:bodyPr vert="horz" wrap="square" lIns="0" tIns="0" rIns="0" bIns="0" rtlCol="0" anchor="ctr">
            <a:spAutoFit/>
          </a:bodyPr>
          <a:lstStyle>
            <a:defPPr>
              <a:defRPr lang="en-US"/>
            </a:defPPr>
            <a:lvl1pPr marL="0" algn="l" defTabSz="914400" rtl="0" eaLnBrk="1" latinLnBrk="0" hangingPunct="1">
              <a:defRPr sz="8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89">
              <a:spcBef>
                <a:spcPts val="22"/>
              </a:spcBef>
            </a:pPr>
            <a:r>
              <a:rPr lang="en-US" sz="1100" spc="-5" dirty="0" err="1">
                <a:solidFill>
                  <a:prstClr val="black"/>
                </a:solidFill>
              </a:rPr>
              <a:t>KDU</a:t>
            </a:r>
            <a:r>
              <a:rPr lang="en-US" sz="1100" spc="-5" dirty="0">
                <a:solidFill>
                  <a:prstClr val="black"/>
                </a:solidFill>
              </a:rPr>
              <a:t> </a:t>
            </a:r>
            <a:r>
              <a:rPr lang="en-US" sz="1100" dirty="0">
                <a:solidFill>
                  <a:prstClr val="black"/>
                </a:solidFill>
              </a:rPr>
              <a:t>– </a:t>
            </a:r>
            <a:r>
              <a:rPr lang="en-US" sz="1100" spc="-10" dirty="0">
                <a:solidFill>
                  <a:prstClr val="black"/>
                </a:solidFill>
              </a:rPr>
              <a:t>Prepared </a:t>
            </a:r>
            <a:r>
              <a:rPr lang="en-US" sz="1100" spc="-5" dirty="0">
                <a:solidFill>
                  <a:prstClr val="black"/>
                </a:solidFill>
              </a:rPr>
              <a:t>by Prof </a:t>
            </a:r>
            <a:r>
              <a:rPr lang="en-US" sz="1100" dirty="0">
                <a:solidFill>
                  <a:prstClr val="black"/>
                </a:solidFill>
              </a:rPr>
              <a:t>J R</a:t>
            </a:r>
            <a:r>
              <a:rPr lang="en-US" sz="1100" spc="-155" dirty="0">
                <a:solidFill>
                  <a:prstClr val="black"/>
                </a:solidFill>
              </a:rPr>
              <a:t> </a:t>
            </a:r>
            <a:r>
              <a:rPr lang="en-US" sz="1100" spc="-10" dirty="0">
                <a:solidFill>
                  <a:prstClr val="black"/>
                </a:solidFill>
              </a:rPr>
              <a:t>Lucas/September2020</a:t>
            </a:r>
            <a:endParaRPr lang="en-US" sz="3600" spc="-9" dirty="0">
              <a:solidFill>
                <a:prstClr val="black"/>
              </a:solidFill>
            </a:endParaRPr>
          </a:p>
        </p:txBody>
      </p:sp>
      <p:pic>
        <p:nvPicPr>
          <p:cNvPr id="9" name="Picture 8" descr="A close up of a logo&#10;&#10;Description automatically generated">
            <a:extLst>
              <a:ext uri="{FF2B5EF4-FFF2-40B4-BE49-F238E27FC236}">
                <a16:creationId xmlns:a16="http://schemas.microsoft.com/office/drawing/2014/main" id="{BFB1319B-F2FE-4D02-B2A1-51D353FC80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04309" y="138184"/>
            <a:ext cx="1051611" cy="795982"/>
          </a:xfrm>
          <a:prstGeom prst="rect">
            <a:avLst/>
          </a:prstGeom>
        </p:spPr>
      </p:pic>
      <p:sp>
        <p:nvSpPr>
          <p:cNvPr id="10" name="Slide Number Placeholder 3">
            <a:extLst>
              <a:ext uri="{FF2B5EF4-FFF2-40B4-BE49-F238E27FC236}">
                <a16:creationId xmlns:a16="http://schemas.microsoft.com/office/drawing/2014/main" id="{E3A613AA-8F10-44E5-AAA9-2159C98886DB}"/>
              </a:ext>
            </a:extLst>
          </p:cNvPr>
          <p:cNvSpPr txBox="1">
            <a:spLocks/>
          </p:cNvSpPr>
          <p:nvPr userDrawn="1"/>
        </p:nvSpPr>
        <p:spPr>
          <a:xfrm>
            <a:off x="11637817" y="110691"/>
            <a:ext cx="512853" cy="30776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7F8B81-7D3C-44E4-9993-3F1024D0C961}" type="slidenum">
              <a:rPr lang="en-GB" sz="1400" smtClean="0"/>
              <a:pPr/>
              <a:t>‹#›</a:t>
            </a:fld>
            <a:endParaRPr lang="en-GB" sz="1400" dirty="0"/>
          </a:p>
        </p:txBody>
      </p:sp>
      <p:pic>
        <p:nvPicPr>
          <p:cNvPr id="11" name="Picture 10">
            <a:extLst>
              <a:ext uri="{FF2B5EF4-FFF2-40B4-BE49-F238E27FC236}">
                <a16:creationId xmlns:a16="http://schemas.microsoft.com/office/drawing/2014/main" id="{86902206-91A7-4F27-8D6F-DA5FC0BA6DA7}"/>
              </a:ext>
            </a:extLst>
          </p:cNvPr>
          <p:cNvPicPr>
            <a:picLocks noChangeAspect="1"/>
          </p:cNvPicPr>
          <p:nvPr userDrawn="1"/>
        </p:nvPicPr>
        <p:blipFill>
          <a:blip r:embed="rId3"/>
          <a:stretch>
            <a:fillRect/>
          </a:stretch>
        </p:blipFill>
        <p:spPr>
          <a:xfrm>
            <a:off x="10019169" y="5232400"/>
            <a:ext cx="2172831" cy="1625600"/>
          </a:xfrm>
          <a:prstGeom prst="rect">
            <a:avLst/>
          </a:prstGeom>
        </p:spPr>
      </p:pic>
    </p:spTree>
    <p:extLst>
      <p:ext uri="{BB962C8B-B14F-4D97-AF65-F5344CB8AC3E}">
        <p14:creationId xmlns:p14="http://schemas.microsoft.com/office/powerpoint/2010/main" val="1860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25FC7-0220-494A-9380-3FBEF410EB0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71E399F-8B54-4C68-AA8A-F518B4A436A8}"/>
              </a:ext>
            </a:extLst>
          </p:cNvPr>
          <p:cNvSpPr>
            <a:spLocks noGrp="1"/>
          </p:cNvSpPr>
          <p:nvPr>
            <p:ph type="dt" sz="half" idx="10"/>
          </p:nvPr>
        </p:nvSpPr>
        <p:spPr/>
        <p:txBody>
          <a:bodyPr/>
          <a:lstStyle/>
          <a:p>
            <a:fld id="{63DC8808-64BE-459B-935E-D1C096534883}" type="datetimeFigureOut">
              <a:rPr lang="en-GB" smtClean="0"/>
              <a:t>28/07/2021</a:t>
            </a:fld>
            <a:endParaRPr lang="en-GB"/>
          </a:p>
        </p:txBody>
      </p:sp>
      <p:sp>
        <p:nvSpPr>
          <p:cNvPr id="4" name="Footer Placeholder 3">
            <a:extLst>
              <a:ext uri="{FF2B5EF4-FFF2-40B4-BE49-F238E27FC236}">
                <a16:creationId xmlns:a16="http://schemas.microsoft.com/office/drawing/2014/main" id="{D6E1D7DB-7938-42F5-8AC4-1A18F581501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50C3806-1652-46C9-A784-4DC2410C107A}"/>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1780831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33952-F54C-43E4-819D-E16478102B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4774AF4-CC19-45AD-BA31-BED4748D7D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C6F291-4585-4782-8547-310F87E4A927}"/>
              </a:ext>
            </a:extLst>
          </p:cNvPr>
          <p:cNvSpPr>
            <a:spLocks noGrp="1"/>
          </p:cNvSpPr>
          <p:nvPr>
            <p:ph type="dt" sz="half" idx="10"/>
          </p:nvPr>
        </p:nvSpPr>
        <p:spPr/>
        <p:txBody>
          <a:bodyPr/>
          <a:lstStyle/>
          <a:p>
            <a:fld id="{63DC8808-64BE-459B-935E-D1C096534883}" type="datetimeFigureOut">
              <a:rPr lang="en-GB" smtClean="0"/>
              <a:t>28/07/2021</a:t>
            </a:fld>
            <a:endParaRPr lang="en-GB"/>
          </a:p>
        </p:txBody>
      </p:sp>
      <p:sp>
        <p:nvSpPr>
          <p:cNvPr id="5" name="Footer Placeholder 4">
            <a:extLst>
              <a:ext uri="{FF2B5EF4-FFF2-40B4-BE49-F238E27FC236}">
                <a16:creationId xmlns:a16="http://schemas.microsoft.com/office/drawing/2014/main" id="{BA2327DE-B30C-42C9-B7F5-4107AFDD022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B1C9D24-28C4-4CDF-82AB-BFFA36B7DE53}"/>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4043218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80785-4E88-4CA2-86E1-86F019D306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105146F-9A20-4634-9640-DB923FED5F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F7E1E9F-3BB5-44DD-A7F5-F54E36A6A1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130C717-C07F-4031-A0F0-BAE1EEFCA19E}"/>
              </a:ext>
            </a:extLst>
          </p:cNvPr>
          <p:cNvSpPr>
            <a:spLocks noGrp="1"/>
          </p:cNvSpPr>
          <p:nvPr>
            <p:ph type="dt" sz="half" idx="10"/>
          </p:nvPr>
        </p:nvSpPr>
        <p:spPr/>
        <p:txBody>
          <a:bodyPr/>
          <a:lstStyle/>
          <a:p>
            <a:fld id="{63DC8808-64BE-459B-935E-D1C096534883}" type="datetimeFigureOut">
              <a:rPr lang="en-GB" smtClean="0"/>
              <a:t>28/07/2021</a:t>
            </a:fld>
            <a:endParaRPr lang="en-GB"/>
          </a:p>
        </p:txBody>
      </p:sp>
      <p:sp>
        <p:nvSpPr>
          <p:cNvPr id="6" name="Footer Placeholder 5">
            <a:extLst>
              <a:ext uri="{FF2B5EF4-FFF2-40B4-BE49-F238E27FC236}">
                <a16:creationId xmlns:a16="http://schemas.microsoft.com/office/drawing/2014/main" id="{DF3FA273-9C20-4607-AD9E-99C9F5690FF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E807630-0514-4117-81AB-6B4018D24186}"/>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3457340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AC5A7-54A7-4DDC-BB19-624450B5FC2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E2D6B91-9629-487B-AA04-CDED3F814C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71CE11-EE39-4B9B-925C-25BE906A88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ACF800F-415A-4BE4-9485-23101109D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2BBA2A-D453-44D5-90E0-47E5362B07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7280A6E-D560-419B-A121-807D0C7518D4}"/>
              </a:ext>
            </a:extLst>
          </p:cNvPr>
          <p:cNvSpPr>
            <a:spLocks noGrp="1"/>
          </p:cNvSpPr>
          <p:nvPr>
            <p:ph type="dt" sz="half" idx="10"/>
          </p:nvPr>
        </p:nvSpPr>
        <p:spPr/>
        <p:txBody>
          <a:bodyPr/>
          <a:lstStyle/>
          <a:p>
            <a:fld id="{63DC8808-64BE-459B-935E-D1C096534883}" type="datetimeFigureOut">
              <a:rPr lang="en-GB" smtClean="0"/>
              <a:t>28/07/2021</a:t>
            </a:fld>
            <a:endParaRPr lang="en-GB"/>
          </a:p>
        </p:txBody>
      </p:sp>
      <p:sp>
        <p:nvSpPr>
          <p:cNvPr id="8" name="Footer Placeholder 7">
            <a:extLst>
              <a:ext uri="{FF2B5EF4-FFF2-40B4-BE49-F238E27FC236}">
                <a16:creationId xmlns:a16="http://schemas.microsoft.com/office/drawing/2014/main" id="{8109A7F8-AD71-4A41-A741-E440CD2CEF9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50BB6CE-2807-4B5B-B8BB-E21F862A1A51}"/>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3240378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D43D5-1AD2-44DC-A040-294715C3334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98D243E-AF43-4039-89E5-CF4D885269C5}"/>
              </a:ext>
            </a:extLst>
          </p:cNvPr>
          <p:cNvSpPr>
            <a:spLocks noGrp="1"/>
          </p:cNvSpPr>
          <p:nvPr>
            <p:ph type="dt" sz="half" idx="10"/>
          </p:nvPr>
        </p:nvSpPr>
        <p:spPr/>
        <p:txBody>
          <a:bodyPr/>
          <a:lstStyle/>
          <a:p>
            <a:fld id="{63DC8808-64BE-459B-935E-D1C096534883}" type="datetimeFigureOut">
              <a:rPr lang="en-GB" smtClean="0"/>
              <a:t>28/07/2021</a:t>
            </a:fld>
            <a:endParaRPr lang="en-GB"/>
          </a:p>
        </p:txBody>
      </p:sp>
      <p:sp>
        <p:nvSpPr>
          <p:cNvPr id="4" name="Footer Placeholder 3">
            <a:extLst>
              <a:ext uri="{FF2B5EF4-FFF2-40B4-BE49-F238E27FC236}">
                <a16:creationId xmlns:a16="http://schemas.microsoft.com/office/drawing/2014/main" id="{A717C297-C40C-44D3-8032-A4875A955BC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81CF6B9-3852-4AB0-9E24-47771C0EECFA}"/>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2347102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C6DF0A-F9D7-4518-84D5-290CE4454CBF}"/>
              </a:ext>
            </a:extLst>
          </p:cNvPr>
          <p:cNvSpPr>
            <a:spLocks noGrp="1"/>
          </p:cNvSpPr>
          <p:nvPr>
            <p:ph type="dt" sz="half" idx="10"/>
          </p:nvPr>
        </p:nvSpPr>
        <p:spPr/>
        <p:txBody>
          <a:bodyPr/>
          <a:lstStyle/>
          <a:p>
            <a:fld id="{63DC8808-64BE-459B-935E-D1C096534883}" type="datetimeFigureOut">
              <a:rPr lang="en-GB" smtClean="0"/>
              <a:t>28/07/2021</a:t>
            </a:fld>
            <a:endParaRPr lang="en-GB"/>
          </a:p>
        </p:txBody>
      </p:sp>
      <p:sp>
        <p:nvSpPr>
          <p:cNvPr id="3" name="Footer Placeholder 2">
            <a:extLst>
              <a:ext uri="{FF2B5EF4-FFF2-40B4-BE49-F238E27FC236}">
                <a16:creationId xmlns:a16="http://schemas.microsoft.com/office/drawing/2014/main" id="{42CD8973-3D6F-42B1-A1AA-89176276B61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B6E5179-0F07-4B63-A286-490693193B56}"/>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3404538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BBA1F-9150-473A-8179-BB707ACC0D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417237B-6B76-456F-A365-74A8010A5A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7CD164E-D222-4FEB-B058-997535A224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1AD164-BB85-4771-B7C0-3CEEC9A35222}"/>
              </a:ext>
            </a:extLst>
          </p:cNvPr>
          <p:cNvSpPr>
            <a:spLocks noGrp="1"/>
          </p:cNvSpPr>
          <p:nvPr>
            <p:ph type="dt" sz="half" idx="10"/>
          </p:nvPr>
        </p:nvSpPr>
        <p:spPr/>
        <p:txBody>
          <a:bodyPr/>
          <a:lstStyle/>
          <a:p>
            <a:fld id="{63DC8808-64BE-459B-935E-D1C096534883}" type="datetimeFigureOut">
              <a:rPr lang="en-GB" smtClean="0"/>
              <a:t>28/07/2021</a:t>
            </a:fld>
            <a:endParaRPr lang="en-GB"/>
          </a:p>
        </p:txBody>
      </p:sp>
      <p:sp>
        <p:nvSpPr>
          <p:cNvPr id="6" name="Footer Placeholder 5">
            <a:extLst>
              <a:ext uri="{FF2B5EF4-FFF2-40B4-BE49-F238E27FC236}">
                <a16:creationId xmlns:a16="http://schemas.microsoft.com/office/drawing/2014/main" id="{F91253B4-F02B-474A-B457-522B68AB95D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1D8DA2B-F10B-4BE0-A4CB-E0D3DF97A64F}"/>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1058168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E355D-14D5-4CE8-BB15-D9137835D5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50DCF38-A697-4AC3-AFA1-21F44E5ECA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8F2E1C3-C4B0-4713-BDD3-7F6ADF9460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B44945-6CC2-49CB-9F2B-64AF3DFF25BB}"/>
              </a:ext>
            </a:extLst>
          </p:cNvPr>
          <p:cNvSpPr>
            <a:spLocks noGrp="1"/>
          </p:cNvSpPr>
          <p:nvPr>
            <p:ph type="dt" sz="half" idx="10"/>
          </p:nvPr>
        </p:nvSpPr>
        <p:spPr/>
        <p:txBody>
          <a:bodyPr/>
          <a:lstStyle/>
          <a:p>
            <a:fld id="{63DC8808-64BE-459B-935E-D1C096534883}" type="datetimeFigureOut">
              <a:rPr lang="en-GB" smtClean="0"/>
              <a:t>28/07/2021</a:t>
            </a:fld>
            <a:endParaRPr lang="en-GB"/>
          </a:p>
        </p:txBody>
      </p:sp>
      <p:sp>
        <p:nvSpPr>
          <p:cNvPr id="6" name="Footer Placeholder 5">
            <a:extLst>
              <a:ext uri="{FF2B5EF4-FFF2-40B4-BE49-F238E27FC236}">
                <a16:creationId xmlns:a16="http://schemas.microsoft.com/office/drawing/2014/main" id="{DA813277-DD44-44D3-956A-3948B0CF70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139D035-B381-4A65-98B9-23F2454C6F35}"/>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1226167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6D4A1-573C-456E-BAEE-0617E37674F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CA35CBB-1999-49D0-BC17-D62602C06D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7A771CE-65C1-49EF-9BB0-45D9315044A7}"/>
              </a:ext>
            </a:extLst>
          </p:cNvPr>
          <p:cNvSpPr>
            <a:spLocks noGrp="1"/>
          </p:cNvSpPr>
          <p:nvPr>
            <p:ph type="dt" sz="half" idx="10"/>
          </p:nvPr>
        </p:nvSpPr>
        <p:spPr/>
        <p:txBody>
          <a:bodyPr/>
          <a:lstStyle/>
          <a:p>
            <a:fld id="{63DC8808-64BE-459B-935E-D1C096534883}" type="datetimeFigureOut">
              <a:rPr lang="en-GB" smtClean="0"/>
              <a:t>28/07/2021</a:t>
            </a:fld>
            <a:endParaRPr lang="en-GB"/>
          </a:p>
        </p:txBody>
      </p:sp>
      <p:sp>
        <p:nvSpPr>
          <p:cNvPr id="5" name="Footer Placeholder 4">
            <a:extLst>
              <a:ext uri="{FF2B5EF4-FFF2-40B4-BE49-F238E27FC236}">
                <a16:creationId xmlns:a16="http://schemas.microsoft.com/office/drawing/2014/main" id="{DC07AAD9-C744-4ED3-9B87-A10F28CC6F4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D01EE95-F3AB-4292-B883-9FAD20BD7E9D}"/>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1108174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7A9D67-6881-40C8-BAAE-17422572D0E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B0F3D56-53A9-471F-A0FB-A30BC215A6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4532E34-4E88-42F4-8442-4C31BEEA8360}"/>
              </a:ext>
            </a:extLst>
          </p:cNvPr>
          <p:cNvSpPr>
            <a:spLocks noGrp="1"/>
          </p:cNvSpPr>
          <p:nvPr>
            <p:ph type="dt" sz="half" idx="10"/>
          </p:nvPr>
        </p:nvSpPr>
        <p:spPr/>
        <p:txBody>
          <a:bodyPr/>
          <a:lstStyle/>
          <a:p>
            <a:fld id="{63DC8808-64BE-459B-935E-D1C096534883}" type="datetimeFigureOut">
              <a:rPr lang="en-GB" smtClean="0"/>
              <a:t>28/07/2021</a:t>
            </a:fld>
            <a:endParaRPr lang="en-GB"/>
          </a:p>
        </p:txBody>
      </p:sp>
      <p:sp>
        <p:nvSpPr>
          <p:cNvPr id="5" name="Footer Placeholder 4">
            <a:extLst>
              <a:ext uri="{FF2B5EF4-FFF2-40B4-BE49-F238E27FC236}">
                <a16:creationId xmlns:a16="http://schemas.microsoft.com/office/drawing/2014/main" id="{046EDB72-6935-4C96-80FE-AF9B3EA3B8E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753DF53-2727-4665-9B73-B2DDACA06035}"/>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12796991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FA2A1-591B-4525-9A26-A18AED4DC7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35E6A4F-729B-4436-8F5E-55DFD4A144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8E25BD1-818C-4266-A714-74055694B6C3}"/>
              </a:ext>
            </a:extLst>
          </p:cNvPr>
          <p:cNvSpPr>
            <a:spLocks noGrp="1"/>
          </p:cNvSpPr>
          <p:nvPr>
            <p:ph type="dt" sz="half" idx="10"/>
          </p:nvPr>
        </p:nvSpPr>
        <p:spPr/>
        <p:txBody>
          <a:bodyPr/>
          <a:lstStyle/>
          <a:p>
            <a:fld id="{C6BFAEEA-68D7-4B77-8C31-8040F6854DA5}" type="datetimeFigureOut">
              <a:rPr lang="en-GB" smtClean="0"/>
              <a:t>28/07/2021</a:t>
            </a:fld>
            <a:endParaRPr lang="en-GB"/>
          </a:p>
        </p:txBody>
      </p:sp>
      <p:sp>
        <p:nvSpPr>
          <p:cNvPr id="5" name="Footer Placeholder 4">
            <a:extLst>
              <a:ext uri="{FF2B5EF4-FFF2-40B4-BE49-F238E27FC236}">
                <a16:creationId xmlns:a16="http://schemas.microsoft.com/office/drawing/2014/main" id="{AC2A9F59-2071-42B4-974A-410C7551482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8A12B14-469F-42C5-9784-59A4F89FC374}"/>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3679843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651A8-FDF3-4778-B628-0633EA827A64}"/>
              </a:ext>
            </a:extLst>
          </p:cNvPr>
          <p:cNvSpPr>
            <a:spLocks noGrp="1"/>
          </p:cNvSpPr>
          <p:nvPr>
            <p:ph type="title"/>
          </p:nvPr>
        </p:nvSpPr>
        <p:spPr>
          <a:xfrm>
            <a:off x="838200" y="365125"/>
            <a:ext cx="10515600" cy="720725"/>
          </a:xfrm>
        </p:spPr>
        <p:txBody>
          <a:bodyPr>
            <a:normAutofit/>
          </a:bodyPr>
          <a:lstStyle>
            <a:lvl1pPr algn="ctr">
              <a:defRPr lang="en-GB" sz="3600" b="1" kern="1200" dirty="0">
                <a:solidFill>
                  <a:srgbClr val="C00000"/>
                </a:solidFill>
                <a:latin typeface="+mj-lt"/>
                <a:ea typeface="+mj-ea"/>
                <a:cs typeface="+mj-cs"/>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65599F8-A323-410E-962C-BADABB09809F}"/>
              </a:ext>
            </a:extLst>
          </p:cNvPr>
          <p:cNvSpPr>
            <a:spLocks noGrp="1"/>
          </p:cNvSpPr>
          <p:nvPr>
            <p:ph idx="1"/>
          </p:nvPr>
        </p:nvSpPr>
        <p:spPr>
          <a:xfrm>
            <a:off x="353291" y="1257300"/>
            <a:ext cx="11514859" cy="4919663"/>
          </a:xfrm>
        </p:spPr>
        <p:txBody>
          <a:bodyPr>
            <a:normAutofit/>
          </a:bodyPr>
          <a:lstStyle>
            <a:lvl1pPr>
              <a:defRPr sz="3200">
                <a:solidFill>
                  <a:srgbClr val="002060"/>
                </a:solidFill>
              </a:defRPr>
            </a:lvl1pPr>
            <a:lvl2pPr>
              <a:defRPr sz="2800">
                <a:solidFill>
                  <a:srgbClr val="002060"/>
                </a:solidFill>
              </a:defRPr>
            </a:lvl2pPr>
            <a:lvl3pPr>
              <a:defRPr sz="2400">
                <a:solidFill>
                  <a:srgbClr val="002060"/>
                </a:solidFill>
              </a:defRPr>
            </a:lvl3pPr>
            <a:lvl4pPr>
              <a:defRPr sz="2000">
                <a:solidFill>
                  <a:srgbClr val="002060"/>
                </a:solidFill>
              </a:defRPr>
            </a:lvl4pPr>
            <a:lvl5pPr>
              <a:defRPr sz="2000">
                <a:solidFill>
                  <a:srgbClr val="00206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8088C8AB-55D8-450E-B38C-9B132FC0F197}"/>
              </a:ext>
            </a:extLst>
          </p:cNvPr>
          <p:cNvSpPr>
            <a:spLocks noGrp="1"/>
          </p:cNvSpPr>
          <p:nvPr>
            <p:ph type="ftr" sz="quarter" idx="11"/>
          </p:nvPr>
        </p:nvSpPr>
        <p:spPr/>
        <p:txBody>
          <a:bodyPr/>
          <a:lstStyle/>
          <a:p>
            <a:endParaRPr lang="en-GB"/>
          </a:p>
        </p:txBody>
      </p:sp>
      <p:sp>
        <p:nvSpPr>
          <p:cNvPr id="8" name="TextBox 7">
            <a:extLst>
              <a:ext uri="{FF2B5EF4-FFF2-40B4-BE49-F238E27FC236}">
                <a16:creationId xmlns:a16="http://schemas.microsoft.com/office/drawing/2014/main" id="{BF0894F9-5A70-4F72-9BD0-F1E7EEE0F927}"/>
              </a:ext>
            </a:extLst>
          </p:cNvPr>
          <p:cNvSpPr txBox="1"/>
          <p:nvPr userDrawn="1"/>
        </p:nvSpPr>
        <p:spPr>
          <a:xfrm>
            <a:off x="143740" y="6480729"/>
            <a:ext cx="2648097" cy="338554"/>
          </a:xfrm>
          <a:prstGeom prst="rect">
            <a:avLst/>
          </a:prstGeom>
          <a:noFill/>
        </p:spPr>
        <p:txBody>
          <a:bodyPr wrap="none" rtlCol="0">
            <a:spAutoFit/>
          </a:bodyPr>
          <a:lstStyle/>
          <a:p>
            <a:r>
              <a:rPr lang="en-US" sz="1600" dirty="0"/>
              <a:t>Prof J Rohan Lucas/April 2020</a:t>
            </a:r>
            <a:endParaRPr lang="en-GB" sz="1600" dirty="0"/>
          </a:p>
        </p:txBody>
      </p:sp>
      <p:pic>
        <p:nvPicPr>
          <p:cNvPr id="9" name="Picture 8">
            <a:extLst>
              <a:ext uri="{FF2B5EF4-FFF2-40B4-BE49-F238E27FC236}">
                <a16:creationId xmlns:a16="http://schemas.microsoft.com/office/drawing/2014/main" id="{0C812622-06DF-4C31-A9A3-DB231A498E7F}"/>
              </a:ext>
            </a:extLst>
          </p:cNvPr>
          <p:cNvPicPr>
            <a:picLocks noChangeAspect="1"/>
          </p:cNvPicPr>
          <p:nvPr userDrawn="1"/>
        </p:nvPicPr>
        <p:blipFill>
          <a:blip r:embed="rId2"/>
          <a:stretch>
            <a:fillRect/>
          </a:stretch>
        </p:blipFill>
        <p:spPr>
          <a:xfrm>
            <a:off x="109150" y="0"/>
            <a:ext cx="723810" cy="552381"/>
          </a:xfrm>
          <a:prstGeom prst="rect">
            <a:avLst/>
          </a:prstGeom>
        </p:spPr>
      </p:pic>
      <p:sp>
        <p:nvSpPr>
          <p:cNvPr id="10" name="TextBox 9">
            <a:extLst>
              <a:ext uri="{FF2B5EF4-FFF2-40B4-BE49-F238E27FC236}">
                <a16:creationId xmlns:a16="http://schemas.microsoft.com/office/drawing/2014/main" id="{17854FF0-A8F4-4774-BAD1-37B4DF796C39}"/>
              </a:ext>
            </a:extLst>
          </p:cNvPr>
          <p:cNvSpPr txBox="1"/>
          <p:nvPr userDrawn="1"/>
        </p:nvSpPr>
        <p:spPr>
          <a:xfrm>
            <a:off x="554182" y="53395"/>
            <a:ext cx="11000509" cy="369332"/>
          </a:xfrm>
          <a:prstGeom prst="rect">
            <a:avLst/>
          </a:prstGeom>
          <a:noFill/>
        </p:spPr>
        <p:txBody>
          <a:bodyPr wrap="square" rtlCol="0">
            <a:spAutoFit/>
          </a:bodyPr>
          <a:lstStyle/>
          <a:p>
            <a:pPr marL="504825" indent="0">
              <a:tabLst>
                <a:tab pos="5029200" algn="ctr"/>
                <a:tab pos="10683875" algn="r"/>
              </a:tabLst>
            </a:pPr>
            <a:r>
              <a:rPr lang="en-US" sz="1600" dirty="0"/>
              <a:t>High Voltage Engineering 1	</a:t>
            </a:r>
            <a:r>
              <a:rPr lang="en-GB" sz="1800" b="1" kern="1200" dirty="0">
                <a:solidFill>
                  <a:schemeClr val="tx1"/>
                </a:solidFill>
                <a:effectLst/>
                <a:latin typeface="+mn-lt"/>
                <a:ea typeface="+mn-ea"/>
                <a:cs typeface="+mn-cs"/>
              </a:rPr>
              <a:t>High Voltage Cables	</a:t>
            </a:r>
            <a:endParaRPr lang="en-GB" sz="1600" b="0" dirty="0"/>
          </a:p>
        </p:txBody>
      </p:sp>
      <p:sp>
        <p:nvSpPr>
          <p:cNvPr id="11" name="Slide Number Placeholder 3">
            <a:extLst>
              <a:ext uri="{FF2B5EF4-FFF2-40B4-BE49-F238E27FC236}">
                <a16:creationId xmlns:a16="http://schemas.microsoft.com/office/drawing/2014/main" id="{92F4B8B1-3073-4763-B6CE-A6611013B9DE}"/>
              </a:ext>
            </a:extLst>
          </p:cNvPr>
          <p:cNvSpPr txBox="1">
            <a:spLocks/>
          </p:cNvSpPr>
          <p:nvPr userDrawn="1"/>
        </p:nvSpPr>
        <p:spPr>
          <a:xfrm>
            <a:off x="11637818" y="110690"/>
            <a:ext cx="432304" cy="31203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7F8B81-7D3C-44E4-9993-3F1024D0C961}" type="slidenum">
              <a:rPr lang="en-GB" sz="1400" smtClean="0"/>
              <a:pPr/>
              <a:t>‹#›</a:t>
            </a:fld>
            <a:endParaRPr lang="en-GB" sz="1400" dirty="0"/>
          </a:p>
        </p:txBody>
      </p:sp>
      <p:pic>
        <p:nvPicPr>
          <p:cNvPr id="12" name="Picture 11">
            <a:extLst>
              <a:ext uri="{FF2B5EF4-FFF2-40B4-BE49-F238E27FC236}">
                <a16:creationId xmlns:a16="http://schemas.microsoft.com/office/drawing/2014/main" id="{76687116-A6FA-4EC4-948A-D5634ECDB42A}"/>
              </a:ext>
            </a:extLst>
          </p:cNvPr>
          <p:cNvPicPr>
            <a:picLocks noChangeAspect="1"/>
          </p:cNvPicPr>
          <p:nvPr userDrawn="1"/>
        </p:nvPicPr>
        <p:blipFill>
          <a:blip r:embed="rId3"/>
          <a:stretch>
            <a:fillRect/>
          </a:stretch>
        </p:blipFill>
        <p:spPr>
          <a:xfrm>
            <a:off x="10019169" y="5232400"/>
            <a:ext cx="2172831" cy="1625600"/>
          </a:xfrm>
          <a:prstGeom prst="rect">
            <a:avLst/>
          </a:prstGeom>
        </p:spPr>
      </p:pic>
    </p:spTree>
    <p:extLst>
      <p:ext uri="{BB962C8B-B14F-4D97-AF65-F5344CB8AC3E}">
        <p14:creationId xmlns:p14="http://schemas.microsoft.com/office/powerpoint/2010/main" val="2327122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B74FA-E26A-46D6-B929-7C613C0256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62B014E-7DE2-42F2-8765-04FB4315EC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5DD7B5-4E82-4D07-B029-61A00ECC1354}"/>
              </a:ext>
            </a:extLst>
          </p:cNvPr>
          <p:cNvSpPr>
            <a:spLocks noGrp="1"/>
          </p:cNvSpPr>
          <p:nvPr>
            <p:ph type="dt" sz="half" idx="10"/>
          </p:nvPr>
        </p:nvSpPr>
        <p:spPr/>
        <p:txBody>
          <a:bodyPr/>
          <a:lstStyle/>
          <a:p>
            <a:fld id="{C6BFAEEA-68D7-4B77-8C31-8040F6854DA5}" type="datetimeFigureOut">
              <a:rPr lang="en-GB" smtClean="0"/>
              <a:t>28/07/2021</a:t>
            </a:fld>
            <a:endParaRPr lang="en-GB"/>
          </a:p>
        </p:txBody>
      </p:sp>
      <p:sp>
        <p:nvSpPr>
          <p:cNvPr id="5" name="Footer Placeholder 4">
            <a:extLst>
              <a:ext uri="{FF2B5EF4-FFF2-40B4-BE49-F238E27FC236}">
                <a16:creationId xmlns:a16="http://schemas.microsoft.com/office/drawing/2014/main" id="{C547D658-8E41-4E37-939A-0B2CA6CDC70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53FF8D6-07DA-48D8-AD18-D0A4207FD3B3}"/>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4202736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A24BB-E08A-475F-A889-2C85385F824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DDC726D-4738-401F-83C1-3D2FC8A65B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B3B8BD1-B507-4610-8F81-599055BEA1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B97EE15-D73D-47C9-A475-65326FE6B592}"/>
              </a:ext>
            </a:extLst>
          </p:cNvPr>
          <p:cNvSpPr>
            <a:spLocks noGrp="1"/>
          </p:cNvSpPr>
          <p:nvPr>
            <p:ph type="dt" sz="half" idx="10"/>
          </p:nvPr>
        </p:nvSpPr>
        <p:spPr/>
        <p:txBody>
          <a:bodyPr/>
          <a:lstStyle/>
          <a:p>
            <a:fld id="{C6BFAEEA-68D7-4B77-8C31-8040F6854DA5}" type="datetimeFigureOut">
              <a:rPr lang="en-GB" smtClean="0"/>
              <a:t>28/07/2021</a:t>
            </a:fld>
            <a:endParaRPr lang="en-GB"/>
          </a:p>
        </p:txBody>
      </p:sp>
      <p:sp>
        <p:nvSpPr>
          <p:cNvPr id="6" name="Footer Placeholder 5">
            <a:extLst>
              <a:ext uri="{FF2B5EF4-FFF2-40B4-BE49-F238E27FC236}">
                <a16:creationId xmlns:a16="http://schemas.microsoft.com/office/drawing/2014/main" id="{FBF6A158-340E-492B-96F4-52E6D7714F0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8308F35-AA19-42B6-BCF9-412E2808556A}"/>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9730877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4EA92-B2E9-48AC-B4F8-BC4E24D30FD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2DE20C0-AE32-4E35-9EBB-0FF6C92304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816D27-7723-45F1-836F-7E8EFC3AF2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8635F67-EE6A-4834-9E32-DA60C54247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73E882-BBD2-46E6-8452-EE99AF7A85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B52560D-52A9-4A51-A6D3-19198DF972AA}"/>
              </a:ext>
            </a:extLst>
          </p:cNvPr>
          <p:cNvSpPr>
            <a:spLocks noGrp="1"/>
          </p:cNvSpPr>
          <p:nvPr>
            <p:ph type="dt" sz="half" idx="10"/>
          </p:nvPr>
        </p:nvSpPr>
        <p:spPr/>
        <p:txBody>
          <a:bodyPr/>
          <a:lstStyle/>
          <a:p>
            <a:fld id="{C6BFAEEA-68D7-4B77-8C31-8040F6854DA5}" type="datetimeFigureOut">
              <a:rPr lang="en-GB" smtClean="0"/>
              <a:t>28/07/2021</a:t>
            </a:fld>
            <a:endParaRPr lang="en-GB"/>
          </a:p>
        </p:txBody>
      </p:sp>
      <p:sp>
        <p:nvSpPr>
          <p:cNvPr id="8" name="Footer Placeholder 7">
            <a:extLst>
              <a:ext uri="{FF2B5EF4-FFF2-40B4-BE49-F238E27FC236}">
                <a16:creationId xmlns:a16="http://schemas.microsoft.com/office/drawing/2014/main" id="{7E7E41DA-510B-4EDC-9016-B9BE55085E4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2655B01-722C-46E7-9A92-3198895995A4}"/>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38789301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6D5DD-50BE-4538-9755-1B5CE79B9BB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1216EF5-F518-4D8F-ACAA-1C6F0912A6AC}"/>
              </a:ext>
            </a:extLst>
          </p:cNvPr>
          <p:cNvSpPr>
            <a:spLocks noGrp="1"/>
          </p:cNvSpPr>
          <p:nvPr>
            <p:ph type="dt" sz="half" idx="10"/>
          </p:nvPr>
        </p:nvSpPr>
        <p:spPr/>
        <p:txBody>
          <a:bodyPr/>
          <a:lstStyle/>
          <a:p>
            <a:fld id="{C6BFAEEA-68D7-4B77-8C31-8040F6854DA5}" type="datetimeFigureOut">
              <a:rPr lang="en-GB" smtClean="0"/>
              <a:t>28/07/2021</a:t>
            </a:fld>
            <a:endParaRPr lang="en-GB"/>
          </a:p>
        </p:txBody>
      </p:sp>
      <p:sp>
        <p:nvSpPr>
          <p:cNvPr id="4" name="Footer Placeholder 3">
            <a:extLst>
              <a:ext uri="{FF2B5EF4-FFF2-40B4-BE49-F238E27FC236}">
                <a16:creationId xmlns:a16="http://schemas.microsoft.com/office/drawing/2014/main" id="{8B1DA837-E573-4AFA-9AC2-49D70718430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B97314E-E4DE-4A9B-9CFB-F543408919BB}"/>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7561049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9A4D9F-3842-4C3A-AEFC-01B03C3B315F}"/>
              </a:ext>
            </a:extLst>
          </p:cNvPr>
          <p:cNvSpPr>
            <a:spLocks noGrp="1"/>
          </p:cNvSpPr>
          <p:nvPr>
            <p:ph type="dt" sz="half" idx="10"/>
          </p:nvPr>
        </p:nvSpPr>
        <p:spPr/>
        <p:txBody>
          <a:bodyPr/>
          <a:lstStyle/>
          <a:p>
            <a:fld id="{C6BFAEEA-68D7-4B77-8C31-8040F6854DA5}" type="datetimeFigureOut">
              <a:rPr lang="en-GB" smtClean="0"/>
              <a:t>28/07/2021</a:t>
            </a:fld>
            <a:endParaRPr lang="en-GB"/>
          </a:p>
        </p:txBody>
      </p:sp>
      <p:sp>
        <p:nvSpPr>
          <p:cNvPr id="3" name="Footer Placeholder 2">
            <a:extLst>
              <a:ext uri="{FF2B5EF4-FFF2-40B4-BE49-F238E27FC236}">
                <a16:creationId xmlns:a16="http://schemas.microsoft.com/office/drawing/2014/main" id="{09BC0069-0AF0-4465-96F0-D7270CE9920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2B8CEB6-044C-4FC9-ADBC-1D11BE21D6CA}"/>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20729340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51AEB-D33F-4EAD-8CA0-87B8E8F47B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7A63AE9-01D9-48D7-B5CB-57ED1822A8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630CEF0-5868-43E6-BEB2-097B0E4AD6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C5C560-2623-4603-A6A1-8614FDE98452}"/>
              </a:ext>
            </a:extLst>
          </p:cNvPr>
          <p:cNvSpPr>
            <a:spLocks noGrp="1"/>
          </p:cNvSpPr>
          <p:nvPr>
            <p:ph type="dt" sz="half" idx="10"/>
          </p:nvPr>
        </p:nvSpPr>
        <p:spPr/>
        <p:txBody>
          <a:bodyPr/>
          <a:lstStyle/>
          <a:p>
            <a:fld id="{C6BFAEEA-68D7-4B77-8C31-8040F6854DA5}" type="datetimeFigureOut">
              <a:rPr lang="en-GB" smtClean="0"/>
              <a:t>28/07/2021</a:t>
            </a:fld>
            <a:endParaRPr lang="en-GB"/>
          </a:p>
        </p:txBody>
      </p:sp>
      <p:sp>
        <p:nvSpPr>
          <p:cNvPr id="6" name="Footer Placeholder 5">
            <a:extLst>
              <a:ext uri="{FF2B5EF4-FFF2-40B4-BE49-F238E27FC236}">
                <a16:creationId xmlns:a16="http://schemas.microsoft.com/office/drawing/2014/main" id="{BC7C8641-D0C0-40F8-BE2B-B72395C45A2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12D1BC4-C0F9-491C-ADCF-A858A0ED253C}"/>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5744914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8E6EF-6F8D-487C-AF39-D8AAB5B5FF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8493A3A-E94A-4380-8589-4570807DB4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4802534-C727-408D-ABD2-825C1D2861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CD1941-7764-49DA-B982-7D13931B2E00}"/>
              </a:ext>
            </a:extLst>
          </p:cNvPr>
          <p:cNvSpPr>
            <a:spLocks noGrp="1"/>
          </p:cNvSpPr>
          <p:nvPr>
            <p:ph type="dt" sz="half" idx="10"/>
          </p:nvPr>
        </p:nvSpPr>
        <p:spPr/>
        <p:txBody>
          <a:bodyPr/>
          <a:lstStyle/>
          <a:p>
            <a:fld id="{C6BFAEEA-68D7-4B77-8C31-8040F6854DA5}" type="datetimeFigureOut">
              <a:rPr lang="en-GB" smtClean="0"/>
              <a:t>28/07/2021</a:t>
            </a:fld>
            <a:endParaRPr lang="en-GB"/>
          </a:p>
        </p:txBody>
      </p:sp>
      <p:sp>
        <p:nvSpPr>
          <p:cNvPr id="6" name="Footer Placeholder 5">
            <a:extLst>
              <a:ext uri="{FF2B5EF4-FFF2-40B4-BE49-F238E27FC236}">
                <a16:creationId xmlns:a16="http://schemas.microsoft.com/office/drawing/2014/main" id="{735E193D-2426-4637-866B-85A4B782646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CC56C82-5DCB-4DBE-9E04-DE8850D2DCC8}"/>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40791069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16FCA-C8A0-450D-8598-11900CCBC64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82FAAD8-BD77-45BD-81A6-3AEDC1F817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ADABCCD-B3E7-40A3-8FA2-5E4D883BC4CF}"/>
              </a:ext>
            </a:extLst>
          </p:cNvPr>
          <p:cNvSpPr>
            <a:spLocks noGrp="1"/>
          </p:cNvSpPr>
          <p:nvPr>
            <p:ph type="dt" sz="half" idx="10"/>
          </p:nvPr>
        </p:nvSpPr>
        <p:spPr/>
        <p:txBody>
          <a:bodyPr/>
          <a:lstStyle/>
          <a:p>
            <a:fld id="{C6BFAEEA-68D7-4B77-8C31-8040F6854DA5}" type="datetimeFigureOut">
              <a:rPr lang="en-GB" smtClean="0"/>
              <a:t>28/07/2021</a:t>
            </a:fld>
            <a:endParaRPr lang="en-GB"/>
          </a:p>
        </p:txBody>
      </p:sp>
      <p:sp>
        <p:nvSpPr>
          <p:cNvPr id="5" name="Footer Placeholder 4">
            <a:extLst>
              <a:ext uri="{FF2B5EF4-FFF2-40B4-BE49-F238E27FC236}">
                <a16:creationId xmlns:a16="http://schemas.microsoft.com/office/drawing/2014/main" id="{9AEF2CD6-9931-4769-8A66-6D1326D6558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CE8A456-274C-4878-8F46-E30F7F8452F4}"/>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203680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FBC83E-2BBC-4268-931E-5E665CB5E1E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76460F5-020D-4420-AD3A-13BE41E223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88F72C6-35B3-489D-97CB-3E931F42F9A0}"/>
              </a:ext>
            </a:extLst>
          </p:cNvPr>
          <p:cNvSpPr>
            <a:spLocks noGrp="1"/>
          </p:cNvSpPr>
          <p:nvPr>
            <p:ph type="dt" sz="half" idx="10"/>
          </p:nvPr>
        </p:nvSpPr>
        <p:spPr/>
        <p:txBody>
          <a:bodyPr/>
          <a:lstStyle/>
          <a:p>
            <a:fld id="{C6BFAEEA-68D7-4B77-8C31-8040F6854DA5}" type="datetimeFigureOut">
              <a:rPr lang="en-GB" smtClean="0"/>
              <a:t>28/07/2021</a:t>
            </a:fld>
            <a:endParaRPr lang="en-GB"/>
          </a:p>
        </p:txBody>
      </p:sp>
      <p:sp>
        <p:nvSpPr>
          <p:cNvPr id="5" name="Footer Placeholder 4">
            <a:extLst>
              <a:ext uri="{FF2B5EF4-FFF2-40B4-BE49-F238E27FC236}">
                <a16:creationId xmlns:a16="http://schemas.microsoft.com/office/drawing/2014/main" id="{8282E2DE-5E4B-4C7A-9BD0-33CE19732FF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FB8065-7935-4361-B392-4F7C09199016}"/>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3441102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5A80AE-56DA-4AB7-9F2F-CAF70E8B64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46876FA-7FD7-48E2-9162-474962FFEC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A2D6BE8-40DB-4B93-B86D-D09A1134D3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DC8808-64BE-459B-935E-D1C096534883}" type="datetimeFigureOut">
              <a:rPr lang="en-GB" smtClean="0"/>
              <a:t>28/07/2021</a:t>
            </a:fld>
            <a:endParaRPr lang="en-GB"/>
          </a:p>
        </p:txBody>
      </p:sp>
      <p:sp>
        <p:nvSpPr>
          <p:cNvPr id="5" name="Footer Placeholder 4">
            <a:extLst>
              <a:ext uri="{FF2B5EF4-FFF2-40B4-BE49-F238E27FC236}">
                <a16:creationId xmlns:a16="http://schemas.microsoft.com/office/drawing/2014/main" id="{B0C6C5ED-8273-4F75-992D-3AE99237DC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781DED9-22D4-402C-BD05-2B367BB21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053112-0FCF-4FF3-97FD-CEA299B20DF3}" type="slidenum">
              <a:rPr lang="en-GB" smtClean="0"/>
              <a:t>‹#›</a:t>
            </a:fld>
            <a:endParaRPr lang="en-GB"/>
          </a:p>
        </p:txBody>
      </p:sp>
    </p:spTree>
    <p:extLst>
      <p:ext uri="{BB962C8B-B14F-4D97-AF65-F5344CB8AC3E}">
        <p14:creationId xmlns:p14="http://schemas.microsoft.com/office/powerpoint/2010/main" val="4777230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2"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D0B399-2484-4E11-AB1D-336B7A94CB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8832A8F-ABED-4C45-AB22-31F9BCA258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2F5EFC3-8B1C-4A71-B826-F69E2780CE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BFAEEA-68D7-4B77-8C31-8040F6854DA5}" type="datetimeFigureOut">
              <a:rPr lang="en-GB" smtClean="0"/>
              <a:t>28/07/2021</a:t>
            </a:fld>
            <a:endParaRPr lang="en-GB"/>
          </a:p>
        </p:txBody>
      </p:sp>
      <p:sp>
        <p:nvSpPr>
          <p:cNvPr id="5" name="Footer Placeholder 4">
            <a:extLst>
              <a:ext uri="{FF2B5EF4-FFF2-40B4-BE49-F238E27FC236}">
                <a16:creationId xmlns:a16="http://schemas.microsoft.com/office/drawing/2014/main" id="{59B3293F-9F6A-49A9-B93F-35FDCF5825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5C94848-02A4-4E8A-8941-4F7E81352B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135758-0501-428A-A833-B23CBD0F728F}" type="slidenum">
              <a:rPr lang="en-GB" smtClean="0"/>
              <a:t>‹#›</a:t>
            </a:fld>
            <a:endParaRPr lang="en-GB"/>
          </a:p>
        </p:txBody>
      </p:sp>
    </p:spTree>
    <p:extLst>
      <p:ext uri="{BB962C8B-B14F-4D97-AF65-F5344CB8AC3E}">
        <p14:creationId xmlns:p14="http://schemas.microsoft.com/office/powerpoint/2010/main" val="11302200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5.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oleObject" Target="../embeddings/oleObject10.bin"/><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12.wmf"/><Relationship Id="rId2" Type="http://schemas.openxmlformats.org/officeDocument/2006/relationships/notesSlide" Target="../notesSlides/notesSlide15.xml"/><Relationship Id="rId16" Type="http://schemas.openxmlformats.org/officeDocument/2006/relationships/image" Target="../media/image14.wmf"/><Relationship Id="rId1" Type="http://schemas.openxmlformats.org/officeDocument/2006/relationships/slideLayout" Target="../slideLayouts/slideLayout2.xml"/><Relationship Id="rId6" Type="http://schemas.openxmlformats.org/officeDocument/2006/relationships/image" Target="../media/image9.wmf"/><Relationship Id="rId11" Type="http://schemas.openxmlformats.org/officeDocument/2006/relationships/oleObject" Target="../embeddings/oleObject9.bin"/><Relationship Id="rId5" Type="http://schemas.openxmlformats.org/officeDocument/2006/relationships/oleObject" Target="../embeddings/oleObject6.bin"/><Relationship Id="rId15" Type="http://schemas.openxmlformats.org/officeDocument/2006/relationships/oleObject" Target="../embeddings/oleObject11.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8.bin"/><Relationship Id="rId14" Type="http://schemas.openxmlformats.org/officeDocument/2006/relationships/image" Target="../media/image13.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wmf"/></Relationships>
</file>

<file path=ppt/slides/_rels/slide17.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7.wmf"/><Relationship Id="rId5" Type="http://schemas.openxmlformats.org/officeDocument/2006/relationships/oleObject" Target="../embeddings/oleObject14.bin"/><Relationship Id="rId10" Type="http://schemas.openxmlformats.org/officeDocument/2006/relationships/image" Target="../media/image19.wmf"/><Relationship Id="rId4" Type="http://schemas.openxmlformats.org/officeDocument/2006/relationships/image" Target="../media/image16.wmf"/><Relationship Id="rId9" Type="http://schemas.openxmlformats.org/officeDocument/2006/relationships/oleObject" Target="../embeddings/oleObject16.bin"/></Relationships>
</file>

<file path=ppt/slides/_rels/slide18.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1.wmf"/><Relationship Id="rId5" Type="http://schemas.openxmlformats.org/officeDocument/2006/relationships/oleObject" Target="../embeddings/oleObject18.bin"/><Relationship Id="rId4" Type="http://schemas.openxmlformats.org/officeDocument/2006/relationships/image" Target="../media/image20.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4.wmf"/><Relationship Id="rId5" Type="http://schemas.openxmlformats.org/officeDocument/2006/relationships/oleObject" Target="../embeddings/oleObject21.bin"/><Relationship Id="rId4" Type="http://schemas.openxmlformats.org/officeDocument/2006/relationships/image" Target="../media/image23.wmf"/></Relationships>
</file>

<file path=ppt/slides/_rels/slide21.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7.wmf"/><Relationship Id="rId5" Type="http://schemas.openxmlformats.org/officeDocument/2006/relationships/oleObject" Target="../embeddings/oleObject24.bin"/><Relationship Id="rId4" Type="http://schemas.openxmlformats.org/officeDocument/2006/relationships/image" Target="../media/image26.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0.wmf"/><Relationship Id="rId5" Type="http://schemas.openxmlformats.org/officeDocument/2006/relationships/oleObject" Target="../embeddings/oleObject27.bin"/><Relationship Id="rId4" Type="http://schemas.openxmlformats.org/officeDocument/2006/relationships/image" Target="../media/image29.w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2.wmf"/><Relationship Id="rId5" Type="http://schemas.openxmlformats.org/officeDocument/2006/relationships/oleObject" Target="../embeddings/oleObject29.bin"/><Relationship Id="rId4" Type="http://schemas.openxmlformats.org/officeDocument/2006/relationships/image" Target="../media/image31.wmf"/></Relationships>
</file>

<file path=ppt/slides/_rels/slide25.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31.bin"/><Relationship Id="rId1" Type="http://schemas.openxmlformats.org/officeDocument/2006/relationships/slideLayout" Target="../slideLayouts/slideLayout2.xml"/><Relationship Id="rId5" Type="http://schemas.openxmlformats.org/officeDocument/2006/relationships/image" Target="../media/image35.wmf"/><Relationship Id="rId4" Type="http://schemas.openxmlformats.org/officeDocument/2006/relationships/oleObject" Target="../embeddings/oleObject32.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7.wmf"/><Relationship Id="rId5" Type="http://schemas.openxmlformats.org/officeDocument/2006/relationships/oleObject" Target="../embeddings/oleObject34.bin"/><Relationship Id="rId4" Type="http://schemas.openxmlformats.org/officeDocument/2006/relationships/image" Target="../media/image36.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9.wmf"/><Relationship Id="rId5" Type="http://schemas.openxmlformats.org/officeDocument/2006/relationships/oleObject" Target="../embeddings/oleObject36.bin"/><Relationship Id="rId4" Type="http://schemas.openxmlformats.org/officeDocument/2006/relationships/image" Target="../media/image38.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1.wmf"/><Relationship Id="rId5" Type="http://schemas.openxmlformats.org/officeDocument/2006/relationships/oleObject" Target="../embeddings/oleObject38.bin"/><Relationship Id="rId4" Type="http://schemas.openxmlformats.org/officeDocument/2006/relationships/image" Target="../media/image40.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2.w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44.wmf"/><Relationship Id="rId5" Type="http://schemas.openxmlformats.org/officeDocument/2006/relationships/oleObject" Target="../embeddings/oleObject41.bin"/><Relationship Id="rId4" Type="http://schemas.openxmlformats.org/officeDocument/2006/relationships/image" Target="../media/image15.w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43.bin"/><Relationship Id="rId7" Type="http://schemas.openxmlformats.org/officeDocument/2006/relationships/oleObject" Target="../embeddings/oleObject45.bin"/><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47.wmf"/><Relationship Id="rId5" Type="http://schemas.openxmlformats.org/officeDocument/2006/relationships/oleObject" Target="../embeddings/oleObject44.bin"/><Relationship Id="rId4" Type="http://schemas.openxmlformats.org/officeDocument/2006/relationships/image" Target="../media/image46.wmf"/></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9.w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50.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52.wmf"/><Relationship Id="rId5" Type="http://schemas.openxmlformats.org/officeDocument/2006/relationships/oleObject" Target="../embeddings/oleObject49.bin"/><Relationship Id="rId4" Type="http://schemas.openxmlformats.org/officeDocument/2006/relationships/image" Target="../media/image51.wmf"/></Relationships>
</file>

<file path=ppt/slides/_rels/slide44.x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oleObject" Target="../embeddings/oleObject50.bin"/><Relationship Id="rId7" Type="http://schemas.openxmlformats.org/officeDocument/2006/relationships/oleObject" Target="../embeddings/oleObject52.bin"/><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54.wmf"/><Relationship Id="rId5" Type="http://schemas.openxmlformats.org/officeDocument/2006/relationships/oleObject" Target="../embeddings/oleObject51.bin"/><Relationship Id="rId4" Type="http://schemas.openxmlformats.org/officeDocument/2006/relationships/image" Target="../media/image53.w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6.wmf"/></Relationships>
</file>

<file path=ppt/slides/_rels/slide46.x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oleObject" Target="../embeddings/oleObject54.bin"/><Relationship Id="rId7" Type="http://schemas.openxmlformats.org/officeDocument/2006/relationships/oleObject" Target="../embeddings/oleObject56.bin"/><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57.wmf"/><Relationship Id="rId5" Type="http://schemas.openxmlformats.org/officeDocument/2006/relationships/oleObject" Target="../embeddings/oleObject55.bin"/><Relationship Id="rId4" Type="http://schemas.openxmlformats.org/officeDocument/2006/relationships/image" Target="../media/image56.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60.wmf"/><Relationship Id="rId5" Type="http://schemas.openxmlformats.org/officeDocument/2006/relationships/oleObject" Target="../embeddings/oleObject58.bin"/><Relationship Id="rId4" Type="http://schemas.openxmlformats.org/officeDocument/2006/relationships/image" Target="../media/image59.wmf"/></Relationships>
</file>

<file path=ppt/slides/_rels/slide48.x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oleObject" Target="../embeddings/oleObject59.bin"/><Relationship Id="rId7" Type="http://schemas.openxmlformats.org/officeDocument/2006/relationships/oleObject" Target="../embeddings/oleObject61.bin"/><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62.wmf"/><Relationship Id="rId5" Type="http://schemas.openxmlformats.org/officeDocument/2006/relationships/oleObject" Target="../embeddings/oleObject60.bin"/><Relationship Id="rId4" Type="http://schemas.openxmlformats.org/officeDocument/2006/relationships/image" Target="../media/image61.wmf"/></Relationships>
</file>

<file path=ppt/slides/_rels/slide49.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62.bin"/><Relationship Id="rId7" Type="http://schemas.openxmlformats.org/officeDocument/2006/relationships/oleObject" Target="../embeddings/oleObject64.bin"/><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65.wmf"/><Relationship Id="rId5" Type="http://schemas.openxmlformats.org/officeDocument/2006/relationships/oleObject" Target="../embeddings/oleObject63.bin"/><Relationship Id="rId10" Type="http://schemas.openxmlformats.org/officeDocument/2006/relationships/image" Target="../media/image67.wmf"/><Relationship Id="rId4" Type="http://schemas.openxmlformats.org/officeDocument/2006/relationships/image" Target="../media/image64.wmf"/><Relationship Id="rId9" Type="http://schemas.openxmlformats.org/officeDocument/2006/relationships/oleObject" Target="../embeddings/oleObject65.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69.emf"/><Relationship Id="rId4" Type="http://schemas.openxmlformats.org/officeDocument/2006/relationships/image" Target="../media/image68.w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71.wmf"/><Relationship Id="rId5" Type="http://schemas.openxmlformats.org/officeDocument/2006/relationships/oleObject" Target="../embeddings/oleObject68.bin"/><Relationship Id="rId10" Type="http://schemas.openxmlformats.org/officeDocument/2006/relationships/image" Target="../media/image72.png"/><Relationship Id="rId4" Type="http://schemas.openxmlformats.org/officeDocument/2006/relationships/image" Target="../media/image70.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73.wmf"/><Relationship Id="rId5" Type="http://schemas.openxmlformats.org/officeDocument/2006/relationships/oleObject" Target="../embeddings/oleObject70.bin"/><Relationship Id="rId4" Type="http://schemas.openxmlformats.org/officeDocument/2006/relationships/image" Target="../media/image72.wmf"/></Relationships>
</file>

<file path=ppt/slides/_rels/slide54.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oleObject" Target="../embeddings/oleObject71.bin"/><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74.wmf"/></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76.wmf"/><Relationship Id="rId5" Type="http://schemas.openxmlformats.org/officeDocument/2006/relationships/oleObject" Target="../embeddings/oleObject73.bin"/><Relationship Id="rId4" Type="http://schemas.openxmlformats.org/officeDocument/2006/relationships/image" Target="../media/image75.wmf"/></Relationships>
</file>

<file path=ppt/slides/_rels/slide56.x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oleObject" Target="../embeddings/oleObject74.bin"/><Relationship Id="rId7" Type="http://schemas.openxmlformats.org/officeDocument/2006/relationships/oleObject" Target="../embeddings/oleObject76.bin"/><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78.wmf"/><Relationship Id="rId5" Type="http://schemas.openxmlformats.org/officeDocument/2006/relationships/oleObject" Target="../embeddings/oleObject75.bin"/><Relationship Id="rId4" Type="http://schemas.openxmlformats.org/officeDocument/2006/relationships/image" Target="../media/image77.wmf"/></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82.png"/></Relationships>
</file>

<file path=ppt/slides/_rels/slide58.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oleObject" Target="../embeddings/oleObject77.bin"/><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80.wmf"/></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85.png"/></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81.wmf"/></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image" Target="../media/image84.wmf"/><Relationship Id="rId3" Type="http://schemas.openxmlformats.org/officeDocument/2006/relationships/oleObject" Target="../embeddings/oleObject79.bin"/><Relationship Id="rId7" Type="http://schemas.openxmlformats.org/officeDocument/2006/relationships/oleObject" Target="../embeddings/oleObject81.bin"/><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83.wmf"/><Relationship Id="rId5" Type="http://schemas.openxmlformats.org/officeDocument/2006/relationships/oleObject" Target="../embeddings/oleObject80.bin"/><Relationship Id="rId4" Type="http://schemas.openxmlformats.org/officeDocument/2006/relationships/image" Target="../media/image82.wmf"/></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 Id="rId5" Type="http://schemas.openxmlformats.org/officeDocument/2006/relationships/image" Target="../media/image90.png"/></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86.wmf"/><Relationship Id="rId5" Type="http://schemas.openxmlformats.org/officeDocument/2006/relationships/oleObject" Target="../embeddings/oleObject83.bin"/><Relationship Id="rId4" Type="http://schemas.openxmlformats.org/officeDocument/2006/relationships/image" Target="../media/image85.wmf"/></Relationships>
</file>

<file path=ppt/slides/_rels/slide68.xml.rels><?xml version="1.0" encoding="UTF-8" standalone="yes"?>
<Relationships xmlns="http://schemas.openxmlformats.org/package/2006/relationships"><Relationship Id="rId8" Type="http://schemas.openxmlformats.org/officeDocument/2006/relationships/image" Target="../media/image89.wmf"/><Relationship Id="rId3" Type="http://schemas.openxmlformats.org/officeDocument/2006/relationships/oleObject" Target="../embeddings/oleObject84.bin"/><Relationship Id="rId7" Type="http://schemas.openxmlformats.org/officeDocument/2006/relationships/oleObject" Target="../embeddings/oleObject86.bin"/><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88.wmf"/><Relationship Id="rId5" Type="http://schemas.openxmlformats.org/officeDocument/2006/relationships/oleObject" Target="../embeddings/oleObject85.bin"/><Relationship Id="rId4" Type="http://schemas.openxmlformats.org/officeDocument/2006/relationships/image" Target="../media/image87.wmf"/></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90.wmf"/></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image" Target="../media/image97.png"/></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91.wmf"/></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image" Target="../media/image93.wmf"/><Relationship Id="rId3" Type="http://schemas.openxmlformats.org/officeDocument/2006/relationships/oleObject" Target="../embeddings/oleObject89.bin"/><Relationship Id="rId7" Type="http://schemas.openxmlformats.org/officeDocument/2006/relationships/oleObject" Target="../embeddings/oleObject91.bin"/><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92.wmf"/><Relationship Id="rId5" Type="http://schemas.openxmlformats.org/officeDocument/2006/relationships/oleObject" Target="../embeddings/oleObject90.bin"/><Relationship Id="rId10" Type="http://schemas.openxmlformats.org/officeDocument/2006/relationships/image" Target="../media/image94.wmf"/><Relationship Id="rId4" Type="http://schemas.openxmlformats.org/officeDocument/2006/relationships/image" Target="../media/image15.wmf"/><Relationship Id="rId9" Type="http://schemas.openxmlformats.org/officeDocument/2006/relationships/oleObject" Target="../embeddings/oleObject92.bin"/></Relationships>
</file>

<file path=ppt/slides/_rels/slide75.xml.rels><?xml version="1.0" encoding="UTF-8" standalone="yes"?>
<Relationships xmlns="http://schemas.openxmlformats.org/package/2006/relationships"><Relationship Id="rId8" Type="http://schemas.openxmlformats.org/officeDocument/2006/relationships/image" Target="../media/image97.wmf"/><Relationship Id="rId13" Type="http://schemas.openxmlformats.org/officeDocument/2006/relationships/oleObject" Target="../embeddings/oleObject98.bin"/><Relationship Id="rId3" Type="http://schemas.openxmlformats.org/officeDocument/2006/relationships/oleObject" Target="../embeddings/oleObject93.bin"/><Relationship Id="rId7" Type="http://schemas.openxmlformats.org/officeDocument/2006/relationships/oleObject" Target="../embeddings/oleObject95.bin"/><Relationship Id="rId12" Type="http://schemas.openxmlformats.org/officeDocument/2006/relationships/image" Target="../media/image99.wmf"/><Relationship Id="rId2" Type="http://schemas.openxmlformats.org/officeDocument/2006/relationships/notesSlide" Target="../notesSlides/notesSlide74.xml"/><Relationship Id="rId16" Type="http://schemas.openxmlformats.org/officeDocument/2006/relationships/image" Target="../media/image101.wmf"/><Relationship Id="rId1" Type="http://schemas.openxmlformats.org/officeDocument/2006/relationships/slideLayout" Target="../slideLayouts/slideLayout2.xml"/><Relationship Id="rId6" Type="http://schemas.openxmlformats.org/officeDocument/2006/relationships/image" Target="../media/image96.wmf"/><Relationship Id="rId11" Type="http://schemas.openxmlformats.org/officeDocument/2006/relationships/oleObject" Target="../embeddings/oleObject97.bin"/><Relationship Id="rId5" Type="http://schemas.openxmlformats.org/officeDocument/2006/relationships/oleObject" Target="../embeddings/oleObject94.bin"/><Relationship Id="rId15" Type="http://schemas.openxmlformats.org/officeDocument/2006/relationships/oleObject" Target="../embeddings/oleObject99.bin"/><Relationship Id="rId10" Type="http://schemas.openxmlformats.org/officeDocument/2006/relationships/image" Target="../media/image98.wmf"/><Relationship Id="rId4" Type="http://schemas.openxmlformats.org/officeDocument/2006/relationships/image" Target="../media/image95.wmf"/><Relationship Id="rId9" Type="http://schemas.openxmlformats.org/officeDocument/2006/relationships/oleObject" Target="../embeddings/oleObject96.bin"/><Relationship Id="rId14" Type="http://schemas.openxmlformats.org/officeDocument/2006/relationships/image" Target="../media/image100.wmf"/></Relationships>
</file>

<file path=ppt/slides/_rels/slide76.xml.rels><?xml version="1.0" encoding="UTF-8" standalone="yes"?>
<Relationships xmlns="http://schemas.openxmlformats.org/package/2006/relationships"><Relationship Id="rId8" Type="http://schemas.openxmlformats.org/officeDocument/2006/relationships/image" Target="../media/image104.wmf"/><Relationship Id="rId3" Type="http://schemas.openxmlformats.org/officeDocument/2006/relationships/oleObject" Target="../embeddings/oleObject100.bin"/><Relationship Id="rId7" Type="http://schemas.openxmlformats.org/officeDocument/2006/relationships/oleObject" Target="../embeddings/oleObject102.bin"/><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image" Target="../media/image103.wmf"/><Relationship Id="rId5" Type="http://schemas.openxmlformats.org/officeDocument/2006/relationships/oleObject" Target="../embeddings/oleObject101.bin"/><Relationship Id="rId10" Type="http://schemas.openxmlformats.org/officeDocument/2006/relationships/image" Target="../media/image105.wmf"/><Relationship Id="rId4" Type="http://schemas.openxmlformats.org/officeDocument/2006/relationships/image" Target="../media/image102.wmf"/><Relationship Id="rId9" Type="http://schemas.openxmlformats.org/officeDocument/2006/relationships/oleObject" Target="../embeddings/oleObject103.bin"/></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image" Target="../media/image107.wmf"/><Relationship Id="rId5" Type="http://schemas.openxmlformats.org/officeDocument/2006/relationships/oleObject" Target="../embeddings/oleObject105.bin"/><Relationship Id="rId4" Type="http://schemas.openxmlformats.org/officeDocument/2006/relationships/image" Target="../media/image106.w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2DD01-B154-455A-B4D9-DFF01AC0C3C1}"/>
              </a:ext>
            </a:extLst>
          </p:cNvPr>
          <p:cNvSpPr>
            <a:spLocks noGrp="1"/>
          </p:cNvSpPr>
          <p:nvPr>
            <p:ph type="title"/>
          </p:nvPr>
        </p:nvSpPr>
        <p:spPr>
          <a:xfrm>
            <a:off x="2190485" y="1926372"/>
            <a:ext cx="7454018" cy="1502627"/>
          </a:xfrm>
        </p:spPr>
        <p:txBody>
          <a:bodyPr>
            <a:normAutofit/>
          </a:bodyPr>
          <a:lstStyle/>
          <a:p>
            <a:pPr>
              <a:lnSpc>
                <a:spcPct val="120000"/>
              </a:lnSpc>
            </a:pPr>
            <a:r>
              <a:rPr lang="en-GB" sz="4000" b="1" dirty="0">
                <a:latin typeface="Times New Roman" panose="02020603050405020304" pitchFamily="18" charset="0"/>
                <a:cs typeface="Times New Roman" panose="02020603050405020304" pitchFamily="18" charset="0"/>
              </a:rPr>
              <a:t>6.0 </a:t>
            </a:r>
            <a:r>
              <a:rPr lang="en-US" sz="4000" spc="-4" dirty="0"/>
              <a:t>Non-sinusoidal Waveforms</a:t>
            </a:r>
            <a:br>
              <a:rPr lang="en-US" sz="4000" spc="-4" dirty="0"/>
            </a:br>
            <a:r>
              <a:rPr lang="en-US" sz="4000" spc="-4" dirty="0"/>
              <a:t>Fourier Analysis </a:t>
            </a:r>
            <a:endParaRPr lang="en-GB" sz="4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22518F5-E001-45B5-84BF-6CF8CE6D0467}"/>
              </a:ext>
            </a:extLst>
          </p:cNvPr>
          <p:cNvSpPr>
            <a:spLocks noGrp="1"/>
          </p:cNvSpPr>
          <p:nvPr>
            <p:ph type="body" idx="1"/>
          </p:nvPr>
        </p:nvSpPr>
        <p:spPr>
          <a:xfrm>
            <a:off x="948267" y="790703"/>
            <a:ext cx="9654258" cy="656590"/>
          </a:xfrm>
        </p:spPr>
        <p:txBody>
          <a:bodyPr>
            <a:normAutofit/>
          </a:bodyPr>
          <a:lstStyle/>
          <a:p>
            <a:pPr marL="0" indent="0" algn="ctr">
              <a:buNone/>
            </a:pPr>
            <a:r>
              <a:rPr lang="en-US" b="1" dirty="0">
                <a:solidFill>
                  <a:srgbClr val="C00000"/>
                </a:solidFill>
                <a:latin typeface="Times New Roman" panose="02020603050405020304" pitchFamily="18" charset="0"/>
                <a:cs typeface="Times New Roman" panose="02020603050405020304" pitchFamily="18" charset="0"/>
              </a:rPr>
              <a:t>EE1203 – Theory of Electricity</a:t>
            </a:r>
            <a:endParaRPr lang="en-GB" b="1" dirty="0">
              <a:solidFill>
                <a:srgbClr val="C00000"/>
              </a:solidFill>
              <a:latin typeface="Times New Roman" panose="02020603050405020304" pitchFamily="18" charset="0"/>
              <a:cs typeface="Times New Roman" panose="02020603050405020304" pitchFamily="18" charset="0"/>
            </a:endParaRPr>
          </a:p>
        </p:txBody>
      </p:sp>
      <p:sp>
        <p:nvSpPr>
          <p:cNvPr id="5" name="Text Placeholder 2">
            <a:extLst>
              <a:ext uri="{FF2B5EF4-FFF2-40B4-BE49-F238E27FC236}">
                <a16:creationId xmlns:a16="http://schemas.microsoft.com/office/drawing/2014/main" id="{AC65E412-7FA8-4B5C-8E61-D0C3D1CE11B4}"/>
              </a:ext>
            </a:extLst>
          </p:cNvPr>
          <p:cNvSpPr txBox="1">
            <a:spLocks/>
          </p:cNvSpPr>
          <p:nvPr/>
        </p:nvSpPr>
        <p:spPr>
          <a:xfrm>
            <a:off x="1447123" y="3721298"/>
            <a:ext cx="8197380" cy="2865656"/>
          </a:xfrm>
          <a:prstGeom prst="rect">
            <a:avLst/>
          </a:prstGeom>
        </p:spPr>
        <p:txBody>
          <a:bodyPr wrap="square" lIns="0" tIns="0" rIns="0" bIns="0">
            <a:spAutoFit/>
          </a:bodyPr>
          <a:lstStyle>
            <a:lvl1pPr marL="0">
              <a:defRPr sz="3200" b="0" i="0">
                <a:solidFill>
                  <a:schemeClr val="tx1"/>
                </a:solidFill>
                <a:latin typeface="Times New Roman"/>
                <a:ea typeface="+mn-ea"/>
                <a:cs typeface="Times New Roman"/>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556" b="1" i="0" u="none" strike="noStrike" kern="0" cap="none" spc="0" normalizeH="0" baseline="0" noProof="0" dirty="0">
                <a:ln>
                  <a:noFill/>
                </a:ln>
                <a:solidFill>
                  <a:srgbClr val="C00000"/>
                </a:solidFill>
                <a:effectLst/>
                <a:uLnTx/>
                <a:uFillTx/>
                <a:latin typeface="Times New Roman"/>
                <a:ea typeface="+mn-ea"/>
                <a:cs typeface="Times New Roman"/>
              </a:rPr>
              <a:t>      Prof J. Rohan Lucas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i="1" u="none" strike="noStrike" kern="0" cap="none" spc="0" normalizeH="0" baseline="0" noProof="0" dirty="0">
                <a:ln>
                  <a:noFill/>
                </a:ln>
                <a:solidFill>
                  <a:srgbClr val="C00000"/>
                </a:solidFill>
                <a:effectLst/>
                <a:uLnTx/>
                <a:uFillTx/>
                <a:latin typeface="Times New Roman"/>
                <a:ea typeface="+mn-ea"/>
                <a:cs typeface="Times New Roman"/>
              </a:rPr>
              <a:t>lucas@kdu.ac.lk</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rgbClr val="C00000"/>
              </a:solidFill>
              <a:effectLst/>
              <a:uLnTx/>
              <a:uFillTx/>
              <a:latin typeface="Times New Roman"/>
              <a:ea typeface="+mn-ea"/>
              <a:cs typeface="Times New Roman"/>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556" b="1" i="0" u="none" strike="noStrike" kern="0" cap="none" spc="0" normalizeH="0" baseline="0" noProof="0" dirty="0">
              <a:ln>
                <a:noFill/>
              </a:ln>
              <a:solidFill>
                <a:srgbClr val="C00000"/>
              </a:solidFill>
              <a:effectLst/>
              <a:uLnTx/>
              <a:uFillTx/>
              <a:latin typeface="Times New Roman"/>
              <a:ea typeface="+mn-ea"/>
              <a:cs typeface="Times New Roman"/>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prstClr val="black"/>
                </a:solidFill>
                <a:effectLst/>
                <a:uLnTx/>
                <a:uFillTx/>
                <a:latin typeface="Times New Roman"/>
                <a:ea typeface="+mn-ea"/>
                <a:cs typeface="Times New Roman"/>
              </a:rPr>
              <a:t>Department of Electrical, Electronic &amp; Telecommunication Engineering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44" b="0" i="0" u="none" strike="noStrike" kern="0" cap="none" spc="0" normalizeH="0" baseline="0" noProof="0" dirty="0">
                <a:ln>
                  <a:noFill/>
                </a:ln>
                <a:solidFill>
                  <a:prstClr val="black"/>
                </a:solidFill>
                <a:effectLst/>
                <a:uLnTx/>
                <a:uFillTx/>
                <a:latin typeface="Times New Roman"/>
                <a:ea typeface="+mn-ea"/>
                <a:cs typeface="Times New Roman"/>
              </a:rPr>
              <a:t>General Sir John Kotelawala </a:t>
            </a:r>
            <a:r>
              <a:rPr kumimoji="0" lang="en-US" sz="2844" b="0" i="0" u="none" strike="noStrike" kern="0" cap="none" spc="0" normalizeH="0" baseline="0" noProof="0" dirty="0" err="1">
                <a:ln>
                  <a:noFill/>
                </a:ln>
                <a:solidFill>
                  <a:prstClr val="black"/>
                </a:solidFill>
                <a:effectLst/>
                <a:uLnTx/>
                <a:uFillTx/>
                <a:latin typeface="Times New Roman"/>
                <a:ea typeface="+mn-ea"/>
                <a:cs typeface="Times New Roman"/>
              </a:rPr>
              <a:t>Defence</a:t>
            </a:r>
            <a:r>
              <a:rPr kumimoji="0" lang="en-US" sz="2844" b="0" i="0" u="none" strike="noStrike" kern="0" cap="none" spc="0" normalizeH="0" baseline="0" noProof="0" dirty="0">
                <a:ln>
                  <a:noFill/>
                </a:ln>
                <a:solidFill>
                  <a:prstClr val="black"/>
                </a:solidFill>
                <a:effectLst/>
                <a:uLnTx/>
                <a:uFillTx/>
                <a:latin typeface="Times New Roman"/>
                <a:ea typeface="+mn-ea"/>
                <a:cs typeface="Times New Roman"/>
              </a:rPr>
              <a:t> University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prstClr val="black"/>
                </a:solidFill>
                <a:effectLst/>
                <a:uLnTx/>
                <a:uFillTx/>
                <a:latin typeface="Times New Roman"/>
                <a:ea typeface="+mn-ea"/>
                <a:cs typeface="Times New Roman"/>
              </a:rPr>
              <a:t>October 2020</a:t>
            </a:r>
            <a:endParaRPr kumimoji="0" lang="en-GB" sz="2133" b="0" i="0" u="none" strike="noStrike" kern="0" cap="none" spc="0" normalizeH="0" baseline="0" noProof="0" dirty="0">
              <a:ln>
                <a:noFill/>
              </a:ln>
              <a:solidFill>
                <a:prstClr val="black"/>
              </a:solidFill>
              <a:effectLst/>
              <a:uLnTx/>
              <a:uFillTx/>
              <a:latin typeface="Times New Roman"/>
              <a:ea typeface="+mn-ea"/>
              <a:cs typeface="Times New Roman"/>
            </a:endParaRPr>
          </a:p>
        </p:txBody>
      </p:sp>
    </p:spTree>
    <p:custDataLst>
      <p:tags r:id="rId1"/>
    </p:custDataLst>
    <p:extLst>
      <p:ext uri="{BB962C8B-B14F-4D97-AF65-F5344CB8AC3E}">
        <p14:creationId xmlns:p14="http://schemas.microsoft.com/office/powerpoint/2010/main" val="3621768602"/>
      </p:ext>
    </p:extLst>
  </p:cSld>
  <p:clrMapOvr>
    <a:masterClrMapping/>
  </p:clrMapOvr>
  <mc:AlternateContent xmlns:mc="http://schemas.openxmlformats.org/markup-compatibility/2006" xmlns:p14="http://schemas.microsoft.com/office/powerpoint/2010/main">
    <mc:Choice Requires="p14">
      <p:transition spd="slow" p14:dur="2000" advClick="0" advTm="21114"/>
    </mc:Choice>
    <mc:Fallback xmlns="">
      <p:transition spd="slow" advClick="0" advTm="2111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403D9-5BBE-47E4-8F66-CC176CE69F43}"/>
              </a:ext>
            </a:extLst>
          </p:cNvPr>
          <p:cNvSpPr>
            <a:spLocks noGrp="1"/>
          </p:cNvSpPr>
          <p:nvPr>
            <p:ph type="title"/>
          </p:nvPr>
        </p:nvSpPr>
        <p:spPr>
          <a:xfrm>
            <a:off x="429715" y="582715"/>
            <a:ext cx="10924085" cy="482745"/>
          </a:xfrm>
        </p:spPr>
        <p:txBody>
          <a:bodyPr>
            <a:noAutofit/>
          </a:bodyPr>
          <a:lstStyle/>
          <a:p>
            <a:pPr algn="ctr"/>
            <a:r>
              <a:rPr lang="en-GB" dirty="0">
                <a:latin typeface="Times New Roman" panose="02020603050405020304" pitchFamily="18" charset="0"/>
                <a:cs typeface="Times New Roman" panose="02020603050405020304" pitchFamily="18" charset="0"/>
              </a:rPr>
              <a:t>Learning Outcomes</a:t>
            </a:r>
          </a:p>
        </p:txBody>
      </p:sp>
      <p:sp>
        <p:nvSpPr>
          <p:cNvPr id="19" name="Text Box 2347">
            <a:extLst>
              <a:ext uri="{FF2B5EF4-FFF2-40B4-BE49-F238E27FC236}">
                <a16:creationId xmlns:a16="http://schemas.microsoft.com/office/drawing/2014/main" id="{E9381B68-0349-40D5-BA33-56730954E056}"/>
              </a:ext>
            </a:extLst>
          </p:cNvPr>
          <p:cNvSpPr txBox="1">
            <a:spLocks noChangeArrowheads="1"/>
          </p:cNvSpPr>
          <p:nvPr/>
        </p:nvSpPr>
        <p:spPr bwMode="auto">
          <a:xfrm>
            <a:off x="9218266" y="2607656"/>
            <a:ext cx="442844" cy="369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400">
                <a:solidFill>
                  <a:srgbClr val="FFFFFF"/>
                </a:solidFill>
                <a:effectLst/>
                <a:latin typeface="Times New Roman" panose="02020603050405020304" pitchFamily="18" charset="0"/>
                <a:ea typeface="Times New Roman" panose="02020603050405020304" pitchFamily="18" charset="0"/>
              </a:rPr>
              <a:t>t</a:t>
            </a:r>
            <a:endParaRPr lang="en-GB" sz="800">
              <a:effectLst/>
              <a:latin typeface="Times New Roman" panose="02020603050405020304" pitchFamily="18" charset="0"/>
              <a:ea typeface="Times New Roman" panose="02020603050405020304" pitchFamily="18" charset="0"/>
            </a:endParaRPr>
          </a:p>
        </p:txBody>
      </p:sp>
      <p:sp>
        <p:nvSpPr>
          <p:cNvPr id="3" name="Rectangle 2">
            <a:extLst>
              <a:ext uri="{FF2B5EF4-FFF2-40B4-BE49-F238E27FC236}">
                <a16:creationId xmlns:a16="http://schemas.microsoft.com/office/drawing/2014/main" id="{1F9D7BD7-3FA6-4E36-8065-73CFE61DD22E}"/>
              </a:ext>
            </a:extLst>
          </p:cNvPr>
          <p:cNvSpPr/>
          <p:nvPr/>
        </p:nvSpPr>
        <p:spPr>
          <a:xfrm>
            <a:off x="280860" y="944402"/>
            <a:ext cx="11409359" cy="5785879"/>
          </a:xfrm>
          <a:prstGeom prst="rect">
            <a:avLst/>
          </a:prstGeom>
        </p:spPr>
        <p:txBody>
          <a:bodyPr wrap="square">
            <a:spAutoFit/>
          </a:bodyPr>
          <a:lstStyle/>
          <a:p>
            <a:pPr marL="1151255" indent="-1151255">
              <a:lnSpc>
                <a:spcPct val="115000"/>
              </a:lnSpc>
            </a:pPr>
            <a:r>
              <a:rPr lang="en-GB" sz="3600" dirty="0">
                <a:solidFill>
                  <a:srgbClr val="002060"/>
                </a:solidFill>
                <a:latin typeface="Times New Roman" panose="02020603050405020304" pitchFamily="18" charset="0"/>
                <a:ea typeface="Calibri" panose="020F0502020204030204" pitchFamily="34" charset="0"/>
                <a:cs typeface="Latha" panose="02000400000000000000" pitchFamily="2"/>
              </a:rPr>
              <a:t>On completion of module, student will be able to </a:t>
            </a:r>
            <a:endParaRPr lang="en-GB" sz="1200" dirty="0">
              <a:solidFill>
                <a:srgbClr val="002060"/>
              </a:solidFill>
              <a:latin typeface="Calibri" panose="020F0502020204030204" pitchFamily="34" charset="0"/>
              <a:ea typeface="Calibri" panose="020F0502020204030204" pitchFamily="34" charset="0"/>
              <a:cs typeface="Latha" panose="02000400000000000000" pitchFamily="2"/>
            </a:endParaRPr>
          </a:p>
          <a:p>
            <a:pPr marL="1151255" indent="-1151255">
              <a:lnSpc>
                <a:spcPct val="115000"/>
              </a:lnSpc>
            </a:pPr>
            <a:r>
              <a:rPr lang="en-GB" sz="36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LO1</a:t>
            </a:r>
            <a:r>
              <a:rPr lang="en-GB" sz="36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t>
            </a:r>
            <a:r>
              <a:rPr lang="en-GB" sz="36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Analyse</a:t>
            </a:r>
            <a:r>
              <a:rPr lang="en-GB" sz="36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the performances of AC circuits</a:t>
            </a:r>
            <a:r>
              <a:rPr lang="en-GB" sz="36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p>
          <a:p>
            <a:pPr marL="1151255" indent="-1151255">
              <a:lnSpc>
                <a:spcPct val="115000"/>
              </a:lnSpc>
            </a:pPr>
            <a:r>
              <a:rPr lang="en-GB" dirty="0">
                <a:solidFill>
                  <a:schemeClr val="dk1"/>
                </a:solidFill>
              </a:rPr>
              <a:t>	</a:t>
            </a:r>
            <a:r>
              <a:rPr lang="en-GB" sz="3600" dirty="0">
                <a:solidFill>
                  <a:srgbClr val="002060"/>
                </a:solidFill>
                <a:latin typeface="Times New Roman" panose="02020603050405020304" pitchFamily="18" charset="0"/>
                <a:cs typeface="Latha" panose="02000400000000000000" pitchFamily="2"/>
              </a:rPr>
              <a:t>Analyse circuits</a:t>
            </a:r>
            <a:r>
              <a:rPr lang="en-GB" dirty="0">
                <a:solidFill>
                  <a:srgbClr val="002060"/>
                </a:solidFill>
              </a:rPr>
              <a:t> </a:t>
            </a:r>
            <a:r>
              <a:rPr lang="en-GB" sz="3600" dirty="0">
                <a:solidFill>
                  <a:srgbClr val="002060"/>
                </a:solidFill>
                <a:latin typeface="Times New Roman" panose="02020603050405020304" pitchFamily="18" charset="0"/>
                <a:cs typeface="Latha" panose="02000400000000000000" pitchFamily="2"/>
              </a:rPr>
              <a:t>using nodal and mesh theory</a:t>
            </a:r>
          </a:p>
          <a:p>
            <a:pPr marL="1151255" indent="-1151255">
              <a:lnSpc>
                <a:spcPct val="115000"/>
              </a:lnSpc>
            </a:pPr>
            <a:r>
              <a:rPr lang="en-GB" sz="3600" b="1" dirty="0">
                <a:solidFill>
                  <a:srgbClr val="002060"/>
                </a:solidFill>
                <a:latin typeface="Times New Roman" panose="02020603050405020304" pitchFamily="18" charset="0"/>
                <a:ea typeface="Calibri" panose="020F0502020204030204" pitchFamily="34" charset="0"/>
                <a:cs typeface="Latha" panose="02000400000000000000" pitchFamily="2"/>
              </a:rPr>
              <a:t>LO2</a:t>
            </a:r>
            <a:r>
              <a:rPr lang="en-GB" sz="3600" dirty="0">
                <a:solidFill>
                  <a:srgbClr val="002060"/>
                </a:solidFill>
                <a:latin typeface="Times New Roman" panose="02020603050405020304" pitchFamily="18" charset="0"/>
                <a:ea typeface="Calibri" panose="020F0502020204030204" pitchFamily="34" charset="0"/>
                <a:cs typeface="Latha" panose="02000400000000000000" pitchFamily="2"/>
              </a:rPr>
              <a:t>: </a:t>
            </a:r>
            <a:r>
              <a:rPr lang="en-GB" sz="3600" b="1" dirty="0">
                <a:solidFill>
                  <a:srgbClr val="002060"/>
                </a:solidFill>
                <a:latin typeface="Times New Roman" panose="02020603050405020304" pitchFamily="18" charset="0"/>
                <a:ea typeface="Calibri" panose="020F0502020204030204" pitchFamily="34" charset="0"/>
                <a:cs typeface="Latha" panose="02000400000000000000" pitchFamily="2"/>
              </a:rPr>
              <a:t>Analyse</a:t>
            </a:r>
            <a:r>
              <a:rPr lang="en-GB" sz="3600" dirty="0">
                <a:solidFill>
                  <a:srgbClr val="002060"/>
                </a:solidFill>
                <a:latin typeface="Times New Roman" panose="02020603050405020304" pitchFamily="18" charset="0"/>
                <a:ea typeface="Calibri" panose="020F0502020204030204" pitchFamily="34" charset="0"/>
                <a:cs typeface="Latha" panose="02000400000000000000" pitchFamily="2"/>
              </a:rPr>
              <a:t> two port networks using different models. </a:t>
            </a:r>
            <a:endParaRPr lang="en-GB" sz="1200" dirty="0">
              <a:solidFill>
                <a:srgbClr val="002060"/>
              </a:solidFill>
              <a:latin typeface="Calibri" panose="020F0502020204030204" pitchFamily="34" charset="0"/>
              <a:ea typeface="Calibri" panose="020F0502020204030204" pitchFamily="34" charset="0"/>
              <a:cs typeface="Latha" panose="02000400000000000000" pitchFamily="2"/>
            </a:endParaRPr>
          </a:p>
          <a:p>
            <a:pPr marL="1151255" indent="-1151255">
              <a:lnSpc>
                <a:spcPct val="115000"/>
              </a:lnSpc>
            </a:pPr>
            <a:r>
              <a:rPr lang="en-GB" sz="36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LO3</a:t>
            </a:r>
            <a:r>
              <a:rPr lang="en-GB" sz="36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t>
            </a:r>
            <a:r>
              <a:rPr lang="en-GB" sz="36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Analyse</a:t>
            </a:r>
            <a:r>
              <a:rPr lang="en-GB" sz="36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transfer functions of </a:t>
            </a:r>
            <a:r>
              <a:rPr lang="en-GB" sz="3600" dirty="0" err="1">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RLC</a:t>
            </a:r>
            <a:r>
              <a:rPr lang="en-GB" sz="36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networks for transients. </a:t>
            </a:r>
            <a:endParaRPr lang="en-GB" sz="1200" dirty="0">
              <a:solidFill>
                <a:srgbClr val="002060"/>
              </a:solidFill>
              <a:latin typeface="Calibri" panose="020F0502020204030204" pitchFamily="34" charset="0"/>
              <a:ea typeface="Times New Roman" panose="02020603050405020304" pitchFamily="18" charset="0"/>
              <a:cs typeface="Times New Roman" panose="02020603050405020304" pitchFamily="18" charset="0"/>
            </a:endParaRPr>
          </a:p>
          <a:p>
            <a:pPr marL="1151255" indent="-1151255">
              <a:lnSpc>
                <a:spcPct val="115000"/>
              </a:lnSpc>
            </a:pPr>
            <a:r>
              <a:rPr lang="en-GB" sz="36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LO4</a:t>
            </a:r>
            <a:r>
              <a:rPr lang="en-GB" sz="36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t>
            </a:r>
            <a:r>
              <a:rPr lang="en-GB" sz="36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Analyse waveforms for its harmonics</a:t>
            </a:r>
            <a:r>
              <a:rPr lang="en-GB" sz="36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p>
          <a:p>
            <a:pPr marL="1151255" indent="-1151255">
              <a:lnSpc>
                <a:spcPct val="115000"/>
              </a:lnSpc>
            </a:pPr>
            <a:r>
              <a:rPr lang="en-US" sz="36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LO5: Perform </a:t>
            </a:r>
            <a:r>
              <a:rPr lang="en-US" sz="36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calculations in three phase circuits    including unbalanced waveforms.</a:t>
            </a:r>
            <a:endParaRPr lang="en-GB" sz="3600" dirty="0">
              <a:solidFill>
                <a:srgbClr val="002060"/>
              </a:solidFill>
            </a:endParaRPr>
          </a:p>
        </p:txBody>
      </p:sp>
    </p:spTree>
    <p:custDataLst>
      <p:tags r:id="rId1"/>
    </p:custDataLst>
    <p:extLst>
      <p:ext uri="{BB962C8B-B14F-4D97-AF65-F5344CB8AC3E}">
        <p14:creationId xmlns:p14="http://schemas.microsoft.com/office/powerpoint/2010/main" val="3939636668"/>
      </p:ext>
    </p:extLst>
  </p:cSld>
  <p:clrMapOvr>
    <a:masterClrMapping/>
  </p:clrMapOvr>
  <mc:AlternateContent xmlns:mc="http://schemas.openxmlformats.org/markup-compatibility/2006" xmlns:p14="http://schemas.microsoft.com/office/powerpoint/2010/main">
    <mc:Choice Requires="p14">
      <p:transition spd="slow" p14:dur="2000" advTm="14550"/>
    </mc:Choice>
    <mc:Fallback xmlns="">
      <p:transition spd="slow" advTm="1455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fontScale="90000"/>
          </a:bodyPr>
          <a:lstStyle/>
          <a:p>
            <a:r>
              <a:rPr lang="en-GB" sz="3600" dirty="0"/>
              <a:t>Non-Sinusoidal Waveforms – Fourier Analysis</a:t>
            </a:r>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40" name="Rectangle 36">
            <a:extLst>
              <a:ext uri="{FF2B5EF4-FFF2-40B4-BE49-F238E27FC236}">
                <a16:creationId xmlns:a16="http://schemas.microsoft.com/office/drawing/2014/main" id="{FA15D7E4-27C0-4B06-BFB4-0C8426E39DE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42" name="Rectangle 37">
            <a:extLst>
              <a:ext uri="{FF2B5EF4-FFF2-40B4-BE49-F238E27FC236}">
                <a16:creationId xmlns:a16="http://schemas.microsoft.com/office/drawing/2014/main" id="{A06BFA38-13BF-493E-918E-E7B893E607BF}"/>
              </a:ext>
            </a:extLst>
          </p:cNvPr>
          <p:cNvSpPr>
            <a:spLocks noChangeArrowheads="1"/>
          </p:cNvSpPr>
          <p:nvPr/>
        </p:nvSpPr>
        <p:spPr bwMode="auto">
          <a:xfrm>
            <a:off x="0" y="573504"/>
            <a:ext cx="12039600"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GB" altLang="en-US" sz="4000" b="1" i="0" u="none" strike="noStrike" cap="none" normalizeH="0" baseline="0" dirty="0">
              <a:ln>
                <a:noFill/>
              </a:ln>
              <a:solidFill>
                <a:srgbClr val="C00000"/>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4000" b="1" i="0" u="none" strike="noStrike" cap="none" normalizeH="0" baseline="0" dirty="0">
                <a:ln>
                  <a:noFill/>
                </a:ln>
                <a:solidFill>
                  <a:srgbClr val="C00000"/>
                </a:solidFill>
                <a:effectLst/>
                <a:latin typeface="Arial" panose="020B0604020202020204" pitchFamily="34" charset="0"/>
              </a:rPr>
              <a:t>Simple Waveforms</a:t>
            </a:r>
            <a:endParaRPr kumimoji="0" lang="en-GB" altLang="en-US" sz="11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You are now familiar with direct waveforms and sinusoidal alternating waveforms</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grpSp>
        <p:nvGrpSpPr>
          <p:cNvPr id="43" name="Group 42">
            <a:extLst>
              <a:ext uri="{FF2B5EF4-FFF2-40B4-BE49-F238E27FC236}">
                <a16:creationId xmlns:a16="http://schemas.microsoft.com/office/drawing/2014/main" id="{2A504051-3E17-4DDE-9237-DD6182D27A33}"/>
              </a:ext>
            </a:extLst>
          </p:cNvPr>
          <p:cNvGrpSpPr>
            <a:grpSpLocks noChangeAspect="1"/>
          </p:cNvGrpSpPr>
          <p:nvPr/>
        </p:nvGrpSpPr>
        <p:grpSpPr bwMode="auto">
          <a:xfrm>
            <a:off x="152400" y="3104699"/>
            <a:ext cx="10060200" cy="3118757"/>
            <a:chOff x="463" y="6171"/>
            <a:chExt cx="16200" cy="4142"/>
          </a:xfrm>
        </p:grpSpPr>
        <p:cxnSp>
          <p:nvCxnSpPr>
            <p:cNvPr id="44" name="Line 3">
              <a:extLst>
                <a:ext uri="{FF2B5EF4-FFF2-40B4-BE49-F238E27FC236}">
                  <a16:creationId xmlns:a16="http://schemas.microsoft.com/office/drawing/2014/main" id="{F2959207-4F1C-42EC-B727-F1EA805A6EF3}"/>
                </a:ext>
              </a:extLst>
            </p:cNvPr>
            <p:cNvCxnSpPr>
              <a:cxnSpLocks noChangeShapeType="1"/>
            </p:cNvCxnSpPr>
            <p:nvPr/>
          </p:nvCxnSpPr>
          <p:spPr bwMode="auto">
            <a:xfrm>
              <a:off x="2218" y="6640"/>
              <a:ext cx="3" cy="2735"/>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45" name="Line 4">
              <a:extLst>
                <a:ext uri="{FF2B5EF4-FFF2-40B4-BE49-F238E27FC236}">
                  <a16:creationId xmlns:a16="http://schemas.microsoft.com/office/drawing/2014/main" id="{C09A2F99-8697-40AE-A685-ABFD879FC608}"/>
                </a:ext>
              </a:extLst>
            </p:cNvPr>
            <p:cNvCxnSpPr>
              <a:cxnSpLocks noChangeShapeType="1"/>
            </p:cNvCxnSpPr>
            <p:nvPr/>
          </p:nvCxnSpPr>
          <p:spPr bwMode="auto">
            <a:xfrm>
              <a:off x="1008" y="9375"/>
              <a:ext cx="6052" cy="2"/>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sp>
          <p:nvSpPr>
            <p:cNvPr id="46" name="Freeform 5">
              <a:extLst>
                <a:ext uri="{FF2B5EF4-FFF2-40B4-BE49-F238E27FC236}">
                  <a16:creationId xmlns:a16="http://schemas.microsoft.com/office/drawing/2014/main" id="{CA82F7A7-E0A4-40C0-8B79-8290A5B5C43C}"/>
                </a:ext>
              </a:extLst>
            </p:cNvPr>
            <p:cNvSpPr>
              <a:spLocks noChangeAspect="1"/>
            </p:cNvSpPr>
            <p:nvPr/>
          </p:nvSpPr>
          <p:spPr bwMode="auto">
            <a:xfrm>
              <a:off x="9239" y="6944"/>
              <a:ext cx="5205" cy="2315"/>
            </a:xfrm>
            <a:custGeom>
              <a:avLst/>
              <a:gdLst>
                <a:gd name="T0" fmla="*/ 0 w 5160"/>
                <a:gd name="T1" fmla="*/ 772 h 2742"/>
                <a:gd name="T2" fmla="*/ 450 w 5160"/>
                <a:gd name="T3" fmla="*/ 172 h 2742"/>
                <a:gd name="T4" fmla="*/ 915 w 5160"/>
                <a:gd name="T5" fmla="*/ 217 h 2742"/>
                <a:gd name="T6" fmla="*/ 1620 w 5160"/>
                <a:gd name="T7" fmla="*/ 1402 h 2742"/>
                <a:gd name="T8" fmla="*/ 2235 w 5160"/>
                <a:gd name="T9" fmla="*/ 2527 h 2742"/>
                <a:gd name="T10" fmla="*/ 2880 w 5160"/>
                <a:gd name="T11" fmla="*/ 2557 h 2742"/>
                <a:gd name="T12" fmla="*/ 3525 w 5160"/>
                <a:gd name="T13" fmla="*/ 1417 h 2742"/>
                <a:gd name="T14" fmla="*/ 4245 w 5160"/>
                <a:gd name="T15" fmla="*/ 202 h 2742"/>
                <a:gd name="T16" fmla="*/ 4725 w 5160"/>
                <a:gd name="T17" fmla="*/ 202 h 2742"/>
                <a:gd name="T18" fmla="*/ 5160 w 5160"/>
                <a:gd name="T19" fmla="*/ 772 h 2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60" h="2742">
                  <a:moveTo>
                    <a:pt x="0" y="772"/>
                  </a:moveTo>
                  <a:cubicBezTo>
                    <a:pt x="75" y="672"/>
                    <a:pt x="297" y="265"/>
                    <a:pt x="450" y="172"/>
                  </a:cubicBezTo>
                  <a:cubicBezTo>
                    <a:pt x="603" y="79"/>
                    <a:pt x="720" y="12"/>
                    <a:pt x="915" y="217"/>
                  </a:cubicBezTo>
                  <a:cubicBezTo>
                    <a:pt x="1110" y="422"/>
                    <a:pt x="1400" y="1017"/>
                    <a:pt x="1620" y="1402"/>
                  </a:cubicBezTo>
                  <a:cubicBezTo>
                    <a:pt x="1840" y="1787"/>
                    <a:pt x="2025" y="2335"/>
                    <a:pt x="2235" y="2527"/>
                  </a:cubicBezTo>
                  <a:cubicBezTo>
                    <a:pt x="2445" y="2719"/>
                    <a:pt x="2665" y="2742"/>
                    <a:pt x="2880" y="2557"/>
                  </a:cubicBezTo>
                  <a:cubicBezTo>
                    <a:pt x="3095" y="2372"/>
                    <a:pt x="3298" y="1809"/>
                    <a:pt x="3525" y="1417"/>
                  </a:cubicBezTo>
                  <a:cubicBezTo>
                    <a:pt x="3752" y="1025"/>
                    <a:pt x="4045" y="404"/>
                    <a:pt x="4245" y="202"/>
                  </a:cubicBezTo>
                  <a:cubicBezTo>
                    <a:pt x="4445" y="0"/>
                    <a:pt x="4573" y="107"/>
                    <a:pt x="4725" y="202"/>
                  </a:cubicBezTo>
                  <a:cubicBezTo>
                    <a:pt x="4877" y="297"/>
                    <a:pt x="5070" y="653"/>
                    <a:pt x="5160" y="772"/>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47" name="Line 6">
              <a:extLst>
                <a:ext uri="{FF2B5EF4-FFF2-40B4-BE49-F238E27FC236}">
                  <a16:creationId xmlns:a16="http://schemas.microsoft.com/office/drawing/2014/main" id="{C23408EA-52F4-439B-9EC5-9994F202A323}"/>
                </a:ext>
              </a:extLst>
            </p:cNvPr>
            <p:cNvCxnSpPr>
              <a:cxnSpLocks noChangeShapeType="1"/>
            </p:cNvCxnSpPr>
            <p:nvPr/>
          </p:nvCxnSpPr>
          <p:spPr bwMode="auto">
            <a:xfrm>
              <a:off x="10208" y="6640"/>
              <a:ext cx="0" cy="2735"/>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48" name="Line 7">
              <a:extLst>
                <a:ext uri="{FF2B5EF4-FFF2-40B4-BE49-F238E27FC236}">
                  <a16:creationId xmlns:a16="http://schemas.microsoft.com/office/drawing/2014/main" id="{61CD1D92-6B4D-4E7C-82AB-CA78C01C95DC}"/>
                </a:ext>
              </a:extLst>
            </p:cNvPr>
            <p:cNvCxnSpPr>
              <a:cxnSpLocks noChangeShapeType="1"/>
            </p:cNvCxnSpPr>
            <p:nvPr/>
          </p:nvCxnSpPr>
          <p:spPr bwMode="auto">
            <a:xfrm>
              <a:off x="9239" y="8109"/>
              <a:ext cx="5569"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49" name="Line 8">
              <a:extLst>
                <a:ext uri="{FF2B5EF4-FFF2-40B4-BE49-F238E27FC236}">
                  <a16:creationId xmlns:a16="http://schemas.microsoft.com/office/drawing/2014/main" id="{ED88CABA-5CF2-413C-92B9-951330B315FA}"/>
                </a:ext>
              </a:extLst>
            </p:cNvPr>
            <p:cNvCxnSpPr>
              <a:cxnSpLocks noChangeShapeType="1"/>
            </p:cNvCxnSpPr>
            <p:nvPr/>
          </p:nvCxnSpPr>
          <p:spPr bwMode="auto">
            <a:xfrm>
              <a:off x="1008" y="7552"/>
              <a:ext cx="5568" cy="1"/>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sp>
          <p:nvSpPr>
            <p:cNvPr id="50" name="Text Box 9">
              <a:extLst>
                <a:ext uri="{FF2B5EF4-FFF2-40B4-BE49-F238E27FC236}">
                  <a16:creationId xmlns:a16="http://schemas.microsoft.com/office/drawing/2014/main" id="{258053F2-FCAC-45CA-B667-7131C32305B4}"/>
                </a:ext>
              </a:extLst>
            </p:cNvPr>
            <p:cNvSpPr txBox="1">
              <a:spLocks noChangeArrowheads="1"/>
            </p:cNvSpPr>
            <p:nvPr/>
          </p:nvSpPr>
          <p:spPr bwMode="auto">
            <a:xfrm>
              <a:off x="463" y="9592"/>
              <a:ext cx="7328" cy="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Figure 1(a) – direct waveform</a:t>
              </a:r>
              <a:endParaRPr lang="en-GB" sz="1200">
                <a:effectLst/>
                <a:latin typeface="Times New Roman" panose="02020603050405020304" pitchFamily="18" charset="0"/>
                <a:ea typeface="Times New Roman" panose="02020603050405020304" pitchFamily="18" charset="0"/>
              </a:endParaRPr>
            </a:p>
          </p:txBody>
        </p:sp>
        <p:sp>
          <p:nvSpPr>
            <p:cNvPr id="51" name="Text Box 10">
              <a:extLst>
                <a:ext uri="{FF2B5EF4-FFF2-40B4-BE49-F238E27FC236}">
                  <a16:creationId xmlns:a16="http://schemas.microsoft.com/office/drawing/2014/main" id="{0EDE3A4C-5671-46D7-8207-B6ACF40C5E6B}"/>
                </a:ext>
              </a:extLst>
            </p:cNvPr>
            <p:cNvSpPr txBox="1">
              <a:spLocks noChangeArrowheads="1"/>
            </p:cNvSpPr>
            <p:nvPr/>
          </p:nvSpPr>
          <p:spPr bwMode="auto">
            <a:xfrm>
              <a:off x="8151" y="9566"/>
              <a:ext cx="8512" cy="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dirty="0">
                  <a:solidFill>
                    <a:srgbClr val="002060"/>
                  </a:solidFill>
                  <a:effectLst/>
                  <a:latin typeface="Times New Roman" panose="02020603050405020304" pitchFamily="18" charset="0"/>
                  <a:ea typeface="Times New Roman" panose="02020603050405020304" pitchFamily="18" charset="0"/>
                </a:rPr>
                <a:t>Figure 1(b) – sinusoidal waveform</a:t>
              </a:r>
              <a:endParaRPr lang="en-GB" sz="1200" dirty="0">
                <a:effectLst/>
                <a:latin typeface="Times New Roman" panose="02020603050405020304" pitchFamily="18" charset="0"/>
                <a:ea typeface="Times New Roman" panose="02020603050405020304" pitchFamily="18" charset="0"/>
              </a:endParaRPr>
            </a:p>
          </p:txBody>
        </p:sp>
        <p:sp>
          <p:nvSpPr>
            <p:cNvPr id="52" name="Text Box 11">
              <a:extLst>
                <a:ext uri="{FF2B5EF4-FFF2-40B4-BE49-F238E27FC236}">
                  <a16:creationId xmlns:a16="http://schemas.microsoft.com/office/drawing/2014/main" id="{ABCD4232-31C5-49B0-80C1-06FF25BB5FF8}"/>
                </a:ext>
              </a:extLst>
            </p:cNvPr>
            <p:cNvSpPr txBox="1">
              <a:spLocks noChangeArrowheads="1"/>
            </p:cNvSpPr>
            <p:nvPr/>
          </p:nvSpPr>
          <p:spPr bwMode="auto">
            <a:xfrm>
              <a:off x="1008" y="6171"/>
              <a:ext cx="1453" cy="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53" name="Text Box 12">
              <a:extLst>
                <a:ext uri="{FF2B5EF4-FFF2-40B4-BE49-F238E27FC236}">
                  <a16:creationId xmlns:a16="http://schemas.microsoft.com/office/drawing/2014/main" id="{512B516A-CC25-49CB-9070-CE5885E59732}"/>
                </a:ext>
              </a:extLst>
            </p:cNvPr>
            <p:cNvSpPr txBox="1">
              <a:spLocks noChangeArrowheads="1"/>
            </p:cNvSpPr>
            <p:nvPr/>
          </p:nvSpPr>
          <p:spPr bwMode="auto">
            <a:xfrm>
              <a:off x="8997" y="6171"/>
              <a:ext cx="1453" cy="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54" name="Text Box 13">
              <a:extLst>
                <a:ext uri="{FF2B5EF4-FFF2-40B4-BE49-F238E27FC236}">
                  <a16:creationId xmlns:a16="http://schemas.microsoft.com/office/drawing/2014/main" id="{FD37DC77-DD36-4F15-A1FE-53D73A275EB3}"/>
                </a:ext>
              </a:extLst>
            </p:cNvPr>
            <p:cNvSpPr txBox="1">
              <a:spLocks noChangeArrowheads="1"/>
            </p:cNvSpPr>
            <p:nvPr/>
          </p:nvSpPr>
          <p:spPr bwMode="auto">
            <a:xfrm>
              <a:off x="2945" y="6789"/>
              <a:ext cx="2421" cy="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a(t) = A</a:t>
              </a:r>
              <a:endParaRPr lang="en-GB" sz="1200">
                <a:effectLst/>
                <a:latin typeface="Times New Roman" panose="02020603050405020304" pitchFamily="18" charset="0"/>
                <a:ea typeface="Times New Roman" panose="02020603050405020304" pitchFamily="18" charset="0"/>
              </a:endParaRPr>
            </a:p>
          </p:txBody>
        </p:sp>
        <p:sp>
          <p:nvSpPr>
            <p:cNvPr id="55" name="Text Box 14">
              <a:extLst>
                <a:ext uri="{FF2B5EF4-FFF2-40B4-BE49-F238E27FC236}">
                  <a16:creationId xmlns:a16="http://schemas.microsoft.com/office/drawing/2014/main" id="{97A7BFA1-1F60-4399-BA5F-8531176F5266}"/>
                </a:ext>
              </a:extLst>
            </p:cNvPr>
            <p:cNvSpPr txBox="1">
              <a:spLocks noChangeArrowheads="1"/>
            </p:cNvSpPr>
            <p:nvPr/>
          </p:nvSpPr>
          <p:spPr bwMode="auto">
            <a:xfrm>
              <a:off x="10692" y="6336"/>
              <a:ext cx="5225" cy="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a(t) = A</a:t>
              </a:r>
              <a:r>
                <a:rPr lang="en-GB" sz="2800" baseline="-25000">
                  <a:solidFill>
                    <a:srgbClr val="002060"/>
                  </a:solidFill>
                  <a:effectLst/>
                  <a:latin typeface="Times New Roman" panose="02020603050405020304" pitchFamily="18" charset="0"/>
                  <a:ea typeface="Times New Roman" panose="02020603050405020304" pitchFamily="18" charset="0"/>
                </a:rPr>
                <a:t>m</a:t>
              </a:r>
              <a:r>
                <a:rPr lang="en-GB" sz="2800">
                  <a:solidFill>
                    <a:srgbClr val="002060"/>
                  </a:solidFill>
                  <a:effectLst/>
                  <a:latin typeface="Times New Roman" panose="02020603050405020304" pitchFamily="18" charset="0"/>
                  <a:ea typeface="Times New Roman" panose="02020603050405020304" pitchFamily="18" charset="0"/>
                </a:rPr>
                <a:t> sin(</a:t>
              </a:r>
              <a:r>
                <a:rPr lang="en-GB" sz="2800">
                  <a:solidFill>
                    <a:srgbClr val="002060"/>
                  </a:solidFill>
                  <a:effectLst/>
                  <a:latin typeface="Symbol" panose="05050102010706020507" pitchFamily="18" charset="2"/>
                  <a:ea typeface="Times New Roman" panose="02020603050405020304" pitchFamily="18" charset="0"/>
                </a:rPr>
                <a:t>w</a:t>
              </a:r>
              <a:r>
                <a:rPr lang="en-GB" sz="2800">
                  <a:solidFill>
                    <a:srgbClr val="002060"/>
                  </a:solidFill>
                  <a:effectLst/>
                  <a:latin typeface="Times New Roman" panose="02020603050405020304" pitchFamily="18" charset="0"/>
                  <a:ea typeface="Times New Roman" panose="02020603050405020304" pitchFamily="18" charset="0"/>
                </a:rPr>
                <a:t>t+</a:t>
              </a:r>
              <a:r>
                <a:rPr lang="en-GB" sz="2800">
                  <a:solidFill>
                    <a:srgbClr val="002060"/>
                  </a:solidFill>
                  <a:effectLst/>
                  <a:latin typeface="Symbol" panose="05050102010706020507" pitchFamily="18" charset="2"/>
                  <a:ea typeface="Times New Roman" panose="02020603050405020304" pitchFamily="18" charset="0"/>
                </a:rPr>
                <a:t>q</a:t>
              </a:r>
              <a:r>
                <a:rPr lang="en-GB" sz="2800">
                  <a:solidFill>
                    <a:srgbClr val="002060"/>
                  </a:solidFill>
                  <a:effectLst/>
                  <a:latin typeface="Times New Roman" panose="02020603050405020304" pitchFamily="18" charset="0"/>
                  <a:ea typeface="Times New Roman" panose="02020603050405020304" pitchFamily="18" charset="0"/>
                </a:rPr>
                <a:t>)</a:t>
              </a:r>
              <a:endParaRPr lang="en-GB" sz="1200">
                <a:effectLst/>
                <a:latin typeface="Times New Roman" panose="02020603050405020304" pitchFamily="18" charset="0"/>
                <a:ea typeface="Times New Roman" panose="02020603050405020304" pitchFamily="18" charset="0"/>
              </a:endParaRPr>
            </a:p>
          </p:txBody>
        </p:sp>
        <p:sp>
          <p:nvSpPr>
            <p:cNvPr id="56" name="Text Box 15">
              <a:extLst>
                <a:ext uri="{FF2B5EF4-FFF2-40B4-BE49-F238E27FC236}">
                  <a16:creationId xmlns:a16="http://schemas.microsoft.com/office/drawing/2014/main" id="{5A570EFB-C8F1-4C00-9AD0-EEABDFC7C88A}"/>
                </a:ext>
              </a:extLst>
            </p:cNvPr>
            <p:cNvSpPr txBox="1">
              <a:spLocks noChangeArrowheads="1"/>
            </p:cNvSpPr>
            <p:nvPr/>
          </p:nvSpPr>
          <p:spPr bwMode="auto">
            <a:xfrm>
              <a:off x="6092" y="8767"/>
              <a:ext cx="726"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57" name="Text Box 16">
              <a:extLst>
                <a:ext uri="{FF2B5EF4-FFF2-40B4-BE49-F238E27FC236}">
                  <a16:creationId xmlns:a16="http://schemas.microsoft.com/office/drawing/2014/main" id="{D5D4A74C-EE78-4CBF-AEA0-A6886F630337}"/>
                </a:ext>
              </a:extLst>
            </p:cNvPr>
            <p:cNvSpPr txBox="1">
              <a:spLocks noChangeArrowheads="1"/>
            </p:cNvSpPr>
            <p:nvPr/>
          </p:nvSpPr>
          <p:spPr bwMode="auto">
            <a:xfrm>
              <a:off x="14081" y="8160"/>
              <a:ext cx="727"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a:solidFill>
                    <a:srgbClr val="FFFFFF"/>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grpSp>
    </p:spTree>
    <p:extLst>
      <p:ext uri="{BB962C8B-B14F-4D97-AF65-F5344CB8AC3E}">
        <p14:creationId xmlns:p14="http://schemas.microsoft.com/office/powerpoint/2010/main" val="1621556281"/>
      </p:ext>
    </p:extLst>
  </p:cSld>
  <p:clrMapOvr>
    <a:masterClrMapping/>
  </p:clrMapOvr>
  <mc:AlternateContent xmlns:mc="http://schemas.openxmlformats.org/markup-compatibility/2006" xmlns:p14="http://schemas.microsoft.com/office/powerpoint/2010/main">
    <mc:Choice Requires="p14">
      <p:transition spd="slow" p14:dur="2000" advTm="37420"/>
    </mc:Choice>
    <mc:Fallback xmlns="">
      <p:transition spd="slow" advTm="3742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490165"/>
            <a:ext cx="10924085" cy="553998"/>
          </a:xfrm>
        </p:spPr>
        <p:txBody>
          <a:bodyPr>
            <a:normAutofit/>
          </a:bodyPr>
          <a:lstStyle/>
          <a:p>
            <a:r>
              <a:rPr lang="en-GB" dirty="0"/>
              <a:t>Other Waveforms</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pSp>
        <p:nvGrpSpPr>
          <p:cNvPr id="4" name="Group 3">
            <a:extLst>
              <a:ext uri="{FF2B5EF4-FFF2-40B4-BE49-F238E27FC236}">
                <a16:creationId xmlns:a16="http://schemas.microsoft.com/office/drawing/2014/main" id="{B01E256B-C7F3-42AC-9C03-D32C55BB6ADE}"/>
              </a:ext>
            </a:extLst>
          </p:cNvPr>
          <p:cNvGrpSpPr>
            <a:grpSpLocks noChangeAspect="1"/>
          </p:cNvGrpSpPr>
          <p:nvPr/>
        </p:nvGrpSpPr>
        <p:grpSpPr bwMode="auto">
          <a:xfrm>
            <a:off x="600085" y="977334"/>
            <a:ext cx="11142736" cy="1197609"/>
            <a:chOff x="845" y="1321"/>
            <a:chExt cx="19425" cy="2248"/>
          </a:xfrm>
        </p:grpSpPr>
        <p:cxnSp>
          <p:nvCxnSpPr>
            <p:cNvPr id="5" name="Line 18">
              <a:extLst>
                <a:ext uri="{FF2B5EF4-FFF2-40B4-BE49-F238E27FC236}">
                  <a16:creationId xmlns:a16="http://schemas.microsoft.com/office/drawing/2014/main" id="{62115E98-3002-46E3-9E20-8B7B974F1028}"/>
                </a:ext>
              </a:extLst>
            </p:cNvPr>
            <p:cNvCxnSpPr>
              <a:cxnSpLocks noChangeShapeType="1"/>
            </p:cNvCxnSpPr>
            <p:nvPr/>
          </p:nvCxnSpPr>
          <p:spPr bwMode="auto">
            <a:xfrm>
              <a:off x="1526" y="1546"/>
              <a:ext cx="0" cy="1573"/>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6" name="Line 19">
              <a:extLst>
                <a:ext uri="{FF2B5EF4-FFF2-40B4-BE49-F238E27FC236}">
                  <a16:creationId xmlns:a16="http://schemas.microsoft.com/office/drawing/2014/main" id="{1B8ECDF2-A9D7-4917-A738-AB8BE49F525A}"/>
                </a:ext>
              </a:extLst>
            </p:cNvPr>
            <p:cNvCxnSpPr>
              <a:cxnSpLocks noChangeShapeType="1"/>
            </p:cNvCxnSpPr>
            <p:nvPr/>
          </p:nvCxnSpPr>
          <p:spPr bwMode="auto">
            <a:xfrm>
              <a:off x="845" y="3118"/>
              <a:ext cx="4084"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sp>
          <p:nvSpPr>
            <p:cNvPr id="7" name="Freeform 20">
              <a:extLst>
                <a:ext uri="{FF2B5EF4-FFF2-40B4-BE49-F238E27FC236}">
                  <a16:creationId xmlns:a16="http://schemas.microsoft.com/office/drawing/2014/main" id="{F2292E4D-6CD2-4FAE-BE8F-B35430C83391}"/>
                </a:ext>
              </a:extLst>
            </p:cNvPr>
            <p:cNvSpPr>
              <a:spLocks/>
            </p:cNvSpPr>
            <p:nvPr/>
          </p:nvSpPr>
          <p:spPr bwMode="auto">
            <a:xfrm>
              <a:off x="845" y="1771"/>
              <a:ext cx="3857" cy="1124"/>
            </a:xfrm>
            <a:custGeom>
              <a:avLst/>
              <a:gdLst>
                <a:gd name="T0" fmla="*/ 0 w 2040"/>
                <a:gd name="T1" fmla="*/ 0 h 900"/>
                <a:gd name="T2" fmla="*/ 480 w 2040"/>
                <a:gd name="T3" fmla="*/ 360 h 900"/>
                <a:gd name="T4" fmla="*/ 1200 w 2040"/>
                <a:gd name="T5" fmla="*/ 720 h 900"/>
                <a:gd name="T6" fmla="*/ 2040 w 2040"/>
                <a:gd name="T7" fmla="*/ 900 h 900"/>
              </a:gdLst>
              <a:ahLst/>
              <a:cxnLst>
                <a:cxn ang="0">
                  <a:pos x="T0" y="T1"/>
                </a:cxn>
                <a:cxn ang="0">
                  <a:pos x="T2" y="T3"/>
                </a:cxn>
                <a:cxn ang="0">
                  <a:pos x="T4" y="T5"/>
                </a:cxn>
                <a:cxn ang="0">
                  <a:pos x="T6" y="T7"/>
                </a:cxn>
              </a:cxnLst>
              <a:rect l="0" t="0" r="r" b="b"/>
              <a:pathLst>
                <a:path w="2040" h="900">
                  <a:moveTo>
                    <a:pt x="0" y="0"/>
                  </a:moveTo>
                  <a:cubicBezTo>
                    <a:pt x="140" y="120"/>
                    <a:pt x="280" y="240"/>
                    <a:pt x="480" y="360"/>
                  </a:cubicBezTo>
                  <a:cubicBezTo>
                    <a:pt x="680" y="480"/>
                    <a:pt x="940" y="630"/>
                    <a:pt x="1200" y="720"/>
                  </a:cubicBezTo>
                  <a:cubicBezTo>
                    <a:pt x="1460" y="810"/>
                    <a:pt x="1750" y="855"/>
                    <a:pt x="2040" y="900"/>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8" name="Text Box 21">
              <a:extLst>
                <a:ext uri="{FF2B5EF4-FFF2-40B4-BE49-F238E27FC236}">
                  <a16:creationId xmlns:a16="http://schemas.microsoft.com/office/drawing/2014/main" id="{1BAEE818-83F1-48DD-85AA-EDBDF240B5F4}"/>
                </a:ext>
              </a:extLst>
            </p:cNvPr>
            <p:cNvSpPr txBox="1">
              <a:spLocks noChangeArrowheads="1"/>
            </p:cNvSpPr>
            <p:nvPr/>
          </p:nvSpPr>
          <p:spPr bwMode="auto">
            <a:xfrm>
              <a:off x="1526" y="1321"/>
              <a:ext cx="1361"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16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9" name="Text Box 22">
              <a:extLst>
                <a:ext uri="{FF2B5EF4-FFF2-40B4-BE49-F238E27FC236}">
                  <a16:creationId xmlns:a16="http://schemas.microsoft.com/office/drawing/2014/main" id="{E87C333C-43C0-407A-BCAD-075B37ABCE3D}"/>
                </a:ext>
              </a:extLst>
            </p:cNvPr>
            <p:cNvSpPr txBox="1">
              <a:spLocks noChangeArrowheads="1"/>
            </p:cNvSpPr>
            <p:nvPr/>
          </p:nvSpPr>
          <p:spPr bwMode="auto">
            <a:xfrm>
              <a:off x="4702" y="2562"/>
              <a:ext cx="680"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16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cxnSp>
          <p:nvCxnSpPr>
            <p:cNvPr id="10" name="Line 23">
              <a:extLst>
                <a:ext uri="{FF2B5EF4-FFF2-40B4-BE49-F238E27FC236}">
                  <a16:creationId xmlns:a16="http://schemas.microsoft.com/office/drawing/2014/main" id="{C7FD6827-C773-4CC4-8E9B-6D9D8F0886FD}"/>
                </a:ext>
              </a:extLst>
            </p:cNvPr>
            <p:cNvCxnSpPr>
              <a:cxnSpLocks noChangeShapeType="1"/>
            </p:cNvCxnSpPr>
            <p:nvPr/>
          </p:nvCxnSpPr>
          <p:spPr bwMode="auto">
            <a:xfrm>
              <a:off x="6446" y="1546"/>
              <a:ext cx="0" cy="1573"/>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11" name="Line 24">
              <a:extLst>
                <a:ext uri="{FF2B5EF4-FFF2-40B4-BE49-F238E27FC236}">
                  <a16:creationId xmlns:a16="http://schemas.microsoft.com/office/drawing/2014/main" id="{1FC801D4-E377-4DE3-957A-D90E12C6AB0C}"/>
                </a:ext>
              </a:extLst>
            </p:cNvPr>
            <p:cNvCxnSpPr>
              <a:cxnSpLocks noChangeShapeType="1"/>
            </p:cNvCxnSpPr>
            <p:nvPr/>
          </p:nvCxnSpPr>
          <p:spPr bwMode="auto">
            <a:xfrm>
              <a:off x="5766" y="3118"/>
              <a:ext cx="4083"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sp>
          <p:nvSpPr>
            <p:cNvPr id="12" name="Text Box 25">
              <a:extLst>
                <a:ext uri="{FF2B5EF4-FFF2-40B4-BE49-F238E27FC236}">
                  <a16:creationId xmlns:a16="http://schemas.microsoft.com/office/drawing/2014/main" id="{32DF31FC-FD11-4647-9B99-4DB8B1092395}"/>
                </a:ext>
              </a:extLst>
            </p:cNvPr>
            <p:cNvSpPr txBox="1">
              <a:spLocks noChangeArrowheads="1"/>
            </p:cNvSpPr>
            <p:nvPr/>
          </p:nvSpPr>
          <p:spPr bwMode="auto">
            <a:xfrm>
              <a:off x="6446" y="1321"/>
              <a:ext cx="1362"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16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13" name="Text Box 26">
              <a:extLst>
                <a:ext uri="{FF2B5EF4-FFF2-40B4-BE49-F238E27FC236}">
                  <a16:creationId xmlns:a16="http://schemas.microsoft.com/office/drawing/2014/main" id="{26EA2E26-D035-458E-9717-24D2AAF1AF4E}"/>
                </a:ext>
              </a:extLst>
            </p:cNvPr>
            <p:cNvSpPr txBox="1">
              <a:spLocks noChangeArrowheads="1"/>
            </p:cNvSpPr>
            <p:nvPr/>
          </p:nvSpPr>
          <p:spPr bwMode="auto">
            <a:xfrm>
              <a:off x="9622" y="2595"/>
              <a:ext cx="681"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16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cxnSp>
          <p:nvCxnSpPr>
            <p:cNvPr id="14" name="Line 27">
              <a:extLst>
                <a:ext uri="{FF2B5EF4-FFF2-40B4-BE49-F238E27FC236}">
                  <a16:creationId xmlns:a16="http://schemas.microsoft.com/office/drawing/2014/main" id="{CB5B1655-9A98-465B-8D6A-5990D5F911B0}"/>
                </a:ext>
              </a:extLst>
            </p:cNvPr>
            <p:cNvCxnSpPr>
              <a:cxnSpLocks noChangeShapeType="1"/>
            </p:cNvCxnSpPr>
            <p:nvPr/>
          </p:nvCxnSpPr>
          <p:spPr bwMode="auto">
            <a:xfrm>
              <a:off x="11437" y="1546"/>
              <a:ext cx="0" cy="1573"/>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15" name="Line 28">
              <a:extLst>
                <a:ext uri="{FF2B5EF4-FFF2-40B4-BE49-F238E27FC236}">
                  <a16:creationId xmlns:a16="http://schemas.microsoft.com/office/drawing/2014/main" id="{465B7DCE-AB3E-43D5-BE73-1BD673B65D43}"/>
                </a:ext>
              </a:extLst>
            </p:cNvPr>
            <p:cNvCxnSpPr>
              <a:cxnSpLocks noChangeShapeType="1"/>
            </p:cNvCxnSpPr>
            <p:nvPr/>
          </p:nvCxnSpPr>
          <p:spPr bwMode="auto">
            <a:xfrm>
              <a:off x="10757" y="3118"/>
              <a:ext cx="4083"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sp>
          <p:nvSpPr>
            <p:cNvPr id="16" name="Text Box 29">
              <a:extLst>
                <a:ext uri="{FF2B5EF4-FFF2-40B4-BE49-F238E27FC236}">
                  <a16:creationId xmlns:a16="http://schemas.microsoft.com/office/drawing/2014/main" id="{E954F856-4C78-430E-BCAD-7B27800DF74F}"/>
                </a:ext>
              </a:extLst>
            </p:cNvPr>
            <p:cNvSpPr txBox="1">
              <a:spLocks noChangeArrowheads="1"/>
            </p:cNvSpPr>
            <p:nvPr/>
          </p:nvSpPr>
          <p:spPr bwMode="auto">
            <a:xfrm>
              <a:off x="11664" y="1321"/>
              <a:ext cx="908"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16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17" name="Text Box 30">
              <a:extLst>
                <a:ext uri="{FF2B5EF4-FFF2-40B4-BE49-F238E27FC236}">
                  <a16:creationId xmlns:a16="http://schemas.microsoft.com/office/drawing/2014/main" id="{1B8418A9-A94A-48FA-8D6C-72CB2EE8520F}"/>
                </a:ext>
              </a:extLst>
            </p:cNvPr>
            <p:cNvSpPr txBox="1">
              <a:spLocks noChangeArrowheads="1"/>
            </p:cNvSpPr>
            <p:nvPr/>
          </p:nvSpPr>
          <p:spPr bwMode="auto">
            <a:xfrm>
              <a:off x="14613" y="2595"/>
              <a:ext cx="681"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16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cxnSp>
          <p:nvCxnSpPr>
            <p:cNvPr id="18" name="Line 31">
              <a:extLst>
                <a:ext uri="{FF2B5EF4-FFF2-40B4-BE49-F238E27FC236}">
                  <a16:creationId xmlns:a16="http://schemas.microsoft.com/office/drawing/2014/main" id="{58F1B29F-247F-4008-B4CA-E34D5CD7CFA1}"/>
                </a:ext>
              </a:extLst>
            </p:cNvPr>
            <p:cNvCxnSpPr>
              <a:cxnSpLocks noChangeShapeType="1"/>
            </p:cNvCxnSpPr>
            <p:nvPr/>
          </p:nvCxnSpPr>
          <p:spPr bwMode="auto">
            <a:xfrm>
              <a:off x="16358" y="1544"/>
              <a:ext cx="0" cy="1574"/>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19" name="Line 32">
              <a:extLst>
                <a:ext uri="{FF2B5EF4-FFF2-40B4-BE49-F238E27FC236}">
                  <a16:creationId xmlns:a16="http://schemas.microsoft.com/office/drawing/2014/main" id="{25E5B87F-71BC-426C-B510-69550D2FA81F}"/>
                </a:ext>
              </a:extLst>
            </p:cNvPr>
            <p:cNvCxnSpPr>
              <a:cxnSpLocks noChangeShapeType="1"/>
            </p:cNvCxnSpPr>
            <p:nvPr/>
          </p:nvCxnSpPr>
          <p:spPr bwMode="auto">
            <a:xfrm>
              <a:off x="15677" y="3119"/>
              <a:ext cx="4084"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sp>
          <p:nvSpPr>
            <p:cNvPr id="20" name="Text Box 33">
              <a:extLst>
                <a:ext uri="{FF2B5EF4-FFF2-40B4-BE49-F238E27FC236}">
                  <a16:creationId xmlns:a16="http://schemas.microsoft.com/office/drawing/2014/main" id="{D625FBD8-8BBF-4700-8351-802A829F38B7}"/>
                </a:ext>
              </a:extLst>
            </p:cNvPr>
            <p:cNvSpPr txBox="1">
              <a:spLocks noChangeArrowheads="1"/>
            </p:cNvSpPr>
            <p:nvPr/>
          </p:nvSpPr>
          <p:spPr bwMode="auto">
            <a:xfrm>
              <a:off x="16545" y="1359"/>
              <a:ext cx="1361" cy="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16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21" name="Text Box 34">
              <a:extLst>
                <a:ext uri="{FF2B5EF4-FFF2-40B4-BE49-F238E27FC236}">
                  <a16:creationId xmlns:a16="http://schemas.microsoft.com/office/drawing/2014/main" id="{11113218-8497-41C3-B913-CFBACA5BC755}"/>
                </a:ext>
              </a:extLst>
            </p:cNvPr>
            <p:cNvSpPr txBox="1">
              <a:spLocks noChangeArrowheads="1"/>
            </p:cNvSpPr>
            <p:nvPr/>
          </p:nvSpPr>
          <p:spPr bwMode="auto">
            <a:xfrm>
              <a:off x="19534" y="2595"/>
              <a:ext cx="736"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16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22" name="Freeform 43">
              <a:extLst>
                <a:ext uri="{FF2B5EF4-FFF2-40B4-BE49-F238E27FC236}">
                  <a16:creationId xmlns:a16="http://schemas.microsoft.com/office/drawing/2014/main" id="{CF8CBFB9-A8C2-4A9F-9E67-B0F599BE122E}"/>
                </a:ext>
              </a:extLst>
            </p:cNvPr>
            <p:cNvSpPr>
              <a:spLocks/>
            </p:cNvSpPr>
            <p:nvPr/>
          </p:nvSpPr>
          <p:spPr bwMode="auto">
            <a:xfrm>
              <a:off x="5766" y="1546"/>
              <a:ext cx="4083" cy="1592"/>
            </a:xfrm>
            <a:custGeom>
              <a:avLst/>
              <a:gdLst>
                <a:gd name="T0" fmla="*/ 0 w 2452"/>
                <a:gd name="T1" fmla="*/ 1320 h 1350"/>
                <a:gd name="T2" fmla="*/ 600 w 2452"/>
                <a:gd name="T3" fmla="*/ 1320 h 1350"/>
                <a:gd name="T4" fmla="*/ 840 w 2452"/>
                <a:gd name="T5" fmla="*/ 1140 h 1350"/>
                <a:gd name="T6" fmla="*/ 960 w 2452"/>
                <a:gd name="T7" fmla="*/ 420 h 1350"/>
                <a:gd name="T8" fmla="*/ 1080 w 2452"/>
                <a:gd name="T9" fmla="*/ 60 h 1350"/>
                <a:gd name="T10" fmla="*/ 1200 w 2452"/>
                <a:gd name="T11" fmla="*/ 60 h 1350"/>
                <a:gd name="T12" fmla="*/ 1320 w 2452"/>
                <a:gd name="T13" fmla="*/ 420 h 1350"/>
                <a:gd name="T14" fmla="*/ 1440 w 2452"/>
                <a:gd name="T15" fmla="*/ 600 h 1350"/>
                <a:gd name="T16" fmla="*/ 1560 w 2452"/>
                <a:gd name="T17" fmla="*/ 600 h 1350"/>
                <a:gd name="T18" fmla="*/ 1672 w 2452"/>
                <a:gd name="T19" fmla="*/ 397 h 1350"/>
                <a:gd name="T20" fmla="*/ 1792 w 2452"/>
                <a:gd name="T21" fmla="*/ 172 h 1350"/>
                <a:gd name="T22" fmla="*/ 1920 w 2452"/>
                <a:gd name="T23" fmla="*/ 420 h 1350"/>
                <a:gd name="T24" fmla="*/ 2040 w 2452"/>
                <a:gd name="T25" fmla="*/ 420 h 1350"/>
                <a:gd name="T26" fmla="*/ 2160 w 2452"/>
                <a:gd name="T27" fmla="*/ 240 h 1350"/>
                <a:gd name="T28" fmla="*/ 2317 w 2452"/>
                <a:gd name="T29" fmla="*/ 412 h 1350"/>
                <a:gd name="T30" fmla="*/ 2452 w 2452"/>
                <a:gd name="T31" fmla="*/ 292 h 1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52" h="1350">
                  <a:moveTo>
                    <a:pt x="0" y="1320"/>
                  </a:moveTo>
                  <a:cubicBezTo>
                    <a:pt x="230" y="1335"/>
                    <a:pt x="460" y="1350"/>
                    <a:pt x="600" y="1320"/>
                  </a:cubicBezTo>
                  <a:cubicBezTo>
                    <a:pt x="740" y="1290"/>
                    <a:pt x="780" y="1290"/>
                    <a:pt x="840" y="1140"/>
                  </a:cubicBezTo>
                  <a:cubicBezTo>
                    <a:pt x="900" y="990"/>
                    <a:pt x="920" y="600"/>
                    <a:pt x="960" y="420"/>
                  </a:cubicBezTo>
                  <a:cubicBezTo>
                    <a:pt x="1000" y="240"/>
                    <a:pt x="1040" y="120"/>
                    <a:pt x="1080" y="60"/>
                  </a:cubicBezTo>
                  <a:cubicBezTo>
                    <a:pt x="1120" y="0"/>
                    <a:pt x="1160" y="0"/>
                    <a:pt x="1200" y="60"/>
                  </a:cubicBezTo>
                  <a:cubicBezTo>
                    <a:pt x="1240" y="120"/>
                    <a:pt x="1280" y="330"/>
                    <a:pt x="1320" y="420"/>
                  </a:cubicBezTo>
                  <a:cubicBezTo>
                    <a:pt x="1360" y="510"/>
                    <a:pt x="1400" y="570"/>
                    <a:pt x="1440" y="600"/>
                  </a:cubicBezTo>
                  <a:cubicBezTo>
                    <a:pt x="1480" y="630"/>
                    <a:pt x="1521" y="634"/>
                    <a:pt x="1560" y="600"/>
                  </a:cubicBezTo>
                  <a:cubicBezTo>
                    <a:pt x="1599" y="566"/>
                    <a:pt x="1633" y="468"/>
                    <a:pt x="1672" y="397"/>
                  </a:cubicBezTo>
                  <a:cubicBezTo>
                    <a:pt x="1711" y="326"/>
                    <a:pt x="1751" y="168"/>
                    <a:pt x="1792" y="172"/>
                  </a:cubicBezTo>
                  <a:cubicBezTo>
                    <a:pt x="1833" y="176"/>
                    <a:pt x="1879" y="379"/>
                    <a:pt x="1920" y="420"/>
                  </a:cubicBezTo>
                  <a:cubicBezTo>
                    <a:pt x="1961" y="461"/>
                    <a:pt x="2000" y="450"/>
                    <a:pt x="2040" y="420"/>
                  </a:cubicBezTo>
                  <a:cubicBezTo>
                    <a:pt x="2080" y="390"/>
                    <a:pt x="2114" y="241"/>
                    <a:pt x="2160" y="240"/>
                  </a:cubicBezTo>
                  <a:cubicBezTo>
                    <a:pt x="2206" y="239"/>
                    <a:pt x="2268" y="403"/>
                    <a:pt x="2317" y="412"/>
                  </a:cubicBezTo>
                  <a:cubicBezTo>
                    <a:pt x="2366" y="421"/>
                    <a:pt x="2424" y="317"/>
                    <a:pt x="2452" y="292"/>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23" name="Line 44">
              <a:extLst>
                <a:ext uri="{FF2B5EF4-FFF2-40B4-BE49-F238E27FC236}">
                  <a16:creationId xmlns:a16="http://schemas.microsoft.com/office/drawing/2014/main" id="{A6D14ED2-99B4-4D4C-83B4-85F29F6CD4E0}"/>
                </a:ext>
              </a:extLst>
            </p:cNvPr>
            <p:cNvCxnSpPr>
              <a:cxnSpLocks noChangeShapeType="1"/>
            </p:cNvCxnSpPr>
            <p:nvPr/>
          </p:nvCxnSpPr>
          <p:spPr bwMode="auto">
            <a:xfrm>
              <a:off x="10757" y="2220"/>
              <a:ext cx="4083" cy="0"/>
            </a:xfrm>
            <a:prstGeom prst="line">
              <a:avLst/>
            </a:prstGeom>
            <a:noFill/>
            <a:ln w="28575">
              <a:solidFill>
                <a:srgbClr val="002060"/>
              </a:solidFill>
              <a:prstDash val="dash"/>
              <a:round/>
              <a:headEnd/>
              <a:tailEnd/>
            </a:ln>
            <a:extLst>
              <a:ext uri="{909E8E84-426E-40DD-AFC4-6F175D3DCCD1}">
                <a14:hiddenFill xmlns:a14="http://schemas.microsoft.com/office/drawing/2010/main">
                  <a:noFill/>
                </a14:hiddenFill>
              </a:ext>
            </a:extLst>
          </p:spPr>
        </p:cxnSp>
        <p:grpSp>
          <p:nvGrpSpPr>
            <p:cNvPr id="24" name="Group 23">
              <a:extLst>
                <a:ext uri="{FF2B5EF4-FFF2-40B4-BE49-F238E27FC236}">
                  <a16:creationId xmlns:a16="http://schemas.microsoft.com/office/drawing/2014/main" id="{6D0E8DBD-8E23-4B5F-842B-C10615BA5F62}"/>
                </a:ext>
              </a:extLst>
            </p:cNvPr>
            <p:cNvGrpSpPr>
              <a:grpSpLocks/>
            </p:cNvGrpSpPr>
            <p:nvPr/>
          </p:nvGrpSpPr>
          <p:grpSpPr bwMode="auto">
            <a:xfrm>
              <a:off x="10766" y="1779"/>
              <a:ext cx="3861" cy="900"/>
              <a:chOff x="7298" y="5558"/>
              <a:chExt cx="3960" cy="720"/>
            </a:xfrm>
          </p:grpSpPr>
          <p:cxnSp>
            <p:nvCxnSpPr>
              <p:cNvPr id="36" name="Line 46">
                <a:extLst>
                  <a:ext uri="{FF2B5EF4-FFF2-40B4-BE49-F238E27FC236}">
                    <a16:creationId xmlns:a16="http://schemas.microsoft.com/office/drawing/2014/main" id="{59FBD676-5E37-49F7-B895-BA35B8DF38FE}"/>
                  </a:ext>
                </a:extLst>
              </p:cNvPr>
              <p:cNvCxnSpPr>
                <a:cxnSpLocks noChangeShapeType="1"/>
              </p:cNvCxnSpPr>
              <p:nvPr/>
            </p:nvCxnSpPr>
            <p:spPr bwMode="auto">
              <a:xfrm flipV="1">
                <a:off x="7298" y="5558"/>
                <a:ext cx="360" cy="18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37" name="Line 47">
                <a:extLst>
                  <a:ext uri="{FF2B5EF4-FFF2-40B4-BE49-F238E27FC236}">
                    <a16:creationId xmlns:a16="http://schemas.microsoft.com/office/drawing/2014/main" id="{D9349FB7-67AC-40F2-AC99-41291040D0EB}"/>
                  </a:ext>
                </a:extLst>
              </p:cNvPr>
              <p:cNvCxnSpPr>
                <a:cxnSpLocks noChangeShapeType="1"/>
              </p:cNvCxnSpPr>
              <p:nvPr/>
            </p:nvCxnSpPr>
            <p:spPr bwMode="auto">
              <a:xfrm>
                <a:off x="7658" y="5558"/>
                <a:ext cx="240" cy="72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38" name="Line 48">
                <a:extLst>
                  <a:ext uri="{FF2B5EF4-FFF2-40B4-BE49-F238E27FC236}">
                    <a16:creationId xmlns:a16="http://schemas.microsoft.com/office/drawing/2014/main" id="{2AAF58A0-F70D-4D15-AB04-72AAD884A2CE}"/>
                  </a:ext>
                </a:extLst>
              </p:cNvPr>
              <p:cNvCxnSpPr>
                <a:cxnSpLocks noChangeShapeType="1"/>
              </p:cNvCxnSpPr>
              <p:nvPr/>
            </p:nvCxnSpPr>
            <p:spPr bwMode="auto">
              <a:xfrm flipV="1">
                <a:off x="7898" y="5558"/>
                <a:ext cx="1440" cy="72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39" name="Line 49">
                <a:extLst>
                  <a:ext uri="{FF2B5EF4-FFF2-40B4-BE49-F238E27FC236}">
                    <a16:creationId xmlns:a16="http://schemas.microsoft.com/office/drawing/2014/main" id="{8651EC13-7227-492E-A969-E1EA0399799C}"/>
                  </a:ext>
                </a:extLst>
              </p:cNvPr>
              <p:cNvCxnSpPr>
                <a:cxnSpLocks noChangeShapeType="1"/>
              </p:cNvCxnSpPr>
              <p:nvPr/>
            </p:nvCxnSpPr>
            <p:spPr bwMode="auto">
              <a:xfrm>
                <a:off x="9338" y="5558"/>
                <a:ext cx="240" cy="72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40" name="Line 50">
                <a:extLst>
                  <a:ext uri="{FF2B5EF4-FFF2-40B4-BE49-F238E27FC236}">
                    <a16:creationId xmlns:a16="http://schemas.microsoft.com/office/drawing/2014/main" id="{F124A6B7-891B-4335-8CA3-B235699832BD}"/>
                  </a:ext>
                </a:extLst>
              </p:cNvPr>
              <p:cNvCxnSpPr>
                <a:cxnSpLocks noChangeShapeType="1"/>
              </p:cNvCxnSpPr>
              <p:nvPr/>
            </p:nvCxnSpPr>
            <p:spPr bwMode="auto">
              <a:xfrm flipV="1">
                <a:off x="9578" y="5558"/>
                <a:ext cx="1440" cy="72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41" name="Line 51">
                <a:extLst>
                  <a:ext uri="{FF2B5EF4-FFF2-40B4-BE49-F238E27FC236}">
                    <a16:creationId xmlns:a16="http://schemas.microsoft.com/office/drawing/2014/main" id="{8FF07CA6-9A16-4487-B94F-DE2A7949E4A9}"/>
                  </a:ext>
                </a:extLst>
              </p:cNvPr>
              <p:cNvCxnSpPr>
                <a:cxnSpLocks noChangeShapeType="1"/>
              </p:cNvCxnSpPr>
              <p:nvPr/>
            </p:nvCxnSpPr>
            <p:spPr bwMode="auto">
              <a:xfrm>
                <a:off x="11018" y="5558"/>
                <a:ext cx="240" cy="72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grpSp>
        <p:grpSp>
          <p:nvGrpSpPr>
            <p:cNvPr id="25" name="Group 24">
              <a:extLst>
                <a:ext uri="{FF2B5EF4-FFF2-40B4-BE49-F238E27FC236}">
                  <a16:creationId xmlns:a16="http://schemas.microsoft.com/office/drawing/2014/main" id="{A3FB07F8-F92B-4B71-BB1A-6152F6D0969A}"/>
                </a:ext>
              </a:extLst>
            </p:cNvPr>
            <p:cNvGrpSpPr>
              <a:grpSpLocks/>
            </p:cNvGrpSpPr>
            <p:nvPr/>
          </p:nvGrpSpPr>
          <p:grpSpPr bwMode="auto">
            <a:xfrm>
              <a:off x="15676" y="2386"/>
              <a:ext cx="3856" cy="720"/>
              <a:chOff x="1538" y="9822"/>
              <a:chExt cx="2040" cy="720"/>
            </a:xfrm>
          </p:grpSpPr>
          <p:cxnSp>
            <p:nvCxnSpPr>
              <p:cNvPr id="32" name="Line 53">
                <a:extLst>
                  <a:ext uri="{FF2B5EF4-FFF2-40B4-BE49-F238E27FC236}">
                    <a16:creationId xmlns:a16="http://schemas.microsoft.com/office/drawing/2014/main" id="{D17BB38F-2F80-4E4E-BFA1-05464582A82F}"/>
                  </a:ext>
                </a:extLst>
              </p:cNvPr>
              <p:cNvCxnSpPr>
                <a:cxnSpLocks noChangeShapeType="1"/>
              </p:cNvCxnSpPr>
              <p:nvPr/>
            </p:nvCxnSpPr>
            <p:spPr bwMode="auto">
              <a:xfrm>
                <a:off x="1538" y="10542"/>
                <a:ext cx="720" cy="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33" name="Line 54">
                <a:extLst>
                  <a:ext uri="{FF2B5EF4-FFF2-40B4-BE49-F238E27FC236}">
                    <a16:creationId xmlns:a16="http://schemas.microsoft.com/office/drawing/2014/main" id="{A8BB54D8-9181-4D09-A96F-22028FAC92E7}"/>
                  </a:ext>
                </a:extLst>
              </p:cNvPr>
              <p:cNvCxnSpPr>
                <a:cxnSpLocks noChangeShapeType="1"/>
              </p:cNvCxnSpPr>
              <p:nvPr/>
            </p:nvCxnSpPr>
            <p:spPr bwMode="auto">
              <a:xfrm flipV="1">
                <a:off x="2258" y="9822"/>
                <a:ext cx="0" cy="72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35" name="Line 55">
                <a:extLst>
                  <a:ext uri="{FF2B5EF4-FFF2-40B4-BE49-F238E27FC236}">
                    <a16:creationId xmlns:a16="http://schemas.microsoft.com/office/drawing/2014/main" id="{A23FF23E-11B6-45E0-B02F-3349F33C211F}"/>
                  </a:ext>
                </a:extLst>
              </p:cNvPr>
              <p:cNvCxnSpPr>
                <a:cxnSpLocks noChangeShapeType="1"/>
              </p:cNvCxnSpPr>
              <p:nvPr/>
            </p:nvCxnSpPr>
            <p:spPr bwMode="auto">
              <a:xfrm>
                <a:off x="2258" y="9822"/>
                <a:ext cx="1320" cy="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grpSp>
        <p:cxnSp>
          <p:nvCxnSpPr>
            <p:cNvPr id="26" name="Line 56">
              <a:extLst>
                <a:ext uri="{FF2B5EF4-FFF2-40B4-BE49-F238E27FC236}">
                  <a16:creationId xmlns:a16="http://schemas.microsoft.com/office/drawing/2014/main" id="{80D83905-DC1C-46BA-8855-9C12814F410E}"/>
                </a:ext>
              </a:extLst>
            </p:cNvPr>
            <p:cNvCxnSpPr>
              <a:cxnSpLocks noChangeShapeType="1"/>
            </p:cNvCxnSpPr>
            <p:nvPr/>
          </p:nvCxnSpPr>
          <p:spPr bwMode="auto">
            <a:xfrm>
              <a:off x="13025" y="1714"/>
              <a:ext cx="1362" cy="0"/>
            </a:xfrm>
            <a:prstGeom prst="line">
              <a:avLst/>
            </a:prstGeom>
            <a:noFill/>
            <a:ln w="28575">
              <a:solidFill>
                <a:srgbClr val="002060"/>
              </a:solidFill>
              <a:round/>
              <a:headEnd type="arrow" w="sm" len="sm"/>
              <a:tailEnd type="arrow" w="sm" len="sm"/>
            </a:ln>
            <a:extLst>
              <a:ext uri="{909E8E84-426E-40DD-AFC4-6F175D3DCCD1}">
                <a14:hiddenFill xmlns:a14="http://schemas.microsoft.com/office/drawing/2010/main">
                  <a:noFill/>
                </a14:hiddenFill>
              </a:ext>
            </a:extLst>
          </p:spPr>
        </p:cxnSp>
        <p:sp>
          <p:nvSpPr>
            <p:cNvPr id="27" name="Text Box 57">
              <a:extLst>
                <a:ext uri="{FF2B5EF4-FFF2-40B4-BE49-F238E27FC236}">
                  <a16:creationId xmlns:a16="http://schemas.microsoft.com/office/drawing/2014/main" id="{3346AFD2-835B-4566-8AB9-F3540C558055}"/>
                </a:ext>
              </a:extLst>
            </p:cNvPr>
            <p:cNvSpPr txBox="1">
              <a:spLocks noChangeArrowheads="1"/>
            </p:cNvSpPr>
            <p:nvPr/>
          </p:nvSpPr>
          <p:spPr bwMode="auto">
            <a:xfrm>
              <a:off x="13479" y="1321"/>
              <a:ext cx="908"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16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28" name="Text Box 78">
              <a:extLst>
                <a:ext uri="{FF2B5EF4-FFF2-40B4-BE49-F238E27FC236}">
                  <a16:creationId xmlns:a16="http://schemas.microsoft.com/office/drawing/2014/main" id="{393F6507-1B83-41FA-BA34-E46CE3B20A94}"/>
                </a:ext>
              </a:extLst>
            </p:cNvPr>
            <p:cNvSpPr txBox="1">
              <a:spLocks noChangeArrowheads="1"/>
            </p:cNvSpPr>
            <p:nvPr/>
          </p:nvSpPr>
          <p:spPr bwMode="auto">
            <a:xfrm>
              <a:off x="2660" y="3118"/>
              <a:ext cx="907"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1600">
                  <a:solidFill>
                    <a:srgbClr val="002060"/>
                  </a:solidFill>
                  <a:effectLst/>
                  <a:latin typeface="Times New Roman" panose="02020603050405020304" pitchFamily="18" charset="0"/>
                  <a:ea typeface="Times New Roman" panose="02020603050405020304" pitchFamily="18" charset="0"/>
                </a:rPr>
                <a:t>(a)</a:t>
              </a:r>
              <a:endParaRPr lang="en-GB" sz="1200">
                <a:effectLst/>
                <a:latin typeface="Times New Roman" panose="02020603050405020304" pitchFamily="18" charset="0"/>
                <a:ea typeface="Times New Roman" panose="02020603050405020304" pitchFamily="18" charset="0"/>
              </a:endParaRPr>
            </a:p>
          </p:txBody>
        </p:sp>
        <p:sp>
          <p:nvSpPr>
            <p:cNvPr id="29" name="Text Box 79">
              <a:extLst>
                <a:ext uri="{FF2B5EF4-FFF2-40B4-BE49-F238E27FC236}">
                  <a16:creationId xmlns:a16="http://schemas.microsoft.com/office/drawing/2014/main" id="{88372D62-0AA5-4F0D-AE44-D1C275744F35}"/>
                </a:ext>
              </a:extLst>
            </p:cNvPr>
            <p:cNvSpPr txBox="1">
              <a:spLocks noChangeArrowheads="1"/>
            </p:cNvSpPr>
            <p:nvPr/>
          </p:nvSpPr>
          <p:spPr bwMode="auto">
            <a:xfrm>
              <a:off x="7808" y="3118"/>
              <a:ext cx="907"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1600">
                  <a:solidFill>
                    <a:srgbClr val="002060"/>
                  </a:solidFill>
                  <a:effectLst/>
                  <a:latin typeface="Times New Roman" panose="02020603050405020304" pitchFamily="18" charset="0"/>
                  <a:ea typeface="Times New Roman" panose="02020603050405020304" pitchFamily="18" charset="0"/>
                </a:rPr>
                <a:t>(b)</a:t>
              </a:r>
              <a:endParaRPr lang="en-GB" sz="1200">
                <a:effectLst/>
                <a:latin typeface="Times New Roman" panose="02020603050405020304" pitchFamily="18" charset="0"/>
                <a:ea typeface="Times New Roman" panose="02020603050405020304" pitchFamily="18" charset="0"/>
              </a:endParaRPr>
            </a:p>
          </p:txBody>
        </p:sp>
        <p:sp>
          <p:nvSpPr>
            <p:cNvPr id="30" name="Text Box 80">
              <a:extLst>
                <a:ext uri="{FF2B5EF4-FFF2-40B4-BE49-F238E27FC236}">
                  <a16:creationId xmlns:a16="http://schemas.microsoft.com/office/drawing/2014/main" id="{C5ADAC8A-2DF8-4934-9522-FBF99A736B26}"/>
                </a:ext>
              </a:extLst>
            </p:cNvPr>
            <p:cNvSpPr txBox="1">
              <a:spLocks noChangeArrowheads="1"/>
            </p:cNvSpPr>
            <p:nvPr/>
          </p:nvSpPr>
          <p:spPr bwMode="auto">
            <a:xfrm>
              <a:off x="12799" y="3118"/>
              <a:ext cx="907"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1600">
                  <a:solidFill>
                    <a:srgbClr val="002060"/>
                  </a:solidFill>
                  <a:effectLst/>
                  <a:latin typeface="Times New Roman" panose="02020603050405020304" pitchFamily="18" charset="0"/>
                  <a:ea typeface="Times New Roman" panose="02020603050405020304" pitchFamily="18" charset="0"/>
                </a:rPr>
                <a:t>(c)</a:t>
              </a:r>
              <a:endParaRPr lang="en-GB" sz="1200">
                <a:effectLst/>
                <a:latin typeface="Times New Roman" panose="02020603050405020304" pitchFamily="18" charset="0"/>
                <a:ea typeface="Times New Roman" panose="02020603050405020304" pitchFamily="18" charset="0"/>
              </a:endParaRPr>
            </a:p>
          </p:txBody>
        </p:sp>
        <p:sp>
          <p:nvSpPr>
            <p:cNvPr id="31" name="Text Box 81">
              <a:extLst>
                <a:ext uri="{FF2B5EF4-FFF2-40B4-BE49-F238E27FC236}">
                  <a16:creationId xmlns:a16="http://schemas.microsoft.com/office/drawing/2014/main" id="{6A58608E-8FB5-4C0E-A1E6-9E48907537B6}"/>
                </a:ext>
              </a:extLst>
            </p:cNvPr>
            <p:cNvSpPr txBox="1">
              <a:spLocks noChangeArrowheads="1"/>
            </p:cNvSpPr>
            <p:nvPr/>
          </p:nvSpPr>
          <p:spPr bwMode="auto">
            <a:xfrm>
              <a:off x="17492" y="3119"/>
              <a:ext cx="907"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1600">
                  <a:solidFill>
                    <a:srgbClr val="002060"/>
                  </a:solidFill>
                  <a:effectLst/>
                  <a:latin typeface="Times New Roman" panose="02020603050405020304" pitchFamily="18" charset="0"/>
                  <a:ea typeface="Times New Roman" panose="02020603050405020304" pitchFamily="18" charset="0"/>
                </a:rPr>
                <a:t>(d)</a:t>
              </a:r>
              <a:endParaRPr lang="en-GB" sz="1200">
                <a:effectLst/>
                <a:latin typeface="Times New Roman" panose="02020603050405020304" pitchFamily="18" charset="0"/>
                <a:ea typeface="Times New Roman" panose="02020603050405020304" pitchFamily="18" charset="0"/>
              </a:endParaRPr>
            </a:p>
          </p:txBody>
        </p:sp>
      </p:grpSp>
      <p:sp>
        <p:nvSpPr>
          <p:cNvPr id="3" name="Rectangle 2">
            <a:extLst>
              <a:ext uri="{FF2B5EF4-FFF2-40B4-BE49-F238E27FC236}">
                <a16:creationId xmlns:a16="http://schemas.microsoft.com/office/drawing/2014/main" id="{F27CEA1A-7191-49B1-8591-D060F3507594}"/>
              </a:ext>
            </a:extLst>
          </p:cNvPr>
          <p:cNvSpPr/>
          <p:nvPr/>
        </p:nvSpPr>
        <p:spPr>
          <a:xfrm>
            <a:off x="2246754" y="2239067"/>
            <a:ext cx="8422806" cy="461665"/>
          </a:xfrm>
          <a:prstGeom prst="rect">
            <a:avLst/>
          </a:prstGeom>
        </p:spPr>
        <p:txBody>
          <a:bodyPr wrap="square">
            <a:spAutoFit/>
          </a:bodyPr>
          <a:lstStyle/>
          <a:p>
            <a:r>
              <a:rPr lang="en-GB" sz="2400" dirty="0">
                <a:solidFill>
                  <a:srgbClr val="002060"/>
                </a:solidFill>
                <a:latin typeface="Times New Roman" panose="02020603050405020304" pitchFamily="18" charset="0"/>
                <a:ea typeface="Times New Roman" panose="02020603050405020304" pitchFamily="18" charset="0"/>
              </a:rPr>
              <a:t>(a), (b), (c) and (d) are </a:t>
            </a:r>
            <a:r>
              <a:rPr lang="en-GB" sz="2400" dirty="0" err="1">
                <a:solidFill>
                  <a:srgbClr val="002060"/>
                </a:solidFill>
                <a:latin typeface="Times New Roman" panose="02020603050405020304" pitchFamily="18" charset="0"/>
                <a:ea typeface="Times New Roman" panose="02020603050405020304" pitchFamily="18" charset="0"/>
              </a:rPr>
              <a:t>uni</a:t>
            </a:r>
            <a:r>
              <a:rPr lang="en-GB" sz="2400" dirty="0">
                <a:solidFill>
                  <a:srgbClr val="002060"/>
                </a:solidFill>
                <a:latin typeface="Times New Roman" panose="02020603050405020304" pitchFamily="18" charset="0"/>
                <a:ea typeface="Times New Roman" panose="02020603050405020304" pitchFamily="18" charset="0"/>
              </a:rPr>
              <a:t>-directional, although not purely direct.</a:t>
            </a:r>
            <a:endParaRPr lang="en-GB" sz="2400" dirty="0"/>
          </a:p>
        </p:txBody>
      </p:sp>
      <p:grpSp>
        <p:nvGrpSpPr>
          <p:cNvPr id="42" name="Group 41">
            <a:extLst>
              <a:ext uri="{FF2B5EF4-FFF2-40B4-BE49-F238E27FC236}">
                <a16:creationId xmlns:a16="http://schemas.microsoft.com/office/drawing/2014/main" id="{48287669-A791-4B97-9313-3317AF41F932}"/>
              </a:ext>
            </a:extLst>
          </p:cNvPr>
          <p:cNvGrpSpPr>
            <a:grpSpLocks noChangeAspect="1"/>
          </p:cNvGrpSpPr>
          <p:nvPr/>
        </p:nvGrpSpPr>
        <p:grpSpPr bwMode="auto">
          <a:xfrm>
            <a:off x="669232" y="2559073"/>
            <a:ext cx="6961608" cy="1725101"/>
            <a:chOff x="370" y="4346"/>
            <a:chExt cx="11023" cy="2606"/>
          </a:xfrm>
        </p:grpSpPr>
        <p:cxnSp>
          <p:nvCxnSpPr>
            <p:cNvPr id="43" name="Line 35">
              <a:extLst>
                <a:ext uri="{FF2B5EF4-FFF2-40B4-BE49-F238E27FC236}">
                  <a16:creationId xmlns:a16="http://schemas.microsoft.com/office/drawing/2014/main" id="{D747E345-0995-42E9-A2E4-84A2E45C2230}"/>
                </a:ext>
              </a:extLst>
            </p:cNvPr>
            <p:cNvCxnSpPr>
              <a:cxnSpLocks noChangeShapeType="1"/>
            </p:cNvCxnSpPr>
            <p:nvPr/>
          </p:nvCxnSpPr>
          <p:spPr bwMode="auto">
            <a:xfrm>
              <a:off x="1157" y="4777"/>
              <a:ext cx="0" cy="1957"/>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44" name="Line 36">
              <a:extLst>
                <a:ext uri="{FF2B5EF4-FFF2-40B4-BE49-F238E27FC236}">
                  <a16:creationId xmlns:a16="http://schemas.microsoft.com/office/drawing/2014/main" id="{516D5512-BFD4-45DE-BE20-B8F81F0C59FE}"/>
                </a:ext>
              </a:extLst>
            </p:cNvPr>
            <p:cNvCxnSpPr>
              <a:cxnSpLocks noChangeShapeType="1"/>
            </p:cNvCxnSpPr>
            <p:nvPr/>
          </p:nvCxnSpPr>
          <p:spPr bwMode="auto">
            <a:xfrm>
              <a:off x="370" y="5897"/>
              <a:ext cx="4724"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sp>
          <p:nvSpPr>
            <p:cNvPr id="45" name="Text Box 37">
              <a:extLst>
                <a:ext uri="{FF2B5EF4-FFF2-40B4-BE49-F238E27FC236}">
                  <a16:creationId xmlns:a16="http://schemas.microsoft.com/office/drawing/2014/main" id="{BF851900-3211-47C5-ABAB-A2E2F6982D6E}"/>
                </a:ext>
              </a:extLst>
            </p:cNvPr>
            <p:cNvSpPr txBox="1">
              <a:spLocks noChangeArrowheads="1"/>
            </p:cNvSpPr>
            <p:nvPr/>
          </p:nvSpPr>
          <p:spPr bwMode="auto">
            <a:xfrm>
              <a:off x="1157" y="4499"/>
              <a:ext cx="1575" cy="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46" name="Text Box 38">
              <a:extLst>
                <a:ext uri="{FF2B5EF4-FFF2-40B4-BE49-F238E27FC236}">
                  <a16:creationId xmlns:a16="http://schemas.microsoft.com/office/drawing/2014/main" id="{EB0B4C78-61CC-4882-B641-FEA4D3296722}"/>
                </a:ext>
              </a:extLst>
            </p:cNvPr>
            <p:cNvSpPr txBox="1">
              <a:spLocks noChangeArrowheads="1"/>
            </p:cNvSpPr>
            <p:nvPr/>
          </p:nvSpPr>
          <p:spPr bwMode="auto">
            <a:xfrm>
              <a:off x="4831" y="5222"/>
              <a:ext cx="788" cy="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cxnSp>
          <p:nvCxnSpPr>
            <p:cNvPr id="47" name="Line 39">
              <a:extLst>
                <a:ext uri="{FF2B5EF4-FFF2-40B4-BE49-F238E27FC236}">
                  <a16:creationId xmlns:a16="http://schemas.microsoft.com/office/drawing/2014/main" id="{A6BA4A64-2BD6-4A1B-83A1-50926EB844E1}"/>
                </a:ext>
              </a:extLst>
            </p:cNvPr>
            <p:cNvCxnSpPr>
              <a:cxnSpLocks noChangeShapeType="1"/>
            </p:cNvCxnSpPr>
            <p:nvPr/>
          </p:nvCxnSpPr>
          <p:spPr bwMode="auto">
            <a:xfrm>
              <a:off x="6931" y="4777"/>
              <a:ext cx="0" cy="1957"/>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48" name="Line 40">
              <a:extLst>
                <a:ext uri="{FF2B5EF4-FFF2-40B4-BE49-F238E27FC236}">
                  <a16:creationId xmlns:a16="http://schemas.microsoft.com/office/drawing/2014/main" id="{239118E1-6A85-4566-AED4-E528D1EB81E1}"/>
                </a:ext>
              </a:extLst>
            </p:cNvPr>
            <p:cNvCxnSpPr>
              <a:cxnSpLocks noChangeShapeType="1"/>
            </p:cNvCxnSpPr>
            <p:nvPr/>
          </p:nvCxnSpPr>
          <p:spPr bwMode="auto">
            <a:xfrm>
              <a:off x="6144" y="5897"/>
              <a:ext cx="4724"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sp>
          <p:nvSpPr>
            <p:cNvPr id="49" name="Text Box 41">
              <a:extLst>
                <a:ext uri="{FF2B5EF4-FFF2-40B4-BE49-F238E27FC236}">
                  <a16:creationId xmlns:a16="http://schemas.microsoft.com/office/drawing/2014/main" id="{1CBEAC1B-853C-4140-8EC9-46D3C045F7C4}"/>
                </a:ext>
              </a:extLst>
            </p:cNvPr>
            <p:cNvSpPr txBox="1">
              <a:spLocks noChangeArrowheads="1"/>
            </p:cNvSpPr>
            <p:nvPr/>
          </p:nvSpPr>
          <p:spPr bwMode="auto">
            <a:xfrm>
              <a:off x="6931" y="4394"/>
              <a:ext cx="1576" cy="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50" name="Text Box 42">
              <a:extLst>
                <a:ext uri="{FF2B5EF4-FFF2-40B4-BE49-F238E27FC236}">
                  <a16:creationId xmlns:a16="http://schemas.microsoft.com/office/drawing/2014/main" id="{4646550A-33BB-446B-BDB1-DFA465E7A614}"/>
                </a:ext>
              </a:extLst>
            </p:cNvPr>
            <p:cNvSpPr txBox="1">
              <a:spLocks noChangeArrowheads="1"/>
            </p:cNvSpPr>
            <p:nvPr/>
          </p:nvSpPr>
          <p:spPr bwMode="auto">
            <a:xfrm>
              <a:off x="10605" y="6106"/>
              <a:ext cx="788" cy="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grpSp>
          <p:nvGrpSpPr>
            <p:cNvPr id="51" name="Group 50">
              <a:extLst>
                <a:ext uri="{FF2B5EF4-FFF2-40B4-BE49-F238E27FC236}">
                  <a16:creationId xmlns:a16="http://schemas.microsoft.com/office/drawing/2014/main" id="{7B7E395D-BD3B-413F-993B-EBB761C4FE1D}"/>
                </a:ext>
              </a:extLst>
            </p:cNvPr>
            <p:cNvGrpSpPr>
              <a:grpSpLocks/>
            </p:cNvGrpSpPr>
            <p:nvPr/>
          </p:nvGrpSpPr>
          <p:grpSpPr bwMode="auto">
            <a:xfrm>
              <a:off x="561" y="5047"/>
              <a:ext cx="4272" cy="1676"/>
              <a:chOff x="4385" y="8078"/>
              <a:chExt cx="2553" cy="720"/>
            </a:xfrm>
          </p:grpSpPr>
          <p:cxnSp>
            <p:nvCxnSpPr>
              <p:cNvPr id="68" name="Line 59">
                <a:extLst>
                  <a:ext uri="{FF2B5EF4-FFF2-40B4-BE49-F238E27FC236}">
                    <a16:creationId xmlns:a16="http://schemas.microsoft.com/office/drawing/2014/main" id="{1C1D1B85-D425-478A-9C10-101FBCFF884B}"/>
                  </a:ext>
                </a:extLst>
              </p:cNvPr>
              <p:cNvCxnSpPr>
                <a:cxnSpLocks noChangeShapeType="1"/>
              </p:cNvCxnSpPr>
              <p:nvPr/>
            </p:nvCxnSpPr>
            <p:spPr bwMode="auto">
              <a:xfrm flipV="1">
                <a:off x="4385" y="8078"/>
                <a:ext cx="153" cy="18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69" name="Line 60">
                <a:extLst>
                  <a:ext uri="{FF2B5EF4-FFF2-40B4-BE49-F238E27FC236}">
                    <a16:creationId xmlns:a16="http://schemas.microsoft.com/office/drawing/2014/main" id="{5BE67560-4EAB-4E92-A420-301AF510A0FA}"/>
                  </a:ext>
                </a:extLst>
              </p:cNvPr>
              <p:cNvCxnSpPr>
                <a:cxnSpLocks noChangeShapeType="1"/>
              </p:cNvCxnSpPr>
              <p:nvPr/>
            </p:nvCxnSpPr>
            <p:spPr bwMode="auto">
              <a:xfrm flipV="1">
                <a:off x="5138" y="8078"/>
                <a:ext cx="610" cy="72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70" name="Line 61">
                <a:extLst>
                  <a:ext uri="{FF2B5EF4-FFF2-40B4-BE49-F238E27FC236}">
                    <a16:creationId xmlns:a16="http://schemas.microsoft.com/office/drawing/2014/main" id="{42E9AEFA-3BD1-4DF8-8F9A-91B9F89723BB}"/>
                  </a:ext>
                </a:extLst>
              </p:cNvPr>
              <p:cNvCxnSpPr>
                <a:cxnSpLocks noChangeShapeType="1"/>
              </p:cNvCxnSpPr>
              <p:nvPr/>
            </p:nvCxnSpPr>
            <p:spPr bwMode="auto">
              <a:xfrm flipV="1">
                <a:off x="6327" y="8078"/>
                <a:ext cx="611" cy="72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71" name="Line 62">
                <a:extLst>
                  <a:ext uri="{FF2B5EF4-FFF2-40B4-BE49-F238E27FC236}">
                    <a16:creationId xmlns:a16="http://schemas.microsoft.com/office/drawing/2014/main" id="{5C513534-D652-48A0-9D89-AD5EF82789D4}"/>
                  </a:ext>
                </a:extLst>
              </p:cNvPr>
              <p:cNvCxnSpPr>
                <a:cxnSpLocks noChangeShapeType="1"/>
              </p:cNvCxnSpPr>
              <p:nvPr/>
            </p:nvCxnSpPr>
            <p:spPr bwMode="auto">
              <a:xfrm flipH="1" flipV="1">
                <a:off x="4538" y="8078"/>
                <a:ext cx="610" cy="72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72" name="Line 63">
                <a:extLst>
                  <a:ext uri="{FF2B5EF4-FFF2-40B4-BE49-F238E27FC236}">
                    <a16:creationId xmlns:a16="http://schemas.microsoft.com/office/drawing/2014/main" id="{9BA210F3-8954-42CE-BAA2-B70E2164AA44}"/>
                  </a:ext>
                </a:extLst>
              </p:cNvPr>
              <p:cNvCxnSpPr>
                <a:cxnSpLocks noChangeShapeType="1"/>
              </p:cNvCxnSpPr>
              <p:nvPr/>
            </p:nvCxnSpPr>
            <p:spPr bwMode="auto">
              <a:xfrm flipH="1" flipV="1">
                <a:off x="5728" y="8078"/>
                <a:ext cx="610" cy="72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grpSp>
        <p:cxnSp>
          <p:nvCxnSpPr>
            <p:cNvPr id="52" name="Line 64">
              <a:extLst>
                <a:ext uri="{FF2B5EF4-FFF2-40B4-BE49-F238E27FC236}">
                  <a16:creationId xmlns:a16="http://schemas.microsoft.com/office/drawing/2014/main" id="{87B24044-01AA-4921-9B01-8691808E88ED}"/>
                </a:ext>
              </a:extLst>
            </p:cNvPr>
            <p:cNvCxnSpPr>
              <a:cxnSpLocks noChangeShapeType="1"/>
            </p:cNvCxnSpPr>
            <p:nvPr/>
          </p:nvCxnSpPr>
          <p:spPr bwMode="auto">
            <a:xfrm>
              <a:off x="2797" y="4989"/>
              <a:ext cx="2100" cy="0"/>
            </a:xfrm>
            <a:prstGeom prst="line">
              <a:avLst/>
            </a:prstGeom>
            <a:noFill/>
            <a:ln w="28575">
              <a:solidFill>
                <a:srgbClr val="002060"/>
              </a:solidFill>
              <a:round/>
              <a:headEnd type="arrow" w="sm" len="sm"/>
              <a:tailEnd type="arrow" w="sm" len="sm"/>
            </a:ln>
            <a:extLst>
              <a:ext uri="{909E8E84-426E-40DD-AFC4-6F175D3DCCD1}">
                <a14:hiddenFill xmlns:a14="http://schemas.microsoft.com/office/drawing/2010/main">
                  <a:noFill/>
                </a14:hiddenFill>
              </a:ext>
            </a:extLst>
          </p:spPr>
        </p:cxnSp>
        <p:sp>
          <p:nvSpPr>
            <p:cNvPr id="53" name="Text Box 65">
              <a:extLst>
                <a:ext uri="{FF2B5EF4-FFF2-40B4-BE49-F238E27FC236}">
                  <a16:creationId xmlns:a16="http://schemas.microsoft.com/office/drawing/2014/main" id="{00D8E76A-397F-4C33-AB5E-F81BE76CEF2D}"/>
                </a:ext>
              </a:extLst>
            </p:cNvPr>
            <p:cNvSpPr txBox="1">
              <a:spLocks noChangeArrowheads="1"/>
            </p:cNvSpPr>
            <p:nvPr/>
          </p:nvSpPr>
          <p:spPr bwMode="auto">
            <a:xfrm>
              <a:off x="3683" y="4499"/>
              <a:ext cx="1050" cy="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grpSp>
          <p:nvGrpSpPr>
            <p:cNvPr id="54" name="Group 53">
              <a:extLst>
                <a:ext uri="{FF2B5EF4-FFF2-40B4-BE49-F238E27FC236}">
                  <a16:creationId xmlns:a16="http://schemas.microsoft.com/office/drawing/2014/main" id="{E7B44903-3F09-4A12-946D-C8C17E248CDE}"/>
                </a:ext>
              </a:extLst>
            </p:cNvPr>
            <p:cNvGrpSpPr>
              <a:grpSpLocks/>
            </p:cNvGrpSpPr>
            <p:nvPr/>
          </p:nvGrpSpPr>
          <p:grpSpPr bwMode="auto">
            <a:xfrm>
              <a:off x="6170" y="5050"/>
              <a:ext cx="4722" cy="1100"/>
              <a:chOff x="7313" y="12776"/>
              <a:chExt cx="2160" cy="1100"/>
            </a:xfrm>
          </p:grpSpPr>
          <p:cxnSp>
            <p:nvCxnSpPr>
              <p:cNvPr id="59" name="Line 67">
                <a:extLst>
                  <a:ext uri="{FF2B5EF4-FFF2-40B4-BE49-F238E27FC236}">
                    <a16:creationId xmlns:a16="http://schemas.microsoft.com/office/drawing/2014/main" id="{E5FD9EA0-4452-4A85-A964-55A9EC3D79C3}"/>
                  </a:ext>
                </a:extLst>
              </p:cNvPr>
              <p:cNvCxnSpPr>
                <a:cxnSpLocks noChangeShapeType="1"/>
              </p:cNvCxnSpPr>
              <p:nvPr/>
            </p:nvCxnSpPr>
            <p:spPr bwMode="auto">
              <a:xfrm>
                <a:off x="7673" y="12776"/>
                <a:ext cx="360" cy="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60" name="Line 68">
                <a:extLst>
                  <a:ext uri="{FF2B5EF4-FFF2-40B4-BE49-F238E27FC236}">
                    <a16:creationId xmlns:a16="http://schemas.microsoft.com/office/drawing/2014/main" id="{2663342E-2BA4-4E4C-9E3A-020D56837DDB}"/>
                  </a:ext>
                </a:extLst>
              </p:cNvPr>
              <p:cNvCxnSpPr>
                <a:cxnSpLocks noChangeShapeType="1"/>
              </p:cNvCxnSpPr>
              <p:nvPr/>
            </p:nvCxnSpPr>
            <p:spPr bwMode="auto">
              <a:xfrm>
                <a:off x="8033" y="12776"/>
                <a:ext cx="0" cy="108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61" name="Line 69">
                <a:extLst>
                  <a:ext uri="{FF2B5EF4-FFF2-40B4-BE49-F238E27FC236}">
                    <a16:creationId xmlns:a16="http://schemas.microsoft.com/office/drawing/2014/main" id="{654C6A4A-AB61-4BB1-ACC8-1042544B0B0C}"/>
                  </a:ext>
                </a:extLst>
              </p:cNvPr>
              <p:cNvCxnSpPr>
                <a:cxnSpLocks noChangeShapeType="1"/>
              </p:cNvCxnSpPr>
              <p:nvPr/>
            </p:nvCxnSpPr>
            <p:spPr bwMode="auto">
              <a:xfrm>
                <a:off x="8033" y="13876"/>
                <a:ext cx="720" cy="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62" name="Line 70">
                <a:extLst>
                  <a:ext uri="{FF2B5EF4-FFF2-40B4-BE49-F238E27FC236}">
                    <a16:creationId xmlns:a16="http://schemas.microsoft.com/office/drawing/2014/main" id="{60822E5E-7DFD-45B8-9C23-B90E3A74F94B}"/>
                  </a:ext>
                </a:extLst>
              </p:cNvPr>
              <p:cNvCxnSpPr>
                <a:cxnSpLocks noChangeShapeType="1"/>
              </p:cNvCxnSpPr>
              <p:nvPr/>
            </p:nvCxnSpPr>
            <p:spPr bwMode="auto">
              <a:xfrm>
                <a:off x="8753" y="12776"/>
                <a:ext cx="360" cy="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63" name="Line 71">
                <a:extLst>
                  <a:ext uri="{FF2B5EF4-FFF2-40B4-BE49-F238E27FC236}">
                    <a16:creationId xmlns:a16="http://schemas.microsoft.com/office/drawing/2014/main" id="{B783C0D0-EBF6-450E-AC2A-D6A893849EC3}"/>
                  </a:ext>
                </a:extLst>
              </p:cNvPr>
              <p:cNvCxnSpPr>
                <a:cxnSpLocks noChangeShapeType="1"/>
              </p:cNvCxnSpPr>
              <p:nvPr/>
            </p:nvCxnSpPr>
            <p:spPr bwMode="auto">
              <a:xfrm>
                <a:off x="9113" y="12776"/>
                <a:ext cx="0" cy="108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64" name="Line 72">
                <a:extLst>
                  <a:ext uri="{FF2B5EF4-FFF2-40B4-BE49-F238E27FC236}">
                    <a16:creationId xmlns:a16="http://schemas.microsoft.com/office/drawing/2014/main" id="{E0A1E600-6207-4A19-8BFC-0D26E2491672}"/>
                  </a:ext>
                </a:extLst>
              </p:cNvPr>
              <p:cNvCxnSpPr>
                <a:cxnSpLocks noChangeShapeType="1"/>
              </p:cNvCxnSpPr>
              <p:nvPr/>
            </p:nvCxnSpPr>
            <p:spPr bwMode="auto">
              <a:xfrm>
                <a:off x="8738" y="12776"/>
                <a:ext cx="0" cy="108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65" name="Line 73">
                <a:extLst>
                  <a:ext uri="{FF2B5EF4-FFF2-40B4-BE49-F238E27FC236}">
                    <a16:creationId xmlns:a16="http://schemas.microsoft.com/office/drawing/2014/main" id="{949328DC-67A4-4256-931B-BD28D516F873}"/>
                  </a:ext>
                </a:extLst>
              </p:cNvPr>
              <p:cNvCxnSpPr>
                <a:cxnSpLocks noChangeShapeType="1"/>
              </p:cNvCxnSpPr>
              <p:nvPr/>
            </p:nvCxnSpPr>
            <p:spPr bwMode="auto">
              <a:xfrm>
                <a:off x="7313" y="13876"/>
                <a:ext cx="360" cy="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66" name="Line 74">
                <a:extLst>
                  <a:ext uri="{FF2B5EF4-FFF2-40B4-BE49-F238E27FC236}">
                    <a16:creationId xmlns:a16="http://schemas.microsoft.com/office/drawing/2014/main" id="{0514A505-66A2-4B52-93E4-2E0F28683462}"/>
                  </a:ext>
                </a:extLst>
              </p:cNvPr>
              <p:cNvCxnSpPr>
                <a:cxnSpLocks noChangeShapeType="1"/>
              </p:cNvCxnSpPr>
              <p:nvPr/>
            </p:nvCxnSpPr>
            <p:spPr bwMode="auto">
              <a:xfrm>
                <a:off x="7658" y="12776"/>
                <a:ext cx="0" cy="108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67" name="Line 75">
                <a:extLst>
                  <a:ext uri="{FF2B5EF4-FFF2-40B4-BE49-F238E27FC236}">
                    <a16:creationId xmlns:a16="http://schemas.microsoft.com/office/drawing/2014/main" id="{FECBC85F-B574-47FC-BA97-E82F6E3F1806}"/>
                  </a:ext>
                </a:extLst>
              </p:cNvPr>
              <p:cNvCxnSpPr>
                <a:cxnSpLocks noChangeShapeType="1"/>
              </p:cNvCxnSpPr>
              <p:nvPr/>
            </p:nvCxnSpPr>
            <p:spPr bwMode="auto">
              <a:xfrm>
                <a:off x="9113" y="13876"/>
                <a:ext cx="360" cy="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grpSp>
        <p:cxnSp>
          <p:nvCxnSpPr>
            <p:cNvPr id="55" name="Line 76">
              <a:extLst>
                <a:ext uri="{FF2B5EF4-FFF2-40B4-BE49-F238E27FC236}">
                  <a16:creationId xmlns:a16="http://schemas.microsoft.com/office/drawing/2014/main" id="{42EE4962-3E16-45EE-A9A7-F5173B52C115}"/>
                </a:ext>
              </a:extLst>
            </p:cNvPr>
            <p:cNvCxnSpPr>
              <a:cxnSpLocks noChangeShapeType="1"/>
            </p:cNvCxnSpPr>
            <p:nvPr/>
          </p:nvCxnSpPr>
          <p:spPr bwMode="auto">
            <a:xfrm>
              <a:off x="7719" y="4942"/>
              <a:ext cx="2362" cy="0"/>
            </a:xfrm>
            <a:prstGeom prst="line">
              <a:avLst/>
            </a:prstGeom>
            <a:noFill/>
            <a:ln w="28575">
              <a:solidFill>
                <a:srgbClr val="002060"/>
              </a:solidFill>
              <a:round/>
              <a:headEnd type="arrow" w="sm" len="sm"/>
              <a:tailEnd type="arrow" w="sm" len="sm"/>
            </a:ln>
            <a:extLst>
              <a:ext uri="{909E8E84-426E-40DD-AFC4-6F175D3DCCD1}">
                <a14:hiddenFill xmlns:a14="http://schemas.microsoft.com/office/drawing/2010/main">
                  <a:noFill/>
                </a14:hiddenFill>
              </a:ext>
            </a:extLst>
          </p:spPr>
        </p:cxnSp>
        <p:sp>
          <p:nvSpPr>
            <p:cNvPr id="56" name="Text Box 77">
              <a:extLst>
                <a:ext uri="{FF2B5EF4-FFF2-40B4-BE49-F238E27FC236}">
                  <a16:creationId xmlns:a16="http://schemas.microsoft.com/office/drawing/2014/main" id="{43BF2004-D683-4858-ABB6-6A55F3F1698C}"/>
                </a:ext>
              </a:extLst>
            </p:cNvPr>
            <p:cNvSpPr txBox="1">
              <a:spLocks noChangeArrowheads="1"/>
            </p:cNvSpPr>
            <p:nvPr/>
          </p:nvSpPr>
          <p:spPr bwMode="auto">
            <a:xfrm>
              <a:off x="8703" y="4346"/>
              <a:ext cx="1050"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000" dirty="0">
                  <a:solidFill>
                    <a:srgbClr val="002060"/>
                  </a:solidFill>
                  <a:effectLst/>
                  <a:latin typeface="Times New Roman" panose="02020603050405020304" pitchFamily="18" charset="0"/>
                  <a:ea typeface="Times New Roman" panose="02020603050405020304" pitchFamily="18" charset="0"/>
                </a:rPr>
                <a:t>T</a:t>
              </a:r>
              <a:endParaRPr lang="en-GB" sz="1200" dirty="0">
                <a:effectLst/>
                <a:latin typeface="Times New Roman" panose="02020603050405020304" pitchFamily="18" charset="0"/>
                <a:ea typeface="Times New Roman" panose="02020603050405020304" pitchFamily="18" charset="0"/>
              </a:endParaRPr>
            </a:p>
          </p:txBody>
        </p:sp>
        <p:sp>
          <p:nvSpPr>
            <p:cNvPr id="57" name="Text Box 82">
              <a:extLst>
                <a:ext uri="{FF2B5EF4-FFF2-40B4-BE49-F238E27FC236}">
                  <a16:creationId xmlns:a16="http://schemas.microsoft.com/office/drawing/2014/main" id="{094553F6-9D00-4D0D-BBFA-7153AD5CECAC}"/>
                </a:ext>
              </a:extLst>
            </p:cNvPr>
            <p:cNvSpPr txBox="1">
              <a:spLocks noChangeArrowheads="1"/>
            </p:cNvSpPr>
            <p:nvPr/>
          </p:nvSpPr>
          <p:spPr bwMode="auto">
            <a:xfrm>
              <a:off x="2732" y="6393"/>
              <a:ext cx="1050" cy="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(e)</a:t>
              </a:r>
              <a:endParaRPr lang="en-GB" sz="1200">
                <a:effectLst/>
                <a:latin typeface="Times New Roman" panose="02020603050405020304" pitchFamily="18" charset="0"/>
                <a:ea typeface="Times New Roman" panose="02020603050405020304" pitchFamily="18" charset="0"/>
              </a:endParaRPr>
            </a:p>
          </p:txBody>
        </p:sp>
        <p:sp>
          <p:nvSpPr>
            <p:cNvPr id="58" name="Text Box 83">
              <a:extLst>
                <a:ext uri="{FF2B5EF4-FFF2-40B4-BE49-F238E27FC236}">
                  <a16:creationId xmlns:a16="http://schemas.microsoft.com/office/drawing/2014/main" id="{D32B4378-8F02-4B91-B51B-8279E8F55A9E}"/>
                </a:ext>
              </a:extLst>
            </p:cNvPr>
            <p:cNvSpPr txBox="1">
              <a:spLocks noChangeArrowheads="1"/>
            </p:cNvSpPr>
            <p:nvPr/>
          </p:nvSpPr>
          <p:spPr bwMode="auto">
            <a:xfrm>
              <a:off x="8507" y="6393"/>
              <a:ext cx="1049" cy="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(f)</a:t>
              </a:r>
              <a:endParaRPr lang="en-GB" sz="1200">
                <a:effectLst/>
                <a:latin typeface="Times New Roman" panose="02020603050405020304" pitchFamily="18" charset="0"/>
                <a:ea typeface="Times New Roman" panose="02020603050405020304" pitchFamily="18" charset="0"/>
              </a:endParaRPr>
            </a:p>
          </p:txBody>
        </p:sp>
      </p:grpSp>
      <p:sp>
        <p:nvSpPr>
          <p:cNvPr id="82" name="Rectangle 81">
            <a:extLst>
              <a:ext uri="{FF2B5EF4-FFF2-40B4-BE49-F238E27FC236}">
                <a16:creationId xmlns:a16="http://schemas.microsoft.com/office/drawing/2014/main" id="{70CDF74A-12CC-4FE8-8B35-722BB328FDAC}"/>
              </a:ext>
            </a:extLst>
          </p:cNvPr>
          <p:cNvSpPr/>
          <p:nvPr/>
        </p:nvSpPr>
        <p:spPr>
          <a:xfrm>
            <a:off x="1776922" y="4138214"/>
            <a:ext cx="6290159" cy="461665"/>
          </a:xfrm>
          <a:prstGeom prst="rect">
            <a:avLst/>
          </a:prstGeom>
        </p:spPr>
        <p:txBody>
          <a:bodyPr wrap="square">
            <a:spAutoFit/>
          </a:bodyPr>
          <a:lstStyle/>
          <a:p>
            <a:r>
              <a:rPr lang="en-GB" sz="2400" dirty="0">
                <a:solidFill>
                  <a:srgbClr val="002060"/>
                </a:solidFill>
                <a:latin typeface="Times New Roman" panose="02020603050405020304" pitchFamily="18" charset="0"/>
                <a:ea typeface="Times New Roman" panose="02020603050405020304" pitchFamily="18" charset="0"/>
              </a:rPr>
              <a:t>(e) and (f) are repetitive with zero mean value,</a:t>
            </a:r>
            <a:endParaRPr lang="en-GB" sz="2400" dirty="0"/>
          </a:p>
        </p:txBody>
      </p:sp>
      <p:grpSp>
        <p:nvGrpSpPr>
          <p:cNvPr id="83" name="Group 82">
            <a:extLst>
              <a:ext uri="{FF2B5EF4-FFF2-40B4-BE49-F238E27FC236}">
                <a16:creationId xmlns:a16="http://schemas.microsoft.com/office/drawing/2014/main" id="{C6DC5F57-12E6-4191-8FBA-AF56DC61BB34}"/>
              </a:ext>
            </a:extLst>
          </p:cNvPr>
          <p:cNvGrpSpPr>
            <a:grpSpLocks noChangeAspect="1"/>
          </p:cNvGrpSpPr>
          <p:nvPr/>
        </p:nvGrpSpPr>
        <p:grpSpPr bwMode="auto">
          <a:xfrm>
            <a:off x="573982" y="4669918"/>
            <a:ext cx="9395982" cy="1645920"/>
            <a:chOff x="700" y="7256"/>
            <a:chExt cx="18453" cy="2911"/>
          </a:xfrm>
        </p:grpSpPr>
        <p:cxnSp>
          <p:nvCxnSpPr>
            <p:cNvPr id="84" name="Line 2304">
              <a:extLst>
                <a:ext uri="{FF2B5EF4-FFF2-40B4-BE49-F238E27FC236}">
                  <a16:creationId xmlns:a16="http://schemas.microsoft.com/office/drawing/2014/main" id="{C78174B9-1864-43E6-9F96-DD4A15CDBED5}"/>
                </a:ext>
              </a:extLst>
            </p:cNvPr>
            <p:cNvCxnSpPr>
              <a:cxnSpLocks noChangeShapeType="1"/>
            </p:cNvCxnSpPr>
            <p:nvPr/>
          </p:nvCxnSpPr>
          <p:spPr bwMode="auto">
            <a:xfrm>
              <a:off x="1552" y="7590"/>
              <a:ext cx="0" cy="2005"/>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85" name="Line 2305">
              <a:extLst>
                <a:ext uri="{FF2B5EF4-FFF2-40B4-BE49-F238E27FC236}">
                  <a16:creationId xmlns:a16="http://schemas.microsoft.com/office/drawing/2014/main" id="{391B923C-5675-4A8C-8C69-222372DE7195}"/>
                </a:ext>
              </a:extLst>
            </p:cNvPr>
            <p:cNvCxnSpPr>
              <a:cxnSpLocks noChangeShapeType="1"/>
            </p:cNvCxnSpPr>
            <p:nvPr/>
          </p:nvCxnSpPr>
          <p:spPr bwMode="auto">
            <a:xfrm>
              <a:off x="700" y="8735"/>
              <a:ext cx="5111"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sp>
          <p:nvSpPr>
            <p:cNvPr id="86" name="Text Box 2306">
              <a:extLst>
                <a:ext uri="{FF2B5EF4-FFF2-40B4-BE49-F238E27FC236}">
                  <a16:creationId xmlns:a16="http://schemas.microsoft.com/office/drawing/2014/main" id="{42B708F5-B289-4241-91A9-19CF16B2059D}"/>
                </a:ext>
              </a:extLst>
            </p:cNvPr>
            <p:cNvSpPr txBox="1">
              <a:spLocks noChangeArrowheads="1"/>
            </p:cNvSpPr>
            <p:nvPr/>
          </p:nvSpPr>
          <p:spPr bwMode="auto">
            <a:xfrm>
              <a:off x="1552" y="7304"/>
              <a:ext cx="1703" cy="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18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87" name="Text Box 2307">
              <a:extLst>
                <a:ext uri="{FF2B5EF4-FFF2-40B4-BE49-F238E27FC236}">
                  <a16:creationId xmlns:a16="http://schemas.microsoft.com/office/drawing/2014/main" id="{D4FE5B7B-B993-404F-8E8F-A69EC3895901}"/>
                </a:ext>
              </a:extLst>
            </p:cNvPr>
            <p:cNvSpPr txBox="1">
              <a:spLocks noChangeArrowheads="1"/>
            </p:cNvSpPr>
            <p:nvPr/>
          </p:nvSpPr>
          <p:spPr bwMode="auto">
            <a:xfrm>
              <a:off x="5527" y="8047"/>
              <a:ext cx="851" cy="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18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cxnSp>
          <p:nvCxnSpPr>
            <p:cNvPr id="88" name="Line 2308">
              <a:extLst>
                <a:ext uri="{FF2B5EF4-FFF2-40B4-BE49-F238E27FC236}">
                  <a16:creationId xmlns:a16="http://schemas.microsoft.com/office/drawing/2014/main" id="{AD5D31AA-DFB0-4773-BB1F-A44C64F369E1}"/>
                </a:ext>
              </a:extLst>
            </p:cNvPr>
            <p:cNvCxnSpPr>
              <a:cxnSpLocks noChangeShapeType="1"/>
            </p:cNvCxnSpPr>
            <p:nvPr/>
          </p:nvCxnSpPr>
          <p:spPr bwMode="auto">
            <a:xfrm>
              <a:off x="8081" y="7590"/>
              <a:ext cx="0" cy="2005"/>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89" name="Line 2309">
              <a:extLst>
                <a:ext uri="{FF2B5EF4-FFF2-40B4-BE49-F238E27FC236}">
                  <a16:creationId xmlns:a16="http://schemas.microsoft.com/office/drawing/2014/main" id="{9AC6C9EB-9A75-4B48-B4D7-16BDBD33C5DA}"/>
                </a:ext>
              </a:extLst>
            </p:cNvPr>
            <p:cNvCxnSpPr>
              <a:cxnSpLocks noChangeShapeType="1"/>
            </p:cNvCxnSpPr>
            <p:nvPr/>
          </p:nvCxnSpPr>
          <p:spPr bwMode="auto">
            <a:xfrm>
              <a:off x="7230" y="9022"/>
              <a:ext cx="5109"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sp>
          <p:nvSpPr>
            <p:cNvPr id="90" name="Text Box 2310">
              <a:extLst>
                <a:ext uri="{FF2B5EF4-FFF2-40B4-BE49-F238E27FC236}">
                  <a16:creationId xmlns:a16="http://schemas.microsoft.com/office/drawing/2014/main" id="{13676F2F-DD10-4369-B8A3-83B71E31566B}"/>
                </a:ext>
              </a:extLst>
            </p:cNvPr>
            <p:cNvSpPr txBox="1">
              <a:spLocks noChangeArrowheads="1"/>
            </p:cNvSpPr>
            <p:nvPr/>
          </p:nvSpPr>
          <p:spPr bwMode="auto">
            <a:xfrm>
              <a:off x="8081" y="7304"/>
              <a:ext cx="1704" cy="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18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91" name="Text Box 2311">
              <a:extLst>
                <a:ext uri="{FF2B5EF4-FFF2-40B4-BE49-F238E27FC236}">
                  <a16:creationId xmlns:a16="http://schemas.microsoft.com/office/drawing/2014/main" id="{54CF2E07-85F4-414C-842D-97EBCBA109E7}"/>
                </a:ext>
              </a:extLst>
            </p:cNvPr>
            <p:cNvSpPr txBox="1">
              <a:spLocks noChangeArrowheads="1"/>
            </p:cNvSpPr>
            <p:nvPr/>
          </p:nvSpPr>
          <p:spPr bwMode="auto">
            <a:xfrm>
              <a:off x="12055" y="7996"/>
              <a:ext cx="852" cy="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18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cxnSp>
          <p:nvCxnSpPr>
            <p:cNvPr id="92" name="Line 2312">
              <a:extLst>
                <a:ext uri="{FF2B5EF4-FFF2-40B4-BE49-F238E27FC236}">
                  <a16:creationId xmlns:a16="http://schemas.microsoft.com/office/drawing/2014/main" id="{CF15C2BC-69FC-4FAD-BB13-9FCE4305CE9C}"/>
                </a:ext>
              </a:extLst>
            </p:cNvPr>
            <p:cNvCxnSpPr>
              <a:cxnSpLocks noChangeShapeType="1"/>
            </p:cNvCxnSpPr>
            <p:nvPr/>
          </p:nvCxnSpPr>
          <p:spPr bwMode="auto">
            <a:xfrm>
              <a:off x="14326" y="7590"/>
              <a:ext cx="0" cy="2005"/>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93" name="Line 2313">
              <a:extLst>
                <a:ext uri="{FF2B5EF4-FFF2-40B4-BE49-F238E27FC236}">
                  <a16:creationId xmlns:a16="http://schemas.microsoft.com/office/drawing/2014/main" id="{8412E1C0-BA49-4256-8BB9-4F38965902F2}"/>
                </a:ext>
              </a:extLst>
            </p:cNvPr>
            <p:cNvCxnSpPr>
              <a:cxnSpLocks noChangeShapeType="1"/>
            </p:cNvCxnSpPr>
            <p:nvPr/>
          </p:nvCxnSpPr>
          <p:spPr bwMode="auto">
            <a:xfrm>
              <a:off x="13475" y="8354"/>
              <a:ext cx="5110"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sp>
          <p:nvSpPr>
            <p:cNvPr id="94" name="Text Box 2314">
              <a:extLst>
                <a:ext uri="{FF2B5EF4-FFF2-40B4-BE49-F238E27FC236}">
                  <a16:creationId xmlns:a16="http://schemas.microsoft.com/office/drawing/2014/main" id="{51DD3FD8-0B54-4590-9D53-103BD1F6B738}"/>
                </a:ext>
              </a:extLst>
            </p:cNvPr>
            <p:cNvSpPr txBox="1">
              <a:spLocks noChangeArrowheads="1"/>
            </p:cNvSpPr>
            <p:nvPr/>
          </p:nvSpPr>
          <p:spPr bwMode="auto">
            <a:xfrm>
              <a:off x="14326" y="7256"/>
              <a:ext cx="1705" cy="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18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95" name="Text Box 2315">
              <a:extLst>
                <a:ext uri="{FF2B5EF4-FFF2-40B4-BE49-F238E27FC236}">
                  <a16:creationId xmlns:a16="http://schemas.microsoft.com/office/drawing/2014/main" id="{CA5E051A-0F7C-43C0-AD7A-BBEA7E4C8D5C}"/>
                </a:ext>
              </a:extLst>
            </p:cNvPr>
            <p:cNvSpPr txBox="1">
              <a:spLocks noChangeArrowheads="1"/>
            </p:cNvSpPr>
            <p:nvPr/>
          </p:nvSpPr>
          <p:spPr bwMode="auto">
            <a:xfrm>
              <a:off x="18301" y="8234"/>
              <a:ext cx="852" cy="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18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96" name="Text Box 2316">
              <a:extLst>
                <a:ext uri="{FF2B5EF4-FFF2-40B4-BE49-F238E27FC236}">
                  <a16:creationId xmlns:a16="http://schemas.microsoft.com/office/drawing/2014/main" id="{FB56868F-63B6-4E81-B0F3-164F3A640720}"/>
                </a:ext>
              </a:extLst>
            </p:cNvPr>
            <p:cNvSpPr txBox="1">
              <a:spLocks noChangeArrowheads="1"/>
            </p:cNvSpPr>
            <p:nvPr/>
          </p:nvSpPr>
          <p:spPr bwMode="auto">
            <a:xfrm>
              <a:off x="2971" y="9410"/>
              <a:ext cx="1135" cy="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1800">
                  <a:solidFill>
                    <a:srgbClr val="002060"/>
                  </a:solidFill>
                  <a:effectLst/>
                  <a:latin typeface="Times New Roman" panose="02020603050405020304" pitchFamily="18" charset="0"/>
                  <a:ea typeface="Times New Roman" panose="02020603050405020304" pitchFamily="18" charset="0"/>
                </a:rPr>
                <a:t>(g)</a:t>
              </a:r>
              <a:endParaRPr lang="en-GB" sz="1200">
                <a:effectLst/>
                <a:latin typeface="Times New Roman" panose="02020603050405020304" pitchFamily="18" charset="0"/>
                <a:ea typeface="Times New Roman" panose="02020603050405020304" pitchFamily="18" charset="0"/>
              </a:endParaRPr>
            </a:p>
          </p:txBody>
        </p:sp>
        <p:sp>
          <p:nvSpPr>
            <p:cNvPr id="97" name="Text Box 2317">
              <a:extLst>
                <a:ext uri="{FF2B5EF4-FFF2-40B4-BE49-F238E27FC236}">
                  <a16:creationId xmlns:a16="http://schemas.microsoft.com/office/drawing/2014/main" id="{9B1CCE0F-10F1-4214-9647-A74B65DDB84C}"/>
                </a:ext>
              </a:extLst>
            </p:cNvPr>
            <p:cNvSpPr txBox="1">
              <a:spLocks noChangeArrowheads="1"/>
            </p:cNvSpPr>
            <p:nvPr/>
          </p:nvSpPr>
          <p:spPr bwMode="auto">
            <a:xfrm>
              <a:off x="9785" y="9452"/>
              <a:ext cx="1135" cy="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1800">
                  <a:solidFill>
                    <a:srgbClr val="002060"/>
                  </a:solidFill>
                  <a:effectLst/>
                  <a:latin typeface="Times New Roman" panose="02020603050405020304" pitchFamily="18" charset="0"/>
                  <a:ea typeface="Times New Roman" panose="02020603050405020304" pitchFamily="18" charset="0"/>
                </a:rPr>
                <a:t>(h)</a:t>
              </a:r>
              <a:endParaRPr lang="en-GB" sz="1200">
                <a:effectLst/>
                <a:latin typeface="Times New Roman" panose="02020603050405020304" pitchFamily="18" charset="0"/>
                <a:ea typeface="Times New Roman" panose="02020603050405020304" pitchFamily="18" charset="0"/>
              </a:endParaRPr>
            </a:p>
          </p:txBody>
        </p:sp>
        <p:sp>
          <p:nvSpPr>
            <p:cNvPr id="98" name="Text Box 2318">
              <a:extLst>
                <a:ext uri="{FF2B5EF4-FFF2-40B4-BE49-F238E27FC236}">
                  <a16:creationId xmlns:a16="http://schemas.microsoft.com/office/drawing/2014/main" id="{4FD96B17-0AF0-4790-8011-043CBEDDD539}"/>
                </a:ext>
              </a:extLst>
            </p:cNvPr>
            <p:cNvSpPr txBox="1">
              <a:spLocks noChangeArrowheads="1"/>
            </p:cNvSpPr>
            <p:nvPr/>
          </p:nvSpPr>
          <p:spPr bwMode="auto">
            <a:xfrm>
              <a:off x="16031" y="9478"/>
              <a:ext cx="1135" cy="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1800">
                  <a:solidFill>
                    <a:srgbClr val="002060"/>
                  </a:solidFill>
                  <a:effectLst/>
                  <a:latin typeface="Times New Roman" panose="02020603050405020304" pitchFamily="18" charset="0"/>
                  <a:ea typeface="Times New Roman" panose="02020603050405020304" pitchFamily="18" charset="0"/>
                </a:rPr>
                <a:t>(i)</a:t>
              </a:r>
              <a:endParaRPr lang="en-GB" sz="1200">
                <a:effectLst/>
                <a:latin typeface="Times New Roman" panose="02020603050405020304" pitchFamily="18" charset="0"/>
                <a:ea typeface="Times New Roman" panose="02020603050405020304" pitchFamily="18" charset="0"/>
              </a:endParaRPr>
            </a:p>
          </p:txBody>
        </p:sp>
        <p:sp>
          <p:nvSpPr>
            <p:cNvPr id="99" name="Freeform 2319">
              <a:extLst>
                <a:ext uri="{FF2B5EF4-FFF2-40B4-BE49-F238E27FC236}">
                  <a16:creationId xmlns:a16="http://schemas.microsoft.com/office/drawing/2014/main" id="{5DC46F72-8538-4469-BDA1-7D06BCC5CD2C}"/>
                </a:ext>
              </a:extLst>
            </p:cNvPr>
            <p:cNvSpPr>
              <a:spLocks/>
            </p:cNvSpPr>
            <p:nvPr/>
          </p:nvSpPr>
          <p:spPr bwMode="auto">
            <a:xfrm>
              <a:off x="700" y="7734"/>
              <a:ext cx="2413" cy="1574"/>
            </a:xfrm>
            <a:custGeom>
              <a:avLst/>
              <a:gdLst>
                <a:gd name="T0" fmla="*/ 0 w 1440"/>
                <a:gd name="T1" fmla="*/ 780 h 990"/>
                <a:gd name="T2" fmla="*/ 120 w 1440"/>
                <a:gd name="T3" fmla="*/ 420 h 990"/>
                <a:gd name="T4" fmla="*/ 240 w 1440"/>
                <a:gd name="T5" fmla="*/ 420 h 990"/>
                <a:gd name="T6" fmla="*/ 360 w 1440"/>
                <a:gd name="T7" fmla="*/ 600 h 990"/>
                <a:gd name="T8" fmla="*/ 600 w 1440"/>
                <a:gd name="T9" fmla="*/ 420 h 990"/>
                <a:gd name="T10" fmla="*/ 720 w 1440"/>
                <a:gd name="T11" fmla="*/ 60 h 990"/>
                <a:gd name="T12" fmla="*/ 840 w 1440"/>
                <a:gd name="T13" fmla="*/ 780 h 990"/>
                <a:gd name="T14" fmla="*/ 960 w 1440"/>
                <a:gd name="T15" fmla="*/ 960 h 990"/>
                <a:gd name="T16" fmla="*/ 1080 w 1440"/>
                <a:gd name="T17" fmla="*/ 960 h 990"/>
                <a:gd name="T18" fmla="*/ 1200 w 1440"/>
                <a:gd name="T19" fmla="*/ 780 h 990"/>
                <a:gd name="T20" fmla="*/ 1320 w 1440"/>
                <a:gd name="T21" fmla="*/ 960 h 990"/>
                <a:gd name="T22" fmla="*/ 1440 w 1440"/>
                <a:gd name="T23" fmla="*/ 780 h 9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40" h="990">
                  <a:moveTo>
                    <a:pt x="0" y="780"/>
                  </a:moveTo>
                  <a:cubicBezTo>
                    <a:pt x="40" y="630"/>
                    <a:pt x="80" y="480"/>
                    <a:pt x="120" y="420"/>
                  </a:cubicBezTo>
                  <a:cubicBezTo>
                    <a:pt x="160" y="360"/>
                    <a:pt x="200" y="390"/>
                    <a:pt x="240" y="420"/>
                  </a:cubicBezTo>
                  <a:cubicBezTo>
                    <a:pt x="280" y="450"/>
                    <a:pt x="300" y="600"/>
                    <a:pt x="360" y="600"/>
                  </a:cubicBezTo>
                  <a:cubicBezTo>
                    <a:pt x="420" y="600"/>
                    <a:pt x="540" y="510"/>
                    <a:pt x="600" y="420"/>
                  </a:cubicBezTo>
                  <a:cubicBezTo>
                    <a:pt x="660" y="330"/>
                    <a:pt x="680" y="0"/>
                    <a:pt x="720" y="60"/>
                  </a:cubicBezTo>
                  <a:cubicBezTo>
                    <a:pt x="760" y="120"/>
                    <a:pt x="800" y="630"/>
                    <a:pt x="840" y="780"/>
                  </a:cubicBezTo>
                  <a:cubicBezTo>
                    <a:pt x="880" y="930"/>
                    <a:pt x="920" y="930"/>
                    <a:pt x="960" y="960"/>
                  </a:cubicBezTo>
                  <a:cubicBezTo>
                    <a:pt x="1000" y="990"/>
                    <a:pt x="1040" y="990"/>
                    <a:pt x="1080" y="960"/>
                  </a:cubicBezTo>
                  <a:cubicBezTo>
                    <a:pt x="1120" y="930"/>
                    <a:pt x="1160" y="780"/>
                    <a:pt x="1200" y="780"/>
                  </a:cubicBezTo>
                  <a:cubicBezTo>
                    <a:pt x="1240" y="780"/>
                    <a:pt x="1280" y="960"/>
                    <a:pt x="1320" y="960"/>
                  </a:cubicBezTo>
                  <a:cubicBezTo>
                    <a:pt x="1360" y="960"/>
                    <a:pt x="1400" y="870"/>
                    <a:pt x="1440" y="780"/>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00" name="Freeform 2320">
              <a:extLst>
                <a:ext uri="{FF2B5EF4-FFF2-40B4-BE49-F238E27FC236}">
                  <a16:creationId xmlns:a16="http://schemas.microsoft.com/office/drawing/2014/main" id="{A00E1B39-2E49-4C89-AD0B-1CD1C3269251}"/>
                </a:ext>
              </a:extLst>
            </p:cNvPr>
            <p:cNvSpPr>
              <a:spLocks/>
            </p:cNvSpPr>
            <p:nvPr/>
          </p:nvSpPr>
          <p:spPr bwMode="auto">
            <a:xfrm>
              <a:off x="3113" y="7805"/>
              <a:ext cx="2414" cy="1456"/>
            </a:xfrm>
            <a:custGeom>
              <a:avLst/>
              <a:gdLst>
                <a:gd name="T0" fmla="*/ 0 w 1020"/>
                <a:gd name="T1" fmla="*/ 735 h 915"/>
                <a:gd name="T2" fmla="*/ 85 w 1020"/>
                <a:gd name="T3" fmla="*/ 375 h 915"/>
                <a:gd name="T4" fmla="*/ 142 w 1020"/>
                <a:gd name="T5" fmla="*/ 202 h 915"/>
                <a:gd name="T6" fmla="*/ 247 w 1020"/>
                <a:gd name="T7" fmla="*/ 787 h 915"/>
                <a:gd name="T8" fmla="*/ 352 w 1020"/>
                <a:gd name="T9" fmla="*/ 367 h 915"/>
                <a:gd name="T10" fmla="*/ 510 w 1020"/>
                <a:gd name="T11" fmla="*/ 15 h 915"/>
                <a:gd name="T12" fmla="*/ 637 w 1020"/>
                <a:gd name="T13" fmla="*/ 457 h 915"/>
                <a:gd name="T14" fmla="*/ 727 w 1020"/>
                <a:gd name="T15" fmla="*/ 862 h 915"/>
                <a:gd name="T16" fmla="*/ 787 w 1020"/>
                <a:gd name="T17" fmla="*/ 412 h 915"/>
                <a:gd name="T18" fmla="*/ 850 w 1020"/>
                <a:gd name="T19" fmla="*/ 735 h 915"/>
                <a:gd name="T20" fmla="*/ 935 w 1020"/>
                <a:gd name="T21" fmla="*/ 915 h 915"/>
                <a:gd name="T22" fmla="*/ 1020 w 1020"/>
                <a:gd name="T23" fmla="*/ 735 h 9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0" h="915">
                  <a:moveTo>
                    <a:pt x="0" y="735"/>
                  </a:moveTo>
                  <a:cubicBezTo>
                    <a:pt x="28" y="585"/>
                    <a:pt x="61" y="464"/>
                    <a:pt x="85" y="375"/>
                  </a:cubicBezTo>
                  <a:cubicBezTo>
                    <a:pt x="109" y="286"/>
                    <a:pt x="115" y="133"/>
                    <a:pt x="142" y="202"/>
                  </a:cubicBezTo>
                  <a:cubicBezTo>
                    <a:pt x="169" y="271"/>
                    <a:pt x="212" y="760"/>
                    <a:pt x="247" y="787"/>
                  </a:cubicBezTo>
                  <a:cubicBezTo>
                    <a:pt x="282" y="814"/>
                    <a:pt x="308" y="496"/>
                    <a:pt x="352" y="367"/>
                  </a:cubicBezTo>
                  <a:cubicBezTo>
                    <a:pt x="396" y="238"/>
                    <a:pt x="463" y="0"/>
                    <a:pt x="510" y="15"/>
                  </a:cubicBezTo>
                  <a:cubicBezTo>
                    <a:pt x="557" y="30"/>
                    <a:pt x="601" y="316"/>
                    <a:pt x="637" y="457"/>
                  </a:cubicBezTo>
                  <a:cubicBezTo>
                    <a:pt x="673" y="598"/>
                    <a:pt x="702" y="869"/>
                    <a:pt x="727" y="862"/>
                  </a:cubicBezTo>
                  <a:cubicBezTo>
                    <a:pt x="752" y="855"/>
                    <a:pt x="767" y="433"/>
                    <a:pt x="787" y="412"/>
                  </a:cubicBezTo>
                  <a:cubicBezTo>
                    <a:pt x="807" y="391"/>
                    <a:pt x="825" y="651"/>
                    <a:pt x="850" y="735"/>
                  </a:cubicBezTo>
                  <a:cubicBezTo>
                    <a:pt x="875" y="819"/>
                    <a:pt x="907" y="915"/>
                    <a:pt x="935" y="915"/>
                  </a:cubicBezTo>
                  <a:cubicBezTo>
                    <a:pt x="963" y="915"/>
                    <a:pt x="992" y="825"/>
                    <a:pt x="1020" y="735"/>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nvGrpSpPr>
            <p:cNvPr id="101" name="Group 100">
              <a:extLst>
                <a:ext uri="{FF2B5EF4-FFF2-40B4-BE49-F238E27FC236}">
                  <a16:creationId xmlns:a16="http://schemas.microsoft.com/office/drawing/2014/main" id="{8BD51369-E488-4A4C-912C-A33E4BC9C42D}"/>
                </a:ext>
              </a:extLst>
            </p:cNvPr>
            <p:cNvGrpSpPr>
              <a:grpSpLocks/>
            </p:cNvGrpSpPr>
            <p:nvPr/>
          </p:nvGrpSpPr>
          <p:grpSpPr bwMode="auto">
            <a:xfrm>
              <a:off x="7444" y="8062"/>
              <a:ext cx="4456" cy="1353"/>
              <a:chOff x="4455" y="9462"/>
              <a:chExt cx="2558" cy="851"/>
            </a:xfrm>
          </p:grpSpPr>
          <p:sp>
            <p:nvSpPr>
              <p:cNvPr id="113" name="Freeform 2322">
                <a:extLst>
                  <a:ext uri="{FF2B5EF4-FFF2-40B4-BE49-F238E27FC236}">
                    <a16:creationId xmlns:a16="http://schemas.microsoft.com/office/drawing/2014/main" id="{23BE1776-DE8F-476A-8837-DF1194C52BBD}"/>
                  </a:ext>
                </a:extLst>
              </p:cNvPr>
              <p:cNvSpPr>
                <a:spLocks/>
              </p:cNvSpPr>
              <p:nvPr/>
            </p:nvSpPr>
            <p:spPr bwMode="auto">
              <a:xfrm>
                <a:off x="4455" y="9462"/>
                <a:ext cx="1290" cy="840"/>
              </a:xfrm>
              <a:custGeom>
                <a:avLst/>
                <a:gdLst>
                  <a:gd name="T0" fmla="*/ 0 w 1290"/>
                  <a:gd name="T1" fmla="*/ 393 h 840"/>
                  <a:gd name="T2" fmla="*/ 203 w 1290"/>
                  <a:gd name="T3" fmla="*/ 56 h 840"/>
                  <a:gd name="T4" fmla="*/ 443 w 1290"/>
                  <a:gd name="T5" fmla="*/ 56 h 840"/>
                  <a:gd name="T6" fmla="*/ 563 w 1290"/>
                  <a:gd name="T7" fmla="*/ 236 h 840"/>
                  <a:gd name="T8" fmla="*/ 803 w 1290"/>
                  <a:gd name="T9" fmla="*/ 236 h 840"/>
                  <a:gd name="T10" fmla="*/ 923 w 1290"/>
                  <a:gd name="T11" fmla="*/ 416 h 840"/>
                  <a:gd name="T12" fmla="*/ 1043 w 1290"/>
                  <a:gd name="T13" fmla="*/ 776 h 840"/>
                  <a:gd name="T14" fmla="*/ 1163 w 1290"/>
                  <a:gd name="T15" fmla="*/ 776 h 840"/>
                  <a:gd name="T16" fmla="*/ 1290 w 1290"/>
                  <a:gd name="T17" fmla="*/ 393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0" h="840">
                    <a:moveTo>
                      <a:pt x="0" y="393"/>
                    </a:moveTo>
                    <a:cubicBezTo>
                      <a:pt x="31" y="337"/>
                      <a:pt x="129" y="112"/>
                      <a:pt x="203" y="56"/>
                    </a:cubicBezTo>
                    <a:cubicBezTo>
                      <a:pt x="277" y="0"/>
                      <a:pt x="383" y="26"/>
                      <a:pt x="443" y="56"/>
                    </a:cubicBezTo>
                    <a:cubicBezTo>
                      <a:pt x="503" y="86"/>
                      <a:pt x="503" y="206"/>
                      <a:pt x="563" y="236"/>
                    </a:cubicBezTo>
                    <a:cubicBezTo>
                      <a:pt x="623" y="266"/>
                      <a:pt x="743" y="206"/>
                      <a:pt x="803" y="236"/>
                    </a:cubicBezTo>
                    <a:cubicBezTo>
                      <a:pt x="863" y="266"/>
                      <a:pt x="883" y="326"/>
                      <a:pt x="923" y="416"/>
                    </a:cubicBezTo>
                    <a:cubicBezTo>
                      <a:pt x="963" y="506"/>
                      <a:pt x="1003" y="716"/>
                      <a:pt x="1043" y="776"/>
                    </a:cubicBezTo>
                    <a:cubicBezTo>
                      <a:pt x="1083" y="836"/>
                      <a:pt x="1122" y="840"/>
                      <a:pt x="1163" y="776"/>
                    </a:cubicBezTo>
                    <a:cubicBezTo>
                      <a:pt x="1204" y="712"/>
                      <a:pt x="1264" y="473"/>
                      <a:pt x="1290" y="393"/>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14" name="Freeform 2323">
                <a:extLst>
                  <a:ext uri="{FF2B5EF4-FFF2-40B4-BE49-F238E27FC236}">
                    <a16:creationId xmlns:a16="http://schemas.microsoft.com/office/drawing/2014/main" id="{23CBE30B-EEE4-4A6B-8E0A-287BB118F924}"/>
                  </a:ext>
                </a:extLst>
              </p:cNvPr>
              <p:cNvSpPr>
                <a:spLocks/>
              </p:cNvSpPr>
              <p:nvPr/>
            </p:nvSpPr>
            <p:spPr bwMode="auto">
              <a:xfrm>
                <a:off x="5723" y="9473"/>
                <a:ext cx="1290" cy="840"/>
              </a:xfrm>
              <a:custGeom>
                <a:avLst/>
                <a:gdLst>
                  <a:gd name="T0" fmla="*/ 0 w 1290"/>
                  <a:gd name="T1" fmla="*/ 393 h 840"/>
                  <a:gd name="T2" fmla="*/ 203 w 1290"/>
                  <a:gd name="T3" fmla="*/ 56 h 840"/>
                  <a:gd name="T4" fmla="*/ 443 w 1290"/>
                  <a:gd name="T5" fmla="*/ 56 h 840"/>
                  <a:gd name="T6" fmla="*/ 563 w 1290"/>
                  <a:gd name="T7" fmla="*/ 236 h 840"/>
                  <a:gd name="T8" fmla="*/ 803 w 1290"/>
                  <a:gd name="T9" fmla="*/ 236 h 840"/>
                  <a:gd name="T10" fmla="*/ 923 w 1290"/>
                  <a:gd name="T11" fmla="*/ 416 h 840"/>
                  <a:gd name="T12" fmla="*/ 1043 w 1290"/>
                  <a:gd name="T13" fmla="*/ 776 h 840"/>
                  <a:gd name="T14" fmla="*/ 1163 w 1290"/>
                  <a:gd name="T15" fmla="*/ 776 h 840"/>
                  <a:gd name="T16" fmla="*/ 1290 w 1290"/>
                  <a:gd name="T17" fmla="*/ 393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0" h="840">
                    <a:moveTo>
                      <a:pt x="0" y="393"/>
                    </a:moveTo>
                    <a:cubicBezTo>
                      <a:pt x="31" y="337"/>
                      <a:pt x="129" y="112"/>
                      <a:pt x="203" y="56"/>
                    </a:cubicBezTo>
                    <a:cubicBezTo>
                      <a:pt x="277" y="0"/>
                      <a:pt x="383" y="26"/>
                      <a:pt x="443" y="56"/>
                    </a:cubicBezTo>
                    <a:cubicBezTo>
                      <a:pt x="503" y="86"/>
                      <a:pt x="503" y="206"/>
                      <a:pt x="563" y="236"/>
                    </a:cubicBezTo>
                    <a:cubicBezTo>
                      <a:pt x="623" y="266"/>
                      <a:pt x="743" y="206"/>
                      <a:pt x="803" y="236"/>
                    </a:cubicBezTo>
                    <a:cubicBezTo>
                      <a:pt x="863" y="266"/>
                      <a:pt x="883" y="326"/>
                      <a:pt x="923" y="416"/>
                    </a:cubicBezTo>
                    <a:cubicBezTo>
                      <a:pt x="963" y="506"/>
                      <a:pt x="1003" y="716"/>
                      <a:pt x="1043" y="776"/>
                    </a:cubicBezTo>
                    <a:cubicBezTo>
                      <a:pt x="1083" y="836"/>
                      <a:pt x="1122" y="840"/>
                      <a:pt x="1163" y="776"/>
                    </a:cubicBezTo>
                    <a:cubicBezTo>
                      <a:pt x="1204" y="712"/>
                      <a:pt x="1264" y="473"/>
                      <a:pt x="1290" y="393"/>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nvGrpSpPr>
            <p:cNvPr id="102" name="Group 101">
              <a:extLst>
                <a:ext uri="{FF2B5EF4-FFF2-40B4-BE49-F238E27FC236}">
                  <a16:creationId xmlns:a16="http://schemas.microsoft.com/office/drawing/2014/main" id="{D795E2FB-CDEA-4F44-91BA-8A581C144D54}"/>
                </a:ext>
              </a:extLst>
            </p:cNvPr>
            <p:cNvGrpSpPr>
              <a:grpSpLocks/>
            </p:cNvGrpSpPr>
            <p:nvPr/>
          </p:nvGrpSpPr>
          <p:grpSpPr bwMode="auto">
            <a:xfrm flipV="1">
              <a:off x="13760" y="7857"/>
              <a:ext cx="4258" cy="1433"/>
              <a:chOff x="7058" y="9518"/>
              <a:chExt cx="2160" cy="540"/>
            </a:xfrm>
          </p:grpSpPr>
          <p:cxnSp>
            <p:nvCxnSpPr>
              <p:cNvPr id="103" name="Line 2325">
                <a:extLst>
                  <a:ext uri="{FF2B5EF4-FFF2-40B4-BE49-F238E27FC236}">
                    <a16:creationId xmlns:a16="http://schemas.microsoft.com/office/drawing/2014/main" id="{BB6275BD-CC4C-4F4B-9FFA-5ED134BEE3F2}"/>
                  </a:ext>
                </a:extLst>
              </p:cNvPr>
              <p:cNvCxnSpPr>
                <a:cxnSpLocks noChangeShapeType="1"/>
              </p:cNvCxnSpPr>
              <p:nvPr/>
            </p:nvCxnSpPr>
            <p:spPr bwMode="auto">
              <a:xfrm flipV="1">
                <a:off x="7058" y="9518"/>
                <a:ext cx="480" cy="36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104" name="Line 2326">
                <a:extLst>
                  <a:ext uri="{FF2B5EF4-FFF2-40B4-BE49-F238E27FC236}">
                    <a16:creationId xmlns:a16="http://schemas.microsoft.com/office/drawing/2014/main" id="{09997647-2870-4D36-8A2F-418C64129332}"/>
                  </a:ext>
                </a:extLst>
              </p:cNvPr>
              <p:cNvCxnSpPr>
                <a:cxnSpLocks noChangeShapeType="1"/>
              </p:cNvCxnSpPr>
              <p:nvPr/>
            </p:nvCxnSpPr>
            <p:spPr bwMode="auto">
              <a:xfrm>
                <a:off x="7538" y="9518"/>
                <a:ext cx="360" cy="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105" name="Line 2327">
                <a:extLst>
                  <a:ext uri="{FF2B5EF4-FFF2-40B4-BE49-F238E27FC236}">
                    <a16:creationId xmlns:a16="http://schemas.microsoft.com/office/drawing/2014/main" id="{804B1376-545E-492A-8997-8D15C93ABE96}"/>
                  </a:ext>
                </a:extLst>
              </p:cNvPr>
              <p:cNvCxnSpPr>
                <a:cxnSpLocks noChangeShapeType="1"/>
              </p:cNvCxnSpPr>
              <p:nvPr/>
            </p:nvCxnSpPr>
            <p:spPr bwMode="auto">
              <a:xfrm>
                <a:off x="7898" y="9518"/>
                <a:ext cx="0" cy="54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106" name="Line 2328">
                <a:extLst>
                  <a:ext uri="{FF2B5EF4-FFF2-40B4-BE49-F238E27FC236}">
                    <a16:creationId xmlns:a16="http://schemas.microsoft.com/office/drawing/2014/main" id="{7817BC92-3C57-428A-B7E5-B59ED0699985}"/>
                  </a:ext>
                </a:extLst>
              </p:cNvPr>
              <p:cNvCxnSpPr>
                <a:cxnSpLocks noChangeShapeType="1"/>
              </p:cNvCxnSpPr>
              <p:nvPr/>
            </p:nvCxnSpPr>
            <p:spPr bwMode="auto">
              <a:xfrm>
                <a:off x="7898" y="10058"/>
                <a:ext cx="240" cy="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107" name="Line 2329">
                <a:extLst>
                  <a:ext uri="{FF2B5EF4-FFF2-40B4-BE49-F238E27FC236}">
                    <a16:creationId xmlns:a16="http://schemas.microsoft.com/office/drawing/2014/main" id="{0B3AB0F8-EB2C-4A2A-8ED8-FBD5F2D0FB8C}"/>
                  </a:ext>
                </a:extLst>
              </p:cNvPr>
              <p:cNvCxnSpPr>
                <a:cxnSpLocks noChangeShapeType="1"/>
              </p:cNvCxnSpPr>
              <p:nvPr/>
            </p:nvCxnSpPr>
            <p:spPr bwMode="auto">
              <a:xfrm flipV="1">
                <a:off x="8138" y="9878"/>
                <a:ext cx="0" cy="18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108" name="Line 2330">
                <a:extLst>
                  <a:ext uri="{FF2B5EF4-FFF2-40B4-BE49-F238E27FC236}">
                    <a16:creationId xmlns:a16="http://schemas.microsoft.com/office/drawing/2014/main" id="{C96D3410-459A-40C6-A074-120EB448FC4E}"/>
                  </a:ext>
                </a:extLst>
              </p:cNvPr>
              <p:cNvCxnSpPr>
                <a:cxnSpLocks noChangeShapeType="1"/>
              </p:cNvCxnSpPr>
              <p:nvPr/>
            </p:nvCxnSpPr>
            <p:spPr bwMode="auto">
              <a:xfrm flipV="1">
                <a:off x="8138" y="9518"/>
                <a:ext cx="480" cy="36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109" name="Line 2331">
                <a:extLst>
                  <a:ext uri="{FF2B5EF4-FFF2-40B4-BE49-F238E27FC236}">
                    <a16:creationId xmlns:a16="http://schemas.microsoft.com/office/drawing/2014/main" id="{1AFA2CA5-B47D-4F61-985E-7E8B7F68C5A5}"/>
                  </a:ext>
                </a:extLst>
              </p:cNvPr>
              <p:cNvCxnSpPr>
                <a:cxnSpLocks noChangeShapeType="1"/>
              </p:cNvCxnSpPr>
              <p:nvPr/>
            </p:nvCxnSpPr>
            <p:spPr bwMode="auto">
              <a:xfrm>
                <a:off x="8618" y="9518"/>
                <a:ext cx="360" cy="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110" name="Line 2332">
                <a:extLst>
                  <a:ext uri="{FF2B5EF4-FFF2-40B4-BE49-F238E27FC236}">
                    <a16:creationId xmlns:a16="http://schemas.microsoft.com/office/drawing/2014/main" id="{EAC00ED5-8260-4EA2-9B7A-81084DBA454C}"/>
                  </a:ext>
                </a:extLst>
              </p:cNvPr>
              <p:cNvCxnSpPr>
                <a:cxnSpLocks noChangeShapeType="1"/>
              </p:cNvCxnSpPr>
              <p:nvPr/>
            </p:nvCxnSpPr>
            <p:spPr bwMode="auto">
              <a:xfrm>
                <a:off x="8978" y="9518"/>
                <a:ext cx="0" cy="54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111" name="Line 2333">
                <a:extLst>
                  <a:ext uri="{FF2B5EF4-FFF2-40B4-BE49-F238E27FC236}">
                    <a16:creationId xmlns:a16="http://schemas.microsoft.com/office/drawing/2014/main" id="{65755EC5-CAFD-4BC1-8854-A2356E1D6797}"/>
                  </a:ext>
                </a:extLst>
              </p:cNvPr>
              <p:cNvCxnSpPr>
                <a:cxnSpLocks noChangeShapeType="1"/>
              </p:cNvCxnSpPr>
              <p:nvPr/>
            </p:nvCxnSpPr>
            <p:spPr bwMode="auto">
              <a:xfrm>
                <a:off x="8978" y="10058"/>
                <a:ext cx="240" cy="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112" name="Line 2334">
                <a:extLst>
                  <a:ext uri="{FF2B5EF4-FFF2-40B4-BE49-F238E27FC236}">
                    <a16:creationId xmlns:a16="http://schemas.microsoft.com/office/drawing/2014/main" id="{8E49D1AC-324F-45A4-8925-724776719B3D}"/>
                  </a:ext>
                </a:extLst>
              </p:cNvPr>
              <p:cNvCxnSpPr>
                <a:cxnSpLocks noChangeShapeType="1"/>
              </p:cNvCxnSpPr>
              <p:nvPr/>
            </p:nvCxnSpPr>
            <p:spPr bwMode="auto">
              <a:xfrm flipV="1">
                <a:off x="9218" y="9878"/>
                <a:ext cx="0" cy="18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grpSp>
      </p:grpSp>
      <p:sp>
        <p:nvSpPr>
          <p:cNvPr id="115" name="Rectangle 114">
            <a:extLst>
              <a:ext uri="{FF2B5EF4-FFF2-40B4-BE49-F238E27FC236}">
                <a16:creationId xmlns:a16="http://schemas.microsoft.com/office/drawing/2014/main" id="{56264CAD-716B-4E58-AE4F-A5A0417E1B9B}"/>
              </a:ext>
            </a:extLst>
          </p:cNvPr>
          <p:cNvSpPr/>
          <p:nvPr/>
        </p:nvSpPr>
        <p:spPr>
          <a:xfrm>
            <a:off x="1441377" y="6176533"/>
            <a:ext cx="8012130" cy="461665"/>
          </a:xfrm>
          <a:prstGeom prst="rect">
            <a:avLst/>
          </a:prstGeom>
        </p:spPr>
        <p:txBody>
          <a:bodyPr wrap="none">
            <a:spAutoFit/>
          </a:bodyPr>
          <a:lstStyle/>
          <a:p>
            <a:r>
              <a:rPr lang="en-GB" sz="2400" dirty="0">
                <a:solidFill>
                  <a:srgbClr val="002060"/>
                </a:solidFill>
                <a:latin typeface="Times New Roman" panose="02020603050405020304" pitchFamily="18" charset="0"/>
                <a:ea typeface="Times New Roman" panose="02020603050405020304" pitchFamily="18" charset="0"/>
              </a:rPr>
              <a:t>(c), (h) and (</a:t>
            </a:r>
            <a:r>
              <a:rPr lang="en-GB" sz="2400" dirty="0" err="1">
                <a:solidFill>
                  <a:srgbClr val="002060"/>
                </a:solidFill>
                <a:latin typeface="Times New Roman" panose="02020603050405020304" pitchFamily="18" charset="0"/>
                <a:ea typeface="Times New Roman" panose="02020603050405020304" pitchFamily="18" charset="0"/>
              </a:rPr>
              <a:t>i</a:t>
            </a:r>
            <a:r>
              <a:rPr lang="en-GB" sz="2400" dirty="0">
                <a:solidFill>
                  <a:srgbClr val="002060"/>
                </a:solidFill>
                <a:latin typeface="Times New Roman" panose="02020603050405020304" pitchFamily="18" charset="0"/>
                <a:ea typeface="Times New Roman" panose="02020603050405020304" pitchFamily="18" charset="0"/>
              </a:rPr>
              <a:t>) are repetitive waveforms with finite mean values</a:t>
            </a:r>
            <a:endParaRPr lang="en-GB" sz="2400" dirty="0"/>
          </a:p>
        </p:txBody>
      </p:sp>
    </p:spTree>
    <p:extLst>
      <p:ext uri="{BB962C8B-B14F-4D97-AF65-F5344CB8AC3E}">
        <p14:creationId xmlns:p14="http://schemas.microsoft.com/office/powerpoint/2010/main" val="1121113207"/>
      </p:ext>
    </p:extLst>
  </p:cSld>
  <p:clrMapOvr>
    <a:masterClrMapping/>
  </p:clrMapOvr>
  <mc:AlternateContent xmlns:mc="http://schemas.openxmlformats.org/markup-compatibility/2006" xmlns:p14="http://schemas.microsoft.com/office/powerpoint/2010/main">
    <mc:Choice Requires="p14">
      <p:transition spd="slow" p14:dur="2000" advTm="37280"/>
    </mc:Choice>
    <mc:Fallback xmlns="">
      <p:transition spd="slow" advTm="3728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112B69DE-CDAA-4687-88A6-EC5B4BBD7CAE}"/>
              </a:ext>
            </a:extLst>
          </p:cNvPr>
          <p:cNvSpPr/>
          <p:nvPr/>
        </p:nvSpPr>
        <p:spPr>
          <a:xfrm>
            <a:off x="495300" y="846088"/>
            <a:ext cx="9048750" cy="5110117"/>
          </a:xfrm>
          <a:prstGeom prst="rect">
            <a:avLst/>
          </a:prstGeom>
        </p:spPr>
        <p:txBody>
          <a:bodyPr wrap="square">
            <a:spAutoFit/>
          </a:bodyPr>
          <a:lstStyle/>
          <a:p>
            <a:pPr algn="just">
              <a:lnSpc>
                <a:spcPct val="114000"/>
              </a:lnSpc>
              <a:spcBef>
                <a:spcPts val="2400"/>
              </a:spcBef>
            </a:pPr>
            <a:r>
              <a:rPr lang="en-GB" sz="3200" dirty="0">
                <a:solidFill>
                  <a:srgbClr val="002060"/>
                </a:solidFill>
                <a:latin typeface="Times New Roman" panose="02020603050405020304" pitchFamily="18" charset="0"/>
                <a:ea typeface="Times New Roman" panose="02020603050405020304" pitchFamily="18" charset="0"/>
              </a:rPr>
              <a:t>Basically two groups of waveforms</a:t>
            </a:r>
            <a:endParaRPr lang="en-GB" sz="3200" dirty="0">
              <a:latin typeface="Times New Roman" panose="02020603050405020304" pitchFamily="18" charset="0"/>
              <a:ea typeface="Times New Roman" panose="02020603050405020304" pitchFamily="18" charset="0"/>
            </a:endParaRPr>
          </a:p>
          <a:p>
            <a:pPr marL="342900" marR="0" lvl="0" indent="-342900" algn="just">
              <a:lnSpc>
                <a:spcPct val="114000"/>
              </a:lnSpc>
              <a:spcBef>
                <a:spcPts val="0"/>
              </a:spcBef>
              <a:spcAft>
                <a:spcPts val="0"/>
              </a:spcAft>
              <a:buFont typeface="Symbol" panose="05050102010706020507" pitchFamily="18" charset="2"/>
              <a:buChar char=""/>
            </a:pPr>
            <a:r>
              <a:rPr lang="en-GB" sz="3200" dirty="0">
                <a:solidFill>
                  <a:srgbClr val="002060"/>
                </a:solidFill>
                <a:latin typeface="Times New Roman" panose="02020603050405020304" pitchFamily="18" charset="0"/>
                <a:ea typeface="Times New Roman" panose="02020603050405020304" pitchFamily="18" charset="0"/>
              </a:rPr>
              <a:t>non-repetitive </a:t>
            </a:r>
          </a:p>
          <a:p>
            <a:pPr marR="0" lvl="0" algn="just">
              <a:lnSpc>
                <a:spcPct val="114000"/>
              </a:lnSpc>
              <a:spcBef>
                <a:spcPts val="0"/>
              </a:spcBef>
              <a:spcAft>
                <a:spcPts val="0"/>
              </a:spcAft>
              <a:tabLst>
                <a:tab pos="393700" algn="l"/>
              </a:tabLst>
            </a:pPr>
            <a:r>
              <a:rPr lang="en-GB" sz="3200" dirty="0">
                <a:solidFill>
                  <a:srgbClr val="002060"/>
                </a:solidFill>
                <a:latin typeface="Times New Roman" panose="02020603050405020304" pitchFamily="18" charset="0"/>
                <a:ea typeface="Times New Roman" panose="02020603050405020304" pitchFamily="18" charset="0"/>
              </a:rPr>
              <a:t>	(</a:t>
            </a:r>
            <a:r>
              <a:rPr lang="en-GB" sz="3200" dirty="0">
                <a:solidFill>
                  <a:srgbClr val="002060"/>
                </a:solidFill>
                <a:latin typeface="Brush Script MT" panose="03060802040406070304" pitchFamily="66" charset="0"/>
                <a:ea typeface="Times New Roman" panose="02020603050405020304" pitchFamily="18" charset="0"/>
              </a:rPr>
              <a:t>will be dealt with under Laplace Transform)</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pPr marL="342900" marR="0" lvl="0" indent="-342900" algn="just">
              <a:lnSpc>
                <a:spcPct val="114000"/>
              </a:lnSpc>
              <a:spcBef>
                <a:spcPts val="0"/>
              </a:spcBef>
              <a:spcAft>
                <a:spcPts val="0"/>
              </a:spcAft>
              <a:buFont typeface="Symbol" panose="05050102010706020507" pitchFamily="18" charset="2"/>
              <a:buChar char=""/>
            </a:pPr>
            <a:r>
              <a:rPr lang="en-GB" sz="3200" dirty="0">
                <a:solidFill>
                  <a:srgbClr val="002060"/>
                </a:solidFill>
                <a:latin typeface="Times New Roman" panose="02020603050405020304" pitchFamily="18" charset="0"/>
                <a:ea typeface="Times New Roman" panose="02020603050405020304" pitchFamily="18" charset="0"/>
              </a:rPr>
              <a:t>repetitive</a:t>
            </a:r>
            <a:endParaRPr lang="en-GB" sz="3200" dirty="0">
              <a:latin typeface="Times New Roman" panose="02020603050405020304" pitchFamily="18" charset="0"/>
              <a:ea typeface="Times New Roman" panose="02020603050405020304" pitchFamily="18" charset="0"/>
            </a:endParaRPr>
          </a:p>
          <a:p>
            <a:pPr algn="just">
              <a:lnSpc>
                <a:spcPct val="114000"/>
              </a:lnSpc>
            </a:pPr>
            <a:r>
              <a:rPr lang="en-GB" sz="3200" dirty="0">
                <a:solidFill>
                  <a:srgbClr val="002060"/>
                </a:solidFill>
                <a:latin typeface="Times New Roman" panose="02020603050405020304" pitchFamily="18" charset="0"/>
                <a:ea typeface="Times New Roman" panose="02020603050405020304" pitchFamily="18" charset="0"/>
              </a:rPr>
              <a:t>Repetitive waveform</a:t>
            </a:r>
            <a:endParaRPr lang="en-GB" sz="3200" dirty="0">
              <a:latin typeface="Times New Roman" panose="02020603050405020304" pitchFamily="18" charset="0"/>
              <a:ea typeface="Times New Roman" panose="02020603050405020304" pitchFamily="18" charset="0"/>
            </a:endParaRPr>
          </a:p>
          <a:p>
            <a:pPr marL="342900" marR="0" lvl="0" indent="-342900" algn="just">
              <a:lnSpc>
                <a:spcPct val="114000"/>
              </a:lnSpc>
              <a:spcBef>
                <a:spcPts val="0"/>
              </a:spcBef>
              <a:spcAft>
                <a:spcPts val="0"/>
              </a:spcAft>
              <a:buFont typeface="Symbol" panose="05050102010706020507" pitchFamily="18" charset="2"/>
              <a:buChar char=""/>
            </a:pPr>
            <a:r>
              <a:rPr lang="en-GB" sz="3200" dirty="0">
                <a:solidFill>
                  <a:srgbClr val="002060"/>
                </a:solidFill>
                <a:latin typeface="Times New Roman" panose="02020603050405020304" pitchFamily="18" charset="0"/>
                <a:ea typeface="Times New Roman" panose="02020603050405020304" pitchFamily="18" charset="0"/>
              </a:rPr>
              <a:t>only one period “T” needs  to be defined</a:t>
            </a:r>
            <a:endParaRPr lang="en-GB" sz="3200" dirty="0">
              <a:latin typeface="Times New Roman" panose="02020603050405020304" pitchFamily="18" charset="0"/>
              <a:ea typeface="Times New Roman" panose="02020603050405020304" pitchFamily="18" charset="0"/>
            </a:endParaRPr>
          </a:p>
          <a:p>
            <a:pPr marL="342900" lvl="0" indent="-342900">
              <a:lnSpc>
                <a:spcPct val="114000"/>
              </a:lnSpc>
              <a:buFont typeface="Symbol" panose="05050102010706020507" pitchFamily="18" charset="2"/>
              <a:buChar char=""/>
            </a:pPr>
            <a:r>
              <a:rPr lang="en-GB" sz="3200" dirty="0">
                <a:solidFill>
                  <a:srgbClr val="002060"/>
                </a:solidFill>
                <a:latin typeface="Times New Roman" panose="02020603050405020304" pitchFamily="18" charset="0"/>
                <a:ea typeface="Times New Roman" panose="02020603050405020304" pitchFamily="18" charset="0"/>
              </a:rPr>
              <a:t>can be broken up to a fundamental component (corresponding to period T) and its harmonics.  </a:t>
            </a:r>
            <a:endParaRPr lang="en-GB" sz="3200" dirty="0">
              <a:latin typeface="Times New Roman" panose="02020603050405020304" pitchFamily="18" charset="0"/>
              <a:ea typeface="Times New Roman" panose="02020603050405020304" pitchFamily="18" charset="0"/>
            </a:endParaRPr>
          </a:p>
          <a:p>
            <a:pPr>
              <a:lnSpc>
                <a:spcPct val="114000"/>
              </a:lnSpc>
            </a:pPr>
            <a:r>
              <a:rPr lang="en-GB" sz="3200" dirty="0" err="1">
                <a:solidFill>
                  <a:srgbClr val="002060"/>
                </a:solidFill>
                <a:latin typeface="Times New Roman" panose="02020603050405020304" pitchFamily="18" charset="0"/>
                <a:ea typeface="Times New Roman" panose="02020603050405020304" pitchFamily="18" charset="0"/>
              </a:rPr>
              <a:t>uni</a:t>
            </a:r>
            <a:r>
              <a:rPr lang="en-GB" sz="3200" dirty="0">
                <a:solidFill>
                  <a:srgbClr val="002060"/>
                </a:solidFill>
                <a:latin typeface="Times New Roman" panose="02020603050405020304" pitchFamily="18" charset="0"/>
                <a:ea typeface="Times New Roman" panose="02020603050405020304" pitchFamily="18" charset="0"/>
              </a:rPr>
              <a:t>-directional term (direct component) may exist.</a:t>
            </a:r>
            <a:endParaRPr lang="en-GB" sz="3200" dirty="0"/>
          </a:p>
        </p:txBody>
      </p:sp>
      <p:grpSp>
        <p:nvGrpSpPr>
          <p:cNvPr id="44" name="Group 43">
            <a:extLst>
              <a:ext uri="{FF2B5EF4-FFF2-40B4-BE49-F238E27FC236}">
                <a16:creationId xmlns:a16="http://schemas.microsoft.com/office/drawing/2014/main" id="{42BA9AC4-4853-4DD1-8CB8-D10FBF83BC45}"/>
              </a:ext>
            </a:extLst>
          </p:cNvPr>
          <p:cNvGrpSpPr/>
          <p:nvPr/>
        </p:nvGrpSpPr>
        <p:grpSpPr>
          <a:xfrm>
            <a:off x="8424212" y="446555"/>
            <a:ext cx="3510516" cy="1990263"/>
            <a:chOff x="8925825" y="2949997"/>
            <a:chExt cx="2339189" cy="1509368"/>
          </a:xfrm>
        </p:grpSpPr>
        <p:sp>
          <p:nvSpPr>
            <p:cNvPr id="9" name="Text Box 2307">
              <a:extLst>
                <a:ext uri="{FF2B5EF4-FFF2-40B4-BE49-F238E27FC236}">
                  <a16:creationId xmlns:a16="http://schemas.microsoft.com/office/drawing/2014/main" id="{4300F58A-6BF6-4C59-9415-E9E0DEE58D86}"/>
                </a:ext>
              </a:extLst>
            </p:cNvPr>
            <p:cNvSpPr txBox="1">
              <a:spLocks noChangeArrowheads="1"/>
            </p:cNvSpPr>
            <p:nvPr/>
          </p:nvSpPr>
          <p:spPr bwMode="auto">
            <a:xfrm>
              <a:off x="10987531" y="3881512"/>
              <a:ext cx="277483" cy="38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dirty="0">
                  <a:solidFill>
                    <a:srgbClr val="002060"/>
                  </a:solidFill>
                  <a:effectLst/>
                  <a:latin typeface="Times New Roman" panose="02020603050405020304" pitchFamily="18" charset="0"/>
                  <a:ea typeface="Times New Roman" panose="02020603050405020304" pitchFamily="18" charset="0"/>
                </a:rPr>
                <a:t>t</a:t>
              </a:r>
              <a:endParaRPr lang="en-GB" dirty="0">
                <a:effectLst/>
                <a:latin typeface="Times New Roman" panose="02020603050405020304" pitchFamily="18" charset="0"/>
                <a:ea typeface="Times New Roman" panose="02020603050405020304" pitchFamily="18" charset="0"/>
              </a:endParaRPr>
            </a:p>
          </p:txBody>
        </p:sp>
        <p:grpSp>
          <p:nvGrpSpPr>
            <p:cNvPr id="43" name="Group 42">
              <a:extLst>
                <a:ext uri="{FF2B5EF4-FFF2-40B4-BE49-F238E27FC236}">
                  <a16:creationId xmlns:a16="http://schemas.microsoft.com/office/drawing/2014/main" id="{BFA99974-30F5-4941-B6C4-5A5F8584AB70}"/>
                </a:ext>
              </a:extLst>
            </p:cNvPr>
            <p:cNvGrpSpPr/>
            <p:nvPr/>
          </p:nvGrpSpPr>
          <p:grpSpPr>
            <a:xfrm>
              <a:off x="8925825" y="2949997"/>
              <a:ext cx="2194560" cy="1509368"/>
              <a:chOff x="573982" y="4483053"/>
              <a:chExt cx="2194560" cy="1509368"/>
            </a:xfrm>
          </p:grpSpPr>
          <p:cxnSp>
            <p:nvCxnSpPr>
              <p:cNvPr id="6" name="Line 2304">
                <a:extLst>
                  <a:ext uri="{FF2B5EF4-FFF2-40B4-BE49-F238E27FC236}">
                    <a16:creationId xmlns:a16="http://schemas.microsoft.com/office/drawing/2014/main" id="{37C67B20-A8DB-4C7C-87E2-AC4C055C688F}"/>
                  </a:ext>
                </a:extLst>
              </p:cNvPr>
              <p:cNvCxnSpPr>
                <a:cxnSpLocks noChangeShapeType="1"/>
              </p:cNvCxnSpPr>
              <p:nvPr/>
            </p:nvCxnSpPr>
            <p:spPr bwMode="auto">
              <a:xfrm>
                <a:off x="1007807" y="4858766"/>
                <a:ext cx="0" cy="1133655"/>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7" name="Line 2305">
                <a:extLst>
                  <a:ext uri="{FF2B5EF4-FFF2-40B4-BE49-F238E27FC236}">
                    <a16:creationId xmlns:a16="http://schemas.microsoft.com/office/drawing/2014/main" id="{4DE46F61-64F1-4C1A-9678-6B991BCEEB31}"/>
                  </a:ext>
                </a:extLst>
              </p:cNvPr>
              <p:cNvCxnSpPr>
                <a:cxnSpLocks noChangeShapeType="1"/>
              </p:cNvCxnSpPr>
              <p:nvPr/>
            </p:nvCxnSpPr>
            <p:spPr bwMode="auto">
              <a:xfrm>
                <a:off x="573982" y="5506165"/>
                <a:ext cx="2194560"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sp>
            <p:nvSpPr>
              <p:cNvPr id="8" name="Text Box 2306">
                <a:extLst>
                  <a:ext uri="{FF2B5EF4-FFF2-40B4-BE49-F238E27FC236}">
                    <a16:creationId xmlns:a16="http://schemas.microsoft.com/office/drawing/2014/main" id="{152FC47A-F96C-45F3-BC4B-7054C9F3214C}"/>
                  </a:ext>
                </a:extLst>
              </p:cNvPr>
              <p:cNvSpPr txBox="1">
                <a:spLocks noChangeArrowheads="1"/>
              </p:cNvSpPr>
              <p:nvPr/>
            </p:nvSpPr>
            <p:spPr bwMode="auto">
              <a:xfrm>
                <a:off x="1007807" y="4483053"/>
                <a:ext cx="867141" cy="503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dirty="0">
                    <a:solidFill>
                      <a:srgbClr val="002060"/>
                    </a:solidFill>
                    <a:effectLst/>
                    <a:latin typeface="Times New Roman" panose="02020603050405020304" pitchFamily="18" charset="0"/>
                    <a:ea typeface="Times New Roman" panose="02020603050405020304" pitchFamily="18" charset="0"/>
                  </a:rPr>
                  <a:t>a(t)</a:t>
                </a:r>
                <a:endParaRPr lang="en-GB" dirty="0">
                  <a:effectLst/>
                  <a:latin typeface="Times New Roman" panose="02020603050405020304" pitchFamily="18" charset="0"/>
                  <a:ea typeface="Times New Roman" panose="02020603050405020304" pitchFamily="18" charset="0"/>
                </a:endParaRPr>
              </a:p>
            </p:txBody>
          </p:sp>
          <p:sp>
            <p:nvSpPr>
              <p:cNvPr id="21" name="Freeform 2319">
                <a:extLst>
                  <a:ext uri="{FF2B5EF4-FFF2-40B4-BE49-F238E27FC236}">
                    <a16:creationId xmlns:a16="http://schemas.microsoft.com/office/drawing/2014/main" id="{5C81FE29-733E-41CB-8E55-BA727335546A}"/>
                  </a:ext>
                </a:extLst>
              </p:cNvPr>
              <p:cNvSpPr>
                <a:spLocks/>
              </p:cNvSpPr>
              <p:nvPr/>
            </p:nvSpPr>
            <p:spPr bwMode="auto">
              <a:xfrm>
                <a:off x="573982" y="4940186"/>
                <a:ext cx="1228662" cy="889962"/>
              </a:xfrm>
              <a:custGeom>
                <a:avLst/>
                <a:gdLst>
                  <a:gd name="T0" fmla="*/ 0 w 1440"/>
                  <a:gd name="T1" fmla="*/ 780 h 990"/>
                  <a:gd name="T2" fmla="*/ 120 w 1440"/>
                  <a:gd name="T3" fmla="*/ 420 h 990"/>
                  <a:gd name="T4" fmla="*/ 240 w 1440"/>
                  <a:gd name="T5" fmla="*/ 420 h 990"/>
                  <a:gd name="T6" fmla="*/ 360 w 1440"/>
                  <a:gd name="T7" fmla="*/ 600 h 990"/>
                  <a:gd name="T8" fmla="*/ 600 w 1440"/>
                  <a:gd name="T9" fmla="*/ 420 h 990"/>
                  <a:gd name="T10" fmla="*/ 720 w 1440"/>
                  <a:gd name="T11" fmla="*/ 60 h 990"/>
                  <a:gd name="T12" fmla="*/ 840 w 1440"/>
                  <a:gd name="T13" fmla="*/ 780 h 990"/>
                  <a:gd name="T14" fmla="*/ 960 w 1440"/>
                  <a:gd name="T15" fmla="*/ 960 h 990"/>
                  <a:gd name="T16" fmla="*/ 1080 w 1440"/>
                  <a:gd name="T17" fmla="*/ 960 h 990"/>
                  <a:gd name="T18" fmla="*/ 1200 w 1440"/>
                  <a:gd name="T19" fmla="*/ 780 h 990"/>
                  <a:gd name="T20" fmla="*/ 1320 w 1440"/>
                  <a:gd name="T21" fmla="*/ 960 h 990"/>
                  <a:gd name="T22" fmla="*/ 1440 w 1440"/>
                  <a:gd name="T23" fmla="*/ 780 h 9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40" h="990">
                    <a:moveTo>
                      <a:pt x="0" y="780"/>
                    </a:moveTo>
                    <a:cubicBezTo>
                      <a:pt x="40" y="630"/>
                      <a:pt x="80" y="480"/>
                      <a:pt x="120" y="420"/>
                    </a:cubicBezTo>
                    <a:cubicBezTo>
                      <a:pt x="160" y="360"/>
                      <a:pt x="200" y="390"/>
                      <a:pt x="240" y="420"/>
                    </a:cubicBezTo>
                    <a:cubicBezTo>
                      <a:pt x="280" y="450"/>
                      <a:pt x="300" y="600"/>
                      <a:pt x="360" y="600"/>
                    </a:cubicBezTo>
                    <a:cubicBezTo>
                      <a:pt x="420" y="600"/>
                      <a:pt x="540" y="510"/>
                      <a:pt x="600" y="420"/>
                    </a:cubicBezTo>
                    <a:cubicBezTo>
                      <a:pt x="660" y="330"/>
                      <a:pt x="680" y="0"/>
                      <a:pt x="720" y="60"/>
                    </a:cubicBezTo>
                    <a:cubicBezTo>
                      <a:pt x="760" y="120"/>
                      <a:pt x="800" y="630"/>
                      <a:pt x="840" y="780"/>
                    </a:cubicBezTo>
                    <a:cubicBezTo>
                      <a:pt x="880" y="930"/>
                      <a:pt x="920" y="930"/>
                      <a:pt x="960" y="960"/>
                    </a:cubicBezTo>
                    <a:cubicBezTo>
                      <a:pt x="1000" y="990"/>
                      <a:pt x="1040" y="990"/>
                      <a:pt x="1080" y="960"/>
                    </a:cubicBezTo>
                    <a:cubicBezTo>
                      <a:pt x="1120" y="930"/>
                      <a:pt x="1160" y="780"/>
                      <a:pt x="1200" y="780"/>
                    </a:cubicBezTo>
                    <a:cubicBezTo>
                      <a:pt x="1240" y="780"/>
                      <a:pt x="1280" y="960"/>
                      <a:pt x="1320" y="960"/>
                    </a:cubicBezTo>
                    <a:cubicBezTo>
                      <a:pt x="1360" y="960"/>
                      <a:pt x="1400" y="870"/>
                      <a:pt x="1440" y="780"/>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22" name="Freeform 2320">
                <a:extLst>
                  <a:ext uri="{FF2B5EF4-FFF2-40B4-BE49-F238E27FC236}">
                    <a16:creationId xmlns:a16="http://schemas.microsoft.com/office/drawing/2014/main" id="{E9FD320C-F574-4AF5-9708-D558C49606BF}"/>
                  </a:ext>
                </a:extLst>
              </p:cNvPr>
              <p:cNvSpPr>
                <a:spLocks/>
              </p:cNvSpPr>
              <p:nvPr/>
            </p:nvSpPr>
            <p:spPr bwMode="auto">
              <a:xfrm>
                <a:off x="1802644" y="4980330"/>
                <a:ext cx="754979" cy="823243"/>
              </a:xfrm>
              <a:custGeom>
                <a:avLst/>
                <a:gdLst>
                  <a:gd name="T0" fmla="*/ 0 w 1020"/>
                  <a:gd name="T1" fmla="*/ 735 h 915"/>
                  <a:gd name="T2" fmla="*/ 85 w 1020"/>
                  <a:gd name="T3" fmla="*/ 375 h 915"/>
                  <a:gd name="T4" fmla="*/ 142 w 1020"/>
                  <a:gd name="T5" fmla="*/ 202 h 915"/>
                  <a:gd name="T6" fmla="*/ 247 w 1020"/>
                  <a:gd name="T7" fmla="*/ 787 h 915"/>
                  <a:gd name="T8" fmla="*/ 352 w 1020"/>
                  <a:gd name="T9" fmla="*/ 367 h 915"/>
                  <a:gd name="T10" fmla="*/ 510 w 1020"/>
                  <a:gd name="T11" fmla="*/ 15 h 915"/>
                  <a:gd name="T12" fmla="*/ 637 w 1020"/>
                  <a:gd name="T13" fmla="*/ 457 h 915"/>
                  <a:gd name="T14" fmla="*/ 727 w 1020"/>
                  <a:gd name="T15" fmla="*/ 862 h 915"/>
                  <a:gd name="T16" fmla="*/ 787 w 1020"/>
                  <a:gd name="T17" fmla="*/ 412 h 915"/>
                  <a:gd name="T18" fmla="*/ 850 w 1020"/>
                  <a:gd name="T19" fmla="*/ 735 h 915"/>
                  <a:gd name="T20" fmla="*/ 935 w 1020"/>
                  <a:gd name="T21" fmla="*/ 915 h 915"/>
                  <a:gd name="T22" fmla="*/ 1020 w 1020"/>
                  <a:gd name="T23" fmla="*/ 735 h 9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0" h="915">
                    <a:moveTo>
                      <a:pt x="0" y="735"/>
                    </a:moveTo>
                    <a:cubicBezTo>
                      <a:pt x="28" y="585"/>
                      <a:pt x="61" y="464"/>
                      <a:pt x="85" y="375"/>
                    </a:cubicBezTo>
                    <a:cubicBezTo>
                      <a:pt x="109" y="286"/>
                      <a:pt x="115" y="133"/>
                      <a:pt x="142" y="202"/>
                    </a:cubicBezTo>
                    <a:cubicBezTo>
                      <a:pt x="169" y="271"/>
                      <a:pt x="212" y="760"/>
                      <a:pt x="247" y="787"/>
                    </a:cubicBezTo>
                    <a:cubicBezTo>
                      <a:pt x="282" y="814"/>
                      <a:pt x="308" y="496"/>
                      <a:pt x="352" y="367"/>
                    </a:cubicBezTo>
                    <a:cubicBezTo>
                      <a:pt x="396" y="238"/>
                      <a:pt x="463" y="0"/>
                      <a:pt x="510" y="15"/>
                    </a:cubicBezTo>
                    <a:cubicBezTo>
                      <a:pt x="557" y="30"/>
                      <a:pt x="601" y="316"/>
                      <a:pt x="637" y="457"/>
                    </a:cubicBezTo>
                    <a:cubicBezTo>
                      <a:pt x="673" y="598"/>
                      <a:pt x="702" y="869"/>
                      <a:pt x="727" y="862"/>
                    </a:cubicBezTo>
                    <a:cubicBezTo>
                      <a:pt x="752" y="855"/>
                      <a:pt x="767" y="433"/>
                      <a:pt x="787" y="412"/>
                    </a:cubicBezTo>
                    <a:cubicBezTo>
                      <a:pt x="807" y="391"/>
                      <a:pt x="825" y="651"/>
                      <a:pt x="850" y="735"/>
                    </a:cubicBezTo>
                    <a:cubicBezTo>
                      <a:pt x="875" y="819"/>
                      <a:pt x="907" y="915"/>
                      <a:pt x="935" y="915"/>
                    </a:cubicBezTo>
                    <a:cubicBezTo>
                      <a:pt x="963" y="915"/>
                      <a:pt x="992" y="825"/>
                      <a:pt x="1020" y="735"/>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grpSp>
        <p:nvGrpSpPr>
          <p:cNvPr id="42" name="Group 41">
            <a:extLst>
              <a:ext uri="{FF2B5EF4-FFF2-40B4-BE49-F238E27FC236}">
                <a16:creationId xmlns:a16="http://schemas.microsoft.com/office/drawing/2014/main" id="{F923F558-2321-437B-A59F-0C7A37090691}"/>
              </a:ext>
            </a:extLst>
          </p:cNvPr>
          <p:cNvGrpSpPr/>
          <p:nvPr/>
        </p:nvGrpSpPr>
        <p:grpSpPr>
          <a:xfrm>
            <a:off x="8424219" y="3005655"/>
            <a:ext cx="3659201" cy="1910331"/>
            <a:chOff x="8113494" y="530867"/>
            <a:chExt cx="3659201" cy="1910331"/>
          </a:xfrm>
        </p:grpSpPr>
        <p:grpSp>
          <p:nvGrpSpPr>
            <p:cNvPr id="4" name="Group 3">
              <a:extLst>
                <a:ext uri="{FF2B5EF4-FFF2-40B4-BE49-F238E27FC236}">
                  <a16:creationId xmlns:a16="http://schemas.microsoft.com/office/drawing/2014/main" id="{8D73ABC3-B5C1-4E87-9B53-A873FD9FF47D}"/>
                </a:ext>
              </a:extLst>
            </p:cNvPr>
            <p:cNvGrpSpPr/>
            <p:nvPr/>
          </p:nvGrpSpPr>
          <p:grpSpPr>
            <a:xfrm>
              <a:off x="8113494" y="530867"/>
              <a:ext cx="3659201" cy="1784315"/>
              <a:chOff x="7078814" y="4669918"/>
              <a:chExt cx="2712136" cy="1322503"/>
            </a:xfrm>
          </p:grpSpPr>
          <p:cxnSp>
            <p:nvCxnSpPr>
              <p:cNvPr id="14" name="Line 2312">
                <a:extLst>
                  <a:ext uri="{FF2B5EF4-FFF2-40B4-BE49-F238E27FC236}">
                    <a16:creationId xmlns:a16="http://schemas.microsoft.com/office/drawing/2014/main" id="{029CA0E2-575C-4362-A045-8FF0C6328265}"/>
                  </a:ext>
                </a:extLst>
              </p:cNvPr>
              <p:cNvCxnSpPr>
                <a:cxnSpLocks noChangeShapeType="1"/>
              </p:cNvCxnSpPr>
              <p:nvPr/>
            </p:nvCxnSpPr>
            <p:spPr bwMode="auto">
              <a:xfrm>
                <a:off x="7512130" y="4858766"/>
                <a:ext cx="0" cy="1133655"/>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15" name="Line 2313">
                <a:extLst>
                  <a:ext uri="{FF2B5EF4-FFF2-40B4-BE49-F238E27FC236}">
                    <a16:creationId xmlns:a16="http://schemas.microsoft.com/office/drawing/2014/main" id="{C06F3047-75CF-4AF6-AAD7-0DA46B85DD38}"/>
                  </a:ext>
                </a:extLst>
              </p:cNvPr>
              <p:cNvCxnSpPr>
                <a:cxnSpLocks noChangeShapeType="1"/>
              </p:cNvCxnSpPr>
              <p:nvPr/>
            </p:nvCxnSpPr>
            <p:spPr bwMode="auto">
              <a:xfrm>
                <a:off x="7078814" y="5290743"/>
                <a:ext cx="2601933"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sp>
            <p:nvSpPr>
              <p:cNvPr id="16" name="Text Box 2314">
                <a:extLst>
                  <a:ext uri="{FF2B5EF4-FFF2-40B4-BE49-F238E27FC236}">
                    <a16:creationId xmlns:a16="http://schemas.microsoft.com/office/drawing/2014/main" id="{543DA437-F2ED-4866-B7F5-32E0A60E66D4}"/>
                  </a:ext>
                </a:extLst>
              </p:cNvPr>
              <p:cNvSpPr txBox="1">
                <a:spLocks noChangeArrowheads="1"/>
              </p:cNvSpPr>
              <p:nvPr/>
            </p:nvSpPr>
            <p:spPr bwMode="auto">
              <a:xfrm>
                <a:off x="7512130" y="4669918"/>
                <a:ext cx="868160" cy="447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dirty="0">
                    <a:solidFill>
                      <a:srgbClr val="002060"/>
                    </a:solidFill>
                    <a:effectLst/>
                    <a:latin typeface="Times New Roman" panose="02020603050405020304" pitchFamily="18" charset="0"/>
                    <a:ea typeface="Times New Roman" panose="02020603050405020304" pitchFamily="18" charset="0"/>
                  </a:rPr>
                  <a:t>a(t)</a:t>
                </a:r>
                <a:endParaRPr lang="en-GB" dirty="0">
                  <a:effectLst/>
                  <a:latin typeface="Times New Roman" panose="02020603050405020304" pitchFamily="18" charset="0"/>
                  <a:ea typeface="Times New Roman" panose="02020603050405020304" pitchFamily="18" charset="0"/>
                </a:endParaRPr>
              </a:p>
            </p:txBody>
          </p:sp>
          <p:sp>
            <p:nvSpPr>
              <p:cNvPr id="17" name="Text Box 2315">
                <a:extLst>
                  <a:ext uri="{FF2B5EF4-FFF2-40B4-BE49-F238E27FC236}">
                    <a16:creationId xmlns:a16="http://schemas.microsoft.com/office/drawing/2014/main" id="{0ACFA617-2DDD-46EB-8765-91A850806A4F}"/>
                  </a:ext>
                </a:extLst>
              </p:cNvPr>
              <p:cNvSpPr txBox="1">
                <a:spLocks noChangeArrowheads="1"/>
              </p:cNvSpPr>
              <p:nvPr/>
            </p:nvSpPr>
            <p:spPr bwMode="auto">
              <a:xfrm>
                <a:off x="9536139" y="5222893"/>
                <a:ext cx="254811" cy="474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FFFF"/>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dirty="0">
                    <a:solidFill>
                      <a:srgbClr val="002060"/>
                    </a:solidFill>
                    <a:effectLst/>
                    <a:latin typeface="Times New Roman" panose="02020603050405020304" pitchFamily="18" charset="0"/>
                    <a:ea typeface="Times New Roman" panose="02020603050405020304" pitchFamily="18" charset="0"/>
                  </a:rPr>
                  <a:t>t</a:t>
                </a:r>
                <a:endParaRPr lang="en-GB" dirty="0">
                  <a:effectLst/>
                  <a:latin typeface="Times New Roman" panose="02020603050405020304" pitchFamily="18" charset="0"/>
                  <a:ea typeface="Times New Roman" panose="02020603050405020304" pitchFamily="18" charset="0"/>
                </a:endParaRPr>
              </a:p>
            </p:txBody>
          </p:sp>
          <p:grpSp>
            <p:nvGrpSpPr>
              <p:cNvPr id="24" name="Group 23">
                <a:extLst>
                  <a:ext uri="{FF2B5EF4-FFF2-40B4-BE49-F238E27FC236}">
                    <a16:creationId xmlns:a16="http://schemas.microsoft.com/office/drawing/2014/main" id="{5EB72E7B-D051-4CCD-B54A-855B142E3114}"/>
                  </a:ext>
                </a:extLst>
              </p:cNvPr>
              <p:cNvGrpSpPr>
                <a:grpSpLocks/>
              </p:cNvGrpSpPr>
              <p:nvPr/>
            </p:nvGrpSpPr>
            <p:grpSpPr bwMode="auto">
              <a:xfrm flipV="1">
                <a:off x="7223932" y="5009732"/>
                <a:ext cx="2168108" cy="810238"/>
                <a:chOff x="7058" y="9518"/>
                <a:chExt cx="2160" cy="540"/>
              </a:xfrm>
            </p:grpSpPr>
            <p:cxnSp>
              <p:nvCxnSpPr>
                <p:cNvPr id="25" name="Line 2325">
                  <a:extLst>
                    <a:ext uri="{FF2B5EF4-FFF2-40B4-BE49-F238E27FC236}">
                      <a16:creationId xmlns:a16="http://schemas.microsoft.com/office/drawing/2014/main" id="{9F2F0AAD-ECB4-4D08-B384-C001C322EDFD}"/>
                    </a:ext>
                  </a:extLst>
                </p:cNvPr>
                <p:cNvCxnSpPr>
                  <a:cxnSpLocks noChangeShapeType="1"/>
                </p:cNvCxnSpPr>
                <p:nvPr/>
              </p:nvCxnSpPr>
              <p:spPr bwMode="auto">
                <a:xfrm flipV="1">
                  <a:off x="7058" y="9518"/>
                  <a:ext cx="480" cy="36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6" name="Line 2326">
                  <a:extLst>
                    <a:ext uri="{FF2B5EF4-FFF2-40B4-BE49-F238E27FC236}">
                      <a16:creationId xmlns:a16="http://schemas.microsoft.com/office/drawing/2014/main" id="{8439C98E-21EC-4457-8D7A-CAE7E0DAE0C7}"/>
                    </a:ext>
                  </a:extLst>
                </p:cNvPr>
                <p:cNvCxnSpPr>
                  <a:cxnSpLocks noChangeShapeType="1"/>
                </p:cNvCxnSpPr>
                <p:nvPr/>
              </p:nvCxnSpPr>
              <p:spPr bwMode="auto">
                <a:xfrm>
                  <a:off x="7538" y="9518"/>
                  <a:ext cx="36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7" name="Line 2327">
                  <a:extLst>
                    <a:ext uri="{FF2B5EF4-FFF2-40B4-BE49-F238E27FC236}">
                      <a16:creationId xmlns:a16="http://schemas.microsoft.com/office/drawing/2014/main" id="{0F31D5E9-97C2-45FF-BA8E-8E994F6D3521}"/>
                    </a:ext>
                  </a:extLst>
                </p:cNvPr>
                <p:cNvCxnSpPr>
                  <a:cxnSpLocks noChangeShapeType="1"/>
                </p:cNvCxnSpPr>
                <p:nvPr/>
              </p:nvCxnSpPr>
              <p:spPr bwMode="auto">
                <a:xfrm>
                  <a:off x="7898" y="9518"/>
                  <a:ext cx="0" cy="54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8" name="Line 2328">
                  <a:extLst>
                    <a:ext uri="{FF2B5EF4-FFF2-40B4-BE49-F238E27FC236}">
                      <a16:creationId xmlns:a16="http://schemas.microsoft.com/office/drawing/2014/main" id="{148C8B1D-030B-417C-ABDA-F9B6B3AE6C7F}"/>
                    </a:ext>
                  </a:extLst>
                </p:cNvPr>
                <p:cNvCxnSpPr>
                  <a:cxnSpLocks noChangeShapeType="1"/>
                </p:cNvCxnSpPr>
                <p:nvPr/>
              </p:nvCxnSpPr>
              <p:spPr bwMode="auto">
                <a:xfrm>
                  <a:off x="7898" y="10058"/>
                  <a:ext cx="24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9" name="Line 2329">
                  <a:extLst>
                    <a:ext uri="{FF2B5EF4-FFF2-40B4-BE49-F238E27FC236}">
                      <a16:creationId xmlns:a16="http://schemas.microsoft.com/office/drawing/2014/main" id="{DD3838E5-878F-4FF2-95DE-E96C9A64D3EC}"/>
                    </a:ext>
                  </a:extLst>
                </p:cNvPr>
                <p:cNvCxnSpPr>
                  <a:cxnSpLocks noChangeShapeType="1"/>
                </p:cNvCxnSpPr>
                <p:nvPr/>
              </p:nvCxnSpPr>
              <p:spPr bwMode="auto">
                <a:xfrm flipV="1">
                  <a:off x="8138" y="9878"/>
                  <a:ext cx="0" cy="1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30" name="Line 2330">
                  <a:extLst>
                    <a:ext uri="{FF2B5EF4-FFF2-40B4-BE49-F238E27FC236}">
                      <a16:creationId xmlns:a16="http://schemas.microsoft.com/office/drawing/2014/main" id="{AA866585-716E-43B9-AA65-C87BE962C3B6}"/>
                    </a:ext>
                  </a:extLst>
                </p:cNvPr>
                <p:cNvCxnSpPr>
                  <a:cxnSpLocks noChangeShapeType="1"/>
                </p:cNvCxnSpPr>
                <p:nvPr/>
              </p:nvCxnSpPr>
              <p:spPr bwMode="auto">
                <a:xfrm flipV="1">
                  <a:off x="8138" y="9518"/>
                  <a:ext cx="480" cy="36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31" name="Line 2331">
                  <a:extLst>
                    <a:ext uri="{FF2B5EF4-FFF2-40B4-BE49-F238E27FC236}">
                      <a16:creationId xmlns:a16="http://schemas.microsoft.com/office/drawing/2014/main" id="{015915A7-BEF2-47C7-9596-C8B15AF50F08}"/>
                    </a:ext>
                  </a:extLst>
                </p:cNvPr>
                <p:cNvCxnSpPr>
                  <a:cxnSpLocks noChangeShapeType="1"/>
                </p:cNvCxnSpPr>
                <p:nvPr/>
              </p:nvCxnSpPr>
              <p:spPr bwMode="auto">
                <a:xfrm>
                  <a:off x="8618" y="9518"/>
                  <a:ext cx="36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32" name="Line 2332">
                  <a:extLst>
                    <a:ext uri="{FF2B5EF4-FFF2-40B4-BE49-F238E27FC236}">
                      <a16:creationId xmlns:a16="http://schemas.microsoft.com/office/drawing/2014/main" id="{21377B47-C5B5-4412-9D81-56FC798BCB43}"/>
                    </a:ext>
                  </a:extLst>
                </p:cNvPr>
                <p:cNvCxnSpPr>
                  <a:cxnSpLocks noChangeShapeType="1"/>
                </p:cNvCxnSpPr>
                <p:nvPr/>
              </p:nvCxnSpPr>
              <p:spPr bwMode="auto">
                <a:xfrm>
                  <a:off x="8978" y="9518"/>
                  <a:ext cx="0" cy="54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33" name="Line 2333">
                  <a:extLst>
                    <a:ext uri="{FF2B5EF4-FFF2-40B4-BE49-F238E27FC236}">
                      <a16:creationId xmlns:a16="http://schemas.microsoft.com/office/drawing/2014/main" id="{98681DFC-1F3A-436E-83EC-A7ACD07A9F0C}"/>
                    </a:ext>
                  </a:extLst>
                </p:cNvPr>
                <p:cNvCxnSpPr>
                  <a:cxnSpLocks noChangeShapeType="1"/>
                </p:cNvCxnSpPr>
                <p:nvPr/>
              </p:nvCxnSpPr>
              <p:spPr bwMode="auto">
                <a:xfrm>
                  <a:off x="8978" y="10058"/>
                  <a:ext cx="24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35" name="Line 2334">
                  <a:extLst>
                    <a:ext uri="{FF2B5EF4-FFF2-40B4-BE49-F238E27FC236}">
                      <a16:creationId xmlns:a16="http://schemas.microsoft.com/office/drawing/2014/main" id="{9D60040C-0B75-4606-9D32-ACEAF113D384}"/>
                    </a:ext>
                  </a:extLst>
                </p:cNvPr>
                <p:cNvCxnSpPr>
                  <a:cxnSpLocks noChangeShapeType="1"/>
                </p:cNvCxnSpPr>
                <p:nvPr/>
              </p:nvCxnSpPr>
              <p:spPr bwMode="auto">
                <a:xfrm flipV="1">
                  <a:off x="9218" y="9878"/>
                  <a:ext cx="0" cy="1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grpSp>
        </p:grpSp>
        <p:cxnSp>
          <p:nvCxnSpPr>
            <p:cNvPr id="39" name="Straight Arrow Connector 38">
              <a:extLst>
                <a:ext uri="{FF2B5EF4-FFF2-40B4-BE49-F238E27FC236}">
                  <a16:creationId xmlns:a16="http://schemas.microsoft.com/office/drawing/2014/main" id="{4CEE942D-082E-45EF-BDD5-12073831F1B1}"/>
                </a:ext>
              </a:extLst>
            </p:cNvPr>
            <p:cNvCxnSpPr>
              <a:cxnSpLocks/>
            </p:cNvCxnSpPr>
            <p:nvPr/>
          </p:nvCxnSpPr>
          <p:spPr>
            <a:xfrm>
              <a:off x="9452540" y="2344028"/>
              <a:ext cx="1456926" cy="0"/>
            </a:xfrm>
            <a:prstGeom prst="straightConnector1">
              <a:avLst/>
            </a:prstGeom>
            <a:ln w="28575">
              <a:solidFill>
                <a:schemeClr val="accent1"/>
              </a:solidFill>
              <a:headEnd type="arrow" w="lg" len="lg"/>
              <a:tailEnd type="arrow" w="lg" len="lg"/>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C2E90AF3-F8A5-4D99-B983-400D5F8DA13B}"/>
                </a:ext>
              </a:extLst>
            </p:cNvPr>
            <p:cNvSpPr/>
            <p:nvPr/>
          </p:nvSpPr>
          <p:spPr>
            <a:xfrm>
              <a:off x="9920574" y="1917978"/>
              <a:ext cx="404278" cy="523220"/>
            </a:xfrm>
            <a:prstGeom prst="rect">
              <a:avLst/>
            </a:prstGeom>
          </p:spPr>
          <p:txBody>
            <a:bodyPr wrap="none">
              <a:spAutoFit/>
            </a:bodyPr>
            <a:lstStyle/>
            <a:p>
              <a:r>
                <a:rPr lang="en-GB" sz="2800" dirty="0">
                  <a:solidFill>
                    <a:srgbClr val="002060"/>
                  </a:solidFill>
                  <a:latin typeface="Times New Roman" panose="02020603050405020304" pitchFamily="18" charset="0"/>
                  <a:ea typeface="Times New Roman" panose="02020603050405020304" pitchFamily="18" charset="0"/>
                </a:rPr>
                <a:t>T</a:t>
              </a:r>
              <a:endParaRPr lang="en-GB" sz="2800" dirty="0"/>
            </a:p>
          </p:txBody>
        </p:sp>
      </p:grpSp>
    </p:spTree>
    <p:extLst>
      <p:ext uri="{BB962C8B-B14F-4D97-AF65-F5344CB8AC3E}">
        <p14:creationId xmlns:p14="http://schemas.microsoft.com/office/powerpoint/2010/main" val="2432691757"/>
      </p:ext>
    </p:extLst>
  </p:cSld>
  <p:clrMapOvr>
    <a:masterClrMapping/>
  </p:clrMapOvr>
  <mc:AlternateContent xmlns:mc="http://schemas.openxmlformats.org/markup-compatibility/2006" xmlns:p14="http://schemas.microsoft.com/office/powerpoint/2010/main">
    <mc:Choice Requires="p14">
      <p:transition spd="slow" p14:dur="2000" advTm="50748"/>
    </mc:Choice>
    <mc:Fallback xmlns="">
      <p:transition spd="slow" advTm="5074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a:bodyPr>
          <a:lstStyle/>
          <a:p>
            <a:r>
              <a:rPr lang="en-GB" dirty="0"/>
              <a:t>Fourier Series</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2DA4CF1D-AC27-4DCC-B393-7E80818A5D55}"/>
              </a:ext>
            </a:extLst>
          </p:cNvPr>
          <p:cNvSpPr>
            <a:spLocks noChangeArrowheads="1"/>
          </p:cNvSpPr>
          <p:nvPr/>
        </p:nvSpPr>
        <p:spPr bwMode="auto">
          <a:xfrm>
            <a:off x="0" y="1137961"/>
            <a:ext cx="12192000" cy="3582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466725" marR="0" lvl="0" indent="-466725" algn="l" defTabSz="914400" rtl="0" eaLnBrk="0" fontAlgn="base" latinLnBrk="0" hangingPunct="0">
              <a:lnSpc>
                <a:spcPct val="12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ea typeface="Times New Roman" panose="02020603050405020304" pitchFamily="18" charset="0"/>
              </a:rPr>
              <a:t>Named after French mathematician (1822).</a:t>
            </a:r>
            <a:endParaRPr kumimoji="0" lang="en-GB" altLang="en-US" sz="3200" b="0" i="0" u="none" strike="noStrike" cap="none" normalizeH="0" baseline="0" dirty="0">
              <a:ln>
                <a:noFill/>
              </a:ln>
              <a:solidFill>
                <a:schemeClr val="tx1"/>
              </a:solidFill>
              <a:effectLst/>
            </a:endParaRPr>
          </a:p>
          <a:p>
            <a:pPr marL="466725" marR="0" lvl="0" indent="-466725" algn="l" defTabSz="914400" rtl="0" eaLnBrk="0" fontAlgn="base" latinLnBrk="0" hangingPunct="0">
              <a:lnSpc>
                <a:spcPct val="12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0" u="none" strike="noStrike" cap="none" normalizeH="0" baseline="-30000" dirty="0">
                <a:ln>
                  <a:noFill/>
                </a:ln>
                <a:solidFill>
                  <a:srgbClr val="002060"/>
                </a:solidFill>
                <a:effectLst/>
                <a:ea typeface="Times New Roman" panose="02020603050405020304" pitchFamily="18" charset="0"/>
              </a:rPr>
              <a:t>o</a:t>
            </a:r>
            <a:r>
              <a:rPr kumimoji="0" lang="en-GB" altLang="en-US" sz="3200" b="0" i="0" u="none" strike="noStrike" cap="none" normalizeH="0" baseline="0" dirty="0">
                <a:ln>
                  <a:noFill/>
                </a:ln>
                <a:solidFill>
                  <a:srgbClr val="002060"/>
                </a:solidFill>
                <a:effectLst/>
                <a:ea typeface="Times New Roman" panose="02020603050405020304" pitchFamily="18" charset="0"/>
              </a:rPr>
              <a:t> = 2</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a:t>
            </a:r>
            <a:r>
              <a:rPr kumimoji="0" lang="en-GB" altLang="en-US" sz="3200" b="0" i="0" u="none" strike="noStrike" cap="none" normalizeH="0" baseline="0" dirty="0">
                <a:ln>
                  <a:noFill/>
                </a:ln>
                <a:solidFill>
                  <a:srgbClr val="002060"/>
                </a:solidFill>
                <a:effectLst/>
                <a:ea typeface="Times New Roman" panose="02020603050405020304" pitchFamily="18" charset="0"/>
              </a:rPr>
              <a:t>/T </a:t>
            </a:r>
            <a:endParaRPr kumimoji="0" lang="en-GB" altLang="en-US" sz="3200" b="0" i="0" u="none" strike="noStrike" cap="none" normalizeH="0" baseline="0" dirty="0">
              <a:ln>
                <a:noFill/>
              </a:ln>
              <a:solidFill>
                <a:schemeClr val="tx1"/>
              </a:solidFill>
              <a:effectLst/>
            </a:endParaRPr>
          </a:p>
          <a:p>
            <a:pPr marL="466725" marR="0" lvl="0" indent="-466725" algn="l" defTabSz="914400" rtl="0" eaLnBrk="0" fontAlgn="base" latinLnBrk="0" hangingPunct="0">
              <a:lnSpc>
                <a:spcPct val="120000"/>
              </a:lnSpc>
              <a:spcBef>
                <a:spcPct val="0"/>
              </a:spcBef>
              <a:spcAft>
                <a:spcPct val="0"/>
              </a:spcAft>
              <a:buClrTx/>
              <a:buSzTx/>
              <a:buFontTx/>
              <a:buNone/>
              <a:tabLst/>
            </a:pPr>
            <a:r>
              <a:rPr kumimoji="0" lang="en-GB" altLang="en-US" sz="3200" b="0" i="1" u="none" strike="noStrike" cap="none" normalizeH="0" baseline="0" dirty="0">
                <a:ln>
                  <a:noFill/>
                </a:ln>
                <a:solidFill>
                  <a:srgbClr val="002060"/>
                </a:solidFill>
                <a:effectLst/>
                <a:ea typeface="Times New Roman" panose="02020603050405020304" pitchFamily="18" charset="0"/>
              </a:rPr>
              <a:t>f(t) = </a:t>
            </a:r>
            <a:r>
              <a:rPr kumimoji="0" lang="en-GB" altLang="en-US" sz="3200" b="0" i="1" u="none" strike="noStrike" cap="none" normalizeH="0" baseline="0" dirty="0" err="1">
                <a:ln>
                  <a:noFill/>
                </a:ln>
                <a:solidFill>
                  <a:srgbClr val="002060"/>
                </a:solidFill>
                <a:effectLst/>
                <a:ea typeface="Times New Roman" panose="02020603050405020304" pitchFamily="18" charset="0"/>
              </a:rPr>
              <a:t>F</a:t>
            </a:r>
            <a:r>
              <a:rPr kumimoji="0" lang="en-GB" altLang="en-US" sz="3200" b="0" i="1" u="none" strike="noStrike" cap="none" normalizeH="0" baseline="-30000" dirty="0" err="1">
                <a:ln>
                  <a:noFill/>
                </a:ln>
                <a:solidFill>
                  <a:srgbClr val="002060"/>
                </a:solidFill>
                <a:effectLst/>
                <a:ea typeface="Times New Roman" panose="02020603050405020304" pitchFamily="18" charset="0"/>
              </a:rPr>
              <a:t>o</a:t>
            </a:r>
            <a:r>
              <a:rPr kumimoji="0" lang="en-GB" altLang="en-US" sz="3200" b="0" i="1" u="none" strike="noStrike" cap="none" normalizeH="0" baseline="0" dirty="0">
                <a:ln>
                  <a:noFill/>
                </a:ln>
                <a:solidFill>
                  <a:srgbClr val="002060"/>
                </a:solidFill>
                <a:effectLst/>
                <a:ea typeface="Times New Roman" panose="02020603050405020304" pitchFamily="18" charset="0"/>
              </a:rPr>
              <a:t> + F</a:t>
            </a:r>
            <a:r>
              <a:rPr kumimoji="0" lang="en-GB" altLang="en-US" sz="3200" b="0" i="1" u="none" strike="noStrike" cap="none" normalizeH="0" baseline="-30000" dirty="0">
                <a:ln>
                  <a:noFill/>
                </a:ln>
                <a:solidFill>
                  <a:srgbClr val="002060"/>
                </a:solidFill>
                <a:effectLst/>
                <a:ea typeface="Times New Roman" panose="02020603050405020304" pitchFamily="18" charset="0"/>
              </a:rPr>
              <a:t>1</a:t>
            </a:r>
            <a:r>
              <a:rPr kumimoji="0" lang="en-GB" altLang="en-US" sz="3200" b="0" i="1" u="none" strike="noStrike" cap="none" normalizeH="0" baseline="0" dirty="0">
                <a:ln>
                  <a:noFill/>
                </a:ln>
                <a:solidFill>
                  <a:srgbClr val="002060"/>
                </a:solidFill>
                <a:effectLst/>
                <a:ea typeface="Times New Roman" panose="02020603050405020304" pitchFamily="18" charset="0"/>
              </a:rPr>
              <a:t> cos (</a:t>
            </a:r>
            <a:r>
              <a:rPr kumimoji="0" lang="en-GB" altLang="en-US" sz="3200" b="0" i="1"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1" u="none" strike="noStrike" cap="none" normalizeH="0" baseline="-30000" dirty="0">
                <a:ln>
                  <a:noFill/>
                </a:ln>
                <a:solidFill>
                  <a:srgbClr val="002060"/>
                </a:solidFill>
                <a:effectLst/>
                <a:latin typeface="Symbol" panose="05050102010706020507" pitchFamily="18" charset="2"/>
                <a:ea typeface="Times New Roman" panose="02020603050405020304" pitchFamily="18" charset="0"/>
              </a:rPr>
              <a:t>o </a:t>
            </a:r>
            <a:r>
              <a:rPr kumimoji="0" lang="en-GB" altLang="en-US" sz="3200" b="0" i="1" u="none" strike="noStrike" cap="none" normalizeH="0" baseline="0" dirty="0">
                <a:ln>
                  <a:noFill/>
                </a:ln>
                <a:solidFill>
                  <a:srgbClr val="002060"/>
                </a:solidFill>
                <a:effectLst/>
                <a:ea typeface="Times New Roman" panose="02020603050405020304" pitchFamily="18" charset="0"/>
              </a:rPr>
              <a:t>t+</a:t>
            </a:r>
            <a:r>
              <a:rPr kumimoji="0" lang="en-GB" altLang="en-US" sz="3200" b="0" i="1"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q</a:t>
            </a:r>
            <a:r>
              <a:rPr kumimoji="0" lang="en-GB" altLang="en-US" sz="3200" b="0" i="1" u="none" strike="noStrike" cap="none" normalizeH="0" baseline="-30000" dirty="0">
                <a:ln>
                  <a:noFill/>
                </a:ln>
                <a:solidFill>
                  <a:srgbClr val="002060"/>
                </a:solidFill>
                <a:effectLst/>
                <a:ea typeface="Times New Roman" panose="02020603050405020304" pitchFamily="18" charset="0"/>
              </a:rPr>
              <a:t>1</a:t>
            </a:r>
            <a:r>
              <a:rPr kumimoji="0" lang="en-GB" altLang="en-US" sz="3200" b="0" i="1" u="none" strike="noStrike" cap="none" normalizeH="0" baseline="0" dirty="0">
                <a:ln>
                  <a:noFill/>
                </a:ln>
                <a:solidFill>
                  <a:srgbClr val="002060"/>
                </a:solidFill>
                <a:effectLst/>
                <a:ea typeface="Times New Roman" panose="02020603050405020304" pitchFamily="18" charset="0"/>
              </a:rPr>
              <a:t>) + F</a:t>
            </a:r>
            <a:r>
              <a:rPr kumimoji="0" lang="en-GB" altLang="en-US" sz="3200" b="0" i="1" u="none" strike="noStrike" cap="none" normalizeH="0" baseline="-30000" dirty="0">
                <a:ln>
                  <a:noFill/>
                </a:ln>
                <a:solidFill>
                  <a:srgbClr val="002060"/>
                </a:solidFill>
                <a:effectLst/>
                <a:ea typeface="Times New Roman" panose="02020603050405020304" pitchFamily="18" charset="0"/>
              </a:rPr>
              <a:t>2</a:t>
            </a:r>
            <a:r>
              <a:rPr kumimoji="0" lang="en-GB" altLang="en-US" sz="3200" b="0" i="1" u="none" strike="noStrike" cap="none" normalizeH="0" baseline="0" dirty="0">
                <a:ln>
                  <a:noFill/>
                </a:ln>
                <a:solidFill>
                  <a:srgbClr val="002060"/>
                </a:solidFill>
                <a:effectLst/>
                <a:ea typeface="Times New Roman" panose="02020603050405020304" pitchFamily="18" charset="0"/>
              </a:rPr>
              <a:t> cos (2</a:t>
            </a:r>
            <a:r>
              <a:rPr kumimoji="0" lang="en-GB" altLang="en-US" sz="3200" b="0" i="1"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1" u="none" strike="noStrike" cap="none" normalizeH="0" baseline="-30000" dirty="0">
                <a:ln>
                  <a:noFill/>
                </a:ln>
                <a:solidFill>
                  <a:srgbClr val="002060"/>
                </a:solidFill>
                <a:effectLst/>
                <a:latin typeface="Symbol" panose="05050102010706020507" pitchFamily="18" charset="2"/>
                <a:ea typeface="Times New Roman" panose="02020603050405020304" pitchFamily="18" charset="0"/>
              </a:rPr>
              <a:t>o </a:t>
            </a:r>
            <a:r>
              <a:rPr kumimoji="0" lang="en-GB" altLang="en-US" sz="3200" b="0" i="1" u="none" strike="noStrike" cap="none" normalizeH="0" baseline="0" dirty="0">
                <a:ln>
                  <a:noFill/>
                </a:ln>
                <a:solidFill>
                  <a:srgbClr val="002060"/>
                </a:solidFill>
                <a:effectLst/>
                <a:ea typeface="Times New Roman" panose="02020603050405020304" pitchFamily="18" charset="0"/>
              </a:rPr>
              <a:t>t+</a:t>
            </a:r>
            <a:r>
              <a:rPr kumimoji="0" lang="en-GB" altLang="en-US" sz="3200" b="0" i="1"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q</a:t>
            </a:r>
            <a:r>
              <a:rPr kumimoji="0" lang="en-GB" altLang="en-US" sz="3200" b="0" i="1" u="none" strike="noStrike" cap="none" normalizeH="0" baseline="-30000" dirty="0">
                <a:ln>
                  <a:noFill/>
                </a:ln>
                <a:solidFill>
                  <a:srgbClr val="002060"/>
                </a:solidFill>
                <a:effectLst/>
                <a:ea typeface="Times New Roman" panose="02020603050405020304" pitchFamily="18" charset="0"/>
              </a:rPr>
              <a:t>2</a:t>
            </a:r>
            <a:r>
              <a:rPr kumimoji="0" lang="en-GB" altLang="en-US" sz="3200" b="0" i="1" u="none" strike="noStrike" cap="none" normalizeH="0" baseline="0" dirty="0">
                <a:ln>
                  <a:noFill/>
                </a:ln>
                <a:solidFill>
                  <a:srgbClr val="002060"/>
                </a:solidFill>
                <a:effectLst/>
                <a:ea typeface="Times New Roman" panose="02020603050405020304" pitchFamily="18" charset="0"/>
              </a:rPr>
              <a:t>) + F</a:t>
            </a:r>
            <a:r>
              <a:rPr kumimoji="0" lang="en-GB" altLang="en-US" sz="3200" b="0" i="1" u="none" strike="noStrike" cap="none" normalizeH="0" baseline="-30000" dirty="0">
                <a:ln>
                  <a:noFill/>
                </a:ln>
                <a:solidFill>
                  <a:srgbClr val="002060"/>
                </a:solidFill>
                <a:effectLst/>
                <a:ea typeface="Times New Roman" panose="02020603050405020304" pitchFamily="18" charset="0"/>
              </a:rPr>
              <a:t>3</a:t>
            </a:r>
            <a:r>
              <a:rPr kumimoji="0" lang="en-GB" altLang="en-US" sz="3200" b="0" i="1" u="none" strike="noStrike" cap="none" normalizeH="0" baseline="0" dirty="0">
                <a:ln>
                  <a:noFill/>
                </a:ln>
                <a:solidFill>
                  <a:srgbClr val="002060"/>
                </a:solidFill>
                <a:effectLst/>
                <a:ea typeface="Times New Roman" panose="02020603050405020304" pitchFamily="18" charset="0"/>
              </a:rPr>
              <a:t> cos (3</a:t>
            </a:r>
            <a:r>
              <a:rPr kumimoji="0" lang="en-GB" altLang="en-US" sz="3200" b="0" i="1"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1" u="none" strike="noStrike" cap="none" normalizeH="0" baseline="-30000" dirty="0">
                <a:ln>
                  <a:noFill/>
                </a:ln>
                <a:solidFill>
                  <a:srgbClr val="002060"/>
                </a:solidFill>
                <a:effectLst/>
                <a:latin typeface="Symbol" panose="05050102010706020507" pitchFamily="18" charset="2"/>
                <a:ea typeface="Times New Roman" panose="02020603050405020304" pitchFamily="18" charset="0"/>
              </a:rPr>
              <a:t>o </a:t>
            </a:r>
            <a:r>
              <a:rPr kumimoji="0" lang="en-GB" altLang="en-US" sz="3200" b="0" i="1" u="none" strike="noStrike" cap="none" normalizeH="0" baseline="0" dirty="0">
                <a:ln>
                  <a:noFill/>
                </a:ln>
                <a:solidFill>
                  <a:srgbClr val="002060"/>
                </a:solidFill>
                <a:effectLst/>
                <a:ea typeface="Times New Roman" panose="02020603050405020304" pitchFamily="18" charset="0"/>
              </a:rPr>
              <a:t>t+</a:t>
            </a:r>
            <a:r>
              <a:rPr kumimoji="0" lang="en-GB" altLang="en-US" sz="3200" b="0" i="1"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q</a:t>
            </a:r>
            <a:r>
              <a:rPr kumimoji="0" lang="en-GB" altLang="en-US" sz="3200" b="0" i="1" u="none" strike="noStrike" cap="none" normalizeH="0" baseline="-30000" dirty="0">
                <a:ln>
                  <a:noFill/>
                </a:ln>
                <a:solidFill>
                  <a:srgbClr val="002060"/>
                </a:solidFill>
                <a:effectLst/>
                <a:ea typeface="Times New Roman" panose="02020603050405020304" pitchFamily="18" charset="0"/>
              </a:rPr>
              <a:t>3</a:t>
            </a:r>
            <a:r>
              <a:rPr kumimoji="0" lang="en-GB" altLang="en-US" sz="3200" b="0" i="1" u="none" strike="noStrike" cap="none" normalizeH="0" baseline="0" dirty="0">
                <a:ln>
                  <a:noFill/>
                </a:ln>
                <a:solidFill>
                  <a:srgbClr val="002060"/>
                </a:solidFill>
                <a:effectLst/>
                <a:ea typeface="Times New Roman" panose="02020603050405020304" pitchFamily="18" charset="0"/>
              </a:rPr>
              <a:t>)</a:t>
            </a:r>
            <a:r>
              <a:rPr lang="en-GB" altLang="en-US" sz="3200" dirty="0"/>
              <a:t> </a:t>
            </a:r>
            <a:r>
              <a:rPr kumimoji="0" lang="en-GB" altLang="en-US" sz="3200" b="0" i="1" u="none" strike="noStrike" cap="none" normalizeH="0" baseline="0" dirty="0">
                <a:ln>
                  <a:noFill/>
                </a:ln>
                <a:solidFill>
                  <a:srgbClr val="002060"/>
                </a:solidFill>
                <a:effectLst/>
                <a:ea typeface="Times New Roman" panose="02020603050405020304" pitchFamily="18" charset="0"/>
              </a:rPr>
              <a:t>+ F</a:t>
            </a:r>
            <a:r>
              <a:rPr kumimoji="0" lang="en-GB" altLang="en-US" sz="3200" b="0" i="1" u="none" strike="noStrike" cap="none" normalizeH="0" baseline="-30000" dirty="0">
                <a:ln>
                  <a:noFill/>
                </a:ln>
                <a:solidFill>
                  <a:srgbClr val="002060"/>
                </a:solidFill>
                <a:effectLst/>
                <a:ea typeface="Times New Roman" panose="02020603050405020304" pitchFamily="18" charset="0"/>
              </a:rPr>
              <a:t>4</a:t>
            </a:r>
            <a:r>
              <a:rPr kumimoji="0" lang="en-GB" altLang="en-US" sz="3200" b="0" i="1" u="none" strike="noStrike" cap="none" normalizeH="0" baseline="0" dirty="0">
                <a:ln>
                  <a:noFill/>
                </a:ln>
                <a:solidFill>
                  <a:srgbClr val="002060"/>
                </a:solidFill>
                <a:effectLst/>
                <a:ea typeface="Times New Roman" panose="02020603050405020304" pitchFamily="18" charset="0"/>
              </a:rPr>
              <a:t> cos (4</a:t>
            </a:r>
            <a:r>
              <a:rPr kumimoji="0" lang="en-GB" altLang="en-US" sz="3200" b="0" i="1"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1" u="none" strike="noStrike" cap="none" normalizeH="0" baseline="-30000" dirty="0">
                <a:ln>
                  <a:noFill/>
                </a:ln>
                <a:solidFill>
                  <a:srgbClr val="002060"/>
                </a:solidFill>
                <a:effectLst/>
                <a:latin typeface="Symbol" panose="05050102010706020507" pitchFamily="18" charset="2"/>
                <a:ea typeface="Times New Roman" panose="02020603050405020304" pitchFamily="18" charset="0"/>
              </a:rPr>
              <a:t>o </a:t>
            </a:r>
            <a:r>
              <a:rPr kumimoji="0" lang="en-GB" altLang="en-US" sz="3200" b="0" i="1" u="none" strike="noStrike" cap="none" normalizeH="0" baseline="0" dirty="0">
                <a:ln>
                  <a:noFill/>
                </a:ln>
                <a:solidFill>
                  <a:srgbClr val="002060"/>
                </a:solidFill>
                <a:effectLst/>
                <a:ea typeface="Times New Roman" panose="02020603050405020304" pitchFamily="18" charset="0"/>
              </a:rPr>
              <a:t>t+</a:t>
            </a:r>
            <a:r>
              <a:rPr kumimoji="0" lang="en-GB" altLang="en-US" sz="3200" b="0" i="1"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q</a:t>
            </a:r>
            <a:r>
              <a:rPr kumimoji="0" lang="en-GB" altLang="en-US" sz="3200" b="0" i="1" u="none" strike="noStrike" cap="none" normalizeH="0" baseline="-30000" dirty="0">
                <a:ln>
                  <a:noFill/>
                </a:ln>
                <a:solidFill>
                  <a:srgbClr val="002060"/>
                </a:solidFill>
                <a:effectLst/>
                <a:ea typeface="Times New Roman" panose="02020603050405020304" pitchFamily="18" charset="0"/>
              </a:rPr>
              <a:t>4</a:t>
            </a:r>
            <a:r>
              <a:rPr kumimoji="0" lang="en-GB" altLang="en-US" sz="3200" b="0" i="1" u="none" strike="noStrike" cap="none" normalizeH="0" baseline="0" dirty="0">
                <a:ln>
                  <a:noFill/>
                </a:ln>
                <a:solidFill>
                  <a:srgbClr val="002060"/>
                </a:solidFill>
                <a:effectLst/>
                <a:ea typeface="Times New Roman" panose="02020603050405020304" pitchFamily="18" charset="0"/>
              </a:rPr>
              <a:t>) + F</a:t>
            </a:r>
            <a:r>
              <a:rPr kumimoji="0" lang="en-GB" altLang="en-US" sz="3200" b="0" i="1" u="none" strike="noStrike" cap="none" normalizeH="0" baseline="-30000" dirty="0">
                <a:ln>
                  <a:noFill/>
                </a:ln>
                <a:solidFill>
                  <a:srgbClr val="002060"/>
                </a:solidFill>
                <a:effectLst/>
                <a:ea typeface="Times New Roman" panose="02020603050405020304" pitchFamily="18" charset="0"/>
              </a:rPr>
              <a:t>5</a:t>
            </a:r>
            <a:r>
              <a:rPr kumimoji="0" lang="en-GB" altLang="en-US" sz="3200" b="0" i="1" u="none" strike="noStrike" cap="none" normalizeH="0" baseline="0" dirty="0">
                <a:ln>
                  <a:noFill/>
                </a:ln>
                <a:solidFill>
                  <a:srgbClr val="002060"/>
                </a:solidFill>
                <a:effectLst/>
                <a:ea typeface="Times New Roman" panose="02020603050405020304" pitchFamily="18" charset="0"/>
              </a:rPr>
              <a:t> cos (5</a:t>
            </a:r>
            <a:r>
              <a:rPr kumimoji="0" lang="en-GB" altLang="en-US" sz="3200" b="0" i="1"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1" u="none" strike="noStrike" cap="none" normalizeH="0" baseline="-30000" dirty="0">
                <a:ln>
                  <a:noFill/>
                </a:ln>
                <a:solidFill>
                  <a:srgbClr val="002060"/>
                </a:solidFill>
                <a:effectLst/>
                <a:latin typeface="Symbol" panose="05050102010706020507" pitchFamily="18" charset="2"/>
                <a:ea typeface="Times New Roman" panose="02020603050405020304" pitchFamily="18" charset="0"/>
              </a:rPr>
              <a:t>o </a:t>
            </a:r>
            <a:r>
              <a:rPr kumimoji="0" lang="en-GB" altLang="en-US" sz="3200" b="0" i="1" u="none" strike="noStrike" cap="none" normalizeH="0" baseline="0" dirty="0" err="1">
                <a:ln>
                  <a:noFill/>
                </a:ln>
                <a:solidFill>
                  <a:srgbClr val="002060"/>
                </a:solidFill>
                <a:effectLst/>
                <a:ea typeface="Times New Roman" panose="02020603050405020304" pitchFamily="18" charset="0"/>
              </a:rPr>
              <a:t>t+</a:t>
            </a:r>
            <a:r>
              <a:rPr kumimoji="0" lang="en-GB" altLang="en-US" sz="3200" b="0" i="1"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rPr>
              <a:t>q</a:t>
            </a:r>
            <a:r>
              <a:rPr kumimoji="0" lang="en-GB" altLang="en-US" sz="3200" b="0" i="1" u="none" strike="noStrike" cap="none" normalizeH="0" baseline="-30000" dirty="0">
                <a:ln>
                  <a:noFill/>
                </a:ln>
                <a:solidFill>
                  <a:srgbClr val="002060"/>
                </a:solidFill>
                <a:effectLst/>
                <a:latin typeface="Symbol" panose="05050102010706020507" pitchFamily="18" charset="2"/>
                <a:ea typeface="Times New Roman" panose="02020603050405020304" pitchFamily="18" charset="0"/>
              </a:rPr>
              <a:t> </a:t>
            </a:r>
            <a:r>
              <a:rPr kumimoji="0" lang="en-GB" altLang="en-US" sz="3200" b="0" i="1" u="none" strike="noStrike" cap="none" normalizeH="0" baseline="-30000" dirty="0">
                <a:ln>
                  <a:noFill/>
                </a:ln>
                <a:solidFill>
                  <a:srgbClr val="002060"/>
                </a:solidFill>
                <a:effectLst/>
                <a:ea typeface="Times New Roman" panose="02020603050405020304" pitchFamily="18" charset="0"/>
              </a:rPr>
              <a:t>5</a:t>
            </a:r>
            <a:r>
              <a:rPr kumimoji="0" lang="en-GB" altLang="en-US" sz="3200" b="0" i="1" u="none" strike="noStrike" cap="none" normalizeH="0" baseline="0" dirty="0">
                <a:ln>
                  <a:noFill/>
                </a:ln>
                <a:solidFill>
                  <a:srgbClr val="002060"/>
                </a:solidFill>
                <a:effectLst/>
                <a:ea typeface="Times New Roman" panose="02020603050405020304" pitchFamily="18" charset="0"/>
              </a:rPr>
              <a:t>) +…………</a:t>
            </a:r>
            <a:endParaRPr kumimoji="0" lang="en-GB" altLang="en-US" sz="3200" b="0" i="0" u="none" strike="noStrike" cap="none" normalizeH="0" baseline="0" dirty="0">
              <a:ln>
                <a:noFill/>
              </a:ln>
              <a:solidFill>
                <a:schemeClr val="tx1"/>
              </a:solidFill>
              <a:effectLst/>
            </a:endParaRPr>
          </a:p>
          <a:p>
            <a:pPr marR="0" lvl="0" indent="0" algn="l" defTabSz="914400" rtl="0" eaLnBrk="0" fontAlgn="base" latinLnBrk="0" hangingPunct="0">
              <a:lnSpc>
                <a:spcPct val="120000"/>
              </a:lnSpc>
              <a:spcBef>
                <a:spcPct val="0"/>
              </a:spcBef>
              <a:spcAft>
                <a:spcPct val="0"/>
              </a:spcAft>
              <a:buClrTx/>
              <a:buSzTx/>
              <a:buFontTx/>
              <a:buNone/>
              <a:tabLst/>
            </a:pPr>
            <a:r>
              <a:rPr kumimoji="0" lang="pt-BR" altLang="en-US" sz="3200" b="0" i="1" u="none" strike="noStrike" cap="none" normalizeH="0" baseline="0" dirty="0">
                <a:ln>
                  <a:noFill/>
                </a:ln>
                <a:solidFill>
                  <a:srgbClr val="002060"/>
                </a:solidFill>
                <a:effectLst/>
                <a:ea typeface="Times New Roman" panose="02020603050405020304" pitchFamily="18" charset="0"/>
              </a:rPr>
              <a:t>f(t) = A</a:t>
            </a:r>
            <a:r>
              <a:rPr kumimoji="0" lang="pt-BR" altLang="en-US" sz="3200" b="0" i="1" u="none" strike="noStrike" cap="none" normalizeH="0" baseline="-30000" dirty="0">
                <a:ln>
                  <a:noFill/>
                </a:ln>
                <a:solidFill>
                  <a:srgbClr val="002060"/>
                </a:solidFill>
                <a:effectLst/>
                <a:ea typeface="Times New Roman" panose="02020603050405020304" pitchFamily="18" charset="0"/>
              </a:rPr>
              <a:t>o</a:t>
            </a:r>
            <a:r>
              <a:rPr kumimoji="0" lang="pt-BR" altLang="en-US" sz="3200" b="0" i="1" u="none" strike="noStrike" cap="none" normalizeH="0" baseline="0" dirty="0">
                <a:ln>
                  <a:noFill/>
                </a:ln>
                <a:solidFill>
                  <a:srgbClr val="002060"/>
                </a:solidFill>
                <a:effectLst/>
                <a:ea typeface="Times New Roman" panose="02020603050405020304" pitchFamily="18" charset="0"/>
              </a:rPr>
              <a:t>/2 + A</a:t>
            </a:r>
            <a:r>
              <a:rPr kumimoji="0" lang="pt-BR" altLang="en-US" sz="3200" b="0" i="1" u="none" strike="noStrike" cap="none" normalizeH="0" baseline="-30000" dirty="0">
                <a:ln>
                  <a:noFill/>
                </a:ln>
                <a:solidFill>
                  <a:srgbClr val="002060"/>
                </a:solidFill>
                <a:effectLst/>
                <a:ea typeface="Times New Roman" panose="02020603050405020304" pitchFamily="18" charset="0"/>
              </a:rPr>
              <a:t>1</a:t>
            </a:r>
            <a:r>
              <a:rPr kumimoji="0" lang="pt-BR" altLang="en-US" sz="3200" b="0" i="1" u="none" strike="noStrike" cap="none" normalizeH="0" baseline="0" dirty="0">
                <a:ln>
                  <a:noFill/>
                </a:ln>
                <a:solidFill>
                  <a:srgbClr val="002060"/>
                </a:solidFill>
                <a:effectLst/>
                <a:ea typeface="Times New Roman" panose="02020603050405020304" pitchFamily="18" charset="0"/>
              </a:rPr>
              <a:t> cos </a:t>
            </a:r>
            <a:r>
              <a:rPr kumimoji="0" lang="en-GB" altLang="en-US" sz="3200" b="0" i="1"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1" u="none" strike="noStrike" cap="none" normalizeH="0" baseline="-30000" dirty="0">
                <a:ln>
                  <a:noFill/>
                </a:ln>
                <a:solidFill>
                  <a:srgbClr val="002060"/>
                </a:solidFill>
                <a:effectLst/>
                <a:latin typeface="Symbol" panose="05050102010706020507" pitchFamily="18" charset="2"/>
                <a:ea typeface="Times New Roman" panose="02020603050405020304" pitchFamily="18" charset="0"/>
              </a:rPr>
              <a:t>o </a:t>
            </a:r>
            <a:r>
              <a:rPr kumimoji="0" lang="pt-BR" altLang="en-US" sz="3200" b="0" i="1" u="none" strike="noStrike" cap="none" normalizeH="0" baseline="0" dirty="0">
                <a:ln>
                  <a:noFill/>
                </a:ln>
                <a:solidFill>
                  <a:srgbClr val="002060"/>
                </a:solidFill>
                <a:effectLst/>
                <a:ea typeface="Times New Roman" panose="02020603050405020304" pitchFamily="18" charset="0"/>
              </a:rPr>
              <a:t>t + A</a:t>
            </a:r>
            <a:r>
              <a:rPr kumimoji="0" lang="pt-BR" altLang="en-US" sz="3200" b="0" i="1" u="none" strike="noStrike" cap="none" normalizeH="0" baseline="-30000" dirty="0">
                <a:ln>
                  <a:noFill/>
                </a:ln>
                <a:solidFill>
                  <a:srgbClr val="002060"/>
                </a:solidFill>
                <a:effectLst/>
                <a:ea typeface="Times New Roman" panose="02020603050405020304" pitchFamily="18" charset="0"/>
              </a:rPr>
              <a:t>2</a:t>
            </a:r>
            <a:r>
              <a:rPr kumimoji="0" lang="pt-BR" altLang="en-US" sz="3200" b="0" i="1" u="none" strike="noStrike" cap="none" normalizeH="0" baseline="0" dirty="0">
                <a:ln>
                  <a:noFill/>
                </a:ln>
                <a:solidFill>
                  <a:srgbClr val="002060"/>
                </a:solidFill>
                <a:effectLst/>
                <a:ea typeface="Times New Roman" panose="02020603050405020304" pitchFamily="18" charset="0"/>
              </a:rPr>
              <a:t> cos 2</a:t>
            </a:r>
            <a:r>
              <a:rPr kumimoji="0" lang="en-GB" altLang="en-US" sz="3200" b="0" i="1"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1" u="none" strike="noStrike" cap="none" normalizeH="0" baseline="-30000" dirty="0">
                <a:ln>
                  <a:noFill/>
                </a:ln>
                <a:solidFill>
                  <a:srgbClr val="002060"/>
                </a:solidFill>
                <a:effectLst/>
                <a:latin typeface="Symbol" panose="05050102010706020507" pitchFamily="18" charset="2"/>
                <a:ea typeface="Times New Roman" panose="02020603050405020304" pitchFamily="18" charset="0"/>
              </a:rPr>
              <a:t>o </a:t>
            </a:r>
            <a:r>
              <a:rPr kumimoji="0" lang="pt-BR" altLang="en-US" sz="3200" b="0" i="1" u="none" strike="noStrike" cap="none" normalizeH="0" baseline="0" dirty="0">
                <a:ln>
                  <a:noFill/>
                </a:ln>
                <a:solidFill>
                  <a:srgbClr val="002060"/>
                </a:solidFill>
                <a:effectLst/>
                <a:ea typeface="Times New Roman" panose="02020603050405020304" pitchFamily="18" charset="0"/>
              </a:rPr>
              <a:t>t + A</a:t>
            </a:r>
            <a:r>
              <a:rPr kumimoji="0" lang="pt-BR" altLang="en-US" sz="3200" b="0" i="1" u="none" strike="noStrike" cap="none" normalizeH="0" baseline="-30000" dirty="0">
                <a:ln>
                  <a:noFill/>
                </a:ln>
                <a:solidFill>
                  <a:srgbClr val="002060"/>
                </a:solidFill>
                <a:effectLst/>
                <a:ea typeface="Times New Roman" panose="02020603050405020304" pitchFamily="18" charset="0"/>
              </a:rPr>
              <a:t>3</a:t>
            </a:r>
            <a:r>
              <a:rPr kumimoji="0" lang="pt-BR" altLang="en-US" sz="3200" b="0" i="1" u="none" strike="noStrike" cap="none" normalizeH="0" baseline="0" dirty="0">
                <a:ln>
                  <a:noFill/>
                </a:ln>
                <a:solidFill>
                  <a:srgbClr val="002060"/>
                </a:solidFill>
                <a:effectLst/>
                <a:ea typeface="Times New Roman" panose="02020603050405020304" pitchFamily="18" charset="0"/>
              </a:rPr>
              <a:t> cos 3</a:t>
            </a:r>
            <a:r>
              <a:rPr kumimoji="0" lang="en-GB" altLang="en-US" sz="3200" b="0" i="1"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1" u="none" strike="noStrike" cap="none" normalizeH="0" baseline="-30000" dirty="0">
                <a:ln>
                  <a:noFill/>
                </a:ln>
                <a:solidFill>
                  <a:srgbClr val="002060"/>
                </a:solidFill>
                <a:effectLst/>
                <a:latin typeface="Symbol" panose="05050102010706020507" pitchFamily="18" charset="2"/>
                <a:ea typeface="Times New Roman" panose="02020603050405020304" pitchFamily="18" charset="0"/>
              </a:rPr>
              <a:t>o </a:t>
            </a:r>
            <a:r>
              <a:rPr kumimoji="0" lang="pt-BR" altLang="en-US" sz="3200" b="0" i="1" u="none" strike="noStrike" cap="none" normalizeH="0" baseline="0" dirty="0">
                <a:ln>
                  <a:noFill/>
                </a:ln>
                <a:solidFill>
                  <a:srgbClr val="002060"/>
                </a:solidFill>
                <a:effectLst/>
                <a:ea typeface="Times New Roman" panose="02020603050405020304" pitchFamily="18" charset="0"/>
              </a:rPr>
              <a:t>t + A</a:t>
            </a:r>
            <a:r>
              <a:rPr kumimoji="0" lang="pt-BR" altLang="en-US" sz="3200" b="0" i="1" u="none" strike="noStrike" cap="none" normalizeH="0" baseline="-30000" dirty="0">
                <a:ln>
                  <a:noFill/>
                </a:ln>
                <a:solidFill>
                  <a:srgbClr val="002060"/>
                </a:solidFill>
                <a:effectLst/>
                <a:ea typeface="Times New Roman" panose="02020603050405020304" pitchFamily="18" charset="0"/>
              </a:rPr>
              <a:t>4</a:t>
            </a:r>
            <a:r>
              <a:rPr kumimoji="0" lang="pt-BR" altLang="en-US" sz="3200" b="0" i="1" u="none" strike="noStrike" cap="none" normalizeH="0" baseline="0" dirty="0">
                <a:ln>
                  <a:noFill/>
                </a:ln>
                <a:solidFill>
                  <a:srgbClr val="002060"/>
                </a:solidFill>
                <a:effectLst/>
                <a:ea typeface="Times New Roman" panose="02020603050405020304" pitchFamily="18" charset="0"/>
              </a:rPr>
              <a:t> cos 4</a:t>
            </a:r>
            <a:r>
              <a:rPr kumimoji="0" lang="en-GB" altLang="en-US" sz="3200" b="0" i="1"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1" u="none" strike="noStrike" cap="none" normalizeH="0" baseline="-30000" dirty="0">
                <a:ln>
                  <a:noFill/>
                </a:ln>
                <a:solidFill>
                  <a:srgbClr val="002060"/>
                </a:solidFill>
                <a:effectLst/>
                <a:latin typeface="Symbol" panose="05050102010706020507" pitchFamily="18" charset="2"/>
                <a:ea typeface="Times New Roman" panose="02020603050405020304" pitchFamily="18" charset="0"/>
              </a:rPr>
              <a:t>o </a:t>
            </a:r>
            <a:r>
              <a:rPr kumimoji="0" lang="pt-BR" altLang="en-US" sz="3200" b="0" i="1" u="none" strike="noStrike" cap="none" normalizeH="0" baseline="0" dirty="0">
                <a:ln>
                  <a:noFill/>
                </a:ln>
                <a:solidFill>
                  <a:srgbClr val="002060"/>
                </a:solidFill>
                <a:effectLst/>
                <a:ea typeface="Times New Roman" panose="02020603050405020304" pitchFamily="18" charset="0"/>
              </a:rPr>
              <a:t>t</a:t>
            </a:r>
            <a:endParaRPr kumimoji="0" lang="en-GB" altLang="en-US" sz="3200" b="0" i="0" u="none" strike="noStrike" cap="none" normalizeH="0" baseline="0" dirty="0">
              <a:ln>
                <a:noFill/>
              </a:ln>
              <a:solidFill>
                <a:schemeClr val="tx1"/>
              </a:solidFill>
              <a:effectLst/>
            </a:endParaRPr>
          </a:p>
          <a:p>
            <a:pPr marL="0" marR="0" lvl="0" indent="457200" algn="l" defTabSz="914400" rtl="0" eaLnBrk="0" fontAlgn="base" latinLnBrk="0" hangingPunct="0">
              <a:lnSpc>
                <a:spcPct val="120000"/>
              </a:lnSpc>
              <a:spcBef>
                <a:spcPct val="0"/>
              </a:spcBef>
              <a:spcAft>
                <a:spcPct val="0"/>
              </a:spcAft>
              <a:buClrTx/>
              <a:buSzTx/>
              <a:buFontTx/>
              <a:buNone/>
              <a:tabLst/>
            </a:pPr>
            <a:r>
              <a:rPr kumimoji="0" lang="pt-BR" altLang="en-US" sz="3200" b="0" i="1" u="none" strike="noStrike" cap="none" normalizeH="0" baseline="0" dirty="0">
                <a:ln>
                  <a:noFill/>
                </a:ln>
                <a:solidFill>
                  <a:srgbClr val="002060"/>
                </a:solidFill>
                <a:effectLst/>
                <a:ea typeface="Times New Roman" panose="02020603050405020304" pitchFamily="18" charset="0"/>
              </a:rPr>
              <a:t>+ …………+ B</a:t>
            </a:r>
            <a:r>
              <a:rPr kumimoji="0" lang="pt-BR" altLang="en-US" sz="3200" b="0" i="1" u="none" strike="noStrike" cap="none" normalizeH="0" baseline="-30000" dirty="0">
                <a:ln>
                  <a:noFill/>
                </a:ln>
                <a:solidFill>
                  <a:srgbClr val="002060"/>
                </a:solidFill>
                <a:effectLst/>
                <a:ea typeface="Times New Roman" panose="02020603050405020304" pitchFamily="18" charset="0"/>
              </a:rPr>
              <a:t>1</a:t>
            </a:r>
            <a:r>
              <a:rPr kumimoji="0" lang="pt-BR" altLang="en-US" sz="3200" b="0" i="1" u="none" strike="noStrike" cap="none" normalizeH="0" baseline="0" dirty="0">
                <a:ln>
                  <a:noFill/>
                </a:ln>
                <a:solidFill>
                  <a:srgbClr val="002060"/>
                </a:solidFill>
                <a:effectLst/>
                <a:ea typeface="Times New Roman" panose="02020603050405020304" pitchFamily="18" charset="0"/>
              </a:rPr>
              <a:t> sin </a:t>
            </a:r>
            <a:r>
              <a:rPr kumimoji="0" lang="en-GB" altLang="en-US" sz="3200" b="0" i="1"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1" u="none" strike="noStrike" cap="none" normalizeH="0" baseline="-30000" dirty="0">
                <a:ln>
                  <a:noFill/>
                </a:ln>
                <a:solidFill>
                  <a:srgbClr val="002060"/>
                </a:solidFill>
                <a:effectLst/>
                <a:latin typeface="Symbol" panose="05050102010706020507" pitchFamily="18" charset="2"/>
                <a:ea typeface="Times New Roman" panose="02020603050405020304" pitchFamily="18" charset="0"/>
              </a:rPr>
              <a:t>o </a:t>
            </a:r>
            <a:r>
              <a:rPr kumimoji="0" lang="pt-BR" altLang="en-US" sz="3200" b="0" i="1" u="none" strike="noStrike" cap="none" normalizeH="0" baseline="0" dirty="0">
                <a:ln>
                  <a:noFill/>
                </a:ln>
                <a:solidFill>
                  <a:srgbClr val="002060"/>
                </a:solidFill>
                <a:effectLst/>
                <a:ea typeface="Times New Roman" panose="02020603050405020304" pitchFamily="18" charset="0"/>
              </a:rPr>
              <a:t>t + B</a:t>
            </a:r>
            <a:r>
              <a:rPr kumimoji="0" lang="pt-BR" altLang="en-US" sz="3200" b="0" i="1" u="none" strike="noStrike" cap="none" normalizeH="0" baseline="-30000" dirty="0">
                <a:ln>
                  <a:noFill/>
                </a:ln>
                <a:solidFill>
                  <a:srgbClr val="002060"/>
                </a:solidFill>
                <a:effectLst/>
                <a:ea typeface="Times New Roman" panose="02020603050405020304" pitchFamily="18" charset="0"/>
              </a:rPr>
              <a:t>2</a:t>
            </a:r>
            <a:r>
              <a:rPr kumimoji="0" lang="pt-BR" altLang="en-US" sz="3200" b="0" i="1" u="none" strike="noStrike" cap="none" normalizeH="0" baseline="0" dirty="0">
                <a:ln>
                  <a:noFill/>
                </a:ln>
                <a:solidFill>
                  <a:srgbClr val="002060"/>
                </a:solidFill>
                <a:effectLst/>
                <a:ea typeface="Times New Roman" panose="02020603050405020304" pitchFamily="18" charset="0"/>
              </a:rPr>
              <a:t> sin 2</a:t>
            </a:r>
            <a:r>
              <a:rPr kumimoji="0" lang="en-GB" altLang="en-US" sz="3200" b="0" i="1"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1" u="none" strike="noStrike" cap="none" normalizeH="0" baseline="-30000" dirty="0">
                <a:ln>
                  <a:noFill/>
                </a:ln>
                <a:solidFill>
                  <a:srgbClr val="002060"/>
                </a:solidFill>
                <a:effectLst/>
                <a:latin typeface="Symbol" panose="05050102010706020507" pitchFamily="18" charset="2"/>
                <a:ea typeface="Times New Roman" panose="02020603050405020304" pitchFamily="18" charset="0"/>
              </a:rPr>
              <a:t>o </a:t>
            </a:r>
            <a:r>
              <a:rPr kumimoji="0" lang="pt-BR" altLang="en-US" sz="3200" b="0" i="1" u="none" strike="noStrike" cap="none" normalizeH="0" baseline="0" dirty="0">
                <a:ln>
                  <a:noFill/>
                </a:ln>
                <a:solidFill>
                  <a:srgbClr val="002060"/>
                </a:solidFill>
                <a:effectLst/>
                <a:ea typeface="Times New Roman" panose="02020603050405020304" pitchFamily="18" charset="0"/>
              </a:rPr>
              <a:t>t + B</a:t>
            </a:r>
            <a:r>
              <a:rPr kumimoji="0" lang="pt-BR" altLang="en-US" sz="3200" b="0" i="1" u="none" strike="noStrike" cap="none" normalizeH="0" baseline="-30000" dirty="0">
                <a:ln>
                  <a:noFill/>
                </a:ln>
                <a:solidFill>
                  <a:srgbClr val="002060"/>
                </a:solidFill>
                <a:effectLst/>
                <a:ea typeface="Times New Roman" panose="02020603050405020304" pitchFamily="18" charset="0"/>
              </a:rPr>
              <a:t>3</a:t>
            </a:r>
            <a:r>
              <a:rPr kumimoji="0" lang="pt-BR" altLang="en-US" sz="3200" b="0" i="1" u="none" strike="noStrike" cap="none" normalizeH="0" baseline="0" dirty="0">
                <a:ln>
                  <a:noFill/>
                </a:ln>
                <a:solidFill>
                  <a:srgbClr val="002060"/>
                </a:solidFill>
                <a:effectLst/>
                <a:ea typeface="Times New Roman" panose="02020603050405020304" pitchFamily="18" charset="0"/>
              </a:rPr>
              <a:t> sin 3</a:t>
            </a:r>
            <a:r>
              <a:rPr kumimoji="0" lang="en-GB" altLang="en-US" sz="3200" b="0" i="1"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1" u="none" strike="noStrike" cap="none" normalizeH="0" baseline="-30000" dirty="0">
                <a:ln>
                  <a:noFill/>
                </a:ln>
                <a:solidFill>
                  <a:srgbClr val="002060"/>
                </a:solidFill>
                <a:effectLst/>
                <a:latin typeface="Symbol" panose="05050102010706020507" pitchFamily="18" charset="2"/>
                <a:ea typeface="Times New Roman" panose="02020603050405020304" pitchFamily="18" charset="0"/>
              </a:rPr>
              <a:t>o </a:t>
            </a:r>
            <a:r>
              <a:rPr kumimoji="0" lang="pt-BR" altLang="en-US" sz="3200" b="0" i="1" u="none" strike="noStrike" cap="none" normalizeH="0" baseline="0" dirty="0">
                <a:ln>
                  <a:noFill/>
                </a:ln>
                <a:solidFill>
                  <a:srgbClr val="002060"/>
                </a:solidFill>
                <a:effectLst/>
                <a:ea typeface="Times New Roman" panose="02020603050405020304" pitchFamily="18" charset="0"/>
              </a:rPr>
              <a:t>t + ……</a:t>
            </a:r>
            <a:endParaRPr kumimoji="0" lang="pt-BR" altLang="en-US" sz="3200" b="0" i="0" u="none" strike="noStrike" cap="none" normalizeH="0" baseline="0" dirty="0">
              <a:ln>
                <a:noFill/>
              </a:ln>
              <a:solidFill>
                <a:schemeClr val="tx1"/>
              </a:solidFill>
              <a:effectLst/>
            </a:endParaRPr>
          </a:p>
        </p:txBody>
      </p:sp>
      <p:graphicFrame>
        <p:nvGraphicFramePr>
          <p:cNvPr id="4" name="Object 3">
            <a:extLst>
              <a:ext uri="{FF2B5EF4-FFF2-40B4-BE49-F238E27FC236}">
                <a16:creationId xmlns:a16="http://schemas.microsoft.com/office/drawing/2014/main" id="{29C776A4-1846-4308-B08F-DB1AB11620BE}"/>
              </a:ext>
            </a:extLst>
          </p:cNvPr>
          <p:cNvGraphicFramePr>
            <a:graphicFrameLocks noChangeAspect="1"/>
          </p:cNvGraphicFramePr>
          <p:nvPr>
            <p:extLst>
              <p:ext uri="{D42A27DB-BD31-4B8C-83A1-F6EECF244321}">
                <p14:modId xmlns:p14="http://schemas.microsoft.com/office/powerpoint/2010/main" val="2439106158"/>
              </p:ext>
            </p:extLst>
          </p:nvPr>
        </p:nvGraphicFramePr>
        <p:xfrm>
          <a:off x="0" y="4751070"/>
          <a:ext cx="10153650" cy="1562100"/>
        </p:xfrm>
        <a:graphic>
          <a:graphicData uri="http://schemas.openxmlformats.org/presentationml/2006/ole">
            <mc:AlternateContent xmlns:mc="http://schemas.openxmlformats.org/markup-compatibility/2006">
              <mc:Choice xmlns:v="urn:schemas-microsoft-com:vml" Requires="v">
                <p:oleObj r:id="rId3" imgW="2654300" imgH="406400" progId="Equation.3">
                  <p:embed/>
                </p:oleObj>
              </mc:Choice>
              <mc:Fallback>
                <p:oleObj r:id="rId3" imgW="2654300" imgH="4064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751070"/>
                        <a:ext cx="10153650" cy="156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54908004"/>
      </p:ext>
    </p:extLst>
  </p:cSld>
  <p:clrMapOvr>
    <a:masterClrMapping/>
  </p:clrMapOvr>
  <mc:AlternateContent xmlns:mc="http://schemas.openxmlformats.org/markup-compatibility/2006" xmlns:p14="http://schemas.microsoft.com/office/powerpoint/2010/main">
    <mc:Choice Requires="p14">
      <p:transition spd="slow" p14:dur="2000" advTm="39769"/>
    </mc:Choice>
    <mc:Fallback xmlns="">
      <p:transition spd="slow" advTm="3976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a:bodyPr>
          <a:lstStyle/>
          <a:p>
            <a:r>
              <a:rPr lang="en-GB" dirty="0"/>
              <a:t>Symmetry in Waveforms</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D84A97DD-F6C9-4CB6-A72F-AE4354EEDE73}"/>
              </a:ext>
            </a:extLst>
          </p:cNvPr>
          <p:cNvSpPr/>
          <p:nvPr/>
        </p:nvSpPr>
        <p:spPr>
          <a:xfrm>
            <a:off x="429715" y="1213484"/>
            <a:ext cx="10644685" cy="4195444"/>
          </a:xfrm>
          <a:prstGeom prst="rect">
            <a:avLst/>
          </a:prstGeom>
        </p:spPr>
        <p:txBody>
          <a:bodyPr wrap="square">
            <a:spAutoFit/>
          </a:bodyPr>
          <a:lstStyle/>
          <a:p>
            <a:pPr algn="just">
              <a:lnSpc>
                <a:spcPct val="115000"/>
              </a:lnSpc>
            </a:pPr>
            <a:r>
              <a:rPr lang="en-GB" sz="3600" dirty="0">
                <a:solidFill>
                  <a:srgbClr val="002060"/>
                </a:solidFill>
                <a:latin typeface="Times New Roman" panose="02020603050405020304" pitchFamily="18" charset="0"/>
                <a:ea typeface="Times New Roman" panose="02020603050405020304" pitchFamily="18" charset="0"/>
              </a:rPr>
              <a:t>Many periodic waveforms exhibit symmetry.</a:t>
            </a:r>
            <a:endParaRPr lang="en-GB" sz="3600" dirty="0">
              <a:latin typeface="Times New Roman" panose="02020603050405020304" pitchFamily="18" charset="0"/>
              <a:ea typeface="Times New Roman" panose="02020603050405020304" pitchFamily="18" charset="0"/>
            </a:endParaRPr>
          </a:p>
          <a:p>
            <a:pPr algn="just">
              <a:lnSpc>
                <a:spcPct val="150000"/>
              </a:lnSpc>
              <a:spcAft>
                <a:spcPts val="600"/>
              </a:spcAft>
            </a:pPr>
            <a:r>
              <a:rPr lang="en-GB" sz="3600" dirty="0">
                <a:solidFill>
                  <a:srgbClr val="002060"/>
                </a:solidFill>
                <a:latin typeface="Times New Roman" panose="02020603050405020304" pitchFamily="18" charset="0"/>
                <a:ea typeface="Times New Roman" panose="02020603050405020304" pitchFamily="18" charset="0"/>
              </a:rPr>
              <a:t>Use of symmetry helps reduce tedious calculations </a:t>
            </a:r>
            <a:endParaRPr lang="en-GB" sz="3600" dirty="0">
              <a:latin typeface="Times New Roman" panose="02020603050405020304" pitchFamily="18" charset="0"/>
              <a:ea typeface="Times New Roman" panose="02020603050405020304" pitchFamily="18" charset="0"/>
            </a:endParaRPr>
          </a:p>
          <a:p>
            <a:pPr marL="622300" lvl="1" indent="-342900" algn="just">
              <a:lnSpc>
                <a:spcPct val="150000"/>
              </a:lnSpc>
              <a:spcAft>
                <a:spcPts val="600"/>
              </a:spcAft>
              <a:buFont typeface="+mj-lt"/>
              <a:buAutoNum type="romanLcParenBoth"/>
              <a:tabLst>
                <a:tab pos="1143000" algn="l"/>
              </a:tabLst>
            </a:pPr>
            <a:r>
              <a:rPr lang="en-GB" sz="3600" dirty="0">
                <a:solidFill>
                  <a:srgbClr val="002060"/>
                </a:solidFill>
                <a:latin typeface="Times New Roman" panose="02020603050405020304" pitchFamily="18" charset="0"/>
                <a:ea typeface="Times New Roman" panose="02020603050405020304" pitchFamily="18" charset="0"/>
              </a:rPr>
              <a:t> 	Even symmetry</a:t>
            </a:r>
            <a:endParaRPr lang="en-GB" sz="3600" dirty="0">
              <a:latin typeface="Times New Roman" panose="02020603050405020304" pitchFamily="18" charset="0"/>
              <a:ea typeface="Times New Roman" panose="02020603050405020304" pitchFamily="18" charset="0"/>
            </a:endParaRPr>
          </a:p>
          <a:p>
            <a:pPr marL="466725" lvl="1" indent="-342900" algn="just">
              <a:lnSpc>
                <a:spcPct val="150000"/>
              </a:lnSpc>
              <a:spcAft>
                <a:spcPts val="600"/>
              </a:spcAft>
              <a:buFont typeface="+mj-lt"/>
              <a:buAutoNum type="romanLcParenBoth"/>
              <a:tabLst>
                <a:tab pos="1143000" algn="l"/>
              </a:tabLst>
            </a:pPr>
            <a:r>
              <a:rPr lang="en-GB" sz="3600" dirty="0">
                <a:solidFill>
                  <a:srgbClr val="002060"/>
                </a:solidFill>
                <a:latin typeface="Times New Roman" panose="02020603050405020304" pitchFamily="18" charset="0"/>
                <a:ea typeface="Times New Roman" panose="02020603050405020304" pitchFamily="18" charset="0"/>
              </a:rPr>
              <a:t> 	Odd symmetry</a:t>
            </a:r>
            <a:endParaRPr lang="en-GB" sz="3600" dirty="0">
              <a:latin typeface="Times New Roman" panose="02020603050405020304" pitchFamily="18" charset="0"/>
              <a:ea typeface="Times New Roman" panose="02020603050405020304" pitchFamily="18" charset="0"/>
            </a:endParaRPr>
          </a:p>
          <a:p>
            <a:pPr marL="350838" lvl="1" indent="-342900" algn="just">
              <a:lnSpc>
                <a:spcPct val="150000"/>
              </a:lnSpc>
              <a:spcAft>
                <a:spcPts val="600"/>
              </a:spcAft>
              <a:buFont typeface="+mj-lt"/>
              <a:buAutoNum type="romanLcParenBoth"/>
              <a:tabLst>
                <a:tab pos="1143000" algn="l"/>
              </a:tabLst>
            </a:pPr>
            <a:r>
              <a:rPr lang="en-GB" sz="3600" dirty="0">
                <a:solidFill>
                  <a:srgbClr val="002060"/>
                </a:solidFill>
                <a:latin typeface="Times New Roman" panose="02020603050405020304" pitchFamily="18" charset="0"/>
                <a:ea typeface="Times New Roman" panose="02020603050405020304" pitchFamily="18" charset="0"/>
              </a:rPr>
              <a:t> 	Half-wave symmetry</a:t>
            </a:r>
            <a:endParaRPr lang="en-GB" sz="3600" dirty="0"/>
          </a:p>
        </p:txBody>
      </p:sp>
    </p:spTree>
    <p:extLst>
      <p:ext uri="{BB962C8B-B14F-4D97-AF65-F5344CB8AC3E}">
        <p14:creationId xmlns:p14="http://schemas.microsoft.com/office/powerpoint/2010/main" val="4013495020"/>
      </p:ext>
    </p:extLst>
  </p:cSld>
  <p:clrMapOvr>
    <a:masterClrMapping/>
  </p:clrMapOvr>
  <mc:AlternateContent xmlns:mc="http://schemas.openxmlformats.org/markup-compatibility/2006" xmlns:p14="http://schemas.microsoft.com/office/powerpoint/2010/main">
    <mc:Choice Requires="p14">
      <p:transition spd="slow" p14:dur="2000" advTm="30905"/>
    </mc:Choice>
    <mc:Fallback xmlns="">
      <p:transition spd="slow" advTm="3090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fontScale="90000"/>
          </a:bodyPr>
          <a:lstStyle/>
          <a:p>
            <a:r>
              <a:rPr lang="en-GB" sz="3600" dirty="0"/>
              <a:t>Even Symmetry     </a:t>
            </a:r>
            <a:r>
              <a:rPr lang="en-GB" sz="3600" i="1" dirty="0">
                <a:solidFill>
                  <a:srgbClr val="002060"/>
                </a:solidFill>
              </a:rPr>
              <a:t>f(t) = f(-t)</a:t>
            </a:r>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5F22932F-9A35-4B38-9B8F-CDA769BFCDD7}"/>
              </a:ext>
            </a:extLst>
          </p:cNvPr>
          <p:cNvSpPr/>
          <p:nvPr/>
        </p:nvSpPr>
        <p:spPr>
          <a:xfrm>
            <a:off x="256881" y="1188541"/>
            <a:ext cx="9873216" cy="584775"/>
          </a:xfrm>
          <a:prstGeom prst="rect">
            <a:avLst/>
          </a:prstGeom>
        </p:spPr>
        <p:txBody>
          <a:bodyPr wrap="none">
            <a:spAutoFit/>
          </a:bodyPr>
          <a:lstStyle/>
          <a:p>
            <a:r>
              <a:rPr lang="en-GB" sz="3200" dirty="0">
                <a:solidFill>
                  <a:srgbClr val="002060"/>
                </a:solidFill>
                <a:latin typeface="Times New Roman" panose="02020603050405020304" pitchFamily="18" charset="0"/>
                <a:ea typeface="Times New Roman" panose="02020603050405020304" pitchFamily="18" charset="0"/>
              </a:rPr>
              <a:t>Region before </a:t>
            </a:r>
            <a:r>
              <a:rPr lang="en-GB" sz="3200" i="1" dirty="0">
                <a:solidFill>
                  <a:srgbClr val="002060"/>
                </a:solidFill>
                <a:latin typeface="Times New Roman" panose="02020603050405020304" pitchFamily="18" charset="0"/>
                <a:ea typeface="Times New Roman" panose="02020603050405020304" pitchFamily="18" charset="0"/>
              </a:rPr>
              <a:t>y-axis</a:t>
            </a:r>
            <a:r>
              <a:rPr lang="en-GB" sz="3200" dirty="0">
                <a:solidFill>
                  <a:srgbClr val="002060"/>
                </a:solidFill>
                <a:latin typeface="Times New Roman" panose="02020603050405020304" pitchFamily="18" charset="0"/>
                <a:ea typeface="Times New Roman" panose="02020603050405020304" pitchFamily="18" charset="0"/>
              </a:rPr>
              <a:t> is mirror image of region after </a:t>
            </a:r>
            <a:r>
              <a:rPr lang="en-GB" sz="3200" i="1" dirty="0">
                <a:solidFill>
                  <a:srgbClr val="002060"/>
                </a:solidFill>
                <a:latin typeface="Times New Roman" panose="02020603050405020304" pitchFamily="18" charset="0"/>
                <a:ea typeface="Times New Roman" panose="02020603050405020304" pitchFamily="18" charset="0"/>
              </a:rPr>
              <a:t>y-axis.</a:t>
            </a:r>
            <a:endParaRPr lang="en-GB" sz="3200" dirty="0"/>
          </a:p>
        </p:txBody>
      </p:sp>
      <p:grpSp>
        <p:nvGrpSpPr>
          <p:cNvPr id="5" name="Group 4">
            <a:extLst>
              <a:ext uri="{FF2B5EF4-FFF2-40B4-BE49-F238E27FC236}">
                <a16:creationId xmlns:a16="http://schemas.microsoft.com/office/drawing/2014/main" id="{007A1D0B-3029-49A7-B9B6-2B4B7051AF84}"/>
              </a:ext>
            </a:extLst>
          </p:cNvPr>
          <p:cNvGrpSpPr>
            <a:grpSpLocks noChangeAspect="1"/>
          </p:cNvGrpSpPr>
          <p:nvPr/>
        </p:nvGrpSpPr>
        <p:grpSpPr bwMode="auto">
          <a:xfrm>
            <a:off x="743812" y="1742539"/>
            <a:ext cx="10295890" cy="1874383"/>
            <a:chOff x="603" y="5930"/>
            <a:chExt cx="9360" cy="2352"/>
          </a:xfrm>
        </p:grpSpPr>
        <p:cxnSp>
          <p:nvCxnSpPr>
            <p:cNvPr id="6" name="Line 116">
              <a:extLst>
                <a:ext uri="{FF2B5EF4-FFF2-40B4-BE49-F238E27FC236}">
                  <a16:creationId xmlns:a16="http://schemas.microsoft.com/office/drawing/2014/main" id="{CE376FF0-FFF7-4306-B5BF-7F278CA9A008}"/>
                </a:ext>
              </a:extLst>
            </p:cNvPr>
            <p:cNvCxnSpPr>
              <a:cxnSpLocks noChangeShapeType="1"/>
            </p:cNvCxnSpPr>
            <p:nvPr/>
          </p:nvCxnSpPr>
          <p:spPr bwMode="auto">
            <a:xfrm flipV="1">
              <a:off x="603" y="7307"/>
              <a:ext cx="2640"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7" name="Line 117">
              <a:extLst>
                <a:ext uri="{FF2B5EF4-FFF2-40B4-BE49-F238E27FC236}">
                  <a16:creationId xmlns:a16="http://schemas.microsoft.com/office/drawing/2014/main" id="{98F6BB34-EC2C-429E-BFD0-F9784453F64B}"/>
                </a:ext>
              </a:extLst>
            </p:cNvPr>
            <p:cNvCxnSpPr>
              <a:cxnSpLocks noChangeShapeType="1"/>
            </p:cNvCxnSpPr>
            <p:nvPr/>
          </p:nvCxnSpPr>
          <p:spPr bwMode="auto">
            <a:xfrm>
              <a:off x="1923" y="6005"/>
              <a:ext cx="0" cy="1980"/>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sp>
          <p:nvSpPr>
            <p:cNvPr id="8" name="Text Box 118">
              <a:extLst>
                <a:ext uri="{FF2B5EF4-FFF2-40B4-BE49-F238E27FC236}">
                  <a16:creationId xmlns:a16="http://schemas.microsoft.com/office/drawing/2014/main" id="{5591BB97-9F69-422B-B6BF-3D63E4D7AECF}"/>
                </a:ext>
              </a:extLst>
            </p:cNvPr>
            <p:cNvSpPr txBox="1">
              <a:spLocks noChangeArrowheads="1"/>
            </p:cNvSpPr>
            <p:nvPr/>
          </p:nvSpPr>
          <p:spPr bwMode="auto">
            <a:xfrm>
              <a:off x="2013" y="5966"/>
              <a:ext cx="7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9" name="Text Box 119">
              <a:extLst>
                <a:ext uri="{FF2B5EF4-FFF2-40B4-BE49-F238E27FC236}">
                  <a16:creationId xmlns:a16="http://schemas.microsoft.com/office/drawing/2014/main" id="{656466FB-909C-4A8C-9EF9-926BCC653FF3}"/>
                </a:ext>
              </a:extLst>
            </p:cNvPr>
            <p:cNvSpPr txBox="1">
              <a:spLocks noChangeArrowheads="1"/>
            </p:cNvSpPr>
            <p:nvPr/>
          </p:nvSpPr>
          <p:spPr bwMode="auto">
            <a:xfrm>
              <a:off x="3123" y="7307"/>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10" name="Text Box 120">
              <a:extLst>
                <a:ext uri="{FF2B5EF4-FFF2-40B4-BE49-F238E27FC236}">
                  <a16:creationId xmlns:a16="http://schemas.microsoft.com/office/drawing/2014/main" id="{A02A7EDA-B1FC-4038-AB7C-7766C2804CD1}"/>
                </a:ext>
              </a:extLst>
            </p:cNvPr>
            <p:cNvSpPr txBox="1">
              <a:spLocks noChangeArrowheads="1"/>
            </p:cNvSpPr>
            <p:nvPr/>
          </p:nvSpPr>
          <p:spPr bwMode="auto">
            <a:xfrm>
              <a:off x="1980" y="7891"/>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(a)</a:t>
              </a:r>
              <a:endParaRPr lang="en-GB" sz="1200">
                <a:effectLst/>
                <a:latin typeface="Times New Roman" panose="02020603050405020304" pitchFamily="18" charset="0"/>
                <a:ea typeface="Times New Roman" panose="02020603050405020304" pitchFamily="18" charset="0"/>
              </a:endParaRPr>
            </a:p>
          </p:txBody>
        </p:sp>
        <p:grpSp>
          <p:nvGrpSpPr>
            <p:cNvPr id="11" name="Group 10">
              <a:extLst>
                <a:ext uri="{FF2B5EF4-FFF2-40B4-BE49-F238E27FC236}">
                  <a16:creationId xmlns:a16="http://schemas.microsoft.com/office/drawing/2014/main" id="{FB53D0EA-19EC-44A2-B03E-9431AF69EF7B}"/>
                </a:ext>
              </a:extLst>
            </p:cNvPr>
            <p:cNvGrpSpPr>
              <a:grpSpLocks/>
            </p:cNvGrpSpPr>
            <p:nvPr/>
          </p:nvGrpSpPr>
          <p:grpSpPr bwMode="auto">
            <a:xfrm>
              <a:off x="723" y="6650"/>
              <a:ext cx="2400" cy="1249"/>
              <a:chOff x="1418" y="11228"/>
              <a:chExt cx="2400" cy="1249"/>
            </a:xfrm>
          </p:grpSpPr>
          <p:sp>
            <p:nvSpPr>
              <p:cNvPr id="26" name="Freeform 122">
                <a:extLst>
                  <a:ext uri="{FF2B5EF4-FFF2-40B4-BE49-F238E27FC236}">
                    <a16:creationId xmlns:a16="http://schemas.microsoft.com/office/drawing/2014/main" id="{89628B94-2D00-49E1-9FE7-75FA34C6A06E}"/>
                  </a:ext>
                </a:extLst>
              </p:cNvPr>
              <p:cNvSpPr>
                <a:spLocks noChangeAspect="1"/>
              </p:cNvSpPr>
              <p:nvPr/>
            </p:nvSpPr>
            <p:spPr bwMode="auto">
              <a:xfrm>
                <a:off x="1418" y="11234"/>
                <a:ext cx="1207" cy="1243"/>
              </a:xfrm>
              <a:custGeom>
                <a:avLst/>
                <a:gdLst>
                  <a:gd name="T0" fmla="*/ 0 w 1207"/>
                  <a:gd name="T1" fmla="*/ 349 h 1243"/>
                  <a:gd name="T2" fmla="*/ 115 w 1207"/>
                  <a:gd name="T3" fmla="*/ 73 h 1243"/>
                  <a:gd name="T4" fmla="*/ 234 w 1207"/>
                  <a:gd name="T5" fmla="*/ 94 h 1243"/>
                  <a:gd name="T6" fmla="*/ 414 w 1207"/>
                  <a:gd name="T7" fmla="*/ 638 h 1243"/>
                  <a:gd name="T8" fmla="*/ 572 w 1207"/>
                  <a:gd name="T9" fmla="*/ 1155 h 1243"/>
                  <a:gd name="T10" fmla="*/ 737 w 1207"/>
                  <a:gd name="T11" fmla="*/ 1169 h 1243"/>
                  <a:gd name="T12" fmla="*/ 877 w 1207"/>
                  <a:gd name="T13" fmla="*/ 796 h 1243"/>
                  <a:gd name="T14" fmla="*/ 1012 w 1207"/>
                  <a:gd name="T15" fmla="*/ 376 h 1243"/>
                  <a:gd name="T16" fmla="*/ 1132 w 1207"/>
                  <a:gd name="T17" fmla="*/ 136 h 1243"/>
                  <a:gd name="T18" fmla="*/ 1207 w 1207"/>
                  <a:gd name="T19" fmla="*/ 76 h 1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7" h="1243">
                    <a:moveTo>
                      <a:pt x="0" y="349"/>
                    </a:moveTo>
                    <a:cubicBezTo>
                      <a:pt x="19" y="303"/>
                      <a:pt x="76" y="116"/>
                      <a:pt x="115" y="73"/>
                    </a:cubicBezTo>
                    <a:cubicBezTo>
                      <a:pt x="154" y="30"/>
                      <a:pt x="184" y="0"/>
                      <a:pt x="234" y="94"/>
                    </a:cubicBezTo>
                    <a:cubicBezTo>
                      <a:pt x="284" y="188"/>
                      <a:pt x="358" y="461"/>
                      <a:pt x="414" y="638"/>
                    </a:cubicBezTo>
                    <a:cubicBezTo>
                      <a:pt x="471" y="815"/>
                      <a:pt x="518" y="1067"/>
                      <a:pt x="572" y="1155"/>
                    </a:cubicBezTo>
                    <a:cubicBezTo>
                      <a:pt x="625" y="1243"/>
                      <a:pt x="686" y="1229"/>
                      <a:pt x="737" y="1169"/>
                    </a:cubicBezTo>
                    <a:cubicBezTo>
                      <a:pt x="788" y="1109"/>
                      <a:pt x="831" y="928"/>
                      <a:pt x="877" y="796"/>
                    </a:cubicBezTo>
                    <a:cubicBezTo>
                      <a:pt x="923" y="664"/>
                      <a:pt x="970" y="486"/>
                      <a:pt x="1012" y="376"/>
                    </a:cubicBezTo>
                    <a:cubicBezTo>
                      <a:pt x="1054" y="266"/>
                      <a:pt x="1100" y="186"/>
                      <a:pt x="1132" y="136"/>
                    </a:cubicBezTo>
                    <a:cubicBezTo>
                      <a:pt x="1164" y="86"/>
                      <a:pt x="1192" y="88"/>
                      <a:pt x="1207" y="76"/>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27" name="Freeform 123">
                <a:extLst>
                  <a:ext uri="{FF2B5EF4-FFF2-40B4-BE49-F238E27FC236}">
                    <a16:creationId xmlns:a16="http://schemas.microsoft.com/office/drawing/2014/main" id="{C1C2C06D-1EEE-479C-9AB6-491BFE0CA04A}"/>
                  </a:ext>
                </a:extLst>
              </p:cNvPr>
              <p:cNvSpPr>
                <a:spLocks noChangeAspect="1"/>
              </p:cNvSpPr>
              <p:nvPr/>
            </p:nvSpPr>
            <p:spPr bwMode="auto">
              <a:xfrm flipH="1">
                <a:off x="2611" y="11228"/>
                <a:ext cx="1207" cy="1243"/>
              </a:xfrm>
              <a:custGeom>
                <a:avLst/>
                <a:gdLst>
                  <a:gd name="T0" fmla="*/ 0 w 1207"/>
                  <a:gd name="T1" fmla="*/ 349 h 1243"/>
                  <a:gd name="T2" fmla="*/ 115 w 1207"/>
                  <a:gd name="T3" fmla="*/ 73 h 1243"/>
                  <a:gd name="T4" fmla="*/ 234 w 1207"/>
                  <a:gd name="T5" fmla="*/ 94 h 1243"/>
                  <a:gd name="T6" fmla="*/ 414 w 1207"/>
                  <a:gd name="T7" fmla="*/ 638 h 1243"/>
                  <a:gd name="T8" fmla="*/ 572 w 1207"/>
                  <a:gd name="T9" fmla="*/ 1155 h 1243"/>
                  <a:gd name="T10" fmla="*/ 737 w 1207"/>
                  <a:gd name="T11" fmla="*/ 1169 h 1243"/>
                  <a:gd name="T12" fmla="*/ 877 w 1207"/>
                  <a:gd name="T13" fmla="*/ 796 h 1243"/>
                  <a:gd name="T14" fmla="*/ 1012 w 1207"/>
                  <a:gd name="T15" fmla="*/ 376 h 1243"/>
                  <a:gd name="T16" fmla="*/ 1132 w 1207"/>
                  <a:gd name="T17" fmla="*/ 136 h 1243"/>
                  <a:gd name="T18" fmla="*/ 1207 w 1207"/>
                  <a:gd name="T19" fmla="*/ 76 h 1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7" h="1243">
                    <a:moveTo>
                      <a:pt x="0" y="349"/>
                    </a:moveTo>
                    <a:cubicBezTo>
                      <a:pt x="19" y="303"/>
                      <a:pt x="76" y="116"/>
                      <a:pt x="115" y="73"/>
                    </a:cubicBezTo>
                    <a:cubicBezTo>
                      <a:pt x="154" y="30"/>
                      <a:pt x="184" y="0"/>
                      <a:pt x="234" y="94"/>
                    </a:cubicBezTo>
                    <a:cubicBezTo>
                      <a:pt x="284" y="188"/>
                      <a:pt x="358" y="461"/>
                      <a:pt x="414" y="638"/>
                    </a:cubicBezTo>
                    <a:cubicBezTo>
                      <a:pt x="471" y="815"/>
                      <a:pt x="518" y="1067"/>
                      <a:pt x="572" y="1155"/>
                    </a:cubicBezTo>
                    <a:cubicBezTo>
                      <a:pt x="625" y="1243"/>
                      <a:pt x="686" y="1229"/>
                      <a:pt x="737" y="1169"/>
                    </a:cubicBezTo>
                    <a:cubicBezTo>
                      <a:pt x="788" y="1109"/>
                      <a:pt x="831" y="928"/>
                      <a:pt x="877" y="796"/>
                    </a:cubicBezTo>
                    <a:cubicBezTo>
                      <a:pt x="923" y="664"/>
                      <a:pt x="970" y="486"/>
                      <a:pt x="1012" y="376"/>
                    </a:cubicBezTo>
                    <a:cubicBezTo>
                      <a:pt x="1054" y="266"/>
                      <a:pt x="1100" y="186"/>
                      <a:pt x="1132" y="136"/>
                    </a:cubicBezTo>
                    <a:cubicBezTo>
                      <a:pt x="1164" y="86"/>
                      <a:pt x="1192" y="88"/>
                      <a:pt x="1207" y="76"/>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cxnSp>
          <p:nvCxnSpPr>
            <p:cNvPr id="12" name="Line 124">
              <a:extLst>
                <a:ext uri="{FF2B5EF4-FFF2-40B4-BE49-F238E27FC236}">
                  <a16:creationId xmlns:a16="http://schemas.microsoft.com/office/drawing/2014/main" id="{D31FBFE7-4C2F-4BF2-A755-66EE646DE03E}"/>
                </a:ext>
              </a:extLst>
            </p:cNvPr>
            <p:cNvCxnSpPr>
              <a:cxnSpLocks noChangeShapeType="1"/>
            </p:cNvCxnSpPr>
            <p:nvPr/>
          </p:nvCxnSpPr>
          <p:spPr bwMode="auto">
            <a:xfrm flipV="1">
              <a:off x="3603" y="7286"/>
              <a:ext cx="2880"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13" name="Line 125">
              <a:extLst>
                <a:ext uri="{FF2B5EF4-FFF2-40B4-BE49-F238E27FC236}">
                  <a16:creationId xmlns:a16="http://schemas.microsoft.com/office/drawing/2014/main" id="{61410F44-19BF-4A73-B982-67C6C20AC2F8}"/>
                </a:ext>
              </a:extLst>
            </p:cNvPr>
            <p:cNvCxnSpPr>
              <a:cxnSpLocks noChangeShapeType="1"/>
            </p:cNvCxnSpPr>
            <p:nvPr/>
          </p:nvCxnSpPr>
          <p:spPr bwMode="auto">
            <a:xfrm>
              <a:off x="5013" y="6038"/>
              <a:ext cx="0" cy="1980"/>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sp>
          <p:nvSpPr>
            <p:cNvPr id="14" name="Text Box 126">
              <a:extLst>
                <a:ext uri="{FF2B5EF4-FFF2-40B4-BE49-F238E27FC236}">
                  <a16:creationId xmlns:a16="http://schemas.microsoft.com/office/drawing/2014/main" id="{F5CE7812-C7D6-4C4A-A192-858E076C93C7}"/>
                </a:ext>
              </a:extLst>
            </p:cNvPr>
            <p:cNvSpPr txBox="1">
              <a:spLocks noChangeArrowheads="1"/>
            </p:cNvSpPr>
            <p:nvPr/>
          </p:nvSpPr>
          <p:spPr bwMode="auto">
            <a:xfrm>
              <a:off x="5013" y="5963"/>
              <a:ext cx="7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15" name="Text Box 127">
              <a:extLst>
                <a:ext uri="{FF2B5EF4-FFF2-40B4-BE49-F238E27FC236}">
                  <a16:creationId xmlns:a16="http://schemas.microsoft.com/office/drawing/2014/main" id="{C48620F8-4C94-4850-B33A-C1A7C99E5F8F}"/>
                </a:ext>
              </a:extLst>
            </p:cNvPr>
            <p:cNvSpPr txBox="1">
              <a:spLocks noChangeArrowheads="1"/>
            </p:cNvSpPr>
            <p:nvPr/>
          </p:nvSpPr>
          <p:spPr bwMode="auto">
            <a:xfrm>
              <a:off x="6363" y="7286"/>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16" name="Text Box 128">
              <a:extLst>
                <a:ext uri="{FF2B5EF4-FFF2-40B4-BE49-F238E27FC236}">
                  <a16:creationId xmlns:a16="http://schemas.microsoft.com/office/drawing/2014/main" id="{6530FC83-218B-4EBD-A203-8E36F3E919AF}"/>
                </a:ext>
              </a:extLst>
            </p:cNvPr>
            <p:cNvSpPr txBox="1">
              <a:spLocks noChangeArrowheads="1"/>
            </p:cNvSpPr>
            <p:nvPr/>
          </p:nvSpPr>
          <p:spPr bwMode="auto">
            <a:xfrm>
              <a:off x="5043" y="7922"/>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(b)</a:t>
              </a:r>
              <a:endParaRPr lang="en-GB" sz="1200">
                <a:effectLst/>
                <a:latin typeface="Times New Roman" panose="02020603050405020304" pitchFamily="18" charset="0"/>
                <a:ea typeface="Times New Roman" panose="02020603050405020304" pitchFamily="18" charset="0"/>
              </a:endParaRPr>
            </a:p>
          </p:txBody>
        </p:sp>
        <p:cxnSp>
          <p:nvCxnSpPr>
            <p:cNvPr id="17" name="Line 129">
              <a:extLst>
                <a:ext uri="{FF2B5EF4-FFF2-40B4-BE49-F238E27FC236}">
                  <a16:creationId xmlns:a16="http://schemas.microsoft.com/office/drawing/2014/main" id="{C3D4B8C5-92FD-4719-893F-274C0A3BD130}"/>
                </a:ext>
              </a:extLst>
            </p:cNvPr>
            <p:cNvCxnSpPr>
              <a:cxnSpLocks noChangeShapeType="1"/>
            </p:cNvCxnSpPr>
            <p:nvPr/>
          </p:nvCxnSpPr>
          <p:spPr bwMode="auto">
            <a:xfrm flipV="1">
              <a:off x="6843" y="7295"/>
              <a:ext cx="2880"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18" name="Line 130">
              <a:extLst>
                <a:ext uri="{FF2B5EF4-FFF2-40B4-BE49-F238E27FC236}">
                  <a16:creationId xmlns:a16="http://schemas.microsoft.com/office/drawing/2014/main" id="{C04A9698-7497-4445-8BD5-4016252AA2BC}"/>
                </a:ext>
              </a:extLst>
            </p:cNvPr>
            <p:cNvCxnSpPr>
              <a:cxnSpLocks noChangeShapeType="1"/>
            </p:cNvCxnSpPr>
            <p:nvPr/>
          </p:nvCxnSpPr>
          <p:spPr bwMode="auto">
            <a:xfrm>
              <a:off x="8253" y="6110"/>
              <a:ext cx="0" cy="1980"/>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sp>
          <p:nvSpPr>
            <p:cNvPr id="19" name="Text Box 131">
              <a:extLst>
                <a:ext uri="{FF2B5EF4-FFF2-40B4-BE49-F238E27FC236}">
                  <a16:creationId xmlns:a16="http://schemas.microsoft.com/office/drawing/2014/main" id="{C4A0FC54-B6FA-4681-97DA-1F0C630CE88C}"/>
                </a:ext>
              </a:extLst>
            </p:cNvPr>
            <p:cNvSpPr txBox="1">
              <a:spLocks noChangeArrowheads="1"/>
            </p:cNvSpPr>
            <p:nvPr/>
          </p:nvSpPr>
          <p:spPr bwMode="auto">
            <a:xfrm>
              <a:off x="8253" y="5930"/>
              <a:ext cx="7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20" name="Text Box 132">
              <a:extLst>
                <a:ext uri="{FF2B5EF4-FFF2-40B4-BE49-F238E27FC236}">
                  <a16:creationId xmlns:a16="http://schemas.microsoft.com/office/drawing/2014/main" id="{CAC2A3AC-A78C-45FA-824C-A4C59A61CC63}"/>
                </a:ext>
              </a:extLst>
            </p:cNvPr>
            <p:cNvSpPr txBox="1">
              <a:spLocks noChangeArrowheads="1"/>
            </p:cNvSpPr>
            <p:nvPr/>
          </p:nvSpPr>
          <p:spPr bwMode="auto">
            <a:xfrm>
              <a:off x="9603" y="732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21" name="Text Box 133">
              <a:extLst>
                <a:ext uri="{FF2B5EF4-FFF2-40B4-BE49-F238E27FC236}">
                  <a16:creationId xmlns:a16="http://schemas.microsoft.com/office/drawing/2014/main" id="{3D4976C8-C26D-46AA-ADA7-E5DCFFE79EEA}"/>
                </a:ext>
              </a:extLst>
            </p:cNvPr>
            <p:cNvSpPr txBox="1">
              <a:spLocks noChangeArrowheads="1"/>
            </p:cNvSpPr>
            <p:nvPr/>
          </p:nvSpPr>
          <p:spPr bwMode="auto">
            <a:xfrm>
              <a:off x="8283" y="7910"/>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(c)</a:t>
              </a:r>
              <a:endParaRPr lang="en-GB" sz="1200">
                <a:effectLst/>
                <a:latin typeface="Times New Roman" panose="02020603050405020304" pitchFamily="18" charset="0"/>
                <a:ea typeface="Times New Roman" panose="02020603050405020304" pitchFamily="18" charset="0"/>
              </a:endParaRPr>
            </a:p>
          </p:txBody>
        </p:sp>
        <p:cxnSp>
          <p:nvCxnSpPr>
            <p:cNvPr id="22" name="Line 134">
              <a:extLst>
                <a:ext uri="{FF2B5EF4-FFF2-40B4-BE49-F238E27FC236}">
                  <a16:creationId xmlns:a16="http://schemas.microsoft.com/office/drawing/2014/main" id="{694C0EA7-C128-4109-9B90-A5780A009CDD}"/>
                </a:ext>
              </a:extLst>
            </p:cNvPr>
            <p:cNvCxnSpPr>
              <a:cxnSpLocks noChangeShapeType="1"/>
            </p:cNvCxnSpPr>
            <p:nvPr/>
          </p:nvCxnSpPr>
          <p:spPr bwMode="auto">
            <a:xfrm>
              <a:off x="3723" y="6560"/>
              <a:ext cx="264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grpSp>
          <p:nvGrpSpPr>
            <p:cNvPr id="23" name="Group 22">
              <a:extLst>
                <a:ext uri="{FF2B5EF4-FFF2-40B4-BE49-F238E27FC236}">
                  <a16:creationId xmlns:a16="http://schemas.microsoft.com/office/drawing/2014/main" id="{444CFE98-5062-4BBB-8548-617CC689B0A0}"/>
                </a:ext>
              </a:extLst>
            </p:cNvPr>
            <p:cNvGrpSpPr>
              <a:grpSpLocks/>
            </p:cNvGrpSpPr>
            <p:nvPr/>
          </p:nvGrpSpPr>
          <p:grpSpPr bwMode="auto">
            <a:xfrm>
              <a:off x="6990" y="6540"/>
              <a:ext cx="2519" cy="1459"/>
              <a:chOff x="7568" y="11118"/>
              <a:chExt cx="3427" cy="1459"/>
            </a:xfrm>
          </p:grpSpPr>
          <p:sp>
            <p:nvSpPr>
              <p:cNvPr id="24" name="Freeform 136">
                <a:extLst>
                  <a:ext uri="{FF2B5EF4-FFF2-40B4-BE49-F238E27FC236}">
                    <a16:creationId xmlns:a16="http://schemas.microsoft.com/office/drawing/2014/main" id="{A9E00E11-66AF-48F4-A315-FBDA92CB7FFB}"/>
                  </a:ext>
                </a:extLst>
              </p:cNvPr>
              <p:cNvSpPr>
                <a:spLocks/>
              </p:cNvSpPr>
              <p:nvPr/>
            </p:nvSpPr>
            <p:spPr bwMode="auto">
              <a:xfrm>
                <a:off x="9300" y="11118"/>
                <a:ext cx="1695" cy="143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25" name="Freeform 137">
                <a:extLst>
                  <a:ext uri="{FF2B5EF4-FFF2-40B4-BE49-F238E27FC236}">
                    <a16:creationId xmlns:a16="http://schemas.microsoft.com/office/drawing/2014/main" id="{B8369C5E-FEC3-4B1D-A39C-FFF1031A1447}"/>
                  </a:ext>
                </a:extLst>
              </p:cNvPr>
              <p:cNvSpPr>
                <a:spLocks/>
              </p:cNvSpPr>
              <p:nvPr/>
            </p:nvSpPr>
            <p:spPr bwMode="auto">
              <a:xfrm flipH="1">
                <a:off x="7568" y="11138"/>
                <a:ext cx="1695" cy="143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grpSp>
        <p:nvGrpSpPr>
          <p:cNvPr id="28" name="Group 27">
            <a:extLst>
              <a:ext uri="{FF2B5EF4-FFF2-40B4-BE49-F238E27FC236}">
                <a16:creationId xmlns:a16="http://schemas.microsoft.com/office/drawing/2014/main" id="{CAB6DA8D-EF76-4B7C-9205-0DB25F59F6D2}"/>
              </a:ext>
            </a:extLst>
          </p:cNvPr>
          <p:cNvGrpSpPr>
            <a:grpSpLocks noChangeAspect="1"/>
          </p:cNvGrpSpPr>
          <p:nvPr/>
        </p:nvGrpSpPr>
        <p:grpSpPr bwMode="auto">
          <a:xfrm>
            <a:off x="254579" y="3722117"/>
            <a:ext cx="9875518" cy="2432516"/>
            <a:chOff x="258" y="317"/>
            <a:chExt cx="9390" cy="2340"/>
          </a:xfrm>
        </p:grpSpPr>
        <p:cxnSp>
          <p:nvCxnSpPr>
            <p:cNvPr id="29" name="Line 138">
              <a:extLst>
                <a:ext uri="{FF2B5EF4-FFF2-40B4-BE49-F238E27FC236}">
                  <a16:creationId xmlns:a16="http://schemas.microsoft.com/office/drawing/2014/main" id="{27C585C6-7BFC-4204-A94C-0CDC7B84BE98}"/>
                </a:ext>
              </a:extLst>
            </p:cNvPr>
            <p:cNvCxnSpPr>
              <a:cxnSpLocks noChangeShapeType="1"/>
            </p:cNvCxnSpPr>
            <p:nvPr/>
          </p:nvCxnSpPr>
          <p:spPr bwMode="auto">
            <a:xfrm flipV="1">
              <a:off x="288" y="1757"/>
              <a:ext cx="2640"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30" name="Line 139">
              <a:extLst>
                <a:ext uri="{FF2B5EF4-FFF2-40B4-BE49-F238E27FC236}">
                  <a16:creationId xmlns:a16="http://schemas.microsoft.com/office/drawing/2014/main" id="{D4E2C22D-A911-48BE-9013-0C300D10FE73}"/>
                </a:ext>
              </a:extLst>
            </p:cNvPr>
            <p:cNvCxnSpPr>
              <a:cxnSpLocks noChangeShapeType="1"/>
            </p:cNvCxnSpPr>
            <p:nvPr/>
          </p:nvCxnSpPr>
          <p:spPr bwMode="auto">
            <a:xfrm>
              <a:off x="1608" y="497"/>
              <a:ext cx="0" cy="1980"/>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sp>
          <p:nvSpPr>
            <p:cNvPr id="31" name="Text Box 140">
              <a:extLst>
                <a:ext uri="{FF2B5EF4-FFF2-40B4-BE49-F238E27FC236}">
                  <a16:creationId xmlns:a16="http://schemas.microsoft.com/office/drawing/2014/main" id="{F45B6CE3-DC5C-465A-944D-8905CD10290F}"/>
                </a:ext>
              </a:extLst>
            </p:cNvPr>
            <p:cNvSpPr txBox="1">
              <a:spLocks noChangeArrowheads="1"/>
            </p:cNvSpPr>
            <p:nvPr/>
          </p:nvSpPr>
          <p:spPr bwMode="auto">
            <a:xfrm>
              <a:off x="1698" y="317"/>
              <a:ext cx="7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32" name="Text Box 141">
              <a:extLst>
                <a:ext uri="{FF2B5EF4-FFF2-40B4-BE49-F238E27FC236}">
                  <a16:creationId xmlns:a16="http://schemas.microsoft.com/office/drawing/2014/main" id="{07D9B0F3-84CF-4B4D-BEC1-82BCF4F57AD3}"/>
                </a:ext>
              </a:extLst>
            </p:cNvPr>
            <p:cNvSpPr txBox="1">
              <a:spLocks noChangeArrowheads="1"/>
            </p:cNvSpPr>
            <p:nvPr/>
          </p:nvSpPr>
          <p:spPr bwMode="auto">
            <a:xfrm>
              <a:off x="2808" y="1757"/>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33" name="Text Box 142">
              <a:extLst>
                <a:ext uri="{FF2B5EF4-FFF2-40B4-BE49-F238E27FC236}">
                  <a16:creationId xmlns:a16="http://schemas.microsoft.com/office/drawing/2014/main" id="{122DDFFB-79CF-48FF-B500-D9BDBD3A1741}"/>
                </a:ext>
              </a:extLst>
            </p:cNvPr>
            <p:cNvSpPr txBox="1">
              <a:spLocks noChangeArrowheads="1"/>
            </p:cNvSpPr>
            <p:nvPr/>
          </p:nvSpPr>
          <p:spPr bwMode="auto">
            <a:xfrm>
              <a:off x="1728" y="2297"/>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(d)</a:t>
              </a:r>
              <a:endParaRPr lang="en-GB" sz="1200">
                <a:effectLst/>
                <a:latin typeface="Times New Roman" panose="02020603050405020304" pitchFamily="18" charset="0"/>
                <a:ea typeface="Times New Roman" panose="02020603050405020304" pitchFamily="18" charset="0"/>
              </a:endParaRPr>
            </a:p>
          </p:txBody>
        </p:sp>
        <p:cxnSp>
          <p:nvCxnSpPr>
            <p:cNvPr id="35" name="Line 143">
              <a:extLst>
                <a:ext uri="{FF2B5EF4-FFF2-40B4-BE49-F238E27FC236}">
                  <a16:creationId xmlns:a16="http://schemas.microsoft.com/office/drawing/2014/main" id="{D26B36A7-502B-4DD4-991E-141A701F5F60}"/>
                </a:ext>
              </a:extLst>
            </p:cNvPr>
            <p:cNvCxnSpPr>
              <a:cxnSpLocks noChangeShapeType="1"/>
            </p:cNvCxnSpPr>
            <p:nvPr/>
          </p:nvCxnSpPr>
          <p:spPr bwMode="auto">
            <a:xfrm flipV="1">
              <a:off x="3288" y="1577"/>
              <a:ext cx="2880"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36" name="Line 144">
              <a:extLst>
                <a:ext uri="{FF2B5EF4-FFF2-40B4-BE49-F238E27FC236}">
                  <a16:creationId xmlns:a16="http://schemas.microsoft.com/office/drawing/2014/main" id="{84467C2F-A5B7-489E-B2B0-AD119A1A1269}"/>
                </a:ext>
              </a:extLst>
            </p:cNvPr>
            <p:cNvCxnSpPr>
              <a:cxnSpLocks noChangeShapeType="1"/>
            </p:cNvCxnSpPr>
            <p:nvPr/>
          </p:nvCxnSpPr>
          <p:spPr bwMode="auto">
            <a:xfrm>
              <a:off x="4503" y="497"/>
              <a:ext cx="0" cy="1980"/>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sp>
          <p:nvSpPr>
            <p:cNvPr id="37" name="Text Box 145">
              <a:extLst>
                <a:ext uri="{FF2B5EF4-FFF2-40B4-BE49-F238E27FC236}">
                  <a16:creationId xmlns:a16="http://schemas.microsoft.com/office/drawing/2014/main" id="{3E50CC0B-56FB-4122-A8BD-69BB2D5A92A1}"/>
                </a:ext>
              </a:extLst>
            </p:cNvPr>
            <p:cNvSpPr txBox="1">
              <a:spLocks noChangeArrowheads="1"/>
            </p:cNvSpPr>
            <p:nvPr/>
          </p:nvSpPr>
          <p:spPr bwMode="auto">
            <a:xfrm>
              <a:off x="4698" y="317"/>
              <a:ext cx="7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38" name="Text Box 146">
              <a:extLst>
                <a:ext uri="{FF2B5EF4-FFF2-40B4-BE49-F238E27FC236}">
                  <a16:creationId xmlns:a16="http://schemas.microsoft.com/office/drawing/2014/main" id="{87F6371B-0E53-4122-91E5-4941816C6FD0}"/>
                </a:ext>
              </a:extLst>
            </p:cNvPr>
            <p:cNvSpPr txBox="1">
              <a:spLocks noChangeArrowheads="1"/>
            </p:cNvSpPr>
            <p:nvPr/>
          </p:nvSpPr>
          <p:spPr bwMode="auto">
            <a:xfrm>
              <a:off x="6048" y="1577"/>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39" name="Text Box 147">
              <a:extLst>
                <a:ext uri="{FF2B5EF4-FFF2-40B4-BE49-F238E27FC236}">
                  <a16:creationId xmlns:a16="http://schemas.microsoft.com/office/drawing/2014/main" id="{D6A85A30-35CF-4049-9917-B2D92A91C212}"/>
                </a:ext>
              </a:extLst>
            </p:cNvPr>
            <p:cNvSpPr txBox="1">
              <a:spLocks noChangeArrowheads="1"/>
            </p:cNvSpPr>
            <p:nvPr/>
          </p:nvSpPr>
          <p:spPr bwMode="auto">
            <a:xfrm>
              <a:off x="4728" y="2297"/>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(e)</a:t>
              </a:r>
              <a:endParaRPr lang="en-GB" sz="1200">
                <a:effectLst/>
                <a:latin typeface="Times New Roman" panose="02020603050405020304" pitchFamily="18" charset="0"/>
                <a:ea typeface="Times New Roman" panose="02020603050405020304" pitchFamily="18" charset="0"/>
              </a:endParaRPr>
            </a:p>
          </p:txBody>
        </p:sp>
        <p:cxnSp>
          <p:nvCxnSpPr>
            <p:cNvPr id="40" name="Line 148">
              <a:extLst>
                <a:ext uri="{FF2B5EF4-FFF2-40B4-BE49-F238E27FC236}">
                  <a16:creationId xmlns:a16="http://schemas.microsoft.com/office/drawing/2014/main" id="{28B45554-98FE-46AF-ADB1-913668E072B7}"/>
                </a:ext>
              </a:extLst>
            </p:cNvPr>
            <p:cNvCxnSpPr>
              <a:cxnSpLocks noChangeShapeType="1"/>
            </p:cNvCxnSpPr>
            <p:nvPr/>
          </p:nvCxnSpPr>
          <p:spPr bwMode="auto">
            <a:xfrm flipV="1">
              <a:off x="6528" y="1577"/>
              <a:ext cx="2880"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41" name="Line 149">
              <a:extLst>
                <a:ext uri="{FF2B5EF4-FFF2-40B4-BE49-F238E27FC236}">
                  <a16:creationId xmlns:a16="http://schemas.microsoft.com/office/drawing/2014/main" id="{88F8EA58-1A24-4867-8328-F0BFB7F240ED}"/>
                </a:ext>
              </a:extLst>
            </p:cNvPr>
            <p:cNvCxnSpPr>
              <a:cxnSpLocks noChangeShapeType="1"/>
            </p:cNvCxnSpPr>
            <p:nvPr/>
          </p:nvCxnSpPr>
          <p:spPr bwMode="auto">
            <a:xfrm>
              <a:off x="8028" y="497"/>
              <a:ext cx="0" cy="1980"/>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sp>
          <p:nvSpPr>
            <p:cNvPr id="42" name="Text Box 150">
              <a:extLst>
                <a:ext uri="{FF2B5EF4-FFF2-40B4-BE49-F238E27FC236}">
                  <a16:creationId xmlns:a16="http://schemas.microsoft.com/office/drawing/2014/main" id="{44FDD136-A898-4C29-BAFB-9A1644A4AE8A}"/>
                </a:ext>
              </a:extLst>
            </p:cNvPr>
            <p:cNvSpPr txBox="1">
              <a:spLocks noChangeArrowheads="1"/>
            </p:cNvSpPr>
            <p:nvPr/>
          </p:nvSpPr>
          <p:spPr bwMode="auto">
            <a:xfrm>
              <a:off x="9288" y="1577"/>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43" name="Text Box 151">
              <a:extLst>
                <a:ext uri="{FF2B5EF4-FFF2-40B4-BE49-F238E27FC236}">
                  <a16:creationId xmlns:a16="http://schemas.microsoft.com/office/drawing/2014/main" id="{D0CA9B13-C4CE-4E7F-850A-5FFA953BA91A}"/>
                </a:ext>
              </a:extLst>
            </p:cNvPr>
            <p:cNvSpPr txBox="1">
              <a:spLocks noChangeArrowheads="1"/>
            </p:cNvSpPr>
            <p:nvPr/>
          </p:nvSpPr>
          <p:spPr bwMode="auto">
            <a:xfrm>
              <a:off x="8088" y="2297"/>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(f)</a:t>
              </a:r>
              <a:endParaRPr lang="en-GB" sz="1200">
                <a:effectLst/>
                <a:latin typeface="Times New Roman" panose="02020603050405020304" pitchFamily="18" charset="0"/>
                <a:ea typeface="Times New Roman" panose="02020603050405020304" pitchFamily="18" charset="0"/>
              </a:endParaRPr>
            </a:p>
          </p:txBody>
        </p:sp>
        <p:sp>
          <p:nvSpPr>
            <p:cNvPr id="44" name="Text Box 152">
              <a:extLst>
                <a:ext uri="{FF2B5EF4-FFF2-40B4-BE49-F238E27FC236}">
                  <a16:creationId xmlns:a16="http://schemas.microsoft.com/office/drawing/2014/main" id="{F8881791-2BE2-4183-883C-C13109185CE6}"/>
                </a:ext>
              </a:extLst>
            </p:cNvPr>
            <p:cNvSpPr txBox="1">
              <a:spLocks noChangeArrowheads="1"/>
            </p:cNvSpPr>
            <p:nvPr/>
          </p:nvSpPr>
          <p:spPr bwMode="auto">
            <a:xfrm>
              <a:off x="8058" y="317"/>
              <a:ext cx="7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grpSp>
          <p:nvGrpSpPr>
            <p:cNvPr id="45" name="Group 44">
              <a:extLst>
                <a:ext uri="{FF2B5EF4-FFF2-40B4-BE49-F238E27FC236}">
                  <a16:creationId xmlns:a16="http://schemas.microsoft.com/office/drawing/2014/main" id="{DD271E93-50A2-4704-818A-F163851F8AE2}"/>
                </a:ext>
              </a:extLst>
            </p:cNvPr>
            <p:cNvGrpSpPr>
              <a:grpSpLocks/>
            </p:cNvGrpSpPr>
            <p:nvPr/>
          </p:nvGrpSpPr>
          <p:grpSpPr bwMode="auto">
            <a:xfrm>
              <a:off x="3363" y="1037"/>
              <a:ext cx="2610" cy="1080"/>
              <a:chOff x="4493" y="13838"/>
              <a:chExt cx="2610" cy="1080"/>
            </a:xfrm>
          </p:grpSpPr>
          <p:cxnSp>
            <p:nvCxnSpPr>
              <p:cNvPr id="55" name="Line 154">
                <a:extLst>
                  <a:ext uri="{FF2B5EF4-FFF2-40B4-BE49-F238E27FC236}">
                    <a16:creationId xmlns:a16="http://schemas.microsoft.com/office/drawing/2014/main" id="{4B0E73D8-B2FB-48F0-B882-F181B033AFC7}"/>
                  </a:ext>
                </a:extLst>
              </p:cNvPr>
              <p:cNvCxnSpPr>
                <a:cxnSpLocks noChangeShapeType="1"/>
              </p:cNvCxnSpPr>
              <p:nvPr/>
            </p:nvCxnSpPr>
            <p:spPr bwMode="auto">
              <a:xfrm>
                <a:off x="5069" y="13838"/>
                <a:ext cx="29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56" name="Line 155">
                <a:extLst>
                  <a:ext uri="{FF2B5EF4-FFF2-40B4-BE49-F238E27FC236}">
                    <a16:creationId xmlns:a16="http://schemas.microsoft.com/office/drawing/2014/main" id="{094A3FE9-A0A0-4F88-9716-73451C84CE5E}"/>
                  </a:ext>
                </a:extLst>
              </p:cNvPr>
              <p:cNvCxnSpPr>
                <a:cxnSpLocks noChangeShapeType="1"/>
              </p:cNvCxnSpPr>
              <p:nvPr/>
            </p:nvCxnSpPr>
            <p:spPr bwMode="auto">
              <a:xfrm>
                <a:off x="5359" y="1383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57" name="Line 156">
                <a:extLst>
                  <a:ext uri="{FF2B5EF4-FFF2-40B4-BE49-F238E27FC236}">
                    <a16:creationId xmlns:a16="http://schemas.microsoft.com/office/drawing/2014/main" id="{4310D7BB-E28A-4743-A38C-3BB3DA9F42A9}"/>
                  </a:ext>
                </a:extLst>
              </p:cNvPr>
              <p:cNvCxnSpPr>
                <a:cxnSpLocks noChangeShapeType="1"/>
              </p:cNvCxnSpPr>
              <p:nvPr/>
            </p:nvCxnSpPr>
            <p:spPr bwMode="auto">
              <a:xfrm>
                <a:off x="5359" y="14918"/>
                <a:ext cx="582"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58" name="Line 157">
                <a:extLst>
                  <a:ext uri="{FF2B5EF4-FFF2-40B4-BE49-F238E27FC236}">
                    <a16:creationId xmlns:a16="http://schemas.microsoft.com/office/drawing/2014/main" id="{36EE8CBA-1A1E-42E1-82A0-57821DBDAEFC}"/>
                  </a:ext>
                </a:extLst>
              </p:cNvPr>
              <p:cNvCxnSpPr>
                <a:cxnSpLocks noChangeShapeType="1"/>
              </p:cNvCxnSpPr>
              <p:nvPr/>
            </p:nvCxnSpPr>
            <p:spPr bwMode="auto">
              <a:xfrm>
                <a:off x="5941" y="13838"/>
                <a:ext cx="29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59" name="Line 158">
                <a:extLst>
                  <a:ext uri="{FF2B5EF4-FFF2-40B4-BE49-F238E27FC236}">
                    <a16:creationId xmlns:a16="http://schemas.microsoft.com/office/drawing/2014/main" id="{8A6DFC21-4723-4541-8E80-EF2E8AD1E85A}"/>
                  </a:ext>
                </a:extLst>
              </p:cNvPr>
              <p:cNvCxnSpPr>
                <a:cxnSpLocks noChangeShapeType="1"/>
              </p:cNvCxnSpPr>
              <p:nvPr/>
            </p:nvCxnSpPr>
            <p:spPr bwMode="auto">
              <a:xfrm>
                <a:off x="6231" y="1383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60" name="Line 159">
                <a:extLst>
                  <a:ext uri="{FF2B5EF4-FFF2-40B4-BE49-F238E27FC236}">
                    <a16:creationId xmlns:a16="http://schemas.microsoft.com/office/drawing/2014/main" id="{4821FC46-FB40-4EB2-B2B9-A8E610E6FECD}"/>
                  </a:ext>
                </a:extLst>
              </p:cNvPr>
              <p:cNvCxnSpPr>
                <a:cxnSpLocks noChangeShapeType="1"/>
              </p:cNvCxnSpPr>
              <p:nvPr/>
            </p:nvCxnSpPr>
            <p:spPr bwMode="auto">
              <a:xfrm>
                <a:off x="5928" y="1383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61" name="Line 160">
                <a:extLst>
                  <a:ext uri="{FF2B5EF4-FFF2-40B4-BE49-F238E27FC236}">
                    <a16:creationId xmlns:a16="http://schemas.microsoft.com/office/drawing/2014/main" id="{AEC4CA4F-1223-48FB-88C1-22BDFE890AF0}"/>
                  </a:ext>
                </a:extLst>
              </p:cNvPr>
              <p:cNvCxnSpPr>
                <a:cxnSpLocks noChangeShapeType="1"/>
              </p:cNvCxnSpPr>
              <p:nvPr/>
            </p:nvCxnSpPr>
            <p:spPr bwMode="auto">
              <a:xfrm>
                <a:off x="5057" y="1383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62" name="Line 161">
                <a:extLst>
                  <a:ext uri="{FF2B5EF4-FFF2-40B4-BE49-F238E27FC236}">
                    <a16:creationId xmlns:a16="http://schemas.microsoft.com/office/drawing/2014/main" id="{A0D38706-F8C8-4317-8D38-AE82A4A95601}"/>
                  </a:ext>
                </a:extLst>
              </p:cNvPr>
              <p:cNvCxnSpPr>
                <a:cxnSpLocks noChangeShapeType="1"/>
              </p:cNvCxnSpPr>
              <p:nvPr/>
            </p:nvCxnSpPr>
            <p:spPr bwMode="auto">
              <a:xfrm>
                <a:off x="6231" y="14918"/>
                <a:ext cx="581"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63" name="Line 162">
                <a:extLst>
                  <a:ext uri="{FF2B5EF4-FFF2-40B4-BE49-F238E27FC236}">
                    <a16:creationId xmlns:a16="http://schemas.microsoft.com/office/drawing/2014/main" id="{84C57F8C-0C68-4787-86B4-4E67BD945EB9}"/>
                  </a:ext>
                </a:extLst>
              </p:cNvPr>
              <p:cNvCxnSpPr>
                <a:cxnSpLocks noChangeShapeType="1"/>
              </p:cNvCxnSpPr>
              <p:nvPr/>
            </p:nvCxnSpPr>
            <p:spPr bwMode="auto">
              <a:xfrm>
                <a:off x="6812" y="13838"/>
                <a:ext cx="291"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64" name="Line 163">
                <a:extLst>
                  <a:ext uri="{FF2B5EF4-FFF2-40B4-BE49-F238E27FC236}">
                    <a16:creationId xmlns:a16="http://schemas.microsoft.com/office/drawing/2014/main" id="{8A65DA27-06A5-45A2-A57D-E4C4F66C6E69}"/>
                  </a:ext>
                </a:extLst>
              </p:cNvPr>
              <p:cNvCxnSpPr>
                <a:cxnSpLocks noChangeShapeType="1"/>
              </p:cNvCxnSpPr>
              <p:nvPr/>
            </p:nvCxnSpPr>
            <p:spPr bwMode="auto">
              <a:xfrm>
                <a:off x="7103" y="1383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65" name="Line 164">
                <a:extLst>
                  <a:ext uri="{FF2B5EF4-FFF2-40B4-BE49-F238E27FC236}">
                    <a16:creationId xmlns:a16="http://schemas.microsoft.com/office/drawing/2014/main" id="{1CC1B7C9-5D1B-431C-A922-B9BF7265A9D7}"/>
                  </a:ext>
                </a:extLst>
              </p:cNvPr>
              <p:cNvCxnSpPr>
                <a:cxnSpLocks noChangeShapeType="1"/>
              </p:cNvCxnSpPr>
              <p:nvPr/>
            </p:nvCxnSpPr>
            <p:spPr bwMode="auto">
              <a:xfrm>
                <a:off x="6800" y="1383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66" name="Line 165">
                <a:extLst>
                  <a:ext uri="{FF2B5EF4-FFF2-40B4-BE49-F238E27FC236}">
                    <a16:creationId xmlns:a16="http://schemas.microsoft.com/office/drawing/2014/main" id="{D10D5161-9545-4F1D-BC92-B6DDD85642E7}"/>
                  </a:ext>
                </a:extLst>
              </p:cNvPr>
              <p:cNvCxnSpPr>
                <a:cxnSpLocks noChangeShapeType="1"/>
              </p:cNvCxnSpPr>
              <p:nvPr/>
            </p:nvCxnSpPr>
            <p:spPr bwMode="auto">
              <a:xfrm>
                <a:off x="4493" y="1383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67" name="Line 166">
                <a:extLst>
                  <a:ext uri="{FF2B5EF4-FFF2-40B4-BE49-F238E27FC236}">
                    <a16:creationId xmlns:a16="http://schemas.microsoft.com/office/drawing/2014/main" id="{FEAF89A2-3DD0-40F1-8C61-D0ACC4F3220F}"/>
                  </a:ext>
                </a:extLst>
              </p:cNvPr>
              <p:cNvCxnSpPr>
                <a:cxnSpLocks noChangeShapeType="1"/>
              </p:cNvCxnSpPr>
              <p:nvPr/>
            </p:nvCxnSpPr>
            <p:spPr bwMode="auto">
              <a:xfrm>
                <a:off x="4493" y="14918"/>
                <a:ext cx="582"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grpSp>
        <p:grpSp>
          <p:nvGrpSpPr>
            <p:cNvPr id="46" name="Group 45">
              <a:extLst>
                <a:ext uri="{FF2B5EF4-FFF2-40B4-BE49-F238E27FC236}">
                  <a16:creationId xmlns:a16="http://schemas.microsoft.com/office/drawing/2014/main" id="{D0A4D504-5308-49D7-A7F5-BA16793CAC96}"/>
                </a:ext>
              </a:extLst>
            </p:cNvPr>
            <p:cNvGrpSpPr>
              <a:grpSpLocks/>
            </p:cNvGrpSpPr>
            <p:nvPr/>
          </p:nvGrpSpPr>
          <p:grpSpPr bwMode="auto">
            <a:xfrm>
              <a:off x="258" y="1022"/>
              <a:ext cx="2730" cy="1095"/>
              <a:chOff x="1388" y="13838"/>
              <a:chExt cx="2730" cy="1095"/>
            </a:xfrm>
          </p:grpSpPr>
          <p:cxnSp>
            <p:nvCxnSpPr>
              <p:cNvPr id="49" name="Line 168">
                <a:extLst>
                  <a:ext uri="{FF2B5EF4-FFF2-40B4-BE49-F238E27FC236}">
                    <a16:creationId xmlns:a16="http://schemas.microsoft.com/office/drawing/2014/main" id="{0468AB61-CC4E-47EC-A2D2-5E64312BA92D}"/>
                  </a:ext>
                </a:extLst>
              </p:cNvPr>
              <p:cNvCxnSpPr>
                <a:cxnSpLocks noChangeShapeType="1"/>
              </p:cNvCxnSpPr>
              <p:nvPr/>
            </p:nvCxnSpPr>
            <p:spPr bwMode="auto">
              <a:xfrm flipV="1">
                <a:off x="2741" y="13838"/>
                <a:ext cx="467"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50" name="Line 169">
                <a:extLst>
                  <a:ext uri="{FF2B5EF4-FFF2-40B4-BE49-F238E27FC236}">
                    <a16:creationId xmlns:a16="http://schemas.microsoft.com/office/drawing/2014/main" id="{46E3A0DD-6F31-4B6C-9BEC-D97EB1E853CB}"/>
                  </a:ext>
                </a:extLst>
              </p:cNvPr>
              <p:cNvCxnSpPr>
                <a:cxnSpLocks noChangeShapeType="1"/>
              </p:cNvCxnSpPr>
              <p:nvPr/>
            </p:nvCxnSpPr>
            <p:spPr bwMode="auto">
              <a:xfrm flipV="1">
                <a:off x="3651" y="13838"/>
                <a:ext cx="467"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51" name="Line 170">
                <a:extLst>
                  <a:ext uri="{FF2B5EF4-FFF2-40B4-BE49-F238E27FC236}">
                    <a16:creationId xmlns:a16="http://schemas.microsoft.com/office/drawing/2014/main" id="{51CFAA32-BA85-4AE0-9159-7DAB73D0BCCA}"/>
                  </a:ext>
                </a:extLst>
              </p:cNvPr>
              <p:cNvCxnSpPr>
                <a:cxnSpLocks noChangeShapeType="1"/>
              </p:cNvCxnSpPr>
              <p:nvPr/>
            </p:nvCxnSpPr>
            <p:spPr bwMode="auto">
              <a:xfrm flipH="1" flipV="1">
                <a:off x="2282" y="13838"/>
                <a:ext cx="467"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52" name="Line 171">
                <a:extLst>
                  <a:ext uri="{FF2B5EF4-FFF2-40B4-BE49-F238E27FC236}">
                    <a16:creationId xmlns:a16="http://schemas.microsoft.com/office/drawing/2014/main" id="{78F5C5E0-045C-41FC-9B3A-B314C6DA8F15}"/>
                  </a:ext>
                </a:extLst>
              </p:cNvPr>
              <p:cNvCxnSpPr>
                <a:cxnSpLocks noChangeShapeType="1"/>
              </p:cNvCxnSpPr>
              <p:nvPr/>
            </p:nvCxnSpPr>
            <p:spPr bwMode="auto">
              <a:xfrm flipH="1" flipV="1">
                <a:off x="3192" y="13838"/>
                <a:ext cx="467"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53" name="Line 172">
                <a:extLst>
                  <a:ext uri="{FF2B5EF4-FFF2-40B4-BE49-F238E27FC236}">
                    <a16:creationId xmlns:a16="http://schemas.microsoft.com/office/drawing/2014/main" id="{2A2066E1-B19A-42FD-A15B-0F72595F4847}"/>
                  </a:ext>
                </a:extLst>
              </p:cNvPr>
              <p:cNvCxnSpPr>
                <a:cxnSpLocks noChangeShapeType="1"/>
              </p:cNvCxnSpPr>
              <p:nvPr/>
            </p:nvCxnSpPr>
            <p:spPr bwMode="auto">
              <a:xfrm flipV="1">
                <a:off x="1847" y="13853"/>
                <a:ext cx="467"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54" name="Line 173">
                <a:extLst>
                  <a:ext uri="{FF2B5EF4-FFF2-40B4-BE49-F238E27FC236}">
                    <a16:creationId xmlns:a16="http://schemas.microsoft.com/office/drawing/2014/main" id="{74999598-8544-415E-B889-5BBCEB66475E}"/>
                  </a:ext>
                </a:extLst>
              </p:cNvPr>
              <p:cNvCxnSpPr>
                <a:cxnSpLocks noChangeShapeType="1"/>
              </p:cNvCxnSpPr>
              <p:nvPr/>
            </p:nvCxnSpPr>
            <p:spPr bwMode="auto">
              <a:xfrm flipH="1" flipV="1">
                <a:off x="1388" y="13853"/>
                <a:ext cx="467"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grpSp>
        <p:sp>
          <p:nvSpPr>
            <p:cNvPr id="47" name="Freeform 174">
              <a:extLst>
                <a:ext uri="{FF2B5EF4-FFF2-40B4-BE49-F238E27FC236}">
                  <a16:creationId xmlns:a16="http://schemas.microsoft.com/office/drawing/2014/main" id="{C65B6220-5270-4BF5-9554-F4CFB3543E75}"/>
                </a:ext>
              </a:extLst>
            </p:cNvPr>
            <p:cNvSpPr>
              <a:spLocks/>
            </p:cNvSpPr>
            <p:nvPr/>
          </p:nvSpPr>
          <p:spPr bwMode="auto">
            <a:xfrm>
              <a:off x="8028" y="1022"/>
              <a:ext cx="1020" cy="915"/>
            </a:xfrm>
            <a:custGeom>
              <a:avLst/>
              <a:gdLst>
                <a:gd name="T0" fmla="*/ 0 w 1020"/>
                <a:gd name="T1" fmla="*/ 735 h 915"/>
                <a:gd name="T2" fmla="*/ 85 w 1020"/>
                <a:gd name="T3" fmla="*/ 375 h 915"/>
                <a:gd name="T4" fmla="*/ 142 w 1020"/>
                <a:gd name="T5" fmla="*/ 202 h 915"/>
                <a:gd name="T6" fmla="*/ 247 w 1020"/>
                <a:gd name="T7" fmla="*/ 787 h 915"/>
                <a:gd name="T8" fmla="*/ 352 w 1020"/>
                <a:gd name="T9" fmla="*/ 367 h 915"/>
                <a:gd name="T10" fmla="*/ 510 w 1020"/>
                <a:gd name="T11" fmla="*/ 15 h 915"/>
                <a:gd name="T12" fmla="*/ 637 w 1020"/>
                <a:gd name="T13" fmla="*/ 457 h 915"/>
                <a:gd name="T14" fmla="*/ 727 w 1020"/>
                <a:gd name="T15" fmla="*/ 862 h 915"/>
                <a:gd name="T16" fmla="*/ 787 w 1020"/>
                <a:gd name="T17" fmla="*/ 412 h 915"/>
                <a:gd name="T18" fmla="*/ 850 w 1020"/>
                <a:gd name="T19" fmla="*/ 735 h 915"/>
                <a:gd name="T20" fmla="*/ 935 w 1020"/>
                <a:gd name="T21" fmla="*/ 915 h 915"/>
                <a:gd name="T22" fmla="*/ 1020 w 1020"/>
                <a:gd name="T23" fmla="*/ 735 h 9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0" h="915">
                  <a:moveTo>
                    <a:pt x="0" y="735"/>
                  </a:moveTo>
                  <a:cubicBezTo>
                    <a:pt x="28" y="585"/>
                    <a:pt x="61" y="464"/>
                    <a:pt x="85" y="375"/>
                  </a:cubicBezTo>
                  <a:cubicBezTo>
                    <a:pt x="109" y="286"/>
                    <a:pt x="115" y="133"/>
                    <a:pt x="142" y="202"/>
                  </a:cubicBezTo>
                  <a:cubicBezTo>
                    <a:pt x="169" y="271"/>
                    <a:pt x="212" y="760"/>
                    <a:pt x="247" y="787"/>
                  </a:cubicBezTo>
                  <a:cubicBezTo>
                    <a:pt x="282" y="814"/>
                    <a:pt x="308" y="496"/>
                    <a:pt x="352" y="367"/>
                  </a:cubicBezTo>
                  <a:cubicBezTo>
                    <a:pt x="396" y="238"/>
                    <a:pt x="463" y="0"/>
                    <a:pt x="510" y="15"/>
                  </a:cubicBezTo>
                  <a:cubicBezTo>
                    <a:pt x="557" y="30"/>
                    <a:pt x="601" y="316"/>
                    <a:pt x="637" y="457"/>
                  </a:cubicBezTo>
                  <a:cubicBezTo>
                    <a:pt x="673" y="598"/>
                    <a:pt x="702" y="869"/>
                    <a:pt x="727" y="862"/>
                  </a:cubicBezTo>
                  <a:cubicBezTo>
                    <a:pt x="752" y="855"/>
                    <a:pt x="767" y="433"/>
                    <a:pt x="787" y="412"/>
                  </a:cubicBezTo>
                  <a:cubicBezTo>
                    <a:pt x="807" y="391"/>
                    <a:pt x="825" y="651"/>
                    <a:pt x="850" y="735"/>
                  </a:cubicBezTo>
                  <a:cubicBezTo>
                    <a:pt x="875" y="819"/>
                    <a:pt x="907" y="915"/>
                    <a:pt x="935" y="915"/>
                  </a:cubicBezTo>
                  <a:cubicBezTo>
                    <a:pt x="963" y="915"/>
                    <a:pt x="992" y="825"/>
                    <a:pt x="1020" y="735"/>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48" name="Freeform 175">
              <a:extLst>
                <a:ext uri="{FF2B5EF4-FFF2-40B4-BE49-F238E27FC236}">
                  <a16:creationId xmlns:a16="http://schemas.microsoft.com/office/drawing/2014/main" id="{93A74E2B-7730-4741-8524-695B59303A1F}"/>
                </a:ext>
              </a:extLst>
            </p:cNvPr>
            <p:cNvSpPr>
              <a:spLocks/>
            </p:cNvSpPr>
            <p:nvPr/>
          </p:nvSpPr>
          <p:spPr bwMode="auto">
            <a:xfrm flipH="1">
              <a:off x="7008" y="1022"/>
              <a:ext cx="1020" cy="915"/>
            </a:xfrm>
            <a:custGeom>
              <a:avLst/>
              <a:gdLst>
                <a:gd name="T0" fmla="*/ 0 w 1020"/>
                <a:gd name="T1" fmla="*/ 735 h 915"/>
                <a:gd name="T2" fmla="*/ 85 w 1020"/>
                <a:gd name="T3" fmla="*/ 375 h 915"/>
                <a:gd name="T4" fmla="*/ 142 w 1020"/>
                <a:gd name="T5" fmla="*/ 202 h 915"/>
                <a:gd name="T6" fmla="*/ 247 w 1020"/>
                <a:gd name="T7" fmla="*/ 787 h 915"/>
                <a:gd name="T8" fmla="*/ 352 w 1020"/>
                <a:gd name="T9" fmla="*/ 367 h 915"/>
                <a:gd name="T10" fmla="*/ 510 w 1020"/>
                <a:gd name="T11" fmla="*/ 15 h 915"/>
                <a:gd name="T12" fmla="*/ 637 w 1020"/>
                <a:gd name="T13" fmla="*/ 457 h 915"/>
                <a:gd name="T14" fmla="*/ 727 w 1020"/>
                <a:gd name="T15" fmla="*/ 862 h 915"/>
                <a:gd name="T16" fmla="*/ 787 w 1020"/>
                <a:gd name="T17" fmla="*/ 412 h 915"/>
                <a:gd name="T18" fmla="*/ 850 w 1020"/>
                <a:gd name="T19" fmla="*/ 735 h 915"/>
                <a:gd name="T20" fmla="*/ 935 w 1020"/>
                <a:gd name="T21" fmla="*/ 915 h 915"/>
                <a:gd name="T22" fmla="*/ 1020 w 1020"/>
                <a:gd name="T23" fmla="*/ 735 h 9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0" h="915">
                  <a:moveTo>
                    <a:pt x="0" y="735"/>
                  </a:moveTo>
                  <a:cubicBezTo>
                    <a:pt x="28" y="585"/>
                    <a:pt x="61" y="464"/>
                    <a:pt x="85" y="375"/>
                  </a:cubicBezTo>
                  <a:cubicBezTo>
                    <a:pt x="109" y="286"/>
                    <a:pt x="115" y="133"/>
                    <a:pt x="142" y="202"/>
                  </a:cubicBezTo>
                  <a:cubicBezTo>
                    <a:pt x="169" y="271"/>
                    <a:pt x="212" y="760"/>
                    <a:pt x="247" y="787"/>
                  </a:cubicBezTo>
                  <a:cubicBezTo>
                    <a:pt x="282" y="814"/>
                    <a:pt x="308" y="496"/>
                    <a:pt x="352" y="367"/>
                  </a:cubicBezTo>
                  <a:cubicBezTo>
                    <a:pt x="396" y="238"/>
                    <a:pt x="463" y="0"/>
                    <a:pt x="510" y="15"/>
                  </a:cubicBezTo>
                  <a:cubicBezTo>
                    <a:pt x="557" y="30"/>
                    <a:pt x="601" y="316"/>
                    <a:pt x="637" y="457"/>
                  </a:cubicBezTo>
                  <a:cubicBezTo>
                    <a:pt x="673" y="598"/>
                    <a:pt x="702" y="869"/>
                    <a:pt x="727" y="862"/>
                  </a:cubicBezTo>
                  <a:cubicBezTo>
                    <a:pt x="752" y="855"/>
                    <a:pt x="767" y="433"/>
                    <a:pt x="787" y="412"/>
                  </a:cubicBezTo>
                  <a:cubicBezTo>
                    <a:pt x="807" y="391"/>
                    <a:pt x="825" y="651"/>
                    <a:pt x="850" y="735"/>
                  </a:cubicBezTo>
                  <a:cubicBezTo>
                    <a:pt x="875" y="819"/>
                    <a:pt x="907" y="915"/>
                    <a:pt x="935" y="915"/>
                  </a:cubicBezTo>
                  <a:cubicBezTo>
                    <a:pt x="963" y="915"/>
                    <a:pt x="992" y="825"/>
                    <a:pt x="1020" y="735"/>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sp>
        <p:nvSpPr>
          <p:cNvPr id="68" name="Text Box 176">
            <a:extLst>
              <a:ext uri="{FF2B5EF4-FFF2-40B4-BE49-F238E27FC236}">
                <a16:creationId xmlns:a16="http://schemas.microsoft.com/office/drawing/2014/main" id="{E7C12742-B1A8-485D-A28A-3430A4C0F271}"/>
              </a:ext>
            </a:extLst>
          </p:cNvPr>
          <p:cNvSpPr txBox="1">
            <a:spLocks noChangeArrowheads="1"/>
          </p:cNvSpPr>
          <p:nvPr/>
        </p:nvSpPr>
        <p:spPr bwMode="auto">
          <a:xfrm>
            <a:off x="1881498" y="6054283"/>
            <a:ext cx="7333615" cy="572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3200">
                <a:solidFill>
                  <a:srgbClr val="002060"/>
                </a:solidFill>
                <a:effectLst/>
                <a:latin typeface="Times New Roman" panose="02020603050405020304" pitchFamily="18" charset="0"/>
                <a:ea typeface="Times New Roman" panose="02020603050405020304" pitchFamily="18" charset="0"/>
              </a:rPr>
              <a:t>Figure 3 –Waveforms with Even symmetry</a:t>
            </a:r>
            <a:endParaRPr lang="en-GB" sz="120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70422642"/>
      </p:ext>
    </p:extLst>
  </p:cSld>
  <p:clrMapOvr>
    <a:masterClrMapping/>
  </p:clrMapOvr>
  <mc:AlternateContent xmlns:mc="http://schemas.openxmlformats.org/markup-compatibility/2006" xmlns:p14="http://schemas.microsoft.com/office/powerpoint/2010/main">
    <mc:Choice Requires="p14">
      <p:transition spd="slow" p14:dur="2000" advTm="32212"/>
    </mc:Choice>
    <mc:Fallback xmlns="">
      <p:transition spd="slow" advTm="3221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85FB46E6-2C0A-412F-B01D-73A94FD51D16}"/>
              </a:ext>
            </a:extLst>
          </p:cNvPr>
          <p:cNvSpPr/>
          <p:nvPr/>
        </p:nvSpPr>
        <p:spPr>
          <a:xfrm>
            <a:off x="304800" y="568960"/>
            <a:ext cx="8554720" cy="6093976"/>
          </a:xfrm>
          <a:prstGeom prst="rect">
            <a:avLst/>
          </a:prstGeom>
        </p:spPr>
        <p:txBody>
          <a:bodyPr wrap="square">
            <a:spAutoFit/>
          </a:bodyPr>
          <a:lstStyle/>
          <a:p>
            <a:pPr algn="just">
              <a:spcAft>
                <a:spcPts val="600"/>
              </a:spcAft>
            </a:pPr>
            <a:r>
              <a:rPr lang="en-GB" sz="3600" dirty="0">
                <a:solidFill>
                  <a:srgbClr val="002060"/>
                </a:solidFill>
                <a:latin typeface="Times New Roman" panose="02020603050405020304" pitchFamily="18" charset="0"/>
                <a:ea typeface="Times New Roman" panose="02020603050405020304" pitchFamily="18" charset="0"/>
              </a:rPr>
              <a:t>Simplest waveforms with </a:t>
            </a:r>
            <a:r>
              <a:rPr lang="en-GB" sz="3600" b="1" i="1" dirty="0">
                <a:solidFill>
                  <a:srgbClr val="002060"/>
                </a:solidFill>
                <a:latin typeface="Times New Roman" panose="02020603050405020304" pitchFamily="18" charset="0"/>
                <a:ea typeface="Times New Roman" panose="02020603050405020304" pitchFamily="18" charset="0"/>
              </a:rPr>
              <a:t>even symmetry</a:t>
            </a:r>
            <a:r>
              <a:rPr lang="en-GB" sz="3600" dirty="0">
                <a:solidFill>
                  <a:srgbClr val="002060"/>
                </a:solidFill>
                <a:latin typeface="Times New Roman" panose="02020603050405020304" pitchFamily="18" charset="0"/>
                <a:ea typeface="Times New Roman" panose="02020603050405020304" pitchFamily="18" charset="0"/>
              </a:rPr>
              <a:t> </a:t>
            </a:r>
            <a:endParaRPr lang="en-GB" sz="3600" dirty="0">
              <a:latin typeface="Times New Roman" panose="02020603050405020304" pitchFamily="18" charset="0"/>
              <a:ea typeface="Times New Roman" panose="02020603050405020304" pitchFamily="18" charset="0"/>
            </a:endParaRPr>
          </a:p>
          <a:p>
            <a:pPr marL="342900" marR="0" lvl="0" indent="-342900" algn="just">
              <a:spcBef>
                <a:spcPts val="0"/>
              </a:spcBef>
              <a:spcAft>
                <a:spcPts val="600"/>
              </a:spcAft>
              <a:buFont typeface="Symbol" panose="05050102010706020507" pitchFamily="18" charset="2"/>
              <a:buChar char=""/>
            </a:pPr>
            <a:r>
              <a:rPr lang="en-GB" sz="3600" i="1" dirty="0">
                <a:solidFill>
                  <a:srgbClr val="002060"/>
                </a:solidFill>
                <a:latin typeface="Times New Roman" panose="02020603050405020304" pitchFamily="18" charset="0"/>
                <a:ea typeface="Times New Roman" panose="02020603050405020304" pitchFamily="18" charset="0"/>
              </a:rPr>
              <a:t>cosine</a:t>
            </a:r>
            <a:r>
              <a:rPr lang="en-GB" sz="3600" dirty="0">
                <a:solidFill>
                  <a:srgbClr val="002060"/>
                </a:solidFill>
                <a:latin typeface="Times New Roman" panose="02020603050405020304" pitchFamily="18" charset="0"/>
                <a:ea typeface="Times New Roman" panose="02020603050405020304" pitchFamily="18" charset="0"/>
              </a:rPr>
              <a:t> waveform – figure (a)</a:t>
            </a:r>
            <a:endParaRPr lang="en-GB" sz="3600" dirty="0">
              <a:latin typeface="Times New Roman" panose="02020603050405020304" pitchFamily="18" charset="0"/>
              <a:ea typeface="Times New Roman" panose="02020603050405020304" pitchFamily="18" charset="0"/>
            </a:endParaRPr>
          </a:p>
          <a:p>
            <a:pPr marL="342900" marR="0" lvl="0" indent="-342900" algn="just">
              <a:spcBef>
                <a:spcPts val="0"/>
              </a:spcBef>
              <a:spcAft>
                <a:spcPts val="600"/>
              </a:spcAft>
              <a:buFont typeface="Symbol" panose="05050102010706020507" pitchFamily="18" charset="2"/>
              <a:buChar char=""/>
            </a:pPr>
            <a:r>
              <a:rPr lang="en-GB" sz="3600" i="1" dirty="0">
                <a:solidFill>
                  <a:srgbClr val="002060"/>
                </a:solidFill>
                <a:latin typeface="Times New Roman" panose="02020603050405020304" pitchFamily="18" charset="0"/>
                <a:ea typeface="Times New Roman" panose="02020603050405020304" pitchFamily="18" charset="0"/>
              </a:rPr>
              <a:t>direct</a:t>
            </a:r>
            <a:r>
              <a:rPr lang="en-GB" sz="3600" dirty="0">
                <a:solidFill>
                  <a:srgbClr val="002060"/>
                </a:solidFill>
                <a:latin typeface="Times New Roman" panose="02020603050405020304" pitchFamily="18" charset="0"/>
                <a:ea typeface="Times New Roman" panose="02020603050405020304" pitchFamily="18" charset="0"/>
              </a:rPr>
              <a:t> waveform – figure (b).</a:t>
            </a:r>
            <a:endParaRPr lang="en-GB" sz="3600" dirty="0">
              <a:latin typeface="Times New Roman" panose="02020603050405020304" pitchFamily="18" charset="0"/>
              <a:ea typeface="Times New Roman" panose="02020603050405020304" pitchFamily="18" charset="0"/>
            </a:endParaRPr>
          </a:p>
          <a:p>
            <a:pPr algn="just">
              <a:spcAft>
                <a:spcPts val="600"/>
              </a:spcAft>
            </a:pPr>
            <a:r>
              <a:rPr lang="en-GB" sz="3600" dirty="0">
                <a:solidFill>
                  <a:srgbClr val="002060"/>
                </a:solidFill>
                <a:latin typeface="Times New Roman" panose="02020603050405020304" pitchFamily="18" charset="0"/>
                <a:ea typeface="Times New Roman" panose="02020603050405020304" pitchFamily="18" charset="0"/>
              </a:rPr>
              <a:t>Even symmetry can exist in both periodic and non-periodic waveforms.</a:t>
            </a:r>
            <a:endParaRPr lang="en-GB" sz="3600" dirty="0">
              <a:latin typeface="Times New Roman" panose="02020603050405020304" pitchFamily="18" charset="0"/>
              <a:ea typeface="Times New Roman" panose="02020603050405020304" pitchFamily="18" charset="0"/>
            </a:endParaRPr>
          </a:p>
          <a:p>
            <a:pPr algn="just">
              <a:spcAft>
                <a:spcPts val="600"/>
              </a:spcAft>
            </a:pPr>
            <a:r>
              <a:rPr lang="en-GB" sz="3600" dirty="0">
                <a:solidFill>
                  <a:srgbClr val="002060"/>
                </a:solidFill>
                <a:latin typeface="Times New Roman" panose="02020603050405020304" pitchFamily="18" charset="0"/>
                <a:ea typeface="Times New Roman" panose="02020603050405020304" pitchFamily="18" charset="0"/>
              </a:rPr>
              <a:t>Both direct terms as well as varying terms can exist in such waveforms.</a:t>
            </a:r>
            <a:endParaRPr lang="en-GB" sz="3600" dirty="0">
              <a:latin typeface="Times New Roman" panose="02020603050405020304" pitchFamily="18" charset="0"/>
              <a:ea typeface="Times New Roman" panose="02020603050405020304" pitchFamily="18" charset="0"/>
            </a:endParaRPr>
          </a:p>
          <a:p>
            <a:pPr algn="just">
              <a:spcAft>
                <a:spcPts val="600"/>
              </a:spcAft>
            </a:pPr>
            <a:r>
              <a:rPr lang="en-GB" sz="3600" dirty="0">
                <a:solidFill>
                  <a:srgbClr val="002060"/>
                </a:solidFill>
                <a:latin typeface="Times New Roman" panose="02020603050405020304" pitchFamily="18" charset="0"/>
                <a:ea typeface="Times New Roman" panose="02020603050405020304" pitchFamily="18" charset="0"/>
              </a:rPr>
              <a:t>If waveform is defined for only t </a:t>
            </a:r>
            <a:r>
              <a:rPr lang="en-GB" sz="36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600" dirty="0">
                <a:solidFill>
                  <a:srgbClr val="002060"/>
                </a:solidFill>
                <a:latin typeface="Times New Roman" panose="02020603050405020304" pitchFamily="18" charset="0"/>
                <a:ea typeface="Times New Roman" panose="02020603050405020304" pitchFamily="18" charset="0"/>
              </a:rPr>
              <a:t> 0, </a:t>
            </a:r>
            <a:endParaRPr lang="en-GB" sz="3600" dirty="0">
              <a:latin typeface="Times New Roman" panose="02020603050405020304" pitchFamily="18" charset="0"/>
              <a:ea typeface="Times New Roman" panose="02020603050405020304" pitchFamily="18" charset="0"/>
            </a:endParaRPr>
          </a:p>
          <a:p>
            <a:pPr algn="just">
              <a:spcAft>
                <a:spcPts val="600"/>
              </a:spcAft>
            </a:pPr>
            <a:r>
              <a:rPr lang="en-GB" sz="3600" dirty="0">
                <a:solidFill>
                  <a:srgbClr val="002060"/>
                </a:solidFill>
                <a:latin typeface="Times New Roman" panose="02020603050405020304" pitchFamily="18" charset="0"/>
                <a:ea typeface="Times New Roman" panose="02020603050405020304" pitchFamily="18" charset="0"/>
              </a:rPr>
              <a:t>the remainder is automatically known by symmetry.</a:t>
            </a:r>
            <a:endParaRPr lang="en-GB" sz="3600" dirty="0">
              <a:effectLst/>
              <a:latin typeface="Times New Roman" panose="02020603050405020304" pitchFamily="18" charset="0"/>
              <a:ea typeface="Times New Roman" panose="02020603050405020304" pitchFamily="18" charset="0"/>
            </a:endParaRPr>
          </a:p>
        </p:txBody>
      </p:sp>
      <p:grpSp>
        <p:nvGrpSpPr>
          <p:cNvPr id="5" name="Group 4">
            <a:extLst>
              <a:ext uri="{FF2B5EF4-FFF2-40B4-BE49-F238E27FC236}">
                <a16:creationId xmlns:a16="http://schemas.microsoft.com/office/drawing/2014/main" id="{05B93C2C-1559-46F0-B08A-5A837673E999}"/>
              </a:ext>
            </a:extLst>
          </p:cNvPr>
          <p:cNvGrpSpPr>
            <a:grpSpLocks noChangeAspect="1"/>
          </p:cNvGrpSpPr>
          <p:nvPr/>
        </p:nvGrpSpPr>
        <p:grpSpPr>
          <a:xfrm>
            <a:off x="8737600" y="228600"/>
            <a:ext cx="3188900" cy="2377440"/>
            <a:chOff x="0" y="0"/>
            <a:chExt cx="3516228" cy="2621301"/>
          </a:xfrm>
        </p:grpSpPr>
        <p:cxnSp>
          <p:nvCxnSpPr>
            <p:cNvPr id="6" name="Line 116">
              <a:extLst>
                <a:ext uri="{FF2B5EF4-FFF2-40B4-BE49-F238E27FC236}">
                  <a16:creationId xmlns:a16="http://schemas.microsoft.com/office/drawing/2014/main" id="{80E7C6E2-88DD-4EAB-B895-05B20EE26700}"/>
                </a:ext>
              </a:extLst>
            </p:cNvPr>
            <p:cNvCxnSpPr>
              <a:cxnSpLocks noChangeShapeType="1"/>
            </p:cNvCxnSpPr>
            <p:nvPr/>
          </p:nvCxnSpPr>
          <p:spPr bwMode="auto">
            <a:xfrm flipV="1">
              <a:off x="0" y="1546514"/>
              <a:ext cx="3230473"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7" name="Line 117">
              <a:extLst>
                <a:ext uri="{FF2B5EF4-FFF2-40B4-BE49-F238E27FC236}">
                  <a16:creationId xmlns:a16="http://schemas.microsoft.com/office/drawing/2014/main" id="{69749E66-0FA5-4A7B-8B5B-D23C05D52936}"/>
                </a:ext>
              </a:extLst>
            </p:cNvPr>
            <p:cNvCxnSpPr>
              <a:cxnSpLocks noChangeShapeType="1"/>
            </p:cNvCxnSpPr>
            <p:nvPr/>
          </p:nvCxnSpPr>
          <p:spPr bwMode="auto">
            <a:xfrm>
              <a:off x="1612818" y="49975"/>
              <a:ext cx="0" cy="2268699"/>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sp>
          <p:nvSpPr>
            <p:cNvPr id="8" name="Text Box 118">
              <a:extLst>
                <a:ext uri="{FF2B5EF4-FFF2-40B4-BE49-F238E27FC236}">
                  <a16:creationId xmlns:a16="http://schemas.microsoft.com/office/drawing/2014/main" id="{3C08DC4A-A503-490B-BB94-CD3BC8555686}"/>
                </a:ext>
              </a:extLst>
            </p:cNvPr>
            <p:cNvSpPr txBox="1">
              <a:spLocks noChangeArrowheads="1"/>
            </p:cNvSpPr>
            <p:nvPr/>
          </p:nvSpPr>
          <p:spPr bwMode="auto">
            <a:xfrm>
              <a:off x="1721922" y="0"/>
              <a:ext cx="881038" cy="412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9" name="Text Box 119">
              <a:extLst>
                <a:ext uri="{FF2B5EF4-FFF2-40B4-BE49-F238E27FC236}">
                  <a16:creationId xmlns:a16="http://schemas.microsoft.com/office/drawing/2014/main" id="{65EE2CE6-E5A5-425B-9B65-F7966AB193B6}"/>
                </a:ext>
              </a:extLst>
            </p:cNvPr>
            <p:cNvSpPr txBox="1">
              <a:spLocks noChangeArrowheads="1"/>
            </p:cNvSpPr>
            <p:nvPr/>
          </p:nvSpPr>
          <p:spPr bwMode="auto">
            <a:xfrm>
              <a:off x="3075709" y="1543792"/>
              <a:ext cx="440519" cy="412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10" name="Text Box 120">
              <a:extLst>
                <a:ext uri="{FF2B5EF4-FFF2-40B4-BE49-F238E27FC236}">
                  <a16:creationId xmlns:a16="http://schemas.microsoft.com/office/drawing/2014/main" id="{7B894897-442E-4A54-9CA8-E90BF80CE2AB}"/>
                </a:ext>
              </a:extLst>
            </p:cNvPr>
            <p:cNvSpPr txBox="1">
              <a:spLocks noChangeArrowheads="1"/>
            </p:cNvSpPr>
            <p:nvPr/>
          </p:nvSpPr>
          <p:spPr bwMode="auto">
            <a:xfrm>
              <a:off x="1674421" y="2208810"/>
              <a:ext cx="587359" cy="412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(a)</a:t>
              </a:r>
              <a:endParaRPr lang="en-GB" sz="1200">
                <a:effectLst/>
                <a:latin typeface="Times New Roman" panose="02020603050405020304" pitchFamily="18" charset="0"/>
                <a:ea typeface="Times New Roman" panose="02020603050405020304" pitchFamily="18" charset="0"/>
              </a:endParaRPr>
            </a:p>
          </p:txBody>
        </p:sp>
        <p:grpSp>
          <p:nvGrpSpPr>
            <p:cNvPr id="11" name="Group 10">
              <a:extLst>
                <a:ext uri="{FF2B5EF4-FFF2-40B4-BE49-F238E27FC236}">
                  <a16:creationId xmlns:a16="http://schemas.microsoft.com/office/drawing/2014/main" id="{32E178E9-FEEE-4F01-B114-958440C3682C}"/>
                </a:ext>
              </a:extLst>
            </p:cNvPr>
            <p:cNvGrpSpPr>
              <a:grpSpLocks/>
            </p:cNvGrpSpPr>
            <p:nvPr/>
          </p:nvGrpSpPr>
          <p:grpSpPr bwMode="auto">
            <a:xfrm>
              <a:off x="137803" y="783771"/>
              <a:ext cx="2936795" cy="1431114"/>
              <a:chOff x="1418" y="11228"/>
              <a:chExt cx="2400" cy="1249"/>
            </a:xfrm>
          </p:grpSpPr>
          <p:sp>
            <p:nvSpPr>
              <p:cNvPr id="12" name="Freeform 122">
                <a:extLst>
                  <a:ext uri="{FF2B5EF4-FFF2-40B4-BE49-F238E27FC236}">
                    <a16:creationId xmlns:a16="http://schemas.microsoft.com/office/drawing/2014/main" id="{3DD394FE-DE98-4F9C-BD0E-5C4B0DEBC890}"/>
                  </a:ext>
                </a:extLst>
              </p:cNvPr>
              <p:cNvSpPr>
                <a:spLocks noChangeAspect="1"/>
              </p:cNvSpPr>
              <p:nvPr/>
            </p:nvSpPr>
            <p:spPr bwMode="auto">
              <a:xfrm>
                <a:off x="1418" y="11234"/>
                <a:ext cx="1207" cy="1243"/>
              </a:xfrm>
              <a:custGeom>
                <a:avLst/>
                <a:gdLst>
                  <a:gd name="T0" fmla="*/ 0 w 1207"/>
                  <a:gd name="T1" fmla="*/ 349 h 1243"/>
                  <a:gd name="T2" fmla="*/ 115 w 1207"/>
                  <a:gd name="T3" fmla="*/ 73 h 1243"/>
                  <a:gd name="T4" fmla="*/ 234 w 1207"/>
                  <a:gd name="T5" fmla="*/ 94 h 1243"/>
                  <a:gd name="T6" fmla="*/ 414 w 1207"/>
                  <a:gd name="T7" fmla="*/ 638 h 1243"/>
                  <a:gd name="T8" fmla="*/ 572 w 1207"/>
                  <a:gd name="T9" fmla="*/ 1155 h 1243"/>
                  <a:gd name="T10" fmla="*/ 737 w 1207"/>
                  <a:gd name="T11" fmla="*/ 1169 h 1243"/>
                  <a:gd name="T12" fmla="*/ 877 w 1207"/>
                  <a:gd name="T13" fmla="*/ 796 h 1243"/>
                  <a:gd name="T14" fmla="*/ 1012 w 1207"/>
                  <a:gd name="T15" fmla="*/ 376 h 1243"/>
                  <a:gd name="T16" fmla="*/ 1132 w 1207"/>
                  <a:gd name="T17" fmla="*/ 136 h 1243"/>
                  <a:gd name="T18" fmla="*/ 1207 w 1207"/>
                  <a:gd name="T19" fmla="*/ 76 h 1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7" h="1243">
                    <a:moveTo>
                      <a:pt x="0" y="349"/>
                    </a:moveTo>
                    <a:cubicBezTo>
                      <a:pt x="19" y="303"/>
                      <a:pt x="76" y="116"/>
                      <a:pt x="115" y="73"/>
                    </a:cubicBezTo>
                    <a:cubicBezTo>
                      <a:pt x="154" y="30"/>
                      <a:pt x="184" y="0"/>
                      <a:pt x="234" y="94"/>
                    </a:cubicBezTo>
                    <a:cubicBezTo>
                      <a:pt x="284" y="188"/>
                      <a:pt x="358" y="461"/>
                      <a:pt x="414" y="638"/>
                    </a:cubicBezTo>
                    <a:cubicBezTo>
                      <a:pt x="471" y="815"/>
                      <a:pt x="518" y="1067"/>
                      <a:pt x="572" y="1155"/>
                    </a:cubicBezTo>
                    <a:cubicBezTo>
                      <a:pt x="625" y="1243"/>
                      <a:pt x="686" y="1229"/>
                      <a:pt x="737" y="1169"/>
                    </a:cubicBezTo>
                    <a:cubicBezTo>
                      <a:pt x="788" y="1109"/>
                      <a:pt x="831" y="928"/>
                      <a:pt x="877" y="796"/>
                    </a:cubicBezTo>
                    <a:cubicBezTo>
                      <a:pt x="923" y="664"/>
                      <a:pt x="970" y="486"/>
                      <a:pt x="1012" y="376"/>
                    </a:cubicBezTo>
                    <a:cubicBezTo>
                      <a:pt x="1054" y="266"/>
                      <a:pt x="1100" y="186"/>
                      <a:pt x="1132" y="136"/>
                    </a:cubicBezTo>
                    <a:cubicBezTo>
                      <a:pt x="1164" y="86"/>
                      <a:pt x="1192" y="88"/>
                      <a:pt x="1207" y="76"/>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3" name="Freeform 123">
                <a:extLst>
                  <a:ext uri="{FF2B5EF4-FFF2-40B4-BE49-F238E27FC236}">
                    <a16:creationId xmlns:a16="http://schemas.microsoft.com/office/drawing/2014/main" id="{BCAADE3A-1691-4EEA-A06E-8B732B260BF3}"/>
                  </a:ext>
                </a:extLst>
              </p:cNvPr>
              <p:cNvSpPr>
                <a:spLocks noChangeAspect="1"/>
              </p:cNvSpPr>
              <p:nvPr/>
            </p:nvSpPr>
            <p:spPr bwMode="auto">
              <a:xfrm flipH="1">
                <a:off x="2611" y="11228"/>
                <a:ext cx="1207" cy="1243"/>
              </a:xfrm>
              <a:custGeom>
                <a:avLst/>
                <a:gdLst>
                  <a:gd name="T0" fmla="*/ 0 w 1207"/>
                  <a:gd name="T1" fmla="*/ 349 h 1243"/>
                  <a:gd name="T2" fmla="*/ 115 w 1207"/>
                  <a:gd name="T3" fmla="*/ 73 h 1243"/>
                  <a:gd name="T4" fmla="*/ 234 w 1207"/>
                  <a:gd name="T5" fmla="*/ 94 h 1243"/>
                  <a:gd name="T6" fmla="*/ 414 w 1207"/>
                  <a:gd name="T7" fmla="*/ 638 h 1243"/>
                  <a:gd name="T8" fmla="*/ 572 w 1207"/>
                  <a:gd name="T9" fmla="*/ 1155 h 1243"/>
                  <a:gd name="T10" fmla="*/ 737 w 1207"/>
                  <a:gd name="T11" fmla="*/ 1169 h 1243"/>
                  <a:gd name="T12" fmla="*/ 877 w 1207"/>
                  <a:gd name="T13" fmla="*/ 796 h 1243"/>
                  <a:gd name="T14" fmla="*/ 1012 w 1207"/>
                  <a:gd name="T15" fmla="*/ 376 h 1243"/>
                  <a:gd name="T16" fmla="*/ 1132 w 1207"/>
                  <a:gd name="T17" fmla="*/ 136 h 1243"/>
                  <a:gd name="T18" fmla="*/ 1207 w 1207"/>
                  <a:gd name="T19" fmla="*/ 76 h 1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7" h="1243">
                    <a:moveTo>
                      <a:pt x="0" y="349"/>
                    </a:moveTo>
                    <a:cubicBezTo>
                      <a:pt x="19" y="303"/>
                      <a:pt x="76" y="116"/>
                      <a:pt x="115" y="73"/>
                    </a:cubicBezTo>
                    <a:cubicBezTo>
                      <a:pt x="154" y="30"/>
                      <a:pt x="184" y="0"/>
                      <a:pt x="234" y="94"/>
                    </a:cubicBezTo>
                    <a:cubicBezTo>
                      <a:pt x="284" y="188"/>
                      <a:pt x="358" y="461"/>
                      <a:pt x="414" y="638"/>
                    </a:cubicBezTo>
                    <a:cubicBezTo>
                      <a:pt x="471" y="815"/>
                      <a:pt x="518" y="1067"/>
                      <a:pt x="572" y="1155"/>
                    </a:cubicBezTo>
                    <a:cubicBezTo>
                      <a:pt x="625" y="1243"/>
                      <a:pt x="686" y="1229"/>
                      <a:pt x="737" y="1169"/>
                    </a:cubicBezTo>
                    <a:cubicBezTo>
                      <a:pt x="788" y="1109"/>
                      <a:pt x="831" y="928"/>
                      <a:pt x="877" y="796"/>
                    </a:cubicBezTo>
                    <a:cubicBezTo>
                      <a:pt x="923" y="664"/>
                      <a:pt x="970" y="486"/>
                      <a:pt x="1012" y="376"/>
                    </a:cubicBezTo>
                    <a:cubicBezTo>
                      <a:pt x="1054" y="266"/>
                      <a:pt x="1100" y="186"/>
                      <a:pt x="1132" y="136"/>
                    </a:cubicBezTo>
                    <a:cubicBezTo>
                      <a:pt x="1164" y="86"/>
                      <a:pt x="1192" y="88"/>
                      <a:pt x="1207" y="76"/>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grpSp>
        <p:nvGrpSpPr>
          <p:cNvPr id="14" name="Group 13">
            <a:extLst>
              <a:ext uri="{FF2B5EF4-FFF2-40B4-BE49-F238E27FC236}">
                <a16:creationId xmlns:a16="http://schemas.microsoft.com/office/drawing/2014/main" id="{32D9056B-00D9-4DF5-AE07-0BF1096DCC61}"/>
              </a:ext>
            </a:extLst>
          </p:cNvPr>
          <p:cNvGrpSpPr/>
          <p:nvPr/>
        </p:nvGrpSpPr>
        <p:grpSpPr>
          <a:xfrm>
            <a:off x="8900160" y="2669517"/>
            <a:ext cx="2969929" cy="2230207"/>
            <a:chOff x="186960" y="0"/>
            <a:chExt cx="3415689" cy="2230207"/>
          </a:xfrm>
        </p:grpSpPr>
        <p:cxnSp>
          <p:nvCxnSpPr>
            <p:cNvPr id="15" name="Line 124">
              <a:extLst>
                <a:ext uri="{FF2B5EF4-FFF2-40B4-BE49-F238E27FC236}">
                  <a16:creationId xmlns:a16="http://schemas.microsoft.com/office/drawing/2014/main" id="{4B793016-0480-4A5F-A172-E9EE94122D32}"/>
                </a:ext>
              </a:extLst>
            </p:cNvPr>
            <p:cNvCxnSpPr>
              <a:cxnSpLocks noChangeShapeType="1"/>
            </p:cNvCxnSpPr>
            <p:nvPr/>
          </p:nvCxnSpPr>
          <p:spPr bwMode="auto">
            <a:xfrm flipV="1">
              <a:off x="186960" y="1522763"/>
              <a:ext cx="3365259"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16" name="Line 125">
              <a:extLst>
                <a:ext uri="{FF2B5EF4-FFF2-40B4-BE49-F238E27FC236}">
                  <a16:creationId xmlns:a16="http://schemas.microsoft.com/office/drawing/2014/main" id="{852A8FF1-540C-4856-B3DA-4B0030929804}"/>
                </a:ext>
              </a:extLst>
            </p:cNvPr>
            <p:cNvCxnSpPr>
              <a:cxnSpLocks noChangeShapeType="1"/>
            </p:cNvCxnSpPr>
            <p:nvPr/>
          </p:nvCxnSpPr>
          <p:spPr bwMode="auto">
            <a:xfrm>
              <a:off x="1719696" y="85601"/>
              <a:ext cx="0" cy="2011680"/>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sp>
          <p:nvSpPr>
            <p:cNvPr id="17" name="Text Box 126">
              <a:extLst>
                <a:ext uri="{FF2B5EF4-FFF2-40B4-BE49-F238E27FC236}">
                  <a16:creationId xmlns:a16="http://schemas.microsoft.com/office/drawing/2014/main" id="{10D9BAA3-83D7-457C-89CB-8D0C42C1C85A}"/>
                </a:ext>
              </a:extLst>
            </p:cNvPr>
            <p:cNvSpPr txBox="1">
              <a:spLocks noChangeArrowheads="1"/>
            </p:cNvSpPr>
            <p:nvPr/>
          </p:nvSpPr>
          <p:spPr bwMode="auto">
            <a:xfrm>
              <a:off x="1815401" y="0"/>
              <a:ext cx="881038" cy="412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000" dirty="0">
                  <a:solidFill>
                    <a:srgbClr val="002060"/>
                  </a:solidFill>
                  <a:effectLst/>
                  <a:latin typeface="Times New Roman" panose="02020603050405020304" pitchFamily="18" charset="0"/>
                  <a:ea typeface="Times New Roman" panose="02020603050405020304" pitchFamily="18" charset="0"/>
                </a:rPr>
                <a:t>a(t)</a:t>
              </a:r>
              <a:endParaRPr lang="en-GB" sz="1200" dirty="0">
                <a:effectLst/>
                <a:latin typeface="Times New Roman" panose="02020603050405020304" pitchFamily="18" charset="0"/>
                <a:ea typeface="Times New Roman" panose="02020603050405020304" pitchFamily="18" charset="0"/>
              </a:endParaRPr>
            </a:p>
          </p:txBody>
        </p:sp>
        <p:sp>
          <p:nvSpPr>
            <p:cNvPr id="18" name="Text Box 127">
              <a:extLst>
                <a:ext uri="{FF2B5EF4-FFF2-40B4-BE49-F238E27FC236}">
                  <a16:creationId xmlns:a16="http://schemas.microsoft.com/office/drawing/2014/main" id="{9FF7DCFB-B81E-4F16-A16D-9EFB60FF53DD}"/>
                </a:ext>
              </a:extLst>
            </p:cNvPr>
            <p:cNvSpPr txBox="1">
              <a:spLocks noChangeArrowheads="1"/>
            </p:cNvSpPr>
            <p:nvPr/>
          </p:nvSpPr>
          <p:spPr bwMode="auto">
            <a:xfrm>
              <a:off x="3372593" y="1520042"/>
              <a:ext cx="230056" cy="443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19" name="Text Box 128">
              <a:extLst>
                <a:ext uri="{FF2B5EF4-FFF2-40B4-BE49-F238E27FC236}">
                  <a16:creationId xmlns:a16="http://schemas.microsoft.com/office/drawing/2014/main" id="{60E425FE-DEB8-43BF-B332-DB28E50FA541}"/>
                </a:ext>
              </a:extLst>
            </p:cNvPr>
            <p:cNvSpPr txBox="1">
              <a:spLocks noChangeArrowheads="1"/>
            </p:cNvSpPr>
            <p:nvPr/>
          </p:nvSpPr>
          <p:spPr bwMode="auto">
            <a:xfrm>
              <a:off x="1798194" y="1817716"/>
              <a:ext cx="587359" cy="412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(b)</a:t>
              </a:r>
              <a:endParaRPr lang="en-GB" sz="1200">
                <a:effectLst/>
                <a:latin typeface="Times New Roman" panose="02020603050405020304" pitchFamily="18" charset="0"/>
                <a:ea typeface="Times New Roman" panose="02020603050405020304" pitchFamily="18" charset="0"/>
              </a:endParaRPr>
            </a:p>
          </p:txBody>
        </p:sp>
        <p:cxnSp>
          <p:nvCxnSpPr>
            <p:cNvPr id="20" name="Line 134">
              <a:extLst>
                <a:ext uri="{FF2B5EF4-FFF2-40B4-BE49-F238E27FC236}">
                  <a16:creationId xmlns:a16="http://schemas.microsoft.com/office/drawing/2014/main" id="{8E175AE6-5E49-4527-B2D8-9EC5E12A93A1}"/>
                </a:ext>
              </a:extLst>
            </p:cNvPr>
            <p:cNvCxnSpPr>
              <a:cxnSpLocks noChangeShapeType="1"/>
            </p:cNvCxnSpPr>
            <p:nvPr/>
          </p:nvCxnSpPr>
          <p:spPr bwMode="auto">
            <a:xfrm>
              <a:off x="189244" y="684068"/>
              <a:ext cx="3230473"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198069233"/>
      </p:ext>
    </p:extLst>
  </p:cSld>
  <p:clrMapOvr>
    <a:masterClrMapping/>
  </p:clrMapOvr>
  <mc:AlternateContent xmlns:mc="http://schemas.openxmlformats.org/markup-compatibility/2006" xmlns:p14="http://schemas.microsoft.com/office/powerpoint/2010/main">
    <mc:Choice Requires="p14">
      <p:transition spd="slow" p14:dur="2000" advTm="53848"/>
    </mc:Choice>
    <mc:Fallback xmlns="">
      <p:transition spd="slow" advTm="53848"/>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fontScale="90000"/>
          </a:bodyPr>
          <a:lstStyle/>
          <a:p>
            <a:r>
              <a:rPr lang="en-GB" sz="3600" dirty="0"/>
              <a:t>Odd Symmetry     </a:t>
            </a:r>
            <a:r>
              <a:rPr lang="en-GB" i="1" dirty="0">
                <a:solidFill>
                  <a:srgbClr val="002060"/>
                </a:solidFill>
              </a:rPr>
              <a:t>f(t) = (-) f(-t)</a:t>
            </a:r>
            <a:endParaRPr lang="en-GB" sz="3600" dirty="0">
              <a:solidFill>
                <a:srgbClr val="002060"/>
              </a:solidFill>
            </a:endParaRPr>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79C043F7-638A-46A5-8425-5BB1C105FFD1}"/>
              </a:ext>
            </a:extLst>
          </p:cNvPr>
          <p:cNvSpPr/>
          <p:nvPr/>
        </p:nvSpPr>
        <p:spPr>
          <a:xfrm>
            <a:off x="152400" y="1107261"/>
            <a:ext cx="11836399" cy="584775"/>
          </a:xfrm>
          <a:prstGeom prst="rect">
            <a:avLst/>
          </a:prstGeom>
        </p:spPr>
        <p:txBody>
          <a:bodyPr wrap="square">
            <a:spAutoFit/>
          </a:bodyPr>
          <a:lstStyle/>
          <a:p>
            <a:r>
              <a:rPr lang="en-GB" sz="3200" dirty="0">
                <a:solidFill>
                  <a:srgbClr val="002060"/>
                </a:solidFill>
                <a:latin typeface="Times New Roman" panose="02020603050405020304" pitchFamily="18" charset="0"/>
                <a:ea typeface="Times New Roman" panose="02020603050405020304" pitchFamily="18" charset="0"/>
              </a:rPr>
              <a:t>Region before </a:t>
            </a:r>
            <a:r>
              <a:rPr lang="en-GB" sz="3200" i="1" dirty="0">
                <a:solidFill>
                  <a:srgbClr val="002060"/>
                </a:solidFill>
                <a:latin typeface="Times New Roman" panose="02020603050405020304" pitchFamily="18" charset="0"/>
                <a:ea typeface="Times New Roman" panose="02020603050405020304" pitchFamily="18" charset="0"/>
              </a:rPr>
              <a:t>y-axis</a:t>
            </a:r>
            <a:r>
              <a:rPr lang="en-GB" sz="3200" dirty="0">
                <a:solidFill>
                  <a:srgbClr val="002060"/>
                </a:solidFill>
                <a:latin typeface="Times New Roman" panose="02020603050405020304" pitchFamily="18" charset="0"/>
                <a:ea typeface="Times New Roman" panose="02020603050405020304" pitchFamily="18" charset="0"/>
              </a:rPr>
              <a:t> is negative of mirror image of region after </a:t>
            </a:r>
            <a:r>
              <a:rPr lang="en-GB" sz="3200" i="1" dirty="0">
                <a:solidFill>
                  <a:srgbClr val="002060"/>
                </a:solidFill>
                <a:latin typeface="Times New Roman" panose="02020603050405020304" pitchFamily="18" charset="0"/>
                <a:ea typeface="Times New Roman" panose="02020603050405020304" pitchFamily="18" charset="0"/>
              </a:rPr>
              <a:t>y-axis</a:t>
            </a:r>
            <a:endParaRPr lang="en-GB" sz="3200" dirty="0"/>
          </a:p>
        </p:txBody>
      </p:sp>
      <p:grpSp>
        <p:nvGrpSpPr>
          <p:cNvPr id="5" name="Group 4">
            <a:extLst>
              <a:ext uri="{FF2B5EF4-FFF2-40B4-BE49-F238E27FC236}">
                <a16:creationId xmlns:a16="http://schemas.microsoft.com/office/drawing/2014/main" id="{72096E6A-9EED-442B-9791-89B82449420B}"/>
              </a:ext>
            </a:extLst>
          </p:cNvPr>
          <p:cNvGrpSpPr>
            <a:grpSpLocks noChangeAspect="1"/>
          </p:cNvGrpSpPr>
          <p:nvPr/>
        </p:nvGrpSpPr>
        <p:grpSpPr bwMode="auto">
          <a:xfrm>
            <a:off x="551892" y="1728320"/>
            <a:ext cx="10596167" cy="4569615"/>
            <a:chOff x="1388" y="5225"/>
            <a:chExt cx="9390" cy="5522"/>
          </a:xfrm>
        </p:grpSpPr>
        <p:cxnSp>
          <p:nvCxnSpPr>
            <p:cNvPr id="6" name="Line 178">
              <a:extLst>
                <a:ext uri="{FF2B5EF4-FFF2-40B4-BE49-F238E27FC236}">
                  <a16:creationId xmlns:a16="http://schemas.microsoft.com/office/drawing/2014/main" id="{9D57FD71-9FEE-4EBF-B985-10C8D631C2DA}"/>
                </a:ext>
              </a:extLst>
            </p:cNvPr>
            <p:cNvCxnSpPr>
              <a:cxnSpLocks noChangeShapeType="1"/>
            </p:cNvCxnSpPr>
            <p:nvPr/>
          </p:nvCxnSpPr>
          <p:spPr bwMode="auto">
            <a:xfrm flipV="1">
              <a:off x="1418" y="6623"/>
              <a:ext cx="2640"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7" name="Line 179">
              <a:extLst>
                <a:ext uri="{FF2B5EF4-FFF2-40B4-BE49-F238E27FC236}">
                  <a16:creationId xmlns:a16="http://schemas.microsoft.com/office/drawing/2014/main" id="{C1465E12-7499-47D6-93DF-7A78E46FFFA4}"/>
                </a:ext>
              </a:extLst>
            </p:cNvPr>
            <p:cNvCxnSpPr>
              <a:cxnSpLocks noChangeShapeType="1"/>
            </p:cNvCxnSpPr>
            <p:nvPr/>
          </p:nvCxnSpPr>
          <p:spPr bwMode="auto">
            <a:xfrm>
              <a:off x="2468" y="5543"/>
              <a:ext cx="0" cy="1980"/>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sp>
          <p:nvSpPr>
            <p:cNvPr id="8" name="Text Box 180">
              <a:extLst>
                <a:ext uri="{FF2B5EF4-FFF2-40B4-BE49-F238E27FC236}">
                  <a16:creationId xmlns:a16="http://schemas.microsoft.com/office/drawing/2014/main" id="{AE272887-010F-483D-A9AD-6F2E4356A5FD}"/>
                </a:ext>
              </a:extLst>
            </p:cNvPr>
            <p:cNvSpPr txBox="1">
              <a:spLocks noChangeArrowheads="1"/>
            </p:cNvSpPr>
            <p:nvPr/>
          </p:nvSpPr>
          <p:spPr bwMode="auto">
            <a:xfrm>
              <a:off x="2558" y="5225"/>
              <a:ext cx="720"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a(t)</a:t>
              </a:r>
              <a:endParaRPr lang="en-GB" sz="2800">
                <a:effectLst/>
                <a:latin typeface="Times New Roman" panose="02020603050405020304" pitchFamily="18" charset="0"/>
                <a:ea typeface="Times New Roman" panose="02020603050405020304" pitchFamily="18" charset="0"/>
              </a:endParaRPr>
            </a:p>
          </p:txBody>
        </p:sp>
        <p:sp>
          <p:nvSpPr>
            <p:cNvPr id="9" name="Text Box 181">
              <a:extLst>
                <a:ext uri="{FF2B5EF4-FFF2-40B4-BE49-F238E27FC236}">
                  <a16:creationId xmlns:a16="http://schemas.microsoft.com/office/drawing/2014/main" id="{D587AE79-7490-439F-BF42-FAA1059A917E}"/>
                </a:ext>
              </a:extLst>
            </p:cNvPr>
            <p:cNvSpPr txBox="1">
              <a:spLocks noChangeArrowheads="1"/>
            </p:cNvSpPr>
            <p:nvPr/>
          </p:nvSpPr>
          <p:spPr bwMode="auto">
            <a:xfrm>
              <a:off x="3938" y="6623"/>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t</a:t>
              </a:r>
              <a:endParaRPr lang="en-GB" sz="2800">
                <a:effectLst/>
                <a:latin typeface="Times New Roman" panose="02020603050405020304" pitchFamily="18" charset="0"/>
                <a:ea typeface="Times New Roman" panose="02020603050405020304" pitchFamily="18" charset="0"/>
              </a:endParaRPr>
            </a:p>
          </p:txBody>
        </p:sp>
        <p:sp>
          <p:nvSpPr>
            <p:cNvPr id="10" name="Text Box 182">
              <a:extLst>
                <a:ext uri="{FF2B5EF4-FFF2-40B4-BE49-F238E27FC236}">
                  <a16:creationId xmlns:a16="http://schemas.microsoft.com/office/drawing/2014/main" id="{439A76DA-D418-4497-9315-525747820167}"/>
                </a:ext>
              </a:extLst>
            </p:cNvPr>
            <p:cNvSpPr txBox="1">
              <a:spLocks noChangeArrowheads="1"/>
            </p:cNvSpPr>
            <p:nvPr/>
          </p:nvSpPr>
          <p:spPr bwMode="auto">
            <a:xfrm>
              <a:off x="2858" y="7343"/>
              <a:ext cx="480"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(a)</a:t>
              </a:r>
              <a:endParaRPr lang="en-GB" sz="2800">
                <a:effectLst/>
                <a:latin typeface="Times New Roman" panose="02020603050405020304" pitchFamily="18" charset="0"/>
                <a:ea typeface="Times New Roman" panose="02020603050405020304" pitchFamily="18" charset="0"/>
              </a:endParaRPr>
            </a:p>
          </p:txBody>
        </p:sp>
        <p:grpSp>
          <p:nvGrpSpPr>
            <p:cNvPr id="11" name="Group 10">
              <a:extLst>
                <a:ext uri="{FF2B5EF4-FFF2-40B4-BE49-F238E27FC236}">
                  <a16:creationId xmlns:a16="http://schemas.microsoft.com/office/drawing/2014/main" id="{E91CEBD5-5834-4ABD-A015-16AE06545F7B}"/>
                </a:ext>
              </a:extLst>
            </p:cNvPr>
            <p:cNvGrpSpPr>
              <a:grpSpLocks/>
            </p:cNvGrpSpPr>
            <p:nvPr/>
          </p:nvGrpSpPr>
          <p:grpSpPr bwMode="auto">
            <a:xfrm>
              <a:off x="1538" y="5993"/>
              <a:ext cx="2400" cy="1249"/>
              <a:chOff x="1418" y="11228"/>
              <a:chExt cx="2400" cy="1249"/>
            </a:xfrm>
          </p:grpSpPr>
          <p:sp>
            <p:nvSpPr>
              <p:cNvPr id="69" name="Freeform 184">
                <a:extLst>
                  <a:ext uri="{FF2B5EF4-FFF2-40B4-BE49-F238E27FC236}">
                    <a16:creationId xmlns:a16="http://schemas.microsoft.com/office/drawing/2014/main" id="{86E0AE1B-7DD2-4BC3-9EB8-2EF7D3C5B516}"/>
                  </a:ext>
                </a:extLst>
              </p:cNvPr>
              <p:cNvSpPr>
                <a:spLocks noChangeAspect="1"/>
              </p:cNvSpPr>
              <p:nvPr/>
            </p:nvSpPr>
            <p:spPr bwMode="auto">
              <a:xfrm>
                <a:off x="1418" y="11234"/>
                <a:ext cx="1207" cy="1243"/>
              </a:xfrm>
              <a:custGeom>
                <a:avLst/>
                <a:gdLst>
                  <a:gd name="T0" fmla="*/ 0 w 1207"/>
                  <a:gd name="T1" fmla="*/ 349 h 1243"/>
                  <a:gd name="T2" fmla="*/ 115 w 1207"/>
                  <a:gd name="T3" fmla="*/ 73 h 1243"/>
                  <a:gd name="T4" fmla="*/ 234 w 1207"/>
                  <a:gd name="T5" fmla="*/ 94 h 1243"/>
                  <a:gd name="T6" fmla="*/ 414 w 1207"/>
                  <a:gd name="T7" fmla="*/ 638 h 1243"/>
                  <a:gd name="T8" fmla="*/ 572 w 1207"/>
                  <a:gd name="T9" fmla="*/ 1155 h 1243"/>
                  <a:gd name="T10" fmla="*/ 737 w 1207"/>
                  <a:gd name="T11" fmla="*/ 1169 h 1243"/>
                  <a:gd name="T12" fmla="*/ 877 w 1207"/>
                  <a:gd name="T13" fmla="*/ 796 h 1243"/>
                  <a:gd name="T14" fmla="*/ 1012 w 1207"/>
                  <a:gd name="T15" fmla="*/ 376 h 1243"/>
                  <a:gd name="T16" fmla="*/ 1132 w 1207"/>
                  <a:gd name="T17" fmla="*/ 136 h 1243"/>
                  <a:gd name="T18" fmla="*/ 1207 w 1207"/>
                  <a:gd name="T19" fmla="*/ 76 h 1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7" h="1243">
                    <a:moveTo>
                      <a:pt x="0" y="349"/>
                    </a:moveTo>
                    <a:cubicBezTo>
                      <a:pt x="19" y="303"/>
                      <a:pt x="76" y="116"/>
                      <a:pt x="115" y="73"/>
                    </a:cubicBezTo>
                    <a:cubicBezTo>
                      <a:pt x="154" y="30"/>
                      <a:pt x="184" y="0"/>
                      <a:pt x="234" y="94"/>
                    </a:cubicBezTo>
                    <a:cubicBezTo>
                      <a:pt x="284" y="188"/>
                      <a:pt x="358" y="461"/>
                      <a:pt x="414" y="638"/>
                    </a:cubicBezTo>
                    <a:cubicBezTo>
                      <a:pt x="471" y="815"/>
                      <a:pt x="518" y="1067"/>
                      <a:pt x="572" y="1155"/>
                    </a:cubicBezTo>
                    <a:cubicBezTo>
                      <a:pt x="625" y="1243"/>
                      <a:pt x="686" y="1229"/>
                      <a:pt x="737" y="1169"/>
                    </a:cubicBezTo>
                    <a:cubicBezTo>
                      <a:pt x="788" y="1109"/>
                      <a:pt x="831" y="928"/>
                      <a:pt x="877" y="796"/>
                    </a:cubicBezTo>
                    <a:cubicBezTo>
                      <a:pt x="923" y="664"/>
                      <a:pt x="970" y="486"/>
                      <a:pt x="1012" y="376"/>
                    </a:cubicBezTo>
                    <a:cubicBezTo>
                      <a:pt x="1054" y="266"/>
                      <a:pt x="1100" y="186"/>
                      <a:pt x="1132" y="136"/>
                    </a:cubicBezTo>
                    <a:cubicBezTo>
                      <a:pt x="1164" y="86"/>
                      <a:pt x="1192" y="88"/>
                      <a:pt x="1207" y="76"/>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2800"/>
              </a:p>
            </p:txBody>
          </p:sp>
          <p:sp>
            <p:nvSpPr>
              <p:cNvPr id="70" name="Freeform 185">
                <a:extLst>
                  <a:ext uri="{FF2B5EF4-FFF2-40B4-BE49-F238E27FC236}">
                    <a16:creationId xmlns:a16="http://schemas.microsoft.com/office/drawing/2014/main" id="{6EF81752-9505-457E-9D1D-3A03FF2A596F}"/>
                  </a:ext>
                </a:extLst>
              </p:cNvPr>
              <p:cNvSpPr>
                <a:spLocks noChangeAspect="1"/>
              </p:cNvSpPr>
              <p:nvPr/>
            </p:nvSpPr>
            <p:spPr bwMode="auto">
              <a:xfrm flipH="1">
                <a:off x="2611" y="11228"/>
                <a:ext cx="1207" cy="1243"/>
              </a:xfrm>
              <a:custGeom>
                <a:avLst/>
                <a:gdLst>
                  <a:gd name="T0" fmla="*/ 0 w 1207"/>
                  <a:gd name="T1" fmla="*/ 349 h 1243"/>
                  <a:gd name="T2" fmla="*/ 115 w 1207"/>
                  <a:gd name="T3" fmla="*/ 73 h 1243"/>
                  <a:gd name="T4" fmla="*/ 234 w 1207"/>
                  <a:gd name="T5" fmla="*/ 94 h 1243"/>
                  <a:gd name="T6" fmla="*/ 414 w 1207"/>
                  <a:gd name="T7" fmla="*/ 638 h 1243"/>
                  <a:gd name="T8" fmla="*/ 572 w 1207"/>
                  <a:gd name="T9" fmla="*/ 1155 h 1243"/>
                  <a:gd name="T10" fmla="*/ 737 w 1207"/>
                  <a:gd name="T11" fmla="*/ 1169 h 1243"/>
                  <a:gd name="T12" fmla="*/ 877 w 1207"/>
                  <a:gd name="T13" fmla="*/ 796 h 1243"/>
                  <a:gd name="T14" fmla="*/ 1012 w 1207"/>
                  <a:gd name="T15" fmla="*/ 376 h 1243"/>
                  <a:gd name="T16" fmla="*/ 1132 w 1207"/>
                  <a:gd name="T17" fmla="*/ 136 h 1243"/>
                  <a:gd name="T18" fmla="*/ 1207 w 1207"/>
                  <a:gd name="T19" fmla="*/ 76 h 1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7" h="1243">
                    <a:moveTo>
                      <a:pt x="0" y="349"/>
                    </a:moveTo>
                    <a:cubicBezTo>
                      <a:pt x="19" y="303"/>
                      <a:pt x="76" y="116"/>
                      <a:pt x="115" y="73"/>
                    </a:cubicBezTo>
                    <a:cubicBezTo>
                      <a:pt x="154" y="30"/>
                      <a:pt x="184" y="0"/>
                      <a:pt x="234" y="94"/>
                    </a:cubicBezTo>
                    <a:cubicBezTo>
                      <a:pt x="284" y="188"/>
                      <a:pt x="358" y="461"/>
                      <a:pt x="414" y="638"/>
                    </a:cubicBezTo>
                    <a:cubicBezTo>
                      <a:pt x="471" y="815"/>
                      <a:pt x="518" y="1067"/>
                      <a:pt x="572" y="1155"/>
                    </a:cubicBezTo>
                    <a:cubicBezTo>
                      <a:pt x="625" y="1243"/>
                      <a:pt x="686" y="1229"/>
                      <a:pt x="737" y="1169"/>
                    </a:cubicBezTo>
                    <a:cubicBezTo>
                      <a:pt x="788" y="1109"/>
                      <a:pt x="831" y="928"/>
                      <a:pt x="877" y="796"/>
                    </a:cubicBezTo>
                    <a:cubicBezTo>
                      <a:pt x="923" y="664"/>
                      <a:pt x="970" y="486"/>
                      <a:pt x="1012" y="376"/>
                    </a:cubicBezTo>
                    <a:cubicBezTo>
                      <a:pt x="1054" y="266"/>
                      <a:pt x="1100" y="186"/>
                      <a:pt x="1132" y="136"/>
                    </a:cubicBezTo>
                    <a:cubicBezTo>
                      <a:pt x="1164" y="86"/>
                      <a:pt x="1192" y="88"/>
                      <a:pt x="1207" y="76"/>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2800"/>
              </a:p>
            </p:txBody>
          </p:sp>
        </p:grpSp>
        <p:cxnSp>
          <p:nvCxnSpPr>
            <p:cNvPr id="12" name="Line 186">
              <a:extLst>
                <a:ext uri="{FF2B5EF4-FFF2-40B4-BE49-F238E27FC236}">
                  <a16:creationId xmlns:a16="http://schemas.microsoft.com/office/drawing/2014/main" id="{7FE2C4A8-7E84-4553-88D0-7CAB1C52BC1E}"/>
                </a:ext>
              </a:extLst>
            </p:cNvPr>
            <p:cNvCxnSpPr>
              <a:cxnSpLocks noChangeShapeType="1"/>
            </p:cNvCxnSpPr>
            <p:nvPr/>
          </p:nvCxnSpPr>
          <p:spPr bwMode="auto">
            <a:xfrm flipV="1">
              <a:off x="4418" y="6623"/>
              <a:ext cx="2880"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13" name="Line 187">
              <a:extLst>
                <a:ext uri="{FF2B5EF4-FFF2-40B4-BE49-F238E27FC236}">
                  <a16:creationId xmlns:a16="http://schemas.microsoft.com/office/drawing/2014/main" id="{E6E6E0C8-67C5-40B5-A1B3-0BD79528286A}"/>
                </a:ext>
              </a:extLst>
            </p:cNvPr>
            <p:cNvCxnSpPr>
              <a:cxnSpLocks noChangeShapeType="1"/>
            </p:cNvCxnSpPr>
            <p:nvPr/>
          </p:nvCxnSpPr>
          <p:spPr bwMode="auto">
            <a:xfrm>
              <a:off x="5828" y="5543"/>
              <a:ext cx="0" cy="1980"/>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sp>
          <p:nvSpPr>
            <p:cNvPr id="14" name="Text Box 188">
              <a:extLst>
                <a:ext uri="{FF2B5EF4-FFF2-40B4-BE49-F238E27FC236}">
                  <a16:creationId xmlns:a16="http://schemas.microsoft.com/office/drawing/2014/main" id="{B05180C5-AB95-4D91-89D6-650C7632C495}"/>
                </a:ext>
              </a:extLst>
            </p:cNvPr>
            <p:cNvSpPr txBox="1">
              <a:spLocks noChangeArrowheads="1"/>
            </p:cNvSpPr>
            <p:nvPr/>
          </p:nvSpPr>
          <p:spPr bwMode="auto">
            <a:xfrm>
              <a:off x="5828" y="5363"/>
              <a:ext cx="720" cy="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a(t)</a:t>
              </a:r>
              <a:endParaRPr lang="en-GB" sz="2800">
                <a:effectLst/>
                <a:latin typeface="Times New Roman" panose="02020603050405020304" pitchFamily="18" charset="0"/>
                <a:ea typeface="Times New Roman" panose="02020603050405020304" pitchFamily="18" charset="0"/>
              </a:endParaRPr>
            </a:p>
          </p:txBody>
        </p:sp>
        <p:sp>
          <p:nvSpPr>
            <p:cNvPr id="15" name="Text Box 189">
              <a:extLst>
                <a:ext uri="{FF2B5EF4-FFF2-40B4-BE49-F238E27FC236}">
                  <a16:creationId xmlns:a16="http://schemas.microsoft.com/office/drawing/2014/main" id="{BE837CB4-AB42-49B2-8FBC-70D6B65DC332}"/>
                </a:ext>
              </a:extLst>
            </p:cNvPr>
            <p:cNvSpPr txBox="1">
              <a:spLocks noChangeArrowheads="1"/>
            </p:cNvSpPr>
            <p:nvPr/>
          </p:nvSpPr>
          <p:spPr bwMode="auto">
            <a:xfrm>
              <a:off x="7178" y="6623"/>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t</a:t>
              </a:r>
              <a:endParaRPr lang="en-GB" sz="2800">
                <a:effectLst/>
                <a:latin typeface="Times New Roman" panose="02020603050405020304" pitchFamily="18" charset="0"/>
                <a:ea typeface="Times New Roman" panose="02020603050405020304" pitchFamily="18" charset="0"/>
              </a:endParaRPr>
            </a:p>
          </p:txBody>
        </p:sp>
        <p:sp>
          <p:nvSpPr>
            <p:cNvPr id="16" name="Text Box 190">
              <a:extLst>
                <a:ext uri="{FF2B5EF4-FFF2-40B4-BE49-F238E27FC236}">
                  <a16:creationId xmlns:a16="http://schemas.microsoft.com/office/drawing/2014/main" id="{0471C44C-DDD4-4DCB-91FD-50360B87F392}"/>
                </a:ext>
              </a:extLst>
            </p:cNvPr>
            <p:cNvSpPr txBox="1">
              <a:spLocks noChangeArrowheads="1"/>
            </p:cNvSpPr>
            <p:nvPr/>
          </p:nvSpPr>
          <p:spPr bwMode="auto">
            <a:xfrm>
              <a:off x="5858" y="7343"/>
              <a:ext cx="480"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(b)</a:t>
              </a:r>
              <a:endParaRPr lang="en-GB" sz="2800">
                <a:effectLst/>
                <a:latin typeface="Times New Roman" panose="02020603050405020304" pitchFamily="18" charset="0"/>
                <a:ea typeface="Times New Roman" panose="02020603050405020304" pitchFamily="18" charset="0"/>
              </a:endParaRPr>
            </a:p>
          </p:txBody>
        </p:sp>
        <p:cxnSp>
          <p:nvCxnSpPr>
            <p:cNvPr id="17" name="Line 191">
              <a:extLst>
                <a:ext uri="{FF2B5EF4-FFF2-40B4-BE49-F238E27FC236}">
                  <a16:creationId xmlns:a16="http://schemas.microsoft.com/office/drawing/2014/main" id="{503F4FAB-8873-492B-8D1F-C81E84E2134A}"/>
                </a:ext>
              </a:extLst>
            </p:cNvPr>
            <p:cNvCxnSpPr>
              <a:cxnSpLocks noChangeShapeType="1"/>
            </p:cNvCxnSpPr>
            <p:nvPr/>
          </p:nvCxnSpPr>
          <p:spPr bwMode="auto">
            <a:xfrm flipV="1">
              <a:off x="7658" y="6623"/>
              <a:ext cx="2880"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18" name="Line 192">
              <a:extLst>
                <a:ext uri="{FF2B5EF4-FFF2-40B4-BE49-F238E27FC236}">
                  <a16:creationId xmlns:a16="http://schemas.microsoft.com/office/drawing/2014/main" id="{F7728ED0-A41B-4D78-A270-EE137D1FA7E0}"/>
                </a:ext>
              </a:extLst>
            </p:cNvPr>
            <p:cNvCxnSpPr>
              <a:cxnSpLocks noChangeShapeType="1"/>
            </p:cNvCxnSpPr>
            <p:nvPr/>
          </p:nvCxnSpPr>
          <p:spPr bwMode="auto">
            <a:xfrm>
              <a:off x="9068" y="5543"/>
              <a:ext cx="0" cy="1980"/>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sp>
          <p:nvSpPr>
            <p:cNvPr id="19" name="Text Box 193">
              <a:extLst>
                <a:ext uri="{FF2B5EF4-FFF2-40B4-BE49-F238E27FC236}">
                  <a16:creationId xmlns:a16="http://schemas.microsoft.com/office/drawing/2014/main" id="{BC940B70-AE45-4047-8EB9-2A5C1E2A3F2B}"/>
                </a:ext>
              </a:extLst>
            </p:cNvPr>
            <p:cNvSpPr txBox="1">
              <a:spLocks noChangeArrowheads="1"/>
            </p:cNvSpPr>
            <p:nvPr/>
          </p:nvSpPr>
          <p:spPr bwMode="auto">
            <a:xfrm>
              <a:off x="9068" y="5241"/>
              <a:ext cx="72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a(t)</a:t>
              </a:r>
              <a:endParaRPr lang="en-GB" sz="2800">
                <a:effectLst/>
                <a:latin typeface="Times New Roman" panose="02020603050405020304" pitchFamily="18" charset="0"/>
                <a:ea typeface="Times New Roman" panose="02020603050405020304" pitchFamily="18" charset="0"/>
              </a:endParaRPr>
            </a:p>
          </p:txBody>
        </p:sp>
        <p:sp>
          <p:nvSpPr>
            <p:cNvPr id="20" name="Text Box 194">
              <a:extLst>
                <a:ext uri="{FF2B5EF4-FFF2-40B4-BE49-F238E27FC236}">
                  <a16:creationId xmlns:a16="http://schemas.microsoft.com/office/drawing/2014/main" id="{8D36A2B0-B203-4F5D-9AF5-EBA47E830F19}"/>
                </a:ext>
              </a:extLst>
            </p:cNvPr>
            <p:cNvSpPr txBox="1">
              <a:spLocks noChangeArrowheads="1"/>
            </p:cNvSpPr>
            <p:nvPr/>
          </p:nvSpPr>
          <p:spPr bwMode="auto">
            <a:xfrm>
              <a:off x="10418" y="6623"/>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t</a:t>
              </a:r>
              <a:endParaRPr lang="en-GB" sz="2800">
                <a:effectLst/>
                <a:latin typeface="Times New Roman" panose="02020603050405020304" pitchFamily="18" charset="0"/>
                <a:ea typeface="Times New Roman" panose="02020603050405020304" pitchFamily="18" charset="0"/>
              </a:endParaRPr>
            </a:p>
          </p:txBody>
        </p:sp>
        <p:sp>
          <p:nvSpPr>
            <p:cNvPr id="21" name="Text Box 195">
              <a:extLst>
                <a:ext uri="{FF2B5EF4-FFF2-40B4-BE49-F238E27FC236}">
                  <a16:creationId xmlns:a16="http://schemas.microsoft.com/office/drawing/2014/main" id="{EEDF0F11-4A9D-4E71-94AE-2A12E2BF14A0}"/>
                </a:ext>
              </a:extLst>
            </p:cNvPr>
            <p:cNvSpPr txBox="1">
              <a:spLocks noChangeArrowheads="1"/>
            </p:cNvSpPr>
            <p:nvPr/>
          </p:nvSpPr>
          <p:spPr bwMode="auto">
            <a:xfrm>
              <a:off x="9098" y="7343"/>
              <a:ext cx="48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(c)</a:t>
              </a:r>
              <a:endParaRPr lang="en-GB" sz="2800">
                <a:effectLst/>
                <a:latin typeface="Times New Roman" panose="02020603050405020304" pitchFamily="18" charset="0"/>
                <a:ea typeface="Times New Roman" panose="02020603050405020304" pitchFamily="18" charset="0"/>
              </a:endParaRPr>
            </a:p>
          </p:txBody>
        </p:sp>
        <p:cxnSp>
          <p:nvCxnSpPr>
            <p:cNvPr id="22" name="Line 196">
              <a:extLst>
                <a:ext uri="{FF2B5EF4-FFF2-40B4-BE49-F238E27FC236}">
                  <a16:creationId xmlns:a16="http://schemas.microsoft.com/office/drawing/2014/main" id="{2BD93973-47A6-452C-9949-32D4AD29A8FE}"/>
                </a:ext>
              </a:extLst>
            </p:cNvPr>
            <p:cNvCxnSpPr>
              <a:cxnSpLocks noChangeShapeType="1"/>
            </p:cNvCxnSpPr>
            <p:nvPr/>
          </p:nvCxnSpPr>
          <p:spPr bwMode="auto">
            <a:xfrm flipV="1">
              <a:off x="1418" y="9128"/>
              <a:ext cx="2640"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23" name="Line 197">
              <a:extLst>
                <a:ext uri="{FF2B5EF4-FFF2-40B4-BE49-F238E27FC236}">
                  <a16:creationId xmlns:a16="http://schemas.microsoft.com/office/drawing/2014/main" id="{5862C49A-D133-41F2-BD98-19C4160B48CB}"/>
                </a:ext>
              </a:extLst>
            </p:cNvPr>
            <p:cNvCxnSpPr>
              <a:cxnSpLocks noChangeShapeType="1"/>
            </p:cNvCxnSpPr>
            <p:nvPr/>
          </p:nvCxnSpPr>
          <p:spPr bwMode="auto">
            <a:xfrm>
              <a:off x="2498" y="8063"/>
              <a:ext cx="0" cy="1980"/>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sp>
          <p:nvSpPr>
            <p:cNvPr id="24" name="Text Box 198">
              <a:extLst>
                <a:ext uri="{FF2B5EF4-FFF2-40B4-BE49-F238E27FC236}">
                  <a16:creationId xmlns:a16="http://schemas.microsoft.com/office/drawing/2014/main" id="{07C0EF1F-EFD2-4AE5-A930-7DD7318A360F}"/>
                </a:ext>
              </a:extLst>
            </p:cNvPr>
            <p:cNvSpPr txBox="1">
              <a:spLocks noChangeArrowheads="1"/>
            </p:cNvSpPr>
            <p:nvPr/>
          </p:nvSpPr>
          <p:spPr bwMode="auto">
            <a:xfrm>
              <a:off x="2828" y="7883"/>
              <a:ext cx="720"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a(t)</a:t>
              </a:r>
              <a:endParaRPr lang="en-GB" sz="2800">
                <a:effectLst/>
                <a:latin typeface="Times New Roman" panose="02020603050405020304" pitchFamily="18" charset="0"/>
                <a:ea typeface="Times New Roman" panose="02020603050405020304" pitchFamily="18" charset="0"/>
              </a:endParaRPr>
            </a:p>
          </p:txBody>
        </p:sp>
        <p:sp>
          <p:nvSpPr>
            <p:cNvPr id="25" name="Text Box 199">
              <a:extLst>
                <a:ext uri="{FF2B5EF4-FFF2-40B4-BE49-F238E27FC236}">
                  <a16:creationId xmlns:a16="http://schemas.microsoft.com/office/drawing/2014/main" id="{B9706AF3-7BB2-4E81-B6EE-AEC261A765AD}"/>
                </a:ext>
              </a:extLst>
            </p:cNvPr>
            <p:cNvSpPr txBox="1">
              <a:spLocks noChangeArrowheads="1"/>
            </p:cNvSpPr>
            <p:nvPr/>
          </p:nvSpPr>
          <p:spPr bwMode="auto">
            <a:xfrm>
              <a:off x="3938" y="912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a:solidFill>
                    <a:srgbClr val="FFFFFF"/>
                  </a:solidFill>
                  <a:effectLst/>
                  <a:latin typeface="Times New Roman" panose="02020603050405020304" pitchFamily="18" charset="0"/>
                  <a:ea typeface="Times New Roman" panose="02020603050405020304" pitchFamily="18" charset="0"/>
                </a:rPr>
                <a:t>t</a:t>
              </a:r>
              <a:endParaRPr lang="en-GB" sz="2800">
                <a:effectLst/>
                <a:latin typeface="Times New Roman" panose="02020603050405020304" pitchFamily="18" charset="0"/>
                <a:ea typeface="Times New Roman" panose="02020603050405020304" pitchFamily="18" charset="0"/>
              </a:endParaRPr>
            </a:p>
          </p:txBody>
        </p:sp>
        <p:sp>
          <p:nvSpPr>
            <p:cNvPr id="26" name="Text Box 200">
              <a:extLst>
                <a:ext uri="{FF2B5EF4-FFF2-40B4-BE49-F238E27FC236}">
                  <a16:creationId xmlns:a16="http://schemas.microsoft.com/office/drawing/2014/main" id="{A4FF887C-67A9-4D9F-8B2F-61FC5EF2346D}"/>
                </a:ext>
              </a:extLst>
            </p:cNvPr>
            <p:cNvSpPr txBox="1">
              <a:spLocks noChangeArrowheads="1"/>
            </p:cNvSpPr>
            <p:nvPr/>
          </p:nvSpPr>
          <p:spPr bwMode="auto">
            <a:xfrm>
              <a:off x="2858" y="9863"/>
              <a:ext cx="480"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(d)</a:t>
              </a:r>
              <a:endParaRPr lang="en-GB" sz="2800">
                <a:effectLst/>
                <a:latin typeface="Times New Roman" panose="02020603050405020304" pitchFamily="18" charset="0"/>
                <a:ea typeface="Times New Roman" panose="02020603050405020304" pitchFamily="18" charset="0"/>
              </a:endParaRPr>
            </a:p>
          </p:txBody>
        </p:sp>
        <p:cxnSp>
          <p:nvCxnSpPr>
            <p:cNvPr id="27" name="Line 201">
              <a:extLst>
                <a:ext uri="{FF2B5EF4-FFF2-40B4-BE49-F238E27FC236}">
                  <a16:creationId xmlns:a16="http://schemas.microsoft.com/office/drawing/2014/main" id="{3D7FAFEB-7A37-4043-865E-4E9CA3614A33}"/>
                </a:ext>
              </a:extLst>
            </p:cNvPr>
            <p:cNvCxnSpPr>
              <a:cxnSpLocks noChangeShapeType="1"/>
            </p:cNvCxnSpPr>
            <p:nvPr/>
          </p:nvCxnSpPr>
          <p:spPr bwMode="auto">
            <a:xfrm flipV="1">
              <a:off x="4388" y="9038"/>
              <a:ext cx="3030"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28" name="Line 202">
              <a:extLst>
                <a:ext uri="{FF2B5EF4-FFF2-40B4-BE49-F238E27FC236}">
                  <a16:creationId xmlns:a16="http://schemas.microsoft.com/office/drawing/2014/main" id="{1FC11A4D-2954-48CA-941F-2F0C6DC7D29C}"/>
                </a:ext>
              </a:extLst>
            </p:cNvPr>
            <p:cNvCxnSpPr>
              <a:cxnSpLocks noChangeShapeType="1"/>
            </p:cNvCxnSpPr>
            <p:nvPr/>
          </p:nvCxnSpPr>
          <p:spPr bwMode="auto">
            <a:xfrm>
              <a:off x="5618" y="8063"/>
              <a:ext cx="0" cy="1980"/>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sp>
          <p:nvSpPr>
            <p:cNvPr id="29" name="Text Box 203">
              <a:extLst>
                <a:ext uri="{FF2B5EF4-FFF2-40B4-BE49-F238E27FC236}">
                  <a16:creationId xmlns:a16="http://schemas.microsoft.com/office/drawing/2014/main" id="{5809B795-0FD2-40E2-AC3E-EA58C6863B85}"/>
                </a:ext>
              </a:extLst>
            </p:cNvPr>
            <p:cNvSpPr txBox="1">
              <a:spLocks noChangeArrowheads="1"/>
            </p:cNvSpPr>
            <p:nvPr/>
          </p:nvSpPr>
          <p:spPr bwMode="auto">
            <a:xfrm>
              <a:off x="5828" y="7883"/>
              <a:ext cx="720"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a(t)</a:t>
              </a:r>
              <a:endParaRPr lang="en-GB" sz="2800">
                <a:effectLst/>
                <a:latin typeface="Times New Roman" panose="02020603050405020304" pitchFamily="18" charset="0"/>
                <a:ea typeface="Times New Roman" panose="02020603050405020304" pitchFamily="18" charset="0"/>
              </a:endParaRPr>
            </a:p>
          </p:txBody>
        </p:sp>
        <p:sp>
          <p:nvSpPr>
            <p:cNvPr id="30" name="Text Box 204">
              <a:extLst>
                <a:ext uri="{FF2B5EF4-FFF2-40B4-BE49-F238E27FC236}">
                  <a16:creationId xmlns:a16="http://schemas.microsoft.com/office/drawing/2014/main" id="{0BA00709-E7FD-448A-BB6E-959F09879448}"/>
                </a:ext>
              </a:extLst>
            </p:cNvPr>
            <p:cNvSpPr txBox="1">
              <a:spLocks noChangeArrowheads="1"/>
            </p:cNvSpPr>
            <p:nvPr/>
          </p:nvSpPr>
          <p:spPr bwMode="auto">
            <a:xfrm>
              <a:off x="7178" y="903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206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a:solidFill>
                    <a:srgbClr val="FFFFFF"/>
                  </a:solidFill>
                  <a:effectLst/>
                  <a:latin typeface="Times New Roman" panose="02020603050405020304" pitchFamily="18" charset="0"/>
                  <a:ea typeface="Times New Roman" panose="02020603050405020304" pitchFamily="18" charset="0"/>
                </a:rPr>
                <a:t>t</a:t>
              </a:r>
              <a:endParaRPr lang="en-GB" sz="2800">
                <a:effectLst/>
                <a:latin typeface="Times New Roman" panose="02020603050405020304" pitchFamily="18" charset="0"/>
                <a:ea typeface="Times New Roman" panose="02020603050405020304" pitchFamily="18" charset="0"/>
              </a:endParaRPr>
            </a:p>
          </p:txBody>
        </p:sp>
        <p:sp>
          <p:nvSpPr>
            <p:cNvPr id="31" name="Text Box 205">
              <a:extLst>
                <a:ext uri="{FF2B5EF4-FFF2-40B4-BE49-F238E27FC236}">
                  <a16:creationId xmlns:a16="http://schemas.microsoft.com/office/drawing/2014/main" id="{C4E827B5-B8D1-4EA5-81EE-EBB6DE3A124D}"/>
                </a:ext>
              </a:extLst>
            </p:cNvPr>
            <p:cNvSpPr txBox="1">
              <a:spLocks noChangeArrowheads="1"/>
            </p:cNvSpPr>
            <p:nvPr/>
          </p:nvSpPr>
          <p:spPr bwMode="auto">
            <a:xfrm>
              <a:off x="5858" y="9742"/>
              <a:ext cx="480" cy="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(e)</a:t>
              </a:r>
              <a:endParaRPr lang="en-GB" sz="2800">
                <a:effectLst/>
                <a:latin typeface="Times New Roman" panose="02020603050405020304" pitchFamily="18" charset="0"/>
                <a:ea typeface="Times New Roman" panose="02020603050405020304" pitchFamily="18" charset="0"/>
              </a:endParaRPr>
            </a:p>
          </p:txBody>
        </p:sp>
        <p:cxnSp>
          <p:nvCxnSpPr>
            <p:cNvPr id="32" name="Line 206">
              <a:extLst>
                <a:ext uri="{FF2B5EF4-FFF2-40B4-BE49-F238E27FC236}">
                  <a16:creationId xmlns:a16="http://schemas.microsoft.com/office/drawing/2014/main" id="{9CF56667-959F-4C7B-8253-7648A9D88E38}"/>
                </a:ext>
              </a:extLst>
            </p:cNvPr>
            <p:cNvCxnSpPr>
              <a:cxnSpLocks noChangeShapeType="1"/>
            </p:cNvCxnSpPr>
            <p:nvPr/>
          </p:nvCxnSpPr>
          <p:spPr bwMode="auto">
            <a:xfrm flipV="1">
              <a:off x="7658" y="9143"/>
              <a:ext cx="2880"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33" name="Line 207">
              <a:extLst>
                <a:ext uri="{FF2B5EF4-FFF2-40B4-BE49-F238E27FC236}">
                  <a16:creationId xmlns:a16="http://schemas.microsoft.com/office/drawing/2014/main" id="{00DE8B31-A765-41C0-84D4-A63B250D13F5}"/>
                </a:ext>
              </a:extLst>
            </p:cNvPr>
            <p:cNvCxnSpPr>
              <a:cxnSpLocks noChangeShapeType="1"/>
            </p:cNvCxnSpPr>
            <p:nvPr/>
          </p:nvCxnSpPr>
          <p:spPr bwMode="auto">
            <a:xfrm>
              <a:off x="9158" y="8063"/>
              <a:ext cx="0" cy="1980"/>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sp>
          <p:nvSpPr>
            <p:cNvPr id="35" name="Text Box 208">
              <a:extLst>
                <a:ext uri="{FF2B5EF4-FFF2-40B4-BE49-F238E27FC236}">
                  <a16:creationId xmlns:a16="http://schemas.microsoft.com/office/drawing/2014/main" id="{44598223-F1F3-411D-B433-1AC31DDF16B3}"/>
                </a:ext>
              </a:extLst>
            </p:cNvPr>
            <p:cNvSpPr txBox="1">
              <a:spLocks noChangeArrowheads="1"/>
            </p:cNvSpPr>
            <p:nvPr/>
          </p:nvSpPr>
          <p:spPr bwMode="auto">
            <a:xfrm>
              <a:off x="10418" y="9143"/>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a:solidFill>
                    <a:srgbClr val="FFFFFF"/>
                  </a:solidFill>
                  <a:effectLst/>
                  <a:latin typeface="Times New Roman" panose="02020603050405020304" pitchFamily="18" charset="0"/>
                  <a:ea typeface="Times New Roman" panose="02020603050405020304" pitchFamily="18" charset="0"/>
                </a:rPr>
                <a:t>t</a:t>
              </a:r>
              <a:endParaRPr lang="en-GB" sz="2800">
                <a:effectLst/>
                <a:latin typeface="Times New Roman" panose="02020603050405020304" pitchFamily="18" charset="0"/>
                <a:ea typeface="Times New Roman" panose="02020603050405020304" pitchFamily="18" charset="0"/>
              </a:endParaRPr>
            </a:p>
          </p:txBody>
        </p:sp>
        <p:sp>
          <p:nvSpPr>
            <p:cNvPr id="36" name="Text Box 209">
              <a:extLst>
                <a:ext uri="{FF2B5EF4-FFF2-40B4-BE49-F238E27FC236}">
                  <a16:creationId xmlns:a16="http://schemas.microsoft.com/office/drawing/2014/main" id="{8BBA6947-F8F1-4AC8-A5D9-628E06530093}"/>
                </a:ext>
              </a:extLst>
            </p:cNvPr>
            <p:cNvSpPr txBox="1">
              <a:spLocks noChangeArrowheads="1"/>
            </p:cNvSpPr>
            <p:nvPr/>
          </p:nvSpPr>
          <p:spPr bwMode="auto">
            <a:xfrm>
              <a:off x="9218" y="9863"/>
              <a:ext cx="480"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(f)</a:t>
              </a:r>
              <a:endParaRPr lang="en-GB" sz="2800">
                <a:effectLst/>
                <a:latin typeface="Times New Roman" panose="02020603050405020304" pitchFamily="18" charset="0"/>
                <a:ea typeface="Times New Roman" panose="02020603050405020304" pitchFamily="18" charset="0"/>
              </a:endParaRPr>
            </a:p>
          </p:txBody>
        </p:sp>
        <p:sp>
          <p:nvSpPr>
            <p:cNvPr id="37" name="Text Box 210">
              <a:extLst>
                <a:ext uri="{FF2B5EF4-FFF2-40B4-BE49-F238E27FC236}">
                  <a16:creationId xmlns:a16="http://schemas.microsoft.com/office/drawing/2014/main" id="{29EF7E8E-E490-4951-8D0E-D6772567102E}"/>
                </a:ext>
              </a:extLst>
            </p:cNvPr>
            <p:cNvSpPr txBox="1">
              <a:spLocks noChangeArrowheads="1"/>
            </p:cNvSpPr>
            <p:nvPr/>
          </p:nvSpPr>
          <p:spPr bwMode="auto">
            <a:xfrm>
              <a:off x="9188" y="7883"/>
              <a:ext cx="720"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a(t)</a:t>
              </a:r>
              <a:endParaRPr lang="en-GB" sz="2800">
                <a:effectLst/>
                <a:latin typeface="Times New Roman" panose="02020603050405020304" pitchFamily="18" charset="0"/>
                <a:ea typeface="Times New Roman" panose="02020603050405020304" pitchFamily="18" charset="0"/>
              </a:endParaRPr>
            </a:p>
          </p:txBody>
        </p:sp>
        <p:cxnSp>
          <p:nvCxnSpPr>
            <p:cNvPr id="38" name="Line 211">
              <a:extLst>
                <a:ext uri="{FF2B5EF4-FFF2-40B4-BE49-F238E27FC236}">
                  <a16:creationId xmlns:a16="http://schemas.microsoft.com/office/drawing/2014/main" id="{5C68B66C-102F-4936-8EAE-39D69AE58387}"/>
                </a:ext>
              </a:extLst>
            </p:cNvPr>
            <p:cNvCxnSpPr>
              <a:cxnSpLocks noChangeShapeType="1"/>
            </p:cNvCxnSpPr>
            <p:nvPr/>
          </p:nvCxnSpPr>
          <p:spPr bwMode="auto">
            <a:xfrm>
              <a:off x="4743" y="9578"/>
              <a:ext cx="29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39" name="Line 212">
              <a:extLst>
                <a:ext uri="{FF2B5EF4-FFF2-40B4-BE49-F238E27FC236}">
                  <a16:creationId xmlns:a16="http://schemas.microsoft.com/office/drawing/2014/main" id="{C1B7EE79-05F6-4355-9C77-276C6B61E9D9}"/>
                </a:ext>
              </a:extLst>
            </p:cNvPr>
            <p:cNvCxnSpPr>
              <a:cxnSpLocks noChangeShapeType="1"/>
            </p:cNvCxnSpPr>
            <p:nvPr/>
          </p:nvCxnSpPr>
          <p:spPr bwMode="auto">
            <a:xfrm>
              <a:off x="5618" y="849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40" name="Line 213">
              <a:extLst>
                <a:ext uri="{FF2B5EF4-FFF2-40B4-BE49-F238E27FC236}">
                  <a16:creationId xmlns:a16="http://schemas.microsoft.com/office/drawing/2014/main" id="{3A1DC572-AF9B-4564-A747-FE00E8AADB43}"/>
                </a:ext>
              </a:extLst>
            </p:cNvPr>
            <p:cNvCxnSpPr>
              <a:cxnSpLocks noChangeShapeType="1"/>
            </p:cNvCxnSpPr>
            <p:nvPr/>
          </p:nvCxnSpPr>
          <p:spPr bwMode="auto">
            <a:xfrm>
              <a:off x="5636" y="9578"/>
              <a:ext cx="582"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41" name="Line 214">
              <a:extLst>
                <a:ext uri="{FF2B5EF4-FFF2-40B4-BE49-F238E27FC236}">
                  <a16:creationId xmlns:a16="http://schemas.microsoft.com/office/drawing/2014/main" id="{AC2C16D7-9891-43AB-B462-5BC92587FFA6}"/>
                </a:ext>
              </a:extLst>
            </p:cNvPr>
            <p:cNvCxnSpPr>
              <a:cxnSpLocks noChangeShapeType="1"/>
            </p:cNvCxnSpPr>
            <p:nvPr/>
          </p:nvCxnSpPr>
          <p:spPr bwMode="auto">
            <a:xfrm>
              <a:off x="6218" y="8498"/>
              <a:ext cx="29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42" name="Line 215">
              <a:extLst>
                <a:ext uri="{FF2B5EF4-FFF2-40B4-BE49-F238E27FC236}">
                  <a16:creationId xmlns:a16="http://schemas.microsoft.com/office/drawing/2014/main" id="{268ECB8C-C173-4239-9581-0A8CC1AA1789}"/>
                </a:ext>
              </a:extLst>
            </p:cNvPr>
            <p:cNvCxnSpPr>
              <a:cxnSpLocks noChangeShapeType="1"/>
            </p:cNvCxnSpPr>
            <p:nvPr/>
          </p:nvCxnSpPr>
          <p:spPr bwMode="auto">
            <a:xfrm>
              <a:off x="6508" y="849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43" name="Line 216">
              <a:extLst>
                <a:ext uri="{FF2B5EF4-FFF2-40B4-BE49-F238E27FC236}">
                  <a16:creationId xmlns:a16="http://schemas.microsoft.com/office/drawing/2014/main" id="{A2CFA3E5-0EE2-4296-A5FB-751E1920A1CF}"/>
                </a:ext>
              </a:extLst>
            </p:cNvPr>
            <p:cNvCxnSpPr>
              <a:cxnSpLocks noChangeShapeType="1"/>
            </p:cNvCxnSpPr>
            <p:nvPr/>
          </p:nvCxnSpPr>
          <p:spPr bwMode="auto">
            <a:xfrm>
              <a:off x="6205" y="849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44" name="Line 217">
              <a:extLst>
                <a:ext uri="{FF2B5EF4-FFF2-40B4-BE49-F238E27FC236}">
                  <a16:creationId xmlns:a16="http://schemas.microsoft.com/office/drawing/2014/main" id="{0487FF10-E3BB-4ECD-A811-3CAF5674CFA9}"/>
                </a:ext>
              </a:extLst>
            </p:cNvPr>
            <p:cNvCxnSpPr>
              <a:cxnSpLocks noChangeShapeType="1"/>
            </p:cNvCxnSpPr>
            <p:nvPr/>
          </p:nvCxnSpPr>
          <p:spPr bwMode="auto">
            <a:xfrm>
              <a:off x="5018" y="849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45" name="Line 218">
              <a:extLst>
                <a:ext uri="{FF2B5EF4-FFF2-40B4-BE49-F238E27FC236}">
                  <a16:creationId xmlns:a16="http://schemas.microsoft.com/office/drawing/2014/main" id="{A25B1D6E-E0ED-4D36-969C-62B202C70713}"/>
                </a:ext>
              </a:extLst>
            </p:cNvPr>
            <p:cNvCxnSpPr>
              <a:cxnSpLocks noChangeShapeType="1"/>
            </p:cNvCxnSpPr>
            <p:nvPr/>
          </p:nvCxnSpPr>
          <p:spPr bwMode="auto">
            <a:xfrm flipV="1">
              <a:off x="6822" y="8498"/>
              <a:ext cx="581"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46" name="Line 219">
              <a:extLst>
                <a:ext uri="{FF2B5EF4-FFF2-40B4-BE49-F238E27FC236}">
                  <a16:creationId xmlns:a16="http://schemas.microsoft.com/office/drawing/2014/main" id="{971D0B0D-1B42-49A2-A05E-523D2E5DA8B8}"/>
                </a:ext>
              </a:extLst>
            </p:cNvPr>
            <p:cNvCxnSpPr>
              <a:cxnSpLocks noChangeShapeType="1"/>
            </p:cNvCxnSpPr>
            <p:nvPr/>
          </p:nvCxnSpPr>
          <p:spPr bwMode="auto">
            <a:xfrm flipV="1">
              <a:off x="6512" y="9578"/>
              <a:ext cx="291"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47" name="Line 220">
              <a:extLst>
                <a:ext uri="{FF2B5EF4-FFF2-40B4-BE49-F238E27FC236}">
                  <a16:creationId xmlns:a16="http://schemas.microsoft.com/office/drawing/2014/main" id="{821BAB80-39D9-4BA2-A4E9-25AC1B1D30FF}"/>
                </a:ext>
              </a:extLst>
            </p:cNvPr>
            <p:cNvCxnSpPr>
              <a:cxnSpLocks noChangeShapeType="1"/>
            </p:cNvCxnSpPr>
            <p:nvPr/>
          </p:nvCxnSpPr>
          <p:spPr bwMode="auto">
            <a:xfrm flipV="1">
              <a:off x="6803" y="849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48" name="Line 221">
              <a:extLst>
                <a:ext uri="{FF2B5EF4-FFF2-40B4-BE49-F238E27FC236}">
                  <a16:creationId xmlns:a16="http://schemas.microsoft.com/office/drawing/2014/main" id="{37365F46-A6B5-451A-AE85-DBC89E369995}"/>
                </a:ext>
              </a:extLst>
            </p:cNvPr>
            <p:cNvCxnSpPr>
              <a:cxnSpLocks noChangeShapeType="1"/>
            </p:cNvCxnSpPr>
            <p:nvPr/>
          </p:nvCxnSpPr>
          <p:spPr bwMode="auto">
            <a:xfrm>
              <a:off x="4733" y="849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49" name="Line 222">
              <a:extLst>
                <a:ext uri="{FF2B5EF4-FFF2-40B4-BE49-F238E27FC236}">
                  <a16:creationId xmlns:a16="http://schemas.microsoft.com/office/drawing/2014/main" id="{B17CEBD3-2D6A-4B05-B9E9-2B44D8292B44}"/>
                </a:ext>
              </a:extLst>
            </p:cNvPr>
            <p:cNvCxnSpPr>
              <a:cxnSpLocks noChangeShapeType="1"/>
            </p:cNvCxnSpPr>
            <p:nvPr/>
          </p:nvCxnSpPr>
          <p:spPr bwMode="auto">
            <a:xfrm>
              <a:off x="5036" y="8498"/>
              <a:ext cx="582"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grpSp>
          <p:nvGrpSpPr>
            <p:cNvPr id="50" name="Group 49">
              <a:extLst>
                <a:ext uri="{FF2B5EF4-FFF2-40B4-BE49-F238E27FC236}">
                  <a16:creationId xmlns:a16="http://schemas.microsoft.com/office/drawing/2014/main" id="{8C5B57D1-31EC-4751-A548-505E9FC30DF7}"/>
                </a:ext>
              </a:extLst>
            </p:cNvPr>
            <p:cNvGrpSpPr>
              <a:grpSpLocks/>
            </p:cNvGrpSpPr>
            <p:nvPr/>
          </p:nvGrpSpPr>
          <p:grpSpPr bwMode="auto">
            <a:xfrm>
              <a:off x="1388" y="8588"/>
              <a:ext cx="2730" cy="1095"/>
              <a:chOff x="1388" y="13838"/>
              <a:chExt cx="2730" cy="1095"/>
            </a:xfrm>
          </p:grpSpPr>
          <p:cxnSp>
            <p:nvCxnSpPr>
              <p:cNvPr id="63" name="Line 224">
                <a:extLst>
                  <a:ext uri="{FF2B5EF4-FFF2-40B4-BE49-F238E27FC236}">
                    <a16:creationId xmlns:a16="http://schemas.microsoft.com/office/drawing/2014/main" id="{CF9E9038-4F06-45A9-8589-A1AF19D8F0AB}"/>
                  </a:ext>
                </a:extLst>
              </p:cNvPr>
              <p:cNvCxnSpPr>
                <a:cxnSpLocks noChangeShapeType="1"/>
              </p:cNvCxnSpPr>
              <p:nvPr/>
            </p:nvCxnSpPr>
            <p:spPr bwMode="auto">
              <a:xfrm flipV="1">
                <a:off x="2741" y="13838"/>
                <a:ext cx="467"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64" name="Line 225">
                <a:extLst>
                  <a:ext uri="{FF2B5EF4-FFF2-40B4-BE49-F238E27FC236}">
                    <a16:creationId xmlns:a16="http://schemas.microsoft.com/office/drawing/2014/main" id="{D53275CF-CACF-4E99-B4CC-C74CC570C482}"/>
                  </a:ext>
                </a:extLst>
              </p:cNvPr>
              <p:cNvCxnSpPr>
                <a:cxnSpLocks noChangeShapeType="1"/>
              </p:cNvCxnSpPr>
              <p:nvPr/>
            </p:nvCxnSpPr>
            <p:spPr bwMode="auto">
              <a:xfrm flipV="1">
                <a:off x="3651" y="13838"/>
                <a:ext cx="467"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65" name="Line 226">
                <a:extLst>
                  <a:ext uri="{FF2B5EF4-FFF2-40B4-BE49-F238E27FC236}">
                    <a16:creationId xmlns:a16="http://schemas.microsoft.com/office/drawing/2014/main" id="{614461DE-DBFE-4AF9-A44C-043188323176}"/>
                  </a:ext>
                </a:extLst>
              </p:cNvPr>
              <p:cNvCxnSpPr>
                <a:cxnSpLocks noChangeShapeType="1"/>
              </p:cNvCxnSpPr>
              <p:nvPr/>
            </p:nvCxnSpPr>
            <p:spPr bwMode="auto">
              <a:xfrm flipH="1" flipV="1">
                <a:off x="2282" y="13838"/>
                <a:ext cx="467"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66" name="Line 227">
                <a:extLst>
                  <a:ext uri="{FF2B5EF4-FFF2-40B4-BE49-F238E27FC236}">
                    <a16:creationId xmlns:a16="http://schemas.microsoft.com/office/drawing/2014/main" id="{87A1521C-35F1-484B-843F-72D413D67B11}"/>
                  </a:ext>
                </a:extLst>
              </p:cNvPr>
              <p:cNvCxnSpPr>
                <a:cxnSpLocks noChangeShapeType="1"/>
              </p:cNvCxnSpPr>
              <p:nvPr/>
            </p:nvCxnSpPr>
            <p:spPr bwMode="auto">
              <a:xfrm flipH="1" flipV="1">
                <a:off x="3192" y="13838"/>
                <a:ext cx="467"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67" name="Line 228">
                <a:extLst>
                  <a:ext uri="{FF2B5EF4-FFF2-40B4-BE49-F238E27FC236}">
                    <a16:creationId xmlns:a16="http://schemas.microsoft.com/office/drawing/2014/main" id="{924F441F-885F-4AD5-B434-906FF3324157}"/>
                  </a:ext>
                </a:extLst>
              </p:cNvPr>
              <p:cNvCxnSpPr>
                <a:cxnSpLocks noChangeShapeType="1"/>
              </p:cNvCxnSpPr>
              <p:nvPr/>
            </p:nvCxnSpPr>
            <p:spPr bwMode="auto">
              <a:xfrm flipV="1">
                <a:off x="1847" y="13853"/>
                <a:ext cx="467"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68" name="Line 229">
                <a:extLst>
                  <a:ext uri="{FF2B5EF4-FFF2-40B4-BE49-F238E27FC236}">
                    <a16:creationId xmlns:a16="http://schemas.microsoft.com/office/drawing/2014/main" id="{C7ECA4A0-3A33-4563-8F83-04AA9759B6C6}"/>
                  </a:ext>
                </a:extLst>
              </p:cNvPr>
              <p:cNvCxnSpPr>
                <a:cxnSpLocks noChangeShapeType="1"/>
              </p:cNvCxnSpPr>
              <p:nvPr/>
            </p:nvCxnSpPr>
            <p:spPr bwMode="auto">
              <a:xfrm flipH="1" flipV="1">
                <a:off x="1388" y="13853"/>
                <a:ext cx="467"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grpSp>
        <p:sp>
          <p:nvSpPr>
            <p:cNvPr id="51" name="Text Box 230">
              <a:extLst>
                <a:ext uri="{FF2B5EF4-FFF2-40B4-BE49-F238E27FC236}">
                  <a16:creationId xmlns:a16="http://schemas.microsoft.com/office/drawing/2014/main" id="{7BD27A6A-BF6C-4824-9E5E-63E32A478074}"/>
                </a:ext>
              </a:extLst>
            </p:cNvPr>
            <p:cNvSpPr txBox="1">
              <a:spLocks noChangeArrowheads="1"/>
            </p:cNvSpPr>
            <p:nvPr/>
          </p:nvSpPr>
          <p:spPr bwMode="auto">
            <a:xfrm>
              <a:off x="3338" y="10131"/>
              <a:ext cx="5716" cy="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800" dirty="0">
                  <a:solidFill>
                    <a:srgbClr val="002060"/>
                  </a:solidFill>
                  <a:effectLst/>
                  <a:latin typeface="Times New Roman" panose="02020603050405020304" pitchFamily="18" charset="0"/>
                  <a:ea typeface="Times New Roman" panose="02020603050405020304" pitchFamily="18" charset="0"/>
                </a:rPr>
                <a:t>Figure 4 – Waveforms with Odd symmetry</a:t>
              </a:r>
              <a:endParaRPr lang="en-GB" sz="2800" dirty="0">
                <a:effectLst/>
                <a:latin typeface="Times New Roman" panose="02020603050405020304" pitchFamily="18" charset="0"/>
                <a:ea typeface="Times New Roman" panose="02020603050405020304" pitchFamily="18" charset="0"/>
              </a:endParaRPr>
            </a:p>
          </p:txBody>
        </p:sp>
        <p:cxnSp>
          <p:nvCxnSpPr>
            <p:cNvPr id="52" name="Line 231">
              <a:extLst>
                <a:ext uri="{FF2B5EF4-FFF2-40B4-BE49-F238E27FC236}">
                  <a16:creationId xmlns:a16="http://schemas.microsoft.com/office/drawing/2014/main" id="{0DE9F75C-555C-462A-8A1F-83A7FD2AACC4}"/>
                </a:ext>
              </a:extLst>
            </p:cNvPr>
            <p:cNvCxnSpPr>
              <a:cxnSpLocks noChangeShapeType="1"/>
            </p:cNvCxnSpPr>
            <p:nvPr/>
          </p:nvCxnSpPr>
          <p:spPr bwMode="auto">
            <a:xfrm flipV="1">
              <a:off x="5138" y="5873"/>
              <a:ext cx="1440" cy="144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grpSp>
          <p:nvGrpSpPr>
            <p:cNvPr id="53" name="Group 52">
              <a:extLst>
                <a:ext uri="{FF2B5EF4-FFF2-40B4-BE49-F238E27FC236}">
                  <a16:creationId xmlns:a16="http://schemas.microsoft.com/office/drawing/2014/main" id="{F8B50C57-E11C-4BEB-BF59-CD9A6436EE27}"/>
                </a:ext>
              </a:extLst>
            </p:cNvPr>
            <p:cNvGrpSpPr>
              <a:grpSpLocks/>
            </p:cNvGrpSpPr>
            <p:nvPr/>
          </p:nvGrpSpPr>
          <p:grpSpPr bwMode="auto">
            <a:xfrm>
              <a:off x="7808" y="5883"/>
              <a:ext cx="2520" cy="1490"/>
              <a:chOff x="7808" y="5643"/>
              <a:chExt cx="2520" cy="1490"/>
            </a:xfrm>
          </p:grpSpPr>
          <p:sp>
            <p:nvSpPr>
              <p:cNvPr id="60" name="Freeform 233">
                <a:extLst>
                  <a:ext uri="{FF2B5EF4-FFF2-40B4-BE49-F238E27FC236}">
                    <a16:creationId xmlns:a16="http://schemas.microsoft.com/office/drawing/2014/main" id="{C1F51B5F-8814-4D91-8E68-E24EFE1E80C0}"/>
                  </a:ext>
                </a:extLst>
              </p:cNvPr>
              <p:cNvSpPr>
                <a:spLocks/>
              </p:cNvSpPr>
              <p:nvPr/>
            </p:nvSpPr>
            <p:spPr bwMode="auto">
              <a:xfrm>
                <a:off x="9082" y="5643"/>
                <a:ext cx="1246" cy="143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2800"/>
              </a:p>
            </p:txBody>
          </p:sp>
          <p:sp>
            <p:nvSpPr>
              <p:cNvPr id="61" name="Freeform 234">
                <a:extLst>
                  <a:ext uri="{FF2B5EF4-FFF2-40B4-BE49-F238E27FC236}">
                    <a16:creationId xmlns:a16="http://schemas.microsoft.com/office/drawing/2014/main" id="{4454CC23-A9D4-4080-8270-7D1ACE7BE17C}"/>
                  </a:ext>
                </a:extLst>
              </p:cNvPr>
              <p:cNvSpPr>
                <a:spLocks/>
              </p:cNvSpPr>
              <p:nvPr/>
            </p:nvSpPr>
            <p:spPr bwMode="auto">
              <a:xfrm flipH="1" flipV="1">
                <a:off x="7808" y="5663"/>
                <a:ext cx="1246" cy="143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2800"/>
              </a:p>
            </p:txBody>
          </p:sp>
          <p:cxnSp>
            <p:nvCxnSpPr>
              <p:cNvPr id="62" name="Line 235">
                <a:extLst>
                  <a:ext uri="{FF2B5EF4-FFF2-40B4-BE49-F238E27FC236}">
                    <a16:creationId xmlns:a16="http://schemas.microsoft.com/office/drawing/2014/main" id="{9744C31D-0481-449B-8F4F-36815694DB38}"/>
                  </a:ext>
                </a:extLst>
              </p:cNvPr>
              <p:cNvCxnSpPr>
                <a:cxnSpLocks noChangeShapeType="1"/>
              </p:cNvCxnSpPr>
              <p:nvPr/>
            </p:nvCxnSpPr>
            <p:spPr bwMode="auto">
              <a:xfrm>
                <a:off x="9068" y="5693"/>
                <a:ext cx="0" cy="144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grpSp>
        <p:cxnSp>
          <p:nvCxnSpPr>
            <p:cNvPr id="54" name="Line 236">
              <a:extLst>
                <a:ext uri="{FF2B5EF4-FFF2-40B4-BE49-F238E27FC236}">
                  <a16:creationId xmlns:a16="http://schemas.microsoft.com/office/drawing/2014/main" id="{49C8EDA7-C2A4-46E8-85E2-6A4081E57129}"/>
                </a:ext>
              </a:extLst>
            </p:cNvPr>
            <p:cNvCxnSpPr>
              <a:cxnSpLocks noChangeShapeType="1"/>
            </p:cNvCxnSpPr>
            <p:nvPr/>
          </p:nvCxnSpPr>
          <p:spPr bwMode="auto">
            <a:xfrm>
              <a:off x="4443" y="8498"/>
              <a:ext cx="29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55" name="Line 237">
              <a:extLst>
                <a:ext uri="{FF2B5EF4-FFF2-40B4-BE49-F238E27FC236}">
                  <a16:creationId xmlns:a16="http://schemas.microsoft.com/office/drawing/2014/main" id="{DD853F97-4919-4294-9F31-CF0909E2DE6B}"/>
                </a:ext>
              </a:extLst>
            </p:cNvPr>
            <p:cNvCxnSpPr>
              <a:cxnSpLocks noChangeShapeType="1"/>
            </p:cNvCxnSpPr>
            <p:nvPr/>
          </p:nvCxnSpPr>
          <p:spPr bwMode="auto">
            <a:xfrm>
              <a:off x="4418" y="849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grpSp>
          <p:nvGrpSpPr>
            <p:cNvPr id="56" name="Group 55">
              <a:extLst>
                <a:ext uri="{FF2B5EF4-FFF2-40B4-BE49-F238E27FC236}">
                  <a16:creationId xmlns:a16="http://schemas.microsoft.com/office/drawing/2014/main" id="{0D209132-D07B-4C92-B123-468D9A29539C}"/>
                </a:ext>
              </a:extLst>
            </p:cNvPr>
            <p:cNvGrpSpPr>
              <a:grpSpLocks/>
            </p:cNvGrpSpPr>
            <p:nvPr/>
          </p:nvGrpSpPr>
          <p:grpSpPr bwMode="auto">
            <a:xfrm>
              <a:off x="7898" y="8588"/>
              <a:ext cx="2520" cy="915"/>
              <a:chOff x="8138" y="8348"/>
              <a:chExt cx="2040" cy="915"/>
            </a:xfrm>
          </p:grpSpPr>
          <p:sp>
            <p:nvSpPr>
              <p:cNvPr id="57" name="Freeform 239">
                <a:extLst>
                  <a:ext uri="{FF2B5EF4-FFF2-40B4-BE49-F238E27FC236}">
                    <a16:creationId xmlns:a16="http://schemas.microsoft.com/office/drawing/2014/main" id="{8F7D7994-B404-4239-B97C-6FF160363ABC}"/>
                  </a:ext>
                </a:extLst>
              </p:cNvPr>
              <p:cNvSpPr>
                <a:spLocks/>
              </p:cNvSpPr>
              <p:nvPr/>
            </p:nvSpPr>
            <p:spPr bwMode="auto">
              <a:xfrm flipV="1">
                <a:off x="9158" y="8348"/>
                <a:ext cx="1020" cy="915"/>
              </a:xfrm>
              <a:custGeom>
                <a:avLst/>
                <a:gdLst>
                  <a:gd name="T0" fmla="*/ 0 w 1020"/>
                  <a:gd name="T1" fmla="*/ 735 h 915"/>
                  <a:gd name="T2" fmla="*/ 85 w 1020"/>
                  <a:gd name="T3" fmla="*/ 375 h 915"/>
                  <a:gd name="T4" fmla="*/ 142 w 1020"/>
                  <a:gd name="T5" fmla="*/ 202 h 915"/>
                  <a:gd name="T6" fmla="*/ 247 w 1020"/>
                  <a:gd name="T7" fmla="*/ 787 h 915"/>
                  <a:gd name="T8" fmla="*/ 352 w 1020"/>
                  <a:gd name="T9" fmla="*/ 367 h 915"/>
                  <a:gd name="T10" fmla="*/ 510 w 1020"/>
                  <a:gd name="T11" fmla="*/ 15 h 915"/>
                  <a:gd name="T12" fmla="*/ 637 w 1020"/>
                  <a:gd name="T13" fmla="*/ 457 h 915"/>
                  <a:gd name="T14" fmla="*/ 727 w 1020"/>
                  <a:gd name="T15" fmla="*/ 862 h 915"/>
                  <a:gd name="T16" fmla="*/ 787 w 1020"/>
                  <a:gd name="T17" fmla="*/ 412 h 915"/>
                  <a:gd name="T18" fmla="*/ 850 w 1020"/>
                  <a:gd name="T19" fmla="*/ 735 h 915"/>
                  <a:gd name="T20" fmla="*/ 935 w 1020"/>
                  <a:gd name="T21" fmla="*/ 915 h 915"/>
                  <a:gd name="T22" fmla="*/ 1020 w 1020"/>
                  <a:gd name="T23" fmla="*/ 735 h 9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0" h="915">
                    <a:moveTo>
                      <a:pt x="0" y="735"/>
                    </a:moveTo>
                    <a:cubicBezTo>
                      <a:pt x="28" y="585"/>
                      <a:pt x="61" y="464"/>
                      <a:pt x="85" y="375"/>
                    </a:cubicBezTo>
                    <a:cubicBezTo>
                      <a:pt x="109" y="286"/>
                      <a:pt x="115" y="133"/>
                      <a:pt x="142" y="202"/>
                    </a:cubicBezTo>
                    <a:cubicBezTo>
                      <a:pt x="169" y="271"/>
                      <a:pt x="212" y="760"/>
                      <a:pt x="247" y="787"/>
                    </a:cubicBezTo>
                    <a:cubicBezTo>
                      <a:pt x="282" y="814"/>
                      <a:pt x="308" y="496"/>
                      <a:pt x="352" y="367"/>
                    </a:cubicBezTo>
                    <a:cubicBezTo>
                      <a:pt x="396" y="238"/>
                      <a:pt x="463" y="0"/>
                      <a:pt x="510" y="15"/>
                    </a:cubicBezTo>
                    <a:cubicBezTo>
                      <a:pt x="557" y="30"/>
                      <a:pt x="601" y="316"/>
                      <a:pt x="637" y="457"/>
                    </a:cubicBezTo>
                    <a:cubicBezTo>
                      <a:pt x="673" y="598"/>
                      <a:pt x="702" y="869"/>
                      <a:pt x="727" y="862"/>
                    </a:cubicBezTo>
                    <a:cubicBezTo>
                      <a:pt x="752" y="855"/>
                      <a:pt x="767" y="433"/>
                      <a:pt x="787" y="412"/>
                    </a:cubicBezTo>
                    <a:cubicBezTo>
                      <a:pt x="807" y="391"/>
                      <a:pt x="825" y="651"/>
                      <a:pt x="850" y="735"/>
                    </a:cubicBezTo>
                    <a:cubicBezTo>
                      <a:pt x="875" y="819"/>
                      <a:pt x="907" y="915"/>
                      <a:pt x="935" y="915"/>
                    </a:cubicBezTo>
                    <a:cubicBezTo>
                      <a:pt x="963" y="915"/>
                      <a:pt x="992" y="825"/>
                      <a:pt x="1020" y="735"/>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2800"/>
              </a:p>
            </p:txBody>
          </p:sp>
          <p:sp>
            <p:nvSpPr>
              <p:cNvPr id="58" name="Freeform 240">
                <a:extLst>
                  <a:ext uri="{FF2B5EF4-FFF2-40B4-BE49-F238E27FC236}">
                    <a16:creationId xmlns:a16="http://schemas.microsoft.com/office/drawing/2014/main" id="{74E4D74E-CD2E-4AED-B4CF-870205A38F50}"/>
                  </a:ext>
                </a:extLst>
              </p:cNvPr>
              <p:cNvSpPr>
                <a:spLocks/>
              </p:cNvSpPr>
              <p:nvPr/>
            </p:nvSpPr>
            <p:spPr bwMode="auto">
              <a:xfrm flipH="1">
                <a:off x="8138" y="8348"/>
                <a:ext cx="1020" cy="915"/>
              </a:xfrm>
              <a:custGeom>
                <a:avLst/>
                <a:gdLst>
                  <a:gd name="T0" fmla="*/ 0 w 1020"/>
                  <a:gd name="T1" fmla="*/ 735 h 915"/>
                  <a:gd name="T2" fmla="*/ 85 w 1020"/>
                  <a:gd name="T3" fmla="*/ 375 h 915"/>
                  <a:gd name="T4" fmla="*/ 142 w 1020"/>
                  <a:gd name="T5" fmla="*/ 202 h 915"/>
                  <a:gd name="T6" fmla="*/ 247 w 1020"/>
                  <a:gd name="T7" fmla="*/ 787 h 915"/>
                  <a:gd name="T8" fmla="*/ 352 w 1020"/>
                  <a:gd name="T9" fmla="*/ 367 h 915"/>
                  <a:gd name="T10" fmla="*/ 510 w 1020"/>
                  <a:gd name="T11" fmla="*/ 15 h 915"/>
                  <a:gd name="T12" fmla="*/ 637 w 1020"/>
                  <a:gd name="T13" fmla="*/ 457 h 915"/>
                  <a:gd name="T14" fmla="*/ 727 w 1020"/>
                  <a:gd name="T15" fmla="*/ 862 h 915"/>
                  <a:gd name="T16" fmla="*/ 787 w 1020"/>
                  <a:gd name="T17" fmla="*/ 412 h 915"/>
                  <a:gd name="T18" fmla="*/ 850 w 1020"/>
                  <a:gd name="T19" fmla="*/ 735 h 915"/>
                  <a:gd name="T20" fmla="*/ 935 w 1020"/>
                  <a:gd name="T21" fmla="*/ 915 h 915"/>
                  <a:gd name="T22" fmla="*/ 1020 w 1020"/>
                  <a:gd name="T23" fmla="*/ 735 h 9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0" h="915">
                    <a:moveTo>
                      <a:pt x="0" y="735"/>
                    </a:moveTo>
                    <a:cubicBezTo>
                      <a:pt x="28" y="585"/>
                      <a:pt x="61" y="464"/>
                      <a:pt x="85" y="375"/>
                    </a:cubicBezTo>
                    <a:cubicBezTo>
                      <a:pt x="109" y="286"/>
                      <a:pt x="115" y="133"/>
                      <a:pt x="142" y="202"/>
                    </a:cubicBezTo>
                    <a:cubicBezTo>
                      <a:pt x="169" y="271"/>
                      <a:pt x="212" y="760"/>
                      <a:pt x="247" y="787"/>
                    </a:cubicBezTo>
                    <a:cubicBezTo>
                      <a:pt x="282" y="814"/>
                      <a:pt x="308" y="496"/>
                      <a:pt x="352" y="367"/>
                    </a:cubicBezTo>
                    <a:cubicBezTo>
                      <a:pt x="396" y="238"/>
                      <a:pt x="463" y="0"/>
                      <a:pt x="510" y="15"/>
                    </a:cubicBezTo>
                    <a:cubicBezTo>
                      <a:pt x="557" y="30"/>
                      <a:pt x="601" y="316"/>
                      <a:pt x="637" y="457"/>
                    </a:cubicBezTo>
                    <a:cubicBezTo>
                      <a:pt x="673" y="598"/>
                      <a:pt x="702" y="869"/>
                      <a:pt x="727" y="862"/>
                    </a:cubicBezTo>
                    <a:cubicBezTo>
                      <a:pt x="752" y="855"/>
                      <a:pt x="767" y="433"/>
                      <a:pt x="787" y="412"/>
                    </a:cubicBezTo>
                    <a:cubicBezTo>
                      <a:pt x="807" y="391"/>
                      <a:pt x="825" y="651"/>
                      <a:pt x="850" y="735"/>
                    </a:cubicBezTo>
                    <a:cubicBezTo>
                      <a:pt x="875" y="819"/>
                      <a:pt x="907" y="915"/>
                      <a:pt x="935" y="915"/>
                    </a:cubicBezTo>
                    <a:cubicBezTo>
                      <a:pt x="963" y="915"/>
                      <a:pt x="992" y="825"/>
                      <a:pt x="1020" y="735"/>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2800"/>
              </a:p>
            </p:txBody>
          </p:sp>
          <p:cxnSp>
            <p:nvCxnSpPr>
              <p:cNvPr id="59" name="Line 241">
                <a:extLst>
                  <a:ext uri="{FF2B5EF4-FFF2-40B4-BE49-F238E27FC236}">
                    <a16:creationId xmlns:a16="http://schemas.microsoft.com/office/drawing/2014/main" id="{0CAC2F78-3A71-41AC-A6AE-F0D7B2D02112}"/>
                  </a:ext>
                </a:extLst>
              </p:cNvPr>
              <p:cNvCxnSpPr>
                <a:cxnSpLocks noChangeShapeType="1"/>
              </p:cNvCxnSpPr>
              <p:nvPr/>
            </p:nvCxnSpPr>
            <p:spPr bwMode="auto">
              <a:xfrm>
                <a:off x="9158" y="8570"/>
                <a:ext cx="0" cy="482"/>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grpSp>
      </p:grpSp>
    </p:spTree>
    <p:extLst>
      <p:ext uri="{BB962C8B-B14F-4D97-AF65-F5344CB8AC3E}">
        <p14:creationId xmlns:p14="http://schemas.microsoft.com/office/powerpoint/2010/main" val="1254816099"/>
      </p:ext>
    </p:extLst>
  </p:cSld>
  <p:clrMapOvr>
    <a:masterClrMapping/>
  </p:clrMapOvr>
  <mc:AlternateContent xmlns:mc="http://schemas.openxmlformats.org/markup-compatibility/2006" xmlns:p14="http://schemas.microsoft.com/office/powerpoint/2010/main">
    <mc:Choice Requires="p14">
      <p:transition spd="slow" p14:dur="2000" advTm="23335"/>
    </mc:Choice>
    <mc:Fallback xmlns="">
      <p:transition spd="slow" advTm="2333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2A3FEB6B-2FF7-45B4-A22A-AC0E3520DE8B}"/>
              </a:ext>
            </a:extLst>
          </p:cNvPr>
          <p:cNvSpPr/>
          <p:nvPr/>
        </p:nvSpPr>
        <p:spPr>
          <a:xfrm>
            <a:off x="386080" y="653698"/>
            <a:ext cx="7863840" cy="6047809"/>
          </a:xfrm>
          <a:prstGeom prst="rect">
            <a:avLst/>
          </a:prstGeom>
        </p:spPr>
        <p:txBody>
          <a:bodyPr wrap="square">
            <a:spAutoFit/>
          </a:bodyPr>
          <a:lstStyle/>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Simplest waveforms </a:t>
            </a:r>
            <a:r>
              <a:rPr lang="en-GB" sz="3200" b="1" i="1" dirty="0">
                <a:solidFill>
                  <a:srgbClr val="002060"/>
                </a:solidFill>
                <a:latin typeface="Times New Roman" panose="02020603050405020304" pitchFamily="18" charset="0"/>
                <a:ea typeface="Times New Roman" panose="02020603050405020304" pitchFamily="18" charset="0"/>
              </a:rPr>
              <a:t>with odd symmetry</a:t>
            </a:r>
            <a:endParaRPr lang="en-GB" sz="3200" dirty="0">
              <a:latin typeface="Times New Roman" panose="02020603050405020304" pitchFamily="18" charset="0"/>
              <a:ea typeface="Times New Roman" panose="02020603050405020304" pitchFamily="18" charset="0"/>
            </a:endParaRPr>
          </a:p>
          <a:p>
            <a:pPr marL="342900" marR="0" lvl="0" indent="-342900" algn="just">
              <a:spcBef>
                <a:spcPts val="0"/>
              </a:spcBef>
              <a:spcAft>
                <a:spcPts val="600"/>
              </a:spcAft>
              <a:buFont typeface="Symbol" panose="05050102010706020507" pitchFamily="18" charset="2"/>
              <a:buChar char=""/>
            </a:pPr>
            <a:r>
              <a:rPr lang="en-GB" sz="3200" i="1" dirty="0">
                <a:solidFill>
                  <a:srgbClr val="002060"/>
                </a:solidFill>
                <a:latin typeface="Times New Roman" panose="02020603050405020304" pitchFamily="18" charset="0"/>
                <a:ea typeface="Times New Roman" panose="02020603050405020304" pitchFamily="18" charset="0"/>
              </a:rPr>
              <a:t>sine</a:t>
            </a:r>
            <a:r>
              <a:rPr lang="en-GB" sz="3200" dirty="0">
                <a:solidFill>
                  <a:srgbClr val="002060"/>
                </a:solidFill>
                <a:latin typeface="Times New Roman" panose="02020603050405020304" pitchFamily="18" charset="0"/>
                <a:ea typeface="Times New Roman" panose="02020603050405020304" pitchFamily="18" charset="0"/>
              </a:rPr>
              <a:t> waveform – figure  (a)</a:t>
            </a:r>
            <a:endParaRPr lang="en-GB" sz="3200" dirty="0">
              <a:latin typeface="Times New Roman" panose="02020603050405020304" pitchFamily="18" charset="0"/>
              <a:ea typeface="Times New Roman" panose="02020603050405020304" pitchFamily="18" charset="0"/>
            </a:endParaRPr>
          </a:p>
          <a:p>
            <a:pPr marL="342900" marR="0" lvl="0" indent="-342900" algn="just">
              <a:spcBef>
                <a:spcPts val="0"/>
              </a:spcBef>
              <a:spcAft>
                <a:spcPts val="600"/>
              </a:spcAft>
              <a:buFont typeface="Symbol" panose="05050102010706020507" pitchFamily="18" charset="2"/>
              <a:buChar char=""/>
            </a:pPr>
            <a:r>
              <a:rPr lang="en-GB" sz="3200" i="1" dirty="0">
                <a:solidFill>
                  <a:srgbClr val="002060"/>
                </a:solidFill>
                <a:latin typeface="Times New Roman" panose="02020603050405020304" pitchFamily="18" charset="0"/>
                <a:ea typeface="Times New Roman" panose="02020603050405020304" pitchFamily="18" charset="0"/>
              </a:rPr>
              <a:t>ramp</a:t>
            </a:r>
            <a:r>
              <a:rPr lang="en-GB" sz="3200" dirty="0">
                <a:solidFill>
                  <a:srgbClr val="002060"/>
                </a:solidFill>
                <a:latin typeface="Times New Roman" panose="02020603050405020304" pitchFamily="18" charset="0"/>
                <a:ea typeface="Times New Roman" panose="02020603050405020304" pitchFamily="18" charset="0"/>
              </a:rPr>
              <a:t> waveform – figure (b).</a:t>
            </a:r>
            <a:endParaRPr lang="en-GB" sz="3200" dirty="0">
              <a:latin typeface="Times New Roman" panose="02020603050405020304" pitchFamily="18" charset="0"/>
              <a:ea typeface="Times New Roman" panose="02020603050405020304" pitchFamily="18" charset="0"/>
            </a:endParaRPr>
          </a:p>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Odd symmetry can exist in both periodic and non-periodic waveforms. </a:t>
            </a:r>
            <a:endParaRPr lang="en-GB" sz="3200" dirty="0">
              <a:latin typeface="Times New Roman" panose="02020603050405020304" pitchFamily="18" charset="0"/>
              <a:ea typeface="Times New Roman" panose="02020603050405020304" pitchFamily="18" charset="0"/>
            </a:endParaRPr>
          </a:p>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However, only varying terms can exist in such waveforms.</a:t>
            </a:r>
            <a:endParaRPr lang="en-GB" sz="3200" dirty="0">
              <a:latin typeface="Times New Roman" panose="02020603050405020304" pitchFamily="18" charset="0"/>
              <a:ea typeface="Times New Roman" panose="02020603050405020304" pitchFamily="18" charset="0"/>
            </a:endParaRPr>
          </a:p>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Direct terms cannot exist in odd waveforms.</a:t>
            </a:r>
            <a:endParaRPr lang="en-GB" sz="3200" dirty="0">
              <a:latin typeface="Times New Roman" panose="02020603050405020304" pitchFamily="18" charset="0"/>
              <a:ea typeface="Times New Roman" panose="02020603050405020304" pitchFamily="18" charset="0"/>
            </a:endParaRPr>
          </a:p>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If the waveform is defined for only t </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 0, </a:t>
            </a:r>
            <a:endParaRPr lang="en-GB" sz="3200" dirty="0">
              <a:latin typeface="Times New Roman" panose="02020603050405020304" pitchFamily="18" charset="0"/>
              <a:ea typeface="Times New Roman" panose="02020603050405020304" pitchFamily="18" charset="0"/>
            </a:endParaRPr>
          </a:p>
          <a:p>
            <a:r>
              <a:rPr lang="en-GB" sz="3200" dirty="0">
                <a:solidFill>
                  <a:srgbClr val="002060"/>
                </a:solidFill>
                <a:latin typeface="Times New Roman" panose="02020603050405020304" pitchFamily="18" charset="0"/>
                <a:ea typeface="Times New Roman" panose="02020603050405020304" pitchFamily="18" charset="0"/>
              </a:rPr>
              <a:t>the remainder is automatically known by symmetry.</a:t>
            </a:r>
            <a:endParaRPr lang="en-GB" sz="3200" dirty="0"/>
          </a:p>
        </p:txBody>
      </p:sp>
      <p:grpSp>
        <p:nvGrpSpPr>
          <p:cNvPr id="12" name="Group 11">
            <a:extLst>
              <a:ext uri="{FF2B5EF4-FFF2-40B4-BE49-F238E27FC236}">
                <a16:creationId xmlns:a16="http://schemas.microsoft.com/office/drawing/2014/main" id="{70E9F80A-212A-4F3C-88B5-4B6FA9720085}"/>
              </a:ext>
            </a:extLst>
          </p:cNvPr>
          <p:cNvGrpSpPr/>
          <p:nvPr/>
        </p:nvGrpSpPr>
        <p:grpSpPr>
          <a:xfrm>
            <a:off x="8473440" y="653698"/>
            <a:ext cx="3718560" cy="2313022"/>
            <a:chOff x="0" y="0"/>
            <a:chExt cx="3106827" cy="1983293"/>
          </a:xfrm>
        </p:grpSpPr>
        <p:cxnSp>
          <p:nvCxnSpPr>
            <p:cNvPr id="13" name="Line 178">
              <a:extLst>
                <a:ext uri="{FF2B5EF4-FFF2-40B4-BE49-F238E27FC236}">
                  <a16:creationId xmlns:a16="http://schemas.microsoft.com/office/drawing/2014/main" id="{4E1D6950-8E5D-4814-ADBB-11118AE940FE}"/>
                </a:ext>
              </a:extLst>
            </p:cNvPr>
            <p:cNvCxnSpPr>
              <a:cxnSpLocks noChangeShapeType="1"/>
            </p:cNvCxnSpPr>
            <p:nvPr/>
          </p:nvCxnSpPr>
          <p:spPr bwMode="auto">
            <a:xfrm flipV="1">
              <a:off x="0" y="1059625"/>
              <a:ext cx="2840775"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14" name="Line 179">
              <a:extLst>
                <a:ext uri="{FF2B5EF4-FFF2-40B4-BE49-F238E27FC236}">
                  <a16:creationId xmlns:a16="http://schemas.microsoft.com/office/drawing/2014/main" id="{69BE5E36-9053-4981-ABD4-64A6F5D12EA6}"/>
                </a:ext>
              </a:extLst>
            </p:cNvPr>
            <p:cNvCxnSpPr>
              <a:cxnSpLocks noChangeShapeType="1"/>
            </p:cNvCxnSpPr>
            <p:nvPr/>
          </p:nvCxnSpPr>
          <p:spPr bwMode="auto">
            <a:xfrm>
              <a:off x="1137804" y="239981"/>
              <a:ext cx="0" cy="1509593"/>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grpSp>
          <p:nvGrpSpPr>
            <p:cNvPr id="15" name="Group 14">
              <a:extLst>
                <a:ext uri="{FF2B5EF4-FFF2-40B4-BE49-F238E27FC236}">
                  <a16:creationId xmlns:a16="http://schemas.microsoft.com/office/drawing/2014/main" id="{453871C5-A567-4132-A0C0-C2527028A507}"/>
                </a:ext>
              </a:extLst>
            </p:cNvPr>
            <p:cNvGrpSpPr/>
            <p:nvPr/>
          </p:nvGrpSpPr>
          <p:grpSpPr>
            <a:xfrm>
              <a:off x="137803" y="0"/>
              <a:ext cx="2969024" cy="1983293"/>
              <a:chOff x="0" y="0"/>
              <a:chExt cx="2969024" cy="1983293"/>
            </a:xfrm>
          </p:grpSpPr>
          <p:sp>
            <p:nvSpPr>
              <p:cNvPr id="16" name="Text Box 180">
                <a:extLst>
                  <a:ext uri="{FF2B5EF4-FFF2-40B4-BE49-F238E27FC236}">
                    <a16:creationId xmlns:a16="http://schemas.microsoft.com/office/drawing/2014/main" id="{E1D28E55-DD87-4B21-963E-DB2BC2746D05}"/>
                  </a:ext>
                </a:extLst>
              </p:cNvPr>
              <p:cNvSpPr txBox="1">
                <a:spLocks noChangeArrowheads="1"/>
              </p:cNvSpPr>
              <p:nvPr/>
            </p:nvSpPr>
            <p:spPr bwMode="auto">
              <a:xfrm>
                <a:off x="1097230" y="0"/>
                <a:ext cx="774757" cy="39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4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17" name="Text Box 181">
                <a:extLst>
                  <a:ext uri="{FF2B5EF4-FFF2-40B4-BE49-F238E27FC236}">
                    <a16:creationId xmlns:a16="http://schemas.microsoft.com/office/drawing/2014/main" id="{25A1EC0F-45CD-40C2-8217-4CEEDC11A7EC}"/>
                  </a:ext>
                </a:extLst>
              </p:cNvPr>
              <p:cNvSpPr txBox="1">
                <a:spLocks noChangeArrowheads="1"/>
              </p:cNvSpPr>
              <p:nvPr/>
            </p:nvSpPr>
            <p:spPr bwMode="auto">
              <a:xfrm>
                <a:off x="2581646" y="1068779"/>
                <a:ext cx="387378" cy="27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4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18" name="Text Box 182">
                <a:extLst>
                  <a:ext uri="{FF2B5EF4-FFF2-40B4-BE49-F238E27FC236}">
                    <a16:creationId xmlns:a16="http://schemas.microsoft.com/office/drawing/2014/main" id="{26D26282-EBD3-4109-9950-6858F0E1B137}"/>
                  </a:ext>
                </a:extLst>
              </p:cNvPr>
              <p:cNvSpPr txBox="1">
                <a:spLocks noChangeArrowheads="1"/>
              </p:cNvSpPr>
              <p:nvPr/>
            </p:nvSpPr>
            <p:spPr bwMode="auto">
              <a:xfrm>
                <a:off x="1417864" y="1615044"/>
                <a:ext cx="516505" cy="368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400">
                    <a:solidFill>
                      <a:srgbClr val="002060"/>
                    </a:solidFill>
                    <a:effectLst/>
                    <a:latin typeface="Times New Roman" panose="02020603050405020304" pitchFamily="18" charset="0"/>
                    <a:ea typeface="Times New Roman" panose="02020603050405020304" pitchFamily="18" charset="0"/>
                  </a:rPr>
                  <a:t>(a)</a:t>
                </a:r>
                <a:endParaRPr lang="en-GB" sz="1200">
                  <a:effectLst/>
                  <a:latin typeface="Times New Roman" panose="02020603050405020304" pitchFamily="18" charset="0"/>
                  <a:ea typeface="Times New Roman" panose="02020603050405020304" pitchFamily="18" charset="0"/>
                </a:endParaRPr>
              </a:p>
            </p:txBody>
          </p:sp>
          <p:grpSp>
            <p:nvGrpSpPr>
              <p:cNvPr id="19" name="Group 18">
                <a:extLst>
                  <a:ext uri="{FF2B5EF4-FFF2-40B4-BE49-F238E27FC236}">
                    <a16:creationId xmlns:a16="http://schemas.microsoft.com/office/drawing/2014/main" id="{4E0098C8-1179-4FEE-AA45-216416EDDF4A}"/>
                  </a:ext>
                </a:extLst>
              </p:cNvPr>
              <p:cNvGrpSpPr>
                <a:grpSpLocks/>
              </p:cNvGrpSpPr>
              <p:nvPr/>
            </p:nvGrpSpPr>
            <p:grpSpPr bwMode="auto">
              <a:xfrm>
                <a:off x="0" y="581891"/>
                <a:ext cx="2582523" cy="952264"/>
                <a:chOff x="1418" y="11228"/>
                <a:chExt cx="2400" cy="1249"/>
              </a:xfrm>
            </p:grpSpPr>
            <p:sp>
              <p:nvSpPr>
                <p:cNvPr id="20" name="Freeform 184">
                  <a:extLst>
                    <a:ext uri="{FF2B5EF4-FFF2-40B4-BE49-F238E27FC236}">
                      <a16:creationId xmlns:a16="http://schemas.microsoft.com/office/drawing/2014/main" id="{90490E5D-6589-4ED2-A54A-CE233EA2F959}"/>
                    </a:ext>
                  </a:extLst>
                </p:cNvPr>
                <p:cNvSpPr>
                  <a:spLocks noChangeAspect="1"/>
                </p:cNvSpPr>
                <p:nvPr/>
              </p:nvSpPr>
              <p:spPr bwMode="auto">
                <a:xfrm>
                  <a:off x="1418" y="11234"/>
                  <a:ext cx="1207" cy="1243"/>
                </a:xfrm>
                <a:custGeom>
                  <a:avLst/>
                  <a:gdLst>
                    <a:gd name="T0" fmla="*/ 0 w 1207"/>
                    <a:gd name="T1" fmla="*/ 349 h 1243"/>
                    <a:gd name="T2" fmla="*/ 115 w 1207"/>
                    <a:gd name="T3" fmla="*/ 73 h 1243"/>
                    <a:gd name="T4" fmla="*/ 234 w 1207"/>
                    <a:gd name="T5" fmla="*/ 94 h 1243"/>
                    <a:gd name="T6" fmla="*/ 414 w 1207"/>
                    <a:gd name="T7" fmla="*/ 638 h 1243"/>
                    <a:gd name="T8" fmla="*/ 572 w 1207"/>
                    <a:gd name="T9" fmla="*/ 1155 h 1243"/>
                    <a:gd name="T10" fmla="*/ 737 w 1207"/>
                    <a:gd name="T11" fmla="*/ 1169 h 1243"/>
                    <a:gd name="T12" fmla="*/ 877 w 1207"/>
                    <a:gd name="T13" fmla="*/ 796 h 1243"/>
                    <a:gd name="T14" fmla="*/ 1012 w 1207"/>
                    <a:gd name="T15" fmla="*/ 376 h 1243"/>
                    <a:gd name="T16" fmla="*/ 1132 w 1207"/>
                    <a:gd name="T17" fmla="*/ 136 h 1243"/>
                    <a:gd name="T18" fmla="*/ 1207 w 1207"/>
                    <a:gd name="T19" fmla="*/ 76 h 1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7" h="1243">
                      <a:moveTo>
                        <a:pt x="0" y="349"/>
                      </a:moveTo>
                      <a:cubicBezTo>
                        <a:pt x="19" y="303"/>
                        <a:pt x="76" y="116"/>
                        <a:pt x="115" y="73"/>
                      </a:cubicBezTo>
                      <a:cubicBezTo>
                        <a:pt x="154" y="30"/>
                        <a:pt x="184" y="0"/>
                        <a:pt x="234" y="94"/>
                      </a:cubicBezTo>
                      <a:cubicBezTo>
                        <a:pt x="284" y="188"/>
                        <a:pt x="358" y="461"/>
                        <a:pt x="414" y="638"/>
                      </a:cubicBezTo>
                      <a:cubicBezTo>
                        <a:pt x="471" y="815"/>
                        <a:pt x="518" y="1067"/>
                        <a:pt x="572" y="1155"/>
                      </a:cubicBezTo>
                      <a:cubicBezTo>
                        <a:pt x="625" y="1243"/>
                        <a:pt x="686" y="1229"/>
                        <a:pt x="737" y="1169"/>
                      </a:cubicBezTo>
                      <a:cubicBezTo>
                        <a:pt x="788" y="1109"/>
                        <a:pt x="831" y="928"/>
                        <a:pt x="877" y="796"/>
                      </a:cubicBezTo>
                      <a:cubicBezTo>
                        <a:pt x="923" y="664"/>
                        <a:pt x="970" y="486"/>
                        <a:pt x="1012" y="376"/>
                      </a:cubicBezTo>
                      <a:cubicBezTo>
                        <a:pt x="1054" y="266"/>
                        <a:pt x="1100" y="186"/>
                        <a:pt x="1132" y="136"/>
                      </a:cubicBezTo>
                      <a:cubicBezTo>
                        <a:pt x="1164" y="86"/>
                        <a:pt x="1192" y="88"/>
                        <a:pt x="1207" y="76"/>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21" name="Freeform 185">
                  <a:extLst>
                    <a:ext uri="{FF2B5EF4-FFF2-40B4-BE49-F238E27FC236}">
                      <a16:creationId xmlns:a16="http://schemas.microsoft.com/office/drawing/2014/main" id="{85355DAA-9B18-40D3-AEEA-3F48769D6DA7}"/>
                    </a:ext>
                  </a:extLst>
                </p:cNvPr>
                <p:cNvSpPr>
                  <a:spLocks noChangeAspect="1"/>
                </p:cNvSpPr>
                <p:nvPr/>
              </p:nvSpPr>
              <p:spPr bwMode="auto">
                <a:xfrm flipH="1">
                  <a:off x="2611" y="11228"/>
                  <a:ext cx="1207" cy="1243"/>
                </a:xfrm>
                <a:custGeom>
                  <a:avLst/>
                  <a:gdLst>
                    <a:gd name="T0" fmla="*/ 0 w 1207"/>
                    <a:gd name="T1" fmla="*/ 349 h 1243"/>
                    <a:gd name="T2" fmla="*/ 115 w 1207"/>
                    <a:gd name="T3" fmla="*/ 73 h 1243"/>
                    <a:gd name="T4" fmla="*/ 234 w 1207"/>
                    <a:gd name="T5" fmla="*/ 94 h 1243"/>
                    <a:gd name="T6" fmla="*/ 414 w 1207"/>
                    <a:gd name="T7" fmla="*/ 638 h 1243"/>
                    <a:gd name="T8" fmla="*/ 572 w 1207"/>
                    <a:gd name="T9" fmla="*/ 1155 h 1243"/>
                    <a:gd name="T10" fmla="*/ 737 w 1207"/>
                    <a:gd name="T11" fmla="*/ 1169 h 1243"/>
                    <a:gd name="T12" fmla="*/ 877 w 1207"/>
                    <a:gd name="T13" fmla="*/ 796 h 1243"/>
                    <a:gd name="T14" fmla="*/ 1012 w 1207"/>
                    <a:gd name="T15" fmla="*/ 376 h 1243"/>
                    <a:gd name="T16" fmla="*/ 1132 w 1207"/>
                    <a:gd name="T17" fmla="*/ 136 h 1243"/>
                    <a:gd name="T18" fmla="*/ 1207 w 1207"/>
                    <a:gd name="T19" fmla="*/ 76 h 1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7" h="1243">
                      <a:moveTo>
                        <a:pt x="0" y="349"/>
                      </a:moveTo>
                      <a:cubicBezTo>
                        <a:pt x="19" y="303"/>
                        <a:pt x="76" y="116"/>
                        <a:pt x="115" y="73"/>
                      </a:cubicBezTo>
                      <a:cubicBezTo>
                        <a:pt x="154" y="30"/>
                        <a:pt x="184" y="0"/>
                        <a:pt x="234" y="94"/>
                      </a:cubicBezTo>
                      <a:cubicBezTo>
                        <a:pt x="284" y="188"/>
                        <a:pt x="358" y="461"/>
                        <a:pt x="414" y="638"/>
                      </a:cubicBezTo>
                      <a:cubicBezTo>
                        <a:pt x="471" y="815"/>
                        <a:pt x="518" y="1067"/>
                        <a:pt x="572" y="1155"/>
                      </a:cubicBezTo>
                      <a:cubicBezTo>
                        <a:pt x="625" y="1243"/>
                        <a:pt x="686" y="1229"/>
                        <a:pt x="737" y="1169"/>
                      </a:cubicBezTo>
                      <a:cubicBezTo>
                        <a:pt x="788" y="1109"/>
                        <a:pt x="831" y="928"/>
                        <a:pt x="877" y="796"/>
                      </a:cubicBezTo>
                      <a:cubicBezTo>
                        <a:pt x="923" y="664"/>
                        <a:pt x="970" y="486"/>
                        <a:pt x="1012" y="376"/>
                      </a:cubicBezTo>
                      <a:cubicBezTo>
                        <a:pt x="1054" y="266"/>
                        <a:pt x="1100" y="186"/>
                        <a:pt x="1132" y="136"/>
                      </a:cubicBezTo>
                      <a:cubicBezTo>
                        <a:pt x="1164" y="86"/>
                        <a:pt x="1192" y="88"/>
                        <a:pt x="1207" y="76"/>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grpSp>
      <p:grpSp>
        <p:nvGrpSpPr>
          <p:cNvPr id="28" name="Group 27">
            <a:extLst>
              <a:ext uri="{FF2B5EF4-FFF2-40B4-BE49-F238E27FC236}">
                <a16:creationId xmlns:a16="http://schemas.microsoft.com/office/drawing/2014/main" id="{32437D22-2C08-4C5B-AC87-20FAD78334AF}"/>
              </a:ext>
            </a:extLst>
          </p:cNvPr>
          <p:cNvGrpSpPr/>
          <p:nvPr/>
        </p:nvGrpSpPr>
        <p:grpSpPr>
          <a:xfrm>
            <a:off x="8818883" y="2916229"/>
            <a:ext cx="3149593" cy="2196940"/>
            <a:chOff x="0" y="16746"/>
            <a:chExt cx="2294979" cy="1767754"/>
          </a:xfrm>
        </p:grpSpPr>
        <p:cxnSp>
          <p:nvCxnSpPr>
            <p:cNvPr id="29" name="Line 187">
              <a:extLst>
                <a:ext uri="{FF2B5EF4-FFF2-40B4-BE49-F238E27FC236}">
                  <a16:creationId xmlns:a16="http://schemas.microsoft.com/office/drawing/2014/main" id="{3F5A58CE-E72C-400E-BA74-E01D3299435A}"/>
                </a:ext>
              </a:extLst>
            </p:cNvPr>
            <p:cNvCxnSpPr>
              <a:cxnSpLocks noChangeShapeType="1"/>
            </p:cNvCxnSpPr>
            <p:nvPr/>
          </p:nvCxnSpPr>
          <p:spPr bwMode="auto">
            <a:xfrm>
              <a:off x="852797" y="133103"/>
              <a:ext cx="0" cy="1509593"/>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grpSp>
          <p:nvGrpSpPr>
            <p:cNvPr id="30" name="Group 29">
              <a:extLst>
                <a:ext uri="{FF2B5EF4-FFF2-40B4-BE49-F238E27FC236}">
                  <a16:creationId xmlns:a16="http://schemas.microsoft.com/office/drawing/2014/main" id="{E7A91F67-92E9-47EE-8774-27D20297A9BF}"/>
                </a:ext>
              </a:extLst>
            </p:cNvPr>
            <p:cNvGrpSpPr/>
            <p:nvPr/>
          </p:nvGrpSpPr>
          <p:grpSpPr>
            <a:xfrm>
              <a:off x="0" y="16746"/>
              <a:ext cx="2294979" cy="1767754"/>
              <a:chOff x="665060" y="16746"/>
              <a:chExt cx="2295137" cy="1767754"/>
            </a:xfrm>
          </p:grpSpPr>
          <p:cxnSp>
            <p:nvCxnSpPr>
              <p:cNvPr id="31" name="Line 186">
                <a:extLst>
                  <a:ext uri="{FF2B5EF4-FFF2-40B4-BE49-F238E27FC236}">
                    <a16:creationId xmlns:a16="http://schemas.microsoft.com/office/drawing/2014/main" id="{7699115F-C116-43C5-932A-A647DC3B9E61}"/>
                  </a:ext>
                </a:extLst>
              </p:cNvPr>
              <p:cNvCxnSpPr>
                <a:cxnSpLocks noChangeShapeType="1"/>
              </p:cNvCxnSpPr>
              <p:nvPr/>
            </p:nvCxnSpPr>
            <p:spPr bwMode="auto">
              <a:xfrm flipV="1">
                <a:off x="665060" y="952747"/>
                <a:ext cx="2103265"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sp>
            <p:nvSpPr>
              <p:cNvPr id="32" name="Text Box 188">
                <a:extLst>
                  <a:ext uri="{FF2B5EF4-FFF2-40B4-BE49-F238E27FC236}">
                    <a16:creationId xmlns:a16="http://schemas.microsoft.com/office/drawing/2014/main" id="{326C176F-9750-4B60-9577-C0F8F118579D}"/>
                  </a:ext>
                </a:extLst>
              </p:cNvPr>
              <p:cNvSpPr txBox="1">
                <a:spLocks noChangeArrowheads="1"/>
              </p:cNvSpPr>
              <p:nvPr/>
            </p:nvSpPr>
            <p:spPr bwMode="auto">
              <a:xfrm>
                <a:off x="1562053" y="16746"/>
                <a:ext cx="774757" cy="465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400" dirty="0">
                    <a:solidFill>
                      <a:srgbClr val="002060"/>
                    </a:solidFill>
                    <a:effectLst/>
                    <a:latin typeface="Times New Roman" panose="02020603050405020304" pitchFamily="18" charset="0"/>
                    <a:ea typeface="Times New Roman" panose="02020603050405020304" pitchFamily="18" charset="0"/>
                  </a:rPr>
                  <a:t>a(t)</a:t>
                </a:r>
                <a:endParaRPr lang="en-GB" sz="1200" dirty="0">
                  <a:effectLst/>
                  <a:latin typeface="Times New Roman" panose="02020603050405020304" pitchFamily="18" charset="0"/>
                  <a:ea typeface="Times New Roman" panose="02020603050405020304" pitchFamily="18" charset="0"/>
                </a:endParaRPr>
              </a:p>
            </p:txBody>
          </p:sp>
          <p:sp>
            <p:nvSpPr>
              <p:cNvPr id="33" name="Text Box 189">
                <a:extLst>
                  <a:ext uri="{FF2B5EF4-FFF2-40B4-BE49-F238E27FC236}">
                    <a16:creationId xmlns:a16="http://schemas.microsoft.com/office/drawing/2014/main" id="{C727567B-8155-4D99-87FA-442EB370319D}"/>
                  </a:ext>
                </a:extLst>
              </p:cNvPr>
              <p:cNvSpPr txBox="1">
                <a:spLocks noChangeArrowheads="1"/>
              </p:cNvSpPr>
              <p:nvPr/>
            </p:nvSpPr>
            <p:spPr bwMode="auto">
              <a:xfrm>
                <a:off x="2572819" y="938149"/>
                <a:ext cx="387378" cy="403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4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35" name="Text Box 190">
                <a:extLst>
                  <a:ext uri="{FF2B5EF4-FFF2-40B4-BE49-F238E27FC236}">
                    <a16:creationId xmlns:a16="http://schemas.microsoft.com/office/drawing/2014/main" id="{BF82430F-4B80-41D4-93BB-1CC021CB5C38}"/>
                  </a:ext>
                </a:extLst>
              </p:cNvPr>
              <p:cNvSpPr txBox="1">
                <a:spLocks noChangeArrowheads="1"/>
              </p:cNvSpPr>
              <p:nvPr/>
            </p:nvSpPr>
            <p:spPr bwMode="auto">
              <a:xfrm>
                <a:off x="1733654" y="1404052"/>
                <a:ext cx="516505" cy="380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400" dirty="0">
                    <a:solidFill>
                      <a:srgbClr val="002060"/>
                    </a:solidFill>
                    <a:effectLst/>
                    <a:latin typeface="Times New Roman" panose="02020603050405020304" pitchFamily="18" charset="0"/>
                    <a:ea typeface="Times New Roman" panose="02020603050405020304" pitchFamily="18" charset="0"/>
                  </a:rPr>
                  <a:t>(b)</a:t>
                </a:r>
                <a:endParaRPr lang="en-GB" sz="1200" dirty="0">
                  <a:effectLst/>
                  <a:latin typeface="Times New Roman" panose="02020603050405020304" pitchFamily="18" charset="0"/>
                  <a:ea typeface="Times New Roman" panose="02020603050405020304" pitchFamily="18" charset="0"/>
                </a:endParaRPr>
              </a:p>
            </p:txBody>
          </p:sp>
          <p:cxnSp>
            <p:nvCxnSpPr>
              <p:cNvPr id="36" name="Line 231">
                <a:extLst>
                  <a:ext uri="{FF2B5EF4-FFF2-40B4-BE49-F238E27FC236}">
                    <a16:creationId xmlns:a16="http://schemas.microsoft.com/office/drawing/2014/main" id="{2064E068-CA61-4C0A-8AF5-2D278506BB68}"/>
                  </a:ext>
                </a:extLst>
              </p:cNvPr>
              <p:cNvCxnSpPr>
                <a:cxnSpLocks noChangeShapeType="1"/>
              </p:cNvCxnSpPr>
              <p:nvPr/>
            </p:nvCxnSpPr>
            <p:spPr bwMode="auto">
              <a:xfrm flipV="1">
                <a:off x="779071" y="302629"/>
                <a:ext cx="1601876" cy="1231493"/>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grpSp>
      </p:grpSp>
    </p:spTree>
    <p:extLst>
      <p:ext uri="{BB962C8B-B14F-4D97-AF65-F5344CB8AC3E}">
        <p14:creationId xmlns:p14="http://schemas.microsoft.com/office/powerpoint/2010/main" val="729644989"/>
      </p:ext>
    </p:extLst>
  </p:cSld>
  <p:clrMapOvr>
    <a:masterClrMapping/>
  </p:clrMapOvr>
  <mc:AlternateContent xmlns:mc="http://schemas.openxmlformats.org/markup-compatibility/2006" xmlns:p14="http://schemas.microsoft.com/office/powerpoint/2010/main">
    <mc:Choice Requires="p14">
      <p:transition spd="slow" p14:dur="2000" advTm="53280"/>
    </mc:Choice>
    <mc:Fallback xmlns="">
      <p:transition spd="slow" advTm="5328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fontScale="90000"/>
          </a:bodyPr>
          <a:lstStyle/>
          <a:p>
            <a:r>
              <a:rPr lang="en-US" sz="3600" dirty="0"/>
              <a:t>Decomposition into odd and even functions</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9AB0195B-1D3C-49DA-9B63-472B88212202}"/>
              </a:ext>
            </a:extLst>
          </p:cNvPr>
          <p:cNvGraphicFramePr>
            <a:graphicFrameLocks noChangeAspect="1"/>
          </p:cNvGraphicFramePr>
          <p:nvPr>
            <p:extLst>
              <p:ext uri="{D42A27DB-BD31-4B8C-83A1-F6EECF244321}">
                <p14:modId xmlns:p14="http://schemas.microsoft.com/office/powerpoint/2010/main" val="2992391855"/>
              </p:ext>
            </p:extLst>
          </p:nvPr>
        </p:nvGraphicFramePr>
        <p:xfrm>
          <a:off x="661377" y="4539514"/>
          <a:ext cx="4076700" cy="609600"/>
        </p:xfrm>
        <a:graphic>
          <a:graphicData uri="http://schemas.openxmlformats.org/presentationml/2006/ole">
            <mc:AlternateContent xmlns:mc="http://schemas.openxmlformats.org/markup-compatibility/2006">
              <mc:Choice xmlns:v="urn:schemas-microsoft-com:vml" Requires="v">
                <p:oleObj r:id="rId3" imgW="1574800" imgH="228600" progId="Equation.3">
                  <p:embed/>
                </p:oleObj>
              </mc:Choice>
              <mc:Fallback>
                <p:oleObj r:id="rId3" imgW="157480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1377" y="4539514"/>
                        <a:ext cx="40767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58A22E10-5134-4F59-872E-654623E4B306}"/>
              </a:ext>
            </a:extLst>
          </p:cNvPr>
          <p:cNvGraphicFramePr>
            <a:graphicFrameLocks noChangeAspect="1"/>
          </p:cNvGraphicFramePr>
          <p:nvPr>
            <p:extLst>
              <p:ext uri="{D42A27DB-BD31-4B8C-83A1-F6EECF244321}">
                <p14:modId xmlns:p14="http://schemas.microsoft.com/office/powerpoint/2010/main" val="4146585835"/>
              </p:ext>
            </p:extLst>
          </p:nvPr>
        </p:nvGraphicFramePr>
        <p:xfrm>
          <a:off x="661377" y="5273384"/>
          <a:ext cx="4076700" cy="571500"/>
        </p:xfrm>
        <a:graphic>
          <a:graphicData uri="http://schemas.openxmlformats.org/presentationml/2006/ole">
            <mc:AlternateContent xmlns:mc="http://schemas.openxmlformats.org/markup-compatibility/2006">
              <mc:Choice xmlns:v="urn:schemas-microsoft-com:vml" Requires="v">
                <p:oleObj r:id="rId5" imgW="1600200" imgH="228600" progId="Equation.3">
                  <p:embed/>
                </p:oleObj>
              </mc:Choice>
              <mc:Fallback>
                <p:oleObj r:id="rId5" imgW="1600200" imgH="2286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1377" y="5273384"/>
                        <a:ext cx="40767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3">
            <a:extLst>
              <a:ext uri="{FF2B5EF4-FFF2-40B4-BE49-F238E27FC236}">
                <a16:creationId xmlns:a16="http://schemas.microsoft.com/office/drawing/2014/main" id="{0BADCC37-153D-41A5-80E0-B9DBE56FE2A6}"/>
              </a:ext>
            </a:extLst>
          </p:cNvPr>
          <p:cNvSpPr>
            <a:spLocks noChangeArrowheads="1"/>
          </p:cNvSpPr>
          <p:nvPr/>
        </p:nvSpPr>
        <p:spPr bwMode="auto">
          <a:xfrm>
            <a:off x="310855" y="1178623"/>
            <a:ext cx="11161803" cy="335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2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Waveforms in general need not be either odd or even.</a:t>
            </a:r>
            <a:endParaRPr kumimoji="0" lang="en-GB" altLang="en-US" sz="36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2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They can be split into a combination of odd and even. </a:t>
            </a:r>
            <a:endParaRPr kumimoji="0" lang="en-GB" altLang="en-US" sz="36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2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Let	   </a:t>
            </a:r>
            <a:r>
              <a:rPr kumimoji="0" lang="en-GB" altLang="en-US" sz="36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f(t)	=	</a:t>
            </a:r>
            <a:r>
              <a:rPr kumimoji="0" lang="en-GB" altLang="en-US" sz="3600" b="0" i="1"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f</a:t>
            </a:r>
            <a:r>
              <a:rPr kumimoji="0" lang="en-GB" altLang="en-US" sz="3600" b="0" i="1" u="none" strike="noStrike" cap="none" normalizeH="0" baseline="-30000" dirty="0" err="1">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odd</a:t>
            </a:r>
            <a:r>
              <a:rPr kumimoji="0" lang="en-GB" altLang="en-US" sz="36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 + </a:t>
            </a:r>
            <a:r>
              <a:rPr kumimoji="0" lang="en-GB" altLang="en-US" sz="3600" b="0" i="1"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f</a:t>
            </a:r>
            <a:r>
              <a:rPr kumimoji="0" lang="en-GB" altLang="en-US" sz="3600" b="0" i="1" u="none" strike="noStrike" cap="none" normalizeH="0" baseline="-30000" dirty="0" err="1">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even</a:t>
            </a:r>
            <a:r>
              <a:rPr kumimoji="0" lang="en-GB" altLang="en-US" sz="36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a:t>
            </a:r>
            <a:endParaRPr kumimoji="0" lang="en-GB"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20000"/>
              </a:lnSpc>
              <a:spcBef>
                <a:spcPct val="0"/>
              </a:spcBef>
              <a:spcAft>
                <a:spcPct val="0"/>
              </a:spcAft>
              <a:buClrTx/>
              <a:buSzTx/>
              <a:buFontTx/>
              <a:buNone/>
              <a:tabLst/>
            </a:pPr>
            <a:r>
              <a:rPr kumimoji="0" lang="de-DE"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Then  </a:t>
            </a:r>
            <a:r>
              <a:rPr kumimoji="0" lang="de-DE" altLang="en-US" sz="36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f(-t)	=  	f</a:t>
            </a:r>
            <a:r>
              <a:rPr kumimoji="0" lang="de-DE" altLang="en-US" sz="3600" b="0" i="1"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odd</a:t>
            </a:r>
            <a:r>
              <a:rPr kumimoji="0" lang="de-DE" altLang="en-US" sz="36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 + f</a:t>
            </a:r>
            <a:r>
              <a:rPr kumimoji="0" lang="de-DE" altLang="en-US" sz="3600" b="0" i="1"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even</a:t>
            </a:r>
            <a:r>
              <a:rPr kumimoji="0" lang="de-DE" altLang="en-US" sz="36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  =  </a:t>
            </a:r>
            <a:r>
              <a:rPr kumimoji="0" lang="en-GB" altLang="en-US" sz="36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de-DE" altLang="en-US" sz="36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f</a:t>
            </a:r>
            <a:r>
              <a:rPr kumimoji="0" lang="de-DE" altLang="en-US" sz="3600" b="0" i="1"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odd</a:t>
            </a:r>
            <a:r>
              <a:rPr kumimoji="0" lang="de-DE" altLang="en-US" sz="36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 + f</a:t>
            </a:r>
            <a:r>
              <a:rPr kumimoji="0" lang="de-DE" altLang="en-US" sz="3600" b="0" i="1"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even</a:t>
            </a:r>
            <a:r>
              <a:rPr kumimoji="0" lang="de-DE" altLang="en-US" sz="36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a:t>
            </a:r>
            <a:endParaRPr kumimoji="0" lang="en-GB"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2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Addition and subtraction thus gives</a:t>
            </a:r>
            <a:endParaRPr kumimoji="0" lang="en-GB" altLang="en-US" sz="3600" b="0" i="0" u="none" strike="noStrike" cap="none" normalizeH="0" baseline="0" dirty="0">
              <a:ln>
                <a:noFill/>
              </a:ln>
              <a:solidFill>
                <a:schemeClr val="tx1"/>
              </a:solidFill>
              <a:effectLst/>
              <a:latin typeface="Arial" panose="020B0604020202020204" pitchFamily="34" charset="0"/>
            </a:endParaRPr>
          </a:p>
        </p:txBody>
      </p:sp>
      <p:sp>
        <p:nvSpPr>
          <p:cNvPr id="6" name="Rectangle 4">
            <a:extLst>
              <a:ext uri="{FF2B5EF4-FFF2-40B4-BE49-F238E27FC236}">
                <a16:creationId xmlns:a16="http://schemas.microsoft.com/office/drawing/2014/main" id="{C6E97C83-F302-4DC5-9210-6FE377A035F3}"/>
              </a:ext>
            </a:extLst>
          </p:cNvPr>
          <p:cNvSpPr>
            <a:spLocks noChangeArrowheads="1"/>
          </p:cNvSpPr>
          <p:nvPr/>
        </p:nvSpPr>
        <p:spPr bwMode="auto">
          <a:xfrm>
            <a:off x="4950587" y="4441228"/>
            <a:ext cx="205642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indent="0" algn="l" defTabSz="914400" rtl="0" eaLnBrk="0" fontAlgn="base" latinLnBrk="0" hangingPunct="0">
              <a:lnSpc>
                <a:spcPct val="100000"/>
              </a:lnSpc>
              <a:spcBef>
                <a:spcPct val="0"/>
              </a:spcBef>
              <a:spcAft>
                <a:spcPct val="0"/>
              </a:spcAft>
              <a:buClrTx/>
              <a:buSzTx/>
              <a:buFontTx/>
              <a:buNone/>
              <a:tabLst/>
            </a:pPr>
            <a:r>
              <a:rPr kumimoji="0" lang="en-GB" altLang="en-US" sz="4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and	</a:t>
            </a:r>
            <a:endParaRPr kumimoji="0" lang="en-GB" altLang="en-US" sz="1100" b="0" i="0" u="none" strike="noStrike" cap="none" normalizeH="0" baseline="0" dirty="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627540C9-F348-4FFE-A038-C9167B26A7FB}"/>
              </a:ext>
            </a:extLst>
          </p:cNvPr>
          <p:cNvSpPr>
            <a:spLocks noChangeArrowheads="1"/>
          </p:cNvSpPr>
          <p:nvPr/>
        </p:nvSpPr>
        <p:spPr bwMode="auto">
          <a:xfrm>
            <a:off x="152400" y="5784711"/>
            <a:ext cx="737616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4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verifying the assumption</a:t>
            </a:r>
            <a:r>
              <a:rPr kumimoji="0" lang="en-GB" altLang="en-US" sz="1100" b="0" i="0" u="none" strike="noStrike" cap="none" normalizeH="0" baseline="0" dirty="0">
                <a:ln>
                  <a:noFill/>
                </a:ln>
                <a:solidFill>
                  <a:schemeClr val="tx1"/>
                </a:solidFill>
                <a:effectLst/>
                <a:latin typeface="Arial" panose="020B0604020202020204" pitchFamily="34" charset="0"/>
              </a:rPr>
              <a:t>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89635716"/>
      </p:ext>
    </p:extLst>
  </p:cSld>
  <p:clrMapOvr>
    <a:masterClrMapping/>
  </p:clrMapOvr>
  <mc:AlternateContent xmlns:mc="http://schemas.openxmlformats.org/markup-compatibility/2006" xmlns:p14="http://schemas.microsoft.com/office/powerpoint/2010/main">
    <mc:Choice Requires="p14">
      <p:transition spd="slow" p14:dur="2000" advTm="93273"/>
    </mc:Choice>
    <mc:Fallback xmlns="">
      <p:transition spd="slow" advTm="9327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a:bodyPr>
          <a:lstStyle/>
          <a:p>
            <a:r>
              <a:rPr lang="en-GB" dirty="0"/>
              <a:t>Half-wave Symmetry</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B117FC78-111E-4927-8953-1EC18F0923E5}"/>
              </a:ext>
            </a:extLst>
          </p:cNvPr>
          <p:cNvGraphicFramePr>
            <a:graphicFrameLocks noChangeAspect="1"/>
          </p:cNvGraphicFramePr>
          <p:nvPr>
            <p:extLst>
              <p:ext uri="{D42A27DB-BD31-4B8C-83A1-F6EECF244321}">
                <p14:modId xmlns:p14="http://schemas.microsoft.com/office/powerpoint/2010/main" val="3221042922"/>
              </p:ext>
            </p:extLst>
          </p:nvPr>
        </p:nvGraphicFramePr>
        <p:xfrm>
          <a:off x="2326390" y="2408512"/>
          <a:ext cx="7715250" cy="895350"/>
        </p:xfrm>
        <a:graphic>
          <a:graphicData uri="http://schemas.openxmlformats.org/presentationml/2006/ole">
            <mc:AlternateContent xmlns:mc="http://schemas.openxmlformats.org/markup-compatibility/2006">
              <mc:Choice xmlns:v="urn:schemas-microsoft-com:vml" Requires="v">
                <p:oleObj r:id="rId3" imgW="2006600" imgH="228600" progId="Equation.3">
                  <p:embed/>
                </p:oleObj>
              </mc:Choice>
              <mc:Fallback>
                <p:oleObj r:id="rId3" imgW="2006600" imgH="2286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6390" y="2408512"/>
                        <a:ext cx="7715250" cy="895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4">
            <a:extLst>
              <a:ext uri="{FF2B5EF4-FFF2-40B4-BE49-F238E27FC236}">
                <a16:creationId xmlns:a16="http://schemas.microsoft.com/office/drawing/2014/main" id="{CB88FE69-8992-4376-985B-9E43F24692BF}"/>
              </a:ext>
            </a:extLst>
          </p:cNvPr>
          <p:cNvGrpSpPr>
            <a:grpSpLocks noChangeAspect="1"/>
          </p:cNvGrpSpPr>
          <p:nvPr/>
        </p:nvGrpSpPr>
        <p:grpSpPr bwMode="auto">
          <a:xfrm>
            <a:off x="1112266" y="3052211"/>
            <a:ext cx="10170668" cy="3197844"/>
            <a:chOff x="288" y="5218"/>
            <a:chExt cx="9360" cy="3000"/>
          </a:xfrm>
        </p:grpSpPr>
        <p:cxnSp>
          <p:nvCxnSpPr>
            <p:cNvPr id="6" name="Line 242">
              <a:extLst>
                <a:ext uri="{FF2B5EF4-FFF2-40B4-BE49-F238E27FC236}">
                  <a16:creationId xmlns:a16="http://schemas.microsoft.com/office/drawing/2014/main" id="{9F80CDB7-53B8-42B7-941C-793D3DBBB894}"/>
                </a:ext>
              </a:extLst>
            </p:cNvPr>
            <p:cNvCxnSpPr>
              <a:cxnSpLocks noChangeShapeType="1"/>
            </p:cNvCxnSpPr>
            <p:nvPr/>
          </p:nvCxnSpPr>
          <p:spPr bwMode="auto">
            <a:xfrm flipV="1">
              <a:off x="288" y="6576"/>
              <a:ext cx="2640"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7" name="Line 243">
              <a:extLst>
                <a:ext uri="{FF2B5EF4-FFF2-40B4-BE49-F238E27FC236}">
                  <a16:creationId xmlns:a16="http://schemas.microsoft.com/office/drawing/2014/main" id="{002D3B27-D375-4614-BC42-3187125E45E5}"/>
                </a:ext>
              </a:extLst>
            </p:cNvPr>
            <p:cNvCxnSpPr>
              <a:cxnSpLocks noChangeShapeType="1"/>
            </p:cNvCxnSpPr>
            <p:nvPr/>
          </p:nvCxnSpPr>
          <p:spPr bwMode="auto">
            <a:xfrm>
              <a:off x="1473" y="5463"/>
              <a:ext cx="0" cy="1980"/>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sp>
          <p:nvSpPr>
            <p:cNvPr id="8" name="Text Box 244">
              <a:extLst>
                <a:ext uri="{FF2B5EF4-FFF2-40B4-BE49-F238E27FC236}">
                  <a16:creationId xmlns:a16="http://schemas.microsoft.com/office/drawing/2014/main" id="{E61BD1FD-2B26-4CE4-826E-D0D7FF442ABF}"/>
                </a:ext>
              </a:extLst>
            </p:cNvPr>
            <p:cNvSpPr txBox="1">
              <a:spLocks noChangeArrowheads="1"/>
            </p:cNvSpPr>
            <p:nvPr/>
          </p:nvSpPr>
          <p:spPr bwMode="auto">
            <a:xfrm>
              <a:off x="2808" y="6576"/>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400">
                  <a:solidFill>
                    <a:srgbClr val="FFFFFF"/>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9" name="Text Box 245">
              <a:extLst>
                <a:ext uri="{FF2B5EF4-FFF2-40B4-BE49-F238E27FC236}">
                  <a16:creationId xmlns:a16="http://schemas.microsoft.com/office/drawing/2014/main" id="{991B9B82-5D01-48E4-8BB0-50473316DE11}"/>
                </a:ext>
              </a:extLst>
            </p:cNvPr>
            <p:cNvSpPr txBox="1">
              <a:spLocks noChangeArrowheads="1"/>
            </p:cNvSpPr>
            <p:nvPr/>
          </p:nvSpPr>
          <p:spPr bwMode="auto">
            <a:xfrm>
              <a:off x="1497" y="7119"/>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400">
                  <a:solidFill>
                    <a:srgbClr val="002060"/>
                  </a:solidFill>
                  <a:effectLst/>
                  <a:latin typeface="Times New Roman" panose="02020603050405020304" pitchFamily="18" charset="0"/>
                  <a:ea typeface="Times New Roman" panose="02020603050405020304" pitchFamily="18" charset="0"/>
                </a:rPr>
                <a:t>(a)</a:t>
              </a:r>
              <a:endParaRPr lang="en-GB" sz="1200">
                <a:effectLst/>
                <a:latin typeface="Times New Roman" panose="02020603050405020304" pitchFamily="18" charset="0"/>
                <a:ea typeface="Times New Roman" panose="02020603050405020304" pitchFamily="18" charset="0"/>
              </a:endParaRPr>
            </a:p>
          </p:txBody>
        </p:sp>
        <p:grpSp>
          <p:nvGrpSpPr>
            <p:cNvPr id="10" name="Group 9">
              <a:extLst>
                <a:ext uri="{FF2B5EF4-FFF2-40B4-BE49-F238E27FC236}">
                  <a16:creationId xmlns:a16="http://schemas.microsoft.com/office/drawing/2014/main" id="{0E5A5A5F-2B60-4DF4-A200-D1FBD305A093}"/>
                </a:ext>
              </a:extLst>
            </p:cNvPr>
            <p:cNvGrpSpPr>
              <a:grpSpLocks/>
            </p:cNvGrpSpPr>
            <p:nvPr/>
          </p:nvGrpSpPr>
          <p:grpSpPr bwMode="auto">
            <a:xfrm>
              <a:off x="408" y="5940"/>
              <a:ext cx="2400" cy="1249"/>
              <a:chOff x="1418" y="11228"/>
              <a:chExt cx="2400" cy="1249"/>
            </a:xfrm>
          </p:grpSpPr>
          <p:sp>
            <p:nvSpPr>
              <p:cNvPr id="41" name="Freeform 247">
                <a:extLst>
                  <a:ext uri="{FF2B5EF4-FFF2-40B4-BE49-F238E27FC236}">
                    <a16:creationId xmlns:a16="http://schemas.microsoft.com/office/drawing/2014/main" id="{34C77CEB-60E0-42A6-9057-7172EACC83AB}"/>
                  </a:ext>
                </a:extLst>
              </p:cNvPr>
              <p:cNvSpPr>
                <a:spLocks noChangeAspect="1"/>
              </p:cNvSpPr>
              <p:nvPr/>
            </p:nvSpPr>
            <p:spPr bwMode="auto">
              <a:xfrm>
                <a:off x="1418" y="11234"/>
                <a:ext cx="1207" cy="1243"/>
              </a:xfrm>
              <a:custGeom>
                <a:avLst/>
                <a:gdLst>
                  <a:gd name="T0" fmla="*/ 0 w 1207"/>
                  <a:gd name="T1" fmla="*/ 349 h 1243"/>
                  <a:gd name="T2" fmla="*/ 115 w 1207"/>
                  <a:gd name="T3" fmla="*/ 73 h 1243"/>
                  <a:gd name="T4" fmla="*/ 234 w 1207"/>
                  <a:gd name="T5" fmla="*/ 94 h 1243"/>
                  <a:gd name="T6" fmla="*/ 414 w 1207"/>
                  <a:gd name="T7" fmla="*/ 638 h 1243"/>
                  <a:gd name="T8" fmla="*/ 572 w 1207"/>
                  <a:gd name="T9" fmla="*/ 1155 h 1243"/>
                  <a:gd name="T10" fmla="*/ 737 w 1207"/>
                  <a:gd name="T11" fmla="*/ 1169 h 1243"/>
                  <a:gd name="T12" fmla="*/ 877 w 1207"/>
                  <a:gd name="T13" fmla="*/ 796 h 1243"/>
                  <a:gd name="T14" fmla="*/ 1012 w 1207"/>
                  <a:gd name="T15" fmla="*/ 376 h 1243"/>
                  <a:gd name="T16" fmla="*/ 1132 w 1207"/>
                  <a:gd name="T17" fmla="*/ 136 h 1243"/>
                  <a:gd name="T18" fmla="*/ 1207 w 1207"/>
                  <a:gd name="T19" fmla="*/ 76 h 1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7" h="1243">
                    <a:moveTo>
                      <a:pt x="0" y="349"/>
                    </a:moveTo>
                    <a:cubicBezTo>
                      <a:pt x="19" y="303"/>
                      <a:pt x="76" y="116"/>
                      <a:pt x="115" y="73"/>
                    </a:cubicBezTo>
                    <a:cubicBezTo>
                      <a:pt x="154" y="30"/>
                      <a:pt x="184" y="0"/>
                      <a:pt x="234" y="94"/>
                    </a:cubicBezTo>
                    <a:cubicBezTo>
                      <a:pt x="284" y="188"/>
                      <a:pt x="358" y="461"/>
                      <a:pt x="414" y="638"/>
                    </a:cubicBezTo>
                    <a:cubicBezTo>
                      <a:pt x="471" y="815"/>
                      <a:pt x="518" y="1067"/>
                      <a:pt x="572" y="1155"/>
                    </a:cubicBezTo>
                    <a:cubicBezTo>
                      <a:pt x="625" y="1243"/>
                      <a:pt x="686" y="1229"/>
                      <a:pt x="737" y="1169"/>
                    </a:cubicBezTo>
                    <a:cubicBezTo>
                      <a:pt x="788" y="1109"/>
                      <a:pt x="831" y="928"/>
                      <a:pt x="877" y="796"/>
                    </a:cubicBezTo>
                    <a:cubicBezTo>
                      <a:pt x="923" y="664"/>
                      <a:pt x="970" y="486"/>
                      <a:pt x="1012" y="376"/>
                    </a:cubicBezTo>
                    <a:cubicBezTo>
                      <a:pt x="1054" y="266"/>
                      <a:pt x="1100" y="186"/>
                      <a:pt x="1132" y="136"/>
                    </a:cubicBezTo>
                    <a:cubicBezTo>
                      <a:pt x="1164" y="86"/>
                      <a:pt x="1192" y="88"/>
                      <a:pt x="1207" y="76"/>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42" name="Freeform 248">
                <a:extLst>
                  <a:ext uri="{FF2B5EF4-FFF2-40B4-BE49-F238E27FC236}">
                    <a16:creationId xmlns:a16="http://schemas.microsoft.com/office/drawing/2014/main" id="{693984EE-4C1B-4F55-9509-0FD72475FC7D}"/>
                  </a:ext>
                </a:extLst>
              </p:cNvPr>
              <p:cNvSpPr>
                <a:spLocks noChangeAspect="1"/>
              </p:cNvSpPr>
              <p:nvPr/>
            </p:nvSpPr>
            <p:spPr bwMode="auto">
              <a:xfrm flipH="1">
                <a:off x="2611" y="11228"/>
                <a:ext cx="1207" cy="1243"/>
              </a:xfrm>
              <a:custGeom>
                <a:avLst/>
                <a:gdLst>
                  <a:gd name="T0" fmla="*/ 0 w 1207"/>
                  <a:gd name="T1" fmla="*/ 349 h 1243"/>
                  <a:gd name="T2" fmla="*/ 115 w 1207"/>
                  <a:gd name="T3" fmla="*/ 73 h 1243"/>
                  <a:gd name="T4" fmla="*/ 234 w 1207"/>
                  <a:gd name="T5" fmla="*/ 94 h 1243"/>
                  <a:gd name="T6" fmla="*/ 414 w 1207"/>
                  <a:gd name="T7" fmla="*/ 638 h 1243"/>
                  <a:gd name="T8" fmla="*/ 572 w 1207"/>
                  <a:gd name="T9" fmla="*/ 1155 h 1243"/>
                  <a:gd name="T10" fmla="*/ 737 w 1207"/>
                  <a:gd name="T11" fmla="*/ 1169 h 1243"/>
                  <a:gd name="T12" fmla="*/ 877 w 1207"/>
                  <a:gd name="T13" fmla="*/ 796 h 1243"/>
                  <a:gd name="T14" fmla="*/ 1012 w 1207"/>
                  <a:gd name="T15" fmla="*/ 376 h 1243"/>
                  <a:gd name="T16" fmla="*/ 1132 w 1207"/>
                  <a:gd name="T17" fmla="*/ 136 h 1243"/>
                  <a:gd name="T18" fmla="*/ 1207 w 1207"/>
                  <a:gd name="T19" fmla="*/ 76 h 1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7" h="1243">
                    <a:moveTo>
                      <a:pt x="0" y="349"/>
                    </a:moveTo>
                    <a:cubicBezTo>
                      <a:pt x="19" y="303"/>
                      <a:pt x="76" y="116"/>
                      <a:pt x="115" y="73"/>
                    </a:cubicBezTo>
                    <a:cubicBezTo>
                      <a:pt x="154" y="30"/>
                      <a:pt x="184" y="0"/>
                      <a:pt x="234" y="94"/>
                    </a:cubicBezTo>
                    <a:cubicBezTo>
                      <a:pt x="284" y="188"/>
                      <a:pt x="358" y="461"/>
                      <a:pt x="414" y="638"/>
                    </a:cubicBezTo>
                    <a:cubicBezTo>
                      <a:pt x="471" y="815"/>
                      <a:pt x="518" y="1067"/>
                      <a:pt x="572" y="1155"/>
                    </a:cubicBezTo>
                    <a:cubicBezTo>
                      <a:pt x="625" y="1243"/>
                      <a:pt x="686" y="1229"/>
                      <a:pt x="737" y="1169"/>
                    </a:cubicBezTo>
                    <a:cubicBezTo>
                      <a:pt x="788" y="1109"/>
                      <a:pt x="831" y="928"/>
                      <a:pt x="877" y="796"/>
                    </a:cubicBezTo>
                    <a:cubicBezTo>
                      <a:pt x="923" y="664"/>
                      <a:pt x="970" y="486"/>
                      <a:pt x="1012" y="376"/>
                    </a:cubicBezTo>
                    <a:cubicBezTo>
                      <a:pt x="1054" y="266"/>
                      <a:pt x="1100" y="186"/>
                      <a:pt x="1132" y="136"/>
                    </a:cubicBezTo>
                    <a:cubicBezTo>
                      <a:pt x="1164" y="86"/>
                      <a:pt x="1192" y="88"/>
                      <a:pt x="1207" y="76"/>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cxnSp>
          <p:nvCxnSpPr>
            <p:cNvPr id="11" name="Line 249">
              <a:extLst>
                <a:ext uri="{FF2B5EF4-FFF2-40B4-BE49-F238E27FC236}">
                  <a16:creationId xmlns:a16="http://schemas.microsoft.com/office/drawing/2014/main" id="{536CF1E1-F48E-443D-87E7-56F2AE674410}"/>
                </a:ext>
              </a:extLst>
            </p:cNvPr>
            <p:cNvCxnSpPr>
              <a:cxnSpLocks noChangeShapeType="1"/>
            </p:cNvCxnSpPr>
            <p:nvPr/>
          </p:nvCxnSpPr>
          <p:spPr bwMode="auto">
            <a:xfrm flipV="1">
              <a:off x="3288" y="6576"/>
              <a:ext cx="2880"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12" name="Line 250">
              <a:extLst>
                <a:ext uri="{FF2B5EF4-FFF2-40B4-BE49-F238E27FC236}">
                  <a16:creationId xmlns:a16="http://schemas.microsoft.com/office/drawing/2014/main" id="{4A18B580-AD42-41DC-A10B-09D6A5BB7584}"/>
                </a:ext>
              </a:extLst>
            </p:cNvPr>
            <p:cNvCxnSpPr>
              <a:cxnSpLocks noChangeShapeType="1"/>
            </p:cNvCxnSpPr>
            <p:nvPr/>
          </p:nvCxnSpPr>
          <p:spPr bwMode="auto">
            <a:xfrm>
              <a:off x="4788" y="5463"/>
              <a:ext cx="0" cy="1980"/>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sp>
          <p:nvSpPr>
            <p:cNvPr id="13" name="Text Box 251">
              <a:extLst>
                <a:ext uri="{FF2B5EF4-FFF2-40B4-BE49-F238E27FC236}">
                  <a16:creationId xmlns:a16="http://schemas.microsoft.com/office/drawing/2014/main" id="{B60DD102-B24C-496F-85AE-2E3F30A4ED9C}"/>
                </a:ext>
              </a:extLst>
            </p:cNvPr>
            <p:cNvSpPr txBox="1">
              <a:spLocks noChangeArrowheads="1"/>
            </p:cNvSpPr>
            <p:nvPr/>
          </p:nvSpPr>
          <p:spPr bwMode="auto">
            <a:xfrm>
              <a:off x="4788" y="5283"/>
              <a:ext cx="7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4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14" name="Text Box 252">
              <a:extLst>
                <a:ext uri="{FF2B5EF4-FFF2-40B4-BE49-F238E27FC236}">
                  <a16:creationId xmlns:a16="http://schemas.microsoft.com/office/drawing/2014/main" id="{144F0397-866F-4254-B3EA-43DE227DDBC1}"/>
                </a:ext>
              </a:extLst>
            </p:cNvPr>
            <p:cNvSpPr txBox="1">
              <a:spLocks noChangeArrowheads="1"/>
            </p:cNvSpPr>
            <p:nvPr/>
          </p:nvSpPr>
          <p:spPr bwMode="auto">
            <a:xfrm>
              <a:off x="6048" y="6576"/>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400">
                  <a:solidFill>
                    <a:srgbClr val="FFFFFF"/>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15" name="Text Box 253">
              <a:extLst>
                <a:ext uri="{FF2B5EF4-FFF2-40B4-BE49-F238E27FC236}">
                  <a16:creationId xmlns:a16="http://schemas.microsoft.com/office/drawing/2014/main" id="{F5283390-D4DC-4015-A80D-C9A13A8CCA3B}"/>
                </a:ext>
              </a:extLst>
            </p:cNvPr>
            <p:cNvSpPr txBox="1">
              <a:spLocks noChangeArrowheads="1"/>
            </p:cNvSpPr>
            <p:nvPr/>
          </p:nvSpPr>
          <p:spPr bwMode="auto">
            <a:xfrm>
              <a:off x="4809" y="7119"/>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400">
                  <a:solidFill>
                    <a:srgbClr val="002060"/>
                  </a:solidFill>
                  <a:effectLst/>
                  <a:latin typeface="Times New Roman" panose="02020603050405020304" pitchFamily="18" charset="0"/>
                  <a:ea typeface="Times New Roman" panose="02020603050405020304" pitchFamily="18" charset="0"/>
                </a:rPr>
                <a:t>(b)</a:t>
              </a:r>
              <a:endParaRPr lang="en-GB" sz="1200">
                <a:effectLst/>
                <a:latin typeface="Times New Roman" panose="02020603050405020304" pitchFamily="18" charset="0"/>
                <a:ea typeface="Times New Roman" panose="02020603050405020304" pitchFamily="18" charset="0"/>
              </a:endParaRPr>
            </a:p>
          </p:txBody>
        </p:sp>
        <p:cxnSp>
          <p:nvCxnSpPr>
            <p:cNvPr id="16" name="Line 254">
              <a:extLst>
                <a:ext uri="{FF2B5EF4-FFF2-40B4-BE49-F238E27FC236}">
                  <a16:creationId xmlns:a16="http://schemas.microsoft.com/office/drawing/2014/main" id="{15393354-7A6B-455C-857D-3B822DA05464}"/>
                </a:ext>
              </a:extLst>
            </p:cNvPr>
            <p:cNvCxnSpPr>
              <a:cxnSpLocks noChangeShapeType="1"/>
            </p:cNvCxnSpPr>
            <p:nvPr/>
          </p:nvCxnSpPr>
          <p:spPr bwMode="auto">
            <a:xfrm flipV="1">
              <a:off x="6528" y="6576"/>
              <a:ext cx="3000"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17" name="Line 255">
              <a:extLst>
                <a:ext uri="{FF2B5EF4-FFF2-40B4-BE49-F238E27FC236}">
                  <a16:creationId xmlns:a16="http://schemas.microsoft.com/office/drawing/2014/main" id="{1C520F26-F444-4122-A269-4DB8415441F1}"/>
                </a:ext>
              </a:extLst>
            </p:cNvPr>
            <p:cNvCxnSpPr>
              <a:cxnSpLocks noChangeShapeType="1"/>
            </p:cNvCxnSpPr>
            <p:nvPr/>
          </p:nvCxnSpPr>
          <p:spPr bwMode="auto">
            <a:xfrm>
              <a:off x="7938" y="5463"/>
              <a:ext cx="0" cy="1980"/>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sp>
          <p:nvSpPr>
            <p:cNvPr id="18" name="Text Box 256">
              <a:extLst>
                <a:ext uri="{FF2B5EF4-FFF2-40B4-BE49-F238E27FC236}">
                  <a16:creationId xmlns:a16="http://schemas.microsoft.com/office/drawing/2014/main" id="{5D555D56-509B-4ED4-AB95-09F5646BF663}"/>
                </a:ext>
              </a:extLst>
            </p:cNvPr>
            <p:cNvSpPr txBox="1">
              <a:spLocks noChangeArrowheads="1"/>
            </p:cNvSpPr>
            <p:nvPr/>
          </p:nvSpPr>
          <p:spPr bwMode="auto">
            <a:xfrm>
              <a:off x="7938" y="5283"/>
              <a:ext cx="7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4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19" name="Text Box 257">
              <a:extLst>
                <a:ext uri="{FF2B5EF4-FFF2-40B4-BE49-F238E27FC236}">
                  <a16:creationId xmlns:a16="http://schemas.microsoft.com/office/drawing/2014/main" id="{71383805-3094-4BB5-BBD4-0FA87899974D}"/>
                </a:ext>
              </a:extLst>
            </p:cNvPr>
            <p:cNvSpPr txBox="1">
              <a:spLocks noChangeArrowheads="1"/>
            </p:cNvSpPr>
            <p:nvPr/>
          </p:nvSpPr>
          <p:spPr bwMode="auto">
            <a:xfrm>
              <a:off x="9288" y="6670"/>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400">
                  <a:solidFill>
                    <a:srgbClr val="FFFFFF"/>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20" name="Text Box 258">
              <a:extLst>
                <a:ext uri="{FF2B5EF4-FFF2-40B4-BE49-F238E27FC236}">
                  <a16:creationId xmlns:a16="http://schemas.microsoft.com/office/drawing/2014/main" id="{D5BE7F8C-692E-49D6-B280-5DCAF9C6747C}"/>
                </a:ext>
              </a:extLst>
            </p:cNvPr>
            <p:cNvSpPr txBox="1">
              <a:spLocks noChangeArrowheads="1"/>
            </p:cNvSpPr>
            <p:nvPr/>
          </p:nvSpPr>
          <p:spPr bwMode="auto">
            <a:xfrm>
              <a:off x="7968" y="7263"/>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400">
                  <a:solidFill>
                    <a:srgbClr val="002060"/>
                  </a:solidFill>
                  <a:effectLst/>
                  <a:latin typeface="Times New Roman" panose="02020603050405020304" pitchFamily="18" charset="0"/>
                  <a:ea typeface="Times New Roman" panose="02020603050405020304" pitchFamily="18" charset="0"/>
                </a:rPr>
                <a:t>(c)</a:t>
              </a:r>
              <a:endParaRPr lang="en-GB" sz="1200">
                <a:effectLst/>
                <a:latin typeface="Times New Roman" panose="02020603050405020304" pitchFamily="18" charset="0"/>
                <a:ea typeface="Times New Roman" panose="02020603050405020304" pitchFamily="18" charset="0"/>
              </a:endParaRPr>
            </a:p>
          </p:txBody>
        </p:sp>
        <p:grpSp>
          <p:nvGrpSpPr>
            <p:cNvPr id="21" name="Group 20">
              <a:extLst>
                <a:ext uri="{FF2B5EF4-FFF2-40B4-BE49-F238E27FC236}">
                  <a16:creationId xmlns:a16="http://schemas.microsoft.com/office/drawing/2014/main" id="{A6EB4DFE-23DA-4C68-9494-D2EED9ACD766}"/>
                </a:ext>
              </a:extLst>
            </p:cNvPr>
            <p:cNvGrpSpPr>
              <a:grpSpLocks/>
            </p:cNvGrpSpPr>
            <p:nvPr/>
          </p:nvGrpSpPr>
          <p:grpSpPr bwMode="auto">
            <a:xfrm>
              <a:off x="3318" y="5965"/>
              <a:ext cx="2730" cy="1095"/>
              <a:chOff x="1388" y="13838"/>
              <a:chExt cx="2730" cy="1095"/>
            </a:xfrm>
          </p:grpSpPr>
          <p:cxnSp>
            <p:nvCxnSpPr>
              <p:cNvPr id="35" name="Line 260">
                <a:extLst>
                  <a:ext uri="{FF2B5EF4-FFF2-40B4-BE49-F238E27FC236}">
                    <a16:creationId xmlns:a16="http://schemas.microsoft.com/office/drawing/2014/main" id="{09A4E015-E001-41CA-A1E1-81CAAF16918E}"/>
                  </a:ext>
                </a:extLst>
              </p:cNvPr>
              <p:cNvCxnSpPr>
                <a:cxnSpLocks noChangeShapeType="1"/>
              </p:cNvCxnSpPr>
              <p:nvPr/>
            </p:nvCxnSpPr>
            <p:spPr bwMode="auto">
              <a:xfrm flipV="1">
                <a:off x="2741" y="13838"/>
                <a:ext cx="467" cy="108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36" name="Line 261">
                <a:extLst>
                  <a:ext uri="{FF2B5EF4-FFF2-40B4-BE49-F238E27FC236}">
                    <a16:creationId xmlns:a16="http://schemas.microsoft.com/office/drawing/2014/main" id="{27B6C0E8-D54B-47D8-810B-75ACFA3A9AAD}"/>
                  </a:ext>
                </a:extLst>
              </p:cNvPr>
              <p:cNvCxnSpPr>
                <a:cxnSpLocks noChangeShapeType="1"/>
              </p:cNvCxnSpPr>
              <p:nvPr/>
            </p:nvCxnSpPr>
            <p:spPr bwMode="auto">
              <a:xfrm flipV="1">
                <a:off x="3651" y="13838"/>
                <a:ext cx="467" cy="108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37" name="Line 262">
                <a:extLst>
                  <a:ext uri="{FF2B5EF4-FFF2-40B4-BE49-F238E27FC236}">
                    <a16:creationId xmlns:a16="http://schemas.microsoft.com/office/drawing/2014/main" id="{5F0623EE-F458-4989-ABB7-8D7399C281B2}"/>
                  </a:ext>
                </a:extLst>
              </p:cNvPr>
              <p:cNvCxnSpPr>
                <a:cxnSpLocks noChangeShapeType="1"/>
              </p:cNvCxnSpPr>
              <p:nvPr/>
            </p:nvCxnSpPr>
            <p:spPr bwMode="auto">
              <a:xfrm flipH="1" flipV="1">
                <a:off x="2282" y="13838"/>
                <a:ext cx="467" cy="108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38" name="Line 263">
                <a:extLst>
                  <a:ext uri="{FF2B5EF4-FFF2-40B4-BE49-F238E27FC236}">
                    <a16:creationId xmlns:a16="http://schemas.microsoft.com/office/drawing/2014/main" id="{1D87BB0D-2165-49B3-9255-F1B9F801C579}"/>
                  </a:ext>
                </a:extLst>
              </p:cNvPr>
              <p:cNvCxnSpPr>
                <a:cxnSpLocks noChangeShapeType="1"/>
              </p:cNvCxnSpPr>
              <p:nvPr/>
            </p:nvCxnSpPr>
            <p:spPr bwMode="auto">
              <a:xfrm flipH="1" flipV="1">
                <a:off x="3192" y="13838"/>
                <a:ext cx="467" cy="108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39" name="Line 264">
                <a:extLst>
                  <a:ext uri="{FF2B5EF4-FFF2-40B4-BE49-F238E27FC236}">
                    <a16:creationId xmlns:a16="http://schemas.microsoft.com/office/drawing/2014/main" id="{A2BD757A-24D3-4CB9-B204-663F5D9C1012}"/>
                  </a:ext>
                </a:extLst>
              </p:cNvPr>
              <p:cNvCxnSpPr>
                <a:cxnSpLocks noChangeShapeType="1"/>
              </p:cNvCxnSpPr>
              <p:nvPr/>
            </p:nvCxnSpPr>
            <p:spPr bwMode="auto">
              <a:xfrm flipV="1">
                <a:off x="1847" y="13853"/>
                <a:ext cx="467" cy="108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40" name="Line 265">
                <a:extLst>
                  <a:ext uri="{FF2B5EF4-FFF2-40B4-BE49-F238E27FC236}">
                    <a16:creationId xmlns:a16="http://schemas.microsoft.com/office/drawing/2014/main" id="{D3EA1A18-721C-4636-81A7-E45C0439D782}"/>
                  </a:ext>
                </a:extLst>
              </p:cNvPr>
              <p:cNvCxnSpPr>
                <a:cxnSpLocks noChangeShapeType="1"/>
              </p:cNvCxnSpPr>
              <p:nvPr/>
            </p:nvCxnSpPr>
            <p:spPr bwMode="auto">
              <a:xfrm flipH="1" flipV="1">
                <a:off x="1388" y="13853"/>
                <a:ext cx="467" cy="108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grpSp>
        <p:sp>
          <p:nvSpPr>
            <p:cNvPr id="22" name="Text Box 266">
              <a:extLst>
                <a:ext uri="{FF2B5EF4-FFF2-40B4-BE49-F238E27FC236}">
                  <a16:creationId xmlns:a16="http://schemas.microsoft.com/office/drawing/2014/main" id="{8E566313-9051-43C1-99BD-49BDEE34310F}"/>
                </a:ext>
              </a:extLst>
            </p:cNvPr>
            <p:cNvSpPr txBox="1">
              <a:spLocks noChangeArrowheads="1"/>
            </p:cNvSpPr>
            <p:nvPr/>
          </p:nvSpPr>
          <p:spPr bwMode="auto">
            <a:xfrm>
              <a:off x="695" y="7623"/>
              <a:ext cx="7393"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3100" dirty="0">
                  <a:solidFill>
                    <a:srgbClr val="002060"/>
                  </a:solidFill>
                  <a:effectLst/>
                  <a:latin typeface="Times New Roman" panose="02020603050405020304" pitchFamily="18" charset="0"/>
                  <a:ea typeface="Times New Roman" panose="02020603050405020304" pitchFamily="18" charset="0"/>
                </a:rPr>
                <a:t>Figure 5 – Waveforms with Half-wave symmetry</a:t>
              </a:r>
              <a:endParaRPr lang="en-GB" sz="1200" dirty="0">
                <a:effectLst/>
                <a:latin typeface="Times New Roman" panose="02020603050405020304" pitchFamily="18" charset="0"/>
                <a:ea typeface="Times New Roman" panose="02020603050405020304" pitchFamily="18" charset="0"/>
              </a:endParaRPr>
            </a:p>
          </p:txBody>
        </p:sp>
        <p:sp>
          <p:nvSpPr>
            <p:cNvPr id="23" name="Text Box 267">
              <a:extLst>
                <a:ext uri="{FF2B5EF4-FFF2-40B4-BE49-F238E27FC236}">
                  <a16:creationId xmlns:a16="http://schemas.microsoft.com/office/drawing/2014/main" id="{F32CCC0B-678D-4832-BD6B-6EE01B4F43D3}"/>
                </a:ext>
              </a:extLst>
            </p:cNvPr>
            <p:cNvSpPr txBox="1">
              <a:spLocks noChangeArrowheads="1"/>
            </p:cNvSpPr>
            <p:nvPr/>
          </p:nvSpPr>
          <p:spPr bwMode="auto">
            <a:xfrm>
              <a:off x="1428" y="5218"/>
              <a:ext cx="7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4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grpSp>
          <p:nvGrpSpPr>
            <p:cNvPr id="24" name="Group 23">
              <a:extLst>
                <a:ext uri="{FF2B5EF4-FFF2-40B4-BE49-F238E27FC236}">
                  <a16:creationId xmlns:a16="http://schemas.microsoft.com/office/drawing/2014/main" id="{11FB3157-20D4-437E-8DEE-E62CFB7F2322}"/>
                </a:ext>
              </a:extLst>
            </p:cNvPr>
            <p:cNvGrpSpPr>
              <a:grpSpLocks/>
            </p:cNvGrpSpPr>
            <p:nvPr/>
          </p:nvGrpSpPr>
          <p:grpSpPr bwMode="auto">
            <a:xfrm>
              <a:off x="6663" y="5830"/>
              <a:ext cx="1425" cy="1459"/>
              <a:chOff x="7793" y="1823"/>
              <a:chExt cx="2535" cy="1459"/>
            </a:xfrm>
          </p:grpSpPr>
          <p:sp>
            <p:nvSpPr>
              <p:cNvPr id="30" name="Freeform 269">
                <a:extLst>
                  <a:ext uri="{FF2B5EF4-FFF2-40B4-BE49-F238E27FC236}">
                    <a16:creationId xmlns:a16="http://schemas.microsoft.com/office/drawing/2014/main" id="{01862E6A-D26E-4B15-A648-6A9B41721E56}"/>
                  </a:ext>
                </a:extLst>
              </p:cNvPr>
              <p:cNvSpPr>
                <a:spLocks/>
              </p:cNvSpPr>
              <p:nvPr/>
            </p:nvSpPr>
            <p:spPr bwMode="auto">
              <a:xfrm>
                <a:off x="9082" y="1823"/>
                <a:ext cx="1246" cy="143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1" name="Freeform 270">
                <a:extLst>
                  <a:ext uri="{FF2B5EF4-FFF2-40B4-BE49-F238E27FC236}">
                    <a16:creationId xmlns:a16="http://schemas.microsoft.com/office/drawing/2014/main" id="{D3B4A1CD-89E3-4993-8E9B-A4207017D826}"/>
                  </a:ext>
                </a:extLst>
              </p:cNvPr>
              <p:cNvSpPr>
                <a:spLocks/>
              </p:cNvSpPr>
              <p:nvPr/>
            </p:nvSpPr>
            <p:spPr bwMode="auto">
              <a:xfrm flipV="1">
                <a:off x="7808" y="1843"/>
                <a:ext cx="1246" cy="143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32" name="Line 271">
                <a:extLst>
                  <a:ext uri="{FF2B5EF4-FFF2-40B4-BE49-F238E27FC236}">
                    <a16:creationId xmlns:a16="http://schemas.microsoft.com/office/drawing/2014/main" id="{65F988ED-65A6-4F6D-AB1B-BE8C414BFB7B}"/>
                  </a:ext>
                </a:extLst>
              </p:cNvPr>
              <p:cNvCxnSpPr>
                <a:cxnSpLocks noChangeShapeType="1"/>
              </p:cNvCxnSpPr>
              <p:nvPr/>
            </p:nvCxnSpPr>
            <p:spPr bwMode="auto">
              <a:xfrm>
                <a:off x="9068" y="1873"/>
                <a:ext cx="0" cy="686"/>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33" name="Line 272">
                <a:extLst>
                  <a:ext uri="{FF2B5EF4-FFF2-40B4-BE49-F238E27FC236}">
                    <a16:creationId xmlns:a16="http://schemas.microsoft.com/office/drawing/2014/main" id="{86ACAFFD-7E02-433B-BBA9-71762EA3C7D2}"/>
                  </a:ext>
                </a:extLst>
              </p:cNvPr>
              <p:cNvCxnSpPr>
                <a:cxnSpLocks noChangeShapeType="1"/>
              </p:cNvCxnSpPr>
              <p:nvPr/>
            </p:nvCxnSpPr>
            <p:spPr bwMode="auto">
              <a:xfrm>
                <a:off x="7793" y="2563"/>
                <a:ext cx="0" cy="709"/>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grpSp>
        <p:grpSp>
          <p:nvGrpSpPr>
            <p:cNvPr id="25" name="Group 24">
              <a:extLst>
                <a:ext uri="{FF2B5EF4-FFF2-40B4-BE49-F238E27FC236}">
                  <a16:creationId xmlns:a16="http://schemas.microsoft.com/office/drawing/2014/main" id="{EE29FB26-F930-45E0-8BDB-25A801756F15}"/>
                </a:ext>
              </a:extLst>
            </p:cNvPr>
            <p:cNvGrpSpPr>
              <a:grpSpLocks/>
            </p:cNvGrpSpPr>
            <p:nvPr/>
          </p:nvGrpSpPr>
          <p:grpSpPr bwMode="auto">
            <a:xfrm>
              <a:off x="8088" y="5824"/>
              <a:ext cx="1425" cy="1459"/>
              <a:chOff x="7793" y="1823"/>
              <a:chExt cx="2535" cy="1459"/>
            </a:xfrm>
          </p:grpSpPr>
          <p:sp>
            <p:nvSpPr>
              <p:cNvPr id="26" name="Freeform 274">
                <a:extLst>
                  <a:ext uri="{FF2B5EF4-FFF2-40B4-BE49-F238E27FC236}">
                    <a16:creationId xmlns:a16="http://schemas.microsoft.com/office/drawing/2014/main" id="{9A313CF5-01B7-4785-8DC3-57B789B1F0DE}"/>
                  </a:ext>
                </a:extLst>
              </p:cNvPr>
              <p:cNvSpPr>
                <a:spLocks/>
              </p:cNvSpPr>
              <p:nvPr/>
            </p:nvSpPr>
            <p:spPr bwMode="auto">
              <a:xfrm>
                <a:off x="9082" y="1823"/>
                <a:ext cx="1246" cy="143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27" name="Freeform 275">
                <a:extLst>
                  <a:ext uri="{FF2B5EF4-FFF2-40B4-BE49-F238E27FC236}">
                    <a16:creationId xmlns:a16="http://schemas.microsoft.com/office/drawing/2014/main" id="{5EE75F53-19D9-4F9E-8644-887874AEAE89}"/>
                  </a:ext>
                </a:extLst>
              </p:cNvPr>
              <p:cNvSpPr>
                <a:spLocks/>
              </p:cNvSpPr>
              <p:nvPr/>
            </p:nvSpPr>
            <p:spPr bwMode="auto">
              <a:xfrm flipV="1">
                <a:off x="7808" y="1843"/>
                <a:ext cx="1246" cy="143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28" name="Line 276">
                <a:extLst>
                  <a:ext uri="{FF2B5EF4-FFF2-40B4-BE49-F238E27FC236}">
                    <a16:creationId xmlns:a16="http://schemas.microsoft.com/office/drawing/2014/main" id="{929A886B-63A4-44A4-9AA1-75704592CFD7}"/>
                  </a:ext>
                </a:extLst>
              </p:cNvPr>
              <p:cNvCxnSpPr>
                <a:cxnSpLocks noChangeShapeType="1"/>
              </p:cNvCxnSpPr>
              <p:nvPr/>
            </p:nvCxnSpPr>
            <p:spPr bwMode="auto">
              <a:xfrm>
                <a:off x="9068" y="1873"/>
                <a:ext cx="0" cy="686"/>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cxnSp>
            <p:nvCxnSpPr>
              <p:cNvPr id="29" name="Line 277">
                <a:extLst>
                  <a:ext uri="{FF2B5EF4-FFF2-40B4-BE49-F238E27FC236}">
                    <a16:creationId xmlns:a16="http://schemas.microsoft.com/office/drawing/2014/main" id="{F517B1A9-DF76-4431-8A25-89DB5B73E096}"/>
                  </a:ext>
                </a:extLst>
              </p:cNvPr>
              <p:cNvCxnSpPr>
                <a:cxnSpLocks noChangeShapeType="1"/>
              </p:cNvCxnSpPr>
              <p:nvPr/>
            </p:nvCxnSpPr>
            <p:spPr bwMode="auto">
              <a:xfrm>
                <a:off x="7793" y="2563"/>
                <a:ext cx="0" cy="709"/>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cxnSp>
        </p:grpSp>
      </p:grpSp>
      <p:sp>
        <p:nvSpPr>
          <p:cNvPr id="4" name="Rectangle 39">
            <a:extLst>
              <a:ext uri="{FF2B5EF4-FFF2-40B4-BE49-F238E27FC236}">
                <a16:creationId xmlns:a16="http://schemas.microsoft.com/office/drawing/2014/main" id="{6DC1BDD5-AEF7-4243-934D-4330442377B6}"/>
              </a:ext>
            </a:extLst>
          </p:cNvPr>
          <p:cNvSpPr>
            <a:spLocks noChangeArrowheads="1"/>
          </p:cNvSpPr>
          <p:nvPr/>
        </p:nvSpPr>
        <p:spPr bwMode="auto">
          <a:xfrm>
            <a:off x="367258" y="1058547"/>
            <a:ext cx="1139502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 function </a:t>
            </a:r>
            <a:r>
              <a:rPr kumimoji="0" lang="en-GB" altLang="en-US" sz="3200" b="0"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f(t)</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exhibits half-wave symmetry, when one half of waveform is exactly equal to the negation of previous or next half of waveform</a:t>
            </a:r>
            <a:r>
              <a:rPr kumimoji="0" lang="en-GB" altLang="en-US" sz="3200" b="0"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t>
            </a:r>
            <a:endParaRPr kumimoji="0" lang="en-GB" altLang="en-US" sz="3200" b="0" i="0" u="none" strike="noStrike" cap="none" normalizeH="0" baseline="0" dirty="0">
              <a:ln>
                <a:noFill/>
              </a:ln>
              <a:solidFill>
                <a:schemeClr val="tx1"/>
              </a:solidFill>
              <a:effectLst/>
              <a:latin typeface="Arial" panose="020B0604020202020204" pitchFamily="34" charset="0"/>
            </a:endParaRPr>
          </a:p>
        </p:txBody>
      </p:sp>
      <p:sp>
        <p:nvSpPr>
          <p:cNvPr id="43" name="Rectangle 50">
            <a:extLst>
              <a:ext uri="{FF2B5EF4-FFF2-40B4-BE49-F238E27FC236}">
                <a16:creationId xmlns:a16="http://schemas.microsoft.com/office/drawing/2014/main" id="{79421772-79A1-490B-B638-3FA4E2F2CE10}"/>
              </a:ext>
            </a:extLst>
          </p:cNvPr>
          <p:cNvSpPr>
            <a:spLocks noChangeArrowheads="1"/>
          </p:cNvSpPr>
          <p:nvPr/>
        </p:nvSpPr>
        <p:spPr bwMode="auto">
          <a:xfrm>
            <a:off x="429715" y="2535912"/>
            <a:ext cx="89659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i.e.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44" name="Rectangle 51">
            <a:extLst>
              <a:ext uri="{FF2B5EF4-FFF2-40B4-BE49-F238E27FC236}">
                <a16:creationId xmlns:a16="http://schemas.microsoft.com/office/drawing/2014/main" id="{AE1D24F7-411D-4631-82DC-EE3AE67BC29C}"/>
              </a:ext>
            </a:extLst>
          </p:cNvPr>
          <p:cNvSpPr>
            <a:spLocks noChangeArrowheads="1"/>
          </p:cNvSpPr>
          <p:nvPr/>
        </p:nvSpPr>
        <p:spPr bwMode="auto">
          <a:xfrm>
            <a:off x="0" y="14287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32440146"/>
      </p:ext>
    </p:extLst>
  </p:cSld>
  <p:clrMapOvr>
    <a:masterClrMapping/>
  </p:clrMapOvr>
  <mc:AlternateContent xmlns:mc="http://schemas.openxmlformats.org/markup-compatibility/2006" xmlns:p14="http://schemas.microsoft.com/office/powerpoint/2010/main">
    <mc:Choice Requires="p14">
      <p:transition spd="slow" p14:dur="2000" advTm="34234"/>
    </mc:Choice>
    <mc:Fallback xmlns="">
      <p:transition spd="slow" advTm="3423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7AAFCCF0-2A5B-46C8-92ED-7E1494B64BBF}"/>
              </a:ext>
            </a:extLst>
          </p:cNvPr>
          <p:cNvSpPr/>
          <p:nvPr/>
        </p:nvSpPr>
        <p:spPr>
          <a:xfrm>
            <a:off x="548640" y="609600"/>
            <a:ext cx="8249920" cy="5816977"/>
          </a:xfrm>
          <a:prstGeom prst="rect">
            <a:avLst/>
          </a:prstGeom>
        </p:spPr>
        <p:txBody>
          <a:bodyPr wrap="square">
            <a:spAutoFit/>
          </a:bodyPr>
          <a:lstStyle/>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The simplest form of </a:t>
            </a:r>
            <a:r>
              <a:rPr lang="en-GB" sz="3200" i="1" dirty="0">
                <a:solidFill>
                  <a:srgbClr val="002060"/>
                </a:solidFill>
                <a:latin typeface="Times New Roman" panose="02020603050405020304" pitchFamily="18" charset="0"/>
                <a:ea typeface="Times New Roman" panose="02020603050405020304" pitchFamily="18" charset="0"/>
              </a:rPr>
              <a:t>Half-wave Symmetry</a:t>
            </a:r>
            <a:r>
              <a:rPr lang="en-GB" sz="3200" dirty="0">
                <a:solidFill>
                  <a:srgbClr val="002060"/>
                </a:solidFill>
                <a:latin typeface="Times New Roman" panose="02020603050405020304" pitchFamily="18" charset="0"/>
                <a:ea typeface="Times New Roman" panose="02020603050405020304" pitchFamily="18" charset="0"/>
              </a:rPr>
              <a:t> is </a:t>
            </a:r>
            <a:r>
              <a:rPr lang="en-GB" sz="3200" i="1" dirty="0">
                <a:solidFill>
                  <a:srgbClr val="002060"/>
                </a:solidFill>
                <a:latin typeface="Times New Roman" panose="02020603050405020304" pitchFamily="18" charset="0"/>
                <a:ea typeface="Times New Roman" panose="02020603050405020304" pitchFamily="18" charset="0"/>
              </a:rPr>
              <a:t>sinusoidal waveform</a:t>
            </a:r>
            <a:r>
              <a:rPr lang="en-GB" sz="3200" dirty="0">
                <a:solidFill>
                  <a:srgbClr val="002060"/>
                </a:solidFill>
                <a:latin typeface="Times New Roman" panose="02020603050405020304" pitchFamily="18" charset="0"/>
                <a:ea typeface="Times New Roman" panose="02020603050405020304" pitchFamily="18" charset="0"/>
              </a:rPr>
              <a:t> in figure (a). </a:t>
            </a:r>
            <a:endParaRPr lang="en-GB" sz="3200" dirty="0">
              <a:latin typeface="Times New Roman" panose="02020603050405020304" pitchFamily="18" charset="0"/>
              <a:ea typeface="Times New Roman" panose="02020603050405020304" pitchFamily="18" charset="0"/>
            </a:endParaRPr>
          </a:p>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Half-wave symmetry can only exist in periodic waveforms. </a:t>
            </a:r>
            <a:endParaRPr lang="en-GB" sz="3200" dirty="0">
              <a:latin typeface="Times New Roman" panose="02020603050405020304" pitchFamily="18" charset="0"/>
              <a:ea typeface="Times New Roman" panose="02020603050405020304" pitchFamily="18" charset="0"/>
            </a:endParaRPr>
          </a:p>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Only varying terms can exist in such waveforms. </a:t>
            </a:r>
            <a:endParaRPr lang="en-GB" sz="3200" dirty="0">
              <a:latin typeface="Times New Roman" panose="02020603050405020304" pitchFamily="18" charset="0"/>
              <a:ea typeface="Times New Roman" panose="02020603050405020304" pitchFamily="18" charset="0"/>
            </a:endParaRPr>
          </a:p>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Direct terms cannot exist in half-wave symmetrical waveforms.</a:t>
            </a:r>
            <a:endParaRPr lang="en-GB" sz="3200" dirty="0">
              <a:latin typeface="Times New Roman" panose="02020603050405020304" pitchFamily="18" charset="0"/>
              <a:ea typeface="Times New Roman" panose="02020603050405020304" pitchFamily="18" charset="0"/>
            </a:endParaRPr>
          </a:p>
          <a:p>
            <a:r>
              <a:rPr lang="en-GB" sz="3200" dirty="0">
                <a:solidFill>
                  <a:srgbClr val="002060"/>
                </a:solidFill>
                <a:latin typeface="Times New Roman" panose="02020603050405020304" pitchFamily="18" charset="0"/>
                <a:ea typeface="Times New Roman" panose="02020603050405020304" pitchFamily="18" charset="0"/>
              </a:rPr>
              <a:t>If the waveform is defined for only </a:t>
            </a:r>
            <a:r>
              <a:rPr lang="en-GB" sz="3200" b="1" dirty="0">
                <a:solidFill>
                  <a:srgbClr val="002060"/>
                </a:solidFill>
                <a:latin typeface="Times New Roman" panose="02020603050405020304" pitchFamily="18" charset="0"/>
                <a:ea typeface="Times New Roman" panose="02020603050405020304" pitchFamily="18" charset="0"/>
              </a:rPr>
              <a:t>one half cycle</a:t>
            </a:r>
            <a:r>
              <a:rPr lang="en-GB" sz="3200" dirty="0">
                <a:solidFill>
                  <a:srgbClr val="002060"/>
                </a:solidFill>
                <a:latin typeface="Times New Roman" panose="02020603050405020304" pitchFamily="18" charset="0"/>
                <a:ea typeface="Times New Roman" panose="02020603050405020304" pitchFamily="18" charset="0"/>
              </a:rPr>
              <a:t>, not necessarily starting from t=0, the remaining half of the waveform is automatically known by symmetry. </a:t>
            </a:r>
            <a:endParaRPr lang="en-GB" sz="3200" dirty="0"/>
          </a:p>
        </p:txBody>
      </p:sp>
      <p:grpSp>
        <p:nvGrpSpPr>
          <p:cNvPr id="5" name="Group 4">
            <a:extLst>
              <a:ext uri="{FF2B5EF4-FFF2-40B4-BE49-F238E27FC236}">
                <a16:creationId xmlns:a16="http://schemas.microsoft.com/office/drawing/2014/main" id="{C5F470CF-E939-493D-BFC7-C2285A103E37}"/>
              </a:ext>
            </a:extLst>
          </p:cNvPr>
          <p:cNvGrpSpPr/>
          <p:nvPr/>
        </p:nvGrpSpPr>
        <p:grpSpPr>
          <a:xfrm>
            <a:off x="8839200" y="1066800"/>
            <a:ext cx="3106420" cy="3261359"/>
            <a:chOff x="0" y="0"/>
            <a:chExt cx="3106827" cy="1983293"/>
          </a:xfrm>
        </p:grpSpPr>
        <p:cxnSp>
          <p:nvCxnSpPr>
            <p:cNvPr id="6" name="Line 178">
              <a:extLst>
                <a:ext uri="{FF2B5EF4-FFF2-40B4-BE49-F238E27FC236}">
                  <a16:creationId xmlns:a16="http://schemas.microsoft.com/office/drawing/2014/main" id="{1EE3E013-96B7-425F-99B9-697B593A2BFE}"/>
                </a:ext>
              </a:extLst>
            </p:cNvPr>
            <p:cNvCxnSpPr>
              <a:cxnSpLocks noChangeShapeType="1"/>
            </p:cNvCxnSpPr>
            <p:nvPr/>
          </p:nvCxnSpPr>
          <p:spPr bwMode="auto">
            <a:xfrm flipV="1">
              <a:off x="0" y="1059625"/>
              <a:ext cx="2840775"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7" name="Line 179">
              <a:extLst>
                <a:ext uri="{FF2B5EF4-FFF2-40B4-BE49-F238E27FC236}">
                  <a16:creationId xmlns:a16="http://schemas.microsoft.com/office/drawing/2014/main" id="{C6B3A869-EABF-4664-A172-6B69CC688CDD}"/>
                </a:ext>
              </a:extLst>
            </p:cNvPr>
            <p:cNvCxnSpPr>
              <a:cxnSpLocks noChangeShapeType="1"/>
            </p:cNvCxnSpPr>
            <p:nvPr/>
          </p:nvCxnSpPr>
          <p:spPr bwMode="auto">
            <a:xfrm>
              <a:off x="1292201" y="239981"/>
              <a:ext cx="0" cy="1509593"/>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grpSp>
          <p:nvGrpSpPr>
            <p:cNvPr id="8" name="Group 7">
              <a:extLst>
                <a:ext uri="{FF2B5EF4-FFF2-40B4-BE49-F238E27FC236}">
                  <a16:creationId xmlns:a16="http://schemas.microsoft.com/office/drawing/2014/main" id="{67C8F539-6C62-4CC0-8CBF-CF342E660CDF}"/>
                </a:ext>
              </a:extLst>
            </p:cNvPr>
            <p:cNvGrpSpPr/>
            <p:nvPr/>
          </p:nvGrpSpPr>
          <p:grpSpPr>
            <a:xfrm>
              <a:off x="137803" y="0"/>
              <a:ext cx="2969024" cy="1983293"/>
              <a:chOff x="0" y="0"/>
              <a:chExt cx="2969024" cy="1983293"/>
            </a:xfrm>
          </p:grpSpPr>
          <p:sp>
            <p:nvSpPr>
              <p:cNvPr id="9" name="Text Box 180">
                <a:extLst>
                  <a:ext uri="{FF2B5EF4-FFF2-40B4-BE49-F238E27FC236}">
                    <a16:creationId xmlns:a16="http://schemas.microsoft.com/office/drawing/2014/main" id="{7F10E375-24D5-4FF9-9387-5DF279CC483C}"/>
                  </a:ext>
                </a:extLst>
              </p:cNvPr>
              <p:cNvSpPr txBox="1">
                <a:spLocks noChangeArrowheads="1"/>
              </p:cNvSpPr>
              <p:nvPr/>
            </p:nvSpPr>
            <p:spPr bwMode="auto">
              <a:xfrm>
                <a:off x="1180366" y="0"/>
                <a:ext cx="774757" cy="39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4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10" name="Text Box 181">
                <a:extLst>
                  <a:ext uri="{FF2B5EF4-FFF2-40B4-BE49-F238E27FC236}">
                    <a16:creationId xmlns:a16="http://schemas.microsoft.com/office/drawing/2014/main" id="{E9B9898A-39CC-4087-9CCB-AB906040B104}"/>
                  </a:ext>
                </a:extLst>
              </p:cNvPr>
              <p:cNvSpPr txBox="1">
                <a:spLocks noChangeArrowheads="1"/>
              </p:cNvSpPr>
              <p:nvPr/>
            </p:nvSpPr>
            <p:spPr bwMode="auto">
              <a:xfrm>
                <a:off x="2581646" y="1068779"/>
                <a:ext cx="387378" cy="27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4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11" name="Text Box 182">
                <a:extLst>
                  <a:ext uri="{FF2B5EF4-FFF2-40B4-BE49-F238E27FC236}">
                    <a16:creationId xmlns:a16="http://schemas.microsoft.com/office/drawing/2014/main" id="{A3692CAB-3B2C-4D4E-818A-4D36A757E1AE}"/>
                  </a:ext>
                </a:extLst>
              </p:cNvPr>
              <p:cNvSpPr txBox="1">
                <a:spLocks noChangeArrowheads="1"/>
              </p:cNvSpPr>
              <p:nvPr/>
            </p:nvSpPr>
            <p:spPr bwMode="auto">
              <a:xfrm>
                <a:off x="1417864" y="1615044"/>
                <a:ext cx="516505" cy="368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18000" tIns="36000" rIns="18000" bIns="10800" anchor="t" anchorCtr="0" upright="1">
                <a:noAutofit/>
              </a:bodyPr>
              <a:lstStyle/>
              <a:p>
                <a:pPr marL="0" marR="0">
                  <a:spcBef>
                    <a:spcPts val="0"/>
                  </a:spcBef>
                  <a:spcAft>
                    <a:spcPts val="0"/>
                  </a:spcAft>
                </a:pPr>
                <a:r>
                  <a:rPr lang="en-GB" sz="2400">
                    <a:solidFill>
                      <a:srgbClr val="002060"/>
                    </a:solidFill>
                    <a:effectLst/>
                    <a:latin typeface="Times New Roman" panose="02020603050405020304" pitchFamily="18" charset="0"/>
                    <a:ea typeface="Times New Roman" panose="02020603050405020304" pitchFamily="18" charset="0"/>
                  </a:rPr>
                  <a:t>(a)</a:t>
                </a:r>
                <a:endParaRPr lang="en-GB" sz="1200">
                  <a:effectLst/>
                  <a:latin typeface="Times New Roman" panose="02020603050405020304" pitchFamily="18" charset="0"/>
                  <a:ea typeface="Times New Roman" panose="02020603050405020304" pitchFamily="18" charset="0"/>
                </a:endParaRPr>
              </a:p>
            </p:txBody>
          </p:sp>
          <p:grpSp>
            <p:nvGrpSpPr>
              <p:cNvPr id="12" name="Group 11">
                <a:extLst>
                  <a:ext uri="{FF2B5EF4-FFF2-40B4-BE49-F238E27FC236}">
                    <a16:creationId xmlns:a16="http://schemas.microsoft.com/office/drawing/2014/main" id="{A550B5FC-F064-4065-B6C8-318410EDDD58}"/>
                  </a:ext>
                </a:extLst>
              </p:cNvPr>
              <p:cNvGrpSpPr>
                <a:grpSpLocks/>
              </p:cNvGrpSpPr>
              <p:nvPr/>
            </p:nvGrpSpPr>
            <p:grpSpPr bwMode="auto">
              <a:xfrm>
                <a:off x="0" y="581891"/>
                <a:ext cx="2582523" cy="952264"/>
                <a:chOff x="1418" y="11228"/>
                <a:chExt cx="2400" cy="1249"/>
              </a:xfrm>
            </p:grpSpPr>
            <p:sp>
              <p:nvSpPr>
                <p:cNvPr id="13" name="Freeform 184">
                  <a:extLst>
                    <a:ext uri="{FF2B5EF4-FFF2-40B4-BE49-F238E27FC236}">
                      <a16:creationId xmlns:a16="http://schemas.microsoft.com/office/drawing/2014/main" id="{BE2AA7D8-0E7B-4ABB-BE20-8BF8268F064A}"/>
                    </a:ext>
                  </a:extLst>
                </p:cNvPr>
                <p:cNvSpPr>
                  <a:spLocks noChangeAspect="1"/>
                </p:cNvSpPr>
                <p:nvPr/>
              </p:nvSpPr>
              <p:spPr bwMode="auto">
                <a:xfrm>
                  <a:off x="1418" y="11234"/>
                  <a:ext cx="1207" cy="1243"/>
                </a:xfrm>
                <a:custGeom>
                  <a:avLst/>
                  <a:gdLst>
                    <a:gd name="T0" fmla="*/ 0 w 1207"/>
                    <a:gd name="T1" fmla="*/ 349 h 1243"/>
                    <a:gd name="T2" fmla="*/ 115 w 1207"/>
                    <a:gd name="T3" fmla="*/ 73 h 1243"/>
                    <a:gd name="T4" fmla="*/ 234 w 1207"/>
                    <a:gd name="T5" fmla="*/ 94 h 1243"/>
                    <a:gd name="T6" fmla="*/ 414 w 1207"/>
                    <a:gd name="T7" fmla="*/ 638 h 1243"/>
                    <a:gd name="T8" fmla="*/ 572 w 1207"/>
                    <a:gd name="T9" fmla="*/ 1155 h 1243"/>
                    <a:gd name="T10" fmla="*/ 737 w 1207"/>
                    <a:gd name="T11" fmla="*/ 1169 h 1243"/>
                    <a:gd name="T12" fmla="*/ 877 w 1207"/>
                    <a:gd name="T13" fmla="*/ 796 h 1243"/>
                    <a:gd name="T14" fmla="*/ 1012 w 1207"/>
                    <a:gd name="T15" fmla="*/ 376 h 1243"/>
                    <a:gd name="T16" fmla="*/ 1132 w 1207"/>
                    <a:gd name="T17" fmla="*/ 136 h 1243"/>
                    <a:gd name="T18" fmla="*/ 1207 w 1207"/>
                    <a:gd name="T19" fmla="*/ 76 h 1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7" h="1243">
                      <a:moveTo>
                        <a:pt x="0" y="349"/>
                      </a:moveTo>
                      <a:cubicBezTo>
                        <a:pt x="19" y="303"/>
                        <a:pt x="76" y="116"/>
                        <a:pt x="115" y="73"/>
                      </a:cubicBezTo>
                      <a:cubicBezTo>
                        <a:pt x="154" y="30"/>
                        <a:pt x="184" y="0"/>
                        <a:pt x="234" y="94"/>
                      </a:cubicBezTo>
                      <a:cubicBezTo>
                        <a:pt x="284" y="188"/>
                        <a:pt x="358" y="461"/>
                        <a:pt x="414" y="638"/>
                      </a:cubicBezTo>
                      <a:cubicBezTo>
                        <a:pt x="471" y="815"/>
                        <a:pt x="518" y="1067"/>
                        <a:pt x="572" y="1155"/>
                      </a:cubicBezTo>
                      <a:cubicBezTo>
                        <a:pt x="625" y="1243"/>
                        <a:pt x="686" y="1229"/>
                        <a:pt x="737" y="1169"/>
                      </a:cubicBezTo>
                      <a:cubicBezTo>
                        <a:pt x="788" y="1109"/>
                        <a:pt x="831" y="928"/>
                        <a:pt x="877" y="796"/>
                      </a:cubicBezTo>
                      <a:cubicBezTo>
                        <a:pt x="923" y="664"/>
                        <a:pt x="970" y="486"/>
                        <a:pt x="1012" y="376"/>
                      </a:cubicBezTo>
                      <a:cubicBezTo>
                        <a:pt x="1054" y="266"/>
                        <a:pt x="1100" y="186"/>
                        <a:pt x="1132" y="136"/>
                      </a:cubicBezTo>
                      <a:cubicBezTo>
                        <a:pt x="1164" y="86"/>
                        <a:pt x="1192" y="88"/>
                        <a:pt x="1207" y="76"/>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4" name="Freeform 185">
                  <a:extLst>
                    <a:ext uri="{FF2B5EF4-FFF2-40B4-BE49-F238E27FC236}">
                      <a16:creationId xmlns:a16="http://schemas.microsoft.com/office/drawing/2014/main" id="{E2D9409B-1EAF-47A2-9614-A0058202EEEF}"/>
                    </a:ext>
                  </a:extLst>
                </p:cNvPr>
                <p:cNvSpPr>
                  <a:spLocks noChangeAspect="1"/>
                </p:cNvSpPr>
                <p:nvPr/>
              </p:nvSpPr>
              <p:spPr bwMode="auto">
                <a:xfrm flipH="1">
                  <a:off x="2611" y="11228"/>
                  <a:ext cx="1207" cy="1243"/>
                </a:xfrm>
                <a:custGeom>
                  <a:avLst/>
                  <a:gdLst>
                    <a:gd name="T0" fmla="*/ 0 w 1207"/>
                    <a:gd name="T1" fmla="*/ 349 h 1243"/>
                    <a:gd name="T2" fmla="*/ 115 w 1207"/>
                    <a:gd name="T3" fmla="*/ 73 h 1243"/>
                    <a:gd name="T4" fmla="*/ 234 w 1207"/>
                    <a:gd name="T5" fmla="*/ 94 h 1243"/>
                    <a:gd name="T6" fmla="*/ 414 w 1207"/>
                    <a:gd name="T7" fmla="*/ 638 h 1243"/>
                    <a:gd name="T8" fmla="*/ 572 w 1207"/>
                    <a:gd name="T9" fmla="*/ 1155 h 1243"/>
                    <a:gd name="T10" fmla="*/ 737 w 1207"/>
                    <a:gd name="T11" fmla="*/ 1169 h 1243"/>
                    <a:gd name="T12" fmla="*/ 877 w 1207"/>
                    <a:gd name="T13" fmla="*/ 796 h 1243"/>
                    <a:gd name="T14" fmla="*/ 1012 w 1207"/>
                    <a:gd name="T15" fmla="*/ 376 h 1243"/>
                    <a:gd name="T16" fmla="*/ 1132 w 1207"/>
                    <a:gd name="T17" fmla="*/ 136 h 1243"/>
                    <a:gd name="T18" fmla="*/ 1207 w 1207"/>
                    <a:gd name="T19" fmla="*/ 76 h 1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7" h="1243">
                      <a:moveTo>
                        <a:pt x="0" y="349"/>
                      </a:moveTo>
                      <a:cubicBezTo>
                        <a:pt x="19" y="303"/>
                        <a:pt x="76" y="116"/>
                        <a:pt x="115" y="73"/>
                      </a:cubicBezTo>
                      <a:cubicBezTo>
                        <a:pt x="154" y="30"/>
                        <a:pt x="184" y="0"/>
                        <a:pt x="234" y="94"/>
                      </a:cubicBezTo>
                      <a:cubicBezTo>
                        <a:pt x="284" y="188"/>
                        <a:pt x="358" y="461"/>
                        <a:pt x="414" y="638"/>
                      </a:cubicBezTo>
                      <a:cubicBezTo>
                        <a:pt x="471" y="815"/>
                        <a:pt x="518" y="1067"/>
                        <a:pt x="572" y="1155"/>
                      </a:cubicBezTo>
                      <a:cubicBezTo>
                        <a:pt x="625" y="1243"/>
                        <a:pt x="686" y="1229"/>
                        <a:pt x="737" y="1169"/>
                      </a:cubicBezTo>
                      <a:cubicBezTo>
                        <a:pt x="788" y="1109"/>
                        <a:pt x="831" y="928"/>
                        <a:pt x="877" y="796"/>
                      </a:cubicBezTo>
                      <a:cubicBezTo>
                        <a:pt x="923" y="664"/>
                        <a:pt x="970" y="486"/>
                        <a:pt x="1012" y="376"/>
                      </a:cubicBezTo>
                      <a:cubicBezTo>
                        <a:pt x="1054" y="266"/>
                        <a:pt x="1100" y="186"/>
                        <a:pt x="1132" y="136"/>
                      </a:cubicBezTo>
                      <a:cubicBezTo>
                        <a:pt x="1164" y="86"/>
                        <a:pt x="1192" y="88"/>
                        <a:pt x="1207" y="76"/>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grpSp>
    </p:spTree>
    <p:extLst>
      <p:ext uri="{BB962C8B-B14F-4D97-AF65-F5344CB8AC3E}">
        <p14:creationId xmlns:p14="http://schemas.microsoft.com/office/powerpoint/2010/main" val="2347695351"/>
      </p:ext>
    </p:extLst>
  </p:cSld>
  <p:clrMapOvr>
    <a:masterClrMapping/>
  </p:clrMapOvr>
  <mc:AlternateContent xmlns:mc="http://schemas.openxmlformats.org/markup-compatibility/2006" xmlns:p14="http://schemas.microsoft.com/office/powerpoint/2010/main">
    <mc:Choice Requires="p14">
      <p:transition spd="slow" p14:dur="2000" advTm="54225"/>
    </mc:Choice>
    <mc:Fallback xmlns="">
      <p:transition spd="slow" advTm="54225"/>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471983"/>
            <a:ext cx="10924085" cy="553998"/>
          </a:xfrm>
        </p:spPr>
        <p:txBody>
          <a:bodyPr>
            <a:normAutofit fontScale="90000"/>
          </a:bodyPr>
          <a:lstStyle/>
          <a:p>
            <a:r>
              <a:rPr lang="en-GB" sz="3600" dirty="0"/>
              <a:t>Some useful Trigonometric Properties</a:t>
            </a:r>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24BD901D-046B-42AA-8A6F-599CEEA64DD8}"/>
              </a:ext>
            </a:extLst>
          </p:cNvPr>
          <p:cNvGraphicFramePr>
            <a:graphicFrameLocks noChangeAspect="1"/>
          </p:cNvGraphicFramePr>
          <p:nvPr>
            <p:extLst>
              <p:ext uri="{D42A27DB-BD31-4B8C-83A1-F6EECF244321}">
                <p14:modId xmlns:p14="http://schemas.microsoft.com/office/powerpoint/2010/main" val="1854294812"/>
              </p:ext>
            </p:extLst>
          </p:nvPr>
        </p:nvGraphicFramePr>
        <p:xfrm>
          <a:off x="545920" y="819150"/>
          <a:ext cx="2438400" cy="1066800"/>
        </p:xfrm>
        <a:graphic>
          <a:graphicData uri="http://schemas.openxmlformats.org/presentationml/2006/ole">
            <mc:AlternateContent xmlns:mc="http://schemas.openxmlformats.org/markup-compatibility/2006">
              <mc:Choice xmlns:v="urn:schemas-microsoft-com:vml" Requires="v">
                <p:oleObj r:id="rId3" imgW="1040948" imgH="444307" progId="Equation.3">
                  <p:embed/>
                </p:oleObj>
              </mc:Choice>
              <mc:Fallback>
                <p:oleObj r:id="rId3" imgW="1040948" imgH="444307"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920" y="819150"/>
                        <a:ext cx="2438400"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EC5A2F66-759B-4418-AED8-ABF0B03A06BE}"/>
              </a:ext>
            </a:extLst>
          </p:cNvPr>
          <p:cNvGraphicFramePr>
            <a:graphicFrameLocks noChangeAspect="1"/>
          </p:cNvGraphicFramePr>
          <p:nvPr>
            <p:extLst>
              <p:ext uri="{D42A27DB-BD31-4B8C-83A1-F6EECF244321}">
                <p14:modId xmlns:p14="http://schemas.microsoft.com/office/powerpoint/2010/main" val="2651738742"/>
              </p:ext>
            </p:extLst>
          </p:nvPr>
        </p:nvGraphicFramePr>
        <p:xfrm>
          <a:off x="3362325" y="894079"/>
          <a:ext cx="2438400" cy="1047750"/>
        </p:xfrm>
        <a:graphic>
          <a:graphicData uri="http://schemas.openxmlformats.org/presentationml/2006/ole">
            <mc:AlternateContent xmlns:mc="http://schemas.openxmlformats.org/markup-compatibility/2006">
              <mc:Choice xmlns:v="urn:schemas-microsoft-com:vml" Requires="v">
                <p:oleObj r:id="rId5" imgW="1066337" imgH="444307" progId="Equation.3">
                  <p:embed/>
                </p:oleObj>
              </mc:Choice>
              <mc:Fallback>
                <p:oleObj r:id="rId5" imgW="1066337" imgH="444307"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2325" y="894079"/>
                        <a:ext cx="2438400" cy="104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a:extLst>
              <a:ext uri="{FF2B5EF4-FFF2-40B4-BE49-F238E27FC236}">
                <a16:creationId xmlns:a16="http://schemas.microsoft.com/office/drawing/2014/main" id="{D3C88506-C451-4F35-81EE-46E6986C670C}"/>
              </a:ext>
            </a:extLst>
          </p:cNvPr>
          <p:cNvGraphicFramePr>
            <a:graphicFrameLocks noChangeAspect="1"/>
          </p:cNvGraphicFramePr>
          <p:nvPr>
            <p:extLst>
              <p:ext uri="{D42A27DB-BD31-4B8C-83A1-F6EECF244321}">
                <p14:modId xmlns:p14="http://schemas.microsoft.com/office/powerpoint/2010/main" val="1340367954"/>
              </p:ext>
            </p:extLst>
          </p:nvPr>
        </p:nvGraphicFramePr>
        <p:xfrm>
          <a:off x="519885" y="1943100"/>
          <a:ext cx="2705100" cy="1123950"/>
        </p:xfrm>
        <a:graphic>
          <a:graphicData uri="http://schemas.openxmlformats.org/presentationml/2006/ole">
            <mc:AlternateContent xmlns:mc="http://schemas.openxmlformats.org/markup-compatibility/2006">
              <mc:Choice xmlns:v="urn:schemas-microsoft-com:vml" Requires="v">
                <p:oleObj r:id="rId7" imgW="1104900" imgH="444500" progId="Equation.3">
                  <p:embed/>
                </p:oleObj>
              </mc:Choice>
              <mc:Fallback>
                <p:oleObj r:id="rId7" imgW="1104900" imgH="4445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9885" y="1943100"/>
                        <a:ext cx="2705100" cy="1123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a:extLst>
              <a:ext uri="{FF2B5EF4-FFF2-40B4-BE49-F238E27FC236}">
                <a16:creationId xmlns:a16="http://schemas.microsoft.com/office/drawing/2014/main" id="{AD639443-B033-4800-A9BE-055739B86D4C}"/>
              </a:ext>
            </a:extLst>
          </p:cNvPr>
          <p:cNvGraphicFramePr>
            <a:graphicFrameLocks noChangeAspect="1"/>
          </p:cNvGraphicFramePr>
          <p:nvPr>
            <p:extLst>
              <p:ext uri="{D42A27DB-BD31-4B8C-83A1-F6EECF244321}">
                <p14:modId xmlns:p14="http://schemas.microsoft.com/office/powerpoint/2010/main" val="3357537335"/>
              </p:ext>
            </p:extLst>
          </p:nvPr>
        </p:nvGraphicFramePr>
        <p:xfrm>
          <a:off x="3362325" y="1954351"/>
          <a:ext cx="2724150" cy="1085850"/>
        </p:xfrm>
        <a:graphic>
          <a:graphicData uri="http://schemas.openxmlformats.org/presentationml/2006/ole">
            <mc:AlternateContent xmlns:mc="http://schemas.openxmlformats.org/markup-compatibility/2006">
              <mc:Choice xmlns:v="urn:schemas-microsoft-com:vml" Requires="v">
                <p:oleObj r:id="rId9" imgW="1143000" imgH="444500" progId="Equation.3">
                  <p:embed/>
                </p:oleObj>
              </mc:Choice>
              <mc:Fallback>
                <p:oleObj r:id="rId9" imgW="1143000" imgH="444500" progId="Equation.3">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62325" y="1954351"/>
                        <a:ext cx="2724150" cy="1085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a:extLst>
              <a:ext uri="{FF2B5EF4-FFF2-40B4-BE49-F238E27FC236}">
                <a16:creationId xmlns:a16="http://schemas.microsoft.com/office/drawing/2014/main" id="{5EF7DA88-CC2F-4A00-A589-0B4DABC95EEC}"/>
              </a:ext>
            </a:extLst>
          </p:cNvPr>
          <p:cNvGraphicFramePr>
            <a:graphicFrameLocks noChangeAspect="1"/>
          </p:cNvGraphicFramePr>
          <p:nvPr>
            <p:extLst>
              <p:ext uri="{D42A27DB-BD31-4B8C-83A1-F6EECF244321}">
                <p14:modId xmlns:p14="http://schemas.microsoft.com/office/powerpoint/2010/main" val="528677138"/>
              </p:ext>
            </p:extLst>
          </p:nvPr>
        </p:nvGraphicFramePr>
        <p:xfrm>
          <a:off x="519885" y="3126608"/>
          <a:ext cx="4000500" cy="1028700"/>
        </p:xfrm>
        <a:graphic>
          <a:graphicData uri="http://schemas.openxmlformats.org/presentationml/2006/ole">
            <mc:AlternateContent xmlns:mc="http://schemas.openxmlformats.org/markup-compatibility/2006">
              <mc:Choice xmlns:v="urn:schemas-microsoft-com:vml" Requires="v">
                <p:oleObj r:id="rId11" imgW="1726451" imgH="444307" progId="Equation.3">
                  <p:embed/>
                </p:oleObj>
              </mc:Choice>
              <mc:Fallback>
                <p:oleObj r:id="rId11" imgW="1726451" imgH="444307" progId="Equation.3">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9885" y="3126608"/>
                        <a:ext cx="4000500" cy="1028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a:extLst>
              <a:ext uri="{FF2B5EF4-FFF2-40B4-BE49-F238E27FC236}">
                <a16:creationId xmlns:a16="http://schemas.microsoft.com/office/drawing/2014/main" id="{74047EB8-2009-4C8C-9E60-20D4086CED81}"/>
              </a:ext>
            </a:extLst>
          </p:cNvPr>
          <p:cNvGraphicFramePr>
            <a:graphicFrameLocks noChangeAspect="1"/>
          </p:cNvGraphicFramePr>
          <p:nvPr>
            <p:extLst>
              <p:ext uri="{D42A27DB-BD31-4B8C-83A1-F6EECF244321}">
                <p14:modId xmlns:p14="http://schemas.microsoft.com/office/powerpoint/2010/main" val="1495969676"/>
              </p:ext>
            </p:extLst>
          </p:nvPr>
        </p:nvGraphicFramePr>
        <p:xfrm>
          <a:off x="545920" y="4134927"/>
          <a:ext cx="6362700" cy="1257300"/>
        </p:xfrm>
        <a:graphic>
          <a:graphicData uri="http://schemas.openxmlformats.org/presentationml/2006/ole">
            <mc:AlternateContent xmlns:mc="http://schemas.openxmlformats.org/markup-compatibility/2006">
              <mc:Choice xmlns:v="urn:schemas-microsoft-com:vml" Requires="v">
                <p:oleObj r:id="rId13" imgW="2641600" imgH="508000" progId="Equation.3">
                  <p:embed/>
                </p:oleObj>
              </mc:Choice>
              <mc:Fallback>
                <p:oleObj r:id="rId13" imgW="2641600" imgH="508000" progId="Equation.3">
                  <p:embed/>
                  <p:pic>
                    <p:nvPicPr>
                      <p:cNvPr id="0" name="Object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5920" y="4134927"/>
                        <a:ext cx="6362700" cy="1257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a:extLst>
              <a:ext uri="{FF2B5EF4-FFF2-40B4-BE49-F238E27FC236}">
                <a16:creationId xmlns:a16="http://schemas.microsoft.com/office/drawing/2014/main" id="{FD5D32D6-2772-4006-B64F-2551D9C8C902}"/>
              </a:ext>
            </a:extLst>
          </p:cNvPr>
          <p:cNvGraphicFramePr>
            <a:graphicFrameLocks noChangeAspect="1"/>
          </p:cNvGraphicFramePr>
          <p:nvPr>
            <p:extLst>
              <p:ext uri="{D42A27DB-BD31-4B8C-83A1-F6EECF244321}">
                <p14:modId xmlns:p14="http://schemas.microsoft.com/office/powerpoint/2010/main" val="515223674"/>
              </p:ext>
            </p:extLst>
          </p:nvPr>
        </p:nvGraphicFramePr>
        <p:xfrm>
          <a:off x="551635" y="5392227"/>
          <a:ext cx="6724650" cy="1276350"/>
        </p:xfrm>
        <a:graphic>
          <a:graphicData uri="http://schemas.openxmlformats.org/presentationml/2006/ole">
            <mc:AlternateContent xmlns:mc="http://schemas.openxmlformats.org/markup-compatibility/2006">
              <mc:Choice xmlns:v="urn:schemas-microsoft-com:vml" Requires="v">
                <p:oleObj r:id="rId15" imgW="2717800" imgH="508000" progId="Equation.3">
                  <p:embed/>
                </p:oleObj>
              </mc:Choice>
              <mc:Fallback>
                <p:oleObj r:id="rId15" imgW="2717800" imgH="508000" progId="Equation.3">
                  <p:embed/>
                  <p:pic>
                    <p:nvPicPr>
                      <p:cNvPr id="0" name="Object 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1635" y="5392227"/>
                        <a:ext cx="6724650" cy="1276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8">
            <a:extLst>
              <a:ext uri="{FF2B5EF4-FFF2-40B4-BE49-F238E27FC236}">
                <a16:creationId xmlns:a16="http://schemas.microsoft.com/office/drawing/2014/main" id="{CB6AF69B-EE45-4D58-B124-446A5EAE53A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11" name="Rectangle 9">
            <a:extLst>
              <a:ext uri="{FF2B5EF4-FFF2-40B4-BE49-F238E27FC236}">
                <a16:creationId xmlns:a16="http://schemas.microsoft.com/office/drawing/2014/main" id="{62D0A91F-7B73-4DEB-8BA2-55A1AF235638}"/>
              </a:ext>
            </a:extLst>
          </p:cNvPr>
          <p:cNvSpPr>
            <a:spLocks noChangeArrowheads="1"/>
          </p:cNvSpPr>
          <p:nvPr/>
        </p:nvSpPr>
        <p:spPr bwMode="auto">
          <a:xfrm>
            <a:off x="0" y="1524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12" name="Rectangle 10">
            <a:extLst>
              <a:ext uri="{FF2B5EF4-FFF2-40B4-BE49-F238E27FC236}">
                <a16:creationId xmlns:a16="http://schemas.microsoft.com/office/drawing/2014/main" id="{A487C7BF-D5AC-416E-A9D8-90B91D8405CF}"/>
              </a:ext>
            </a:extLst>
          </p:cNvPr>
          <p:cNvSpPr>
            <a:spLocks noChangeArrowheads="1"/>
          </p:cNvSpPr>
          <p:nvPr/>
        </p:nvSpPr>
        <p:spPr bwMode="auto">
          <a:xfrm>
            <a:off x="0" y="2543857"/>
            <a:ext cx="11353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11">
            <a:extLst>
              <a:ext uri="{FF2B5EF4-FFF2-40B4-BE49-F238E27FC236}">
                <a16:creationId xmlns:a16="http://schemas.microsoft.com/office/drawing/2014/main" id="{6C469151-61EB-4415-932B-55B92787A0D5}"/>
              </a:ext>
            </a:extLst>
          </p:cNvPr>
          <p:cNvSpPr>
            <a:spLocks noChangeArrowheads="1"/>
          </p:cNvSpPr>
          <p:nvPr/>
        </p:nvSpPr>
        <p:spPr bwMode="auto">
          <a:xfrm>
            <a:off x="0" y="3695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15" name="Rectangle 13">
            <a:extLst>
              <a:ext uri="{FF2B5EF4-FFF2-40B4-BE49-F238E27FC236}">
                <a16:creationId xmlns:a16="http://schemas.microsoft.com/office/drawing/2014/main" id="{09C7A9C3-1426-47B2-BE07-1129DCA37EA0}"/>
              </a:ext>
            </a:extLst>
          </p:cNvPr>
          <p:cNvSpPr>
            <a:spLocks noChangeArrowheads="1"/>
          </p:cNvSpPr>
          <p:nvPr/>
        </p:nvSpPr>
        <p:spPr bwMode="auto">
          <a:xfrm>
            <a:off x="6420940" y="3256474"/>
            <a:ext cx="609854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for all values of </a:t>
            </a:r>
            <a:r>
              <a:rPr kumimoji="0" lang="en-GB" altLang="en-US" sz="28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m</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and </a:t>
            </a:r>
            <a:r>
              <a:rPr kumimoji="0" lang="en-GB" altLang="en-US" sz="28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n</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endParaRPr kumimoji="0" lang="en-GB" altLang="en-US" sz="2800" b="0" i="0" u="none" strike="noStrike" cap="none" normalizeH="0" baseline="0" dirty="0">
              <a:ln>
                <a:noFill/>
              </a:ln>
              <a:solidFill>
                <a:schemeClr val="tx1"/>
              </a:solidFill>
              <a:effectLst/>
              <a:latin typeface="Arial" panose="020B0604020202020204" pitchFamily="34" charset="0"/>
            </a:endParaRPr>
          </a:p>
        </p:txBody>
      </p:sp>
      <p:sp>
        <p:nvSpPr>
          <p:cNvPr id="17" name="Rectangle 16">
            <a:extLst>
              <a:ext uri="{FF2B5EF4-FFF2-40B4-BE49-F238E27FC236}">
                <a16:creationId xmlns:a16="http://schemas.microsoft.com/office/drawing/2014/main" id="{E0B59039-7C85-49DB-B640-CEF0E7C10348}"/>
              </a:ext>
            </a:extLst>
          </p:cNvPr>
          <p:cNvSpPr/>
          <p:nvPr/>
        </p:nvSpPr>
        <p:spPr>
          <a:xfrm>
            <a:off x="6327042" y="1066800"/>
            <a:ext cx="2669320" cy="584775"/>
          </a:xfrm>
          <a:prstGeom prst="rect">
            <a:avLst/>
          </a:prstGeom>
        </p:spPr>
        <p:txBody>
          <a:bodyPr wrap="none">
            <a:spAutoFit/>
          </a:bodyPr>
          <a:lstStyle/>
          <a:p>
            <a:pPr lvl="0" algn="just" eaLnBrk="0" fontAlgn="base" hangingPunct="0">
              <a:spcBef>
                <a:spcPct val="0"/>
              </a:spcBef>
              <a:spcAft>
                <a:spcPct val="0"/>
              </a:spcAft>
              <a:tabLst>
                <a:tab pos="381000" algn="l"/>
                <a:tab pos="3276600" algn="l"/>
              </a:tabLst>
            </a:pPr>
            <a:r>
              <a:rPr lang="en-GB" altLang="en-US" sz="3200" dirty="0">
                <a:solidFill>
                  <a:srgbClr val="002060"/>
                </a:solidFill>
                <a:latin typeface="Arial" panose="020B0604020202020204" pitchFamily="34" charset="0"/>
                <a:ea typeface="Times New Roman" panose="02020603050405020304" pitchFamily="18" charset="0"/>
              </a:rPr>
              <a:t> with </a:t>
            </a:r>
            <a:r>
              <a:rPr lang="en-GB" altLang="en-US" sz="3200" i="1" dirty="0">
                <a:solidFill>
                  <a:srgbClr val="002060"/>
                </a:solidFill>
                <a:latin typeface="Symbol" panose="05050102010706020507" pitchFamily="18" charset="2"/>
                <a:ea typeface="Times New Roman" panose="02020603050405020304" pitchFamily="18" charset="0"/>
              </a:rPr>
              <a:t>w</a:t>
            </a:r>
            <a:r>
              <a:rPr lang="en-GB" altLang="en-US" sz="3200" i="1" baseline="-30000" dirty="0">
                <a:solidFill>
                  <a:srgbClr val="002060"/>
                </a:solidFill>
                <a:latin typeface="Symbol" panose="05050102010706020507" pitchFamily="18" charset="2"/>
                <a:ea typeface="Times New Roman" panose="02020603050405020304" pitchFamily="18" charset="0"/>
              </a:rPr>
              <a:t>o </a:t>
            </a:r>
            <a:r>
              <a:rPr lang="en-GB" altLang="en-US" sz="3200" i="1" dirty="0">
                <a:solidFill>
                  <a:srgbClr val="002060"/>
                </a:solidFill>
                <a:ea typeface="Times New Roman" panose="02020603050405020304" pitchFamily="18" charset="0"/>
              </a:rPr>
              <a:t>T = 2</a:t>
            </a:r>
            <a:r>
              <a:rPr lang="en-GB" altLang="en-US" sz="3200" i="1" dirty="0">
                <a:solidFill>
                  <a:srgbClr val="002060"/>
                </a:solidFill>
                <a:latin typeface="Symbol" panose="05050102010706020507" pitchFamily="18" charset="2"/>
                <a:ea typeface="Times New Roman" panose="02020603050405020304" pitchFamily="18" charset="0"/>
              </a:rPr>
              <a:t>p</a:t>
            </a:r>
            <a:endParaRPr lang="en-GB" altLang="en-US" sz="1100" dirty="0"/>
          </a:p>
        </p:txBody>
      </p:sp>
    </p:spTree>
    <p:extLst>
      <p:ext uri="{BB962C8B-B14F-4D97-AF65-F5344CB8AC3E}">
        <p14:creationId xmlns:p14="http://schemas.microsoft.com/office/powerpoint/2010/main" val="206708735"/>
      </p:ext>
    </p:extLst>
  </p:cSld>
  <p:clrMapOvr>
    <a:masterClrMapping/>
  </p:clrMapOvr>
  <mc:AlternateContent xmlns:mc="http://schemas.openxmlformats.org/markup-compatibility/2006" xmlns:p14="http://schemas.microsoft.com/office/powerpoint/2010/main">
    <mc:Choice Requires="p14">
      <p:transition spd="slow" p14:dur="2000" advTm="80227"/>
    </mc:Choice>
    <mc:Fallback xmlns="">
      <p:transition spd="slow" advTm="80227"/>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512623"/>
            <a:ext cx="10924085" cy="553998"/>
          </a:xfrm>
        </p:spPr>
        <p:txBody>
          <a:bodyPr>
            <a:normAutofit/>
          </a:bodyPr>
          <a:lstStyle/>
          <a:p>
            <a:r>
              <a:rPr lang="en-GB" dirty="0"/>
              <a:t>Evaluation of Coefficients A</a:t>
            </a:r>
            <a:r>
              <a:rPr lang="en-GB" baseline="-25000" dirty="0"/>
              <a:t>n</a:t>
            </a:r>
            <a:r>
              <a:rPr lang="en-GB" dirty="0"/>
              <a:t> and B</a:t>
            </a:r>
            <a:r>
              <a:rPr lang="en-GB" baseline="-25000" dirty="0"/>
              <a:t>n</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84CC6594-C629-4F7A-8627-B3FC85FFB2F2}"/>
              </a:ext>
            </a:extLst>
          </p:cNvPr>
          <p:cNvGraphicFramePr>
            <a:graphicFrameLocks noChangeAspect="1"/>
          </p:cNvGraphicFramePr>
          <p:nvPr>
            <p:extLst>
              <p:ext uri="{D42A27DB-BD31-4B8C-83A1-F6EECF244321}">
                <p14:modId xmlns:p14="http://schemas.microsoft.com/office/powerpoint/2010/main" val="238821545"/>
              </p:ext>
            </p:extLst>
          </p:nvPr>
        </p:nvGraphicFramePr>
        <p:xfrm>
          <a:off x="182880" y="762000"/>
          <a:ext cx="7658100" cy="1162050"/>
        </p:xfrm>
        <a:graphic>
          <a:graphicData uri="http://schemas.openxmlformats.org/presentationml/2006/ole">
            <mc:AlternateContent xmlns:mc="http://schemas.openxmlformats.org/markup-compatibility/2006">
              <mc:Choice xmlns:v="urn:schemas-microsoft-com:vml" Requires="v">
                <p:oleObj r:id="rId3" imgW="2590800" imgH="393700" progId="Equation.3">
                  <p:embed/>
                </p:oleObj>
              </mc:Choice>
              <mc:Fallback>
                <p:oleObj r:id="rId3" imgW="2590800" imgH="3937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 y="762000"/>
                        <a:ext cx="7658100" cy="1162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4">
            <a:extLst>
              <a:ext uri="{FF2B5EF4-FFF2-40B4-BE49-F238E27FC236}">
                <a16:creationId xmlns:a16="http://schemas.microsoft.com/office/drawing/2014/main" id="{9A806F46-6495-4B9B-A252-35386481A30C}"/>
              </a:ext>
            </a:extLst>
          </p:cNvPr>
          <p:cNvGrpSpPr>
            <a:grpSpLocks/>
          </p:cNvGrpSpPr>
          <p:nvPr/>
        </p:nvGrpSpPr>
        <p:grpSpPr bwMode="auto">
          <a:xfrm>
            <a:off x="429715" y="2339976"/>
            <a:ext cx="9933485" cy="1994534"/>
            <a:chOff x="1036" y="4668"/>
            <a:chExt cx="15542" cy="2721"/>
          </a:xfrm>
        </p:grpSpPr>
        <p:cxnSp>
          <p:nvCxnSpPr>
            <p:cNvPr id="6" name="AutoShape 906">
              <a:extLst>
                <a:ext uri="{FF2B5EF4-FFF2-40B4-BE49-F238E27FC236}">
                  <a16:creationId xmlns:a16="http://schemas.microsoft.com/office/drawing/2014/main" id="{4F3FDC0A-A4DA-4678-86F7-B43EFA7A8DFD}"/>
                </a:ext>
              </a:extLst>
            </p:cNvPr>
            <p:cNvCxnSpPr>
              <a:cxnSpLocks noChangeShapeType="1"/>
            </p:cNvCxnSpPr>
            <p:nvPr/>
          </p:nvCxnSpPr>
          <p:spPr bwMode="auto">
            <a:xfrm>
              <a:off x="1036" y="5357"/>
              <a:ext cx="15466" cy="1"/>
            </a:xfrm>
            <a:prstGeom prst="straightConnector1">
              <a:avLst/>
            </a:prstGeom>
            <a:noFill/>
            <a:ln w="508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7" name="AutoShape 907">
              <a:extLst>
                <a:ext uri="{FF2B5EF4-FFF2-40B4-BE49-F238E27FC236}">
                  <a16:creationId xmlns:a16="http://schemas.microsoft.com/office/drawing/2014/main" id="{C22E7756-B7D8-4E14-9F75-8AB9F696D417}"/>
                </a:ext>
              </a:extLst>
            </p:cNvPr>
            <p:cNvCxnSpPr>
              <a:cxnSpLocks noChangeShapeType="1"/>
            </p:cNvCxnSpPr>
            <p:nvPr/>
          </p:nvCxnSpPr>
          <p:spPr bwMode="auto">
            <a:xfrm>
              <a:off x="8253" y="4668"/>
              <a:ext cx="0" cy="1958"/>
            </a:xfrm>
            <a:prstGeom prst="straightConnector1">
              <a:avLst/>
            </a:prstGeom>
            <a:noFill/>
            <a:ln w="76200">
              <a:solidFill>
                <a:srgbClr val="002060"/>
              </a:solidFill>
              <a:round/>
              <a:headEnd type="arrow" w="med" len="med"/>
              <a:tailEnd type="none" w="lg" len="lg"/>
            </a:ln>
            <a:extLst>
              <a:ext uri="{909E8E84-426E-40DD-AFC4-6F175D3DCCD1}">
                <a14:hiddenFill xmlns:a14="http://schemas.microsoft.com/office/drawing/2010/main">
                  <a:noFill/>
                </a14:hiddenFill>
              </a:ext>
            </a:extLst>
          </p:spPr>
        </p:cxnSp>
        <p:sp>
          <p:nvSpPr>
            <p:cNvPr id="8" name="Text Box 908">
              <a:extLst>
                <a:ext uri="{FF2B5EF4-FFF2-40B4-BE49-F238E27FC236}">
                  <a16:creationId xmlns:a16="http://schemas.microsoft.com/office/drawing/2014/main" id="{933C264F-5CB1-4AFB-BFDD-ECCE2823AE8D}"/>
                </a:ext>
              </a:extLst>
            </p:cNvPr>
            <p:cNvSpPr txBox="1">
              <a:spLocks noChangeArrowheads="1"/>
            </p:cNvSpPr>
            <p:nvPr/>
          </p:nvSpPr>
          <p:spPr bwMode="auto">
            <a:xfrm>
              <a:off x="1096" y="5528"/>
              <a:ext cx="15482" cy="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rot="0" vert="horz" wrap="square" lIns="0" tIns="0" rIns="0" bIns="0" anchor="t" anchorCtr="0" upright="1">
              <a:noAutofit/>
            </a:bodyPr>
            <a:lstStyle/>
            <a:p>
              <a:pPr marL="0" marR="0">
                <a:spcBef>
                  <a:spcPts val="0"/>
                </a:spcBef>
                <a:spcAft>
                  <a:spcPts val="0"/>
                </a:spcAft>
              </a:pPr>
              <a:r>
                <a:rPr lang="en-GB" sz="3600" b="1" dirty="0">
                  <a:solidFill>
                    <a:srgbClr val="002060"/>
                  </a:solidFill>
                  <a:effectLst/>
                  <a:latin typeface="Times New Roman" panose="02020603050405020304" pitchFamily="18" charset="0"/>
                  <a:ea typeface="Times New Roman" panose="02020603050405020304" pitchFamily="18" charset="0"/>
                </a:rPr>
                <a:t>–</a:t>
              </a:r>
              <a:r>
                <a:rPr lang="en-GB" sz="3600" dirty="0">
                  <a:solidFill>
                    <a:srgbClr val="002060"/>
                  </a:solidFill>
                  <a:effectLst/>
                  <a:latin typeface="Times New Roman" panose="02020603050405020304" pitchFamily="18" charset="0"/>
                  <a:ea typeface="Times New Roman" panose="02020603050405020304" pitchFamily="18" charset="0"/>
                </a:rPr>
                <a:t>3</a:t>
              </a:r>
              <a:r>
                <a:rPr lang="en-GB" sz="3600" dirty="0">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lang="en-GB" sz="3600" baseline="-25000" dirty="0">
                  <a:solidFill>
                    <a:srgbClr val="002060"/>
                  </a:solidFill>
                  <a:effectLst/>
                  <a:latin typeface="Times New Roman" panose="02020603050405020304" pitchFamily="18" charset="0"/>
                  <a:ea typeface="Times New Roman" panose="02020603050405020304" pitchFamily="18" charset="0"/>
                </a:rPr>
                <a:t>o</a:t>
              </a:r>
              <a:r>
                <a:rPr lang="en-GB" sz="3600" dirty="0">
                  <a:solidFill>
                    <a:srgbClr val="002060"/>
                  </a:solidFill>
                  <a:effectLst/>
                  <a:latin typeface="Times New Roman" panose="02020603050405020304" pitchFamily="18" charset="0"/>
                  <a:ea typeface="Times New Roman" panose="02020603050405020304" pitchFamily="18" charset="0"/>
                </a:rPr>
                <a:t>    </a:t>
              </a:r>
              <a:r>
                <a:rPr lang="en-GB" sz="3600" b="1" dirty="0">
                  <a:solidFill>
                    <a:srgbClr val="002060"/>
                  </a:solidFill>
                  <a:effectLst/>
                  <a:latin typeface="Times New Roman" panose="02020603050405020304" pitchFamily="18" charset="0"/>
                  <a:ea typeface="Times New Roman" panose="02020603050405020304" pitchFamily="18" charset="0"/>
                </a:rPr>
                <a:t>–</a:t>
              </a:r>
              <a:r>
                <a:rPr lang="en-GB" sz="3600" dirty="0">
                  <a:solidFill>
                    <a:srgbClr val="002060"/>
                  </a:solidFill>
                  <a:effectLst/>
                  <a:latin typeface="Times New Roman" panose="02020603050405020304" pitchFamily="18" charset="0"/>
                  <a:ea typeface="Times New Roman" panose="02020603050405020304" pitchFamily="18" charset="0"/>
                </a:rPr>
                <a:t>2</a:t>
              </a:r>
              <a:r>
                <a:rPr lang="en-GB" sz="3600" dirty="0">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lang="en-GB" sz="3600" baseline="-25000" dirty="0">
                  <a:solidFill>
                    <a:srgbClr val="002060"/>
                  </a:solidFill>
                  <a:effectLst/>
                  <a:latin typeface="Times New Roman" panose="02020603050405020304" pitchFamily="18" charset="0"/>
                  <a:ea typeface="Times New Roman" panose="02020603050405020304" pitchFamily="18" charset="0"/>
                </a:rPr>
                <a:t>o</a:t>
              </a:r>
              <a:r>
                <a:rPr lang="en-GB" sz="3600" dirty="0">
                  <a:solidFill>
                    <a:srgbClr val="002060"/>
                  </a:solidFill>
                  <a:effectLst/>
                  <a:latin typeface="Times New Roman" panose="02020603050405020304" pitchFamily="18" charset="0"/>
                  <a:ea typeface="Times New Roman" panose="02020603050405020304" pitchFamily="18" charset="0"/>
                </a:rPr>
                <a:t>     </a:t>
              </a:r>
              <a:r>
                <a:rPr lang="en-GB" sz="3600" b="1" dirty="0">
                  <a:solidFill>
                    <a:srgbClr val="002060"/>
                  </a:solidFill>
                  <a:effectLst/>
                  <a:latin typeface="Times New Roman" panose="02020603050405020304" pitchFamily="18" charset="0"/>
                  <a:ea typeface="Times New Roman" panose="02020603050405020304" pitchFamily="18" charset="0"/>
                </a:rPr>
                <a:t>–</a:t>
              </a:r>
              <a:r>
                <a:rPr lang="en-GB" sz="1400" b="1" dirty="0">
                  <a:solidFill>
                    <a:srgbClr val="002060"/>
                  </a:solidFill>
                  <a:effectLst/>
                  <a:latin typeface="Times New Roman" panose="02020603050405020304" pitchFamily="18" charset="0"/>
                  <a:ea typeface="Times New Roman" panose="02020603050405020304" pitchFamily="18" charset="0"/>
                </a:rPr>
                <a:t> </a:t>
              </a:r>
              <a:r>
                <a:rPr lang="en-GB" sz="3600" dirty="0">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lang="en-GB" sz="3600" baseline="-25000" dirty="0">
                  <a:solidFill>
                    <a:srgbClr val="002060"/>
                  </a:solidFill>
                  <a:effectLst/>
                  <a:latin typeface="Times New Roman" panose="02020603050405020304" pitchFamily="18" charset="0"/>
                  <a:ea typeface="Times New Roman" panose="02020603050405020304" pitchFamily="18" charset="0"/>
                </a:rPr>
                <a:t>o</a:t>
              </a:r>
              <a:r>
                <a:rPr lang="en-GB" sz="3600" dirty="0">
                  <a:solidFill>
                    <a:srgbClr val="002060"/>
                  </a:solidFill>
                  <a:effectLst/>
                  <a:latin typeface="Times New Roman" panose="02020603050405020304" pitchFamily="18" charset="0"/>
                  <a:ea typeface="Times New Roman" panose="02020603050405020304" pitchFamily="18" charset="0"/>
                </a:rPr>
                <a:t>     </a:t>
              </a:r>
              <a:r>
                <a:rPr lang="en-GB" sz="2400" dirty="0">
                  <a:solidFill>
                    <a:srgbClr val="002060"/>
                  </a:solidFill>
                  <a:effectLst/>
                  <a:latin typeface="Times New Roman" panose="02020603050405020304" pitchFamily="18" charset="0"/>
                  <a:ea typeface="Times New Roman" panose="02020603050405020304" pitchFamily="18" charset="0"/>
                </a:rPr>
                <a:t> </a:t>
              </a:r>
              <a:r>
                <a:rPr lang="en-GB" sz="3600" dirty="0">
                  <a:solidFill>
                    <a:srgbClr val="002060"/>
                  </a:solidFill>
                  <a:effectLst/>
                  <a:latin typeface="Times New Roman" panose="02020603050405020304" pitchFamily="18" charset="0"/>
                  <a:ea typeface="Times New Roman" panose="02020603050405020304" pitchFamily="18" charset="0"/>
                </a:rPr>
                <a:t>0           </a:t>
              </a:r>
              <a:r>
                <a:rPr lang="en-GB" sz="3600" dirty="0">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lang="en-GB" sz="3600" baseline="-25000" dirty="0">
                  <a:solidFill>
                    <a:srgbClr val="002060"/>
                  </a:solidFill>
                  <a:effectLst/>
                  <a:latin typeface="Times New Roman" panose="02020603050405020304" pitchFamily="18" charset="0"/>
                  <a:ea typeface="Times New Roman" panose="02020603050405020304" pitchFamily="18" charset="0"/>
                </a:rPr>
                <a:t>o</a:t>
              </a:r>
              <a:r>
                <a:rPr lang="en-GB" sz="3600" dirty="0">
                  <a:solidFill>
                    <a:srgbClr val="002060"/>
                  </a:solidFill>
                  <a:effectLst/>
                  <a:latin typeface="Times New Roman" panose="02020603050405020304" pitchFamily="18" charset="0"/>
                  <a:ea typeface="Times New Roman" panose="02020603050405020304" pitchFamily="18" charset="0"/>
                </a:rPr>
                <a:t>       2</a:t>
              </a:r>
              <a:r>
                <a:rPr lang="en-GB" sz="3600" dirty="0">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lang="en-GB" sz="3600" baseline="-25000" dirty="0">
                  <a:solidFill>
                    <a:srgbClr val="002060"/>
                  </a:solidFill>
                  <a:effectLst/>
                  <a:latin typeface="Times New Roman" panose="02020603050405020304" pitchFamily="18" charset="0"/>
                  <a:ea typeface="Times New Roman" panose="02020603050405020304" pitchFamily="18" charset="0"/>
                </a:rPr>
                <a:t>o</a:t>
              </a:r>
              <a:r>
                <a:rPr lang="en-GB" sz="3600" dirty="0">
                  <a:solidFill>
                    <a:srgbClr val="002060"/>
                  </a:solidFill>
                  <a:effectLst/>
                  <a:latin typeface="Times New Roman" panose="02020603050405020304" pitchFamily="18" charset="0"/>
                  <a:ea typeface="Times New Roman" panose="02020603050405020304" pitchFamily="18" charset="0"/>
                </a:rPr>
                <a:t>      3</a:t>
              </a:r>
              <a:r>
                <a:rPr lang="en-GB" sz="3600" dirty="0">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lang="en-GB" sz="3600" baseline="-25000" dirty="0">
                  <a:solidFill>
                    <a:srgbClr val="002060"/>
                  </a:solidFill>
                  <a:effectLst/>
                  <a:latin typeface="Times New Roman" panose="02020603050405020304" pitchFamily="18" charset="0"/>
                  <a:ea typeface="Times New Roman" panose="02020603050405020304" pitchFamily="18" charset="0"/>
                </a:rPr>
                <a:t>o</a:t>
              </a:r>
              <a:r>
                <a:rPr lang="en-GB" sz="3600" dirty="0">
                  <a:solidFill>
                    <a:srgbClr val="002060"/>
                  </a:solidFill>
                  <a:effectLst/>
                  <a:latin typeface="Times New Roman" panose="02020603050405020304" pitchFamily="18" charset="0"/>
                  <a:ea typeface="Times New Roman" panose="02020603050405020304" pitchFamily="18" charset="0"/>
                </a:rPr>
                <a:t>   </a:t>
              </a:r>
              <a:r>
                <a:rPr lang="en-GB" sz="3600" dirty="0">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endParaRPr lang="en-GB" sz="12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GB" sz="3600" dirty="0">
                  <a:solidFill>
                    <a:srgbClr val="002060"/>
                  </a:solidFill>
                  <a:effectLst/>
                  <a:latin typeface="Times New Roman" panose="02020603050405020304" pitchFamily="18" charset="0"/>
                  <a:ea typeface="Times New Roman" panose="02020603050405020304" pitchFamily="18" charset="0"/>
                </a:rPr>
                <a:t> </a:t>
              </a:r>
              <a:endParaRPr lang="en-GB" sz="1200" dirty="0">
                <a:effectLst/>
                <a:latin typeface="Times New Roman" panose="02020603050405020304" pitchFamily="18" charset="0"/>
                <a:ea typeface="Times New Roman" panose="02020603050405020304" pitchFamily="18" charset="0"/>
              </a:endParaRPr>
            </a:p>
          </p:txBody>
        </p:sp>
        <p:cxnSp>
          <p:nvCxnSpPr>
            <p:cNvPr id="9" name="AutoShape 909">
              <a:extLst>
                <a:ext uri="{FF2B5EF4-FFF2-40B4-BE49-F238E27FC236}">
                  <a16:creationId xmlns:a16="http://schemas.microsoft.com/office/drawing/2014/main" id="{E92B1D32-F03E-4467-83C5-6A74EEBCFE8F}"/>
                </a:ext>
              </a:extLst>
            </p:cNvPr>
            <p:cNvCxnSpPr>
              <a:cxnSpLocks noChangeShapeType="1"/>
            </p:cNvCxnSpPr>
            <p:nvPr/>
          </p:nvCxnSpPr>
          <p:spPr bwMode="auto">
            <a:xfrm>
              <a:off x="6131" y="5228"/>
              <a:ext cx="0" cy="300"/>
            </a:xfrm>
            <a:prstGeom prst="straightConnector1">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0" name="AutoShape 910">
              <a:extLst>
                <a:ext uri="{FF2B5EF4-FFF2-40B4-BE49-F238E27FC236}">
                  <a16:creationId xmlns:a16="http://schemas.microsoft.com/office/drawing/2014/main" id="{BFA48A9D-073F-4253-8225-653B31BCD30F}"/>
                </a:ext>
              </a:extLst>
            </p:cNvPr>
            <p:cNvCxnSpPr>
              <a:cxnSpLocks noChangeShapeType="1"/>
            </p:cNvCxnSpPr>
            <p:nvPr/>
          </p:nvCxnSpPr>
          <p:spPr bwMode="auto">
            <a:xfrm>
              <a:off x="3998" y="5237"/>
              <a:ext cx="0" cy="300"/>
            </a:xfrm>
            <a:prstGeom prst="straightConnector1">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1" name="AutoShape 911">
              <a:extLst>
                <a:ext uri="{FF2B5EF4-FFF2-40B4-BE49-F238E27FC236}">
                  <a16:creationId xmlns:a16="http://schemas.microsoft.com/office/drawing/2014/main" id="{AB852C53-D5D8-4591-98D8-50BD6AAF9163}"/>
                </a:ext>
              </a:extLst>
            </p:cNvPr>
            <p:cNvCxnSpPr>
              <a:cxnSpLocks noChangeShapeType="1"/>
            </p:cNvCxnSpPr>
            <p:nvPr/>
          </p:nvCxnSpPr>
          <p:spPr bwMode="auto">
            <a:xfrm>
              <a:off x="12503" y="5237"/>
              <a:ext cx="0" cy="300"/>
            </a:xfrm>
            <a:prstGeom prst="straightConnector1">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2" name="AutoShape 912">
              <a:extLst>
                <a:ext uri="{FF2B5EF4-FFF2-40B4-BE49-F238E27FC236}">
                  <a16:creationId xmlns:a16="http://schemas.microsoft.com/office/drawing/2014/main" id="{545C96B6-EF9E-4043-9D88-8A0908FC47AF}"/>
                </a:ext>
              </a:extLst>
            </p:cNvPr>
            <p:cNvCxnSpPr>
              <a:cxnSpLocks noChangeShapeType="1"/>
            </p:cNvCxnSpPr>
            <p:nvPr/>
          </p:nvCxnSpPr>
          <p:spPr bwMode="auto">
            <a:xfrm>
              <a:off x="1856" y="5237"/>
              <a:ext cx="0" cy="300"/>
            </a:xfrm>
            <a:prstGeom prst="straightConnector1">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3" name="AutoShape 913">
              <a:extLst>
                <a:ext uri="{FF2B5EF4-FFF2-40B4-BE49-F238E27FC236}">
                  <a16:creationId xmlns:a16="http://schemas.microsoft.com/office/drawing/2014/main" id="{0CEE7AA0-7CD3-4E7C-8F85-0D01108FB30E}"/>
                </a:ext>
              </a:extLst>
            </p:cNvPr>
            <p:cNvCxnSpPr>
              <a:cxnSpLocks noChangeShapeType="1"/>
            </p:cNvCxnSpPr>
            <p:nvPr/>
          </p:nvCxnSpPr>
          <p:spPr bwMode="auto">
            <a:xfrm>
              <a:off x="14624" y="5237"/>
              <a:ext cx="0" cy="300"/>
            </a:xfrm>
            <a:prstGeom prst="straightConnector1">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4" name="AutoShape 914">
              <a:extLst>
                <a:ext uri="{FF2B5EF4-FFF2-40B4-BE49-F238E27FC236}">
                  <a16:creationId xmlns:a16="http://schemas.microsoft.com/office/drawing/2014/main" id="{DF321D93-A631-4B7C-86E1-19BA500BB569}"/>
                </a:ext>
              </a:extLst>
            </p:cNvPr>
            <p:cNvCxnSpPr>
              <a:cxnSpLocks noChangeShapeType="1"/>
            </p:cNvCxnSpPr>
            <p:nvPr/>
          </p:nvCxnSpPr>
          <p:spPr bwMode="auto">
            <a:xfrm>
              <a:off x="10370" y="5204"/>
              <a:ext cx="0" cy="300"/>
            </a:xfrm>
            <a:prstGeom prst="straightConnector1">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5" name="AutoShape 916">
              <a:extLst>
                <a:ext uri="{FF2B5EF4-FFF2-40B4-BE49-F238E27FC236}">
                  <a16:creationId xmlns:a16="http://schemas.microsoft.com/office/drawing/2014/main" id="{808B0E48-10F6-47AD-87CF-636179ED6EB5}"/>
                </a:ext>
              </a:extLst>
            </p:cNvPr>
            <p:cNvCxnSpPr>
              <a:cxnSpLocks noChangeShapeType="1"/>
            </p:cNvCxnSpPr>
            <p:nvPr/>
          </p:nvCxnSpPr>
          <p:spPr bwMode="auto">
            <a:xfrm>
              <a:off x="8253" y="5373"/>
              <a:ext cx="0" cy="2016"/>
            </a:xfrm>
            <a:prstGeom prst="straightConnector1">
              <a:avLst/>
            </a:prstGeom>
            <a:noFill/>
            <a:ln w="28575">
              <a:solidFill>
                <a:srgbClr val="FF0000"/>
              </a:solidFill>
              <a:prstDash val="lgDashDot"/>
              <a:round/>
              <a:headEnd/>
              <a:tailEnd/>
            </a:ln>
            <a:extLst>
              <a:ext uri="{909E8E84-426E-40DD-AFC4-6F175D3DCCD1}">
                <a14:hiddenFill xmlns:a14="http://schemas.microsoft.com/office/drawing/2010/main">
                  <a:noFill/>
                </a14:hiddenFill>
              </a:ext>
            </a:extLst>
          </p:spPr>
        </p:cxnSp>
        <p:sp>
          <p:nvSpPr>
            <p:cNvPr id="16" name="Text Box 917">
              <a:extLst>
                <a:ext uri="{FF2B5EF4-FFF2-40B4-BE49-F238E27FC236}">
                  <a16:creationId xmlns:a16="http://schemas.microsoft.com/office/drawing/2014/main" id="{51FD5365-EF59-4CDF-9921-D199F3FEE204}"/>
                </a:ext>
              </a:extLst>
            </p:cNvPr>
            <p:cNvSpPr txBox="1">
              <a:spLocks noChangeArrowheads="1"/>
            </p:cNvSpPr>
            <p:nvPr/>
          </p:nvSpPr>
          <p:spPr bwMode="auto">
            <a:xfrm>
              <a:off x="2663" y="6434"/>
              <a:ext cx="9796" cy="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none" lIns="0" tIns="0" rIns="0" bIns="0" anchor="t" anchorCtr="0" upright="1">
              <a:spAutoFit/>
            </a:bodyPr>
            <a:lstStyle/>
            <a:p>
              <a:pPr marL="0" marR="0">
                <a:spcBef>
                  <a:spcPts val="0"/>
                </a:spcBef>
                <a:spcAft>
                  <a:spcPts val="0"/>
                </a:spcAft>
              </a:pPr>
              <a:r>
                <a:rPr lang="en-GB" sz="3200" dirty="0">
                  <a:solidFill>
                    <a:srgbClr val="C00000"/>
                  </a:solidFill>
                  <a:effectLst/>
                  <a:latin typeface="Times New Roman" panose="02020603050405020304" pitchFamily="18" charset="0"/>
                  <a:ea typeface="Times New Roman" panose="02020603050405020304" pitchFamily="18" charset="0"/>
                </a:rPr>
                <a:t>       </a:t>
              </a:r>
              <a:r>
                <a:rPr lang="en-GB" sz="1800" dirty="0">
                  <a:solidFill>
                    <a:srgbClr val="C00000"/>
                  </a:solidFill>
                  <a:effectLst/>
                  <a:latin typeface="Times New Roman" panose="02020603050405020304" pitchFamily="18" charset="0"/>
                  <a:ea typeface="Times New Roman" panose="02020603050405020304" pitchFamily="18" charset="0"/>
                </a:rPr>
                <a:t> </a:t>
              </a:r>
              <a:r>
                <a:rPr lang="en-GB" sz="3200" dirty="0">
                  <a:solidFill>
                    <a:srgbClr val="C00000"/>
                  </a:solidFill>
                  <a:effectLst/>
                  <a:latin typeface="Times New Roman" panose="02020603050405020304" pitchFamily="18" charset="0"/>
                  <a:ea typeface="Times New Roman" panose="02020603050405020304" pitchFamily="18" charset="0"/>
                </a:rPr>
                <a:t>Negative half</a:t>
              </a:r>
              <a:r>
                <a:rPr lang="en-GB" sz="3000" dirty="0">
                  <a:solidFill>
                    <a:srgbClr val="C00000"/>
                  </a:solidFill>
                  <a:effectLst/>
                  <a:latin typeface="Times New Roman" panose="02020603050405020304" pitchFamily="18" charset="0"/>
                  <a:ea typeface="Times New Roman" panose="02020603050405020304" pitchFamily="18" charset="0"/>
                </a:rPr>
                <a:t> </a:t>
              </a:r>
              <a:r>
                <a:rPr lang="en-GB" sz="3200" dirty="0">
                  <a:solidFill>
                    <a:srgbClr val="C00000"/>
                  </a:solidFill>
                  <a:effectLst/>
                  <a:latin typeface="Times New Roman" panose="02020603050405020304" pitchFamily="18" charset="0"/>
                  <a:ea typeface="Times New Roman" panose="02020603050405020304" pitchFamily="18" charset="0"/>
                  <a:sym typeface="Symbol" panose="05050102010706020507" pitchFamily="18" charset="2"/>
                </a:rPr>
                <a:t></a:t>
              </a:r>
              <a:r>
                <a:rPr lang="en-GB" sz="3600" dirty="0">
                  <a:solidFill>
                    <a:srgbClr val="C00000"/>
                  </a:solidFill>
                  <a:effectLst/>
                  <a:latin typeface="Times New Roman" panose="02020603050405020304" pitchFamily="18" charset="0"/>
                  <a:ea typeface="Times New Roman" panose="02020603050405020304" pitchFamily="18" charset="0"/>
                </a:rPr>
                <a:t> </a:t>
              </a:r>
              <a:r>
                <a:rPr lang="en-GB" sz="3000" dirty="0">
                  <a:solidFill>
                    <a:srgbClr val="C00000"/>
                  </a:solidFill>
                  <a:effectLst/>
                  <a:latin typeface="Times New Roman" panose="02020603050405020304" pitchFamily="18" charset="0"/>
                  <a:ea typeface="Times New Roman" panose="02020603050405020304" pitchFamily="18" charset="0"/>
                </a:rPr>
                <a:t> </a:t>
              </a:r>
              <a:r>
                <a:rPr lang="en-GB" sz="3200" dirty="0">
                  <a:solidFill>
                    <a:srgbClr val="C00000"/>
                  </a:solidFill>
                  <a:effectLst/>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C00000"/>
                  </a:solidFill>
                  <a:effectLst/>
                  <a:latin typeface="Times New Roman" panose="02020603050405020304" pitchFamily="18" charset="0"/>
                  <a:ea typeface="Times New Roman" panose="02020603050405020304" pitchFamily="18" charset="0"/>
                </a:rPr>
                <a:t> Positive half </a:t>
              </a:r>
              <a:endParaRPr lang="en-GB" sz="1200" dirty="0">
                <a:effectLst/>
                <a:latin typeface="Times New Roman" panose="02020603050405020304" pitchFamily="18" charset="0"/>
                <a:ea typeface="Times New Roman" panose="02020603050405020304" pitchFamily="18" charset="0"/>
              </a:endParaRPr>
            </a:p>
          </p:txBody>
        </p:sp>
      </p:grpSp>
      <p:sp>
        <p:nvSpPr>
          <p:cNvPr id="4" name="Rectangle 14">
            <a:extLst>
              <a:ext uri="{FF2B5EF4-FFF2-40B4-BE49-F238E27FC236}">
                <a16:creationId xmlns:a16="http://schemas.microsoft.com/office/drawing/2014/main" id="{4F6EBDE0-972E-4D88-844A-F99B7D47EF4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7" name="Rectangle 15">
            <a:extLst>
              <a:ext uri="{FF2B5EF4-FFF2-40B4-BE49-F238E27FC236}">
                <a16:creationId xmlns:a16="http://schemas.microsoft.com/office/drawing/2014/main" id="{CD588BFB-B57B-4A4C-A1D2-890A1D9FF038}"/>
              </a:ext>
            </a:extLst>
          </p:cNvPr>
          <p:cNvSpPr>
            <a:spLocks noChangeArrowheads="1"/>
          </p:cNvSpPr>
          <p:nvPr/>
        </p:nvSpPr>
        <p:spPr bwMode="auto">
          <a:xfrm>
            <a:off x="429714" y="1868904"/>
            <a:ext cx="1157940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First term of Fourier Series is written as </a:t>
            </a:r>
            <a:r>
              <a:rPr kumimoji="0" lang="en-GB" altLang="en-US" sz="28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A</a:t>
            </a:r>
            <a:r>
              <a:rPr kumimoji="0" lang="en-GB" altLang="en-US" sz="28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o</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/2 rather than </a:t>
            </a:r>
            <a:r>
              <a:rPr kumimoji="0" lang="en-GB" altLang="en-US" sz="28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A</a:t>
            </a:r>
            <a:r>
              <a:rPr kumimoji="0" lang="en-GB" altLang="en-US" sz="28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o</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endParaRPr kumimoji="0" lang="en-GB" altLang="en-US" sz="2800" b="0" i="0" u="none" strike="noStrike" cap="none" normalizeH="0" baseline="0" dirty="0">
              <a:ln>
                <a:noFill/>
              </a:ln>
              <a:solidFill>
                <a:schemeClr val="tx1"/>
              </a:solidFill>
              <a:effectLst/>
              <a:latin typeface="Arial" panose="020B0604020202020204" pitchFamily="34" charset="0"/>
            </a:endParaRPr>
          </a:p>
        </p:txBody>
      </p:sp>
      <p:sp>
        <p:nvSpPr>
          <p:cNvPr id="18" name="Rectangle 18">
            <a:extLst>
              <a:ext uri="{FF2B5EF4-FFF2-40B4-BE49-F238E27FC236}">
                <a16:creationId xmlns:a16="http://schemas.microsoft.com/office/drawing/2014/main" id="{36885286-0752-4A3F-A6CC-F7DB60926921}"/>
              </a:ext>
            </a:extLst>
          </p:cNvPr>
          <p:cNvSpPr>
            <a:spLocks noChangeArrowheads="1"/>
          </p:cNvSpPr>
          <p:nvPr/>
        </p:nvSpPr>
        <p:spPr bwMode="auto">
          <a:xfrm>
            <a:off x="429715" y="4232298"/>
            <a:ext cx="9262926" cy="2113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tab pos="457200" algn="l"/>
                <a:tab pos="3276600" algn="l"/>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Zero belongs equally to positive half and negative half.</a:t>
            </a:r>
            <a:endParaRPr kumimoji="0" lang="en-GB"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20000"/>
              </a:lnSpc>
              <a:spcBef>
                <a:spcPct val="0"/>
              </a:spcBef>
              <a:spcAft>
                <a:spcPct val="0"/>
              </a:spcAft>
              <a:buClrTx/>
              <a:buSzTx/>
              <a:buFontTx/>
              <a:buChar char="•"/>
              <a:tabLst>
                <a:tab pos="457200" algn="l"/>
                <a:tab pos="3276600" algn="l"/>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gives only ½A</a:t>
            </a:r>
            <a:r>
              <a:rPr kumimoji="0" lang="en-GB"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o</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for positive half</a:t>
            </a:r>
            <a:endParaRPr kumimoji="0" lang="en-GB"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20000"/>
              </a:lnSpc>
              <a:spcBef>
                <a:spcPct val="0"/>
              </a:spcBef>
              <a:spcAft>
                <a:spcPct val="0"/>
              </a:spcAft>
              <a:buClrTx/>
              <a:buSzTx/>
              <a:buFontTx/>
              <a:buChar char="•"/>
              <a:tabLst>
                <a:tab pos="457200" algn="l"/>
                <a:tab pos="3276600" algn="l"/>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evaluated with same general expression for A</a:t>
            </a:r>
            <a:r>
              <a:rPr kumimoji="0" lang="en-GB"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n</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n = 0.</a:t>
            </a:r>
          </a:p>
          <a:p>
            <a:pPr marL="0" marR="0" lvl="0" indent="0" algn="l" defTabSz="914400" rtl="0" eaLnBrk="0" fontAlgn="base" latinLnBrk="0" hangingPunct="0">
              <a:lnSpc>
                <a:spcPct val="120000"/>
              </a:lnSpc>
              <a:spcBef>
                <a:spcPct val="0"/>
              </a:spcBef>
              <a:spcAft>
                <a:spcPct val="0"/>
              </a:spcAft>
              <a:buClrTx/>
              <a:buSzTx/>
              <a:buFontTx/>
              <a:buNone/>
              <a:tabLst>
                <a:tab pos="457200" algn="l"/>
                <a:tab pos="3276600" algn="l"/>
              </a:tabLst>
            </a:pPr>
            <a:r>
              <a:rPr kumimoji="0" lang="en-GB" altLang="en-US" sz="28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A</a:t>
            </a:r>
            <a:r>
              <a:rPr kumimoji="0" lang="en-GB" altLang="en-US" sz="28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o</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/2</a:t>
            </a:r>
            <a:r>
              <a:rPr kumimoji="0" lang="en-GB"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also corresponds to direct component of waveform.</a:t>
            </a:r>
            <a:r>
              <a:rPr kumimoji="0" lang="en-GB" altLang="en-US" sz="2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560782834"/>
      </p:ext>
    </p:extLst>
  </p:cSld>
  <p:clrMapOvr>
    <a:masterClrMapping/>
  </p:clrMapOvr>
  <mc:AlternateContent xmlns:mc="http://schemas.openxmlformats.org/markup-compatibility/2006" xmlns:p14="http://schemas.microsoft.com/office/powerpoint/2010/main">
    <mc:Choice Requires="p14">
      <p:transition spd="slow" p14:dur="2000" advTm="151362"/>
    </mc:Choice>
    <mc:Fallback xmlns="">
      <p:transition spd="slow" advTm="151362"/>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E60F8C9A-3F0B-4664-86F5-A1753028317D}"/>
              </a:ext>
            </a:extLst>
          </p:cNvPr>
          <p:cNvGraphicFramePr>
            <a:graphicFrameLocks noChangeAspect="1"/>
          </p:cNvGraphicFramePr>
          <p:nvPr>
            <p:extLst>
              <p:ext uri="{D42A27DB-BD31-4B8C-83A1-F6EECF244321}">
                <p14:modId xmlns:p14="http://schemas.microsoft.com/office/powerpoint/2010/main" val="4143685109"/>
              </p:ext>
            </p:extLst>
          </p:nvPr>
        </p:nvGraphicFramePr>
        <p:xfrm>
          <a:off x="60960" y="538480"/>
          <a:ext cx="11430000" cy="1390650"/>
        </p:xfrm>
        <a:graphic>
          <a:graphicData uri="http://schemas.openxmlformats.org/presentationml/2006/ole">
            <mc:AlternateContent xmlns:mc="http://schemas.openxmlformats.org/markup-compatibility/2006">
              <mc:Choice xmlns:v="urn:schemas-microsoft-com:vml" Requires="v">
                <p:oleObj r:id="rId3" imgW="3746500" imgH="444500" progId="Equation.3">
                  <p:embed/>
                </p:oleObj>
              </mc:Choice>
              <mc:Fallback>
                <p:oleObj r:id="rId3" imgW="3746500" imgH="444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 y="538480"/>
                        <a:ext cx="11430000" cy="1390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79FF8FA1-2421-4616-BE2C-520689C4220B}"/>
              </a:ext>
            </a:extLst>
          </p:cNvPr>
          <p:cNvGraphicFramePr>
            <a:graphicFrameLocks noChangeAspect="1"/>
          </p:cNvGraphicFramePr>
          <p:nvPr>
            <p:extLst>
              <p:ext uri="{D42A27DB-BD31-4B8C-83A1-F6EECF244321}">
                <p14:modId xmlns:p14="http://schemas.microsoft.com/office/powerpoint/2010/main" val="820715472"/>
              </p:ext>
            </p:extLst>
          </p:nvPr>
        </p:nvGraphicFramePr>
        <p:xfrm>
          <a:off x="657860" y="2257137"/>
          <a:ext cx="6057900" cy="1390650"/>
        </p:xfrm>
        <a:graphic>
          <a:graphicData uri="http://schemas.openxmlformats.org/presentationml/2006/ole">
            <mc:AlternateContent xmlns:mc="http://schemas.openxmlformats.org/markup-compatibility/2006">
              <mc:Choice xmlns:v="urn:schemas-microsoft-com:vml" Requires="v">
                <p:oleObj r:id="rId5" imgW="2209800" imgH="495300" progId="Equation.3">
                  <p:embed/>
                </p:oleObj>
              </mc:Choice>
              <mc:Fallback>
                <p:oleObj r:id="rId5" imgW="2209800" imgH="4953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860" y="2257137"/>
                        <a:ext cx="6057900" cy="1390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a:extLst>
              <a:ext uri="{FF2B5EF4-FFF2-40B4-BE49-F238E27FC236}">
                <a16:creationId xmlns:a16="http://schemas.microsoft.com/office/drawing/2014/main" id="{EAB23962-6CF1-4B3B-86BD-FCD53CEA6B72}"/>
              </a:ext>
            </a:extLst>
          </p:cNvPr>
          <p:cNvGraphicFramePr>
            <a:graphicFrameLocks noChangeAspect="1"/>
          </p:cNvGraphicFramePr>
          <p:nvPr>
            <p:extLst>
              <p:ext uri="{D42A27DB-BD31-4B8C-83A1-F6EECF244321}">
                <p14:modId xmlns:p14="http://schemas.microsoft.com/office/powerpoint/2010/main" val="2116056848"/>
              </p:ext>
            </p:extLst>
          </p:nvPr>
        </p:nvGraphicFramePr>
        <p:xfrm>
          <a:off x="152400" y="3546160"/>
          <a:ext cx="3524250" cy="1276350"/>
        </p:xfrm>
        <a:graphic>
          <a:graphicData uri="http://schemas.openxmlformats.org/presentationml/2006/ole">
            <mc:AlternateContent xmlns:mc="http://schemas.openxmlformats.org/markup-compatibility/2006">
              <mc:Choice xmlns:v="urn:schemas-microsoft-com:vml" Requires="v">
                <p:oleObj r:id="rId7" imgW="1256755" imgH="444307" progId="Equation.3">
                  <p:embed/>
                </p:oleObj>
              </mc:Choice>
              <mc:Fallback>
                <p:oleObj r:id="rId7" imgW="1256755" imgH="444307"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 y="3546160"/>
                        <a:ext cx="3524250" cy="1276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a:extLst>
              <a:ext uri="{FF2B5EF4-FFF2-40B4-BE49-F238E27FC236}">
                <a16:creationId xmlns:a16="http://schemas.microsoft.com/office/drawing/2014/main" id="{58DFC7D5-F744-4753-ADA0-FAA979D658F9}"/>
              </a:ext>
            </a:extLst>
          </p:cNvPr>
          <p:cNvGraphicFramePr>
            <a:graphicFrameLocks noChangeAspect="1"/>
          </p:cNvGraphicFramePr>
          <p:nvPr>
            <p:extLst>
              <p:ext uri="{D42A27DB-BD31-4B8C-83A1-F6EECF244321}">
                <p14:modId xmlns:p14="http://schemas.microsoft.com/office/powerpoint/2010/main" val="496489736"/>
              </p:ext>
            </p:extLst>
          </p:nvPr>
        </p:nvGraphicFramePr>
        <p:xfrm>
          <a:off x="3420110" y="4489558"/>
          <a:ext cx="3295650" cy="1314450"/>
        </p:xfrm>
        <a:graphic>
          <a:graphicData uri="http://schemas.openxmlformats.org/presentationml/2006/ole">
            <mc:AlternateContent xmlns:mc="http://schemas.openxmlformats.org/markup-compatibility/2006">
              <mc:Choice xmlns:v="urn:schemas-microsoft-com:vml" Requires="v">
                <p:oleObj r:id="rId9" imgW="1117115" imgH="444307" progId="Equation.3">
                  <p:embed/>
                </p:oleObj>
              </mc:Choice>
              <mc:Fallback>
                <p:oleObj r:id="rId9" imgW="1117115" imgH="444307" progId="Equation.3">
                  <p:embed/>
                  <p:pic>
                    <p:nvPicPr>
                      <p:cNvPr id="0" name="Object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0110" y="4489558"/>
                        <a:ext cx="3295650" cy="1314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5">
            <a:extLst>
              <a:ext uri="{FF2B5EF4-FFF2-40B4-BE49-F238E27FC236}">
                <a16:creationId xmlns:a16="http://schemas.microsoft.com/office/drawing/2014/main" id="{DE8D99CC-3649-4AE6-BB12-EE8878337BD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8" name="Rectangle 6">
            <a:extLst>
              <a:ext uri="{FF2B5EF4-FFF2-40B4-BE49-F238E27FC236}">
                <a16:creationId xmlns:a16="http://schemas.microsoft.com/office/drawing/2014/main" id="{488E3140-CCD2-44E5-BE7B-3072B3F57B23}"/>
              </a:ext>
            </a:extLst>
          </p:cNvPr>
          <p:cNvSpPr>
            <a:spLocks noChangeArrowheads="1"/>
          </p:cNvSpPr>
          <p:nvPr/>
        </p:nvSpPr>
        <p:spPr bwMode="auto">
          <a:xfrm>
            <a:off x="162560" y="1805592"/>
            <a:ext cx="1190752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using properties of trigonometry, only first term gives non zero integral.</a:t>
            </a:r>
            <a:endParaRPr kumimoji="0" lang="en-GB" altLang="en-US" sz="2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endPar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i.e. </a:t>
            </a:r>
            <a:endParaRPr kumimoji="0" lang="en-GB" altLang="en-US" sz="2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0C442F29-B6EA-4398-86EF-A7C80B3C4882}"/>
              </a:ext>
            </a:extLst>
          </p:cNvPr>
          <p:cNvSpPr>
            <a:spLocks noChangeArrowheads="1"/>
          </p:cNvSpPr>
          <p:nvPr/>
        </p:nvSpPr>
        <p:spPr bwMode="auto">
          <a:xfrm>
            <a:off x="121920" y="4842857"/>
            <a:ext cx="36766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858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6858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6858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6858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6858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6858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6858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6858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6858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685800" algn="l"/>
                <a:tab pos="3276600" algn="l"/>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or mean value = </a:t>
            </a:r>
            <a:endParaRPr kumimoji="0" lang="en-GB" altLang="en-US" sz="3200" b="0" i="0" u="none" strike="noStrike" cap="none" normalizeH="0" baseline="0" dirty="0">
              <a:ln>
                <a:noFill/>
              </a:ln>
              <a:solidFill>
                <a:schemeClr val="tx1"/>
              </a:solidFill>
              <a:effectLst/>
              <a:latin typeface="Arial" panose="020B0604020202020204" pitchFamily="34" charset="0"/>
            </a:endParaRPr>
          </a:p>
        </p:txBody>
      </p:sp>
      <p:sp>
        <p:nvSpPr>
          <p:cNvPr id="11" name="Rectangle 9">
            <a:extLst>
              <a:ext uri="{FF2B5EF4-FFF2-40B4-BE49-F238E27FC236}">
                <a16:creationId xmlns:a16="http://schemas.microsoft.com/office/drawing/2014/main" id="{CE1B7297-60FC-4CFD-9D95-61EDAC5D3997}"/>
              </a:ext>
            </a:extLst>
          </p:cNvPr>
          <p:cNvSpPr>
            <a:spLocks noChangeArrowheads="1"/>
          </p:cNvSpPr>
          <p:nvPr/>
        </p:nvSpPr>
        <p:spPr bwMode="auto">
          <a:xfrm>
            <a:off x="0" y="5702359"/>
            <a:ext cx="58115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gives same result for </a:t>
            </a:r>
            <a:r>
              <a:rPr kumimoji="0" lang="en-GB" altLang="en-US" sz="32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A</a:t>
            </a:r>
            <a:r>
              <a:rPr kumimoji="0" lang="en-GB" altLang="en-US" sz="32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o</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t>
            </a:r>
            <a:r>
              <a:rPr kumimoji="0" lang="en-GB" altLang="en-US" sz="32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626046654"/>
      </p:ext>
    </p:extLst>
  </p:cSld>
  <p:clrMapOvr>
    <a:masterClrMapping/>
  </p:clrMapOvr>
  <mc:AlternateContent xmlns:mc="http://schemas.openxmlformats.org/markup-compatibility/2006" xmlns:p14="http://schemas.microsoft.com/office/powerpoint/2010/main">
    <mc:Choice Requires="p14">
      <p:transition spd="slow" p14:dur="2000" advTm="57266"/>
    </mc:Choice>
    <mc:Fallback xmlns="">
      <p:transition spd="slow" advTm="57266"/>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B8465F67-DFB6-4B3F-8B63-6686A4336970}"/>
              </a:ext>
            </a:extLst>
          </p:cNvPr>
          <p:cNvGraphicFramePr>
            <a:graphicFrameLocks noChangeAspect="1"/>
          </p:cNvGraphicFramePr>
          <p:nvPr>
            <p:extLst>
              <p:ext uri="{D42A27DB-BD31-4B8C-83A1-F6EECF244321}">
                <p14:modId xmlns:p14="http://schemas.microsoft.com/office/powerpoint/2010/main" val="2755074105"/>
              </p:ext>
            </p:extLst>
          </p:nvPr>
        </p:nvGraphicFramePr>
        <p:xfrm>
          <a:off x="254000" y="1536128"/>
          <a:ext cx="11602720" cy="1200150"/>
        </p:xfrm>
        <a:graphic>
          <a:graphicData uri="http://schemas.openxmlformats.org/presentationml/2006/ole">
            <mc:AlternateContent xmlns:mc="http://schemas.openxmlformats.org/markup-compatibility/2006">
              <mc:Choice xmlns:v="urn:schemas-microsoft-com:vml" Requires="v">
                <p:oleObj r:id="rId3" imgW="5626100" imgH="508000" progId="Equation.3">
                  <p:embed/>
                </p:oleObj>
              </mc:Choice>
              <mc:Fallback>
                <p:oleObj r:id="rId3" imgW="5626100" imgH="5080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000" y="1536128"/>
                        <a:ext cx="11602720" cy="1200150"/>
                      </a:xfrm>
                      <a:prstGeom prst="rect">
                        <a:avLst/>
                      </a:prstGeom>
                      <a:noFill/>
                    </p:spPr>
                  </p:pic>
                </p:oleObj>
              </mc:Fallback>
            </mc:AlternateContent>
          </a:graphicData>
        </a:graphic>
      </p:graphicFrame>
      <p:graphicFrame>
        <p:nvGraphicFramePr>
          <p:cNvPr id="4" name="Object 3">
            <a:extLst>
              <a:ext uri="{FF2B5EF4-FFF2-40B4-BE49-F238E27FC236}">
                <a16:creationId xmlns:a16="http://schemas.microsoft.com/office/drawing/2014/main" id="{B1A61DBA-F99E-42C1-BD1E-3C9F08D9DC97}"/>
              </a:ext>
            </a:extLst>
          </p:cNvPr>
          <p:cNvGraphicFramePr>
            <a:graphicFrameLocks noChangeAspect="1"/>
          </p:cNvGraphicFramePr>
          <p:nvPr>
            <p:extLst>
              <p:ext uri="{D42A27DB-BD31-4B8C-83A1-F6EECF244321}">
                <p14:modId xmlns:p14="http://schemas.microsoft.com/office/powerpoint/2010/main" val="2333876096"/>
              </p:ext>
            </p:extLst>
          </p:nvPr>
        </p:nvGraphicFramePr>
        <p:xfrm>
          <a:off x="650240" y="4000499"/>
          <a:ext cx="4819650" cy="1200150"/>
        </p:xfrm>
        <a:graphic>
          <a:graphicData uri="http://schemas.openxmlformats.org/presentationml/2006/ole">
            <mc:AlternateContent xmlns:mc="http://schemas.openxmlformats.org/markup-compatibility/2006">
              <mc:Choice xmlns:v="urn:schemas-microsoft-com:vml" Requires="v">
                <p:oleObj r:id="rId5" imgW="1815312" imgH="444307" progId="Equation.3">
                  <p:embed/>
                </p:oleObj>
              </mc:Choice>
              <mc:Fallback>
                <p:oleObj r:id="rId5" imgW="1815312" imgH="444307"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240" y="4000499"/>
                        <a:ext cx="4819650" cy="1200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a:extLst>
              <a:ext uri="{FF2B5EF4-FFF2-40B4-BE49-F238E27FC236}">
                <a16:creationId xmlns:a16="http://schemas.microsoft.com/office/drawing/2014/main" id="{9CAA2975-5674-46C4-AEAA-540CDC1C80EE}"/>
              </a:ext>
            </a:extLst>
          </p:cNvPr>
          <p:cNvGraphicFramePr>
            <a:graphicFrameLocks noChangeAspect="1"/>
          </p:cNvGraphicFramePr>
          <p:nvPr>
            <p:extLst>
              <p:ext uri="{D42A27DB-BD31-4B8C-83A1-F6EECF244321}">
                <p14:modId xmlns:p14="http://schemas.microsoft.com/office/powerpoint/2010/main" val="863219092"/>
              </p:ext>
            </p:extLst>
          </p:nvPr>
        </p:nvGraphicFramePr>
        <p:xfrm>
          <a:off x="650240" y="5200650"/>
          <a:ext cx="4819650" cy="1295400"/>
        </p:xfrm>
        <a:graphic>
          <a:graphicData uri="http://schemas.openxmlformats.org/presentationml/2006/ole">
            <mc:AlternateContent xmlns:mc="http://schemas.openxmlformats.org/markup-compatibility/2006">
              <mc:Choice xmlns:v="urn:schemas-microsoft-com:vml" Requires="v">
                <p:oleObj r:id="rId7" imgW="1854200" imgH="495300" progId="Equation.3">
                  <p:embed/>
                </p:oleObj>
              </mc:Choice>
              <mc:Fallback>
                <p:oleObj r:id="rId7" imgW="1854200" imgH="495300"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0240" y="5200650"/>
                        <a:ext cx="4819650" cy="1295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
            <a:extLst>
              <a:ext uri="{FF2B5EF4-FFF2-40B4-BE49-F238E27FC236}">
                <a16:creationId xmlns:a16="http://schemas.microsoft.com/office/drawing/2014/main" id="{34FF03B2-693E-4E91-92AF-88E7E658048B}"/>
              </a:ext>
            </a:extLst>
          </p:cNvPr>
          <p:cNvSpPr>
            <a:spLocks noChangeArrowheads="1"/>
          </p:cNvSpPr>
          <p:nvPr/>
        </p:nvSpPr>
        <p:spPr bwMode="auto">
          <a:xfrm>
            <a:off x="152400" y="652029"/>
            <a:ext cx="1094232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2800" b="0" i="0" u="none" strike="noStrike" cap="none" normalizeH="0" baseline="0" dirty="0">
                <a:ln>
                  <a:noFill/>
                </a:ln>
                <a:solidFill>
                  <a:srgbClr val="002060"/>
                </a:solidFill>
                <a:effectLst/>
                <a:ea typeface="Times New Roman" panose="02020603050405020304" pitchFamily="18" charset="0"/>
              </a:rPr>
              <a:t>To determine remaining values of A</a:t>
            </a:r>
            <a:r>
              <a:rPr kumimoji="0" lang="en-GB" altLang="en-US" sz="2800" b="0" i="0" u="none" strike="noStrike" cap="none" normalizeH="0" baseline="-30000" dirty="0">
                <a:ln>
                  <a:noFill/>
                </a:ln>
                <a:solidFill>
                  <a:srgbClr val="002060"/>
                </a:solidFill>
                <a:effectLst/>
                <a:ea typeface="Times New Roman" panose="02020603050405020304" pitchFamily="18" charset="0"/>
              </a:rPr>
              <a:t>n</a:t>
            </a:r>
            <a:r>
              <a:rPr kumimoji="0" lang="en-GB" altLang="en-US" sz="2800" b="0" i="0" u="none" strike="noStrike" cap="none" normalizeH="0" baseline="0" dirty="0">
                <a:ln>
                  <a:noFill/>
                </a:ln>
                <a:solidFill>
                  <a:srgbClr val="002060"/>
                </a:solidFill>
                <a:effectLst/>
                <a:ea typeface="Times New Roman" panose="02020603050405020304" pitchFamily="18" charset="0"/>
              </a:rPr>
              <a:t>,</a:t>
            </a:r>
            <a:endParaRPr kumimoji="0" lang="en-GB"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2800" b="0" i="0" u="none" strike="noStrike" cap="none" normalizeH="0" baseline="0" dirty="0">
                <a:ln>
                  <a:noFill/>
                </a:ln>
                <a:solidFill>
                  <a:srgbClr val="002060"/>
                </a:solidFill>
                <a:effectLst/>
                <a:ea typeface="Times New Roman" panose="02020603050405020304" pitchFamily="18" charset="0"/>
              </a:rPr>
              <a:t>multiply each term by  </a:t>
            </a:r>
            <a:r>
              <a:rPr kumimoji="0" lang="en-GB" altLang="en-US" sz="2800" b="0" i="1" u="none" strike="noStrike" cap="none" normalizeH="0" baseline="0" dirty="0">
                <a:ln>
                  <a:noFill/>
                </a:ln>
                <a:solidFill>
                  <a:srgbClr val="002060"/>
                </a:solidFill>
                <a:effectLst/>
                <a:ea typeface="Times New Roman" panose="02020603050405020304" pitchFamily="18" charset="0"/>
              </a:rPr>
              <a:t>cos </a:t>
            </a:r>
            <a:r>
              <a:rPr kumimoji="0" lang="en-GB" altLang="en-US" sz="2800" b="0" i="1" u="none" strike="noStrike" cap="none" normalizeH="0" baseline="0" dirty="0" err="1">
                <a:ln>
                  <a:noFill/>
                </a:ln>
                <a:solidFill>
                  <a:srgbClr val="002060"/>
                </a:solidFill>
                <a:effectLst/>
                <a:ea typeface="Times New Roman" panose="02020603050405020304" pitchFamily="18" charset="0"/>
              </a:rPr>
              <a:t>m</a:t>
            </a:r>
            <a:r>
              <a:rPr kumimoji="0" lang="en-GB" altLang="en-US" sz="2800" b="0" i="1"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rPr>
              <a:t>w</a:t>
            </a:r>
            <a:r>
              <a:rPr kumimoji="0" lang="en-GB" altLang="en-US" sz="2800" b="0" i="1" u="none" strike="noStrike" cap="none" normalizeH="0" baseline="-30000" dirty="0" err="1">
                <a:ln>
                  <a:noFill/>
                </a:ln>
                <a:solidFill>
                  <a:srgbClr val="002060"/>
                </a:solidFill>
                <a:effectLst/>
                <a:ea typeface="Times New Roman" panose="02020603050405020304" pitchFamily="18" charset="0"/>
              </a:rPr>
              <a:t>o</a:t>
            </a:r>
            <a:r>
              <a:rPr kumimoji="0" lang="en-GB" altLang="en-US" sz="2800" b="0" i="1" u="none" strike="noStrike" cap="none" normalizeH="0" baseline="0" dirty="0" err="1">
                <a:ln>
                  <a:noFill/>
                </a:ln>
                <a:solidFill>
                  <a:srgbClr val="002060"/>
                </a:solidFill>
                <a:effectLst/>
                <a:ea typeface="Times New Roman" panose="02020603050405020304" pitchFamily="18" charset="0"/>
              </a:rPr>
              <a:t>t</a:t>
            </a:r>
            <a:r>
              <a:rPr kumimoji="0" lang="en-GB" altLang="en-US" sz="2800" b="0" i="1" u="none" strike="noStrike" cap="none" normalizeH="0" baseline="0" dirty="0">
                <a:ln>
                  <a:noFill/>
                </a:ln>
                <a:solidFill>
                  <a:srgbClr val="002060"/>
                </a:solidFill>
                <a:effectLst/>
                <a:ea typeface="Times New Roman" panose="02020603050405020304" pitchFamily="18" charset="0"/>
              </a:rPr>
              <a:t>  </a:t>
            </a:r>
            <a:r>
              <a:rPr kumimoji="0" lang="en-GB" altLang="en-US" sz="2800" b="0" i="0" u="none" strike="noStrike" cap="none" normalizeH="0" baseline="0" dirty="0">
                <a:ln>
                  <a:noFill/>
                </a:ln>
                <a:solidFill>
                  <a:srgbClr val="002060"/>
                </a:solidFill>
                <a:effectLst/>
                <a:ea typeface="Times New Roman" panose="02020603050405020304" pitchFamily="18" charset="0"/>
              </a:rPr>
              <a:t>and integrate.</a:t>
            </a:r>
            <a:endParaRPr kumimoji="0" lang="en-GB" altLang="en-US" sz="2800" b="0" i="0" u="none" strike="noStrike" cap="none" normalizeH="0" baseline="0" dirty="0">
              <a:ln>
                <a:noFill/>
              </a:ln>
              <a:solidFill>
                <a:schemeClr val="tx1"/>
              </a:solidFill>
              <a:effectLst/>
            </a:endParaRPr>
          </a:p>
        </p:txBody>
      </p:sp>
      <p:sp>
        <p:nvSpPr>
          <p:cNvPr id="7" name="Rectangle 5">
            <a:extLst>
              <a:ext uri="{FF2B5EF4-FFF2-40B4-BE49-F238E27FC236}">
                <a16:creationId xmlns:a16="http://schemas.microsoft.com/office/drawing/2014/main" id="{32F31BBF-91B3-4B8C-A52C-A088230B5BAA}"/>
              </a:ext>
            </a:extLst>
          </p:cNvPr>
          <p:cNvSpPr>
            <a:spLocks noChangeArrowheads="1"/>
          </p:cNvSpPr>
          <p:nvPr/>
        </p:nvSpPr>
        <p:spPr bwMode="auto">
          <a:xfrm>
            <a:off x="436880" y="2592641"/>
            <a:ext cx="1131824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2800" b="0" i="0" u="none" strike="noStrike" cap="none" normalizeH="0" baseline="0" dirty="0">
                <a:ln>
                  <a:noFill/>
                </a:ln>
                <a:solidFill>
                  <a:srgbClr val="002060"/>
                </a:solidFill>
                <a:effectLst/>
                <a:ea typeface="Times New Roman" panose="02020603050405020304" pitchFamily="18" charset="0"/>
              </a:rPr>
              <a:t>using properties of trigonometric functions, </a:t>
            </a:r>
            <a:endParaRPr kumimoji="0" lang="en-GB" altLang="en-US" sz="2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2800" b="0" i="0" u="none" strike="noStrike" cap="none" normalizeH="0" baseline="0" dirty="0">
                <a:ln>
                  <a:noFill/>
                </a:ln>
                <a:solidFill>
                  <a:srgbClr val="002060"/>
                </a:solidFill>
                <a:effectLst/>
                <a:ea typeface="Times New Roman" panose="02020603050405020304" pitchFamily="18" charset="0"/>
              </a:rPr>
              <a:t>only </a:t>
            </a:r>
            <a:r>
              <a:rPr kumimoji="0" lang="en-GB" altLang="en-US" sz="2800" b="0" i="1" u="none" strike="noStrike" cap="none" normalizeH="0" baseline="0" dirty="0">
                <a:ln>
                  <a:noFill/>
                </a:ln>
                <a:solidFill>
                  <a:srgbClr val="002060"/>
                </a:solidFill>
                <a:effectLst/>
                <a:ea typeface="Times New Roman" panose="02020603050405020304" pitchFamily="18" charset="0"/>
              </a:rPr>
              <a:t>cos </a:t>
            </a:r>
            <a:r>
              <a:rPr kumimoji="0" lang="en-GB" altLang="en-US" sz="2800" b="0" i="1" u="none" strike="noStrike" cap="none" normalizeH="0" baseline="0" dirty="0" err="1">
                <a:ln>
                  <a:noFill/>
                </a:ln>
                <a:solidFill>
                  <a:srgbClr val="002060"/>
                </a:solidFill>
                <a:effectLst/>
                <a:ea typeface="Times New Roman" panose="02020603050405020304" pitchFamily="18" charset="0"/>
              </a:rPr>
              <a:t>n</a:t>
            </a:r>
            <a:r>
              <a:rPr kumimoji="0" lang="en-GB" altLang="en-US" sz="2800" b="0" i="1"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rPr>
              <a:t>w</a:t>
            </a:r>
            <a:r>
              <a:rPr kumimoji="0" lang="en-GB" altLang="en-US" sz="2800" b="0" i="1" u="none" strike="noStrike" cap="none" normalizeH="0" baseline="-30000" dirty="0" err="1">
                <a:ln>
                  <a:noFill/>
                </a:ln>
                <a:solidFill>
                  <a:srgbClr val="002060"/>
                </a:solidFill>
                <a:effectLst/>
                <a:ea typeface="Times New Roman" panose="02020603050405020304" pitchFamily="18" charset="0"/>
              </a:rPr>
              <a:t>o</a:t>
            </a:r>
            <a:r>
              <a:rPr kumimoji="0" lang="en-GB" altLang="en-US" sz="2800" b="0" i="1" u="none" strike="noStrike" cap="none" normalizeH="0" baseline="0" dirty="0" err="1">
                <a:ln>
                  <a:noFill/>
                </a:ln>
                <a:solidFill>
                  <a:srgbClr val="002060"/>
                </a:solidFill>
                <a:effectLst/>
                <a:ea typeface="Times New Roman" panose="02020603050405020304" pitchFamily="18" charset="0"/>
              </a:rPr>
              <a:t>t</a:t>
            </a:r>
            <a:r>
              <a:rPr kumimoji="0" lang="en-GB" altLang="en-US" sz="2800" b="0" i="0" u="none" strike="noStrike" cap="none" normalizeH="0" baseline="0" dirty="0">
                <a:ln>
                  <a:noFill/>
                </a:ln>
                <a:solidFill>
                  <a:srgbClr val="002060"/>
                </a:solidFill>
                <a:effectLst/>
                <a:ea typeface="Times New Roman" panose="02020603050405020304" pitchFamily="18" charset="0"/>
              </a:rPr>
              <a:t> term on right hand side of equation will give a non zero integral, and that too only when m=n.</a:t>
            </a:r>
            <a:endParaRPr kumimoji="0" lang="en-GB" altLang="en-US" sz="2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987349708"/>
      </p:ext>
    </p:extLst>
  </p:cSld>
  <p:clrMapOvr>
    <a:masterClrMapping/>
  </p:clrMapOvr>
  <mc:AlternateContent xmlns:mc="http://schemas.openxmlformats.org/markup-compatibility/2006" xmlns:p14="http://schemas.microsoft.com/office/powerpoint/2010/main">
    <mc:Choice Requires="p14">
      <p:transition spd="slow" p14:dur="2000" advTm="61937"/>
    </mc:Choice>
    <mc:Fallback xmlns="">
      <p:transition spd="slow" advTm="61937"/>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395939" y="774092"/>
            <a:ext cx="10924085" cy="553998"/>
          </a:xfrm>
        </p:spPr>
        <p:txBody>
          <a:bodyPr>
            <a:normAutofit/>
          </a:bodyPr>
          <a:lstStyle/>
          <a:p>
            <a:r>
              <a:rPr lang="en-GB" dirty="0"/>
              <a:t>Analysis of Symmetrical  Waveforms</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18">
            <a:extLst>
              <a:ext uri="{FF2B5EF4-FFF2-40B4-BE49-F238E27FC236}">
                <a16:creationId xmlns:a16="http://schemas.microsoft.com/office/drawing/2014/main" id="{47A3F579-3DB8-4BB6-B686-F58780410468}"/>
              </a:ext>
            </a:extLst>
          </p:cNvPr>
          <p:cNvSpPr>
            <a:spLocks noChangeArrowheads="1"/>
          </p:cNvSpPr>
          <p:nvPr/>
        </p:nvSpPr>
        <p:spPr bwMode="auto">
          <a:xfrm>
            <a:off x="395939" y="1244749"/>
            <a:ext cx="397832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600" b="1"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Even Symmetry</a:t>
            </a:r>
            <a:endParaRPr kumimoji="0" lang="en-GB" altLang="en-US" sz="1100" b="0" i="0" u="none" strike="noStrike" cap="none" normalizeH="0" baseline="0" dirty="0">
              <a:ln>
                <a:noFill/>
              </a:ln>
              <a:solidFill>
                <a:schemeClr val="tx1"/>
              </a:solidFill>
              <a:effectLst/>
              <a:latin typeface="Arial" panose="020B0604020202020204" pitchFamily="34" charset="0"/>
            </a:endParaRPr>
          </a:p>
        </p:txBody>
      </p:sp>
      <p:grpSp>
        <p:nvGrpSpPr>
          <p:cNvPr id="5" name="Group 4">
            <a:extLst>
              <a:ext uri="{FF2B5EF4-FFF2-40B4-BE49-F238E27FC236}">
                <a16:creationId xmlns:a16="http://schemas.microsoft.com/office/drawing/2014/main" id="{E18DB422-E295-469A-9559-D4999CB15C04}"/>
              </a:ext>
            </a:extLst>
          </p:cNvPr>
          <p:cNvGrpSpPr>
            <a:grpSpLocks noChangeAspect="1"/>
          </p:cNvGrpSpPr>
          <p:nvPr/>
        </p:nvGrpSpPr>
        <p:grpSpPr bwMode="auto">
          <a:xfrm>
            <a:off x="629920" y="2214880"/>
            <a:ext cx="9530079" cy="3605276"/>
            <a:chOff x="1032" y="2184"/>
            <a:chExt cx="15001" cy="7097"/>
          </a:xfrm>
        </p:grpSpPr>
        <p:sp>
          <p:nvSpPr>
            <p:cNvPr id="6" name="Text Box 2338">
              <a:extLst>
                <a:ext uri="{FF2B5EF4-FFF2-40B4-BE49-F238E27FC236}">
                  <a16:creationId xmlns:a16="http://schemas.microsoft.com/office/drawing/2014/main" id="{36B15B31-FBF5-41BD-92B7-6B64E1DEF570}"/>
                </a:ext>
              </a:extLst>
            </p:cNvPr>
            <p:cNvSpPr txBox="1">
              <a:spLocks noChangeAspect="1" noChangeArrowheads="1"/>
            </p:cNvSpPr>
            <p:nvPr/>
          </p:nvSpPr>
          <p:spPr bwMode="auto">
            <a:xfrm>
              <a:off x="1437" y="8330"/>
              <a:ext cx="14191" cy="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lgn="ctr">
                <a:spcBef>
                  <a:spcPts val="0"/>
                </a:spcBef>
                <a:spcAft>
                  <a:spcPts val="0"/>
                </a:spcAft>
              </a:pPr>
              <a:r>
                <a:rPr lang="en-GB" sz="3600">
                  <a:solidFill>
                    <a:srgbClr val="002060"/>
                  </a:solidFill>
                  <a:effectLst/>
                  <a:latin typeface="Times New Roman" panose="02020603050405020304" pitchFamily="18" charset="0"/>
                  <a:ea typeface="Times New Roman" panose="02020603050405020304" pitchFamily="18" charset="0"/>
                </a:rPr>
                <a:t>Figure 6 – Analysis of even waveform</a:t>
              </a:r>
              <a:endParaRPr lang="en-GB" sz="1200">
                <a:effectLst/>
                <a:latin typeface="Times New Roman" panose="02020603050405020304" pitchFamily="18" charset="0"/>
                <a:ea typeface="Times New Roman" panose="02020603050405020304" pitchFamily="18" charset="0"/>
              </a:endParaRPr>
            </a:p>
          </p:txBody>
        </p:sp>
        <p:grpSp>
          <p:nvGrpSpPr>
            <p:cNvPr id="7" name="Group 6">
              <a:extLst>
                <a:ext uri="{FF2B5EF4-FFF2-40B4-BE49-F238E27FC236}">
                  <a16:creationId xmlns:a16="http://schemas.microsoft.com/office/drawing/2014/main" id="{7B55AD34-00A8-400D-9BCF-6B8B0DEC13E8}"/>
                </a:ext>
              </a:extLst>
            </p:cNvPr>
            <p:cNvGrpSpPr>
              <a:grpSpLocks noChangeAspect="1"/>
            </p:cNvGrpSpPr>
            <p:nvPr/>
          </p:nvGrpSpPr>
          <p:grpSpPr bwMode="auto">
            <a:xfrm>
              <a:off x="1032" y="2184"/>
              <a:ext cx="15001" cy="6377"/>
              <a:chOff x="6338" y="1238"/>
              <a:chExt cx="4440" cy="2550"/>
            </a:xfrm>
          </p:grpSpPr>
          <p:sp>
            <p:nvSpPr>
              <p:cNvPr id="8" name="Freeform 2340">
                <a:extLst>
                  <a:ext uri="{FF2B5EF4-FFF2-40B4-BE49-F238E27FC236}">
                    <a16:creationId xmlns:a16="http://schemas.microsoft.com/office/drawing/2014/main" id="{07854D6F-7740-4D21-90DE-CA05DE5B67C0}"/>
                  </a:ext>
                </a:extLst>
              </p:cNvPr>
              <p:cNvSpPr>
                <a:spLocks noChangeAspect="1"/>
              </p:cNvSpPr>
              <p:nvPr/>
            </p:nvSpPr>
            <p:spPr bwMode="auto">
              <a:xfrm>
                <a:off x="9898" y="1939"/>
                <a:ext cx="700" cy="143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9" name="Freeform 2341">
                <a:extLst>
                  <a:ext uri="{FF2B5EF4-FFF2-40B4-BE49-F238E27FC236}">
                    <a16:creationId xmlns:a16="http://schemas.microsoft.com/office/drawing/2014/main" id="{38E7CB4B-11C7-4762-99EB-82DAD40DC956}"/>
                  </a:ext>
                </a:extLst>
              </p:cNvPr>
              <p:cNvSpPr>
                <a:spLocks noChangeAspect="1"/>
              </p:cNvSpPr>
              <p:nvPr/>
            </p:nvSpPr>
            <p:spPr bwMode="auto">
              <a:xfrm flipH="1">
                <a:off x="9192" y="1959"/>
                <a:ext cx="701" cy="143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0" name="Freeform 2342">
                <a:extLst>
                  <a:ext uri="{FF2B5EF4-FFF2-40B4-BE49-F238E27FC236}">
                    <a16:creationId xmlns:a16="http://schemas.microsoft.com/office/drawing/2014/main" id="{E30F5953-296C-4F3C-839F-B80BF3C58A91}"/>
                  </a:ext>
                </a:extLst>
              </p:cNvPr>
              <p:cNvSpPr>
                <a:spLocks noChangeAspect="1"/>
              </p:cNvSpPr>
              <p:nvPr/>
            </p:nvSpPr>
            <p:spPr bwMode="auto">
              <a:xfrm>
                <a:off x="8484" y="1939"/>
                <a:ext cx="700" cy="143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1" name="Freeform 2343">
                <a:extLst>
                  <a:ext uri="{FF2B5EF4-FFF2-40B4-BE49-F238E27FC236}">
                    <a16:creationId xmlns:a16="http://schemas.microsoft.com/office/drawing/2014/main" id="{BDD1F6F5-1ADF-42BA-8C50-7850111972B8}"/>
                  </a:ext>
                </a:extLst>
              </p:cNvPr>
              <p:cNvSpPr>
                <a:spLocks noChangeAspect="1"/>
              </p:cNvSpPr>
              <p:nvPr/>
            </p:nvSpPr>
            <p:spPr bwMode="auto">
              <a:xfrm flipH="1">
                <a:off x="7778" y="1959"/>
                <a:ext cx="701" cy="143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2" name="Freeform 2344">
                <a:extLst>
                  <a:ext uri="{FF2B5EF4-FFF2-40B4-BE49-F238E27FC236}">
                    <a16:creationId xmlns:a16="http://schemas.microsoft.com/office/drawing/2014/main" id="{BBBFC8E1-D4BE-4C6F-BF31-76DAB94CDE2F}"/>
                  </a:ext>
                </a:extLst>
              </p:cNvPr>
              <p:cNvSpPr>
                <a:spLocks noChangeAspect="1"/>
              </p:cNvSpPr>
              <p:nvPr/>
            </p:nvSpPr>
            <p:spPr bwMode="auto">
              <a:xfrm>
                <a:off x="7078" y="1958"/>
                <a:ext cx="700" cy="143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3" name="Freeform 2345">
                <a:extLst>
                  <a:ext uri="{FF2B5EF4-FFF2-40B4-BE49-F238E27FC236}">
                    <a16:creationId xmlns:a16="http://schemas.microsoft.com/office/drawing/2014/main" id="{01A3994B-B8EB-4B03-9FB4-E90EF64E37E1}"/>
                  </a:ext>
                </a:extLst>
              </p:cNvPr>
              <p:cNvSpPr>
                <a:spLocks noChangeAspect="1"/>
              </p:cNvSpPr>
              <p:nvPr/>
            </p:nvSpPr>
            <p:spPr bwMode="auto">
              <a:xfrm flipH="1">
                <a:off x="6372" y="1978"/>
                <a:ext cx="701" cy="143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28575"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14" name="Line 2346">
                <a:extLst>
                  <a:ext uri="{FF2B5EF4-FFF2-40B4-BE49-F238E27FC236}">
                    <a16:creationId xmlns:a16="http://schemas.microsoft.com/office/drawing/2014/main" id="{234A1DF8-14E3-4F79-9E8D-6C8E4BCCE0E9}"/>
                  </a:ext>
                </a:extLst>
              </p:cNvPr>
              <p:cNvCxnSpPr>
                <a:cxnSpLocks noChangeAspect="1" noChangeShapeType="1"/>
              </p:cNvCxnSpPr>
              <p:nvPr/>
            </p:nvCxnSpPr>
            <p:spPr bwMode="auto">
              <a:xfrm>
                <a:off x="6338" y="2498"/>
                <a:ext cx="4320" cy="0"/>
              </a:xfrm>
              <a:prstGeom prst="line">
                <a:avLst/>
              </a:prstGeom>
              <a:noFill/>
              <a:ln w="28575">
                <a:solidFill>
                  <a:srgbClr val="002060"/>
                </a:solidFill>
                <a:round/>
                <a:headEnd/>
                <a:tailEnd type="arrow" w="lg" len="lg"/>
              </a:ln>
              <a:extLst>
                <a:ext uri="{909E8E84-426E-40DD-AFC4-6F175D3DCCD1}">
                  <a14:hiddenFill xmlns:a14="http://schemas.microsoft.com/office/drawing/2010/main">
                    <a:noFill/>
                  </a14:hiddenFill>
                </a:ext>
              </a:extLst>
            </p:spPr>
          </p:cxnSp>
          <p:cxnSp>
            <p:nvCxnSpPr>
              <p:cNvPr id="15" name="Line 2347">
                <a:extLst>
                  <a:ext uri="{FF2B5EF4-FFF2-40B4-BE49-F238E27FC236}">
                    <a16:creationId xmlns:a16="http://schemas.microsoft.com/office/drawing/2014/main" id="{6CBD4F41-7B04-4142-AB3C-615784E95BC3}"/>
                  </a:ext>
                </a:extLst>
              </p:cNvPr>
              <p:cNvCxnSpPr>
                <a:cxnSpLocks noChangeAspect="1" noChangeShapeType="1"/>
              </p:cNvCxnSpPr>
              <p:nvPr/>
            </p:nvCxnSpPr>
            <p:spPr bwMode="auto">
              <a:xfrm flipV="1">
                <a:off x="8483" y="1418"/>
                <a:ext cx="0" cy="1980"/>
              </a:xfrm>
              <a:prstGeom prst="line">
                <a:avLst/>
              </a:prstGeom>
              <a:noFill/>
              <a:ln w="28575">
                <a:solidFill>
                  <a:srgbClr val="002060"/>
                </a:solidFill>
                <a:round/>
                <a:headEnd/>
                <a:tailEnd type="arrow" w="lg" len="lg"/>
              </a:ln>
              <a:extLst>
                <a:ext uri="{909E8E84-426E-40DD-AFC4-6F175D3DCCD1}">
                  <a14:hiddenFill xmlns:a14="http://schemas.microsoft.com/office/drawing/2010/main">
                    <a:noFill/>
                  </a14:hiddenFill>
                </a:ext>
              </a:extLst>
            </p:spPr>
          </p:cxnSp>
          <p:sp>
            <p:nvSpPr>
              <p:cNvPr id="16" name="Text Box 2348">
                <a:extLst>
                  <a:ext uri="{FF2B5EF4-FFF2-40B4-BE49-F238E27FC236}">
                    <a16:creationId xmlns:a16="http://schemas.microsoft.com/office/drawing/2014/main" id="{F7C553CA-5BA1-4F7F-992A-02DBF8DB117E}"/>
                  </a:ext>
                </a:extLst>
              </p:cNvPr>
              <p:cNvSpPr txBox="1">
                <a:spLocks noChangeAspect="1" noChangeArrowheads="1"/>
              </p:cNvSpPr>
              <p:nvPr/>
            </p:nvSpPr>
            <p:spPr bwMode="auto">
              <a:xfrm>
                <a:off x="7898" y="1238"/>
                <a:ext cx="7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3200">
                    <a:solidFill>
                      <a:srgbClr val="FFFFFF"/>
                    </a:solidFill>
                    <a:effectLst/>
                    <a:latin typeface="Times New Roman" panose="02020603050405020304" pitchFamily="18" charset="0"/>
                    <a:ea typeface="Times New Roman" panose="02020603050405020304" pitchFamily="18" charset="0"/>
                  </a:rPr>
                  <a:t>     </a:t>
                </a:r>
                <a:r>
                  <a:rPr lang="en-GB" sz="3200">
                    <a:solidFill>
                      <a:srgbClr val="002060"/>
                    </a:solidFill>
                    <a:effectLst/>
                    <a:latin typeface="Times New Roman" panose="02020603050405020304" pitchFamily="18" charset="0"/>
                    <a:ea typeface="Times New Roman" panose="02020603050405020304" pitchFamily="18" charset="0"/>
                  </a:rPr>
                  <a:t>f(t)</a:t>
                </a:r>
                <a:endParaRPr lang="en-GB" sz="1200">
                  <a:effectLst/>
                  <a:latin typeface="Times New Roman" panose="02020603050405020304" pitchFamily="18" charset="0"/>
                  <a:ea typeface="Times New Roman" panose="02020603050405020304" pitchFamily="18" charset="0"/>
                </a:endParaRPr>
              </a:p>
            </p:txBody>
          </p:sp>
          <p:sp>
            <p:nvSpPr>
              <p:cNvPr id="17" name="Text Box 2349">
                <a:extLst>
                  <a:ext uri="{FF2B5EF4-FFF2-40B4-BE49-F238E27FC236}">
                    <a16:creationId xmlns:a16="http://schemas.microsoft.com/office/drawing/2014/main" id="{3687F22C-1B7B-462A-93D6-2571D91367D7}"/>
                  </a:ext>
                </a:extLst>
              </p:cNvPr>
              <p:cNvSpPr txBox="1">
                <a:spLocks noChangeAspect="1" noChangeArrowheads="1"/>
              </p:cNvSpPr>
              <p:nvPr/>
            </p:nvSpPr>
            <p:spPr bwMode="auto">
              <a:xfrm>
                <a:off x="10298" y="2138"/>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3200">
                    <a:solidFill>
                      <a:srgbClr val="FFFFFF"/>
                    </a:solidFill>
                    <a:effectLst/>
                    <a:latin typeface="Times New Roman" panose="02020603050405020304" pitchFamily="18" charset="0"/>
                    <a:ea typeface="Times New Roman" panose="02020603050405020304" pitchFamily="18" charset="0"/>
                  </a:rPr>
                  <a:t>     </a:t>
                </a:r>
                <a:r>
                  <a:rPr lang="en-GB" sz="32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18" name="Text Box 2350">
                <a:extLst>
                  <a:ext uri="{FF2B5EF4-FFF2-40B4-BE49-F238E27FC236}">
                    <a16:creationId xmlns:a16="http://schemas.microsoft.com/office/drawing/2014/main" id="{9D192A91-E0CE-4F88-82C7-BB6B2E5F6B7A}"/>
                  </a:ext>
                </a:extLst>
              </p:cNvPr>
              <p:cNvSpPr txBox="1">
                <a:spLocks noChangeAspect="1" noChangeArrowheads="1"/>
              </p:cNvSpPr>
              <p:nvPr/>
            </p:nvSpPr>
            <p:spPr bwMode="auto">
              <a:xfrm>
                <a:off x="8258" y="3428"/>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lgn="ctr">
                  <a:spcBef>
                    <a:spcPts val="0"/>
                  </a:spcBef>
                  <a:spcAft>
                    <a:spcPts val="0"/>
                  </a:spcAft>
                </a:pPr>
                <a:r>
                  <a:rPr lang="en-GB" sz="32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cxnSp>
            <p:nvCxnSpPr>
              <p:cNvPr id="19" name="Line 2351">
                <a:extLst>
                  <a:ext uri="{FF2B5EF4-FFF2-40B4-BE49-F238E27FC236}">
                    <a16:creationId xmlns:a16="http://schemas.microsoft.com/office/drawing/2014/main" id="{EED8A30B-14B0-45D9-83B6-6EF5AF7B802C}"/>
                  </a:ext>
                </a:extLst>
              </p:cNvPr>
              <p:cNvCxnSpPr>
                <a:cxnSpLocks noChangeAspect="1" noChangeShapeType="1"/>
              </p:cNvCxnSpPr>
              <p:nvPr/>
            </p:nvCxnSpPr>
            <p:spPr bwMode="auto">
              <a:xfrm>
                <a:off x="7763" y="3458"/>
                <a:ext cx="1440" cy="1"/>
              </a:xfrm>
              <a:prstGeom prst="line">
                <a:avLst/>
              </a:prstGeom>
              <a:noFill/>
              <a:ln w="28575">
                <a:solidFill>
                  <a:srgbClr val="002060"/>
                </a:solidFill>
                <a:round/>
                <a:headEnd type="arrow" w="med" len="med"/>
                <a:tailEnd type="arrow" w="med" len="med"/>
              </a:ln>
              <a:extLst>
                <a:ext uri="{909E8E84-426E-40DD-AFC4-6F175D3DCCD1}">
                  <a14:hiddenFill xmlns:a14="http://schemas.microsoft.com/office/drawing/2010/main">
                    <a:noFill/>
                  </a14:hiddenFill>
                </a:ext>
              </a:extLst>
            </p:spPr>
          </p:cxnSp>
          <p:sp>
            <p:nvSpPr>
              <p:cNvPr id="20" name="Text Box 2352">
                <a:extLst>
                  <a:ext uri="{FF2B5EF4-FFF2-40B4-BE49-F238E27FC236}">
                    <a16:creationId xmlns:a16="http://schemas.microsoft.com/office/drawing/2014/main" id="{4A74C071-7FFB-44B3-9AFB-C46535F2197F}"/>
                  </a:ext>
                </a:extLst>
              </p:cNvPr>
              <p:cNvSpPr txBox="1">
                <a:spLocks noChangeAspect="1" noChangeArrowheads="1"/>
              </p:cNvSpPr>
              <p:nvPr/>
            </p:nvSpPr>
            <p:spPr bwMode="auto">
              <a:xfrm>
                <a:off x="8858" y="2138"/>
                <a:ext cx="7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3200">
                    <a:solidFill>
                      <a:srgbClr val="FFFFFF"/>
                    </a:solidFill>
                    <a:effectLst/>
                    <a:latin typeface="Times New Roman" panose="02020603050405020304" pitchFamily="18" charset="0"/>
                    <a:ea typeface="Times New Roman" panose="02020603050405020304" pitchFamily="18" charset="0"/>
                  </a:rPr>
                  <a:t>   </a:t>
                </a:r>
                <a:r>
                  <a:rPr lang="en-GB" sz="3200">
                    <a:solidFill>
                      <a:srgbClr val="002060"/>
                    </a:solidFill>
                    <a:effectLst/>
                    <a:latin typeface="Times New Roman" panose="02020603050405020304" pitchFamily="18" charset="0"/>
                    <a:ea typeface="Times New Roman" panose="02020603050405020304" pitchFamily="18" charset="0"/>
                  </a:rPr>
                  <a:t>T/2</a:t>
                </a:r>
                <a:endParaRPr lang="en-GB" sz="1200">
                  <a:effectLst/>
                  <a:latin typeface="Times New Roman" panose="02020603050405020304" pitchFamily="18" charset="0"/>
                  <a:ea typeface="Times New Roman" panose="02020603050405020304" pitchFamily="18" charset="0"/>
                </a:endParaRPr>
              </a:p>
            </p:txBody>
          </p:sp>
          <p:sp>
            <p:nvSpPr>
              <p:cNvPr id="21" name="Text Box 2353">
                <a:extLst>
                  <a:ext uri="{FF2B5EF4-FFF2-40B4-BE49-F238E27FC236}">
                    <a16:creationId xmlns:a16="http://schemas.microsoft.com/office/drawing/2014/main" id="{799DF19C-6DB5-41F2-AFC0-68669DC46EF4}"/>
                  </a:ext>
                </a:extLst>
              </p:cNvPr>
              <p:cNvSpPr txBox="1">
                <a:spLocks noChangeAspect="1" noChangeArrowheads="1"/>
              </p:cNvSpPr>
              <p:nvPr/>
            </p:nvSpPr>
            <p:spPr bwMode="auto">
              <a:xfrm>
                <a:off x="7418" y="2138"/>
                <a:ext cx="7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3200">
                    <a:solidFill>
                      <a:srgbClr val="FFFFFF"/>
                    </a:solidFill>
                    <a:effectLst/>
                    <a:latin typeface="Times New Roman" panose="02020603050405020304" pitchFamily="18" charset="0"/>
                    <a:ea typeface="Times New Roman" panose="02020603050405020304" pitchFamily="18" charset="0"/>
                  </a:rPr>
                  <a:t>  </a:t>
                </a:r>
                <a:r>
                  <a:rPr lang="en-GB" sz="3200">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lang="en-GB" sz="3200">
                    <a:solidFill>
                      <a:srgbClr val="002060"/>
                    </a:solidFill>
                    <a:effectLst/>
                    <a:latin typeface="Times New Roman" panose="02020603050405020304" pitchFamily="18" charset="0"/>
                    <a:ea typeface="Times New Roman" panose="02020603050405020304" pitchFamily="18" charset="0"/>
                  </a:rPr>
                  <a:t>T/2</a:t>
                </a:r>
                <a:endParaRPr lang="en-GB" sz="1200">
                  <a:effectLst/>
                  <a:latin typeface="Times New Roman" panose="02020603050405020304" pitchFamily="18" charset="0"/>
                  <a:ea typeface="Times New Roman" panose="02020603050405020304" pitchFamily="18" charset="0"/>
                </a:endParaRPr>
              </a:p>
            </p:txBody>
          </p:sp>
        </p:grpSp>
      </p:grpSp>
      <p:sp>
        <p:nvSpPr>
          <p:cNvPr id="4" name="Rectangle 25">
            <a:extLst>
              <a:ext uri="{FF2B5EF4-FFF2-40B4-BE49-F238E27FC236}">
                <a16:creationId xmlns:a16="http://schemas.microsoft.com/office/drawing/2014/main" id="{D66B7304-F07D-49F5-B6D4-C3E7AE00965A}"/>
              </a:ext>
            </a:extLst>
          </p:cNvPr>
          <p:cNvSpPr>
            <a:spLocks noChangeArrowheads="1"/>
          </p:cNvSpPr>
          <p:nvPr/>
        </p:nvSpPr>
        <p:spPr bwMode="auto">
          <a:xfrm>
            <a:off x="173711" y="5975190"/>
            <a:ext cx="1012852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0 to T/2  corresponds to mirror image from –T/2  to  0. </a:t>
            </a:r>
            <a:endParaRPr kumimoji="0" lang="en-GB"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63107839"/>
      </p:ext>
    </p:extLst>
  </p:cSld>
  <p:clrMapOvr>
    <a:masterClrMapping/>
  </p:clrMapOvr>
  <mc:AlternateContent xmlns:mc="http://schemas.openxmlformats.org/markup-compatibility/2006" xmlns:p14="http://schemas.microsoft.com/office/powerpoint/2010/main">
    <mc:Choice Requires="p14">
      <p:transition spd="slow" p14:dur="2000" advTm="32307"/>
    </mc:Choice>
    <mc:Fallback xmlns="">
      <p:transition spd="slow" advTm="32307"/>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B38C5CD9-A71C-4989-B2CC-31BCEEB6E825}"/>
              </a:ext>
            </a:extLst>
          </p:cNvPr>
          <p:cNvGraphicFramePr>
            <a:graphicFrameLocks noChangeAspect="1"/>
          </p:cNvGraphicFramePr>
          <p:nvPr>
            <p:extLst>
              <p:ext uri="{D42A27DB-BD31-4B8C-83A1-F6EECF244321}">
                <p14:modId xmlns:p14="http://schemas.microsoft.com/office/powerpoint/2010/main" val="3483575064"/>
              </p:ext>
            </p:extLst>
          </p:nvPr>
        </p:nvGraphicFramePr>
        <p:xfrm>
          <a:off x="0" y="1049185"/>
          <a:ext cx="4686300" cy="1524000"/>
        </p:xfrm>
        <a:graphic>
          <a:graphicData uri="http://schemas.openxmlformats.org/presentationml/2006/ole">
            <mc:AlternateContent xmlns:mc="http://schemas.openxmlformats.org/markup-compatibility/2006">
              <mc:Choice xmlns:v="urn:schemas-microsoft-com:vml" Requires="v">
                <p:oleObj r:id="rId3" imgW="1727200" imgH="558800" progId="Equation.3">
                  <p:embed/>
                </p:oleObj>
              </mc:Choice>
              <mc:Fallback>
                <p:oleObj r:id="rId3" imgW="1727200" imgH="558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049185"/>
                        <a:ext cx="4686300" cy="15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820A5875-5911-4966-B643-53209D495F90}"/>
              </a:ext>
            </a:extLst>
          </p:cNvPr>
          <p:cNvGraphicFramePr>
            <a:graphicFrameLocks noChangeAspect="1"/>
          </p:cNvGraphicFramePr>
          <p:nvPr>
            <p:extLst>
              <p:ext uri="{D42A27DB-BD31-4B8C-83A1-F6EECF244321}">
                <p14:modId xmlns:p14="http://schemas.microsoft.com/office/powerpoint/2010/main" val="790367789"/>
              </p:ext>
            </p:extLst>
          </p:nvPr>
        </p:nvGraphicFramePr>
        <p:xfrm>
          <a:off x="571500" y="2062479"/>
          <a:ext cx="8534400" cy="1695450"/>
        </p:xfrm>
        <a:graphic>
          <a:graphicData uri="http://schemas.openxmlformats.org/presentationml/2006/ole">
            <mc:AlternateContent xmlns:mc="http://schemas.openxmlformats.org/markup-compatibility/2006">
              <mc:Choice xmlns:v="urn:schemas-microsoft-com:vml" Requires="v">
                <p:oleObj r:id="rId5" imgW="2984500" imgH="584200" progId="Equation.3">
                  <p:embed/>
                </p:oleObj>
              </mc:Choice>
              <mc:Fallback>
                <p:oleObj r:id="rId5" imgW="2984500" imgH="5842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500" y="2062479"/>
                        <a:ext cx="8534400" cy="1695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a:extLst>
              <a:ext uri="{FF2B5EF4-FFF2-40B4-BE49-F238E27FC236}">
                <a16:creationId xmlns:a16="http://schemas.microsoft.com/office/drawing/2014/main" id="{3798500D-BF60-4415-9F44-A7E449EBE3BC}"/>
              </a:ext>
            </a:extLst>
          </p:cNvPr>
          <p:cNvGraphicFramePr>
            <a:graphicFrameLocks noChangeAspect="1"/>
          </p:cNvGraphicFramePr>
          <p:nvPr>
            <p:extLst>
              <p:ext uri="{D42A27DB-BD31-4B8C-83A1-F6EECF244321}">
                <p14:modId xmlns:p14="http://schemas.microsoft.com/office/powerpoint/2010/main" val="244993606"/>
              </p:ext>
            </p:extLst>
          </p:nvPr>
        </p:nvGraphicFramePr>
        <p:xfrm>
          <a:off x="441960" y="3996436"/>
          <a:ext cx="11125200" cy="1676400"/>
        </p:xfrm>
        <a:graphic>
          <a:graphicData uri="http://schemas.openxmlformats.org/presentationml/2006/ole">
            <mc:AlternateContent xmlns:mc="http://schemas.openxmlformats.org/markup-compatibility/2006">
              <mc:Choice xmlns:v="urn:schemas-microsoft-com:vml" Requires="v">
                <p:oleObj r:id="rId7" imgW="3581400" imgH="533400" progId="Equation.3">
                  <p:embed/>
                </p:oleObj>
              </mc:Choice>
              <mc:Fallback>
                <p:oleObj r:id="rId7" imgW="3581400" imgH="533400"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960" y="3996436"/>
                        <a:ext cx="11125200" cy="167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
            <a:extLst>
              <a:ext uri="{FF2B5EF4-FFF2-40B4-BE49-F238E27FC236}">
                <a16:creationId xmlns:a16="http://schemas.microsoft.com/office/drawing/2014/main" id="{9C819D96-CCF2-4D4A-91D7-3490665F025D}"/>
              </a:ext>
            </a:extLst>
          </p:cNvPr>
          <p:cNvSpPr>
            <a:spLocks noChangeArrowheads="1"/>
          </p:cNvSpPr>
          <p:nvPr/>
        </p:nvSpPr>
        <p:spPr bwMode="auto">
          <a:xfrm>
            <a:off x="52844" y="556952"/>
            <a:ext cx="905305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Consider period from </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t>
            </a:r>
            <a:r>
              <a:rPr kumimoji="0" lang="en-GB" altLang="en-US" sz="3200" b="0" i="0" u="none" strike="noStrike" cap="none" normalizeH="0" baseline="0" dirty="0">
                <a:ln>
                  <a:noFill/>
                </a:ln>
                <a:solidFill>
                  <a:srgbClr val="002060"/>
                </a:solidFill>
                <a:effectLst/>
                <a:ea typeface="Times New Roman" panose="02020603050405020304" pitchFamily="18" charset="0"/>
              </a:rPr>
              <a:t>T/2 to T/2 for integration.  </a:t>
            </a:r>
            <a:endParaRPr kumimoji="0" lang="en-GB" altLang="en-US" sz="3200" b="0" i="0" u="none" strike="noStrike" cap="none" normalizeH="0" baseline="0" dirty="0">
              <a:ln>
                <a:noFill/>
              </a:ln>
              <a:solidFill>
                <a:schemeClr val="tx1"/>
              </a:solidFill>
              <a:effectLst/>
            </a:endParaRPr>
          </a:p>
        </p:txBody>
      </p:sp>
      <p:sp>
        <p:nvSpPr>
          <p:cNvPr id="7" name="Rectangle 5">
            <a:extLst>
              <a:ext uri="{FF2B5EF4-FFF2-40B4-BE49-F238E27FC236}">
                <a16:creationId xmlns:a16="http://schemas.microsoft.com/office/drawing/2014/main" id="{31530CD6-AA54-439F-B094-C25B22592E57}"/>
              </a:ext>
            </a:extLst>
          </p:cNvPr>
          <p:cNvSpPr>
            <a:spLocks noChangeArrowheads="1"/>
          </p:cNvSpPr>
          <p:nvPr/>
        </p:nvSpPr>
        <p:spPr bwMode="auto">
          <a:xfrm>
            <a:off x="0" y="1981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8" name="Rectangle 6">
            <a:extLst>
              <a:ext uri="{FF2B5EF4-FFF2-40B4-BE49-F238E27FC236}">
                <a16:creationId xmlns:a16="http://schemas.microsoft.com/office/drawing/2014/main" id="{268EC8F7-BE2B-46E7-BC83-113D1769D945}"/>
              </a:ext>
            </a:extLst>
          </p:cNvPr>
          <p:cNvSpPr>
            <a:spLocks noChangeArrowheads="1"/>
          </p:cNvSpPr>
          <p:nvPr/>
        </p:nvSpPr>
        <p:spPr bwMode="auto">
          <a:xfrm>
            <a:off x="178048" y="3612860"/>
            <a:ext cx="1183107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In first part of expression, ‘t’ is replaced by ‘</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ea typeface="Times New Roman" panose="02020603050405020304" pitchFamily="18" charset="0"/>
              </a:rPr>
              <a:t>t’</a:t>
            </a:r>
            <a:endParaRPr kumimoji="0" lang="en-GB" altLang="en-US" sz="32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p:txBody>
      </p:sp>
      <p:sp>
        <p:nvSpPr>
          <p:cNvPr id="9" name="Rectangle 7">
            <a:extLst>
              <a:ext uri="{FF2B5EF4-FFF2-40B4-BE49-F238E27FC236}">
                <a16:creationId xmlns:a16="http://schemas.microsoft.com/office/drawing/2014/main" id="{5B1470FF-6BB4-4E0D-ACA4-3D251A4BE4B8}"/>
              </a:ext>
            </a:extLst>
          </p:cNvPr>
          <p:cNvSpPr>
            <a:spLocks noChangeArrowheads="1"/>
          </p:cNvSpPr>
          <p:nvPr/>
        </p:nvSpPr>
        <p:spPr bwMode="auto">
          <a:xfrm>
            <a:off x="178048" y="5500243"/>
            <a:ext cx="869696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Since function  is even, </a:t>
            </a:r>
          </a:p>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	f(</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cs typeface="Times New Roman" panose="02020603050405020304" pitchFamily="18" charset="0"/>
              </a:rPr>
              <a:t>-</a:t>
            </a:r>
            <a:r>
              <a:rPr kumimoji="0" lang="en-GB" altLang="en-US" sz="3200" b="0" i="0" u="none" strike="noStrike" cap="none" normalizeH="0" baseline="0" dirty="0">
                <a:ln>
                  <a:noFill/>
                </a:ln>
                <a:solidFill>
                  <a:srgbClr val="002060"/>
                </a:solidFill>
                <a:effectLst/>
                <a:ea typeface="Times New Roman" panose="02020603050405020304" pitchFamily="18" charset="0"/>
              </a:rPr>
              <a:t>t) = f(t),  and cos(</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cs typeface="Times New Roman" panose="02020603050405020304" pitchFamily="18" charset="0"/>
              </a:rPr>
              <a:t>-</a:t>
            </a:r>
            <a:r>
              <a:rPr kumimoji="0" lang="en-GB" altLang="en-US" sz="3200" b="0" i="0" u="none" strike="noStrike" cap="none" normalizeH="0" baseline="0" dirty="0" err="1">
                <a:ln>
                  <a:noFill/>
                </a:ln>
                <a:solidFill>
                  <a:srgbClr val="002060"/>
                </a:solidFill>
                <a:effectLst/>
                <a:ea typeface="Times New Roman" panose="02020603050405020304" pitchFamily="18" charset="0"/>
              </a:rPr>
              <a:t>n</a:t>
            </a:r>
            <a:r>
              <a:rPr kumimoji="0" lang="en-GB" altLang="en-US" sz="3200" b="0" i="0"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cs typeface="Times New Roman" panose="02020603050405020304" pitchFamily="18" charset="0"/>
              </a:rPr>
              <a:t>w</a:t>
            </a:r>
            <a:r>
              <a:rPr kumimoji="0" lang="en-GB" altLang="en-US" sz="3200" b="0" i="0" u="none" strike="noStrike" cap="none" normalizeH="0" baseline="-30000" dirty="0" err="1">
                <a:ln>
                  <a:noFill/>
                </a:ln>
                <a:solidFill>
                  <a:srgbClr val="002060"/>
                </a:solidFill>
                <a:effectLst/>
                <a:latin typeface="Symbol" panose="05050102010706020507" pitchFamily="18" charset="2"/>
                <a:ea typeface="Times New Roman" panose="02020603050405020304" pitchFamily="18" charset="0"/>
                <a:cs typeface="Times New Roman" panose="02020603050405020304" pitchFamily="18" charset="0"/>
              </a:rPr>
              <a:t>o</a:t>
            </a:r>
            <a:r>
              <a:rPr kumimoji="0" lang="en-GB" altLang="en-US" sz="3200" b="0" i="0" u="none" strike="noStrike" cap="none" normalizeH="0" baseline="0" dirty="0" err="1">
                <a:ln>
                  <a:noFill/>
                </a:ln>
                <a:solidFill>
                  <a:srgbClr val="002060"/>
                </a:solidFill>
                <a:effectLst/>
                <a:ea typeface="Times New Roman" panose="02020603050405020304" pitchFamily="18" charset="0"/>
              </a:rPr>
              <a:t>t</a:t>
            </a:r>
            <a:r>
              <a:rPr kumimoji="0" lang="en-GB" altLang="en-US" sz="3200" b="0" i="0" u="none" strike="noStrike" cap="none" normalizeH="0" baseline="0" dirty="0">
                <a:ln>
                  <a:noFill/>
                </a:ln>
                <a:solidFill>
                  <a:srgbClr val="002060"/>
                </a:solidFill>
                <a:effectLst/>
                <a:ea typeface="Times New Roman" panose="02020603050405020304" pitchFamily="18" charset="0"/>
              </a:rPr>
              <a:t>) = cos(</a:t>
            </a:r>
            <a:r>
              <a:rPr kumimoji="0" lang="en-GB" altLang="en-US" sz="3200" b="0" i="0" u="none" strike="noStrike" cap="none" normalizeH="0" baseline="0" dirty="0" err="1">
                <a:ln>
                  <a:noFill/>
                </a:ln>
                <a:solidFill>
                  <a:srgbClr val="002060"/>
                </a:solidFill>
                <a:effectLst/>
                <a:ea typeface="Times New Roman" panose="02020603050405020304" pitchFamily="18" charset="0"/>
              </a:rPr>
              <a:t>n</a:t>
            </a:r>
            <a:r>
              <a:rPr kumimoji="0" lang="en-GB" altLang="en-US" sz="3200" b="0" i="0"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cs typeface="Times New Roman" panose="02020603050405020304" pitchFamily="18" charset="0"/>
              </a:rPr>
              <a:t>w</a:t>
            </a:r>
            <a:r>
              <a:rPr kumimoji="0" lang="en-GB" altLang="en-US" sz="3200" b="0" i="0" u="none" strike="noStrike" cap="none" normalizeH="0" baseline="-30000" dirty="0" err="1">
                <a:ln>
                  <a:noFill/>
                </a:ln>
                <a:solidFill>
                  <a:srgbClr val="002060"/>
                </a:solidFill>
                <a:effectLst/>
                <a:latin typeface="Symbol" panose="05050102010706020507" pitchFamily="18" charset="2"/>
                <a:ea typeface="Times New Roman" panose="02020603050405020304" pitchFamily="18" charset="0"/>
                <a:cs typeface="Times New Roman" panose="02020603050405020304" pitchFamily="18" charset="0"/>
              </a:rPr>
              <a:t>o</a:t>
            </a:r>
            <a:r>
              <a:rPr kumimoji="0" lang="en-GB" altLang="en-US" sz="3200" b="0" i="0" u="none" strike="noStrike" cap="none" normalizeH="0" baseline="0" dirty="0" err="1">
                <a:ln>
                  <a:noFill/>
                </a:ln>
                <a:solidFill>
                  <a:srgbClr val="002060"/>
                </a:solidFill>
                <a:effectLst/>
                <a:ea typeface="Times New Roman" panose="02020603050405020304" pitchFamily="18" charset="0"/>
              </a:rPr>
              <a:t>t</a:t>
            </a:r>
            <a:r>
              <a:rPr kumimoji="0" lang="en-GB" altLang="en-US" sz="3200" b="0" i="0" u="none" strike="noStrike" cap="none" normalizeH="0" baseline="0" dirty="0">
                <a:ln>
                  <a:noFill/>
                </a:ln>
                <a:solidFill>
                  <a:srgbClr val="002060"/>
                </a:solidFill>
                <a:effectLst/>
                <a:ea typeface="Times New Roman" panose="02020603050405020304" pitchFamily="18" charset="0"/>
              </a:rPr>
              <a:t>).</a:t>
            </a:r>
            <a:r>
              <a:rPr kumimoji="0" lang="en-GB" altLang="en-US" sz="32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4033000470"/>
      </p:ext>
    </p:extLst>
  </p:cSld>
  <p:clrMapOvr>
    <a:masterClrMapping/>
  </p:clrMapOvr>
  <mc:AlternateContent xmlns:mc="http://schemas.openxmlformats.org/markup-compatibility/2006" xmlns:p14="http://schemas.microsoft.com/office/powerpoint/2010/main">
    <mc:Choice Requires="p14">
      <p:transition spd="slow" p14:dur="2000" advTm="70755"/>
    </mc:Choice>
    <mc:Fallback xmlns="">
      <p:transition spd="slow" advTm="70755"/>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8C5BA621-AAA1-4A71-BDEA-05AD4A74C278}"/>
              </a:ext>
            </a:extLst>
          </p:cNvPr>
          <p:cNvGraphicFramePr>
            <a:graphicFrameLocks noChangeAspect="1"/>
          </p:cNvGraphicFramePr>
          <p:nvPr>
            <p:extLst>
              <p:ext uri="{D42A27DB-BD31-4B8C-83A1-F6EECF244321}">
                <p14:modId xmlns:p14="http://schemas.microsoft.com/office/powerpoint/2010/main" val="1802150079"/>
              </p:ext>
            </p:extLst>
          </p:nvPr>
        </p:nvGraphicFramePr>
        <p:xfrm>
          <a:off x="106325" y="1297160"/>
          <a:ext cx="10802679" cy="1458884"/>
        </p:xfrm>
        <a:graphic>
          <a:graphicData uri="http://schemas.openxmlformats.org/presentationml/2006/ole">
            <mc:AlternateContent xmlns:mc="http://schemas.openxmlformats.org/markup-compatibility/2006">
              <mc:Choice xmlns:v="urn:schemas-microsoft-com:vml" Requires="v">
                <p:oleObj r:id="rId3" imgW="3416300" imgH="533400" progId="Equation.3">
                  <p:embed/>
                </p:oleObj>
              </mc:Choice>
              <mc:Fallback>
                <p:oleObj r:id="rId3" imgW="3416300" imgH="5334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325" y="1297160"/>
                        <a:ext cx="10802679" cy="1458884"/>
                      </a:xfrm>
                      <a:prstGeom prst="rect">
                        <a:avLst/>
                      </a:prstGeom>
                      <a:noFill/>
                    </p:spPr>
                  </p:pic>
                </p:oleObj>
              </mc:Fallback>
            </mc:AlternateContent>
          </a:graphicData>
        </a:graphic>
      </p:graphicFrame>
      <p:graphicFrame>
        <p:nvGraphicFramePr>
          <p:cNvPr id="4" name="Object 3">
            <a:extLst>
              <a:ext uri="{FF2B5EF4-FFF2-40B4-BE49-F238E27FC236}">
                <a16:creationId xmlns:a16="http://schemas.microsoft.com/office/drawing/2014/main" id="{78D0865B-62D2-4949-B92E-0D9E52860A74}"/>
              </a:ext>
            </a:extLst>
          </p:cNvPr>
          <p:cNvGraphicFramePr>
            <a:graphicFrameLocks noChangeAspect="1"/>
          </p:cNvGraphicFramePr>
          <p:nvPr>
            <p:extLst>
              <p:ext uri="{D42A27DB-BD31-4B8C-83A1-F6EECF244321}">
                <p14:modId xmlns:p14="http://schemas.microsoft.com/office/powerpoint/2010/main" val="2434723324"/>
              </p:ext>
            </p:extLst>
          </p:nvPr>
        </p:nvGraphicFramePr>
        <p:xfrm>
          <a:off x="1424761" y="3999619"/>
          <a:ext cx="5847907" cy="1365282"/>
        </p:xfrm>
        <a:graphic>
          <a:graphicData uri="http://schemas.openxmlformats.org/presentationml/2006/ole">
            <mc:AlternateContent xmlns:mc="http://schemas.openxmlformats.org/markup-compatibility/2006">
              <mc:Choice xmlns:v="urn:schemas-microsoft-com:vml" Requires="v">
                <p:oleObj r:id="rId5" imgW="1841500" imgH="482600" progId="Equation.3">
                  <p:embed/>
                </p:oleObj>
              </mc:Choice>
              <mc:Fallback>
                <p:oleObj r:id="rId5" imgW="1841500" imgH="4826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4761" y="3999619"/>
                        <a:ext cx="5847907" cy="1365282"/>
                      </a:xfrm>
                      <a:prstGeom prst="rect">
                        <a:avLst/>
                      </a:prstGeom>
                      <a:noFill/>
                    </p:spPr>
                  </p:pic>
                </p:oleObj>
              </mc:Fallback>
            </mc:AlternateContent>
          </a:graphicData>
        </a:graphic>
      </p:graphicFrame>
      <p:graphicFrame>
        <p:nvGraphicFramePr>
          <p:cNvPr id="5" name="Object 4">
            <a:extLst>
              <a:ext uri="{FF2B5EF4-FFF2-40B4-BE49-F238E27FC236}">
                <a16:creationId xmlns:a16="http://schemas.microsoft.com/office/drawing/2014/main" id="{85D94461-54B4-44D8-AF59-04CB8F590A0F}"/>
              </a:ext>
            </a:extLst>
          </p:cNvPr>
          <p:cNvGraphicFramePr>
            <a:graphicFrameLocks noChangeAspect="1"/>
          </p:cNvGraphicFramePr>
          <p:nvPr>
            <p:extLst>
              <p:ext uri="{D42A27DB-BD31-4B8C-83A1-F6EECF244321}">
                <p14:modId xmlns:p14="http://schemas.microsoft.com/office/powerpoint/2010/main" val="4067687490"/>
              </p:ext>
            </p:extLst>
          </p:nvPr>
        </p:nvGraphicFramePr>
        <p:xfrm>
          <a:off x="92365" y="5202700"/>
          <a:ext cx="9894934" cy="1485900"/>
        </p:xfrm>
        <a:graphic>
          <a:graphicData uri="http://schemas.openxmlformats.org/presentationml/2006/ole">
            <mc:AlternateContent xmlns:mc="http://schemas.openxmlformats.org/markup-compatibility/2006">
              <mc:Choice xmlns:v="urn:schemas-microsoft-com:vml" Requires="v">
                <p:oleObj r:id="rId7" imgW="3543300" imgH="533400" progId="Equation.3">
                  <p:embed/>
                </p:oleObj>
              </mc:Choice>
              <mc:Fallback>
                <p:oleObj r:id="rId7" imgW="3543300" imgH="533400"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2365" y="5202700"/>
                        <a:ext cx="9894934" cy="1485900"/>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1A6BB227-7BC5-4880-A382-432A3EADDF5B}"/>
              </a:ext>
            </a:extLst>
          </p:cNvPr>
          <p:cNvSpPr>
            <a:spLocks noChangeArrowheads="1"/>
          </p:cNvSpPr>
          <p:nvPr/>
        </p:nvSpPr>
        <p:spPr bwMode="auto">
          <a:xfrm>
            <a:off x="184731" y="790132"/>
            <a:ext cx="503535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Thus equation simplifies to</a:t>
            </a:r>
            <a:endParaRPr kumimoji="0" lang="en-GB" altLang="en-US" sz="3200" b="0" i="0" u="none" strike="noStrike" cap="none" normalizeH="0" baseline="0" dirty="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0A300D1D-6948-4E10-9C3C-B5DA4E192952}"/>
              </a:ext>
            </a:extLst>
          </p:cNvPr>
          <p:cNvSpPr>
            <a:spLocks noChangeArrowheads="1"/>
          </p:cNvSpPr>
          <p:nvPr/>
        </p:nvSpPr>
        <p:spPr bwMode="auto">
          <a:xfrm>
            <a:off x="92365" y="2632145"/>
            <a:ext cx="12099635"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Interchanging upper and lower limits of first integral removes negative sign in front of first integral.</a:t>
            </a: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endParaRPr kumimoji="0" lang="en-GB"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endPar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Thus </a:t>
            </a:r>
            <a:endParaRPr kumimoji="0" lang="en-GB" altLang="en-US" sz="3200" b="0" i="0" u="none" strike="noStrike" cap="none" normalizeH="0" baseline="0" dirty="0">
              <a:ln>
                <a:noFill/>
              </a:ln>
              <a:solidFill>
                <a:schemeClr val="tx1"/>
              </a:solidFill>
              <a:effectLst/>
              <a:latin typeface="Arial" panose="020B0604020202020204" pitchFamily="34" charset="0"/>
            </a:endParaRPr>
          </a:p>
        </p:txBody>
      </p:sp>
      <p:sp>
        <p:nvSpPr>
          <p:cNvPr id="8" name="Rectangle 6">
            <a:extLst>
              <a:ext uri="{FF2B5EF4-FFF2-40B4-BE49-F238E27FC236}">
                <a16:creationId xmlns:a16="http://schemas.microsoft.com/office/drawing/2014/main" id="{50038D2D-E3C3-4E05-954D-47B856F99959}"/>
              </a:ext>
            </a:extLst>
          </p:cNvPr>
          <p:cNvSpPr>
            <a:spLocks noChangeArrowheads="1"/>
          </p:cNvSpPr>
          <p:nvPr/>
        </p:nvSpPr>
        <p:spPr bwMode="auto">
          <a:xfrm>
            <a:off x="0" y="4031963"/>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sz="3200"/>
          </a:p>
        </p:txBody>
      </p:sp>
    </p:spTree>
    <p:extLst>
      <p:ext uri="{BB962C8B-B14F-4D97-AF65-F5344CB8AC3E}">
        <p14:creationId xmlns:p14="http://schemas.microsoft.com/office/powerpoint/2010/main" val="2582192069"/>
      </p:ext>
    </p:extLst>
  </p:cSld>
  <p:clrMapOvr>
    <a:masterClrMapping/>
  </p:clrMapOvr>
  <mc:AlternateContent xmlns:mc="http://schemas.openxmlformats.org/markup-compatibility/2006" xmlns:p14="http://schemas.microsoft.com/office/powerpoint/2010/main">
    <mc:Choice Requires="p14">
      <p:transition spd="slow" p14:dur="2000" advTm="29577"/>
    </mc:Choice>
    <mc:Fallback xmlns="">
      <p:transition spd="slow" advTm="29577"/>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ECAF5B72-9EF7-4530-B484-EA3CFCF3D66C}"/>
              </a:ext>
            </a:extLst>
          </p:cNvPr>
          <p:cNvSpPr>
            <a:spLocks noChangeArrowheads="1"/>
          </p:cNvSpPr>
          <p:nvPr/>
        </p:nvSpPr>
        <p:spPr bwMode="auto">
          <a:xfrm>
            <a:off x="152400" y="623138"/>
            <a:ext cx="11883656" cy="3583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404813" marR="0" lvl="0" indent="-404813" algn="l" defTabSz="914400" rtl="0" eaLnBrk="0" fontAlgn="base" latinLnBrk="0" hangingPunct="0">
              <a:lnSpc>
                <a:spcPct val="12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f(</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t>
            </a:r>
            <a:r>
              <a:rPr kumimoji="0" lang="en-GB" altLang="en-US" sz="3200" b="0" i="0" u="none" strike="noStrike" cap="none" normalizeH="0" baseline="0" dirty="0">
                <a:ln>
                  <a:noFill/>
                </a:ln>
                <a:solidFill>
                  <a:srgbClr val="002060"/>
                </a:solidFill>
                <a:effectLst/>
                <a:ea typeface="Times New Roman" panose="02020603050405020304" pitchFamily="18" charset="0"/>
              </a:rPr>
              <a:t>t) = f(t),  and sin(</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t>
            </a:r>
            <a:r>
              <a:rPr kumimoji="0" lang="en-GB" altLang="en-US" sz="3200" b="0" i="0" u="none" strike="noStrike" cap="none" normalizeH="0" baseline="0" dirty="0" err="1">
                <a:ln>
                  <a:noFill/>
                </a:ln>
                <a:solidFill>
                  <a:srgbClr val="002060"/>
                </a:solidFill>
                <a:effectLst/>
                <a:ea typeface="Times New Roman" panose="02020603050405020304" pitchFamily="18" charset="0"/>
              </a:rPr>
              <a:t>n</a:t>
            </a:r>
            <a:r>
              <a:rPr kumimoji="0" lang="en-GB" altLang="en-US" sz="3200" b="0" i="0"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0" u="none" strike="noStrike" cap="none" normalizeH="0" baseline="-30000" dirty="0" err="1">
                <a:ln>
                  <a:noFill/>
                </a:ln>
                <a:solidFill>
                  <a:srgbClr val="002060"/>
                </a:solidFill>
                <a:effectLst/>
                <a:latin typeface="Symbol" panose="05050102010706020507" pitchFamily="18" charset="2"/>
                <a:ea typeface="Times New Roman" panose="02020603050405020304" pitchFamily="18" charset="0"/>
              </a:rPr>
              <a:t>o</a:t>
            </a:r>
            <a:r>
              <a:rPr kumimoji="0" lang="en-GB" altLang="en-US" sz="3200" b="0" i="0" u="none" strike="noStrike" cap="none" normalizeH="0" baseline="0" dirty="0" err="1">
                <a:ln>
                  <a:noFill/>
                </a:ln>
                <a:solidFill>
                  <a:srgbClr val="002060"/>
                </a:solidFill>
                <a:effectLst/>
                <a:ea typeface="Times New Roman" panose="02020603050405020304" pitchFamily="18" charset="0"/>
              </a:rPr>
              <a:t>t</a:t>
            </a:r>
            <a:r>
              <a:rPr kumimoji="0" lang="en-GB" altLang="en-US" sz="3200" b="0" i="0" u="none" strike="noStrike" cap="none" normalizeH="0" baseline="0" dirty="0">
                <a:ln>
                  <a:noFill/>
                </a:ln>
                <a:solidFill>
                  <a:srgbClr val="002060"/>
                </a:solidFill>
                <a:effectLst/>
                <a:ea typeface="Times New Roman" panose="02020603050405020304" pitchFamily="18" charset="0"/>
              </a:rPr>
              <a:t>) = </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t>
            </a:r>
            <a:r>
              <a:rPr kumimoji="0" lang="en-GB" altLang="en-US" sz="3200" b="0" i="0" u="none" strike="noStrike" cap="none" normalizeH="0" baseline="0" dirty="0">
                <a:ln>
                  <a:noFill/>
                </a:ln>
                <a:solidFill>
                  <a:srgbClr val="002060"/>
                </a:solidFill>
                <a:effectLst/>
                <a:ea typeface="Times New Roman" panose="02020603050405020304" pitchFamily="18" charset="0"/>
              </a:rPr>
              <a:t> sin(</a:t>
            </a:r>
            <a:r>
              <a:rPr kumimoji="0" lang="en-GB" altLang="en-US" sz="3200" b="0" i="0" u="none" strike="noStrike" cap="none" normalizeH="0" baseline="0" dirty="0" err="1">
                <a:ln>
                  <a:noFill/>
                </a:ln>
                <a:solidFill>
                  <a:srgbClr val="002060"/>
                </a:solidFill>
                <a:effectLst/>
                <a:ea typeface="Times New Roman" panose="02020603050405020304" pitchFamily="18" charset="0"/>
              </a:rPr>
              <a:t>n</a:t>
            </a:r>
            <a:r>
              <a:rPr kumimoji="0" lang="en-GB" altLang="en-US" sz="3200" b="0" i="0"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0" u="none" strike="noStrike" cap="none" normalizeH="0" baseline="-30000" dirty="0" err="1">
                <a:ln>
                  <a:noFill/>
                </a:ln>
                <a:solidFill>
                  <a:srgbClr val="002060"/>
                </a:solidFill>
                <a:effectLst/>
                <a:latin typeface="Symbol" panose="05050102010706020507" pitchFamily="18" charset="2"/>
                <a:ea typeface="Times New Roman" panose="02020603050405020304" pitchFamily="18" charset="0"/>
              </a:rPr>
              <a:t>o</a:t>
            </a:r>
            <a:r>
              <a:rPr kumimoji="0" lang="en-GB" altLang="en-US" sz="3200" b="0" i="0" u="none" strike="noStrike" cap="none" normalizeH="0" baseline="0" dirty="0" err="1">
                <a:ln>
                  <a:noFill/>
                </a:ln>
                <a:solidFill>
                  <a:srgbClr val="002060"/>
                </a:solidFill>
                <a:effectLst/>
                <a:ea typeface="Times New Roman" panose="02020603050405020304" pitchFamily="18" charset="0"/>
              </a:rPr>
              <a:t>t</a:t>
            </a:r>
            <a:r>
              <a:rPr kumimoji="0" lang="en-GB" altLang="en-US" sz="3200" b="0" i="0" u="none" strike="noStrike" cap="none" normalizeH="0" baseline="0" dirty="0">
                <a:ln>
                  <a:noFill/>
                </a:ln>
                <a:solidFill>
                  <a:srgbClr val="002060"/>
                </a:solidFill>
                <a:effectLst/>
                <a:ea typeface="Times New Roman" panose="02020603050405020304" pitchFamily="18" charset="0"/>
              </a:rPr>
              <a:t>).</a:t>
            </a:r>
            <a:endParaRPr kumimoji="0" lang="en-GB" altLang="en-US" sz="3200" b="0" i="0" u="none" strike="noStrike" cap="none" normalizeH="0" baseline="0" dirty="0">
              <a:ln>
                <a:noFill/>
              </a:ln>
              <a:solidFill>
                <a:schemeClr val="tx1"/>
              </a:solidFill>
              <a:effectLst/>
            </a:endParaRPr>
          </a:p>
          <a:p>
            <a:pPr marL="404813" marR="0" lvl="0" indent="-404813" algn="l" defTabSz="914400" rtl="0" eaLnBrk="0" fontAlgn="base" latinLnBrk="0" hangingPunct="0">
              <a:lnSpc>
                <a:spcPct val="12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The two integrals are equal in magnitude but have opposite signs so that they cancel out on addition.  </a:t>
            </a:r>
            <a:endParaRPr kumimoji="0" lang="en-GB" altLang="en-US" sz="3200" b="0" i="0" u="none" strike="noStrike" cap="none" normalizeH="0" baseline="0" dirty="0">
              <a:ln>
                <a:noFill/>
              </a:ln>
              <a:solidFill>
                <a:schemeClr val="tx1"/>
              </a:solidFill>
              <a:effectLst/>
            </a:endParaRPr>
          </a:p>
          <a:p>
            <a:pPr marL="404813" marR="0" lvl="0" indent="-404813" algn="l" defTabSz="914400" rtl="0" eaLnBrk="0" fontAlgn="base" latinLnBrk="0" hangingPunct="0">
              <a:lnSpc>
                <a:spcPct val="12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For waveforms with</a:t>
            </a:r>
            <a:r>
              <a:rPr kumimoji="0" lang="en-GB" altLang="en-US" sz="3200" b="1" i="0" u="none" strike="noStrike" cap="none" normalizeH="0" baseline="0" dirty="0">
                <a:ln>
                  <a:noFill/>
                </a:ln>
                <a:solidFill>
                  <a:srgbClr val="002060"/>
                </a:solidFill>
                <a:effectLst/>
                <a:ea typeface="Times New Roman" panose="02020603050405020304" pitchFamily="18" charset="0"/>
              </a:rPr>
              <a:t> even symmetry, B</a:t>
            </a:r>
            <a:r>
              <a:rPr kumimoji="0" lang="en-GB" altLang="en-US" sz="3200" b="1" i="0" u="none" strike="noStrike" cap="none" normalizeH="0" baseline="-30000" dirty="0">
                <a:ln>
                  <a:noFill/>
                </a:ln>
                <a:solidFill>
                  <a:srgbClr val="002060"/>
                </a:solidFill>
                <a:effectLst/>
                <a:ea typeface="Times New Roman" panose="02020603050405020304" pitchFamily="18" charset="0"/>
              </a:rPr>
              <a:t>n</a:t>
            </a:r>
            <a:r>
              <a:rPr kumimoji="0" lang="en-GB" altLang="en-US" sz="3200" b="1" i="0" u="none" strike="noStrike" cap="none" normalizeH="0" baseline="0" dirty="0">
                <a:ln>
                  <a:noFill/>
                </a:ln>
                <a:solidFill>
                  <a:srgbClr val="002060"/>
                </a:solidFill>
                <a:effectLst/>
                <a:ea typeface="Times New Roman" panose="02020603050405020304" pitchFamily="18" charset="0"/>
              </a:rPr>
              <a:t> = 0</a:t>
            </a:r>
            <a:r>
              <a:rPr kumimoji="0" lang="en-GB" altLang="en-US" sz="3200" b="0" i="0" u="none" strike="noStrike" cap="none" normalizeH="0" baseline="0" dirty="0">
                <a:ln>
                  <a:noFill/>
                </a:ln>
                <a:solidFill>
                  <a:srgbClr val="002060"/>
                </a:solidFill>
                <a:effectLst/>
                <a:ea typeface="Times New Roman" panose="02020603050405020304" pitchFamily="18" charset="0"/>
              </a:rPr>
              <a:t>  for all </a:t>
            </a:r>
            <a:r>
              <a:rPr kumimoji="0" lang="en-GB" altLang="en-US" sz="3200" b="1" i="0" u="none" strike="noStrike" cap="none" normalizeH="0" baseline="0" dirty="0">
                <a:ln>
                  <a:noFill/>
                </a:ln>
                <a:solidFill>
                  <a:srgbClr val="002060"/>
                </a:solidFill>
                <a:effectLst/>
                <a:ea typeface="Times New Roman" panose="02020603050405020304" pitchFamily="18" charset="0"/>
              </a:rPr>
              <a:t> </a:t>
            </a:r>
            <a:r>
              <a:rPr kumimoji="0" lang="en-GB" altLang="en-US" sz="3200" b="0" i="0" u="none" strike="noStrike" cap="none" normalizeH="0" baseline="0" dirty="0">
                <a:ln>
                  <a:noFill/>
                </a:ln>
                <a:solidFill>
                  <a:srgbClr val="002060"/>
                </a:solidFill>
                <a:effectLst/>
                <a:ea typeface="Times New Roman" panose="02020603050405020304" pitchFamily="18" charset="0"/>
              </a:rPr>
              <a:t>n</a:t>
            </a:r>
            <a:endParaRPr kumimoji="0" lang="en-GB" altLang="en-US" sz="3200" b="0" i="0" u="none" strike="noStrike" cap="none" normalizeH="0" baseline="0" dirty="0">
              <a:ln>
                <a:noFill/>
              </a:ln>
              <a:solidFill>
                <a:schemeClr val="tx1"/>
              </a:solidFill>
              <a:effectLst/>
            </a:endParaRPr>
          </a:p>
          <a:p>
            <a:pPr marL="404813" marR="0" lvl="0" indent="-404813" algn="l" defTabSz="914400" rtl="0" eaLnBrk="0" fontAlgn="base" latinLnBrk="0" hangingPunct="0">
              <a:lnSpc>
                <a:spcPct val="120000"/>
              </a:lnSpc>
              <a:spcBef>
                <a:spcPct val="0"/>
              </a:spcBef>
              <a:spcAft>
                <a:spcPct val="0"/>
              </a:spcAft>
              <a:buClrTx/>
              <a:buSzTx/>
              <a:buFontTx/>
              <a:buNone/>
              <a:tabLst>
                <a:tab pos="381000" algn="l"/>
                <a:tab pos="3276600" algn="l"/>
              </a:tabLst>
            </a:pPr>
            <a:r>
              <a:rPr kumimoji="0" lang="en-GB" altLang="en-US" sz="3200" b="1" i="0" u="none" strike="noStrike" cap="none" normalizeH="0" baseline="0" dirty="0">
                <a:ln>
                  <a:noFill/>
                </a:ln>
                <a:solidFill>
                  <a:srgbClr val="002060"/>
                </a:solidFill>
                <a:effectLst/>
                <a:ea typeface="Times New Roman" panose="02020603050405020304" pitchFamily="18" charset="0"/>
              </a:rPr>
              <a:t>A</a:t>
            </a:r>
            <a:r>
              <a:rPr kumimoji="0" lang="en-GB" altLang="en-US" sz="3200" b="1" i="0" u="none" strike="noStrike" cap="none" normalizeH="0" baseline="-30000" dirty="0">
                <a:ln>
                  <a:noFill/>
                </a:ln>
                <a:solidFill>
                  <a:srgbClr val="002060"/>
                </a:solidFill>
                <a:effectLst/>
                <a:ea typeface="Times New Roman" panose="02020603050405020304" pitchFamily="18" charset="0"/>
              </a:rPr>
              <a:t>n</a:t>
            </a:r>
            <a:r>
              <a:rPr kumimoji="0" lang="en-GB" altLang="en-US" sz="3200" b="0" i="0" u="none" strike="noStrike" cap="none" normalizeH="0" baseline="0" dirty="0">
                <a:ln>
                  <a:noFill/>
                </a:ln>
                <a:solidFill>
                  <a:srgbClr val="002060"/>
                </a:solidFill>
                <a:effectLst/>
                <a:ea typeface="Times New Roman" panose="02020603050405020304" pitchFamily="18" charset="0"/>
              </a:rPr>
              <a:t> is calculated as twice integral over half cycle from zero.</a:t>
            </a:r>
            <a:endParaRPr kumimoji="0" lang="en-GB" altLang="en-US" sz="3200" b="0" i="0" u="none" strike="noStrike" cap="none" normalizeH="0" baseline="0" dirty="0">
              <a:ln>
                <a:noFill/>
              </a:ln>
              <a:solidFill>
                <a:schemeClr val="tx1"/>
              </a:solidFill>
              <a:effectLst/>
            </a:endParaRPr>
          </a:p>
          <a:p>
            <a:pPr marL="404813" marR="0" lvl="0" indent="-404813" algn="l" defTabSz="914400" rtl="0" eaLnBrk="0" fontAlgn="base" latinLnBrk="0" hangingPunct="0">
              <a:lnSpc>
                <a:spcPct val="12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Can only have </a:t>
            </a:r>
            <a:r>
              <a:rPr kumimoji="0" lang="en-GB" altLang="en-US" sz="3200" b="1" i="1" u="none" strike="noStrike" cap="none" normalizeH="0" baseline="0" dirty="0">
                <a:ln>
                  <a:noFill/>
                </a:ln>
                <a:solidFill>
                  <a:srgbClr val="002060"/>
                </a:solidFill>
                <a:effectLst/>
                <a:ea typeface="Times New Roman" panose="02020603050405020304" pitchFamily="18" charset="0"/>
              </a:rPr>
              <a:t>cosine</a:t>
            </a:r>
            <a:r>
              <a:rPr kumimoji="0" lang="en-GB" altLang="en-US" sz="3200" b="0" i="0" u="none" strike="noStrike" cap="none" normalizeH="0" baseline="0" dirty="0">
                <a:ln>
                  <a:noFill/>
                </a:ln>
                <a:solidFill>
                  <a:srgbClr val="002060"/>
                </a:solidFill>
                <a:effectLst/>
                <a:ea typeface="Times New Roman" panose="02020603050405020304" pitchFamily="18" charset="0"/>
              </a:rPr>
              <a:t> terms and a direct term. </a:t>
            </a:r>
            <a:endParaRPr kumimoji="0" lang="en-GB" altLang="en-US" sz="3200" b="0" i="0" u="none" strike="noStrike" cap="none" normalizeH="0" baseline="0" dirty="0">
              <a:ln>
                <a:noFill/>
              </a:ln>
              <a:solidFill>
                <a:schemeClr val="tx1"/>
              </a:solidFill>
              <a:effectLst/>
            </a:endParaRPr>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B343FEC1-03F3-48F6-8066-ABAC4C44EDD6}"/>
              </a:ext>
            </a:extLst>
          </p:cNvPr>
          <p:cNvGraphicFramePr>
            <a:graphicFrameLocks noChangeAspect="1"/>
          </p:cNvGraphicFramePr>
          <p:nvPr>
            <p:extLst>
              <p:ext uri="{D42A27DB-BD31-4B8C-83A1-F6EECF244321}">
                <p14:modId xmlns:p14="http://schemas.microsoft.com/office/powerpoint/2010/main" val="580266158"/>
              </p:ext>
            </p:extLst>
          </p:nvPr>
        </p:nvGraphicFramePr>
        <p:xfrm>
          <a:off x="1977656" y="5314950"/>
          <a:ext cx="5270204" cy="1390650"/>
        </p:xfrm>
        <a:graphic>
          <a:graphicData uri="http://schemas.openxmlformats.org/presentationml/2006/ole">
            <mc:AlternateContent xmlns:mc="http://schemas.openxmlformats.org/markup-compatibility/2006">
              <mc:Choice xmlns:v="urn:schemas-microsoft-com:vml" Requires="v">
                <p:oleObj r:id="rId3" imgW="1675673" imgH="393529" progId="Equation.3">
                  <p:embed/>
                </p:oleObj>
              </mc:Choice>
              <mc:Fallback>
                <p:oleObj r:id="rId3" imgW="1675673" imgH="39352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7656" y="5314950"/>
                        <a:ext cx="5270204" cy="1390650"/>
                      </a:xfrm>
                      <a:prstGeom prst="rect">
                        <a:avLst/>
                      </a:prstGeom>
                      <a:noFill/>
                    </p:spPr>
                  </p:pic>
                </p:oleObj>
              </mc:Fallback>
            </mc:AlternateContent>
          </a:graphicData>
        </a:graphic>
      </p:graphicFrame>
      <p:graphicFrame>
        <p:nvGraphicFramePr>
          <p:cNvPr id="4" name="Object 3">
            <a:extLst>
              <a:ext uri="{FF2B5EF4-FFF2-40B4-BE49-F238E27FC236}">
                <a16:creationId xmlns:a16="http://schemas.microsoft.com/office/drawing/2014/main" id="{F7EC9689-8F8E-4892-816F-4E231B23F552}"/>
              </a:ext>
            </a:extLst>
          </p:cNvPr>
          <p:cNvGraphicFramePr>
            <a:graphicFrameLocks noChangeAspect="1"/>
          </p:cNvGraphicFramePr>
          <p:nvPr>
            <p:extLst>
              <p:ext uri="{D42A27DB-BD31-4B8C-83A1-F6EECF244321}">
                <p14:modId xmlns:p14="http://schemas.microsoft.com/office/powerpoint/2010/main" val="2968817515"/>
              </p:ext>
            </p:extLst>
          </p:nvPr>
        </p:nvGraphicFramePr>
        <p:xfrm>
          <a:off x="322521" y="4020908"/>
          <a:ext cx="4819612" cy="1524000"/>
        </p:xfrm>
        <a:graphic>
          <a:graphicData uri="http://schemas.openxmlformats.org/presentationml/2006/ole">
            <mc:AlternateContent xmlns:mc="http://schemas.openxmlformats.org/markup-compatibility/2006">
              <mc:Choice xmlns:v="urn:schemas-microsoft-com:vml" Requires="v">
                <p:oleObj r:id="rId5" imgW="1663700" imgH="482600" progId="Equation.3">
                  <p:embed/>
                </p:oleObj>
              </mc:Choice>
              <mc:Fallback>
                <p:oleObj r:id="rId5" imgW="1663700" imgH="4826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2521" y="4020908"/>
                        <a:ext cx="4819612" cy="1524000"/>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67612D9E-09F6-4F2F-92B6-E58DD0BE9523}"/>
              </a:ext>
            </a:extLst>
          </p:cNvPr>
          <p:cNvSpPr>
            <a:spLocks noChangeArrowheads="1"/>
          </p:cNvSpPr>
          <p:nvPr/>
        </p:nvSpPr>
        <p:spPr bwMode="auto">
          <a:xfrm>
            <a:off x="322521" y="5720092"/>
            <a:ext cx="165513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where</a:t>
            </a:r>
            <a:endParaRPr kumimoji="0" lang="en-GB"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66299352"/>
      </p:ext>
    </p:extLst>
  </p:cSld>
  <p:clrMapOvr>
    <a:masterClrMapping/>
  </p:clrMapOvr>
  <mc:AlternateContent xmlns:mc="http://schemas.openxmlformats.org/markup-compatibility/2006" xmlns:p14="http://schemas.microsoft.com/office/powerpoint/2010/main">
    <mc:Choice Requires="p14">
      <p:transition spd="slow" p14:dur="2000" advTm="34720"/>
    </mc:Choice>
    <mc:Fallback xmlns="">
      <p:transition spd="slow" advTm="3472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a:bodyPr>
          <a:lstStyle/>
          <a:p>
            <a:r>
              <a:rPr lang="en-GB" dirty="0"/>
              <a:t>Odd Symmetry</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pSp>
        <p:nvGrpSpPr>
          <p:cNvPr id="4" name="Group 3">
            <a:extLst>
              <a:ext uri="{FF2B5EF4-FFF2-40B4-BE49-F238E27FC236}">
                <a16:creationId xmlns:a16="http://schemas.microsoft.com/office/drawing/2014/main" id="{0D223DDB-348D-4AD4-B86E-075AA6A23E9F}"/>
              </a:ext>
            </a:extLst>
          </p:cNvPr>
          <p:cNvGrpSpPr>
            <a:grpSpLocks/>
          </p:cNvGrpSpPr>
          <p:nvPr/>
        </p:nvGrpSpPr>
        <p:grpSpPr bwMode="auto">
          <a:xfrm>
            <a:off x="230097" y="1294866"/>
            <a:ext cx="11323320" cy="3527108"/>
            <a:chOff x="314" y="1905"/>
            <a:chExt cx="15805" cy="6585"/>
          </a:xfrm>
        </p:grpSpPr>
        <p:cxnSp>
          <p:nvCxnSpPr>
            <p:cNvPr id="5" name="Line 961">
              <a:extLst>
                <a:ext uri="{FF2B5EF4-FFF2-40B4-BE49-F238E27FC236}">
                  <a16:creationId xmlns:a16="http://schemas.microsoft.com/office/drawing/2014/main" id="{A7D1AE3A-5628-4DE6-8669-E401F710B6A3}"/>
                </a:ext>
              </a:extLst>
            </p:cNvPr>
            <p:cNvCxnSpPr>
              <a:cxnSpLocks noChangeShapeType="1"/>
            </p:cNvCxnSpPr>
            <p:nvPr/>
          </p:nvCxnSpPr>
          <p:spPr bwMode="auto">
            <a:xfrm>
              <a:off x="314" y="4984"/>
              <a:ext cx="15805" cy="0"/>
            </a:xfrm>
            <a:prstGeom prst="line">
              <a:avLst/>
            </a:prstGeom>
            <a:noFill/>
            <a:ln w="31750">
              <a:solidFill>
                <a:srgbClr val="002060"/>
              </a:solidFill>
              <a:round/>
              <a:headEnd/>
              <a:tailEnd type="arrow" w="med" len="med"/>
            </a:ln>
            <a:extLst>
              <a:ext uri="{909E8E84-426E-40DD-AFC4-6F175D3DCCD1}">
                <a14:hiddenFill xmlns:a14="http://schemas.microsoft.com/office/drawing/2010/main">
                  <a:noFill/>
                </a14:hiddenFill>
              </a:ext>
            </a:extLst>
          </p:spPr>
        </p:cxnSp>
        <p:sp>
          <p:nvSpPr>
            <p:cNvPr id="6" name="Text Box 954">
              <a:extLst>
                <a:ext uri="{FF2B5EF4-FFF2-40B4-BE49-F238E27FC236}">
                  <a16:creationId xmlns:a16="http://schemas.microsoft.com/office/drawing/2014/main" id="{8985353F-CD80-4BD2-A30C-92476D71FC1F}"/>
                </a:ext>
              </a:extLst>
            </p:cNvPr>
            <p:cNvSpPr txBox="1">
              <a:spLocks noChangeArrowheads="1"/>
            </p:cNvSpPr>
            <p:nvPr/>
          </p:nvSpPr>
          <p:spPr bwMode="auto">
            <a:xfrm>
              <a:off x="3261" y="7536"/>
              <a:ext cx="10189" cy="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3600" dirty="0">
                  <a:solidFill>
                    <a:srgbClr val="002060"/>
                  </a:solidFill>
                  <a:effectLst/>
                  <a:latin typeface="Times New Roman" panose="02020603050405020304" pitchFamily="18" charset="0"/>
                  <a:ea typeface="Times New Roman" panose="02020603050405020304" pitchFamily="18" charset="0"/>
                </a:rPr>
                <a:t>Figure 7 – Analysis of odd waveform</a:t>
              </a:r>
              <a:endParaRPr lang="en-GB" sz="1200" dirty="0">
                <a:effectLst/>
                <a:latin typeface="Times New Roman" panose="02020603050405020304" pitchFamily="18" charset="0"/>
                <a:ea typeface="Times New Roman" panose="02020603050405020304" pitchFamily="18" charset="0"/>
              </a:endParaRPr>
            </a:p>
          </p:txBody>
        </p:sp>
        <p:sp>
          <p:nvSpPr>
            <p:cNvPr id="7" name="Freeform 960">
              <a:extLst>
                <a:ext uri="{FF2B5EF4-FFF2-40B4-BE49-F238E27FC236}">
                  <a16:creationId xmlns:a16="http://schemas.microsoft.com/office/drawing/2014/main" id="{6C259D1E-862C-47AB-9F44-2FF72520C1C4}"/>
                </a:ext>
              </a:extLst>
            </p:cNvPr>
            <p:cNvSpPr>
              <a:spLocks/>
            </p:cNvSpPr>
            <p:nvPr/>
          </p:nvSpPr>
          <p:spPr bwMode="auto">
            <a:xfrm flipH="1" flipV="1">
              <a:off x="966" y="3123"/>
              <a:ext cx="2373" cy="366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3175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8" name="Freeform 955">
              <a:extLst>
                <a:ext uri="{FF2B5EF4-FFF2-40B4-BE49-F238E27FC236}">
                  <a16:creationId xmlns:a16="http://schemas.microsoft.com/office/drawing/2014/main" id="{7ACE2CC6-92B4-496F-9001-A49B6CE0334E}"/>
                </a:ext>
              </a:extLst>
            </p:cNvPr>
            <p:cNvSpPr>
              <a:spLocks/>
            </p:cNvSpPr>
            <p:nvPr/>
          </p:nvSpPr>
          <p:spPr bwMode="auto">
            <a:xfrm>
              <a:off x="12948" y="3023"/>
              <a:ext cx="2369" cy="366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3175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9" name="Freeform 956">
              <a:extLst>
                <a:ext uri="{FF2B5EF4-FFF2-40B4-BE49-F238E27FC236}">
                  <a16:creationId xmlns:a16="http://schemas.microsoft.com/office/drawing/2014/main" id="{7E30D2C0-5B2A-45C7-8859-780D29C50113}"/>
                </a:ext>
              </a:extLst>
            </p:cNvPr>
            <p:cNvSpPr>
              <a:spLocks/>
            </p:cNvSpPr>
            <p:nvPr/>
          </p:nvSpPr>
          <p:spPr bwMode="auto">
            <a:xfrm flipH="1" flipV="1">
              <a:off x="10499" y="3074"/>
              <a:ext cx="2373" cy="366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3175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0" name="Freeform 957">
              <a:extLst>
                <a:ext uri="{FF2B5EF4-FFF2-40B4-BE49-F238E27FC236}">
                  <a16:creationId xmlns:a16="http://schemas.microsoft.com/office/drawing/2014/main" id="{B05E7158-F6A1-4AFB-9F5A-B59C1A127BE8}"/>
                </a:ext>
              </a:extLst>
            </p:cNvPr>
            <p:cNvSpPr>
              <a:spLocks/>
            </p:cNvSpPr>
            <p:nvPr/>
          </p:nvSpPr>
          <p:spPr bwMode="auto">
            <a:xfrm>
              <a:off x="8153" y="3023"/>
              <a:ext cx="2370" cy="366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3175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1" name="Freeform 958">
              <a:extLst>
                <a:ext uri="{FF2B5EF4-FFF2-40B4-BE49-F238E27FC236}">
                  <a16:creationId xmlns:a16="http://schemas.microsoft.com/office/drawing/2014/main" id="{E8AA0581-E5E3-4AA2-8BB0-F5753F184408}"/>
                </a:ext>
              </a:extLst>
            </p:cNvPr>
            <p:cNvSpPr>
              <a:spLocks/>
            </p:cNvSpPr>
            <p:nvPr/>
          </p:nvSpPr>
          <p:spPr bwMode="auto">
            <a:xfrm flipH="1" flipV="1">
              <a:off x="5713" y="3074"/>
              <a:ext cx="2373" cy="366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3175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2" name="Freeform 959">
              <a:extLst>
                <a:ext uri="{FF2B5EF4-FFF2-40B4-BE49-F238E27FC236}">
                  <a16:creationId xmlns:a16="http://schemas.microsoft.com/office/drawing/2014/main" id="{025B2D2D-FA69-41D7-B6DA-5A8E8BE69153}"/>
                </a:ext>
              </a:extLst>
            </p:cNvPr>
            <p:cNvSpPr>
              <a:spLocks/>
            </p:cNvSpPr>
            <p:nvPr/>
          </p:nvSpPr>
          <p:spPr bwMode="auto">
            <a:xfrm>
              <a:off x="3394" y="3072"/>
              <a:ext cx="2370" cy="366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3175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13" name="Line 962">
              <a:extLst>
                <a:ext uri="{FF2B5EF4-FFF2-40B4-BE49-F238E27FC236}">
                  <a16:creationId xmlns:a16="http://schemas.microsoft.com/office/drawing/2014/main" id="{9F454C5B-CD53-4A88-912D-BA76F4D00CCB}"/>
                </a:ext>
              </a:extLst>
            </p:cNvPr>
            <p:cNvCxnSpPr>
              <a:cxnSpLocks noChangeShapeType="1"/>
            </p:cNvCxnSpPr>
            <p:nvPr/>
          </p:nvCxnSpPr>
          <p:spPr bwMode="auto">
            <a:xfrm flipV="1">
              <a:off x="8099" y="1905"/>
              <a:ext cx="0" cy="5048"/>
            </a:xfrm>
            <a:prstGeom prst="line">
              <a:avLst/>
            </a:prstGeom>
            <a:noFill/>
            <a:ln w="31750">
              <a:solidFill>
                <a:srgbClr val="002060"/>
              </a:solidFill>
              <a:round/>
              <a:headEnd/>
              <a:tailEnd type="arrow" w="med" len="med"/>
            </a:ln>
            <a:extLst>
              <a:ext uri="{909E8E84-426E-40DD-AFC4-6F175D3DCCD1}">
                <a14:hiddenFill xmlns:a14="http://schemas.microsoft.com/office/drawing/2010/main">
                  <a:noFill/>
                </a14:hiddenFill>
              </a:ext>
            </a:extLst>
          </p:spPr>
        </p:cxnSp>
        <p:sp>
          <p:nvSpPr>
            <p:cNvPr id="14" name="Text Box 963">
              <a:extLst>
                <a:ext uri="{FF2B5EF4-FFF2-40B4-BE49-F238E27FC236}">
                  <a16:creationId xmlns:a16="http://schemas.microsoft.com/office/drawing/2014/main" id="{B17DAF68-EE3E-4362-A776-93297EF61867}"/>
                </a:ext>
              </a:extLst>
            </p:cNvPr>
            <p:cNvSpPr txBox="1">
              <a:spLocks noChangeArrowheads="1"/>
            </p:cNvSpPr>
            <p:nvPr/>
          </p:nvSpPr>
          <p:spPr bwMode="auto">
            <a:xfrm>
              <a:off x="6868" y="1929"/>
              <a:ext cx="1155" cy="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3600">
                  <a:solidFill>
                    <a:srgbClr val="002060"/>
                  </a:solidFill>
                  <a:effectLst/>
                  <a:latin typeface="Times New Roman" panose="02020603050405020304" pitchFamily="18" charset="0"/>
                  <a:ea typeface="Times New Roman" panose="02020603050405020304" pitchFamily="18" charset="0"/>
                </a:rPr>
                <a:t>f(t)</a:t>
              </a:r>
              <a:endParaRPr lang="en-GB" sz="1200">
                <a:effectLst/>
                <a:latin typeface="Times New Roman" panose="02020603050405020304" pitchFamily="18" charset="0"/>
                <a:ea typeface="Times New Roman" panose="02020603050405020304" pitchFamily="18" charset="0"/>
              </a:endParaRPr>
            </a:p>
          </p:txBody>
        </p:sp>
        <p:sp>
          <p:nvSpPr>
            <p:cNvPr id="15" name="Text Box 964">
              <a:extLst>
                <a:ext uri="{FF2B5EF4-FFF2-40B4-BE49-F238E27FC236}">
                  <a16:creationId xmlns:a16="http://schemas.microsoft.com/office/drawing/2014/main" id="{65C31906-A325-4DC8-99CD-9EDC32F19A01}"/>
                </a:ext>
              </a:extLst>
            </p:cNvPr>
            <p:cNvSpPr txBox="1">
              <a:spLocks noChangeArrowheads="1"/>
            </p:cNvSpPr>
            <p:nvPr/>
          </p:nvSpPr>
          <p:spPr bwMode="auto">
            <a:xfrm>
              <a:off x="14242" y="4066"/>
              <a:ext cx="1625" cy="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3600">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16" name="Text Box 965">
              <a:extLst>
                <a:ext uri="{FF2B5EF4-FFF2-40B4-BE49-F238E27FC236}">
                  <a16:creationId xmlns:a16="http://schemas.microsoft.com/office/drawing/2014/main" id="{015458DA-E1AA-4A26-9C95-A19F2F83430F}"/>
                </a:ext>
              </a:extLst>
            </p:cNvPr>
            <p:cNvSpPr txBox="1">
              <a:spLocks noChangeArrowheads="1"/>
            </p:cNvSpPr>
            <p:nvPr/>
          </p:nvSpPr>
          <p:spPr bwMode="auto">
            <a:xfrm>
              <a:off x="7651" y="6953"/>
              <a:ext cx="903" cy="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36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cxnSp>
          <p:nvCxnSpPr>
            <p:cNvPr id="17" name="Line 966">
              <a:extLst>
                <a:ext uri="{FF2B5EF4-FFF2-40B4-BE49-F238E27FC236}">
                  <a16:creationId xmlns:a16="http://schemas.microsoft.com/office/drawing/2014/main" id="{A936E0DA-EB0D-4A24-AF7D-3D7391227417}"/>
                </a:ext>
              </a:extLst>
            </p:cNvPr>
            <p:cNvCxnSpPr>
              <a:cxnSpLocks noChangeShapeType="1"/>
            </p:cNvCxnSpPr>
            <p:nvPr/>
          </p:nvCxnSpPr>
          <p:spPr bwMode="auto">
            <a:xfrm>
              <a:off x="5662" y="6896"/>
              <a:ext cx="4874" cy="3"/>
            </a:xfrm>
            <a:prstGeom prst="line">
              <a:avLst/>
            </a:prstGeom>
            <a:noFill/>
            <a:ln w="31750">
              <a:solidFill>
                <a:srgbClr val="002060"/>
              </a:solidFill>
              <a:round/>
              <a:headEnd type="arrow" w="med" len="med"/>
              <a:tailEnd type="arrow" w="med" len="med"/>
            </a:ln>
            <a:extLst>
              <a:ext uri="{909E8E84-426E-40DD-AFC4-6F175D3DCCD1}">
                <a14:hiddenFill xmlns:a14="http://schemas.microsoft.com/office/drawing/2010/main">
                  <a:noFill/>
                </a14:hiddenFill>
              </a:ext>
            </a:extLst>
          </p:spPr>
        </p:cxnSp>
        <p:sp>
          <p:nvSpPr>
            <p:cNvPr id="18" name="Text Box 967">
              <a:extLst>
                <a:ext uri="{FF2B5EF4-FFF2-40B4-BE49-F238E27FC236}">
                  <a16:creationId xmlns:a16="http://schemas.microsoft.com/office/drawing/2014/main" id="{242CEDC2-218C-4F97-A122-381D559AFCC1}"/>
                </a:ext>
              </a:extLst>
            </p:cNvPr>
            <p:cNvSpPr txBox="1">
              <a:spLocks noChangeArrowheads="1"/>
            </p:cNvSpPr>
            <p:nvPr/>
          </p:nvSpPr>
          <p:spPr bwMode="auto">
            <a:xfrm>
              <a:off x="9368" y="4066"/>
              <a:ext cx="2437" cy="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3600">
                  <a:solidFill>
                    <a:srgbClr val="002060"/>
                  </a:solidFill>
                  <a:effectLst/>
                  <a:latin typeface="Times New Roman" panose="02020603050405020304" pitchFamily="18" charset="0"/>
                  <a:ea typeface="Times New Roman" panose="02020603050405020304" pitchFamily="18" charset="0"/>
                </a:rPr>
                <a:t>   T/2</a:t>
              </a:r>
              <a:endParaRPr lang="en-GB" sz="1200">
                <a:effectLst/>
                <a:latin typeface="Times New Roman" panose="02020603050405020304" pitchFamily="18" charset="0"/>
                <a:ea typeface="Times New Roman" panose="02020603050405020304" pitchFamily="18" charset="0"/>
              </a:endParaRPr>
            </a:p>
          </p:txBody>
        </p:sp>
        <p:sp>
          <p:nvSpPr>
            <p:cNvPr id="19" name="Text Box 968">
              <a:extLst>
                <a:ext uri="{FF2B5EF4-FFF2-40B4-BE49-F238E27FC236}">
                  <a16:creationId xmlns:a16="http://schemas.microsoft.com/office/drawing/2014/main" id="{0D456BC8-043F-4547-8778-5B3935BBDBC4}"/>
                </a:ext>
              </a:extLst>
            </p:cNvPr>
            <p:cNvSpPr txBox="1">
              <a:spLocks noChangeArrowheads="1"/>
            </p:cNvSpPr>
            <p:nvPr/>
          </p:nvSpPr>
          <p:spPr bwMode="auto">
            <a:xfrm>
              <a:off x="4494" y="4066"/>
              <a:ext cx="2437" cy="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3600">
                  <a:solidFill>
                    <a:srgbClr val="002060"/>
                  </a:solidFill>
                  <a:effectLst/>
                  <a:latin typeface="Times New Roman" panose="02020603050405020304" pitchFamily="18" charset="0"/>
                  <a:ea typeface="Times New Roman" panose="02020603050405020304" pitchFamily="18" charset="0"/>
                </a:rPr>
                <a:t>  </a:t>
              </a:r>
              <a:r>
                <a:rPr lang="en-GB" sz="3600">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lang="en-GB" sz="3600">
                  <a:solidFill>
                    <a:srgbClr val="002060"/>
                  </a:solidFill>
                  <a:effectLst/>
                  <a:latin typeface="Times New Roman" panose="02020603050405020304" pitchFamily="18" charset="0"/>
                  <a:ea typeface="Times New Roman" panose="02020603050405020304" pitchFamily="18" charset="0"/>
                </a:rPr>
                <a:t>T/2</a:t>
              </a:r>
              <a:endParaRPr lang="en-GB" sz="1200">
                <a:effectLst/>
                <a:latin typeface="Times New Roman" panose="02020603050405020304" pitchFamily="18" charset="0"/>
                <a:ea typeface="Times New Roman" panose="02020603050405020304" pitchFamily="18" charset="0"/>
              </a:endParaRPr>
            </a:p>
          </p:txBody>
        </p:sp>
        <p:cxnSp>
          <p:nvCxnSpPr>
            <p:cNvPr id="20" name="Line 969">
              <a:extLst>
                <a:ext uri="{FF2B5EF4-FFF2-40B4-BE49-F238E27FC236}">
                  <a16:creationId xmlns:a16="http://schemas.microsoft.com/office/drawing/2014/main" id="{6BD83F5C-5D48-46C5-BF94-D3BFC5E909A7}"/>
                </a:ext>
              </a:extLst>
            </p:cNvPr>
            <p:cNvCxnSpPr>
              <a:cxnSpLocks noChangeShapeType="1"/>
            </p:cNvCxnSpPr>
            <p:nvPr/>
          </p:nvCxnSpPr>
          <p:spPr bwMode="auto">
            <a:xfrm>
              <a:off x="3339" y="3072"/>
              <a:ext cx="0" cy="3671"/>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1" name="Line 970">
              <a:extLst>
                <a:ext uri="{FF2B5EF4-FFF2-40B4-BE49-F238E27FC236}">
                  <a16:creationId xmlns:a16="http://schemas.microsoft.com/office/drawing/2014/main" id="{92464DCF-B1EC-4C5F-9B06-C37C3BDE7685}"/>
                </a:ext>
              </a:extLst>
            </p:cNvPr>
            <p:cNvCxnSpPr>
              <a:cxnSpLocks noChangeShapeType="1"/>
            </p:cNvCxnSpPr>
            <p:nvPr/>
          </p:nvCxnSpPr>
          <p:spPr bwMode="auto">
            <a:xfrm>
              <a:off x="8099" y="3072"/>
              <a:ext cx="0" cy="3671"/>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2" name="Line 971">
              <a:extLst>
                <a:ext uri="{FF2B5EF4-FFF2-40B4-BE49-F238E27FC236}">
                  <a16:creationId xmlns:a16="http://schemas.microsoft.com/office/drawing/2014/main" id="{E12F4135-F881-461E-81E6-43A024A61286}"/>
                </a:ext>
              </a:extLst>
            </p:cNvPr>
            <p:cNvCxnSpPr>
              <a:cxnSpLocks noChangeShapeType="1"/>
            </p:cNvCxnSpPr>
            <p:nvPr/>
          </p:nvCxnSpPr>
          <p:spPr bwMode="auto">
            <a:xfrm>
              <a:off x="12901" y="3072"/>
              <a:ext cx="0" cy="3671"/>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grpSp>
      <p:sp>
        <p:nvSpPr>
          <p:cNvPr id="3" name="Rectangle 2">
            <a:extLst>
              <a:ext uri="{FF2B5EF4-FFF2-40B4-BE49-F238E27FC236}">
                <a16:creationId xmlns:a16="http://schemas.microsoft.com/office/drawing/2014/main" id="{667C4CCD-F656-4F28-9A75-E92295D21FA9}"/>
              </a:ext>
            </a:extLst>
          </p:cNvPr>
          <p:cNvSpPr/>
          <p:nvPr/>
        </p:nvSpPr>
        <p:spPr>
          <a:xfrm>
            <a:off x="227056" y="5080762"/>
            <a:ext cx="9597427" cy="1200329"/>
          </a:xfrm>
          <a:prstGeom prst="rect">
            <a:avLst/>
          </a:prstGeom>
        </p:spPr>
        <p:txBody>
          <a:bodyPr wrap="square">
            <a:spAutoFit/>
          </a:bodyPr>
          <a:lstStyle/>
          <a:p>
            <a:r>
              <a:rPr lang="en-GB" sz="3600" dirty="0">
                <a:solidFill>
                  <a:srgbClr val="002060"/>
                </a:solidFill>
                <a:latin typeface="Times New Roman" panose="02020603050405020304" pitchFamily="18" charset="0"/>
                <a:ea typeface="Times New Roman" panose="02020603050405020304" pitchFamily="18" charset="0"/>
              </a:rPr>
              <a:t>0 to T/2 corresponds to negated mirror image of  waveform from –T/2 to 0.</a:t>
            </a:r>
            <a:endParaRPr lang="en-GB" sz="3600" dirty="0"/>
          </a:p>
        </p:txBody>
      </p:sp>
    </p:spTree>
    <p:extLst>
      <p:ext uri="{BB962C8B-B14F-4D97-AF65-F5344CB8AC3E}">
        <p14:creationId xmlns:p14="http://schemas.microsoft.com/office/powerpoint/2010/main" val="587926892"/>
      </p:ext>
    </p:extLst>
  </p:cSld>
  <p:clrMapOvr>
    <a:masterClrMapping/>
  </p:clrMapOvr>
  <mc:AlternateContent xmlns:mc="http://schemas.openxmlformats.org/markup-compatibility/2006" xmlns:p14="http://schemas.microsoft.com/office/powerpoint/2010/main">
    <mc:Choice Requires="p14">
      <p:transition spd="slow" p14:dur="2000" advTm="37611"/>
    </mc:Choice>
    <mc:Fallback xmlns="">
      <p:transition spd="slow" advTm="37611"/>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9A9864E1-2238-4B77-BEE8-E7914733BDF7}"/>
              </a:ext>
            </a:extLst>
          </p:cNvPr>
          <p:cNvGraphicFramePr>
            <a:graphicFrameLocks noChangeAspect="1"/>
          </p:cNvGraphicFramePr>
          <p:nvPr>
            <p:extLst>
              <p:ext uri="{D42A27DB-BD31-4B8C-83A1-F6EECF244321}">
                <p14:modId xmlns:p14="http://schemas.microsoft.com/office/powerpoint/2010/main" val="90469140"/>
              </p:ext>
            </p:extLst>
          </p:nvPr>
        </p:nvGraphicFramePr>
        <p:xfrm>
          <a:off x="406917" y="1627016"/>
          <a:ext cx="4381500" cy="1447800"/>
        </p:xfrm>
        <a:graphic>
          <a:graphicData uri="http://schemas.openxmlformats.org/presentationml/2006/ole">
            <mc:AlternateContent xmlns:mc="http://schemas.openxmlformats.org/markup-compatibility/2006">
              <mc:Choice xmlns:v="urn:schemas-microsoft-com:vml" Requires="v">
                <p:oleObj r:id="rId3" imgW="1727200" imgH="558800" progId="Equation.3">
                  <p:embed/>
                </p:oleObj>
              </mc:Choice>
              <mc:Fallback>
                <p:oleObj r:id="rId3" imgW="1727200" imgH="558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917" y="1627016"/>
                        <a:ext cx="4381500" cy="144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44969003-2C8F-452F-BF3A-05606FEC02DE}"/>
              </a:ext>
            </a:extLst>
          </p:cNvPr>
          <p:cNvGraphicFramePr>
            <a:graphicFrameLocks noChangeAspect="1"/>
          </p:cNvGraphicFramePr>
          <p:nvPr>
            <p:extLst>
              <p:ext uri="{D42A27DB-BD31-4B8C-83A1-F6EECF244321}">
                <p14:modId xmlns:p14="http://schemas.microsoft.com/office/powerpoint/2010/main" val="66996529"/>
              </p:ext>
            </p:extLst>
          </p:nvPr>
        </p:nvGraphicFramePr>
        <p:xfrm>
          <a:off x="340242" y="2860408"/>
          <a:ext cx="8896350" cy="1485900"/>
        </p:xfrm>
        <a:graphic>
          <a:graphicData uri="http://schemas.openxmlformats.org/presentationml/2006/ole">
            <mc:AlternateContent xmlns:mc="http://schemas.openxmlformats.org/markup-compatibility/2006">
              <mc:Choice xmlns:v="urn:schemas-microsoft-com:vml" Requires="v">
                <p:oleObj r:id="rId5" imgW="3136900" imgH="533400" progId="Equation.3">
                  <p:embed/>
                </p:oleObj>
              </mc:Choice>
              <mc:Fallback>
                <p:oleObj r:id="rId5" imgW="3136900" imgH="5334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242" y="2860408"/>
                        <a:ext cx="8896350" cy="148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a:extLst>
              <a:ext uri="{FF2B5EF4-FFF2-40B4-BE49-F238E27FC236}">
                <a16:creationId xmlns:a16="http://schemas.microsoft.com/office/drawing/2014/main" id="{AB42D1FF-A711-48F8-BFB0-488926197727}"/>
              </a:ext>
            </a:extLst>
          </p:cNvPr>
          <p:cNvGraphicFramePr>
            <a:graphicFrameLocks noChangeAspect="1"/>
          </p:cNvGraphicFramePr>
          <p:nvPr>
            <p:extLst>
              <p:ext uri="{D42A27DB-BD31-4B8C-83A1-F6EECF244321}">
                <p14:modId xmlns:p14="http://schemas.microsoft.com/office/powerpoint/2010/main" val="555649300"/>
              </p:ext>
            </p:extLst>
          </p:nvPr>
        </p:nvGraphicFramePr>
        <p:xfrm>
          <a:off x="0" y="4953000"/>
          <a:ext cx="10037135" cy="1752600"/>
        </p:xfrm>
        <a:graphic>
          <a:graphicData uri="http://schemas.openxmlformats.org/presentationml/2006/ole">
            <mc:AlternateContent xmlns:mc="http://schemas.openxmlformats.org/markup-compatibility/2006">
              <mc:Choice xmlns:v="urn:schemas-microsoft-com:vml" Requires="v">
                <p:oleObj r:id="rId7" imgW="3822700" imgH="660400" progId="Equation.3">
                  <p:embed/>
                </p:oleObj>
              </mc:Choice>
              <mc:Fallback>
                <p:oleObj r:id="rId7" imgW="3822700" imgH="660400"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4953000"/>
                        <a:ext cx="10037135" cy="1752600"/>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E14EE8FE-7F79-447A-99D6-093F78419A18}"/>
              </a:ext>
            </a:extLst>
          </p:cNvPr>
          <p:cNvSpPr>
            <a:spLocks noChangeArrowheads="1"/>
          </p:cNvSpPr>
          <p:nvPr/>
        </p:nvSpPr>
        <p:spPr bwMode="auto">
          <a:xfrm>
            <a:off x="152400" y="557767"/>
            <a:ext cx="11068050"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Consider period from </a:t>
            </a:r>
            <a:r>
              <a:rPr kumimoji="0" lang="en-GB" altLang="en-US" sz="34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t>
            </a:r>
            <a:r>
              <a:rPr kumimoji="0" lang="en-GB" altLang="en-US" sz="3400" b="0" i="0" u="none" strike="noStrike" cap="none" normalizeH="0" baseline="0" dirty="0">
                <a:ln>
                  <a:noFill/>
                </a:ln>
                <a:solidFill>
                  <a:srgbClr val="002060"/>
                </a:solidFill>
                <a:effectLst/>
                <a:ea typeface="Times New Roman" panose="02020603050405020304" pitchFamily="18" charset="0"/>
              </a:rPr>
              <a:t>T/2 to T/2 for integration.</a:t>
            </a:r>
            <a:endParaRPr kumimoji="0" lang="en-GB" altLang="en-US" sz="11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f(t) = </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t>
            </a:r>
            <a:r>
              <a:rPr kumimoji="0" lang="en-GB" altLang="en-US" sz="3600" b="0" i="0" u="none" strike="noStrike" cap="none" normalizeH="0" baseline="0" dirty="0">
                <a:ln>
                  <a:noFill/>
                </a:ln>
                <a:solidFill>
                  <a:srgbClr val="002060"/>
                </a:solidFill>
                <a:effectLst/>
                <a:ea typeface="Times New Roman" panose="02020603050405020304" pitchFamily="18" charset="0"/>
              </a:rPr>
              <a:t> f(</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t>
            </a:r>
            <a:r>
              <a:rPr kumimoji="0" lang="en-GB" altLang="en-US" sz="3600" b="0" i="0" u="none" strike="noStrike" cap="none" normalizeH="0" baseline="0" dirty="0">
                <a:ln>
                  <a:noFill/>
                </a:ln>
                <a:solidFill>
                  <a:srgbClr val="002060"/>
                </a:solidFill>
                <a:effectLst/>
                <a:ea typeface="Times New Roman" panose="02020603050405020304" pitchFamily="18" charset="0"/>
              </a:rPr>
              <a:t>t)</a:t>
            </a:r>
            <a:endParaRPr kumimoji="0" lang="en-GB" altLang="en-US" sz="1100" b="0" i="0" u="none" strike="noStrike" cap="none" normalizeH="0" baseline="0" dirty="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C1B8A95C-F62C-4709-B23B-2EC24EBAD3F8}"/>
              </a:ext>
            </a:extLst>
          </p:cNvPr>
          <p:cNvSpPr>
            <a:spLocks noChangeArrowheads="1"/>
          </p:cNvSpPr>
          <p:nvPr/>
        </p:nvSpPr>
        <p:spPr bwMode="auto">
          <a:xfrm>
            <a:off x="0" y="19050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40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8" name="Rectangle 6">
            <a:extLst>
              <a:ext uri="{FF2B5EF4-FFF2-40B4-BE49-F238E27FC236}">
                <a16:creationId xmlns:a16="http://schemas.microsoft.com/office/drawing/2014/main" id="{6E2E6977-3017-416B-BEC1-29C081BACBF0}"/>
              </a:ext>
            </a:extLst>
          </p:cNvPr>
          <p:cNvSpPr>
            <a:spLocks noChangeArrowheads="1"/>
          </p:cNvSpPr>
          <p:nvPr/>
        </p:nvSpPr>
        <p:spPr bwMode="auto">
          <a:xfrm>
            <a:off x="152400" y="4346308"/>
            <a:ext cx="10611293"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In first part of expression, ‘t’ is replaced by ‘</a:t>
            </a:r>
            <a:r>
              <a:rPr kumimoji="0" lang="en-GB" altLang="en-US" sz="34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400" b="0" i="0" u="none" strike="noStrike" cap="none" normalizeH="0" baseline="0" dirty="0">
                <a:ln>
                  <a:noFill/>
                </a:ln>
                <a:solidFill>
                  <a:srgbClr val="002060"/>
                </a:solidFill>
                <a:effectLst/>
                <a:ea typeface="Times New Roman" panose="02020603050405020304" pitchFamily="18" charset="0"/>
              </a:rPr>
              <a:t>t’. </a:t>
            </a:r>
            <a:endParaRPr kumimoji="0" lang="en-GB" altLang="en-US" sz="34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3346338817"/>
      </p:ext>
    </p:extLst>
  </p:cSld>
  <p:clrMapOvr>
    <a:masterClrMapping/>
  </p:clrMapOvr>
  <mc:AlternateContent xmlns:mc="http://schemas.openxmlformats.org/markup-compatibility/2006" xmlns:p14="http://schemas.microsoft.com/office/powerpoint/2010/main">
    <mc:Choice Requires="p14">
      <p:transition spd="slow" p14:dur="2000" advTm="24126"/>
    </mc:Choice>
    <mc:Fallback xmlns="">
      <p:transition spd="slow" advTm="24126"/>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1981026E-B3F0-44FF-91C3-A6C2EED31AA2}"/>
              </a:ext>
            </a:extLst>
          </p:cNvPr>
          <p:cNvGraphicFramePr>
            <a:graphicFrameLocks noChangeAspect="1"/>
          </p:cNvGraphicFramePr>
          <p:nvPr>
            <p:extLst>
              <p:ext uri="{D42A27DB-BD31-4B8C-83A1-F6EECF244321}">
                <p14:modId xmlns:p14="http://schemas.microsoft.com/office/powerpoint/2010/main" val="2830883175"/>
              </p:ext>
            </p:extLst>
          </p:nvPr>
        </p:nvGraphicFramePr>
        <p:xfrm>
          <a:off x="170121" y="709362"/>
          <a:ext cx="11759609" cy="1893802"/>
        </p:xfrm>
        <a:graphic>
          <a:graphicData uri="http://schemas.openxmlformats.org/presentationml/2006/ole">
            <mc:AlternateContent xmlns:mc="http://schemas.openxmlformats.org/markup-compatibility/2006">
              <mc:Choice xmlns:v="urn:schemas-microsoft-com:vml" Requires="v">
                <p:oleObj r:id="rId2" imgW="3746500" imgH="596900" progId="Equation.3">
                  <p:embed/>
                </p:oleObj>
              </mc:Choice>
              <mc:Fallback>
                <p:oleObj r:id="rId2" imgW="3746500" imgH="5969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121" y="709362"/>
                        <a:ext cx="11759609" cy="1893802"/>
                      </a:xfrm>
                      <a:prstGeom prst="rect">
                        <a:avLst/>
                      </a:prstGeom>
                      <a:noFill/>
                    </p:spPr>
                  </p:pic>
                </p:oleObj>
              </mc:Fallback>
            </mc:AlternateContent>
          </a:graphicData>
        </a:graphic>
      </p:graphicFrame>
      <p:graphicFrame>
        <p:nvGraphicFramePr>
          <p:cNvPr id="4" name="Object 3">
            <a:extLst>
              <a:ext uri="{FF2B5EF4-FFF2-40B4-BE49-F238E27FC236}">
                <a16:creationId xmlns:a16="http://schemas.microsoft.com/office/drawing/2014/main" id="{37EAC4BD-6276-4ECA-ADDD-139FDA2ABE8B}"/>
              </a:ext>
            </a:extLst>
          </p:cNvPr>
          <p:cNvGraphicFramePr>
            <a:graphicFrameLocks noChangeAspect="1"/>
          </p:cNvGraphicFramePr>
          <p:nvPr>
            <p:extLst>
              <p:ext uri="{D42A27DB-BD31-4B8C-83A1-F6EECF244321}">
                <p14:modId xmlns:p14="http://schemas.microsoft.com/office/powerpoint/2010/main" val="1948081258"/>
              </p:ext>
            </p:extLst>
          </p:nvPr>
        </p:nvGraphicFramePr>
        <p:xfrm>
          <a:off x="442801" y="4422505"/>
          <a:ext cx="6103090" cy="1643812"/>
        </p:xfrm>
        <a:graphic>
          <a:graphicData uri="http://schemas.openxmlformats.org/presentationml/2006/ole">
            <mc:AlternateContent xmlns:mc="http://schemas.openxmlformats.org/markup-compatibility/2006">
              <mc:Choice xmlns:v="urn:schemas-microsoft-com:vml" Requires="v">
                <p:oleObj r:id="rId4" imgW="1816100" imgH="482600" progId="Equation.3">
                  <p:embed/>
                </p:oleObj>
              </mc:Choice>
              <mc:Fallback>
                <p:oleObj r:id="rId4" imgW="1816100" imgH="4826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801" y="4422505"/>
                        <a:ext cx="6103090" cy="1643812"/>
                      </a:xfrm>
                      <a:prstGeom prst="rect">
                        <a:avLst/>
                      </a:prstGeom>
                      <a:noFill/>
                    </p:spPr>
                  </p:pic>
                </p:oleObj>
              </mc:Fallback>
            </mc:AlternateContent>
          </a:graphicData>
        </a:graphic>
      </p:graphicFrame>
      <p:sp>
        <p:nvSpPr>
          <p:cNvPr id="5" name="Rectangle 3">
            <a:extLst>
              <a:ext uri="{FF2B5EF4-FFF2-40B4-BE49-F238E27FC236}">
                <a16:creationId xmlns:a16="http://schemas.microsoft.com/office/drawing/2014/main" id="{AA2BFD16-B96F-4248-A1D3-B5366682672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6" name="Rectangle 4">
            <a:extLst>
              <a:ext uri="{FF2B5EF4-FFF2-40B4-BE49-F238E27FC236}">
                <a16:creationId xmlns:a16="http://schemas.microsoft.com/office/drawing/2014/main" id="{30C57B27-7A1F-487C-8415-21FF1FB8A37A}"/>
              </a:ext>
            </a:extLst>
          </p:cNvPr>
          <p:cNvSpPr>
            <a:spLocks noChangeArrowheads="1"/>
          </p:cNvSpPr>
          <p:nvPr/>
        </p:nvSpPr>
        <p:spPr bwMode="auto">
          <a:xfrm>
            <a:off x="262270" y="2702138"/>
            <a:ext cx="9562214" cy="1651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i.e. </a:t>
            </a:r>
            <a:r>
              <a:rPr kumimoji="0" lang="en-GB" altLang="en-US" sz="36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kumimoji="0" lang="en-GB" altLang="en-US" sz="3600" b="0" i="1" u="none" strike="noStrike" cap="none" normalizeH="0" baseline="-25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n</a:t>
            </a:r>
            <a:r>
              <a:rPr kumimoji="0" lang="en-GB" altLang="en-US" sz="36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 0</a:t>
            </a: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for all </a:t>
            </a:r>
            <a:r>
              <a:rPr kumimoji="0" lang="en-GB" altLang="en-US" sz="36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n</a:t>
            </a: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for odd waveform</a:t>
            </a:r>
            <a:endParaRPr kumimoji="0" lang="en-GB" altLang="en-US" sz="105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With a similar derivation, it can be shown that </a:t>
            </a:r>
            <a:endParaRPr kumimoji="0" lang="en-GB"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43789928"/>
      </p:ext>
    </p:extLst>
  </p:cSld>
  <p:clrMapOvr>
    <a:masterClrMapping/>
  </p:clrMapOvr>
  <mc:AlternateContent xmlns:mc="http://schemas.openxmlformats.org/markup-compatibility/2006" xmlns:p14="http://schemas.microsoft.com/office/powerpoint/2010/main">
    <mc:Choice Requires="p14">
      <p:transition spd="slow" p14:dur="2000" advTm="8385"/>
    </mc:Choice>
    <mc:Fallback xmlns="">
      <p:transition spd="slow" advTm="8385"/>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4C20C693-BE10-4E1D-B933-79E8FA53D3FB}"/>
              </a:ext>
            </a:extLst>
          </p:cNvPr>
          <p:cNvSpPr>
            <a:spLocks noChangeArrowheads="1"/>
          </p:cNvSpPr>
          <p:nvPr/>
        </p:nvSpPr>
        <p:spPr bwMode="auto">
          <a:xfrm>
            <a:off x="152400" y="2619249"/>
            <a:ext cx="11649740"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Can only have </a:t>
            </a:r>
            <a:r>
              <a:rPr kumimoji="0" lang="en-GB" altLang="en-US" sz="3400" b="1"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sine</a:t>
            </a:r>
            <a:r>
              <a:rPr kumimoji="0" lang="en-GB" altLang="en-US" sz="3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terms and no direct term</a:t>
            </a:r>
            <a:endParaRPr kumimoji="0" lang="en-GB" altLang="en-US" sz="3400" b="0" i="0" u="none" strike="noStrike" cap="none" normalizeH="0" baseline="0" dirty="0">
              <a:ln>
                <a:noFill/>
              </a:ln>
              <a:solidFill>
                <a:schemeClr val="tx1"/>
              </a:solidFill>
              <a:effectLst/>
              <a:latin typeface="Arial" panose="020B0604020202020204" pitchFamily="34" charset="0"/>
            </a:endParaRPr>
          </a:p>
        </p:txBody>
      </p:sp>
      <p:graphicFrame>
        <p:nvGraphicFramePr>
          <p:cNvPr id="4" name="Object 3">
            <a:extLst>
              <a:ext uri="{FF2B5EF4-FFF2-40B4-BE49-F238E27FC236}">
                <a16:creationId xmlns:a16="http://schemas.microsoft.com/office/drawing/2014/main" id="{761FDD00-2FCD-436A-A267-256E0B292CED}"/>
              </a:ext>
            </a:extLst>
          </p:cNvPr>
          <p:cNvGraphicFramePr>
            <a:graphicFrameLocks noChangeAspect="1"/>
          </p:cNvGraphicFramePr>
          <p:nvPr>
            <p:extLst>
              <p:ext uri="{D42A27DB-BD31-4B8C-83A1-F6EECF244321}">
                <p14:modId xmlns:p14="http://schemas.microsoft.com/office/powerpoint/2010/main" val="4098377627"/>
              </p:ext>
            </p:extLst>
          </p:nvPr>
        </p:nvGraphicFramePr>
        <p:xfrm>
          <a:off x="2200939" y="2924302"/>
          <a:ext cx="5467350" cy="1600200"/>
        </p:xfrm>
        <a:graphic>
          <a:graphicData uri="http://schemas.openxmlformats.org/presentationml/2006/ole">
            <mc:AlternateContent xmlns:mc="http://schemas.openxmlformats.org/markup-compatibility/2006">
              <mc:Choice xmlns:v="urn:schemas-microsoft-com:vml" Requires="v">
                <p:oleObj r:id="rId3" imgW="1320227" imgH="380835" progId="Equation.3">
                  <p:embed/>
                </p:oleObj>
              </mc:Choice>
              <mc:Fallback>
                <p:oleObj r:id="rId3" imgW="1320227" imgH="380835"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0939" y="2924302"/>
                        <a:ext cx="5467350" cy="160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3">
            <a:extLst>
              <a:ext uri="{FF2B5EF4-FFF2-40B4-BE49-F238E27FC236}">
                <a16:creationId xmlns:a16="http://schemas.microsoft.com/office/drawing/2014/main" id="{A2D7AD52-93E8-453B-9C44-64F37A244D6B}"/>
              </a:ext>
            </a:extLst>
          </p:cNvPr>
          <p:cNvSpPr>
            <a:spLocks noChangeArrowheads="1"/>
          </p:cNvSpPr>
          <p:nvPr/>
        </p:nvSpPr>
        <p:spPr bwMode="auto">
          <a:xfrm>
            <a:off x="170120" y="5377003"/>
            <a:ext cx="440187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40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where	</a:t>
            </a:r>
            <a:r>
              <a:rPr kumimoji="0" lang="en-GB" altLang="en-US" sz="1100" b="0" i="0" u="none" strike="noStrike" cap="none" normalizeH="0" baseline="0">
                <a:ln>
                  <a:noFill/>
                </a:ln>
                <a:solidFill>
                  <a:schemeClr val="tx1"/>
                </a:solidFill>
                <a:effectLst/>
                <a:latin typeface="Arial" panose="020B060402020202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7B91F3B9-E512-4AE0-8E7A-91F815B3FF16}"/>
              </a:ext>
            </a:extLst>
          </p:cNvPr>
          <p:cNvSpPr>
            <a:spLocks noChangeArrowheads="1"/>
          </p:cNvSpPr>
          <p:nvPr/>
        </p:nvSpPr>
        <p:spPr bwMode="auto">
          <a:xfrm>
            <a:off x="148855" y="632404"/>
            <a:ext cx="11419367" cy="1918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20000"/>
              </a:lnSpc>
              <a:spcBef>
                <a:spcPct val="0"/>
              </a:spcBef>
              <a:spcAft>
                <a:spcPct val="0"/>
              </a:spcAft>
              <a:buClrTx/>
              <a:buSzTx/>
              <a:buFontTx/>
              <a:buNone/>
              <a:tabLst>
                <a:tab pos="381000" algn="l"/>
                <a:tab pos="3276600" algn="l"/>
              </a:tabLst>
            </a:pPr>
            <a:r>
              <a:rPr kumimoji="0" lang="en-GB" altLang="en-US" sz="3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Thus for waveforms with</a:t>
            </a:r>
            <a:r>
              <a:rPr kumimoji="0" lang="en-GB" altLang="en-US" sz="34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odd symmetry</a:t>
            </a:r>
            <a:endParaRPr kumimoji="0" lang="en-GB" altLang="en-US" sz="3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20000"/>
              </a:lnSpc>
              <a:spcBef>
                <a:spcPct val="0"/>
              </a:spcBef>
              <a:spcAft>
                <a:spcPct val="0"/>
              </a:spcAft>
              <a:buClrTx/>
              <a:buSzTx/>
              <a:buFontTx/>
              <a:buNone/>
              <a:tabLst>
                <a:tab pos="381000" algn="l"/>
                <a:tab pos="3276600" algn="l"/>
              </a:tabLst>
            </a:pPr>
            <a:r>
              <a:rPr kumimoji="0" lang="en-GB" altLang="en-US" sz="34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a:t>
            </a:r>
            <a:r>
              <a:rPr kumimoji="0" lang="en-GB" altLang="en-US" sz="3400" b="1"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n</a:t>
            </a:r>
            <a:r>
              <a:rPr kumimoji="0" lang="en-GB" altLang="en-US" sz="3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34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0</a:t>
            </a:r>
            <a:r>
              <a:rPr kumimoji="0" lang="en-GB" altLang="en-US" sz="3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for all values of </a:t>
            </a:r>
            <a:r>
              <a:rPr kumimoji="0" lang="en-GB" altLang="en-US" sz="34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3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n </a:t>
            </a:r>
            <a:endParaRPr kumimoji="0" lang="en-GB" altLang="en-US" sz="3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20000"/>
              </a:lnSpc>
              <a:spcBef>
                <a:spcPct val="0"/>
              </a:spcBef>
              <a:spcAft>
                <a:spcPct val="0"/>
              </a:spcAft>
              <a:buClrTx/>
              <a:buSzTx/>
              <a:buFontTx/>
              <a:buNone/>
              <a:tabLst>
                <a:tab pos="381000" algn="l"/>
                <a:tab pos="3276600" algn="l"/>
              </a:tabLst>
            </a:pPr>
            <a:r>
              <a:rPr kumimoji="0" lang="en-GB" altLang="en-US" sz="34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B</a:t>
            </a:r>
            <a:r>
              <a:rPr kumimoji="0" lang="en-GB" altLang="en-US" sz="3400" b="1"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n</a:t>
            </a:r>
            <a:r>
              <a:rPr kumimoji="0" lang="en-GB" altLang="en-US" sz="34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3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is calculated as twice integral over half cycle from zero.</a:t>
            </a:r>
            <a:endParaRPr kumimoji="0" lang="en-GB" altLang="en-US" sz="3400" b="0" i="0" u="none" strike="noStrike" cap="none" normalizeH="0" baseline="0" dirty="0">
              <a:ln>
                <a:noFill/>
              </a:ln>
              <a:solidFill>
                <a:schemeClr val="tx1"/>
              </a:solidFill>
              <a:effectLst/>
              <a:latin typeface="Arial" panose="020B0604020202020204" pitchFamily="34" charset="0"/>
            </a:endParaRPr>
          </a:p>
        </p:txBody>
      </p:sp>
      <p:sp>
        <p:nvSpPr>
          <p:cNvPr id="6" name="Rectangle 6">
            <a:extLst>
              <a:ext uri="{FF2B5EF4-FFF2-40B4-BE49-F238E27FC236}">
                <a16:creationId xmlns:a16="http://schemas.microsoft.com/office/drawing/2014/main" id="{CA41B1ED-26A3-41EC-9E97-5CEE112C5874}"/>
              </a:ext>
            </a:extLst>
          </p:cNvPr>
          <p:cNvSpPr>
            <a:spLocks noChangeArrowheads="1"/>
          </p:cNvSpPr>
          <p:nvPr/>
        </p:nvSpPr>
        <p:spPr bwMode="auto">
          <a:xfrm>
            <a:off x="1913860" y="424477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8" name="Object 7">
            <a:extLst>
              <a:ext uri="{FF2B5EF4-FFF2-40B4-BE49-F238E27FC236}">
                <a16:creationId xmlns:a16="http://schemas.microsoft.com/office/drawing/2014/main" id="{CCB14FC0-98B0-45BB-A457-FED9138C72A4}"/>
              </a:ext>
            </a:extLst>
          </p:cNvPr>
          <p:cNvGraphicFramePr>
            <a:graphicFrameLocks noChangeAspect="1"/>
          </p:cNvGraphicFramePr>
          <p:nvPr>
            <p:extLst>
              <p:ext uri="{D42A27DB-BD31-4B8C-83A1-F6EECF244321}">
                <p14:modId xmlns:p14="http://schemas.microsoft.com/office/powerpoint/2010/main" val="765354285"/>
              </p:ext>
            </p:extLst>
          </p:nvPr>
        </p:nvGraphicFramePr>
        <p:xfrm>
          <a:off x="1913860" y="4701977"/>
          <a:ext cx="6096000" cy="2000250"/>
        </p:xfrm>
        <a:graphic>
          <a:graphicData uri="http://schemas.openxmlformats.org/presentationml/2006/ole">
            <mc:AlternateContent xmlns:mc="http://schemas.openxmlformats.org/markup-compatibility/2006">
              <mc:Choice xmlns:v="urn:schemas-microsoft-com:vml" Requires="v">
                <p:oleObj r:id="rId5" imgW="1651000" imgH="533400" progId="Equation.3">
                  <p:embed/>
                </p:oleObj>
              </mc:Choice>
              <mc:Fallback>
                <p:oleObj r:id="rId5" imgW="1651000" imgH="5334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13860" y="4701977"/>
                        <a:ext cx="6096000" cy="2000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545777293"/>
      </p:ext>
    </p:extLst>
  </p:cSld>
  <p:clrMapOvr>
    <a:masterClrMapping/>
  </p:clrMapOvr>
  <mc:AlternateContent xmlns:mc="http://schemas.openxmlformats.org/markup-compatibility/2006" xmlns:p14="http://schemas.microsoft.com/office/powerpoint/2010/main">
    <mc:Choice Requires="p14">
      <p:transition spd="slow" p14:dur="2000" advTm="33558"/>
    </mc:Choice>
    <mc:Fallback xmlns="">
      <p:transition spd="slow" advTm="33558"/>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549483"/>
            <a:ext cx="10924085" cy="553998"/>
          </a:xfrm>
        </p:spPr>
        <p:txBody>
          <a:bodyPr>
            <a:normAutofit/>
          </a:bodyPr>
          <a:lstStyle/>
          <a:p>
            <a:r>
              <a:rPr lang="en-GB" dirty="0"/>
              <a:t>Half-wave Symmetry</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509F7F46-0509-44E4-94A9-2BF00228B8C2}"/>
              </a:ext>
            </a:extLst>
          </p:cNvPr>
          <p:cNvGraphicFramePr>
            <a:graphicFrameLocks noChangeAspect="1"/>
          </p:cNvGraphicFramePr>
          <p:nvPr>
            <p:extLst>
              <p:ext uri="{D42A27DB-BD31-4B8C-83A1-F6EECF244321}">
                <p14:modId xmlns:p14="http://schemas.microsoft.com/office/powerpoint/2010/main" val="465733553"/>
              </p:ext>
            </p:extLst>
          </p:nvPr>
        </p:nvGraphicFramePr>
        <p:xfrm>
          <a:off x="152400" y="3499982"/>
          <a:ext cx="5676900" cy="1504950"/>
        </p:xfrm>
        <a:graphic>
          <a:graphicData uri="http://schemas.openxmlformats.org/presentationml/2006/ole">
            <mc:AlternateContent xmlns:mc="http://schemas.openxmlformats.org/markup-compatibility/2006">
              <mc:Choice xmlns:v="urn:schemas-microsoft-com:vml" Requires="v">
                <p:oleObj r:id="rId3" imgW="1701800" imgH="444500" progId="Equation.3">
                  <p:embed/>
                </p:oleObj>
              </mc:Choice>
              <mc:Fallback>
                <p:oleObj r:id="rId3" imgW="1701800" imgH="4445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3499982"/>
                        <a:ext cx="5676900" cy="1504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59958936-0103-4E32-9E16-9A90838F1D66}"/>
              </a:ext>
            </a:extLst>
          </p:cNvPr>
          <p:cNvGraphicFramePr>
            <a:graphicFrameLocks noChangeAspect="1"/>
          </p:cNvGraphicFramePr>
          <p:nvPr>
            <p:extLst>
              <p:ext uri="{D42A27DB-BD31-4B8C-83A1-F6EECF244321}">
                <p14:modId xmlns:p14="http://schemas.microsoft.com/office/powerpoint/2010/main" val="3519615351"/>
              </p:ext>
            </p:extLst>
          </p:nvPr>
        </p:nvGraphicFramePr>
        <p:xfrm>
          <a:off x="127591" y="5010236"/>
          <a:ext cx="9703548" cy="1617258"/>
        </p:xfrm>
        <a:graphic>
          <a:graphicData uri="http://schemas.openxmlformats.org/presentationml/2006/ole">
            <mc:AlternateContent xmlns:mc="http://schemas.openxmlformats.org/markup-compatibility/2006">
              <mc:Choice xmlns:v="urn:schemas-microsoft-com:vml" Requires="v">
                <p:oleObj r:id="rId5" imgW="3238500" imgH="533400" progId="Equation.3">
                  <p:embed/>
                </p:oleObj>
              </mc:Choice>
              <mc:Fallback>
                <p:oleObj r:id="rId5" imgW="3238500" imgH="5334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591" y="5010236"/>
                        <a:ext cx="9703548" cy="1617258"/>
                      </a:xfrm>
                      <a:prstGeom prst="rect">
                        <a:avLst/>
                      </a:prstGeom>
                      <a:noFill/>
                    </p:spPr>
                  </p:pic>
                </p:oleObj>
              </mc:Fallback>
            </mc:AlternateContent>
          </a:graphicData>
        </a:graphic>
      </p:graphicFrame>
      <p:sp>
        <p:nvSpPr>
          <p:cNvPr id="5" name="Rectangle 3">
            <a:extLst>
              <a:ext uri="{FF2B5EF4-FFF2-40B4-BE49-F238E27FC236}">
                <a16:creationId xmlns:a16="http://schemas.microsoft.com/office/drawing/2014/main" id="{5E03B14D-DFDD-4219-B450-1F62CDDDB610}"/>
              </a:ext>
            </a:extLst>
          </p:cNvPr>
          <p:cNvSpPr>
            <a:spLocks noChangeArrowheads="1"/>
          </p:cNvSpPr>
          <p:nvPr/>
        </p:nvSpPr>
        <p:spPr bwMode="auto">
          <a:xfrm>
            <a:off x="244765" y="1052655"/>
            <a:ext cx="5914813"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Half-cycle from (</a:t>
            </a:r>
            <a:r>
              <a:rPr kumimoji="0" lang="en-GB" altLang="en-US" sz="3400" b="1"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t</a:t>
            </a:r>
            <a:r>
              <a:rPr kumimoji="0" lang="en-GB" altLang="en-US" sz="3400" b="1"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o</a:t>
            </a:r>
            <a:r>
              <a:rPr kumimoji="0" lang="en-GB" altLang="en-US" sz="3400" b="1"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+T</a:t>
            </a:r>
            <a:r>
              <a:rPr kumimoji="0" lang="en-GB" altLang="en-US" sz="34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/2</a:t>
            </a:r>
            <a:r>
              <a:rPr kumimoji="0" lang="en-GB" altLang="en-US" sz="3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to  (</a:t>
            </a:r>
            <a:r>
              <a:rPr kumimoji="0" lang="en-GB" altLang="en-US" sz="3400" b="1"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t</a:t>
            </a:r>
            <a:r>
              <a:rPr kumimoji="0" lang="en-GB" altLang="en-US" sz="3400" b="1"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o</a:t>
            </a:r>
            <a:r>
              <a:rPr kumimoji="0" lang="en-GB" altLang="en-US" sz="3400" b="1"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+T</a:t>
            </a:r>
            <a:r>
              <a:rPr kumimoji="0" lang="en-GB" altLang="en-US" sz="3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corresponds to  negated value of  previous half cycle from </a:t>
            </a:r>
            <a:r>
              <a:rPr kumimoji="0" lang="en-GB" altLang="en-US" sz="34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a:t>
            </a:r>
            <a:r>
              <a:rPr kumimoji="0" lang="en-GB" altLang="en-US" sz="3400" b="1"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o</a:t>
            </a:r>
            <a:r>
              <a:rPr kumimoji="0" lang="en-GB" altLang="en-US" sz="3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34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to</a:t>
            </a:r>
            <a:r>
              <a:rPr kumimoji="0" lang="en-GB" altLang="en-US" sz="3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3400" b="1"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t</a:t>
            </a:r>
            <a:r>
              <a:rPr kumimoji="0" lang="en-GB" altLang="en-US" sz="3400" b="1"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o</a:t>
            </a:r>
            <a:r>
              <a:rPr kumimoji="0" lang="en-GB" altLang="en-US" sz="3400" b="1"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+T</a:t>
            </a:r>
            <a:r>
              <a:rPr kumimoji="0" lang="en-GB" altLang="en-US" sz="34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/2</a:t>
            </a:r>
            <a:r>
              <a:rPr kumimoji="0" lang="en-GB" altLang="en-US" sz="3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endParaRPr kumimoji="0" lang="en-GB" altLang="en-US" sz="3400" b="0" i="0" u="none" strike="noStrike" cap="none" normalizeH="0" baseline="0" dirty="0">
              <a:ln>
                <a:noFill/>
              </a:ln>
              <a:solidFill>
                <a:schemeClr val="tx1"/>
              </a:solidFill>
              <a:effectLst/>
              <a:latin typeface="Arial" panose="020B0604020202020204" pitchFamily="34" charset="0"/>
            </a:endParaRPr>
          </a:p>
        </p:txBody>
      </p:sp>
      <p:sp>
        <p:nvSpPr>
          <p:cNvPr id="6" name="Rectangle 4">
            <a:extLst>
              <a:ext uri="{FF2B5EF4-FFF2-40B4-BE49-F238E27FC236}">
                <a16:creationId xmlns:a16="http://schemas.microsoft.com/office/drawing/2014/main" id="{416B1CCB-AC7B-45F4-B72B-E11707445A9D}"/>
              </a:ext>
            </a:extLst>
          </p:cNvPr>
          <p:cNvSpPr>
            <a:spLocks noChangeArrowheads="1"/>
          </p:cNvSpPr>
          <p:nvPr/>
        </p:nvSpPr>
        <p:spPr bwMode="auto">
          <a:xfrm>
            <a:off x="152400" y="2773244"/>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sz="3200"/>
          </a:p>
        </p:txBody>
      </p:sp>
      <p:grpSp>
        <p:nvGrpSpPr>
          <p:cNvPr id="7" name="Group 6">
            <a:extLst>
              <a:ext uri="{FF2B5EF4-FFF2-40B4-BE49-F238E27FC236}">
                <a16:creationId xmlns:a16="http://schemas.microsoft.com/office/drawing/2014/main" id="{90F2DB32-8F0E-443B-84F7-F9B8559C818C}"/>
              </a:ext>
            </a:extLst>
          </p:cNvPr>
          <p:cNvGrpSpPr/>
          <p:nvPr/>
        </p:nvGrpSpPr>
        <p:grpSpPr>
          <a:xfrm>
            <a:off x="6967232" y="751151"/>
            <a:ext cx="4987308" cy="3898155"/>
            <a:chOff x="7137352" y="751151"/>
            <a:chExt cx="4987308" cy="3898155"/>
          </a:xfrm>
        </p:grpSpPr>
        <p:grpSp>
          <p:nvGrpSpPr>
            <p:cNvPr id="47" name="Group 46">
              <a:extLst>
                <a:ext uri="{FF2B5EF4-FFF2-40B4-BE49-F238E27FC236}">
                  <a16:creationId xmlns:a16="http://schemas.microsoft.com/office/drawing/2014/main" id="{87B929A7-D4C5-4376-8419-24364AE79208}"/>
                </a:ext>
              </a:extLst>
            </p:cNvPr>
            <p:cNvGrpSpPr>
              <a:grpSpLocks noChangeAspect="1"/>
            </p:cNvGrpSpPr>
            <p:nvPr/>
          </p:nvGrpSpPr>
          <p:grpSpPr bwMode="auto">
            <a:xfrm>
              <a:off x="7578027" y="751151"/>
              <a:ext cx="4504297" cy="3021331"/>
              <a:chOff x="7178" y="9698"/>
              <a:chExt cx="3577" cy="2160"/>
            </a:xfrm>
          </p:grpSpPr>
          <p:cxnSp>
            <p:nvCxnSpPr>
              <p:cNvPr id="48" name="Line 979">
                <a:extLst>
                  <a:ext uri="{FF2B5EF4-FFF2-40B4-BE49-F238E27FC236}">
                    <a16:creationId xmlns:a16="http://schemas.microsoft.com/office/drawing/2014/main" id="{7172A939-FF05-4EFB-8B07-D063DBA37E21}"/>
                  </a:ext>
                </a:extLst>
              </p:cNvPr>
              <p:cNvCxnSpPr>
                <a:cxnSpLocks noChangeAspect="1" noChangeShapeType="1"/>
              </p:cNvCxnSpPr>
              <p:nvPr/>
            </p:nvCxnSpPr>
            <p:spPr bwMode="auto">
              <a:xfrm>
                <a:off x="8573" y="9878"/>
                <a:ext cx="0" cy="1980"/>
              </a:xfrm>
              <a:prstGeom prst="line">
                <a:avLst/>
              </a:prstGeom>
              <a:noFill/>
              <a:ln w="31750">
                <a:solidFill>
                  <a:srgbClr val="002060"/>
                </a:solidFill>
                <a:round/>
                <a:headEnd type="arrow" w="med" len="med"/>
                <a:tailEnd/>
              </a:ln>
              <a:extLst>
                <a:ext uri="{909E8E84-426E-40DD-AFC4-6F175D3DCCD1}">
                  <a14:hiddenFill xmlns:a14="http://schemas.microsoft.com/office/drawing/2010/main">
                    <a:noFill/>
                  </a14:hiddenFill>
                </a:ext>
              </a:extLst>
            </p:spPr>
          </p:cxnSp>
          <p:sp>
            <p:nvSpPr>
              <p:cNvPr id="49" name="Text Box 980">
                <a:extLst>
                  <a:ext uri="{FF2B5EF4-FFF2-40B4-BE49-F238E27FC236}">
                    <a16:creationId xmlns:a16="http://schemas.microsoft.com/office/drawing/2014/main" id="{C0B460F0-34C7-4F48-94D7-70B489C62702}"/>
                  </a:ext>
                </a:extLst>
              </p:cNvPr>
              <p:cNvSpPr txBox="1">
                <a:spLocks noChangeAspect="1" noChangeArrowheads="1"/>
              </p:cNvSpPr>
              <p:nvPr/>
            </p:nvSpPr>
            <p:spPr bwMode="auto">
              <a:xfrm>
                <a:off x="8573" y="9698"/>
                <a:ext cx="7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3200">
                    <a:solidFill>
                      <a:srgbClr val="002060"/>
                    </a:solidFill>
                    <a:effectLst/>
                    <a:latin typeface="Times New Roman" panose="02020603050405020304" pitchFamily="18" charset="0"/>
                    <a:ea typeface="Times New Roman" panose="02020603050405020304" pitchFamily="18" charset="0"/>
                  </a:rPr>
                  <a:t>f(t)</a:t>
                </a:r>
                <a:endParaRPr lang="en-GB" sz="1200">
                  <a:effectLst/>
                  <a:latin typeface="Times New Roman" panose="02020603050405020304" pitchFamily="18" charset="0"/>
                  <a:ea typeface="Times New Roman" panose="02020603050405020304" pitchFamily="18" charset="0"/>
                </a:endParaRPr>
              </a:p>
            </p:txBody>
          </p:sp>
          <p:sp>
            <p:nvSpPr>
              <p:cNvPr id="50" name="Text Box 981">
                <a:extLst>
                  <a:ext uri="{FF2B5EF4-FFF2-40B4-BE49-F238E27FC236}">
                    <a16:creationId xmlns:a16="http://schemas.microsoft.com/office/drawing/2014/main" id="{AD6BAB1E-C3AD-4BC1-8710-562460BE95A2}"/>
                  </a:ext>
                </a:extLst>
              </p:cNvPr>
              <p:cNvSpPr txBox="1">
                <a:spLocks noChangeAspect="1" noChangeArrowheads="1"/>
              </p:cNvSpPr>
              <p:nvPr/>
            </p:nvSpPr>
            <p:spPr bwMode="auto">
              <a:xfrm>
                <a:off x="10395" y="10720"/>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3200" dirty="0">
                    <a:effectLst/>
                    <a:latin typeface="Times New Roman" panose="02020603050405020304" pitchFamily="18" charset="0"/>
                    <a:ea typeface="Times New Roman" panose="02020603050405020304" pitchFamily="18" charset="0"/>
                  </a:rPr>
                  <a:t>t</a:t>
                </a:r>
                <a:endParaRPr lang="en-GB" sz="1200" dirty="0">
                  <a:effectLst/>
                  <a:latin typeface="Times New Roman" panose="02020603050405020304" pitchFamily="18" charset="0"/>
                  <a:ea typeface="Times New Roman" panose="02020603050405020304" pitchFamily="18" charset="0"/>
                </a:endParaRPr>
              </a:p>
            </p:txBody>
          </p:sp>
          <p:grpSp>
            <p:nvGrpSpPr>
              <p:cNvPr id="51" name="Group 50">
                <a:extLst>
                  <a:ext uri="{FF2B5EF4-FFF2-40B4-BE49-F238E27FC236}">
                    <a16:creationId xmlns:a16="http://schemas.microsoft.com/office/drawing/2014/main" id="{E965CDCD-B96E-4E46-B036-B8EC1C0E97F5}"/>
                  </a:ext>
                </a:extLst>
              </p:cNvPr>
              <p:cNvGrpSpPr>
                <a:grpSpLocks noChangeAspect="1"/>
              </p:cNvGrpSpPr>
              <p:nvPr/>
            </p:nvGrpSpPr>
            <p:grpSpPr bwMode="auto">
              <a:xfrm>
                <a:off x="7295" y="10218"/>
                <a:ext cx="1424" cy="1459"/>
                <a:chOff x="7793" y="1823"/>
                <a:chExt cx="2535" cy="1459"/>
              </a:xfrm>
            </p:grpSpPr>
            <p:sp>
              <p:nvSpPr>
                <p:cNvPr id="58" name="Freeform 983">
                  <a:extLst>
                    <a:ext uri="{FF2B5EF4-FFF2-40B4-BE49-F238E27FC236}">
                      <a16:creationId xmlns:a16="http://schemas.microsoft.com/office/drawing/2014/main" id="{28E0F24B-742D-46E8-8653-2B4603ED1924}"/>
                    </a:ext>
                  </a:extLst>
                </p:cNvPr>
                <p:cNvSpPr>
                  <a:spLocks noChangeAspect="1"/>
                </p:cNvSpPr>
                <p:nvPr/>
              </p:nvSpPr>
              <p:spPr bwMode="auto">
                <a:xfrm>
                  <a:off x="9082" y="1823"/>
                  <a:ext cx="1246" cy="143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3175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59" name="Freeform 984">
                  <a:extLst>
                    <a:ext uri="{FF2B5EF4-FFF2-40B4-BE49-F238E27FC236}">
                      <a16:creationId xmlns:a16="http://schemas.microsoft.com/office/drawing/2014/main" id="{9C3B04C9-36AC-423E-BE48-DA2EF7389214}"/>
                    </a:ext>
                  </a:extLst>
                </p:cNvPr>
                <p:cNvSpPr>
                  <a:spLocks noChangeAspect="1"/>
                </p:cNvSpPr>
                <p:nvPr/>
              </p:nvSpPr>
              <p:spPr bwMode="auto">
                <a:xfrm flipV="1">
                  <a:off x="7808" y="1843"/>
                  <a:ext cx="1246" cy="143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3175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60" name="Line 985">
                  <a:extLst>
                    <a:ext uri="{FF2B5EF4-FFF2-40B4-BE49-F238E27FC236}">
                      <a16:creationId xmlns:a16="http://schemas.microsoft.com/office/drawing/2014/main" id="{900446BB-C121-400C-B5E6-25B32E76502F}"/>
                    </a:ext>
                  </a:extLst>
                </p:cNvPr>
                <p:cNvCxnSpPr>
                  <a:cxnSpLocks noChangeAspect="1" noChangeShapeType="1"/>
                </p:cNvCxnSpPr>
                <p:nvPr/>
              </p:nvCxnSpPr>
              <p:spPr bwMode="auto">
                <a:xfrm>
                  <a:off x="9068" y="1873"/>
                  <a:ext cx="0" cy="686"/>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61" name="Line 986">
                  <a:extLst>
                    <a:ext uri="{FF2B5EF4-FFF2-40B4-BE49-F238E27FC236}">
                      <a16:creationId xmlns:a16="http://schemas.microsoft.com/office/drawing/2014/main" id="{F38A6DEA-8543-4288-8AC9-C93008C0654F}"/>
                    </a:ext>
                  </a:extLst>
                </p:cNvPr>
                <p:cNvCxnSpPr>
                  <a:cxnSpLocks noChangeAspect="1" noChangeShapeType="1"/>
                </p:cNvCxnSpPr>
                <p:nvPr/>
              </p:nvCxnSpPr>
              <p:spPr bwMode="auto">
                <a:xfrm>
                  <a:off x="7793" y="2563"/>
                  <a:ext cx="0" cy="709"/>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grpSp>
          <p:grpSp>
            <p:nvGrpSpPr>
              <p:cNvPr id="52" name="Group 51">
                <a:extLst>
                  <a:ext uri="{FF2B5EF4-FFF2-40B4-BE49-F238E27FC236}">
                    <a16:creationId xmlns:a16="http://schemas.microsoft.com/office/drawing/2014/main" id="{3C079DAB-57A3-43E0-B5CD-68DC853F7979}"/>
                  </a:ext>
                </a:extLst>
              </p:cNvPr>
              <p:cNvGrpSpPr>
                <a:grpSpLocks noChangeAspect="1"/>
              </p:cNvGrpSpPr>
              <p:nvPr/>
            </p:nvGrpSpPr>
            <p:grpSpPr bwMode="auto">
              <a:xfrm>
                <a:off x="8720" y="10233"/>
                <a:ext cx="1424" cy="1459"/>
                <a:chOff x="7793" y="1823"/>
                <a:chExt cx="2535" cy="1459"/>
              </a:xfrm>
            </p:grpSpPr>
            <p:sp>
              <p:nvSpPr>
                <p:cNvPr id="54" name="Freeform 988">
                  <a:extLst>
                    <a:ext uri="{FF2B5EF4-FFF2-40B4-BE49-F238E27FC236}">
                      <a16:creationId xmlns:a16="http://schemas.microsoft.com/office/drawing/2014/main" id="{D2D73696-393F-46B3-8536-6A830B1FAD60}"/>
                    </a:ext>
                  </a:extLst>
                </p:cNvPr>
                <p:cNvSpPr>
                  <a:spLocks noChangeAspect="1"/>
                </p:cNvSpPr>
                <p:nvPr/>
              </p:nvSpPr>
              <p:spPr bwMode="auto">
                <a:xfrm>
                  <a:off x="9082" y="1823"/>
                  <a:ext cx="1246" cy="143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3175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55" name="Freeform 989">
                  <a:extLst>
                    <a:ext uri="{FF2B5EF4-FFF2-40B4-BE49-F238E27FC236}">
                      <a16:creationId xmlns:a16="http://schemas.microsoft.com/office/drawing/2014/main" id="{D49295DB-5B21-4DBF-9214-133296042C40}"/>
                    </a:ext>
                  </a:extLst>
                </p:cNvPr>
                <p:cNvSpPr>
                  <a:spLocks noChangeAspect="1"/>
                </p:cNvSpPr>
                <p:nvPr/>
              </p:nvSpPr>
              <p:spPr bwMode="auto">
                <a:xfrm flipV="1">
                  <a:off x="7808" y="1843"/>
                  <a:ext cx="1246" cy="1439"/>
                </a:xfrm>
                <a:custGeom>
                  <a:avLst/>
                  <a:gdLst>
                    <a:gd name="T0" fmla="*/ 0 w 1695"/>
                    <a:gd name="T1" fmla="*/ 27 h 1439"/>
                    <a:gd name="T2" fmla="*/ 90 w 1695"/>
                    <a:gd name="T3" fmla="*/ 192 h 1439"/>
                    <a:gd name="T4" fmla="*/ 165 w 1695"/>
                    <a:gd name="T5" fmla="*/ 27 h 1439"/>
                    <a:gd name="T6" fmla="*/ 270 w 1695"/>
                    <a:gd name="T7" fmla="*/ 162 h 1439"/>
                    <a:gd name="T8" fmla="*/ 345 w 1695"/>
                    <a:gd name="T9" fmla="*/ 57 h 1439"/>
                    <a:gd name="T10" fmla="*/ 450 w 1695"/>
                    <a:gd name="T11" fmla="*/ 177 h 1439"/>
                    <a:gd name="T12" fmla="*/ 525 w 1695"/>
                    <a:gd name="T13" fmla="*/ 12 h 1439"/>
                    <a:gd name="T14" fmla="*/ 615 w 1695"/>
                    <a:gd name="T15" fmla="*/ 252 h 1439"/>
                    <a:gd name="T16" fmla="*/ 735 w 1695"/>
                    <a:gd name="T17" fmla="*/ 732 h 1439"/>
                    <a:gd name="T18" fmla="*/ 960 w 1695"/>
                    <a:gd name="T19" fmla="*/ 1287 h 1439"/>
                    <a:gd name="T20" fmla="*/ 1485 w 1695"/>
                    <a:gd name="T21" fmla="*/ 1347 h 1439"/>
                    <a:gd name="T22" fmla="*/ 1695 w 1695"/>
                    <a:gd name="T23" fmla="*/ 732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95" h="1439">
                      <a:moveTo>
                        <a:pt x="0" y="27"/>
                      </a:moveTo>
                      <a:cubicBezTo>
                        <a:pt x="15" y="57"/>
                        <a:pt x="63" y="192"/>
                        <a:pt x="90" y="192"/>
                      </a:cubicBezTo>
                      <a:cubicBezTo>
                        <a:pt x="117" y="192"/>
                        <a:pt x="135" y="32"/>
                        <a:pt x="165" y="27"/>
                      </a:cubicBezTo>
                      <a:cubicBezTo>
                        <a:pt x="195" y="22"/>
                        <a:pt x="240" y="157"/>
                        <a:pt x="270" y="162"/>
                      </a:cubicBezTo>
                      <a:cubicBezTo>
                        <a:pt x="300" y="167"/>
                        <a:pt x="315" y="54"/>
                        <a:pt x="345" y="57"/>
                      </a:cubicBezTo>
                      <a:cubicBezTo>
                        <a:pt x="375" y="60"/>
                        <a:pt x="420" y="184"/>
                        <a:pt x="450" y="177"/>
                      </a:cubicBezTo>
                      <a:cubicBezTo>
                        <a:pt x="480" y="170"/>
                        <a:pt x="498" y="0"/>
                        <a:pt x="525" y="12"/>
                      </a:cubicBezTo>
                      <a:cubicBezTo>
                        <a:pt x="552" y="24"/>
                        <a:pt x="580" y="132"/>
                        <a:pt x="615" y="252"/>
                      </a:cubicBezTo>
                      <a:cubicBezTo>
                        <a:pt x="650" y="372"/>
                        <a:pt x="678" y="560"/>
                        <a:pt x="735" y="732"/>
                      </a:cubicBezTo>
                      <a:cubicBezTo>
                        <a:pt x="792" y="904"/>
                        <a:pt x="835" y="1185"/>
                        <a:pt x="960" y="1287"/>
                      </a:cubicBezTo>
                      <a:cubicBezTo>
                        <a:pt x="1085" y="1389"/>
                        <a:pt x="1363" y="1439"/>
                        <a:pt x="1485" y="1347"/>
                      </a:cubicBezTo>
                      <a:cubicBezTo>
                        <a:pt x="1607" y="1255"/>
                        <a:pt x="1651" y="860"/>
                        <a:pt x="1695" y="732"/>
                      </a:cubicBezTo>
                    </a:path>
                  </a:pathLst>
                </a:custGeom>
                <a:noFill/>
                <a:ln w="31750">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56" name="Line 990">
                  <a:extLst>
                    <a:ext uri="{FF2B5EF4-FFF2-40B4-BE49-F238E27FC236}">
                      <a16:creationId xmlns:a16="http://schemas.microsoft.com/office/drawing/2014/main" id="{ECC55358-31C7-46A0-8888-5D010C55E29E}"/>
                    </a:ext>
                  </a:extLst>
                </p:cNvPr>
                <p:cNvCxnSpPr>
                  <a:cxnSpLocks noChangeAspect="1" noChangeShapeType="1"/>
                </p:cNvCxnSpPr>
                <p:nvPr/>
              </p:nvCxnSpPr>
              <p:spPr bwMode="auto">
                <a:xfrm>
                  <a:off x="9068" y="1873"/>
                  <a:ext cx="0" cy="686"/>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57" name="Line 991">
                  <a:extLst>
                    <a:ext uri="{FF2B5EF4-FFF2-40B4-BE49-F238E27FC236}">
                      <a16:creationId xmlns:a16="http://schemas.microsoft.com/office/drawing/2014/main" id="{42D143A5-838B-4930-B71D-82F17180097A}"/>
                    </a:ext>
                  </a:extLst>
                </p:cNvPr>
                <p:cNvCxnSpPr>
                  <a:cxnSpLocks noChangeAspect="1" noChangeShapeType="1"/>
                </p:cNvCxnSpPr>
                <p:nvPr/>
              </p:nvCxnSpPr>
              <p:spPr bwMode="auto">
                <a:xfrm>
                  <a:off x="7793" y="2563"/>
                  <a:ext cx="0" cy="709"/>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grpSp>
          <p:cxnSp>
            <p:nvCxnSpPr>
              <p:cNvPr id="53" name="Line 992">
                <a:extLst>
                  <a:ext uri="{FF2B5EF4-FFF2-40B4-BE49-F238E27FC236}">
                    <a16:creationId xmlns:a16="http://schemas.microsoft.com/office/drawing/2014/main" id="{F5509FBD-F6CE-4D3F-82DD-A48C5446830D}"/>
                  </a:ext>
                </a:extLst>
              </p:cNvPr>
              <p:cNvCxnSpPr>
                <a:cxnSpLocks noChangeAspect="1" noChangeShapeType="1"/>
              </p:cNvCxnSpPr>
              <p:nvPr/>
            </p:nvCxnSpPr>
            <p:spPr bwMode="auto">
              <a:xfrm>
                <a:off x="7178" y="10958"/>
                <a:ext cx="3120" cy="0"/>
              </a:xfrm>
              <a:prstGeom prst="line">
                <a:avLst/>
              </a:prstGeom>
              <a:noFill/>
              <a:ln w="31750">
                <a:solidFill>
                  <a:srgbClr val="002060"/>
                </a:solidFill>
                <a:round/>
                <a:headEnd/>
                <a:tailEnd type="arrow" w="med" len="med"/>
              </a:ln>
              <a:extLst>
                <a:ext uri="{909E8E84-426E-40DD-AFC4-6F175D3DCCD1}">
                  <a14:hiddenFill xmlns:a14="http://schemas.microsoft.com/office/drawing/2010/main">
                    <a:noFill/>
                  </a14:hiddenFill>
                </a:ext>
              </a:extLst>
            </p:spPr>
          </p:cxnSp>
        </p:grpSp>
        <p:sp>
          <p:nvSpPr>
            <p:cNvPr id="62" name="Text Box 366">
              <a:extLst>
                <a:ext uri="{FF2B5EF4-FFF2-40B4-BE49-F238E27FC236}">
                  <a16:creationId xmlns:a16="http://schemas.microsoft.com/office/drawing/2014/main" id="{1EDB0354-2EE4-4A56-A9EB-64B7535B88BE}"/>
                </a:ext>
              </a:extLst>
            </p:cNvPr>
            <p:cNvSpPr txBox="1">
              <a:spLocks noChangeArrowheads="1"/>
            </p:cNvSpPr>
            <p:nvPr/>
          </p:nvSpPr>
          <p:spPr bwMode="auto">
            <a:xfrm>
              <a:off x="10247711" y="2501441"/>
              <a:ext cx="660400" cy="502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3200" dirty="0">
                  <a:solidFill>
                    <a:srgbClr val="002060"/>
                  </a:solidFill>
                  <a:effectLst/>
                  <a:latin typeface="Times New Roman" panose="02020603050405020304" pitchFamily="18" charset="0"/>
                  <a:ea typeface="Times New Roman" panose="02020603050405020304" pitchFamily="18" charset="0"/>
                </a:rPr>
                <a:t>T</a:t>
              </a:r>
              <a:endParaRPr lang="en-GB" sz="1200" dirty="0">
                <a:effectLst/>
                <a:latin typeface="Times New Roman" panose="02020603050405020304" pitchFamily="18" charset="0"/>
                <a:ea typeface="Times New Roman" panose="02020603050405020304" pitchFamily="18" charset="0"/>
              </a:endParaRPr>
            </a:p>
          </p:txBody>
        </p:sp>
        <p:cxnSp>
          <p:nvCxnSpPr>
            <p:cNvPr id="63" name="Line 367">
              <a:extLst>
                <a:ext uri="{FF2B5EF4-FFF2-40B4-BE49-F238E27FC236}">
                  <a16:creationId xmlns:a16="http://schemas.microsoft.com/office/drawing/2014/main" id="{E87FA662-F81E-4619-A762-7AE46E080C59}"/>
                </a:ext>
              </a:extLst>
            </p:cNvPr>
            <p:cNvCxnSpPr>
              <a:cxnSpLocks noChangeShapeType="1"/>
            </p:cNvCxnSpPr>
            <p:nvPr/>
          </p:nvCxnSpPr>
          <p:spPr bwMode="auto">
            <a:xfrm>
              <a:off x="9505445" y="2403481"/>
              <a:ext cx="1828800" cy="1270"/>
            </a:xfrm>
            <a:prstGeom prst="line">
              <a:avLst/>
            </a:prstGeom>
            <a:noFill/>
            <a:ln w="28575">
              <a:solidFill>
                <a:srgbClr val="002060"/>
              </a:solidFill>
              <a:round/>
              <a:headEnd type="arrow" w="lg" len="lg"/>
              <a:tailEnd type="arrow" w="lg" len="lg"/>
            </a:ln>
            <a:extLst>
              <a:ext uri="{909E8E84-426E-40DD-AFC4-6F175D3DCCD1}">
                <a14:hiddenFill xmlns:a14="http://schemas.microsoft.com/office/drawing/2010/main">
                  <a:noFill/>
                </a14:hiddenFill>
              </a:ext>
            </a:extLst>
          </p:spPr>
        </p:cxnSp>
        <p:sp>
          <p:nvSpPr>
            <p:cNvPr id="64" name="Text Box 993">
              <a:extLst>
                <a:ext uri="{FF2B5EF4-FFF2-40B4-BE49-F238E27FC236}">
                  <a16:creationId xmlns:a16="http://schemas.microsoft.com/office/drawing/2014/main" id="{79E4D985-78B6-48D3-A97C-C002E94A828A}"/>
                </a:ext>
              </a:extLst>
            </p:cNvPr>
            <p:cNvSpPr txBox="1">
              <a:spLocks noChangeAspect="1" noChangeArrowheads="1"/>
            </p:cNvSpPr>
            <p:nvPr/>
          </p:nvSpPr>
          <p:spPr bwMode="auto">
            <a:xfrm>
              <a:off x="7137352" y="3856191"/>
              <a:ext cx="4987308" cy="793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91440" tIns="45720" rIns="91440" bIns="45720" anchor="t" anchorCtr="0" upright="1">
              <a:noAutofit/>
            </a:bodyPr>
            <a:lstStyle/>
            <a:p>
              <a:pPr marL="0" marR="0" algn="ctr">
                <a:spcBef>
                  <a:spcPts val="0"/>
                </a:spcBef>
                <a:spcAft>
                  <a:spcPts val="0"/>
                </a:spcAft>
              </a:pPr>
              <a:r>
                <a:rPr lang="en-GB" sz="2600" dirty="0">
                  <a:solidFill>
                    <a:srgbClr val="002060"/>
                  </a:solidFill>
                  <a:effectLst/>
                  <a:latin typeface="Times New Roman" panose="02020603050405020304" pitchFamily="18" charset="0"/>
                  <a:ea typeface="Times New Roman" panose="02020603050405020304" pitchFamily="18" charset="0"/>
                </a:rPr>
                <a:t>Figure 8 – Analysis of  waveform with half wave symmetry</a:t>
              </a:r>
              <a:endParaRPr lang="en-GB" sz="1200" dirty="0">
                <a:effectLst/>
                <a:latin typeface="Times New Roman" panose="02020603050405020304" pitchFamily="18" charset="0"/>
                <a:ea typeface="Times New Roman" panose="02020603050405020304" pitchFamily="18" charset="0"/>
              </a:endParaRPr>
            </a:p>
          </p:txBody>
        </p:sp>
      </p:grpSp>
    </p:spTree>
    <p:extLst>
      <p:ext uri="{BB962C8B-B14F-4D97-AF65-F5344CB8AC3E}">
        <p14:creationId xmlns:p14="http://schemas.microsoft.com/office/powerpoint/2010/main" val="2365541164"/>
      </p:ext>
    </p:extLst>
  </p:cSld>
  <p:clrMapOvr>
    <a:masterClrMapping/>
  </p:clrMapOvr>
  <mc:AlternateContent xmlns:mc="http://schemas.openxmlformats.org/markup-compatibility/2006" xmlns:p14="http://schemas.microsoft.com/office/powerpoint/2010/main">
    <mc:Choice Requires="p14">
      <p:transition spd="slow" p14:dur="2000" advTm="35352"/>
    </mc:Choice>
    <mc:Fallback xmlns="">
      <p:transition spd="slow" advTm="35352"/>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a:extLst>
              <a:ext uri="{FF2B5EF4-FFF2-40B4-BE49-F238E27FC236}">
                <a16:creationId xmlns:a16="http://schemas.microsoft.com/office/drawing/2014/main" id="{CB2E77DA-1E17-4EE1-8976-9739740B6DD0}"/>
              </a:ext>
            </a:extLst>
          </p:cNvPr>
          <p:cNvSpPr>
            <a:spLocks noChangeArrowheads="1"/>
          </p:cNvSpPr>
          <p:nvPr/>
        </p:nvSpPr>
        <p:spPr bwMode="auto">
          <a:xfrm>
            <a:off x="152400" y="2193858"/>
            <a:ext cx="11437088"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f(t </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T/2) = </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 f(t) for half-wave symmetry, </a:t>
            </a:r>
            <a:endParaRPr kumimoji="0" lang="en-GB"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and since  </a:t>
            </a:r>
            <a:r>
              <a:rPr kumimoji="0" lang="en-GB" altLang="en-US" sz="3200" b="0" i="0"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w</a:t>
            </a:r>
            <a:r>
              <a:rPr kumimoji="0" lang="en-GB" altLang="en-US" sz="3200" b="0" i="0" u="none" strike="noStrike" cap="none" normalizeH="0" baseline="-30000" dirty="0" err="1">
                <a:ln>
                  <a:noFill/>
                </a:ln>
                <a:solidFill>
                  <a:srgbClr val="002060"/>
                </a:solidFill>
                <a:effectLst/>
                <a:ea typeface="Times New Roman" panose="02020603050405020304" pitchFamily="18" charset="0"/>
                <a:sym typeface="Symbol" panose="05050102010706020507" pitchFamily="18" charset="2"/>
              </a:rPr>
              <a:t>o</a:t>
            </a:r>
            <a:r>
              <a:rPr kumimoji="0" lang="en-GB" altLang="en-US" sz="3200" b="0" i="0"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T</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 2 </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p, </a:t>
            </a:r>
            <a:r>
              <a:rPr kumimoji="0" lang="en-GB" altLang="en-US" sz="3200" b="0" i="0" u="none" strike="noStrike" cap="none" normalizeH="0" baseline="0" dirty="0">
                <a:ln>
                  <a:noFill/>
                </a:ln>
                <a:solidFill>
                  <a:srgbClr val="002060"/>
                </a:solidFill>
                <a:effectLst/>
                <a:ea typeface="Times New Roman" panose="02020603050405020304" pitchFamily="18" charset="0"/>
                <a:sym typeface="Symbol" panose="05050102010706020507" pitchFamily="18" charset="2"/>
              </a:rPr>
              <a:t> </a:t>
            </a:r>
            <a:endParaRPr kumimoji="0" lang="en-GB" altLang="en-US" sz="32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cos </a:t>
            </a:r>
            <a:r>
              <a:rPr kumimoji="0" lang="en-GB" altLang="en-US" sz="3200" b="0" i="0"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a:t>
            </a:r>
            <a:r>
              <a:rPr kumimoji="0" lang="en-GB" altLang="en-US" sz="3200" b="0" i="0"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w</a:t>
            </a:r>
            <a:r>
              <a:rPr kumimoji="0" lang="en-GB" altLang="en-US" sz="3200" b="0" i="0" u="none" strike="noStrike" cap="none" normalizeH="0" baseline="-30000" dirty="0" err="1">
                <a:ln>
                  <a:noFill/>
                </a:ln>
                <a:solidFill>
                  <a:srgbClr val="002060"/>
                </a:solidFill>
                <a:effectLst/>
                <a:ea typeface="Times New Roman" panose="02020603050405020304" pitchFamily="18" charset="0"/>
                <a:sym typeface="Symbol" panose="05050102010706020507" pitchFamily="18" charset="2"/>
              </a:rPr>
              <a:t>o</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(t – T/2) = cos (</a:t>
            </a:r>
            <a:r>
              <a:rPr kumimoji="0" lang="en-GB" altLang="en-US" sz="3200" b="0" i="0"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a:t>
            </a:r>
            <a:r>
              <a:rPr kumimoji="0" lang="en-GB" altLang="en-US" sz="3200" b="0" i="0"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w</a:t>
            </a:r>
            <a:r>
              <a:rPr kumimoji="0" lang="en-GB" altLang="en-US" sz="3200" b="0" i="0" u="none" strike="noStrike" cap="none" normalizeH="0" baseline="-30000" dirty="0" err="1">
                <a:ln>
                  <a:noFill/>
                </a:ln>
                <a:solidFill>
                  <a:srgbClr val="002060"/>
                </a:solidFill>
                <a:effectLst/>
                <a:ea typeface="Times New Roman" panose="02020603050405020304" pitchFamily="18" charset="0"/>
                <a:sym typeface="Symbol" panose="05050102010706020507" pitchFamily="18" charset="2"/>
              </a:rPr>
              <a:t>o</a:t>
            </a:r>
            <a:r>
              <a:rPr kumimoji="0" lang="en-GB" altLang="en-US" sz="3200" b="0" i="0"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t</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 n</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p</a:t>
            </a:r>
            <a:r>
              <a:rPr kumimoji="0" lang="en-GB" altLang="en-US" sz="3200" b="0" i="0" u="none" strike="noStrike" cap="none" normalizeH="0" baseline="0" dirty="0">
                <a:ln>
                  <a:noFill/>
                </a:ln>
                <a:solidFill>
                  <a:srgbClr val="002060"/>
                </a:solidFill>
                <a:effectLst/>
                <a:ea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endParaRPr kumimoji="0" lang="en-GB" altLang="en-US" sz="32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has a value of (–)cos </a:t>
            </a:r>
            <a:r>
              <a:rPr kumimoji="0" lang="en-GB" altLang="en-US" sz="3200" b="0" i="0"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a:t>
            </a:r>
            <a:r>
              <a:rPr kumimoji="0" lang="en-GB" altLang="en-US" sz="3200" b="0" i="0"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w</a:t>
            </a:r>
            <a:r>
              <a:rPr kumimoji="0" lang="en-GB" altLang="en-US" sz="3200" b="0" i="0" u="none" strike="noStrike" cap="none" normalizeH="0" baseline="-30000" dirty="0" err="1">
                <a:ln>
                  <a:noFill/>
                </a:ln>
                <a:solidFill>
                  <a:srgbClr val="002060"/>
                </a:solidFill>
                <a:effectLst/>
                <a:ea typeface="Times New Roman" panose="02020603050405020304" pitchFamily="18" charset="0"/>
                <a:sym typeface="Symbol" panose="05050102010706020507" pitchFamily="18" charset="2"/>
              </a:rPr>
              <a:t>o</a:t>
            </a:r>
            <a:r>
              <a:rPr kumimoji="0" lang="en-GB" altLang="en-US" sz="3200" b="0" i="0"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t</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when n is odd, and </a:t>
            </a:r>
            <a:endParaRPr kumimoji="0" lang="en-GB" altLang="en-US" sz="32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has a value of cos </a:t>
            </a:r>
            <a:r>
              <a:rPr kumimoji="0" lang="en-GB" altLang="en-US" sz="3200" b="0" i="0"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a:t>
            </a:r>
            <a:r>
              <a:rPr kumimoji="0" lang="en-GB" altLang="en-US" sz="3200" b="0" i="0"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w</a:t>
            </a:r>
            <a:r>
              <a:rPr kumimoji="0" lang="en-GB" altLang="en-US" sz="3200" b="0" i="0" u="none" strike="noStrike" cap="none" normalizeH="0" baseline="-30000" dirty="0" err="1">
                <a:ln>
                  <a:noFill/>
                </a:ln>
                <a:solidFill>
                  <a:srgbClr val="002060"/>
                </a:solidFill>
                <a:effectLst/>
                <a:ea typeface="Times New Roman" panose="02020603050405020304" pitchFamily="18" charset="0"/>
                <a:sym typeface="Symbol" panose="05050102010706020507" pitchFamily="18" charset="2"/>
              </a:rPr>
              <a:t>o</a:t>
            </a:r>
            <a:r>
              <a:rPr kumimoji="0" lang="en-GB" altLang="en-US" sz="3200" b="0" i="0"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t</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when n is even.</a:t>
            </a:r>
            <a:endParaRPr kumimoji="0" lang="en-GB" altLang="en-US" sz="32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F79DE8EE-5B16-48E4-9CC2-39AA509D8F15}"/>
              </a:ext>
            </a:extLst>
          </p:cNvPr>
          <p:cNvGraphicFramePr>
            <a:graphicFrameLocks noChangeAspect="1"/>
          </p:cNvGraphicFramePr>
          <p:nvPr>
            <p:extLst>
              <p:ext uri="{D42A27DB-BD31-4B8C-83A1-F6EECF244321}">
                <p14:modId xmlns:p14="http://schemas.microsoft.com/office/powerpoint/2010/main" val="1523093447"/>
              </p:ext>
            </p:extLst>
          </p:nvPr>
        </p:nvGraphicFramePr>
        <p:xfrm>
          <a:off x="152400" y="1093654"/>
          <a:ext cx="11887200" cy="1336360"/>
        </p:xfrm>
        <a:graphic>
          <a:graphicData uri="http://schemas.openxmlformats.org/presentationml/2006/ole">
            <mc:AlternateContent xmlns:mc="http://schemas.openxmlformats.org/markup-compatibility/2006">
              <mc:Choice xmlns:v="urn:schemas-microsoft-com:vml" Requires="v">
                <p:oleObj r:id="rId3" imgW="4546600" imgH="495300" progId="Equation.3">
                  <p:embed/>
                </p:oleObj>
              </mc:Choice>
              <mc:Fallback>
                <p:oleObj r:id="rId3" imgW="4546600" imgH="4953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093654"/>
                        <a:ext cx="11887200" cy="1336360"/>
                      </a:xfrm>
                      <a:prstGeom prst="rect">
                        <a:avLst/>
                      </a:prstGeom>
                      <a:noFill/>
                    </p:spPr>
                  </p:pic>
                </p:oleObj>
              </mc:Fallback>
            </mc:AlternateContent>
          </a:graphicData>
        </a:graphic>
      </p:graphicFrame>
      <p:graphicFrame>
        <p:nvGraphicFramePr>
          <p:cNvPr id="4" name="Object 3">
            <a:extLst>
              <a:ext uri="{FF2B5EF4-FFF2-40B4-BE49-F238E27FC236}">
                <a16:creationId xmlns:a16="http://schemas.microsoft.com/office/drawing/2014/main" id="{5F20BA62-EB34-459F-9760-0657F919FED9}"/>
              </a:ext>
            </a:extLst>
          </p:cNvPr>
          <p:cNvGraphicFramePr>
            <a:graphicFrameLocks noChangeAspect="1"/>
          </p:cNvGraphicFramePr>
          <p:nvPr>
            <p:extLst>
              <p:ext uri="{D42A27DB-BD31-4B8C-83A1-F6EECF244321}">
                <p14:modId xmlns:p14="http://schemas.microsoft.com/office/powerpoint/2010/main" val="3487310306"/>
              </p:ext>
            </p:extLst>
          </p:nvPr>
        </p:nvGraphicFramePr>
        <p:xfrm>
          <a:off x="1482799" y="4724521"/>
          <a:ext cx="5467350" cy="1447800"/>
        </p:xfrm>
        <a:graphic>
          <a:graphicData uri="http://schemas.openxmlformats.org/presentationml/2006/ole">
            <mc:AlternateContent xmlns:mc="http://schemas.openxmlformats.org/markup-compatibility/2006">
              <mc:Choice xmlns:v="urn:schemas-microsoft-com:vml" Requires="v">
                <p:oleObj r:id="rId5" imgW="1904174" imgH="495085" progId="Equation.3">
                  <p:embed/>
                </p:oleObj>
              </mc:Choice>
              <mc:Fallback>
                <p:oleObj r:id="rId5" imgW="1904174" imgH="495085"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82799" y="4724521"/>
                        <a:ext cx="5467350" cy="144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3">
            <a:extLst>
              <a:ext uri="{FF2B5EF4-FFF2-40B4-BE49-F238E27FC236}">
                <a16:creationId xmlns:a16="http://schemas.microsoft.com/office/drawing/2014/main" id="{7B9111C2-DB00-4971-90F2-338EB224E3B4}"/>
              </a:ext>
            </a:extLst>
          </p:cNvPr>
          <p:cNvSpPr>
            <a:spLocks noChangeArrowheads="1"/>
          </p:cNvSpPr>
          <p:nvPr/>
        </p:nvSpPr>
        <p:spPr bwMode="auto">
          <a:xfrm>
            <a:off x="152400" y="578467"/>
            <a:ext cx="1169227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In second part of expression ‘t’ is replaced by ‘t </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T/2’.</a:t>
            </a:r>
            <a:endParaRPr kumimoji="0" lang="en-GB"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p:txBody>
      </p:sp>
      <p:sp>
        <p:nvSpPr>
          <p:cNvPr id="7" name="Rectangle 5">
            <a:extLst>
              <a:ext uri="{FF2B5EF4-FFF2-40B4-BE49-F238E27FC236}">
                <a16:creationId xmlns:a16="http://schemas.microsoft.com/office/drawing/2014/main" id="{1F665FCD-6073-4D9C-88C2-BE1B9E00462F}"/>
              </a:ext>
            </a:extLst>
          </p:cNvPr>
          <p:cNvSpPr>
            <a:spLocks noChangeArrowheads="1"/>
          </p:cNvSpPr>
          <p:nvPr/>
        </p:nvSpPr>
        <p:spPr bwMode="auto">
          <a:xfrm>
            <a:off x="340242" y="5147395"/>
            <a:ext cx="9484242"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Thus                                                          when n is odd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and	 	</a:t>
            </a:r>
            <a:r>
              <a:rPr kumimoji="0" lang="en-GB" altLang="en-US" sz="3200" b="0" i="1"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kumimoji="0" lang="en-GB" altLang="en-US" sz="3200" b="0" i="1" u="none" strike="noStrike" cap="none" normalizeH="0" baseline="-3000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n</a:t>
            </a:r>
            <a:r>
              <a:rPr kumimoji="0" lang="en-GB" altLang="en-US" sz="3200" b="0" i="1"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0</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when n is even</a:t>
            </a:r>
            <a:endParaRPr kumimoji="0" lang="en-GB"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237850"/>
      </p:ext>
    </p:extLst>
  </p:cSld>
  <p:clrMapOvr>
    <a:masterClrMapping/>
  </p:clrMapOvr>
  <mc:AlternateContent xmlns:mc="http://schemas.openxmlformats.org/markup-compatibility/2006" xmlns:p14="http://schemas.microsoft.com/office/powerpoint/2010/main">
    <mc:Choice Requires="p14">
      <p:transition spd="slow" p14:dur="2000" advTm="15674"/>
    </mc:Choice>
    <mc:Fallback xmlns="">
      <p:transition spd="slow" advTm="15674"/>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6DCCA4BB-6D80-40FD-9B3E-C988F1B372BF}"/>
              </a:ext>
            </a:extLst>
          </p:cNvPr>
          <p:cNvSpPr>
            <a:spLocks noChangeArrowheads="1"/>
          </p:cNvSpPr>
          <p:nvPr/>
        </p:nvSpPr>
        <p:spPr bwMode="auto">
          <a:xfrm>
            <a:off x="21265" y="531078"/>
            <a:ext cx="329609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Similarly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4" name="Object 3">
            <a:extLst>
              <a:ext uri="{FF2B5EF4-FFF2-40B4-BE49-F238E27FC236}">
                <a16:creationId xmlns:a16="http://schemas.microsoft.com/office/drawing/2014/main" id="{A2B6CFF9-36D0-4BEA-AF03-93ED9BADF20C}"/>
              </a:ext>
            </a:extLst>
          </p:cNvPr>
          <p:cNvGraphicFramePr>
            <a:graphicFrameLocks noChangeAspect="1"/>
          </p:cNvGraphicFramePr>
          <p:nvPr>
            <p:extLst>
              <p:ext uri="{D42A27DB-BD31-4B8C-83A1-F6EECF244321}">
                <p14:modId xmlns:p14="http://schemas.microsoft.com/office/powerpoint/2010/main" val="1132686665"/>
              </p:ext>
            </p:extLst>
          </p:nvPr>
        </p:nvGraphicFramePr>
        <p:xfrm>
          <a:off x="1755035" y="1092349"/>
          <a:ext cx="6229350" cy="1657350"/>
        </p:xfrm>
        <a:graphic>
          <a:graphicData uri="http://schemas.openxmlformats.org/presentationml/2006/ole">
            <mc:AlternateContent xmlns:mc="http://schemas.openxmlformats.org/markup-compatibility/2006">
              <mc:Choice xmlns:v="urn:schemas-microsoft-com:vml" Requires="v">
                <p:oleObj r:id="rId3" imgW="1879600" imgH="495300" progId="Equation.3">
                  <p:embed/>
                </p:oleObj>
              </mc:Choice>
              <mc:Fallback>
                <p:oleObj r:id="rId3" imgW="1879600" imgH="4953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5035" y="1092349"/>
                        <a:ext cx="6229350" cy="165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3">
            <a:extLst>
              <a:ext uri="{FF2B5EF4-FFF2-40B4-BE49-F238E27FC236}">
                <a16:creationId xmlns:a16="http://schemas.microsoft.com/office/drawing/2014/main" id="{A012E0FB-2CB6-4AAD-BA75-5BB00A42BC9B}"/>
              </a:ext>
            </a:extLst>
          </p:cNvPr>
          <p:cNvSpPr>
            <a:spLocks noChangeArrowheads="1"/>
          </p:cNvSpPr>
          <p:nvPr/>
        </p:nvSpPr>
        <p:spPr bwMode="auto">
          <a:xfrm>
            <a:off x="21265" y="2623511"/>
            <a:ext cx="11461898" cy="2758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1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and	 	</a:t>
            </a:r>
            <a:r>
              <a:rPr kumimoji="0" lang="en-GB" altLang="en-US" sz="32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B</a:t>
            </a:r>
            <a:r>
              <a:rPr kumimoji="0" lang="en-GB" altLang="en-US" sz="3200" b="0" i="1"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n</a:t>
            </a:r>
            <a:r>
              <a:rPr kumimoji="0" lang="en-GB" altLang="en-US" sz="32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 0</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when n is even</a:t>
            </a:r>
            <a:endParaRPr kumimoji="0" lang="en-GB"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1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With </a:t>
            </a:r>
            <a:r>
              <a:rPr kumimoji="0" lang="en-GB" altLang="en-US" sz="3200" b="1"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half-wave symmetry</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endParaRPr kumimoji="0" lang="en-GB"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10000"/>
              </a:lnSpc>
              <a:spcBef>
                <a:spcPct val="0"/>
              </a:spcBef>
              <a:spcAft>
                <a:spcPct val="0"/>
              </a:spcAft>
              <a:buClrTx/>
              <a:buSzTx/>
              <a:buFontTx/>
              <a:buChar char="•"/>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even harmonics do not exist</a:t>
            </a:r>
            <a:endParaRPr kumimoji="0" lang="en-GB"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10000"/>
              </a:lnSpc>
              <a:spcBef>
                <a:spcPct val="0"/>
              </a:spcBef>
              <a:spcAft>
                <a:spcPct val="0"/>
              </a:spcAft>
              <a:buClrTx/>
              <a:buSzTx/>
              <a:buFontTx/>
              <a:buChar char="•"/>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for odd harmonics both coefficients A</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n</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and B</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n</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can be obtained by taking double the integral over any half cycle.</a:t>
            </a:r>
          </a:p>
        </p:txBody>
      </p:sp>
      <p:sp>
        <p:nvSpPr>
          <p:cNvPr id="6" name="Rectangle 5">
            <a:extLst>
              <a:ext uri="{FF2B5EF4-FFF2-40B4-BE49-F238E27FC236}">
                <a16:creationId xmlns:a16="http://schemas.microsoft.com/office/drawing/2014/main" id="{D26EC691-8AA4-4CA5-893F-9A81A07ACBDF}"/>
              </a:ext>
            </a:extLst>
          </p:cNvPr>
          <p:cNvSpPr/>
          <p:nvPr/>
        </p:nvSpPr>
        <p:spPr>
          <a:xfrm>
            <a:off x="-1" y="5446652"/>
            <a:ext cx="9739423" cy="1077218"/>
          </a:xfrm>
          <a:prstGeom prst="rect">
            <a:avLst/>
          </a:prstGeom>
        </p:spPr>
        <p:txBody>
          <a:bodyPr wrap="square">
            <a:spAutoFit/>
          </a:bodyPr>
          <a:lstStyle/>
          <a:p>
            <a:pPr lvl="0" eaLnBrk="0" fontAlgn="base" hangingPunct="0">
              <a:spcBef>
                <a:spcPct val="0"/>
              </a:spcBef>
              <a:spcAft>
                <a:spcPct val="0"/>
              </a:spcAft>
            </a:pPr>
            <a:r>
              <a:rPr lang="en-GB" altLang="en-US" sz="3200" dirty="0">
                <a:solidFill>
                  <a:srgbClr val="002060"/>
                </a:solidFill>
                <a:latin typeface="Arial" panose="020B0604020202020204" pitchFamily="34" charset="0"/>
                <a:ea typeface="Times New Roman" panose="02020603050405020304" pitchFamily="18" charset="0"/>
              </a:rPr>
              <a:t>Most practical waveforms have half-wave symmetry due to natural causes.</a:t>
            </a:r>
            <a:r>
              <a:rPr lang="en-GB" altLang="en-US" sz="3200" dirty="0">
                <a:latin typeface="Arial" panose="020B0604020202020204" pitchFamily="34" charset="0"/>
              </a:rPr>
              <a:t> </a:t>
            </a:r>
          </a:p>
        </p:txBody>
      </p:sp>
      <p:sp>
        <p:nvSpPr>
          <p:cNvPr id="7" name="Rectangle 6">
            <a:extLst>
              <a:ext uri="{FF2B5EF4-FFF2-40B4-BE49-F238E27FC236}">
                <a16:creationId xmlns:a16="http://schemas.microsoft.com/office/drawing/2014/main" id="{4045E3AF-A61F-46F9-8460-973378772E3F}"/>
              </a:ext>
            </a:extLst>
          </p:cNvPr>
          <p:cNvSpPr/>
          <p:nvPr/>
        </p:nvSpPr>
        <p:spPr>
          <a:xfrm>
            <a:off x="8361854" y="1648261"/>
            <a:ext cx="2712602" cy="584775"/>
          </a:xfrm>
          <a:prstGeom prst="rect">
            <a:avLst/>
          </a:prstGeom>
        </p:spPr>
        <p:txBody>
          <a:bodyPr wrap="none">
            <a:spAutoFit/>
          </a:bodyPr>
          <a:lstStyle/>
          <a:p>
            <a:pPr lvl="0" eaLnBrk="0" fontAlgn="base" hangingPunct="0">
              <a:spcBef>
                <a:spcPct val="0"/>
              </a:spcBef>
              <a:spcAft>
                <a:spcPct val="0"/>
              </a:spcAft>
            </a:pPr>
            <a:r>
              <a:rPr lang="en-GB" altLang="en-US" sz="3200" dirty="0">
                <a:solidFill>
                  <a:srgbClr val="002060"/>
                </a:solidFill>
                <a:latin typeface="Arial" panose="020B0604020202020204" pitchFamily="34" charset="0"/>
                <a:ea typeface="Times New Roman" panose="02020603050405020304" pitchFamily="18" charset="0"/>
              </a:rPr>
              <a:t>when n is odd</a:t>
            </a:r>
            <a:endParaRPr lang="en-GB" altLang="en-US" sz="3200" dirty="0">
              <a:latin typeface="Arial" panose="020B0604020202020204" pitchFamily="34" charset="0"/>
            </a:endParaRPr>
          </a:p>
        </p:txBody>
      </p:sp>
    </p:spTree>
    <p:extLst>
      <p:ext uri="{BB962C8B-B14F-4D97-AF65-F5344CB8AC3E}">
        <p14:creationId xmlns:p14="http://schemas.microsoft.com/office/powerpoint/2010/main" val="597139024"/>
      </p:ext>
    </p:extLst>
  </p:cSld>
  <p:clrMapOvr>
    <a:masterClrMapping/>
  </p:clrMapOvr>
  <mc:AlternateContent xmlns:mc="http://schemas.openxmlformats.org/markup-compatibility/2006" xmlns:p14="http://schemas.microsoft.com/office/powerpoint/2010/main">
    <mc:Choice Requires="p14">
      <p:transition spd="slow" p14:dur="2000" advTm="46585"/>
    </mc:Choice>
    <mc:Fallback xmlns="">
      <p:transition spd="slow" advTm="46585"/>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549483"/>
            <a:ext cx="10924085" cy="553998"/>
          </a:xfrm>
        </p:spPr>
        <p:txBody>
          <a:bodyPr>
            <a:normAutofit fontScale="90000"/>
          </a:bodyPr>
          <a:lstStyle/>
          <a:p>
            <a:r>
              <a:rPr lang="en-US" sz="3600" dirty="0"/>
              <a:t>Summary for waveforms with symmetrical properties</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E10CFA44-031F-45E3-9507-7A3DED6A6520}"/>
              </a:ext>
            </a:extLst>
          </p:cNvPr>
          <p:cNvSpPr/>
          <p:nvPr/>
        </p:nvSpPr>
        <p:spPr>
          <a:xfrm>
            <a:off x="205111" y="998528"/>
            <a:ext cx="9661904" cy="5632311"/>
          </a:xfrm>
          <a:prstGeom prst="rect">
            <a:avLst/>
          </a:prstGeom>
        </p:spPr>
        <p:txBody>
          <a:bodyPr wrap="square">
            <a:spAutoFit/>
          </a:bodyPr>
          <a:lstStyle/>
          <a:p>
            <a:pPr marL="342900" marR="0" lvl="0" indent="-342900" algn="just">
              <a:spcBef>
                <a:spcPts val="0"/>
              </a:spcBef>
              <a:spcAft>
                <a:spcPts val="600"/>
              </a:spcAft>
              <a:tabLst>
                <a:tab pos="800100" algn="l"/>
              </a:tabLst>
            </a:pPr>
            <a:r>
              <a:rPr lang="en-GB" sz="3200" dirty="0">
                <a:solidFill>
                  <a:srgbClr val="002060"/>
                </a:solidFill>
                <a:latin typeface="Times New Roman" panose="02020603050405020304" pitchFamily="18" charset="0"/>
                <a:ea typeface="Times New Roman" panose="02020603050405020304" pitchFamily="18" charset="0"/>
              </a:rPr>
              <a:t>1. With </a:t>
            </a:r>
            <a:r>
              <a:rPr lang="en-GB" sz="3200" b="1" dirty="0">
                <a:solidFill>
                  <a:srgbClr val="002060"/>
                </a:solidFill>
                <a:latin typeface="Times New Roman" panose="02020603050405020304" pitchFamily="18" charset="0"/>
                <a:ea typeface="Times New Roman" panose="02020603050405020304" pitchFamily="18" charset="0"/>
              </a:rPr>
              <a:t>even symmetry</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pPr marL="800100" marR="0" algn="just">
              <a:spcBef>
                <a:spcPts val="0"/>
              </a:spcBef>
              <a:spcAft>
                <a:spcPts val="600"/>
              </a:spcAft>
            </a:pPr>
            <a:r>
              <a:rPr lang="en-GB" sz="3200" b="1" dirty="0">
                <a:solidFill>
                  <a:srgbClr val="002060"/>
                </a:solidFill>
                <a:latin typeface="Times New Roman" panose="02020603050405020304" pitchFamily="18" charset="0"/>
                <a:ea typeface="Times New Roman" panose="02020603050405020304" pitchFamily="18" charset="0"/>
              </a:rPr>
              <a:t>B</a:t>
            </a:r>
            <a:r>
              <a:rPr lang="en-GB" sz="3200" b="1" baseline="-25000" dirty="0">
                <a:solidFill>
                  <a:srgbClr val="002060"/>
                </a:solidFill>
                <a:latin typeface="Times New Roman" panose="02020603050405020304" pitchFamily="18" charset="0"/>
                <a:ea typeface="Times New Roman" panose="02020603050405020304" pitchFamily="18" charset="0"/>
              </a:rPr>
              <a:t>n</a:t>
            </a:r>
            <a:r>
              <a:rPr lang="en-GB" sz="3200" dirty="0">
                <a:solidFill>
                  <a:srgbClr val="002060"/>
                </a:solidFill>
                <a:latin typeface="Times New Roman" panose="02020603050405020304" pitchFamily="18" charset="0"/>
                <a:ea typeface="Times New Roman" panose="02020603050405020304" pitchFamily="18" charset="0"/>
              </a:rPr>
              <a:t> is 0 for all n, </a:t>
            </a:r>
            <a:endParaRPr lang="en-GB" sz="3200" dirty="0">
              <a:latin typeface="Times New Roman" panose="02020603050405020304" pitchFamily="18" charset="0"/>
              <a:ea typeface="Times New Roman" panose="02020603050405020304" pitchFamily="18" charset="0"/>
            </a:endParaRPr>
          </a:p>
          <a:p>
            <a:pPr marL="800100" marR="0" algn="just">
              <a:spcBef>
                <a:spcPts val="0"/>
              </a:spcBef>
              <a:spcAft>
                <a:spcPts val="600"/>
              </a:spcAft>
            </a:pPr>
            <a:r>
              <a:rPr lang="en-GB" sz="3200" b="1" dirty="0">
                <a:solidFill>
                  <a:srgbClr val="002060"/>
                </a:solidFill>
                <a:latin typeface="Times New Roman" panose="02020603050405020304" pitchFamily="18" charset="0"/>
                <a:ea typeface="Times New Roman" panose="02020603050405020304" pitchFamily="18" charset="0"/>
              </a:rPr>
              <a:t>A</a:t>
            </a:r>
            <a:r>
              <a:rPr lang="en-GB" sz="3200" b="1" baseline="-25000" dirty="0">
                <a:solidFill>
                  <a:srgbClr val="002060"/>
                </a:solidFill>
                <a:latin typeface="Times New Roman" panose="02020603050405020304" pitchFamily="18" charset="0"/>
                <a:ea typeface="Times New Roman" panose="02020603050405020304" pitchFamily="18" charset="0"/>
              </a:rPr>
              <a:t>n</a:t>
            </a:r>
            <a:r>
              <a:rPr lang="en-GB" sz="3200" dirty="0">
                <a:solidFill>
                  <a:srgbClr val="002060"/>
                </a:solidFill>
                <a:latin typeface="Times New Roman" panose="02020603050405020304" pitchFamily="18" charset="0"/>
                <a:ea typeface="Times New Roman" panose="02020603050405020304" pitchFamily="18" charset="0"/>
              </a:rPr>
              <a:t> is twice integral over half a cycle from zero.</a:t>
            </a:r>
            <a:endParaRPr lang="en-GB" sz="3200" dirty="0">
              <a:latin typeface="Times New Roman" panose="02020603050405020304" pitchFamily="18" charset="0"/>
              <a:ea typeface="Times New Roman" panose="02020603050405020304" pitchFamily="18" charset="0"/>
            </a:endParaRPr>
          </a:p>
          <a:p>
            <a:pPr marL="342900" marR="0" lvl="0" indent="-342900" algn="just">
              <a:spcBef>
                <a:spcPts val="0"/>
              </a:spcBef>
              <a:spcAft>
                <a:spcPts val="600"/>
              </a:spcAft>
              <a:tabLst>
                <a:tab pos="800100" algn="l"/>
              </a:tabLst>
            </a:pPr>
            <a:r>
              <a:rPr lang="en-GB" sz="3200" dirty="0">
                <a:solidFill>
                  <a:srgbClr val="002060"/>
                </a:solidFill>
                <a:latin typeface="Times New Roman" panose="02020603050405020304" pitchFamily="18" charset="0"/>
                <a:ea typeface="Times New Roman" panose="02020603050405020304" pitchFamily="18" charset="0"/>
              </a:rPr>
              <a:t>2. With </a:t>
            </a:r>
            <a:r>
              <a:rPr lang="en-GB" sz="3200" b="1" dirty="0">
                <a:solidFill>
                  <a:srgbClr val="002060"/>
                </a:solidFill>
                <a:latin typeface="Times New Roman" panose="02020603050405020304" pitchFamily="18" charset="0"/>
                <a:ea typeface="Times New Roman" panose="02020603050405020304" pitchFamily="18" charset="0"/>
              </a:rPr>
              <a:t>odd symmetry</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pPr marL="800100" marR="0" algn="just">
              <a:spcBef>
                <a:spcPts val="0"/>
              </a:spcBef>
              <a:spcAft>
                <a:spcPts val="600"/>
              </a:spcAft>
              <a:tabLst>
                <a:tab pos="800100" algn="l"/>
              </a:tabLst>
            </a:pPr>
            <a:r>
              <a:rPr lang="en-GB" sz="3200" b="1" dirty="0">
                <a:solidFill>
                  <a:srgbClr val="002060"/>
                </a:solidFill>
                <a:latin typeface="Times New Roman" panose="02020603050405020304" pitchFamily="18" charset="0"/>
                <a:ea typeface="Times New Roman" panose="02020603050405020304" pitchFamily="18" charset="0"/>
              </a:rPr>
              <a:t>A</a:t>
            </a:r>
            <a:r>
              <a:rPr lang="en-GB" sz="3200" b="1" baseline="-25000" dirty="0">
                <a:solidFill>
                  <a:srgbClr val="002060"/>
                </a:solidFill>
                <a:latin typeface="Times New Roman" panose="02020603050405020304" pitchFamily="18" charset="0"/>
                <a:ea typeface="Times New Roman" panose="02020603050405020304" pitchFamily="18" charset="0"/>
              </a:rPr>
              <a:t>n</a:t>
            </a:r>
            <a:r>
              <a:rPr lang="en-GB" sz="3200" dirty="0">
                <a:solidFill>
                  <a:srgbClr val="002060"/>
                </a:solidFill>
                <a:latin typeface="Times New Roman" panose="02020603050405020304" pitchFamily="18" charset="0"/>
                <a:ea typeface="Times New Roman" panose="02020603050405020304" pitchFamily="18" charset="0"/>
              </a:rPr>
              <a:t> is 0 for all n, </a:t>
            </a:r>
            <a:endParaRPr lang="en-GB" sz="3200" dirty="0">
              <a:latin typeface="Times New Roman" panose="02020603050405020304" pitchFamily="18" charset="0"/>
              <a:ea typeface="Times New Roman" panose="02020603050405020304" pitchFamily="18" charset="0"/>
            </a:endParaRPr>
          </a:p>
          <a:p>
            <a:pPr marL="800100" marR="0" algn="just">
              <a:spcBef>
                <a:spcPts val="0"/>
              </a:spcBef>
              <a:spcAft>
                <a:spcPts val="600"/>
              </a:spcAft>
              <a:tabLst>
                <a:tab pos="800100" algn="l"/>
              </a:tabLst>
            </a:pPr>
            <a:r>
              <a:rPr lang="en-GB" sz="3200" b="1" dirty="0">
                <a:solidFill>
                  <a:srgbClr val="002060"/>
                </a:solidFill>
                <a:latin typeface="Times New Roman" panose="02020603050405020304" pitchFamily="18" charset="0"/>
                <a:ea typeface="Times New Roman" panose="02020603050405020304" pitchFamily="18" charset="0"/>
              </a:rPr>
              <a:t>B</a:t>
            </a:r>
            <a:r>
              <a:rPr lang="en-GB" sz="3200" b="1" baseline="-25000" dirty="0">
                <a:solidFill>
                  <a:srgbClr val="002060"/>
                </a:solidFill>
                <a:latin typeface="Times New Roman" panose="02020603050405020304" pitchFamily="18" charset="0"/>
                <a:ea typeface="Times New Roman" panose="02020603050405020304" pitchFamily="18" charset="0"/>
              </a:rPr>
              <a:t>n</a:t>
            </a:r>
            <a:r>
              <a:rPr lang="en-GB" sz="3200" dirty="0">
                <a:solidFill>
                  <a:srgbClr val="002060"/>
                </a:solidFill>
                <a:latin typeface="Times New Roman" panose="02020603050405020304" pitchFamily="18" charset="0"/>
                <a:ea typeface="Times New Roman" panose="02020603050405020304" pitchFamily="18" charset="0"/>
              </a:rPr>
              <a:t> is twice integral over half a cycle from zero.</a:t>
            </a:r>
            <a:endParaRPr lang="en-GB" sz="3200" dirty="0">
              <a:latin typeface="Times New Roman" panose="02020603050405020304" pitchFamily="18" charset="0"/>
              <a:ea typeface="Times New Roman" panose="02020603050405020304" pitchFamily="18" charset="0"/>
            </a:endParaRPr>
          </a:p>
          <a:p>
            <a:pPr marL="342900" marR="0" lvl="0" indent="-342900" algn="just">
              <a:spcBef>
                <a:spcPts val="0"/>
              </a:spcBef>
              <a:spcAft>
                <a:spcPts val="600"/>
              </a:spcAft>
              <a:tabLst>
                <a:tab pos="800100" algn="l"/>
              </a:tabLst>
            </a:pPr>
            <a:r>
              <a:rPr lang="en-GB" sz="3200" dirty="0">
                <a:solidFill>
                  <a:srgbClr val="002060"/>
                </a:solidFill>
                <a:latin typeface="Times New Roman" panose="02020603050405020304" pitchFamily="18" charset="0"/>
                <a:ea typeface="Times New Roman" panose="02020603050405020304" pitchFamily="18" charset="0"/>
              </a:rPr>
              <a:t>3. With </a:t>
            </a:r>
            <a:r>
              <a:rPr lang="en-GB" sz="3200" b="1" dirty="0">
                <a:solidFill>
                  <a:srgbClr val="002060"/>
                </a:solidFill>
                <a:latin typeface="Times New Roman" panose="02020603050405020304" pitchFamily="18" charset="0"/>
                <a:ea typeface="Times New Roman" panose="02020603050405020304" pitchFamily="18" charset="0"/>
              </a:rPr>
              <a:t>half-wave symmetry</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pPr marL="800100" marR="0" algn="just">
              <a:spcBef>
                <a:spcPts val="0"/>
              </a:spcBef>
              <a:spcAft>
                <a:spcPts val="600"/>
              </a:spcAft>
              <a:tabLst>
                <a:tab pos="800100" algn="l"/>
              </a:tabLst>
            </a:pPr>
            <a:r>
              <a:rPr lang="en-GB" sz="3200" b="1" dirty="0">
                <a:solidFill>
                  <a:srgbClr val="002060"/>
                </a:solidFill>
                <a:latin typeface="Times New Roman" panose="02020603050405020304" pitchFamily="18" charset="0"/>
                <a:ea typeface="Times New Roman" panose="02020603050405020304" pitchFamily="18" charset="0"/>
              </a:rPr>
              <a:t>A</a:t>
            </a:r>
            <a:r>
              <a:rPr lang="en-GB" sz="3200" b="1" baseline="-25000" dirty="0">
                <a:solidFill>
                  <a:srgbClr val="002060"/>
                </a:solidFill>
                <a:latin typeface="Times New Roman" panose="02020603050405020304" pitchFamily="18" charset="0"/>
                <a:ea typeface="Times New Roman" panose="02020603050405020304" pitchFamily="18" charset="0"/>
              </a:rPr>
              <a:t>n</a:t>
            </a:r>
            <a:r>
              <a:rPr lang="en-GB" sz="3200" dirty="0">
                <a:solidFill>
                  <a:srgbClr val="002060"/>
                </a:solidFill>
                <a:latin typeface="Times New Roman" panose="02020603050405020304" pitchFamily="18" charset="0"/>
                <a:ea typeface="Times New Roman" panose="02020603050405020304" pitchFamily="18" charset="0"/>
              </a:rPr>
              <a:t> and </a:t>
            </a:r>
            <a:r>
              <a:rPr lang="en-GB" sz="3200" b="1" dirty="0">
                <a:solidFill>
                  <a:srgbClr val="002060"/>
                </a:solidFill>
                <a:latin typeface="Times New Roman" panose="02020603050405020304" pitchFamily="18" charset="0"/>
                <a:ea typeface="Times New Roman" panose="02020603050405020304" pitchFamily="18" charset="0"/>
              </a:rPr>
              <a:t>B</a:t>
            </a:r>
            <a:r>
              <a:rPr lang="en-GB" sz="3200" b="1" baseline="-25000" dirty="0">
                <a:solidFill>
                  <a:srgbClr val="002060"/>
                </a:solidFill>
                <a:latin typeface="Times New Roman" panose="02020603050405020304" pitchFamily="18" charset="0"/>
                <a:ea typeface="Times New Roman" panose="02020603050405020304" pitchFamily="18" charset="0"/>
              </a:rPr>
              <a:t>n</a:t>
            </a:r>
            <a:r>
              <a:rPr lang="en-GB" sz="3200" dirty="0">
                <a:solidFill>
                  <a:srgbClr val="002060"/>
                </a:solidFill>
                <a:latin typeface="Times New Roman" panose="02020603050405020304" pitchFamily="18" charset="0"/>
                <a:ea typeface="Times New Roman" panose="02020603050405020304" pitchFamily="18" charset="0"/>
              </a:rPr>
              <a:t> are 0 for even n, </a:t>
            </a:r>
            <a:endParaRPr lang="en-GB" sz="3200" dirty="0">
              <a:latin typeface="Times New Roman" panose="02020603050405020304" pitchFamily="18" charset="0"/>
              <a:ea typeface="Times New Roman" panose="02020603050405020304" pitchFamily="18" charset="0"/>
            </a:endParaRPr>
          </a:p>
          <a:p>
            <a:pPr marL="808038"/>
            <a:r>
              <a:rPr lang="en-GB" sz="3200" b="1" dirty="0">
                <a:solidFill>
                  <a:srgbClr val="002060"/>
                </a:solidFill>
                <a:latin typeface="Times New Roman" panose="02020603050405020304" pitchFamily="18" charset="0"/>
                <a:ea typeface="Times New Roman" panose="02020603050405020304" pitchFamily="18" charset="0"/>
              </a:rPr>
              <a:t>A</a:t>
            </a:r>
            <a:r>
              <a:rPr lang="en-GB" sz="3200" b="1" baseline="-25000" dirty="0">
                <a:solidFill>
                  <a:srgbClr val="002060"/>
                </a:solidFill>
                <a:latin typeface="Times New Roman" panose="02020603050405020304" pitchFamily="18" charset="0"/>
                <a:ea typeface="Times New Roman" panose="02020603050405020304" pitchFamily="18" charset="0"/>
              </a:rPr>
              <a:t>n</a:t>
            </a:r>
            <a:r>
              <a:rPr lang="en-GB" sz="3200" dirty="0">
                <a:solidFill>
                  <a:srgbClr val="002060"/>
                </a:solidFill>
                <a:latin typeface="Times New Roman" panose="02020603050405020304" pitchFamily="18" charset="0"/>
                <a:ea typeface="Times New Roman" panose="02020603050405020304" pitchFamily="18" charset="0"/>
              </a:rPr>
              <a:t> and </a:t>
            </a:r>
            <a:r>
              <a:rPr lang="en-GB" sz="3200" b="1" dirty="0">
                <a:solidFill>
                  <a:srgbClr val="002060"/>
                </a:solidFill>
                <a:latin typeface="Times New Roman" panose="02020603050405020304" pitchFamily="18" charset="0"/>
                <a:ea typeface="Times New Roman" panose="02020603050405020304" pitchFamily="18" charset="0"/>
              </a:rPr>
              <a:t>B</a:t>
            </a:r>
            <a:r>
              <a:rPr lang="en-GB" sz="3200" b="1" baseline="-25000" dirty="0">
                <a:solidFill>
                  <a:srgbClr val="002060"/>
                </a:solidFill>
                <a:latin typeface="Times New Roman" panose="02020603050405020304" pitchFamily="18" charset="0"/>
                <a:ea typeface="Times New Roman" panose="02020603050405020304" pitchFamily="18" charset="0"/>
              </a:rPr>
              <a:t>n</a:t>
            </a:r>
            <a:r>
              <a:rPr lang="en-GB" sz="3200" dirty="0">
                <a:solidFill>
                  <a:srgbClr val="002060"/>
                </a:solidFill>
                <a:latin typeface="Times New Roman" panose="02020603050405020304" pitchFamily="18" charset="0"/>
                <a:ea typeface="Times New Roman" panose="02020603050405020304" pitchFamily="18" charset="0"/>
              </a:rPr>
              <a:t> are twice the integral over any half cycle for odd n.</a:t>
            </a:r>
            <a:endParaRPr lang="en-GB" sz="3200" dirty="0"/>
          </a:p>
        </p:txBody>
      </p:sp>
    </p:spTree>
    <p:extLst>
      <p:ext uri="{BB962C8B-B14F-4D97-AF65-F5344CB8AC3E}">
        <p14:creationId xmlns:p14="http://schemas.microsoft.com/office/powerpoint/2010/main" val="38557131"/>
      </p:ext>
    </p:extLst>
  </p:cSld>
  <p:clrMapOvr>
    <a:masterClrMapping/>
  </p:clrMapOvr>
  <mc:AlternateContent xmlns:mc="http://schemas.openxmlformats.org/markup-compatibility/2006" xmlns:p14="http://schemas.microsoft.com/office/powerpoint/2010/main">
    <mc:Choice Requires="p14">
      <p:transition spd="slow" p14:dur="2000" advTm="52532"/>
    </mc:Choice>
    <mc:Fallback xmlns="">
      <p:transition spd="slow" advTm="52532"/>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A9CAB3E1-2D74-405F-955B-654D59CBAB18}"/>
              </a:ext>
            </a:extLst>
          </p:cNvPr>
          <p:cNvSpPr/>
          <p:nvPr/>
        </p:nvSpPr>
        <p:spPr>
          <a:xfrm>
            <a:off x="205564" y="609600"/>
            <a:ext cx="11185451" cy="5478423"/>
          </a:xfrm>
          <a:prstGeom prst="rect">
            <a:avLst/>
          </a:prstGeom>
        </p:spPr>
        <p:txBody>
          <a:bodyPr wrap="square">
            <a:spAutoFit/>
          </a:bodyPr>
          <a:lstStyle/>
          <a:p>
            <a:pPr marL="404813" marR="0" lvl="0" indent="-404813">
              <a:spcBef>
                <a:spcPts val="0"/>
              </a:spcBef>
              <a:spcAft>
                <a:spcPts val="600"/>
              </a:spcAft>
              <a:tabLst>
                <a:tab pos="800100" algn="l"/>
              </a:tabLst>
            </a:pPr>
            <a:r>
              <a:rPr lang="en-GB" sz="3200" dirty="0">
                <a:solidFill>
                  <a:srgbClr val="002060"/>
                </a:solidFill>
                <a:latin typeface="Times New Roman" panose="02020603050405020304" pitchFamily="18" charset="0"/>
                <a:ea typeface="Times New Roman" panose="02020603050405020304" pitchFamily="18" charset="0"/>
              </a:rPr>
              <a:t>4. With </a:t>
            </a:r>
            <a:r>
              <a:rPr lang="en-GB" sz="3200" b="1" dirty="0">
                <a:solidFill>
                  <a:srgbClr val="002060"/>
                </a:solidFill>
                <a:latin typeface="Times New Roman" panose="02020603050405020304" pitchFamily="18" charset="0"/>
                <a:ea typeface="Times New Roman" panose="02020603050405020304" pitchFamily="18" charset="0"/>
              </a:rPr>
              <a:t>half-wave symmetry</a:t>
            </a:r>
            <a:r>
              <a:rPr lang="en-GB" sz="3200" dirty="0">
                <a:solidFill>
                  <a:srgbClr val="002060"/>
                </a:solidFill>
                <a:latin typeface="Times New Roman" panose="02020603050405020304" pitchFamily="18" charset="0"/>
                <a:ea typeface="Times New Roman" panose="02020603050405020304" pitchFamily="18" charset="0"/>
              </a:rPr>
              <a:t> and either </a:t>
            </a:r>
            <a:r>
              <a:rPr lang="en-GB" sz="3200" b="1" dirty="0">
                <a:solidFill>
                  <a:srgbClr val="002060"/>
                </a:solidFill>
                <a:latin typeface="Times New Roman" panose="02020603050405020304" pitchFamily="18" charset="0"/>
                <a:ea typeface="Times New Roman" panose="02020603050405020304" pitchFamily="18" charset="0"/>
              </a:rPr>
              <a:t>even symmetry </a:t>
            </a:r>
            <a:r>
              <a:rPr lang="en-GB" sz="3200" dirty="0">
                <a:solidFill>
                  <a:srgbClr val="002060"/>
                </a:solidFill>
                <a:latin typeface="Times New Roman" panose="02020603050405020304" pitchFamily="18" charset="0"/>
                <a:ea typeface="Times New Roman" panose="02020603050405020304" pitchFamily="18" charset="0"/>
              </a:rPr>
              <a:t>or </a:t>
            </a:r>
            <a:r>
              <a:rPr lang="en-GB" sz="3200" b="1" dirty="0">
                <a:solidFill>
                  <a:srgbClr val="002060"/>
                </a:solidFill>
                <a:latin typeface="Times New Roman" panose="02020603050405020304" pitchFamily="18" charset="0"/>
                <a:ea typeface="Times New Roman" panose="02020603050405020304" pitchFamily="18" charset="0"/>
              </a:rPr>
              <a:t>odd symmetry</a:t>
            </a:r>
            <a:r>
              <a:rPr lang="en-GB" sz="3200" dirty="0">
                <a:solidFill>
                  <a:srgbClr val="002060"/>
                </a:solidFill>
                <a:latin typeface="Times New Roman" panose="02020603050405020304" pitchFamily="18" charset="0"/>
                <a:ea typeface="Times New Roman" panose="02020603050405020304" pitchFamily="18" charset="0"/>
              </a:rPr>
              <a:t> present, </a:t>
            </a:r>
            <a:endParaRPr lang="en-GB" sz="3200" dirty="0">
              <a:latin typeface="Times New Roman" panose="02020603050405020304" pitchFamily="18" charset="0"/>
              <a:ea typeface="Times New Roman" panose="02020603050405020304" pitchFamily="18" charset="0"/>
            </a:endParaRPr>
          </a:p>
          <a:p>
            <a:pPr marL="800100" marR="0" algn="just">
              <a:spcBef>
                <a:spcPts val="0"/>
              </a:spcBef>
              <a:spcAft>
                <a:spcPts val="600"/>
              </a:spcAft>
              <a:tabLst>
                <a:tab pos="800100" algn="l"/>
              </a:tabLst>
            </a:pPr>
            <a:r>
              <a:rPr lang="en-GB" sz="3200" dirty="0">
                <a:solidFill>
                  <a:srgbClr val="002060"/>
                </a:solidFill>
                <a:latin typeface="Times New Roman" panose="02020603050405020304" pitchFamily="18" charset="0"/>
                <a:ea typeface="Times New Roman" panose="02020603050405020304" pitchFamily="18" charset="0"/>
              </a:rPr>
              <a:t>A</a:t>
            </a:r>
            <a:r>
              <a:rPr lang="en-GB" sz="3200" baseline="-25000" dirty="0">
                <a:solidFill>
                  <a:srgbClr val="002060"/>
                </a:solidFill>
                <a:latin typeface="Times New Roman" panose="02020603050405020304" pitchFamily="18" charset="0"/>
                <a:ea typeface="Times New Roman" panose="02020603050405020304" pitchFamily="18" charset="0"/>
              </a:rPr>
              <a:t>n</a:t>
            </a:r>
            <a:r>
              <a:rPr lang="en-GB" sz="3200" dirty="0">
                <a:solidFill>
                  <a:srgbClr val="002060"/>
                </a:solidFill>
                <a:latin typeface="Times New Roman" panose="02020603050405020304" pitchFamily="18" charset="0"/>
                <a:ea typeface="Times New Roman" panose="02020603050405020304" pitchFamily="18" charset="0"/>
              </a:rPr>
              <a:t> and B</a:t>
            </a:r>
            <a:r>
              <a:rPr lang="en-GB" sz="3200" baseline="-25000" dirty="0">
                <a:solidFill>
                  <a:srgbClr val="002060"/>
                </a:solidFill>
                <a:latin typeface="Times New Roman" panose="02020603050405020304" pitchFamily="18" charset="0"/>
                <a:ea typeface="Times New Roman" panose="02020603050405020304" pitchFamily="18" charset="0"/>
              </a:rPr>
              <a:t>n</a:t>
            </a:r>
            <a:r>
              <a:rPr lang="en-GB" sz="3200" dirty="0">
                <a:solidFill>
                  <a:srgbClr val="002060"/>
                </a:solidFill>
                <a:latin typeface="Times New Roman" panose="02020603050405020304" pitchFamily="18" charset="0"/>
                <a:ea typeface="Times New Roman" panose="02020603050405020304" pitchFamily="18" charset="0"/>
              </a:rPr>
              <a:t> are 0 for even n, </a:t>
            </a:r>
            <a:endParaRPr lang="en-GB" sz="3200" dirty="0">
              <a:latin typeface="Times New Roman" panose="02020603050405020304" pitchFamily="18" charset="0"/>
              <a:ea typeface="Times New Roman" panose="02020603050405020304" pitchFamily="18" charset="0"/>
            </a:endParaRPr>
          </a:p>
          <a:p>
            <a:pPr marL="1428750" marR="0" indent="-628650" algn="just">
              <a:spcBef>
                <a:spcPts val="0"/>
              </a:spcBef>
              <a:spcAft>
                <a:spcPts val="600"/>
              </a:spcAft>
              <a:tabLst>
                <a:tab pos="1428750" algn="l"/>
              </a:tabLst>
            </a:pPr>
            <a:r>
              <a:rPr lang="en-GB" sz="3200" dirty="0">
                <a:solidFill>
                  <a:srgbClr val="002060"/>
                </a:solidFill>
                <a:latin typeface="Times New Roman" panose="02020603050405020304" pitchFamily="18" charset="0"/>
                <a:ea typeface="Times New Roman" panose="02020603050405020304" pitchFamily="18" charset="0"/>
              </a:rPr>
              <a:t>four times integral over quarter cycle from time zero, for odd n for A</a:t>
            </a:r>
            <a:r>
              <a:rPr lang="en-GB" sz="3200" baseline="-25000" dirty="0">
                <a:solidFill>
                  <a:srgbClr val="002060"/>
                </a:solidFill>
                <a:latin typeface="Times New Roman" panose="02020603050405020304" pitchFamily="18" charset="0"/>
                <a:ea typeface="Times New Roman" panose="02020603050405020304" pitchFamily="18" charset="0"/>
              </a:rPr>
              <a:t>n</a:t>
            </a:r>
            <a:r>
              <a:rPr lang="en-GB" sz="3200" dirty="0">
                <a:solidFill>
                  <a:srgbClr val="002060"/>
                </a:solidFill>
                <a:latin typeface="Times New Roman" panose="02020603050405020304" pitchFamily="18" charset="0"/>
                <a:ea typeface="Times New Roman" panose="02020603050405020304" pitchFamily="18" charset="0"/>
              </a:rPr>
              <a:t> or B</a:t>
            </a:r>
            <a:r>
              <a:rPr lang="en-GB" sz="3200" baseline="-25000" dirty="0">
                <a:solidFill>
                  <a:srgbClr val="002060"/>
                </a:solidFill>
                <a:latin typeface="Times New Roman" panose="02020603050405020304" pitchFamily="18" charset="0"/>
                <a:ea typeface="Times New Roman" panose="02020603050405020304" pitchFamily="18" charset="0"/>
              </a:rPr>
              <a:t>n</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pPr marL="800100" marR="0" algn="just">
              <a:spcBef>
                <a:spcPts val="0"/>
              </a:spcBef>
              <a:spcAft>
                <a:spcPts val="600"/>
              </a:spcAft>
              <a:tabLst>
                <a:tab pos="800100" algn="l"/>
              </a:tabLst>
            </a:pPr>
            <a:r>
              <a:rPr lang="en-GB" sz="3200" dirty="0">
                <a:solidFill>
                  <a:srgbClr val="002060"/>
                </a:solidFill>
                <a:latin typeface="Times New Roman" panose="02020603050405020304" pitchFamily="18" charset="0"/>
                <a:ea typeface="Times New Roman" panose="02020603050405020304" pitchFamily="18" charset="0"/>
              </a:rPr>
              <a:t>zero for the remaining coefficient B</a:t>
            </a:r>
            <a:r>
              <a:rPr lang="en-GB" sz="3200" baseline="-25000" dirty="0">
                <a:solidFill>
                  <a:srgbClr val="002060"/>
                </a:solidFill>
                <a:latin typeface="Times New Roman" panose="02020603050405020304" pitchFamily="18" charset="0"/>
                <a:ea typeface="Times New Roman" panose="02020603050405020304" pitchFamily="18" charset="0"/>
              </a:rPr>
              <a:t>n</a:t>
            </a:r>
            <a:r>
              <a:rPr lang="en-GB" sz="3200" dirty="0">
                <a:solidFill>
                  <a:srgbClr val="002060"/>
                </a:solidFill>
                <a:latin typeface="Times New Roman" panose="02020603050405020304" pitchFamily="18" charset="0"/>
                <a:ea typeface="Times New Roman" panose="02020603050405020304" pitchFamily="18" charset="0"/>
              </a:rPr>
              <a:t> or A</a:t>
            </a:r>
            <a:r>
              <a:rPr lang="en-GB" sz="3200" baseline="-25000" dirty="0">
                <a:solidFill>
                  <a:srgbClr val="002060"/>
                </a:solidFill>
                <a:latin typeface="Times New Roman" panose="02020603050405020304" pitchFamily="18" charset="0"/>
                <a:ea typeface="Times New Roman" panose="02020603050405020304" pitchFamily="18" charset="0"/>
              </a:rPr>
              <a:t>n</a:t>
            </a:r>
            <a:r>
              <a:rPr lang="en-GB" sz="3200" dirty="0">
                <a:solidFill>
                  <a:srgbClr val="002060"/>
                </a:solidFill>
                <a:latin typeface="Times New Roman" panose="02020603050405020304" pitchFamily="18" charset="0"/>
                <a:ea typeface="Times New Roman" panose="02020603050405020304" pitchFamily="18" charset="0"/>
              </a:rPr>
              <a:t>.</a:t>
            </a:r>
            <a:endParaRPr lang="en-GB" sz="3200" dirty="0">
              <a:latin typeface="Times New Roman" panose="02020603050405020304" pitchFamily="18" charset="0"/>
              <a:ea typeface="Times New Roman" panose="02020603050405020304" pitchFamily="18" charset="0"/>
            </a:endParaRPr>
          </a:p>
          <a:p>
            <a:pPr marL="342900" marR="0" lvl="0" indent="-342900" algn="just">
              <a:spcBef>
                <a:spcPts val="0"/>
              </a:spcBef>
              <a:spcAft>
                <a:spcPts val="600"/>
              </a:spcAft>
              <a:tabLst>
                <a:tab pos="800100" algn="l"/>
              </a:tabLst>
            </a:pPr>
            <a:r>
              <a:rPr lang="en-GB" sz="3200" dirty="0">
                <a:solidFill>
                  <a:srgbClr val="002060"/>
                </a:solidFill>
                <a:latin typeface="Times New Roman" panose="02020603050405020304" pitchFamily="18" charset="0"/>
                <a:ea typeface="Times New Roman" panose="02020603050405020304" pitchFamily="18" charset="0"/>
              </a:rPr>
              <a:t>5. Note that in any waveform, </a:t>
            </a:r>
            <a:endParaRPr lang="en-GB" sz="3200" dirty="0">
              <a:latin typeface="Times New Roman" panose="02020603050405020304" pitchFamily="18" charset="0"/>
              <a:ea typeface="Times New Roman" panose="02020603050405020304" pitchFamily="18" charset="0"/>
            </a:endParaRPr>
          </a:p>
          <a:p>
            <a:pPr marL="800100" marR="0" algn="just">
              <a:spcBef>
                <a:spcPts val="0"/>
              </a:spcBef>
              <a:spcAft>
                <a:spcPts val="600"/>
              </a:spcAft>
              <a:tabLst>
                <a:tab pos="800100" algn="l"/>
              </a:tabLst>
            </a:pPr>
            <a:r>
              <a:rPr lang="en-GB" sz="3200" b="1" dirty="0" err="1">
                <a:solidFill>
                  <a:srgbClr val="002060"/>
                </a:solidFill>
                <a:latin typeface="Times New Roman" panose="02020603050405020304" pitchFamily="18" charset="0"/>
                <a:ea typeface="Times New Roman" panose="02020603050405020304" pitchFamily="18" charset="0"/>
              </a:rPr>
              <a:t>A</a:t>
            </a:r>
            <a:r>
              <a:rPr lang="en-GB" sz="3200" b="1" baseline="-25000" dirty="0" err="1">
                <a:solidFill>
                  <a:srgbClr val="002060"/>
                </a:solidFill>
                <a:latin typeface="Times New Roman" panose="02020603050405020304" pitchFamily="18" charset="0"/>
                <a:ea typeface="Times New Roman" panose="02020603050405020304" pitchFamily="18" charset="0"/>
              </a:rPr>
              <a:t>o</a:t>
            </a:r>
            <a:r>
              <a:rPr lang="en-GB" sz="3200" b="1" dirty="0">
                <a:solidFill>
                  <a:srgbClr val="002060"/>
                </a:solidFill>
                <a:latin typeface="Times New Roman" panose="02020603050405020304" pitchFamily="18" charset="0"/>
                <a:ea typeface="Times New Roman" panose="02020603050405020304" pitchFamily="18" charset="0"/>
              </a:rPr>
              <a:t>/2</a:t>
            </a:r>
            <a:r>
              <a:rPr lang="en-GB" sz="3200" dirty="0">
                <a:solidFill>
                  <a:srgbClr val="002060"/>
                </a:solidFill>
                <a:latin typeface="Times New Roman" panose="02020603050405020304" pitchFamily="18" charset="0"/>
                <a:ea typeface="Times New Roman" panose="02020603050405020304" pitchFamily="18" charset="0"/>
              </a:rPr>
              <a:t> corresponds to mean value of waveform;</a:t>
            </a:r>
            <a:endParaRPr lang="en-GB" sz="3200" dirty="0">
              <a:latin typeface="Times New Roman" panose="02020603050405020304" pitchFamily="18" charset="0"/>
              <a:ea typeface="Times New Roman" panose="02020603050405020304" pitchFamily="18" charset="0"/>
            </a:endParaRPr>
          </a:p>
          <a:p>
            <a:pPr marL="808038"/>
            <a:r>
              <a:rPr lang="en-GB" sz="3200" dirty="0">
                <a:solidFill>
                  <a:srgbClr val="002060"/>
                </a:solidFill>
                <a:latin typeface="Times New Roman" panose="02020603050405020304" pitchFamily="18" charset="0"/>
                <a:ea typeface="Times New Roman" panose="02020603050405020304" pitchFamily="18" charset="0"/>
              </a:rPr>
              <a:t>a symmetrical property may sometimes be obtained by    subtracting mean value from  waveform.</a:t>
            </a:r>
            <a:endParaRPr lang="en-GB" sz="3200" dirty="0"/>
          </a:p>
        </p:txBody>
      </p:sp>
    </p:spTree>
    <p:extLst>
      <p:ext uri="{BB962C8B-B14F-4D97-AF65-F5344CB8AC3E}">
        <p14:creationId xmlns:p14="http://schemas.microsoft.com/office/powerpoint/2010/main" val="1463200218"/>
      </p:ext>
    </p:extLst>
  </p:cSld>
  <p:clrMapOvr>
    <a:masterClrMapping/>
  </p:clrMapOvr>
  <mc:AlternateContent xmlns:mc="http://schemas.openxmlformats.org/markup-compatibility/2006" xmlns:p14="http://schemas.microsoft.com/office/powerpoint/2010/main">
    <mc:Choice Requires="p14">
      <p:transition spd="slow" p14:dur="2000" advTm="55151"/>
    </mc:Choice>
    <mc:Fallback xmlns="">
      <p:transition spd="slow" advTm="55151"/>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528218"/>
            <a:ext cx="10924085" cy="553998"/>
          </a:xfrm>
        </p:spPr>
        <p:txBody>
          <a:bodyPr>
            <a:normAutofit/>
          </a:bodyPr>
          <a:lstStyle/>
          <a:p>
            <a:r>
              <a:rPr lang="en-GB" dirty="0"/>
              <a:t>Piecewise Continuous waveforms</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9">
            <a:extLst>
              <a:ext uri="{FF2B5EF4-FFF2-40B4-BE49-F238E27FC236}">
                <a16:creationId xmlns:a16="http://schemas.microsoft.com/office/drawing/2014/main" id="{E3DBA6B0-8516-4C55-915B-672DD6CC690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pSp>
        <p:nvGrpSpPr>
          <p:cNvPr id="5" name="Group 4">
            <a:extLst>
              <a:ext uri="{FF2B5EF4-FFF2-40B4-BE49-F238E27FC236}">
                <a16:creationId xmlns:a16="http://schemas.microsoft.com/office/drawing/2014/main" id="{5F9772C7-EAF5-430D-8A21-B2FBA2F86447}"/>
              </a:ext>
            </a:extLst>
          </p:cNvPr>
          <p:cNvGrpSpPr>
            <a:grpSpLocks noChangeAspect="1"/>
          </p:cNvGrpSpPr>
          <p:nvPr/>
        </p:nvGrpSpPr>
        <p:grpSpPr bwMode="auto">
          <a:xfrm>
            <a:off x="8165804" y="2435328"/>
            <a:ext cx="3743560" cy="2657348"/>
            <a:chOff x="9048" y="405"/>
            <a:chExt cx="7309" cy="5231"/>
          </a:xfrm>
        </p:grpSpPr>
        <p:grpSp>
          <p:nvGrpSpPr>
            <p:cNvPr id="6" name="Group 5">
              <a:extLst>
                <a:ext uri="{FF2B5EF4-FFF2-40B4-BE49-F238E27FC236}">
                  <a16:creationId xmlns:a16="http://schemas.microsoft.com/office/drawing/2014/main" id="{6875D94A-433C-4A2D-A8CA-3F326CD33D3C}"/>
                </a:ext>
              </a:extLst>
            </p:cNvPr>
            <p:cNvGrpSpPr>
              <a:grpSpLocks noChangeAspect="1"/>
            </p:cNvGrpSpPr>
            <p:nvPr/>
          </p:nvGrpSpPr>
          <p:grpSpPr bwMode="auto">
            <a:xfrm>
              <a:off x="9048" y="405"/>
              <a:ext cx="7309" cy="3154"/>
              <a:chOff x="7658" y="14018"/>
              <a:chExt cx="2520" cy="1260"/>
            </a:xfrm>
          </p:grpSpPr>
          <p:sp>
            <p:nvSpPr>
              <p:cNvPr id="8" name="Freeform 2281">
                <a:extLst>
                  <a:ext uri="{FF2B5EF4-FFF2-40B4-BE49-F238E27FC236}">
                    <a16:creationId xmlns:a16="http://schemas.microsoft.com/office/drawing/2014/main" id="{A17372E3-BE74-4D8F-B934-E06CB32E83F9}"/>
                  </a:ext>
                </a:extLst>
              </p:cNvPr>
              <p:cNvSpPr>
                <a:spLocks noChangeAspect="1"/>
              </p:cNvSpPr>
              <p:nvPr/>
            </p:nvSpPr>
            <p:spPr bwMode="auto">
              <a:xfrm>
                <a:off x="7658" y="14498"/>
                <a:ext cx="840" cy="780"/>
              </a:xfrm>
              <a:custGeom>
                <a:avLst/>
                <a:gdLst>
                  <a:gd name="T0" fmla="*/ 0 w 840"/>
                  <a:gd name="T1" fmla="*/ 780 h 780"/>
                  <a:gd name="T2" fmla="*/ 120 w 840"/>
                  <a:gd name="T3" fmla="*/ 420 h 780"/>
                  <a:gd name="T4" fmla="*/ 360 w 840"/>
                  <a:gd name="T5" fmla="*/ 60 h 780"/>
                  <a:gd name="T6" fmla="*/ 600 w 840"/>
                  <a:gd name="T7" fmla="*/ 60 h 780"/>
                  <a:gd name="T8" fmla="*/ 840 w 840"/>
                  <a:gd name="T9" fmla="*/ 240 h 780"/>
                </a:gdLst>
                <a:ahLst/>
                <a:cxnLst>
                  <a:cxn ang="0">
                    <a:pos x="T0" y="T1"/>
                  </a:cxn>
                  <a:cxn ang="0">
                    <a:pos x="T2" y="T3"/>
                  </a:cxn>
                  <a:cxn ang="0">
                    <a:pos x="T4" y="T5"/>
                  </a:cxn>
                  <a:cxn ang="0">
                    <a:pos x="T6" y="T7"/>
                  </a:cxn>
                  <a:cxn ang="0">
                    <a:pos x="T8" y="T9"/>
                  </a:cxn>
                </a:cxnLst>
                <a:rect l="0" t="0" r="r" b="b"/>
                <a:pathLst>
                  <a:path w="840" h="780">
                    <a:moveTo>
                      <a:pt x="0" y="780"/>
                    </a:moveTo>
                    <a:cubicBezTo>
                      <a:pt x="30" y="660"/>
                      <a:pt x="60" y="540"/>
                      <a:pt x="120" y="420"/>
                    </a:cubicBezTo>
                    <a:cubicBezTo>
                      <a:pt x="180" y="300"/>
                      <a:pt x="280" y="120"/>
                      <a:pt x="360" y="60"/>
                    </a:cubicBezTo>
                    <a:cubicBezTo>
                      <a:pt x="440" y="0"/>
                      <a:pt x="520" y="30"/>
                      <a:pt x="600" y="60"/>
                    </a:cubicBezTo>
                    <a:cubicBezTo>
                      <a:pt x="680" y="90"/>
                      <a:pt x="760" y="165"/>
                      <a:pt x="840" y="240"/>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9" name="Line 2282">
                <a:extLst>
                  <a:ext uri="{FF2B5EF4-FFF2-40B4-BE49-F238E27FC236}">
                    <a16:creationId xmlns:a16="http://schemas.microsoft.com/office/drawing/2014/main" id="{72C25FFA-92E1-4483-AA2F-A73D5B2EBCEB}"/>
                  </a:ext>
                </a:extLst>
              </p:cNvPr>
              <p:cNvCxnSpPr>
                <a:cxnSpLocks noChangeAspect="1" noChangeShapeType="1"/>
              </p:cNvCxnSpPr>
              <p:nvPr/>
            </p:nvCxnSpPr>
            <p:spPr bwMode="auto">
              <a:xfrm flipV="1">
                <a:off x="8498" y="14198"/>
                <a:ext cx="0" cy="54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sp>
            <p:nvSpPr>
              <p:cNvPr id="10" name="Freeform 2283">
                <a:extLst>
                  <a:ext uri="{FF2B5EF4-FFF2-40B4-BE49-F238E27FC236}">
                    <a16:creationId xmlns:a16="http://schemas.microsoft.com/office/drawing/2014/main" id="{41984480-FBA1-4898-A8BB-841934D71688}"/>
                  </a:ext>
                </a:extLst>
              </p:cNvPr>
              <p:cNvSpPr>
                <a:spLocks noChangeAspect="1"/>
              </p:cNvSpPr>
              <p:nvPr/>
            </p:nvSpPr>
            <p:spPr bwMode="auto">
              <a:xfrm>
                <a:off x="8498" y="14018"/>
                <a:ext cx="840" cy="570"/>
              </a:xfrm>
              <a:custGeom>
                <a:avLst/>
                <a:gdLst>
                  <a:gd name="T0" fmla="*/ 0 w 840"/>
                  <a:gd name="T1" fmla="*/ 180 h 570"/>
                  <a:gd name="T2" fmla="*/ 240 w 840"/>
                  <a:gd name="T3" fmla="*/ 540 h 570"/>
                  <a:gd name="T4" fmla="*/ 600 w 840"/>
                  <a:gd name="T5" fmla="*/ 360 h 570"/>
                  <a:gd name="T6" fmla="*/ 840 w 840"/>
                  <a:gd name="T7" fmla="*/ 0 h 570"/>
                </a:gdLst>
                <a:ahLst/>
                <a:cxnLst>
                  <a:cxn ang="0">
                    <a:pos x="T0" y="T1"/>
                  </a:cxn>
                  <a:cxn ang="0">
                    <a:pos x="T2" y="T3"/>
                  </a:cxn>
                  <a:cxn ang="0">
                    <a:pos x="T4" y="T5"/>
                  </a:cxn>
                  <a:cxn ang="0">
                    <a:pos x="T6" y="T7"/>
                  </a:cxn>
                </a:cxnLst>
                <a:rect l="0" t="0" r="r" b="b"/>
                <a:pathLst>
                  <a:path w="840" h="570">
                    <a:moveTo>
                      <a:pt x="0" y="180"/>
                    </a:moveTo>
                    <a:cubicBezTo>
                      <a:pt x="70" y="345"/>
                      <a:pt x="140" y="510"/>
                      <a:pt x="240" y="540"/>
                    </a:cubicBezTo>
                    <a:cubicBezTo>
                      <a:pt x="340" y="570"/>
                      <a:pt x="500" y="450"/>
                      <a:pt x="600" y="360"/>
                    </a:cubicBezTo>
                    <a:cubicBezTo>
                      <a:pt x="700" y="270"/>
                      <a:pt x="770" y="135"/>
                      <a:pt x="840" y="0"/>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11" name="Line 2284">
                <a:extLst>
                  <a:ext uri="{FF2B5EF4-FFF2-40B4-BE49-F238E27FC236}">
                    <a16:creationId xmlns:a16="http://schemas.microsoft.com/office/drawing/2014/main" id="{D09BB265-7EA1-4FBC-B566-1EEE62DDD471}"/>
                  </a:ext>
                </a:extLst>
              </p:cNvPr>
              <p:cNvCxnSpPr>
                <a:cxnSpLocks noChangeAspect="1" noChangeShapeType="1"/>
              </p:cNvCxnSpPr>
              <p:nvPr/>
            </p:nvCxnSpPr>
            <p:spPr bwMode="auto">
              <a:xfrm flipV="1">
                <a:off x="9338" y="14018"/>
                <a:ext cx="0" cy="36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sp>
            <p:nvSpPr>
              <p:cNvPr id="12" name="Freeform 2285">
                <a:extLst>
                  <a:ext uri="{FF2B5EF4-FFF2-40B4-BE49-F238E27FC236}">
                    <a16:creationId xmlns:a16="http://schemas.microsoft.com/office/drawing/2014/main" id="{EBDC14C3-A427-4B55-9DB7-B5DEBB0D1900}"/>
                  </a:ext>
                </a:extLst>
              </p:cNvPr>
              <p:cNvSpPr>
                <a:spLocks noChangeAspect="1"/>
              </p:cNvSpPr>
              <p:nvPr/>
            </p:nvSpPr>
            <p:spPr bwMode="auto">
              <a:xfrm>
                <a:off x="9338" y="14378"/>
                <a:ext cx="840" cy="720"/>
              </a:xfrm>
              <a:custGeom>
                <a:avLst/>
                <a:gdLst>
                  <a:gd name="T0" fmla="*/ 0 w 840"/>
                  <a:gd name="T1" fmla="*/ 0 h 720"/>
                  <a:gd name="T2" fmla="*/ 360 w 840"/>
                  <a:gd name="T3" fmla="*/ 180 h 720"/>
                  <a:gd name="T4" fmla="*/ 720 w 840"/>
                  <a:gd name="T5" fmla="*/ 540 h 720"/>
                  <a:gd name="T6" fmla="*/ 840 w 840"/>
                  <a:gd name="T7" fmla="*/ 720 h 720"/>
                </a:gdLst>
                <a:ahLst/>
                <a:cxnLst>
                  <a:cxn ang="0">
                    <a:pos x="T0" y="T1"/>
                  </a:cxn>
                  <a:cxn ang="0">
                    <a:pos x="T2" y="T3"/>
                  </a:cxn>
                  <a:cxn ang="0">
                    <a:pos x="T4" y="T5"/>
                  </a:cxn>
                  <a:cxn ang="0">
                    <a:pos x="T6" y="T7"/>
                  </a:cxn>
                </a:cxnLst>
                <a:rect l="0" t="0" r="r" b="b"/>
                <a:pathLst>
                  <a:path w="840" h="720">
                    <a:moveTo>
                      <a:pt x="0" y="0"/>
                    </a:moveTo>
                    <a:cubicBezTo>
                      <a:pt x="120" y="45"/>
                      <a:pt x="240" y="90"/>
                      <a:pt x="360" y="180"/>
                    </a:cubicBezTo>
                    <a:cubicBezTo>
                      <a:pt x="480" y="270"/>
                      <a:pt x="640" y="450"/>
                      <a:pt x="720" y="540"/>
                    </a:cubicBezTo>
                    <a:cubicBezTo>
                      <a:pt x="800" y="630"/>
                      <a:pt x="820" y="675"/>
                      <a:pt x="840" y="720"/>
                    </a:cubicBezTo>
                  </a:path>
                </a:pathLst>
              </a:custGeom>
              <a:noFill/>
              <a:ln w="38100" cmpd="sng">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sp>
          <p:nvSpPr>
            <p:cNvPr id="7" name="Text Box 2286">
              <a:extLst>
                <a:ext uri="{FF2B5EF4-FFF2-40B4-BE49-F238E27FC236}">
                  <a16:creationId xmlns:a16="http://schemas.microsoft.com/office/drawing/2014/main" id="{9A79A045-8A14-4454-A2F8-A512AAC4E3DC}"/>
                </a:ext>
              </a:extLst>
            </p:cNvPr>
            <p:cNvSpPr txBox="1">
              <a:spLocks noChangeAspect="1" noChangeArrowheads="1"/>
            </p:cNvSpPr>
            <p:nvPr/>
          </p:nvSpPr>
          <p:spPr bwMode="auto">
            <a:xfrm>
              <a:off x="9048" y="3316"/>
              <a:ext cx="7309" cy="2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rot="0" vert="horz" wrap="square" lIns="0" tIns="0" rIns="0" bIns="0" anchor="t" anchorCtr="0" upright="1">
              <a:noAutofit/>
            </a:bodyPr>
            <a:lstStyle/>
            <a:p>
              <a:pPr marL="0" marR="0" algn="ctr">
                <a:spcBef>
                  <a:spcPts val="0"/>
                </a:spcBef>
                <a:spcAft>
                  <a:spcPts val="0"/>
                </a:spcAft>
              </a:pPr>
              <a:r>
                <a:rPr lang="en-GB" sz="2600" dirty="0">
                  <a:solidFill>
                    <a:srgbClr val="002060"/>
                  </a:solidFill>
                  <a:effectLst/>
                  <a:latin typeface="Times New Roman" panose="02020603050405020304" pitchFamily="18" charset="0"/>
                  <a:ea typeface="Times New Roman" panose="02020603050405020304" pitchFamily="18" charset="0"/>
                </a:rPr>
                <a:t>Figure 9 – </a:t>
              </a:r>
              <a:endParaRPr lang="en-GB" sz="1200" dirty="0">
                <a:effectLst/>
                <a:latin typeface="Times New Roman" panose="02020603050405020304" pitchFamily="18" charset="0"/>
                <a:ea typeface="Times New Roman" panose="02020603050405020304" pitchFamily="18" charset="0"/>
              </a:endParaRPr>
            </a:p>
            <a:p>
              <a:pPr marL="0" marR="0" algn="ctr">
                <a:spcBef>
                  <a:spcPts val="0"/>
                </a:spcBef>
                <a:spcAft>
                  <a:spcPts val="0"/>
                </a:spcAft>
              </a:pPr>
              <a:r>
                <a:rPr lang="en-GB" sz="2600" dirty="0">
                  <a:solidFill>
                    <a:srgbClr val="002060"/>
                  </a:solidFill>
                  <a:effectLst/>
                  <a:latin typeface="Times New Roman" panose="02020603050405020304" pitchFamily="18" charset="0"/>
                  <a:ea typeface="Times New Roman" panose="02020603050405020304" pitchFamily="18" charset="0"/>
                </a:rPr>
                <a:t>Piecewise continuous waveform</a:t>
              </a:r>
              <a:endParaRPr lang="en-GB" sz="1200" dirty="0">
                <a:effectLst/>
                <a:latin typeface="Times New Roman" panose="02020603050405020304" pitchFamily="18" charset="0"/>
                <a:ea typeface="Times New Roman" panose="02020603050405020304" pitchFamily="18" charset="0"/>
              </a:endParaRPr>
            </a:p>
          </p:txBody>
        </p:sp>
      </p:grpSp>
      <p:sp>
        <p:nvSpPr>
          <p:cNvPr id="4" name="Rectangle 11">
            <a:extLst>
              <a:ext uri="{FF2B5EF4-FFF2-40B4-BE49-F238E27FC236}">
                <a16:creationId xmlns:a16="http://schemas.microsoft.com/office/drawing/2014/main" id="{077D0F19-C97C-4B94-8951-EA213E4E0CAE}"/>
              </a:ext>
            </a:extLst>
          </p:cNvPr>
          <p:cNvSpPr>
            <a:spLocks noChangeArrowheads="1"/>
          </p:cNvSpPr>
          <p:nvPr/>
        </p:nvSpPr>
        <p:spPr bwMode="auto">
          <a:xfrm>
            <a:off x="194930" y="972969"/>
            <a:ext cx="1169398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Most practical waveforms are continuous and single valued (i.e. having a single value at any particular instant).  </a:t>
            </a:r>
            <a:endParaRPr kumimoji="0" lang="en-GB" altLang="en-US" sz="3000" b="0" i="0" u="none" strike="noStrike" cap="none" normalizeH="0" baseline="0" dirty="0">
              <a:ln>
                <a:noFill/>
              </a:ln>
              <a:solidFill>
                <a:schemeClr val="tx1"/>
              </a:solidFill>
              <a:effectLst/>
              <a:latin typeface="Arial" panose="020B0604020202020204" pitchFamily="34" charset="0"/>
            </a:endParaRPr>
          </a:p>
        </p:txBody>
      </p:sp>
      <p:sp>
        <p:nvSpPr>
          <p:cNvPr id="14" name="Rectangle 11">
            <a:extLst>
              <a:ext uri="{FF2B5EF4-FFF2-40B4-BE49-F238E27FC236}">
                <a16:creationId xmlns:a16="http://schemas.microsoft.com/office/drawing/2014/main" id="{05B2F88C-5379-453C-9995-0C321D3138C3}"/>
              </a:ext>
            </a:extLst>
          </p:cNvPr>
          <p:cNvSpPr>
            <a:spLocks noChangeArrowheads="1"/>
          </p:cNvSpPr>
          <p:nvPr/>
        </p:nvSpPr>
        <p:spPr bwMode="auto">
          <a:xfrm>
            <a:off x="225411" y="2028633"/>
            <a:ext cx="8408226"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When sudden changes occur (such as in switching), or in square waveforms, near vertical lines could occur giving multi-value instants.  </a:t>
            </a:r>
            <a:endParaRPr kumimoji="0" lang="en-GB" altLang="en-US" sz="3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As long as these multi-values occur over finite bounds, the waveform is single-valued and continuous in pieces, or said to be </a:t>
            </a:r>
            <a:r>
              <a:rPr kumimoji="0" lang="en-GB" altLang="en-US" sz="30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Piecewise continuous.</a:t>
            </a:r>
            <a:endParaRPr kumimoji="0" lang="en-GB"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endParaRPr>
          </a:p>
        </p:txBody>
      </p:sp>
      <p:sp>
        <p:nvSpPr>
          <p:cNvPr id="13" name="Rectangle 12">
            <a:extLst>
              <a:ext uri="{FF2B5EF4-FFF2-40B4-BE49-F238E27FC236}">
                <a16:creationId xmlns:a16="http://schemas.microsoft.com/office/drawing/2014/main" id="{83515144-0E56-4960-8B62-7DC68387CDB6}"/>
              </a:ext>
            </a:extLst>
          </p:cNvPr>
          <p:cNvSpPr/>
          <p:nvPr/>
        </p:nvSpPr>
        <p:spPr>
          <a:xfrm>
            <a:off x="225410" y="5415018"/>
            <a:ext cx="9535277" cy="1015663"/>
          </a:xfrm>
          <a:prstGeom prst="rect">
            <a:avLst/>
          </a:prstGeom>
        </p:spPr>
        <p:txBody>
          <a:bodyPr wrap="square">
            <a:spAutoFit/>
          </a:bodyPr>
          <a:lstStyle/>
          <a:p>
            <a:pPr lvl="0" eaLnBrk="0" fontAlgn="base" hangingPunct="0">
              <a:spcBef>
                <a:spcPct val="0"/>
              </a:spcBef>
              <a:spcAft>
                <a:spcPct val="0"/>
              </a:spcAft>
            </a:pPr>
            <a:r>
              <a:rPr lang="en-GB" altLang="en-US" sz="3000" dirty="0">
                <a:solidFill>
                  <a:srgbClr val="002060"/>
                </a:solidFill>
                <a:latin typeface="Arial" panose="020B0604020202020204" pitchFamily="34" charset="0"/>
                <a:ea typeface="Times New Roman" panose="02020603050405020304" pitchFamily="18" charset="0"/>
              </a:rPr>
              <a:t>Analysis can be carried out using the Fourier Series for both continuous or piecewise continuous waveforms.</a:t>
            </a:r>
            <a:r>
              <a:rPr lang="en-GB" altLang="en-US" sz="3000" dirty="0">
                <a:latin typeface="Arial" panose="020B0604020202020204" pitchFamily="34" charset="0"/>
              </a:rPr>
              <a:t> </a:t>
            </a:r>
          </a:p>
        </p:txBody>
      </p:sp>
    </p:spTree>
    <p:extLst>
      <p:ext uri="{BB962C8B-B14F-4D97-AF65-F5344CB8AC3E}">
        <p14:creationId xmlns:p14="http://schemas.microsoft.com/office/powerpoint/2010/main" val="506474829"/>
      </p:ext>
    </p:extLst>
  </p:cSld>
  <p:clrMapOvr>
    <a:masterClrMapping/>
  </p:clrMapOvr>
  <mc:AlternateContent xmlns:mc="http://schemas.openxmlformats.org/markup-compatibility/2006" xmlns:p14="http://schemas.microsoft.com/office/powerpoint/2010/main">
    <mc:Choice Requires="p14">
      <p:transition spd="slow" p14:dur="2000" advTm="63521"/>
    </mc:Choice>
    <mc:Fallback xmlns="">
      <p:transition spd="slow" advTm="63521"/>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443158"/>
            <a:ext cx="10924085" cy="553998"/>
          </a:xfrm>
        </p:spPr>
        <p:txBody>
          <a:bodyPr>
            <a:normAutofit/>
          </a:bodyPr>
          <a:lstStyle/>
          <a:p>
            <a:r>
              <a:rPr lang="en-GB" dirty="0"/>
              <a:t>Line Frequency Spectrum</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829E540E-A3AA-4E6D-8DE5-D944F4BB02B3}"/>
              </a:ext>
            </a:extLst>
          </p:cNvPr>
          <p:cNvSpPr/>
          <p:nvPr/>
        </p:nvSpPr>
        <p:spPr>
          <a:xfrm>
            <a:off x="401362" y="1067589"/>
            <a:ext cx="6864220" cy="4401205"/>
          </a:xfrm>
          <a:prstGeom prst="rect">
            <a:avLst/>
          </a:prstGeom>
        </p:spPr>
        <p:txBody>
          <a:bodyPr wrap="square">
            <a:spAutoFit/>
          </a:bodyPr>
          <a:lstStyle/>
          <a:p>
            <a:pPr marL="342900" marR="0" lvl="0" indent="-342900">
              <a:spcBef>
                <a:spcPts val="0"/>
              </a:spcBef>
              <a:spcAft>
                <a:spcPts val="0"/>
              </a:spcAft>
              <a:buFont typeface="Symbol" panose="05050102010706020507" pitchFamily="18" charset="2"/>
              <a:buChar char=""/>
            </a:pPr>
            <a:r>
              <a:rPr lang="en-GB" sz="3000" dirty="0">
                <a:solidFill>
                  <a:srgbClr val="002060"/>
                </a:solidFill>
                <a:latin typeface="Times New Roman" panose="02020603050405020304" pitchFamily="18" charset="0"/>
              </a:rPr>
              <a:t>a plot showing </a:t>
            </a:r>
            <a:r>
              <a:rPr lang="en-GB" sz="3000" dirty="0" err="1">
                <a:solidFill>
                  <a:srgbClr val="002060"/>
                </a:solidFill>
                <a:latin typeface="Times New Roman" panose="02020603050405020304" pitchFamily="18" charset="0"/>
              </a:rPr>
              <a:t>d.c.</a:t>
            </a:r>
            <a:r>
              <a:rPr lang="en-GB" sz="3000" dirty="0">
                <a:solidFill>
                  <a:srgbClr val="002060"/>
                </a:solidFill>
                <a:latin typeface="Times New Roman" panose="02020603050405020304" pitchFamily="18" charset="0"/>
              </a:rPr>
              <a:t>, fundamental, and each of harmonics (usually amplitude) against frequency.  </a:t>
            </a:r>
            <a:endParaRPr lang="en-GB" sz="3000" b="1" i="1" dirty="0">
              <a:latin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GB" sz="3000" dirty="0">
                <a:solidFill>
                  <a:srgbClr val="002060"/>
                </a:solidFill>
                <a:latin typeface="Times New Roman" panose="02020603050405020304" pitchFamily="18" charset="0"/>
              </a:rPr>
              <a:t>values occur at distinct points</a:t>
            </a:r>
            <a:endParaRPr lang="en-GB" sz="3000" b="1" i="1" dirty="0">
              <a:latin typeface="Times New Roman" panose="02020603050405020304" pitchFamily="18" charset="0"/>
            </a:endParaRPr>
          </a:p>
          <a:p>
            <a:pPr>
              <a:spcBef>
                <a:spcPts val="1200"/>
              </a:spcBef>
            </a:pPr>
            <a:r>
              <a:rPr lang="en-GB" sz="3000" dirty="0">
                <a:solidFill>
                  <a:srgbClr val="002060"/>
                </a:solidFill>
                <a:latin typeface="Times New Roman" panose="02020603050405020304" pitchFamily="18" charset="0"/>
              </a:rPr>
              <a:t>In practical waveforms, </a:t>
            </a:r>
            <a:endParaRPr lang="en-GB" sz="3000" b="1" i="1" dirty="0">
              <a:latin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GB" sz="3000" dirty="0">
                <a:solidFill>
                  <a:srgbClr val="002060"/>
                </a:solidFill>
                <a:latin typeface="Times New Roman" panose="02020603050405020304" pitchFamily="18" charset="0"/>
              </a:rPr>
              <a:t>higher harmonics usually have lower amplitudes</a:t>
            </a:r>
            <a:endParaRPr lang="en-GB" sz="3000" b="1" i="1" dirty="0">
              <a:latin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GB" sz="3000" dirty="0">
                <a:solidFill>
                  <a:srgbClr val="002060"/>
                </a:solidFill>
                <a:latin typeface="Times New Roman" panose="02020603050405020304" pitchFamily="18" charset="0"/>
              </a:rPr>
              <a:t>for smooth waveforms, high harmonics are negligible.</a:t>
            </a:r>
            <a:endParaRPr lang="en-GB" sz="3000" b="1" i="1" dirty="0">
              <a:latin typeface="Times New Roman" panose="02020603050405020304" pitchFamily="18" charset="0"/>
            </a:endParaRPr>
          </a:p>
        </p:txBody>
      </p:sp>
      <p:pic>
        <p:nvPicPr>
          <p:cNvPr id="5" name="Picture 4">
            <a:extLst>
              <a:ext uri="{FF2B5EF4-FFF2-40B4-BE49-F238E27FC236}">
                <a16:creationId xmlns:a16="http://schemas.microsoft.com/office/drawing/2014/main" id="{90EE51BE-1094-4E85-A1A2-6FBDF9449FFF}"/>
              </a:ext>
            </a:extLst>
          </p:cNvPr>
          <p:cNvPicPr>
            <a:picLocks noChangeAspect="1"/>
          </p:cNvPicPr>
          <p:nvPr/>
        </p:nvPicPr>
        <p:blipFill>
          <a:blip r:embed="rId3">
            <a:clrChange>
              <a:clrFrom>
                <a:srgbClr val="CDFFFF"/>
              </a:clrFrom>
              <a:clrTo>
                <a:srgbClr val="CDFFFF">
                  <a:alpha val="0"/>
                </a:srgbClr>
              </a:clrTo>
            </a:clrChange>
            <a:extLst>
              <a:ext uri="{28A0092B-C50C-407E-A947-70E740481C1C}">
                <a14:useLocalDpi xmlns:a14="http://schemas.microsoft.com/office/drawing/2010/main" val="0"/>
              </a:ext>
            </a:extLst>
          </a:blip>
          <a:srcRect/>
          <a:stretch>
            <a:fillRect/>
          </a:stretch>
        </p:blipFill>
        <p:spPr bwMode="auto">
          <a:xfrm>
            <a:off x="6739600" y="850242"/>
            <a:ext cx="5300000" cy="4401206"/>
          </a:xfrm>
          <a:prstGeom prst="rect">
            <a:avLst/>
          </a:prstGeom>
          <a:noFill/>
          <a:ln>
            <a:noFill/>
          </a:ln>
        </p:spPr>
      </p:pic>
      <p:sp>
        <p:nvSpPr>
          <p:cNvPr id="4" name="Rectangle 3">
            <a:extLst>
              <a:ext uri="{FF2B5EF4-FFF2-40B4-BE49-F238E27FC236}">
                <a16:creationId xmlns:a16="http://schemas.microsoft.com/office/drawing/2014/main" id="{91DDFB9B-712C-4199-9371-70A9F55BFA21}"/>
              </a:ext>
            </a:extLst>
          </p:cNvPr>
          <p:cNvSpPr/>
          <p:nvPr/>
        </p:nvSpPr>
        <p:spPr>
          <a:xfrm>
            <a:off x="429715" y="5454168"/>
            <a:ext cx="8852326" cy="1015663"/>
          </a:xfrm>
          <a:prstGeom prst="rect">
            <a:avLst/>
          </a:prstGeom>
        </p:spPr>
        <p:txBody>
          <a:bodyPr wrap="square">
            <a:spAutoFit/>
          </a:bodyPr>
          <a:lstStyle/>
          <a:p>
            <a:r>
              <a:rPr lang="en-GB" sz="3000" b="1" i="1" dirty="0">
                <a:solidFill>
                  <a:srgbClr val="002060"/>
                </a:solidFill>
                <a:latin typeface="Times New Roman" panose="02020603050405020304" pitchFamily="18" charset="0"/>
                <a:ea typeface="Times New Roman" panose="02020603050405020304" pitchFamily="18" charset="0"/>
              </a:rPr>
              <a:t>for piecewise continuous waveforms (such as square waveform) harmonics do not decrease very rapidly. </a:t>
            </a:r>
            <a:endParaRPr lang="en-GB" sz="3000" dirty="0"/>
          </a:p>
        </p:txBody>
      </p:sp>
    </p:spTree>
    <p:extLst>
      <p:ext uri="{BB962C8B-B14F-4D97-AF65-F5344CB8AC3E}">
        <p14:creationId xmlns:p14="http://schemas.microsoft.com/office/powerpoint/2010/main" val="3507253543"/>
      </p:ext>
    </p:extLst>
  </p:cSld>
  <p:clrMapOvr>
    <a:masterClrMapping/>
  </p:clrMapOvr>
  <mc:AlternateContent xmlns:mc="http://schemas.openxmlformats.org/markup-compatibility/2006" xmlns:p14="http://schemas.microsoft.com/office/powerpoint/2010/main">
    <mc:Choice Requires="p14">
      <p:transition spd="slow" p14:dur="2000" advTm="66007"/>
    </mc:Choice>
    <mc:Fallback xmlns="">
      <p:transition spd="slow" advTm="66007"/>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fontScale="90000"/>
          </a:bodyPr>
          <a:lstStyle/>
          <a:p>
            <a:r>
              <a:rPr lang="en-US" sz="3600" dirty="0"/>
              <a:t>Harmonic magnitude and phase angle</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CF1A40BD-1001-45A4-AD82-5C2B1B9145F7}"/>
              </a:ext>
            </a:extLst>
          </p:cNvPr>
          <p:cNvSpPr>
            <a:spLocks noChangeArrowheads="1"/>
          </p:cNvSpPr>
          <p:nvPr/>
        </p:nvSpPr>
        <p:spPr bwMode="auto">
          <a:xfrm>
            <a:off x="1063256" y="127497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4" name="Object 3">
            <a:extLst>
              <a:ext uri="{FF2B5EF4-FFF2-40B4-BE49-F238E27FC236}">
                <a16:creationId xmlns:a16="http://schemas.microsoft.com/office/drawing/2014/main" id="{43355023-708E-4B09-8EC4-EDFC45BA8E58}"/>
              </a:ext>
            </a:extLst>
          </p:cNvPr>
          <p:cNvGraphicFramePr>
            <a:graphicFrameLocks noChangeAspect="1"/>
          </p:cNvGraphicFramePr>
          <p:nvPr>
            <p:extLst>
              <p:ext uri="{D42A27DB-BD31-4B8C-83A1-F6EECF244321}">
                <p14:modId xmlns:p14="http://schemas.microsoft.com/office/powerpoint/2010/main" val="3534473954"/>
              </p:ext>
            </p:extLst>
          </p:nvPr>
        </p:nvGraphicFramePr>
        <p:xfrm>
          <a:off x="1063256" y="1274974"/>
          <a:ext cx="7658100" cy="1162050"/>
        </p:xfrm>
        <a:graphic>
          <a:graphicData uri="http://schemas.openxmlformats.org/presentationml/2006/ole">
            <mc:AlternateContent xmlns:mc="http://schemas.openxmlformats.org/markup-compatibility/2006">
              <mc:Choice xmlns:v="urn:schemas-microsoft-com:vml" Requires="v">
                <p:oleObj r:id="rId3" imgW="2590800" imgH="393700" progId="Equation.3">
                  <p:embed/>
                </p:oleObj>
              </mc:Choice>
              <mc:Fallback>
                <p:oleObj r:id="rId3" imgW="2590800" imgH="3937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3256" y="1274974"/>
                        <a:ext cx="7658100" cy="1162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a:extLst>
              <a:ext uri="{FF2B5EF4-FFF2-40B4-BE49-F238E27FC236}">
                <a16:creationId xmlns:a16="http://schemas.microsoft.com/office/drawing/2014/main" id="{95420686-0E4B-4CE7-AD3B-01E54AE72A57}"/>
              </a:ext>
            </a:extLst>
          </p:cNvPr>
          <p:cNvGraphicFramePr>
            <a:graphicFrameLocks noChangeAspect="1"/>
          </p:cNvGraphicFramePr>
          <p:nvPr>
            <p:extLst>
              <p:ext uri="{D42A27DB-BD31-4B8C-83A1-F6EECF244321}">
                <p14:modId xmlns:p14="http://schemas.microsoft.com/office/powerpoint/2010/main" val="1849309766"/>
              </p:ext>
            </p:extLst>
          </p:nvPr>
        </p:nvGraphicFramePr>
        <p:xfrm>
          <a:off x="4635795" y="3328064"/>
          <a:ext cx="2209800" cy="933450"/>
        </p:xfrm>
        <a:graphic>
          <a:graphicData uri="http://schemas.openxmlformats.org/presentationml/2006/ole">
            <mc:AlternateContent xmlns:mc="http://schemas.openxmlformats.org/markup-compatibility/2006">
              <mc:Choice xmlns:v="urn:schemas-microsoft-com:vml" Requires="v">
                <p:oleObj r:id="rId5" imgW="672808" imgH="291973" progId="Equation.3">
                  <p:embed/>
                </p:oleObj>
              </mc:Choice>
              <mc:Fallback>
                <p:oleObj r:id="rId5" imgW="672808" imgH="291973"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5795" y="3328064"/>
                        <a:ext cx="2209800" cy="933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a:extLst>
              <a:ext uri="{FF2B5EF4-FFF2-40B4-BE49-F238E27FC236}">
                <a16:creationId xmlns:a16="http://schemas.microsoft.com/office/drawing/2014/main" id="{C40C2D81-6299-4B5A-95D2-08A0BDF27E7D}"/>
              </a:ext>
            </a:extLst>
          </p:cNvPr>
          <p:cNvGraphicFramePr>
            <a:graphicFrameLocks noChangeAspect="1"/>
          </p:cNvGraphicFramePr>
          <p:nvPr>
            <p:extLst>
              <p:ext uri="{D42A27DB-BD31-4B8C-83A1-F6EECF244321}">
                <p14:modId xmlns:p14="http://schemas.microsoft.com/office/powerpoint/2010/main" val="3351036605"/>
              </p:ext>
            </p:extLst>
          </p:nvPr>
        </p:nvGraphicFramePr>
        <p:xfrm>
          <a:off x="5337544" y="4561595"/>
          <a:ext cx="2647950" cy="1238250"/>
        </p:xfrm>
        <a:graphic>
          <a:graphicData uri="http://schemas.openxmlformats.org/presentationml/2006/ole">
            <mc:AlternateContent xmlns:mc="http://schemas.openxmlformats.org/markup-compatibility/2006">
              <mc:Choice xmlns:v="urn:schemas-microsoft-com:vml" Requires="v">
                <p:oleObj r:id="rId7" imgW="863225" imgH="406224" progId="Equation.3">
                  <p:embed/>
                </p:oleObj>
              </mc:Choice>
              <mc:Fallback>
                <p:oleObj r:id="rId7" imgW="863225" imgH="406224"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7544" y="4561595"/>
                        <a:ext cx="2647950" cy="1238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5">
            <a:extLst>
              <a:ext uri="{FF2B5EF4-FFF2-40B4-BE49-F238E27FC236}">
                <a16:creationId xmlns:a16="http://schemas.microsoft.com/office/drawing/2014/main" id="{DF1BA86E-504B-4ECA-93D2-F07D8A151493}"/>
              </a:ext>
            </a:extLst>
          </p:cNvPr>
          <p:cNvSpPr>
            <a:spLocks noChangeArrowheads="1"/>
          </p:cNvSpPr>
          <p:nvPr/>
        </p:nvSpPr>
        <p:spPr bwMode="auto">
          <a:xfrm>
            <a:off x="429715" y="3454053"/>
            <a:ext cx="474786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1"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Harmonic magnitude = </a:t>
            </a:r>
            <a:endParaRPr kumimoji="0" lang="en-GB" altLang="en-US" sz="1800" b="0" i="1" u="none" strike="noStrike" cap="none" normalizeH="0" baseline="0" dirty="0">
              <a:ln>
                <a:noFill/>
              </a:ln>
              <a:solidFill>
                <a:schemeClr val="tx1"/>
              </a:solidFill>
              <a:effectLst/>
              <a:latin typeface="Arial" panose="020B0604020202020204" pitchFamily="34" charset="0"/>
            </a:endParaRPr>
          </a:p>
        </p:txBody>
      </p:sp>
      <p:sp>
        <p:nvSpPr>
          <p:cNvPr id="8" name="Rectangle 6">
            <a:extLst>
              <a:ext uri="{FF2B5EF4-FFF2-40B4-BE49-F238E27FC236}">
                <a16:creationId xmlns:a16="http://schemas.microsoft.com/office/drawing/2014/main" id="{3888B003-D23E-4DD0-80CB-E6E29724BFF2}"/>
              </a:ext>
            </a:extLst>
          </p:cNvPr>
          <p:cNvSpPr>
            <a:spLocks noChangeArrowheads="1"/>
          </p:cNvSpPr>
          <p:nvPr/>
        </p:nvSpPr>
        <p:spPr bwMode="auto">
          <a:xfrm>
            <a:off x="429715" y="4842542"/>
            <a:ext cx="69412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Harmonic phase angle = </a:t>
            </a:r>
            <a:endParaRPr kumimoji="0" lang="en-GB"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Rectangle 7">
            <a:extLst>
              <a:ext uri="{FF2B5EF4-FFF2-40B4-BE49-F238E27FC236}">
                <a16:creationId xmlns:a16="http://schemas.microsoft.com/office/drawing/2014/main" id="{ADD2E10D-031D-45C5-A864-BF57E6C30D26}"/>
              </a:ext>
            </a:extLst>
          </p:cNvPr>
          <p:cNvSpPr>
            <a:spLocks noChangeArrowheads="1"/>
          </p:cNvSpPr>
          <p:nvPr/>
        </p:nvSpPr>
        <p:spPr bwMode="auto">
          <a:xfrm>
            <a:off x="0" y="2600317"/>
            <a:ext cx="463579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1"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for n</a:t>
            </a:r>
            <a:r>
              <a:rPr kumimoji="0" lang="en-GB" altLang="en-US" sz="3600" b="1" i="1"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th</a:t>
            </a:r>
            <a:r>
              <a:rPr kumimoji="0" lang="en-GB" altLang="en-US" sz="3600" b="1"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harmonic</a:t>
            </a:r>
            <a:r>
              <a:rPr kumimoji="0" lang="en-GB" altLang="en-US" sz="1100" b="0" i="0" u="none" strike="noStrike" cap="none" normalizeH="0" baseline="0" dirty="0">
                <a:ln>
                  <a:noFill/>
                </a:ln>
                <a:solidFill>
                  <a:schemeClr val="tx1"/>
                </a:solidFill>
                <a:effectLst/>
                <a:latin typeface="Arial" panose="020B0604020202020204" pitchFamily="34" charset="0"/>
              </a:rPr>
              <a:t>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01C4C862-7E05-442A-8726-CFC4F5942B2F}"/>
              </a:ext>
            </a:extLst>
          </p:cNvPr>
          <p:cNvSpPr/>
          <p:nvPr/>
        </p:nvSpPr>
        <p:spPr>
          <a:xfrm>
            <a:off x="7222591" y="3399309"/>
            <a:ext cx="3185487" cy="646331"/>
          </a:xfrm>
          <a:prstGeom prst="rect">
            <a:avLst/>
          </a:prstGeom>
        </p:spPr>
        <p:txBody>
          <a:bodyPr wrap="none">
            <a:spAutoFit/>
          </a:bodyPr>
          <a:lstStyle/>
          <a:p>
            <a:r>
              <a:rPr lang="en-GB" altLang="en-US" sz="3600" dirty="0">
                <a:solidFill>
                  <a:srgbClr val="002060"/>
                </a:solidFill>
                <a:latin typeface="Times New Roman" panose="02020603050405020304" pitchFamily="18" charset="0"/>
                <a:cs typeface="Times New Roman" panose="02020603050405020304" pitchFamily="18" charset="0"/>
              </a:rPr>
              <a:t>(positive value) </a:t>
            </a:r>
            <a:endParaRPr lang="en-GB" sz="3600" dirty="0"/>
          </a:p>
        </p:txBody>
      </p:sp>
    </p:spTree>
    <p:extLst>
      <p:ext uri="{BB962C8B-B14F-4D97-AF65-F5344CB8AC3E}">
        <p14:creationId xmlns:p14="http://schemas.microsoft.com/office/powerpoint/2010/main" val="4201397033"/>
      </p:ext>
    </p:extLst>
  </p:cSld>
  <p:clrMapOvr>
    <a:masterClrMapping/>
  </p:clrMapOvr>
  <mc:AlternateContent xmlns:mc="http://schemas.openxmlformats.org/markup-compatibility/2006" xmlns:p14="http://schemas.microsoft.com/office/powerpoint/2010/main">
    <mc:Choice Requires="p14">
      <p:transition spd="slow" p14:dur="2000" advTm="50884"/>
    </mc:Choice>
    <mc:Fallback xmlns="">
      <p:transition spd="slow" advTm="50884"/>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a:bodyPr>
          <a:lstStyle/>
          <a:p>
            <a:r>
              <a:rPr lang="en-GB" dirty="0"/>
              <a:t>Example 1</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4" name="Rectangle 3">
            <a:extLst>
              <a:ext uri="{FF2B5EF4-FFF2-40B4-BE49-F238E27FC236}">
                <a16:creationId xmlns:a16="http://schemas.microsoft.com/office/drawing/2014/main" id="{D51D45E6-DDBB-49B6-A507-D6DFF5D7276A}"/>
              </a:ext>
            </a:extLst>
          </p:cNvPr>
          <p:cNvSpPr/>
          <p:nvPr/>
        </p:nvSpPr>
        <p:spPr>
          <a:xfrm>
            <a:off x="429715" y="1213484"/>
            <a:ext cx="11095978" cy="1200329"/>
          </a:xfrm>
          <a:prstGeom prst="rect">
            <a:avLst/>
          </a:prstGeom>
        </p:spPr>
        <p:txBody>
          <a:bodyPr wrap="square">
            <a:spAutoFit/>
          </a:bodyPr>
          <a:lstStyle/>
          <a:p>
            <a:r>
              <a:rPr lang="en-US" sz="3600" dirty="0">
                <a:solidFill>
                  <a:srgbClr val="002060"/>
                </a:solidFill>
              </a:rPr>
              <a:t>Find the Fourier Series of the piecewise continuous rectangular waveform shown in figure 10.</a:t>
            </a:r>
          </a:p>
        </p:txBody>
      </p:sp>
      <p:sp>
        <p:nvSpPr>
          <p:cNvPr id="30" name="Text Box 406">
            <a:extLst>
              <a:ext uri="{FF2B5EF4-FFF2-40B4-BE49-F238E27FC236}">
                <a16:creationId xmlns:a16="http://schemas.microsoft.com/office/drawing/2014/main" id="{ED2D3762-90AD-455C-9030-5322C5661124}"/>
              </a:ext>
            </a:extLst>
          </p:cNvPr>
          <p:cNvSpPr txBox="1">
            <a:spLocks noChangeAspect="1" noChangeArrowheads="1"/>
          </p:cNvSpPr>
          <p:nvPr/>
        </p:nvSpPr>
        <p:spPr bwMode="auto">
          <a:xfrm>
            <a:off x="2934172" y="5835901"/>
            <a:ext cx="543052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000" dirty="0">
                <a:solidFill>
                  <a:srgbClr val="002060"/>
                </a:solidFill>
                <a:effectLst/>
                <a:latin typeface="Times New Roman" panose="02020603050405020304" pitchFamily="18" charset="0"/>
                <a:ea typeface="Times New Roman" panose="02020603050405020304" pitchFamily="18" charset="0"/>
              </a:rPr>
              <a:t>Figure 10 – Rectangular waveform</a:t>
            </a:r>
            <a:endParaRPr lang="en-GB" sz="1200" dirty="0">
              <a:effectLst/>
              <a:latin typeface="Times New Roman" panose="02020603050405020304" pitchFamily="18" charset="0"/>
              <a:ea typeface="Times New Roman" panose="02020603050405020304" pitchFamily="18" charset="0"/>
            </a:endParaRPr>
          </a:p>
        </p:txBody>
      </p:sp>
      <p:grpSp>
        <p:nvGrpSpPr>
          <p:cNvPr id="31" name="Group 30">
            <a:extLst>
              <a:ext uri="{FF2B5EF4-FFF2-40B4-BE49-F238E27FC236}">
                <a16:creationId xmlns:a16="http://schemas.microsoft.com/office/drawing/2014/main" id="{05F8A274-F3FE-4D48-91E3-84EA405F4325}"/>
              </a:ext>
            </a:extLst>
          </p:cNvPr>
          <p:cNvGrpSpPr>
            <a:grpSpLocks noChangeAspect="1"/>
          </p:cNvGrpSpPr>
          <p:nvPr/>
        </p:nvGrpSpPr>
        <p:grpSpPr bwMode="auto">
          <a:xfrm>
            <a:off x="825608" y="2383019"/>
            <a:ext cx="8692742" cy="3294765"/>
            <a:chOff x="7418" y="1238"/>
            <a:chExt cx="3360" cy="1800"/>
          </a:xfrm>
        </p:grpSpPr>
        <p:cxnSp>
          <p:nvCxnSpPr>
            <p:cNvPr id="32" name="Line 384">
              <a:extLst>
                <a:ext uri="{FF2B5EF4-FFF2-40B4-BE49-F238E27FC236}">
                  <a16:creationId xmlns:a16="http://schemas.microsoft.com/office/drawing/2014/main" id="{5B0A9194-1072-41FE-97B4-77E726FE1621}"/>
                </a:ext>
              </a:extLst>
            </p:cNvPr>
            <p:cNvCxnSpPr>
              <a:cxnSpLocks noChangeAspect="1" noChangeShapeType="1"/>
            </p:cNvCxnSpPr>
            <p:nvPr/>
          </p:nvCxnSpPr>
          <p:spPr bwMode="auto">
            <a:xfrm>
              <a:off x="9098" y="1418"/>
              <a:ext cx="0" cy="1620"/>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33" name="Line 385">
              <a:extLst>
                <a:ext uri="{FF2B5EF4-FFF2-40B4-BE49-F238E27FC236}">
                  <a16:creationId xmlns:a16="http://schemas.microsoft.com/office/drawing/2014/main" id="{A9799A15-3743-4014-B46C-C52E328C3D3E}"/>
                </a:ext>
              </a:extLst>
            </p:cNvPr>
            <p:cNvCxnSpPr>
              <a:cxnSpLocks noChangeAspect="1" noChangeShapeType="1"/>
            </p:cNvCxnSpPr>
            <p:nvPr/>
          </p:nvCxnSpPr>
          <p:spPr bwMode="auto">
            <a:xfrm>
              <a:off x="7418" y="2318"/>
              <a:ext cx="3240"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grpSp>
          <p:nvGrpSpPr>
            <p:cNvPr id="35" name="Group 34">
              <a:extLst>
                <a:ext uri="{FF2B5EF4-FFF2-40B4-BE49-F238E27FC236}">
                  <a16:creationId xmlns:a16="http://schemas.microsoft.com/office/drawing/2014/main" id="{35949283-62DD-4A56-9B64-151367006861}"/>
                </a:ext>
              </a:extLst>
            </p:cNvPr>
            <p:cNvGrpSpPr>
              <a:grpSpLocks noChangeAspect="1"/>
            </p:cNvGrpSpPr>
            <p:nvPr/>
          </p:nvGrpSpPr>
          <p:grpSpPr bwMode="auto">
            <a:xfrm>
              <a:off x="7538" y="1778"/>
              <a:ext cx="3000" cy="1080"/>
              <a:chOff x="7538" y="1778"/>
              <a:chExt cx="3000" cy="1080"/>
            </a:xfrm>
          </p:grpSpPr>
          <p:cxnSp>
            <p:nvCxnSpPr>
              <p:cNvPr id="45" name="Line 386">
                <a:extLst>
                  <a:ext uri="{FF2B5EF4-FFF2-40B4-BE49-F238E27FC236}">
                    <a16:creationId xmlns:a16="http://schemas.microsoft.com/office/drawing/2014/main" id="{5D9831D7-D24E-469A-9E9C-26F2561CFE02}"/>
                  </a:ext>
                </a:extLst>
              </p:cNvPr>
              <p:cNvCxnSpPr>
                <a:cxnSpLocks noChangeAspect="1" noChangeShapeType="1"/>
              </p:cNvCxnSpPr>
              <p:nvPr/>
            </p:nvCxnSpPr>
            <p:spPr bwMode="auto">
              <a:xfrm>
                <a:off x="8738" y="1778"/>
                <a:ext cx="72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46" name="Line 387">
                <a:extLst>
                  <a:ext uri="{FF2B5EF4-FFF2-40B4-BE49-F238E27FC236}">
                    <a16:creationId xmlns:a16="http://schemas.microsoft.com/office/drawing/2014/main" id="{9FC9FD55-5D4A-4839-AB63-1CD1DBB923D1}"/>
                  </a:ext>
                </a:extLst>
              </p:cNvPr>
              <p:cNvCxnSpPr>
                <a:cxnSpLocks noChangeAspect="1" noChangeShapeType="1"/>
              </p:cNvCxnSpPr>
              <p:nvPr/>
            </p:nvCxnSpPr>
            <p:spPr bwMode="auto">
              <a:xfrm>
                <a:off x="9458" y="177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47" name="Line 388">
                <a:extLst>
                  <a:ext uri="{FF2B5EF4-FFF2-40B4-BE49-F238E27FC236}">
                    <a16:creationId xmlns:a16="http://schemas.microsoft.com/office/drawing/2014/main" id="{BBB22E1A-79D5-44C9-A602-46CBD81F4537}"/>
                  </a:ext>
                </a:extLst>
              </p:cNvPr>
              <p:cNvCxnSpPr>
                <a:cxnSpLocks noChangeAspect="1" noChangeShapeType="1"/>
              </p:cNvCxnSpPr>
              <p:nvPr/>
            </p:nvCxnSpPr>
            <p:spPr bwMode="auto">
              <a:xfrm>
                <a:off x="9458" y="2858"/>
                <a:ext cx="72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48" name="Line 389">
                <a:extLst>
                  <a:ext uri="{FF2B5EF4-FFF2-40B4-BE49-F238E27FC236}">
                    <a16:creationId xmlns:a16="http://schemas.microsoft.com/office/drawing/2014/main" id="{8C04D975-E365-4E40-9F9E-2ECFCFD19713}"/>
                  </a:ext>
                </a:extLst>
              </p:cNvPr>
              <p:cNvCxnSpPr>
                <a:cxnSpLocks noChangeAspect="1" noChangeShapeType="1"/>
              </p:cNvCxnSpPr>
              <p:nvPr/>
            </p:nvCxnSpPr>
            <p:spPr bwMode="auto">
              <a:xfrm>
                <a:off x="10178" y="177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49" name="Line 390">
                <a:extLst>
                  <a:ext uri="{FF2B5EF4-FFF2-40B4-BE49-F238E27FC236}">
                    <a16:creationId xmlns:a16="http://schemas.microsoft.com/office/drawing/2014/main" id="{26947502-A147-411C-B61D-57138B83D527}"/>
                  </a:ext>
                </a:extLst>
              </p:cNvPr>
              <p:cNvCxnSpPr>
                <a:cxnSpLocks noChangeAspect="1" noChangeShapeType="1"/>
              </p:cNvCxnSpPr>
              <p:nvPr/>
            </p:nvCxnSpPr>
            <p:spPr bwMode="auto">
              <a:xfrm>
                <a:off x="10178" y="1778"/>
                <a:ext cx="36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50" name="Line 391">
                <a:extLst>
                  <a:ext uri="{FF2B5EF4-FFF2-40B4-BE49-F238E27FC236}">
                    <a16:creationId xmlns:a16="http://schemas.microsoft.com/office/drawing/2014/main" id="{56B625BA-C52A-4605-B1C6-C709B3461EC1}"/>
                  </a:ext>
                </a:extLst>
              </p:cNvPr>
              <p:cNvCxnSpPr>
                <a:cxnSpLocks noChangeAspect="1" noChangeShapeType="1"/>
              </p:cNvCxnSpPr>
              <p:nvPr/>
            </p:nvCxnSpPr>
            <p:spPr bwMode="auto">
              <a:xfrm>
                <a:off x="7538" y="1778"/>
                <a:ext cx="48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51" name="Line 392">
                <a:extLst>
                  <a:ext uri="{FF2B5EF4-FFF2-40B4-BE49-F238E27FC236}">
                    <a16:creationId xmlns:a16="http://schemas.microsoft.com/office/drawing/2014/main" id="{83CDCCC6-9213-456F-882D-4009E11ED0E5}"/>
                  </a:ext>
                </a:extLst>
              </p:cNvPr>
              <p:cNvCxnSpPr>
                <a:cxnSpLocks noChangeAspect="1" noChangeShapeType="1"/>
              </p:cNvCxnSpPr>
              <p:nvPr/>
            </p:nvCxnSpPr>
            <p:spPr bwMode="auto">
              <a:xfrm>
                <a:off x="8018" y="177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52" name="Line 393">
                <a:extLst>
                  <a:ext uri="{FF2B5EF4-FFF2-40B4-BE49-F238E27FC236}">
                    <a16:creationId xmlns:a16="http://schemas.microsoft.com/office/drawing/2014/main" id="{6875C821-A6B4-48E6-BB9E-FE83742FE458}"/>
                  </a:ext>
                </a:extLst>
              </p:cNvPr>
              <p:cNvCxnSpPr>
                <a:cxnSpLocks noChangeAspect="1" noChangeShapeType="1"/>
              </p:cNvCxnSpPr>
              <p:nvPr/>
            </p:nvCxnSpPr>
            <p:spPr bwMode="auto">
              <a:xfrm>
                <a:off x="8018" y="2858"/>
                <a:ext cx="72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53" name="Line 394">
                <a:extLst>
                  <a:ext uri="{FF2B5EF4-FFF2-40B4-BE49-F238E27FC236}">
                    <a16:creationId xmlns:a16="http://schemas.microsoft.com/office/drawing/2014/main" id="{928576B2-ECA7-4CA5-B9B3-25E3D51D9876}"/>
                  </a:ext>
                </a:extLst>
              </p:cNvPr>
              <p:cNvCxnSpPr>
                <a:cxnSpLocks noChangeAspect="1" noChangeShapeType="1"/>
              </p:cNvCxnSpPr>
              <p:nvPr/>
            </p:nvCxnSpPr>
            <p:spPr bwMode="auto">
              <a:xfrm>
                <a:off x="8738" y="177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grpSp>
        <p:sp>
          <p:nvSpPr>
            <p:cNvPr id="36" name="Text Box 396">
              <a:extLst>
                <a:ext uri="{FF2B5EF4-FFF2-40B4-BE49-F238E27FC236}">
                  <a16:creationId xmlns:a16="http://schemas.microsoft.com/office/drawing/2014/main" id="{ABCE7C6C-5FAD-4860-8CF3-BA6C2A5B82B8}"/>
                </a:ext>
              </a:extLst>
            </p:cNvPr>
            <p:cNvSpPr txBox="1">
              <a:spLocks noChangeAspect="1" noChangeArrowheads="1"/>
            </p:cNvSpPr>
            <p:nvPr/>
          </p:nvSpPr>
          <p:spPr bwMode="auto">
            <a:xfrm>
              <a:off x="9218" y="1238"/>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6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37" name="Text Box 397">
              <a:extLst>
                <a:ext uri="{FF2B5EF4-FFF2-40B4-BE49-F238E27FC236}">
                  <a16:creationId xmlns:a16="http://schemas.microsoft.com/office/drawing/2014/main" id="{0354071D-143C-4248-B071-BCE365C53503}"/>
                </a:ext>
              </a:extLst>
            </p:cNvPr>
            <p:cNvSpPr txBox="1">
              <a:spLocks noChangeAspect="1" noChangeArrowheads="1"/>
            </p:cNvSpPr>
            <p:nvPr/>
          </p:nvSpPr>
          <p:spPr bwMode="auto">
            <a:xfrm>
              <a:off x="10538" y="1958"/>
              <a:ext cx="2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6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38" name="Text Box 398">
              <a:extLst>
                <a:ext uri="{FF2B5EF4-FFF2-40B4-BE49-F238E27FC236}">
                  <a16:creationId xmlns:a16="http://schemas.microsoft.com/office/drawing/2014/main" id="{2C528892-5BF8-434E-9011-F46261271C61}"/>
                </a:ext>
              </a:extLst>
            </p:cNvPr>
            <p:cNvSpPr txBox="1">
              <a:spLocks noChangeAspect="1" noChangeArrowheads="1"/>
            </p:cNvSpPr>
            <p:nvPr/>
          </p:nvSpPr>
          <p:spPr bwMode="auto">
            <a:xfrm>
              <a:off x="8888" y="1448"/>
              <a:ext cx="2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E</a:t>
              </a:r>
              <a:endParaRPr lang="en-GB" sz="1200">
                <a:effectLst/>
                <a:latin typeface="Times New Roman" panose="02020603050405020304" pitchFamily="18" charset="0"/>
                <a:ea typeface="Times New Roman" panose="02020603050405020304" pitchFamily="18" charset="0"/>
              </a:endParaRPr>
            </a:p>
          </p:txBody>
        </p:sp>
        <p:sp>
          <p:nvSpPr>
            <p:cNvPr id="39" name="Text Box 399">
              <a:extLst>
                <a:ext uri="{FF2B5EF4-FFF2-40B4-BE49-F238E27FC236}">
                  <a16:creationId xmlns:a16="http://schemas.microsoft.com/office/drawing/2014/main" id="{BFBB04B1-E949-48D9-A0CF-D688386A68A1}"/>
                </a:ext>
              </a:extLst>
            </p:cNvPr>
            <p:cNvSpPr txBox="1">
              <a:spLocks noChangeAspect="1" noChangeArrowheads="1"/>
            </p:cNvSpPr>
            <p:nvPr/>
          </p:nvSpPr>
          <p:spPr bwMode="auto">
            <a:xfrm>
              <a:off x="8813" y="2678"/>
              <a:ext cx="39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-E</a:t>
              </a:r>
              <a:endParaRPr lang="en-GB" sz="1200">
                <a:effectLst/>
                <a:latin typeface="Times New Roman" panose="02020603050405020304" pitchFamily="18" charset="0"/>
                <a:ea typeface="Times New Roman" panose="02020603050405020304" pitchFamily="18" charset="0"/>
              </a:endParaRPr>
            </a:p>
          </p:txBody>
        </p:sp>
        <p:sp>
          <p:nvSpPr>
            <p:cNvPr id="40" name="Text Box 400">
              <a:extLst>
                <a:ext uri="{FF2B5EF4-FFF2-40B4-BE49-F238E27FC236}">
                  <a16:creationId xmlns:a16="http://schemas.microsoft.com/office/drawing/2014/main" id="{10B51EBA-6C91-4377-BC69-048DC5D1D528}"/>
                </a:ext>
              </a:extLst>
            </p:cNvPr>
            <p:cNvSpPr txBox="1">
              <a:spLocks noChangeAspect="1" noChangeArrowheads="1"/>
            </p:cNvSpPr>
            <p:nvPr/>
          </p:nvSpPr>
          <p:spPr bwMode="auto">
            <a:xfrm>
              <a:off x="8948" y="2318"/>
              <a:ext cx="2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0</a:t>
              </a:r>
              <a:endParaRPr lang="en-GB" sz="1200">
                <a:effectLst/>
                <a:latin typeface="Times New Roman" panose="02020603050405020304" pitchFamily="18" charset="0"/>
                <a:ea typeface="Times New Roman" panose="02020603050405020304" pitchFamily="18" charset="0"/>
              </a:endParaRPr>
            </a:p>
          </p:txBody>
        </p:sp>
        <p:sp>
          <p:nvSpPr>
            <p:cNvPr id="41" name="Text Box 401">
              <a:extLst>
                <a:ext uri="{FF2B5EF4-FFF2-40B4-BE49-F238E27FC236}">
                  <a16:creationId xmlns:a16="http://schemas.microsoft.com/office/drawing/2014/main" id="{299787D2-F405-4C47-9D82-ABD3B212B66E}"/>
                </a:ext>
              </a:extLst>
            </p:cNvPr>
            <p:cNvSpPr txBox="1">
              <a:spLocks noChangeAspect="1" noChangeArrowheads="1"/>
            </p:cNvSpPr>
            <p:nvPr/>
          </p:nvSpPr>
          <p:spPr bwMode="auto">
            <a:xfrm>
              <a:off x="9458" y="231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T/2</a:t>
              </a:r>
              <a:endParaRPr lang="en-GB" sz="1200">
                <a:effectLst/>
                <a:latin typeface="Times New Roman" panose="02020603050405020304" pitchFamily="18" charset="0"/>
                <a:ea typeface="Times New Roman" panose="02020603050405020304" pitchFamily="18" charset="0"/>
              </a:endParaRPr>
            </a:p>
          </p:txBody>
        </p:sp>
        <p:sp>
          <p:nvSpPr>
            <p:cNvPr id="42" name="Text Box 402">
              <a:extLst>
                <a:ext uri="{FF2B5EF4-FFF2-40B4-BE49-F238E27FC236}">
                  <a16:creationId xmlns:a16="http://schemas.microsoft.com/office/drawing/2014/main" id="{829193CC-5DA4-4A31-A8AF-659C2C17ABBD}"/>
                </a:ext>
              </a:extLst>
            </p:cNvPr>
            <p:cNvSpPr txBox="1">
              <a:spLocks noChangeAspect="1" noChangeArrowheads="1"/>
            </p:cNvSpPr>
            <p:nvPr/>
          </p:nvSpPr>
          <p:spPr bwMode="auto">
            <a:xfrm>
              <a:off x="10178" y="2318"/>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3T/2</a:t>
              </a:r>
              <a:endParaRPr lang="en-GB" sz="1200">
                <a:effectLst/>
                <a:latin typeface="Times New Roman" panose="02020603050405020304" pitchFamily="18" charset="0"/>
                <a:ea typeface="Times New Roman" panose="02020603050405020304" pitchFamily="18" charset="0"/>
              </a:endParaRPr>
            </a:p>
          </p:txBody>
        </p:sp>
        <p:sp>
          <p:nvSpPr>
            <p:cNvPr id="43" name="Text Box 403">
              <a:extLst>
                <a:ext uri="{FF2B5EF4-FFF2-40B4-BE49-F238E27FC236}">
                  <a16:creationId xmlns:a16="http://schemas.microsoft.com/office/drawing/2014/main" id="{1F573311-1310-4865-83CE-57E289C347E0}"/>
                </a:ext>
              </a:extLst>
            </p:cNvPr>
            <p:cNvSpPr txBox="1">
              <a:spLocks noChangeAspect="1" noChangeArrowheads="1"/>
            </p:cNvSpPr>
            <p:nvPr/>
          </p:nvSpPr>
          <p:spPr bwMode="auto">
            <a:xfrm>
              <a:off x="8363" y="2318"/>
              <a:ext cx="51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-T/2</a:t>
              </a:r>
              <a:endParaRPr lang="en-GB" sz="1200">
                <a:effectLst/>
                <a:latin typeface="Times New Roman" panose="02020603050405020304" pitchFamily="18" charset="0"/>
                <a:ea typeface="Times New Roman" panose="02020603050405020304" pitchFamily="18" charset="0"/>
              </a:endParaRPr>
            </a:p>
          </p:txBody>
        </p:sp>
        <p:sp>
          <p:nvSpPr>
            <p:cNvPr id="44" name="Text Box 404">
              <a:extLst>
                <a:ext uri="{FF2B5EF4-FFF2-40B4-BE49-F238E27FC236}">
                  <a16:creationId xmlns:a16="http://schemas.microsoft.com/office/drawing/2014/main" id="{8CB4B544-C539-4972-8872-5E9950D6866A}"/>
                </a:ext>
              </a:extLst>
            </p:cNvPr>
            <p:cNvSpPr txBox="1">
              <a:spLocks noChangeAspect="1" noChangeArrowheads="1"/>
            </p:cNvSpPr>
            <p:nvPr/>
          </p:nvSpPr>
          <p:spPr bwMode="auto">
            <a:xfrm>
              <a:off x="7538" y="2318"/>
              <a:ext cx="57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-3T/2</a:t>
              </a:r>
              <a:endParaRPr lang="en-GB" sz="1200">
                <a:effectLst/>
                <a:latin typeface="Times New Roman" panose="02020603050405020304" pitchFamily="18" charset="0"/>
                <a:ea typeface="Times New Roman" panose="02020603050405020304" pitchFamily="18" charset="0"/>
              </a:endParaRPr>
            </a:p>
          </p:txBody>
        </p:sp>
      </p:grpSp>
    </p:spTree>
    <p:extLst>
      <p:ext uri="{BB962C8B-B14F-4D97-AF65-F5344CB8AC3E}">
        <p14:creationId xmlns:p14="http://schemas.microsoft.com/office/powerpoint/2010/main" val="2035964946"/>
      </p:ext>
    </p:extLst>
  </p:cSld>
  <p:clrMapOvr>
    <a:masterClrMapping/>
  </p:clrMapOvr>
  <mc:AlternateContent xmlns:mc="http://schemas.openxmlformats.org/markup-compatibility/2006" xmlns:p14="http://schemas.microsoft.com/office/powerpoint/2010/main">
    <mc:Choice Requires="p14">
      <p:transition spd="slow" p14:dur="2000" advTm="22766"/>
    </mc:Choice>
    <mc:Fallback xmlns="">
      <p:transition spd="slow" advTm="22766"/>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fontScale="90000"/>
          </a:bodyPr>
          <a:lstStyle/>
          <a:p>
            <a:r>
              <a:rPr lang="en-US" sz="3600" dirty="0"/>
              <a:t>Solution</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3">
            <a:extLst>
              <a:ext uri="{FF2B5EF4-FFF2-40B4-BE49-F238E27FC236}">
                <a16:creationId xmlns:a16="http://schemas.microsoft.com/office/drawing/2014/main" id="{84621285-1166-4011-A3A2-C23456B6533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pSp>
        <p:nvGrpSpPr>
          <p:cNvPr id="5" name="Group 4">
            <a:extLst>
              <a:ext uri="{FF2B5EF4-FFF2-40B4-BE49-F238E27FC236}">
                <a16:creationId xmlns:a16="http://schemas.microsoft.com/office/drawing/2014/main" id="{587E27EF-2C69-4180-A5CA-38DF2BEC8264}"/>
              </a:ext>
            </a:extLst>
          </p:cNvPr>
          <p:cNvGrpSpPr>
            <a:grpSpLocks noChangeAspect="1"/>
          </p:cNvGrpSpPr>
          <p:nvPr/>
        </p:nvGrpSpPr>
        <p:grpSpPr bwMode="auto">
          <a:xfrm>
            <a:off x="6473666" y="1188541"/>
            <a:ext cx="5334000" cy="2857500"/>
            <a:chOff x="7418" y="1238"/>
            <a:chExt cx="3360" cy="1800"/>
          </a:xfrm>
        </p:grpSpPr>
        <p:cxnSp>
          <p:nvCxnSpPr>
            <p:cNvPr id="6" name="Line 384">
              <a:extLst>
                <a:ext uri="{FF2B5EF4-FFF2-40B4-BE49-F238E27FC236}">
                  <a16:creationId xmlns:a16="http://schemas.microsoft.com/office/drawing/2014/main" id="{6656ECF0-ABC6-4FDC-A9B6-738FEE9DB0B2}"/>
                </a:ext>
              </a:extLst>
            </p:cNvPr>
            <p:cNvCxnSpPr>
              <a:cxnSpLocks noChangeAspect="1" noChangeShapeType="1"/>
            </p:cNvCxnSpPr>
            <p:nvPr/>
          </p:nvCxnSpPr>
          <p:spPr bwMode="auto">
            <a:xfrm>
              <a:off x="9098" y="1418"/>
              <a:ext cx="0" cy="1620"/>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7" name="Line 385">
              <a:extLst>
                <a:ext uri="{FF2B5EF4-FFF2-40B4-BE49-F238E27FC236}">
                  <a16:creationId xmlns:a16="http://schemas.microsoft.com/office/drawing/2014/main" id="{17A6A109-25E1-4DF6-9DE2-22CBFB56D285}"/>
                </a:ext>
              </a:extLst>
            </p:cNvPr>
            <p:cNvCxnSpPr>
              <a:cxnSpLocks noChangeAspect="1" noChangeShapeType="1"/>
            </p:cNvCxnSpPr>
            <p:nvPr/>
          </p:nvCxnSpPr>
          <p:spPr bwMode="auto">
            <a:xfrm>
              <a:off x="7418" y="2318"/>
              <a:ext cx="3240"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grpSp>
          <p:nvGrpSpPr>
            <p:cNvPr id="8" name="Group 7">
              <a:extLst>
                <a:ext uri="{FF2B5EF4-FFF2-40B4-BE49-F238E27FC236}">
                  <a16:creationId xmlns:a16="http://schemas.microsoft.com/office/drawing/2014/main" id="{CA420024-03FD-4301-9175-9CAA62E4A957}"/>
                </a:ext>
              </a:extLst>
            </p:cNvPr>
            <p:cNvGrpSpPr>
              <a:grpSpLocks noChangeAspect="1"/>
            </p:cNvGrpSpPr>
            <p:nvPr/>
          </p:nvGrpSpPr>
          <p:grpSpPr bwMode="auto">
            <a:xfrm>
              <a:off x="7538" y="1778"/>
              <a:ext cx="3000" cy="1080"/>
              <a:chOff x="7538" y="1778"/>
              <a:chExt cx="3000" cy="1080"/>
            </a:xfrm>
          </p:grpSpPr>
          <p:cxnSp>
            <p:nvCxnSpPr>
              <p:cNvPr id="18" name="Line 386">
                <a:extLst>
                  <a:ext uri="{FF2B5EF4-FFF2-40B4-BE49-F238E27FC236}">
                    <a16:creationId xmlns:a16="http://schemas.microsoft.com/office/drawing/2014/main" id="{96191420-F43F-4695-99FB-0B43BC8E6966}"/>
                  </a:ext>
                </a:extLst>
              </p:cNvPr>
              <p:cNvCxnSpPr>
                <a:cxnSpLocks noChangeAspect="1" noChangeShapeType="1"/>
              </p:cNvCxnSpPr>
              <p:nvPr/>
            </p:nvCxnSpPr>
            <p:spPr bwMode="auto">
              <a:xfrm>
                <a:off x="8738" y="1778"/>
                <a:ext cx="72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19" name="Line 387">
                <a:extLst>
                  <a:ext uri="{FF2B5EF4-FFF2-40B4-BE49-F238E27FC236}">
                    <a16:creationId xmlns:a16="http://schemas.microsoft.com/office/drawing/2014/main" id="{01342606-E78E-46F7-84C6-7D722A34FCB6}"/>
                  </a:ext>
                </a:extLst>
              </p:cNvPr>
              <p:cNvCxnSpPr>
                <a:cxnSpLocks noChangeAspect="1" noChangeShapeType="1"/>
              </p:cNvCxnSpPr>
              <p:nvPr/>
            </p:nvCxnSpPr>
            <p:spPr bwMode="auto">
              <a:xfrm>
                <a:off x="9458" y="177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0" name="Line 388">
                <a:extLst>
                  <a:ext uri="{FF2B5EF4-FFF2-40B4-BE49-F238E27FC236}">
                    <a16:creationId xmlns:a16="http://schemas.microsoft.com/office/drawing/2014/main" id="{777EBCD2-7F2D-4A11-AB9A-80C234227D27}"/>
                  </a:ext>
                </a:extLst>
              </p:cNvPr>
              <p:cNvCxnSpPr>
                <a:cxnSpLocks noChangeAspect="1" noChangeShapeType="1"/>
              </p:cNvCxnSpPr>
              <p:nvPr/>
            </p:nvCxnSpPr>
            <p:spPr bwMode="auto">
              <a:xfrm>
                <a:off x="9458" y="2858"/>
                <a:ext cx="72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1" name="Line 389">
                <a:extLst>
                  <a:ext uri="{FF2B5EF4-FFF2-40B4-BE49-F238E27FC236}">
                    <a16:creationId xmlns:a16="http://schemas.microsoft.com/office/drawing/2014/main" id="{BA3B9B37-43CD-4876-988C-A575689DEC97}"/>
                  </a:ext>
                </a:extLst>
              </p:cNvPr>
              <p:cNvCxnSpPr>
                <a:cxnSpLocks noChangeAspect="1" noChangeShapeType="1"/>
              </p:cNvCxnSpPr>
              <p:nvPr/>
            </p:nvCxnSpPr>
            <p:spPr bwMode="auto">
              <a:xfrm>
                <a:off x="10178" y="177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2" name="Line 390">
                <a:extLst>
                  <a:ext uri="{FF2B5EF4-FFF2-40B4-BE49-F238E27FC236}">
                    <a16:creationId xmlns:a16="http://schemas.microsoft.com/office/drawing/2014/main" id="{12FBB542-F172-46D5-ACC1-E6BE706F94B5}"/>
                  </a:ext>
                </a:extLst>
              </p:cNvPr>
              <p:cNvCxnSpPr>
                <a:cxnSpLocks noChangeAspect="1" noChangeShapeType="1"/>
              </p:cNvCxnSpPr>
              <p:nvPr/>
            </p:nvCxnSpPr>
            <p:spPr bwMode="auto">
              <a:xfrm>
                <a:off x="10178" y="1778"/>
                <a:ext cx="36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3" name="Line 391">
                <a:extLst>
                  <a:ext uri="{FF2B5EF4-FFF2-40B4-BE49-F238E27FC236}">
                    <a16:creationId xmlns:a16="http://schemas.microsoft.com/office/drawing/2014/main" id="{B4A05B85-4CC1-48C9-BF48-4EB4865B294F}"/>
                  </a:ext>
                </a:extLst>
              </p:cNvPr>
              <p:cNvCxnSpPr>
                <a:cxnSpLocks noChangeAspect="1" noChangeShapeType="1"/>
              </p:cNvCxnSpPr>
              <p:nvPr/>
            </p:nvCxnSpPr>
            <p:spPr bwMode="auto">
              <a:xfrm>
                <a:off x="7538" y="1778"/>
                <a:ext cx="48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4" name="Line 392">
                <a:extLst>
                  <a:ext uri="{FF2B5EF4-FFF2-40B4-BE49-F238E27FC236}">
                    <a16:creationId xmlns:a16="http://schemas.microsoft.com/office/drawing/2014/main" id="{A11073CC-26B3-4B8D-965B-67A67AC6E640}"/>
                  </a:ext>
                </a:extLst>
              </p:cNvPr>
              <p:cNvCxnSpPr>
                <a:cxnSpLocks noChangeAspect="1" noChangeShapeType="1"/>
              </p:cNvCxnSpPr>
              <p:nvPr/>
            </p:nvCxnSpPr>
            <p:spPr bwMode="auto">
              <a:xfrm>
                <a:off x="8018" y="177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5" name="Line 393">
                <a:extLst>
                  <a:ext uri="{FF2B5EF4-FFF2-40B4-BE49-F238E27FC236}">
                    <a16:creationId xmlns:a16="http://schemas.microsoft.com/office/drawing/2014/main" id="{CBCE82ED-4A4A-474D-885E-9FE5766240CD}"/>
                  </a:ext>
                </a:extLst>
              </p:cNvPr>
              <p:cNvCxnSpPr>
                <a:cxnSpLocks noChangeAspect="1" noChangeShapeType="1"/>
              </p:cNvCxnSpPr>
              <p:nvPr/>
            </p:nvCxnSpPr>
            <p:spPr bwMode="auto">
              <a:xfrm>
                <a:off x="8018" y="2858"/>
                <a:ext cx="72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6" name="Line 394">
                <a:extLst>
                  <a:ext uri="{FF2B5EF4-FFF2-40B4-BE49-F238E27FC236}">
                    <a16:creationId xmlns:a16="http://schemas.microsoft.com/office/drawing/2014/main" id="{638E2424-E1F1-454C-A4E6-9D50B4724DA2}"/>
                  </a:ext>
                </a:extLst>
              </p:cNvPr>
              <p:cNvCxnSpPr>
                <a:cxnSpLocks noChangeAspect="1" noChangeShapeType="1"/>
              </p:cNvCxnSpPr>
              <p:nvPr/>
            </p:nvCxnSpPr>
            <p:spPr bwMode="auto">
              <a:xfrm>
                <a:off x="8738" y="177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grpSp>
        <p:sp>
          <p:nvSpPr>
            <p:cNvPr id="9" name="Text Box 396">
              <a:extLst>
                <a:ext uri="{FF2B5EF4-FFF2-40B4-BE49-F238E27FC236}">
                  <a16:creationId xmlns:a16="http://schemas.microsoft.com/office/drawing/2014/main" id="{849212D0-D2D9-4F5D-B8E1-1FEB4C0E36FB}"/>
                </a:ext>
              </a:extLst>
            </p:cNvPr>
            <p:cNvSpPr txBox="1">
              <a:spLocks noChangeAspect="1" noChangeArrowheads="1"/>
            </p:cNvSpPr>
            <p:nvPr/>
          </p:nvSpPr>
          <p:spPr bwMode="auto">
            <a:xfrm>
              <a:off x="9218" y="1238"/>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6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10" name="Text Box 397">
              <a:extLst>
                <a:ext uri="{FF2B5EF4-FFF2-40B4-BE49-F238E27FC236}">
                  <a16:creationId xmlns:a16="http://schemas.microsoft.com/office/drawing/2014/main" id="{9EBC357C-1B4A-4102-8B9C-AFDBCD5C324D}"/>
                </a:ext>
              </a:extLst>
            </p:cNvPr>
            <p:cNvSpPr txBox="1">
              <a:spLocks noChangeAspect="1" noChangeArrowheads="1"/>
            </p:cNvSpPr>
            <p:nvPr/>
          </p:nvSpPr>
          <p:spPr bwMode="auto">
            <a:xfrm>
              <a:off x="10538" y="1958"/>
              <a:ext cx="2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6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11" name="Text Box 398">
              <a:extLst>
                <a:ext uri="{FF2B5EF4-FFF2-40B4-BE49-F238E27FC236}">
                  <a16:creationId xmlns:a16="http://schemas.microsoft.com/office/drawing/2014/main" id="{D7D33870-B2DC-4147-A787-A5B4BD583F70}"/>
                </a:ext>
              </a:extLst>
            </p:cNvPr>
            <p:cNvSpPr txBox="1">
              <a:spLocks noChangeAspect="1" noChangeArrowheads="1"/>
            </p:cNvSpPr>
            <p:nvPr/>
          </p:nvSpPr>
          <p:spPr bwMode="auto">
            <a:xfrm>
              <a:off x="8888" y="1448"/>
              <a:ext cx="2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E</a:t>
              </a:r>
              <a:endParaRPr lang="en-GB" sz="1200">
                <a:effectLst/>
                <a:latin typeface="Times New Roman" panose="02020603050405020304" pitchFamily="18" charset="0"/>
                <a:ea typeface="Times New Roman" panose="02020603050405020304" pitchFamily="18" charset="0"/>
              </a:endParaRPr>
            </a:p>
          </p:txBody>
        </p:sp>
        <p:sp>
          <p:nvSpPr>
            <p:cNvPr id="12" name="Text Box 399">
              <a:extLst>
                <a:ext uri="{FF2B5EF4-FFF2-40B4-BE49-F238E27FC236}">
                  <a16:creationId xmlns:a16="http://schemas.microsoft.com/office/drawing/2014/main" id="{CC13341A-8B86-400F-828A-9BDE7353283C}"/>
                </a:ext>
              </a:extLst>
            </p:cNvPr>
            <p:cNvSpPr txBox="1">
              <a:spLocks noChangeAspect="1" noChangeArrowheads="1"/>
            </p:cNvSpPr>
            <p:nvPr/>
          </p:nvSpPr>
          <p:spPr bwMode="auto">
            <a:xfrm>
              <a:off x="8813" y="2678"/>
              <a:ext cx="39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-E</a:t>
              </a:r>
              <a:endParaRPr lang="en-GB" sz="1200">
                <a:effectLst/>
                <a:latin typeface="Times New Roman" panose="02020603050405020304" pitchFamily="18" charset="0"/>
                <a:ea typeface="Times New Roman" panose="02020603050405020304" pitchFamily="18" charset="0"/>
              </a:endParaRPr>
            </a:p>
          </p:txBody>
        </p:sp>
        <p:sp>
          <p:nvSpPr>
            <p:cNvPr id="13" name="Text Box 400">
              <a:extLst>
                <a:ext uri="{FF2B5EF4-FFF2-40B4-BE49-F238E27FC236}">
                  <a16:creationId xmlns:a16="http://schemas.microsoft.com/office/drawing/2014/main" id="{FF7EDB0D-C044-4689-BC28-DBA8FB681D05}"/>
                </a:ext>
              </a:extLst>
            </p:cNvPr>
            <p:cNvSpPr txBox="1">
              <a:spLocks noChangeAspect="1" noChangeArrowheads="1"/>
            </p:cNvSpPr>
            <p:nvPr/>
          </p:nvSpPr>
          <p:spPr bwMode="auto">
            <a:xfrm>
              <a:off x="8948" y="2318"/>
              <a:ext cx="2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0</a:t>
              </a:r>
              <a:endParaRPr lang="en-GB" sz="1200">
                <a:effectLst/>
                <a:latin typeface="Times New Roman" panose="02020603050405020304" pitchFamily="18" charset="0"/>
                <a:ea typeface="Times New Roman" panose="02020603050405020304" pitchFamily="18" charset="0"/>
              </a:endParaRPr>
            </a:p>
          </p:txBody>
        </p:sp>
        <p:sp>
          <p:nvSpPr>
            <p:cNvPr id="14" name="Text Box 401">
              <a:extLst>
                <a:ext uri="{FF2B5EF4-FFF2-40B4-BE49-F238E27FC236}">
                  <a16:creationId xmlns:a16="http://schemas.microsoft.com/office/drawing/2014/main" id="{BB840CB5-69D6-47B5-810E-4766CE05B370}"/>
                </a:ext>
              </a:extLst>
            </p:cNvPr>
            <p:cNvSpPr txBox="1">
              <a:spLocks noChangeAspect="1" noChangeArrowheads="1"/>
            </p:cNvSpPr>
            <p:nvPr/>
          </p:nvSpPr>
          <p:spPr bwMode="auto">
            <a:xfrm>
              <a:off x="9458" y="231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T/2</a:t>
              </a:r>
              <a:endParaRPr lang="en-GB" sz="1200">
                <a:effectLst/>
                <a:latin typeface="Times New Roman" panose="02020603050405020304" pitchFamily="18" charset="0"/>
                <a:ea typeface="Times New Roman" panose="02020603050405020304" pitchFamily="18" charset="0"/>
              </a:endParaRPr>
            </a:p>
          </p:txBody>
        </p:sp>
        <p:sp>
          <p:nvSpPr>
            <p:cNvPr id="15" name="Text Box 402">
              <a:extLst>
                <a:ext uri="{FF2B5EF4-FFF2-40B4-BE49-F238E27FC236}">
                  <a16:creationId xmlns:a16="http://schemas.microsoft.com/office/drawing/2014/main" id="{408C43AF-1A1B-4C4A-B889-6AC81A77BA5B}"/>
                </a:ext>
              </a:extLst>
            </p:cNvPr>
            <p:cNvSpPr txBox="1">
              <a:spLocks noChangeAspect="1" noChangeArrowheads="1"/>
            </p:cNvSpPr>
            <p:nvPr/>
          </p:nvSpPr>
          <p:spPr bwMode="auto">
            <a:xfrm>
              <a:off x="10178" y="2318"/>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3T/2</a:t>
              </a:r>
              <a:endParaRPr lang="en-GB" sz="1200">
                <a:effectLst/>
                <a:latin typeface="Times New Roman" panose="02020603050405020304" pitchFamily="18" charset="0"/>
                <a:ea typeface="Times New Roman" panose="02020603050405020304" pitchFamily="18" charset="0"/>
              </a:endParaRPr>
            </a:p>
          </p:txBody>
        </p:sp>
        <p:sp>
          <p:nvSpPr>
            <p:cNvPr id="16" name="Text Box 403">
              <a:extLst>
                <a:ext uri="{FF2B5EF4-FFF2-40B4-BE49-F238E27FC236}">
                  <a16:creationId xmlns:a16="http://schemas.microsoft.com/office/drawing/2014/main" id="{DFAF5EDE-DC8B-4242-BB57-15A4D70C003B}"/>
                </a:ext>
              </a:extLst>
            </p:cNvPr>
            <p:cNvSpPr txBox="1">
              <a:spLocks noChangeAspect="1" noChangeArrowheads="1"/>
            </p:cNvSpPr>
            <p:nvPr/>
          </p:nvSpPr>
          <p:spPr bwMode="auto">
            <a:xfrm>
              <a:off x="8363" y="2318"/>
              <a:ext cx="51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-T/2</a:t>
              </a:r>
              <a:endParaRPr lang="en-GB" sz="1200">
                <a:effectLst/>
                <a:latin typeface="Times New Roman" panose="02020603050405020304" pitchFamily="18" charset="0"/>
                <a:ea typeface="Times New Roman" panose="02020603050405020304" pitchFamily="18" charset="0"/>
              </a:endParaRPr>
            </a:p>
          </p:txBody>
        </p:sp>
        <p:sp>
          <p:nvSpPr>
            <p:cNvPr id="17" name="Text Box 404">
              <a:extLst>
                <a:ext uri="{FF2B5EF4-FFF2-40B4-BE49-F238E27FC236}">
                  <a16:creationId xmlns:a16="http://schemas.microsoft.com/office/drawing/2014/main" id="{0FAC24F2-F6FD-4739-B7E1-706FDD89C27C}"/>
                </a:ext>
              </a:extLst>
            </p:cNvPr>
            <p:cNvSpPr txBox="1">
              <a:spLocks noChangeAspect="1" noChangeArrowheads="1"/>
            </p:cNvSpPr>
            <p:nvPr/>
          </p:nvSpPr>
          <p:spPr bwMode="auto">
            <a:xfrm>
              <a:off x="7538" y="2318"/>
              <a:ext cx="57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-3T/2</a:t>
              </a:r>
              <a:endParaRPr lang="en-GB" sz="1200">
                <a:effectLst/>
                <a:latin typeface="Times New Roman" panose="02020603050405020304" pitchFamily="18" charset="0"/>
                <a:ea typeface="Times New Roman" panose="02020603050405020304" pitchFamily="18" charset="0"/>
              </a:endParaRPr>
            </a:p>
          </p:txBody>
        </p:sp>
      </p:grpSp>
      <p:sp>
        <p:nvSpPr>
          <p:cNvPr id="4" name="Rectangle 33">
            <a:extLst>
              <a:ext uri="{FF2B5EF4-FFF2-40B4-BE49-F238E27FC236}">
                <a16:creationId xmlns:a16="http://schemas.microsoft.com/office/drawing/2014/main" id="{F8136C31-B394-4BA4-B09F-AB957E134E4C}"/>
              </a:ext>
            </a:extLst>
          </p:cNvPr>
          <p:cNvSpPr>
            <a:spLocks noChangeArrowheads="1"/>
          </p:cNvSpPr>
          <p:nvPr/>
        </p:nvSpPr>
        <p:spPr bwMode="auto">
          <a:xfrm>
            <a:off x="235268" y="738049"/>
            <a:ext cx="12026263"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Period of waveform = 2T</a:t>
            </a:r>
            <a:endParaRPr kumimoji="0" lang="en-GB"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Mean value of waveform = 0.    </a:t>
            </a:r>
            <a:endParaRPr kumimoji="0" lang="en-GB"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 </a:t>
            </a:r>
            <a:r>
              <a:rPr kumimoji="0" lang="en-GB" altLang="en-US" sz="3600" b="0" i="0" u="none" strike="noStrike" cap="none" normalizeH="0" baseline="0" dirty="0" err="1">
                <a:ln>
                  <a:noFill/>
                </a:ln>
                <a:solidFill>
                  <a:srgbClr val="002060"/>
                </a:solidFill>
                <a:effectLst/>
                <a:ea typeface="Times New Roman" panose="02020603050405020304" pitchFamily="18" charset="0"/>
              </a:rPr>
              <a:t>A</a:t>
            </a:r>
            <a:r>
              <a:rPr kumimoji="0" lang="en-GB" altLang="en-US" sz="3600" b="0" i="0" u="none" strike="noStrike" cap="none" normalizeH="0" baseline="-3000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o</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/2 = 0</a:t>
            </a:r>
            <a:endParaRPr kumimoji="0" lang="en-GB" altLang="en-US" sz="11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Waveform has even symmetry.  </a:t>
            </a:r>
            <a:endParaRPr kumimoji="0" lang="en-GB" altLang="en-US" sz="11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 B</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 0 for all n</a:t>
            </a:r>
            <a:endParaRPr kumimoji="0" lang="en-GB" altLang="en-US" sz="11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Waveform has half-wave symmetry.  </a:t>
            </a:r>
            <a:endParaRPr kumimoji="0" lang="en-GB" altLang="en-US" sz="11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 A</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B</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 0 for even n</a:t>
            </a:r>
            <a:endParaRPr kumimoji="0" lang="en-GB" altLang="en-US" sz="11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 A</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can be obtained, for odd values of 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as 4 times  integral over quarter cycle as follows.</a:t>
            </a:r>
            <a:r>
              <a:rPr kumimoji="0" lang="en-GB" altLang="en-US" sz="11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rPr>
              <a:t> </a:t>
            </a:r>
            <a:endPar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2942087551"/>
      </p:ext>
    </p:extLst>
  </p:cSld>
  <p:clrMapOvr>
    <a:masterClrMapping/>
  </p:clrMapOvr>
  <mc:AlternateContent xmlns:mc="http://schemas.openxmlformats.org/markup-compatibility/2006" xmlns:p14="http://schemas.microsoft.com/office/powerpoint/2010/main">
    <mc:Choice Requires="p14">
      <p:transition spd="slow" p14:dur="2000" advTm="74006"/>
    </mc:Choice>
    <mc:Fallback xmlns="">
      <p:transition spd="slow" advTm="74006"/>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CF0AC3E0-FF00-408C-9F32-C7E8760C1648}"/>
              </a:ext>
            </a:extLst>
          </p:cNvPr>
          <p:cNvGraphicFramePr>
            <a:graphicFrameLocks noChangeAspect="1"/>
          </p:cNvGraphicFramePr>
          <p:nvPr>
            <p:extLst>
              <p:ext uri="{D42A27DB-BD31-4B8C-83A1-F6EECF244321}">
                <p14:modId xmlns:p14="http://schemas.microsoft.com/office/powerpoint/2010/main" val="2852619694"/>
              </p:ext>
            </p:extLst>
          </p:nvPr>
        </p:nvGraphicFramePr>
        <p:xfrm>
          <a:off x="510362" y="425302"/>
          <a:ext cx="5143500" cy="1295400"/>
        </p:xfrm>
        <a:graphic>
          <a:graphicData uri="http://schemas.openxmlformats.org/presentationml/2006/ole">
            <mc:AlternateContent xmlns:mc="http://schemas.openxmlformats.org/markup-compatibility/2006">
              <mc:Choice xmlns:v="urn:schemas-microsoft-com:vml" Requires="v">
                <p:oleObj r:id="rId3" imgW="1892300" imgH="482600" progId="Equation.3">
                  <p:embed/>
                </p:oleObj>
              </mc:Choice>
              <mc:Fallback>
                <p:oleObj r:id="rId3" imgW="1892300" imgH="482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362" y="425302"/>
                        <a:ext cx="5143500" cy="1295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26221712-C264-4DA0-9C44-4F7987449E07}"/>
              </a:ext>
            </a:extLst>
          </p:cNvPr>
          <p:cNvGraphicFramePr>
            <a:graphicFrameLocks noChangeAspect="1"/>
          </p:cNvGraphicFramePr>
          <p:nvPr>
            <p:extLst>
              <p:ext uri="{D42A27DB-BD31-4B8C-83A1-F6EECF244321}">
                <p14:modId xmlns:p14="http://schemas.microsoft.com/office/powerpoint/2010/main" val="1449689202"/>
              </p:ext>
            </p:extLst>
          </p:nvPr>
        </p:nvGraphicFramePr>
        <p:xfrm>
          <a:off x="509476" y="1849248"/>
          <a:ext cx="11477847" cy="1264660"/>
        </p:xfrm>
        <a:graphic>
          <a:graphicData uri="http://schemas.openxmlformats.org/presentationml/2006/ole">
            <mc:AlternateContent xmlns:mc="http://schemas.openxmlformats.org/markup-compatibility/2006">
              <mc:Choice xmlns:v="urn:schemas-microsoft-com:vml" Requires="v">
                <p:oleObj r:id="rId5" imgW="4876800" imgH="495300" progId="Equation.3">
                  <p:embed/>
                </p:oleObj>
              </mc:Choice>
              <mc:Fallback>
                <p:oleObj r:id="rId5" imgW="4876800" imgH="4953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9476" y="1849248"/>
                        <a:ext cx="11477847" cy="1264660"/>
                      </a:xfrm>
                      <a:prstGeom prst="rect">
                        <a:avLst/>
                      </a:prstGeom>
                      <a:noFill/>
                    </p:spPr>
                  </p:pic>
                </p:oleObj>
              </mc:Fallback>
            </mc:AlternateContent>
          </a:graphicData>
        </a:graphic>
      </p:graphicFrame>
      <p:graphicFrame>
        <p:nvGraphicFramePr>
          <p:cNvPr id="5" name="Object 4">
            <a:extLst>
              <a:ext uri="{FF2B5EF4-FFF2-40B4-BE49-F238E27FC236}">
                <a16:creationId xmlns:a16="http://schemas.microsoft.com/office/drawing/2014/main" id="{6C5FA147-F515-4B3A-BCC7-4C2AE7DFE0B2}"/>
              </a:ext>
            </a:extLst>
          </p:cNvPr>
          <p:cNvGraphicFramePr>
            <a:graphicFrameLocks noChangeAspect="1"/>
          </p:cNvGraphicFramePr>
          <p:nvPr>
            <p:extLst>
              <p:ext uri="{D42A27DB-BD31-4B8C-83A1-F6EECF244321}">
                <p14:modId xmlns:p14="http://schemas.microsoft.com/office/powerpoint/2010/main" val="1271693433"/>
              </p:ext>
            </p:extLst>
          </p:nvPr>
        </p:nvGraphicFramePr>
        <p:xfrm>
          <a:off x="1608133" y="5315050"/>
          <a:ext cx="8471532" cy="1196572"/>
        </p:xfrm>
        <a:graphic>
          <a:graphicData uri="http://schemas.openxmlformats.org/presentationml/2006/ole">
            <mc:AlternateContent xmlns:mc="http://schemas.openxmlformats.org/markup-compatibility/2006">
              <mc:Choice xmlns:v="urn:schemas-microsoft-com:vml" Requires="v">
                <p:oleObj r:id="rId7" imgW="3213100" imgH="431800" progId="Equation.3">
                  <p:embed/>
                </p:oleObj>
              </mc:Choice>
              <mc:Fallback>
                <p:oleObj r:id="rId7" imgW="3213100" imgH="431800"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8133" y="5315050"/>
                        <a:ext cx="8471532" cy="1196572"/>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B2CBEAF7-37E7-48C1-BDDA-64E26DD7D81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7" name="Rectangle 5">
            <a:extLst>
              <a:ext uri="{FF2B5EF4-FFF2-40B4-BE49-F238E27FC236}">
                <a16:creationId xmlns:a16="http://schemas.microsoft.com/office/drawing/2014/main" id="{5FF9D461-6560-4817-84FB-55845E97DA4D}"/>
              </a:ext>
            </a:extLst>
          </p:cNvPr>
          <p:cNvSpPr>
            <a:spLocks noChangeArrowheads="1"/>
          </p:cNvSpPr>
          <p:nvPr/>
        </p:nvSpPr>
        <p:spPr bwMode="auto">
          <a:xfrm>
            <a:off x="5500353" y="738146"/>
            <a:ext cx="231656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571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57150" algn="l" defTabSz="914400" rtl="0" eaLnBrk="0" fontAlgn="base" latinLnBrk="0" hangingPunct="0">
              <a:lnSpc>
                <a:spcPct val="100000"/>
              </a:lnSpc>
              <a:spcBef>
                <a:spcPct val="0"/>
              </a:spcBef>
              <a:spcAft>
                <a:spcPct val="0"/>
              </a:spcAft>
              <a:buClrTx/>
              <a:buSzTx/>
              <a:buFontTx/>
              <a:buNone/>
              <a:tabLst/>
            </a:pPr>
            <a:r>
              <a:rPr kumimoji="0" lang="pt-BR"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pt-BR"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for odd n</a:t>
            </a:r>
            <a:endParaRPr kumimoji="0" lang="en-GB" altLang="en-US" sz="1100" b="0" i="0" u="none" strike="noStrike" cap="none" normalizeH="0" baseline="0" dirty="0">
              <a:ln>
                <a:noFill/>
              </a:ln>
              <a:solidFill>
                <a:schemeClr val="tx1"/>
              </a:solidFill>
              <a:effectLst/>
              <a:latin typeface="Arial" panose="020B0604020202020204" pitchFamily="34" charset="0"/>
            </a:endParaRPr>
          </a:p>
        </p:txBody>
      </p:sp>
      <p:sp>
        <p:nvSpPr>
          <p:cNvPr id="8" name="Rectangle 6">
            <a:extLst>
              <a:ext uri="{FF2B5EF4-FFF2-40B4-BE49-F238E27FC236}">
                <a16:creationId xmlns:a16="http://schemas.microsoft.com/office/drawing/2014/main" id="{8A443BA0-4782-4EB3-AF63-B3C99254C72B}"/>
              </a:ext>
            </a:extLst>
          </p:cNvPr>
          <p:cNvSpPr>
            <a:spLocks noChangeArrowheads="1"/>
          </p:cNvSpPr>
          <p:nvPr/>
        </p:nvSpPr>
        <p:spPr bwMode="auto">
          <a:xfrm>
            <a:off x="308345" y="3021197"/>
            <a:ext cx="5681330" cy="2216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57150" algn="l" defTabSz="914400" rtl="0" eaLnBrk="0" fontAlgn="base" latinLnBrk="0" hangingPunct="0">
              <a:lnSpc>
                <a:spcPct val="11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ea typeface="Times New Roman" panose="02020603050405020304" pitchFamily="18" charset="0"/>
              </a:rPr>
              <a:t>i.e.	</a:t>
            </a:r>
            <a:r>
              <a:rPr kumimoji="0" lang="pt-BR" altLang="en-US" sz="3200" b="0" i="0" u="none" strike="noStrike" cap="none" normalizeH="0" baseline="0" dirty="0">
                <a:ln>
                  <a:noFill/>
                </a:ln>
                <a:solidFill>
                  <a:srgbClr val="002060"/>
                </a:solidFill>
                <a:effectLst/>
                <a:ea typeface="Times New Roman" panose="02020603050405020304" pitchFamily="18" charset="0"/>
              </a:rPr>
              <a:t>A</a:t>
            </a:r>
            <a:r>
              <a:rPr kumimoji="0" lang="pt-BR" altLang="en-US" sz="3200" b="0" i="0" u="none" strike="noStrike" cap="none" normalizeH="0" baseline="-30000" dirty="0">
                <a:ln>
                  <a:noFill/>
                </a:ln>
                <a:solidFill>
                  <a:srgbClr val="002060"/>
                </a:solidFill>
                <a:effectLst/>
                <a:ea typeface="Times New Roman" panose="02020603050405020304" pitchFamily="18" charset="0"/>
              </a:rPr>
              <a:t>1</a:t>
            </a:r>
            <a:r>
              <a:rPr kumimoji="0" lang="pt-BR" altLang="en-US" sz="3200" b="0" i="0" u="none" strike="noStrike" cap="none" normalizeH="0" baseline="0" dirty="0">
                <a:ln>
                  <a:noFill/>
                </a:ln>
                <a:solidFill>
                  <a:srgbClr val="002060"/>
                </a:solidFill>
                <a:effectLst/>
                <a:ea typeface="Times New Roman" panose="02020603050405020304" pitchFamily="18" charset="0"/>
              </a:rPr>
              <a:t> = 4E/</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a:t>
            </a:r>
            <a:r>
              <a:rPr kumimoji="0" lang="pt-BR" altLang="en-US" sz="3200" b="0" i="0" u="none" strike="noStrike" cap="none" normalizeH="0" baseline="0" dirty="0">
                <a:ln>
                  <a:noFill/>
                </a:ln>
                <a:solidFill>
                  <a:srgbClr val="002060"/>
                </a:solidFill>
                <a:effectLst/>
                <a:ea typeface="Times New Roman" panose="02020603050405020304" pitchFamily="18" charset="0"/>
              </a:rPr>
              <a:t>, </a:t>
            </a:r>
            <a:endParaRPr kumimoji="0" lang="en-GB" altLang="en-US" sz="3200" b="0" i="0" u="none" strike="noStrike" cap="none" normalizeH="0" baseline="0" dirty="0">
              <a:ln>
                <a:noFill/>
              </a:ln>
              <a:solidFill>
                <a:schemeClr val="tx1"/>
              </a:solidFill>
              <a:effectLst/>
            </a:endParaRPr>
          </a:p>
          <a:p>
            <a:pPr marL="0" marR="0" lvl="0" indent="457200" algn="l" defTabSz="914400" rtl="0" eaLnBrk="0" fontAlgn="base" latinLnBrk="0" hangingPunct="0">
              <a:lnSpc>
                <a:spcPct val="110000"/>
              </a:lnSpc>
              <a:spcBef>
                <a:spcPct val="0"/>
              </a:spcBef>
              <a:spcAft>
                <a:spcPct val="0"/>
              </a:spcAft>
              <a:buClrTx/>
              <a:buSzTx/>
              <a:buFontTx/>
              <a:buNone/>
              <a:tabLst/>
            </a:pPr>
            <a:r>
              <a:rPr kumimoji="0" lang="pt-BR" altLang="en-US" sz="3200" b="0" i="0" u="none" strike="noStrike" cap="none" normalizeH="0" baseline="0" dirty="0">
                <a:ln>
                  <a:noFill/>
                </a:ln>
                <a:solidFill>
                  <a:srgbClr val="002060"/>
                </a:solidFill>
                <a:effectLst/>
                <a:ea typeface="Times New Roman" panose="02020603050405020304" pitchFamily="18" charset="0"/>
              </a:rPr>
              <a:t>A</a:t>
            </a:r>
            <a:r>
              <a:rPr kumimoji="0" lang="pt-BR" altLang="en-US" sz="3200" b="0" i="0" u="none" strike="noStrike" cap="none" normalizeH="0" baseline="-30000" dirty="0">
                <a:ln>
                  <a:noFill/>
                </a:ln>
                <a:solidFill>
                  <a:srgbClr val="002060"/>
                </a:solidFill>
                <a:effectLst/>
                <a:ea typeface="Times New Roman" panose="02020603050405020304" pitchFamily="18" charset="0"/>
              </a:rPr>
              <a:t>3</a:t>
            </a:r>
            <a:r>
              <a:rPr kumimoji="0" lang="pt-BR" altLang="en-US" sz="3200" b="0" i="0" u="none" strike="noStrike" cap="none" normalizeH="0" baseline="0" dirty="0">
                <a:ln>
                  <a:noFill/>
                </a:ln>
                <a:solidFill>
                  <a:srgbClr val="002060"/>
                </a:solidFill>
                <a:effectLst/>
                <a:ea typeface="Times New Roman" panose="02020603050405020304" pitchFamily="18" charset="0"/>
              </a:rPr>
              <a:t> = </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t>
            </a:r>
            <a:r>
              <a:rPr kumimoji="0" lang="pt-BR" altLang="en-US" sz="3200" b="0" i="0" u="none" strike="noStrike" cap="none" normalizeH="0" baseline="0" dirty="0">
                <a:ln>
                  <a:noFill/>
                </a:ln>
                <a:solidFill>
                  <a:srgbClr val="002060"/>
                </a:solidFill>
                <a:effectLst/>
                <a:ea typeface="Times New Roman" panose="02020603050405020304" pitchFamily="18" charset="0"/>
              </a:rPr>
              <a:t>4E/3</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 </a:t>
            </a:r>
            <a:endParaRPr kumimoji="0" lang="en-GB" altLang="en-US" sz="3200" b="0" i="0" u="none" strike="noStrike" cap="none" normalizeH="0" baseline="0" dirty="0">
              <a:ln>
                <a:noFill/>
              </a:ln>
              <a:solidFill>
                <a:schemeClr val="tx1"/>
              </a:solidFill>
              <a:effectLst/>
            </a:endParaRPr>
          </a:p>
          <a:p>
            <a:pPr marL="0" marR="0" lvl="0" indent="457200" algn="l" defTabSz="914400" rtl="0" eaLnBrk="0" fontAlgn="base" latinLnBrk="0" hangingPunct="0">
              <a:lnSpc>
                <a:spcPct val="110000"/>
              </a:lnSpc>
              <a:spcBef>
                <a:spcPct val="0"/>
              </a:spcBef>
              <a:spcAft>
                <a:spcPct val="0"/>
              </a:spcAft>
              <a:buClrTx/>
              <a:buSzTx/>
              <a:buFontTx/>
              <a:buNone/>
              <a:tabLst/>
            </a:pPr>
            <a:r>
              <a:rPr kumimoji="0" lang="pt-BR" altLang="en-US" sz="3200" b="0" i="0" u="none" strike="noStrike" cap="none" normalizeH="0" baseline="0" dirty="0">
                <a:ln>
                  <a:noFill/>
                </a:ln>
                <a:solidFill>
                  <a:srgbClr val="002060"/>
                </a:solidFill>
                <a:effectLst/>
                <a:ea typeface="Times New Roman" panose="02020603050405020304" pitchFamily="18" charset="0"/>
              </a:rPr>
              <a:t>A</a:t>
            </a:r>
            <a:r>
              <a:rPr kumimoji="0" lang="pt-BR" altLang="en-US" sz="3200" b="0" i="0" u="none" strike="noStrike" cap="none" normalizeH="0" baseline="-30000" dirty="0">
                <a:ln>
                  <a:noFill/>
                </a:ln>
                <a:solidFill>
                  <a:srgbClr val="002060"/>
                </a:solidFill>
                <a:effectLst/>
                <a:ea typeface="Times New Roman" panose="02020603050405020304" pitchFamily="18" charset="0"/>
              </a:rPr>
              <a:t>5</a:t>
            </a:r>
            <a:r>
              <a:rPr kumimoji="0" lang="pt-BR" altLang="en-US" sz="3200" b="0" i="0" u="none" strike="noStrike" cap="none" normalizeH="0" baseline="0" dirty="0">
                <a:ln>
                  <a:noFill/>
                </a:ln>
                <a:solidFill>
                  <a:srgbClr val="002060"/>
                </a:solidFill>
                <a:effectLst/>
                <a:ea typeface="Times New Roman" panose="02020603050405020304" pitchFamily="18" charset="0"/>
              </a:rPr>
              <a:t> = 4E/5</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 </a:t>
            </a:r>
            <a:endParaRPr kumimoji="0" lang="en-GB" altLang="en-US" sz="3200" b="0" i="0" u="none" strike="noStrike" cap="none" normalizeH="0" baseline="0" dirty="0">
              <a:ln>
                <a:noFill/>
              </a:ln>
              <a:solidFill>
                <a:schemeClr val="tx1"/>
              </a:solidFill>
              <a:effectLst/>
            </a:endParaRPr>
          </a:p>
          <a:p>
            <a:pPr marL="0" marR="0" lvl="0" indent="457200" algn="l" defTabSz="914400" rtl="0" eaLnBrk="0" fontAlgn="base" latinLnBrk="0" hangingPunct="0">
              <a:lnSpc>
                <a:spcPct val="110000"/>
              </a:lnSpc>
              <a:spcBef>
                <a:spcPct val="0"/>
              </a:spcBef>
              <a:spcAft>
                <a:spcPct val="0"/>
              </a:spcAft>
              <a:buClrTx/>
              <a:buSzTx/>
              <a:buFontTx/>
              <a:buNone/>
              <a:tabLst/>
            </a:pPr>
            <a:r>
              <a:rPr kumimoji="0" lang="pt-BR" altLang="en-US" sz="3200" b="0" i="0" u="none" strike="noStrike" cap="none" normalizeH="0" baseline="0" dirty="0">
                <a:ln>
                  <a:noFill/>
                </a:ln>
                <a:solidFill>
                  <a:srgbClr val="002060"/>
                </a:solidFill>
                <a:effectLst/>
                <a:ea typeface="Times New Roman" panose="02020603050405020304" pitchFamily="18" charset="0"/>
              </a:rPr>
              <a:t>A</a:t>
            </a:r>
            <a:r>
              <a:rPr kumimoji="0" lang="pt-BR" altLang="en-US" sz="3200" b="0" i="0" u="none" strike="noStrike" cap="none" normalizeH="0" baseline="-30000" dirty="0">
                <a:ln>
                  <a:noFill/>
                </a:ln>
                <a:solidFill>
                  <a:srgbClr val="002060"/>
                </a:solidFill>
                <a:effectLst/>
                <a:ea typeface="Times New Roman" panose="02020603050405020304" pitchFamily="18" charset="0"/>
              </a:rPr>
              <a:t>7</a:t>
            </a:r>
            <a:r>
              <a:rPr kumimoji="0" lang="pt-BR" altLang="en-US" sz="3200" b="0" i="0" u="none" strike="noStrike" cap="none" normalizeH="0" baseline="0" dirty="0">
                <a:ln>
                  <a:noFill/>
                </a:ln>
                <a:solidFill>
                  <a:srgbClr val="002060"/>
                </a:solidFill>
                <a:effectLst/>
                <a:ea typeface="Times New Roman" panose="02020603050405020304" pitchFamily="18" charset="0"/>
              </a:rPr>
              <a:t> = </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t>
            </a:r>
            <a:r>
              <a:rPr kumimoji="0" lang="pt-BR" altLang="en-US" sz="3200" b="0" i="0" u="none" strike="noStrike" cap="none" normalizeH="0" baseline="0" dirty="0">
                <a:ln>
                  <a:noFill/>
                </a:ln>
                <a:solidFill>
                  <a:srgbClr val="002060"/>
                </a:solidFill>
                <a:effectLst/>
                <a:ea typeface="Times New Roman" panose="02020603050405020304" pitchFamily="18" charset="0"/>
              </a:rPr>
              <a:t>4E/7</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 ...........</a:t>
            </a:r>
            <a:endParaRPr kumimoji="0" lang="en-GB" altLang="en-US" sz="3200" b="0" i="0" u="none" strike="noStrike" cap="none" normalizeH="0" baseline="0" dirty="0">
              <a:ln>
                <a:noFill/>
              </a:ln>
              <a:solidFill>
                <a:schemeClr val="tx1"/>
              </a:solidFill>
              <a:effectLst/>
            </a:endParaRPr>
          </a:p>
        </p:txBody>
      </p:sp>
      <p:sp>
        <p:nvSpPr>
          <p:cNvPr id="9" name="Rectangle 8">
            <a:extLst>
              <a:ext uri="{FF2B5EF4-FFF2-40B4-BE49-F238E27FC236}">
                <a16:creationId xmlns:a16="http://schemas.microsoft.com/office/drawing/2014/main" id="{CE6E0D52-05CA-4D28-9195-926E32BFD550}"/>
              </a:ext>
            </a:extLst>
          </p:cNvPr>
          <p:cNvSpPr/>
          <p:nvPr/>
        </p:nvSpPr>
        <p:spPr>
          <a:xfrm>
            <a:off x="0" y="5525505"/>
            <a:ext cx="1608133" cy="602729"/>
          </a:xfrm>
          <a:prstGeom prst="rect">
            <a:avLst/>
          </a:prstGeom>
        </p:spPr>
        <p:txBody>
          <a:bodyPr wrap="none">
            <a:spAutoFit/>
          </a:bodyPr>
          <a:lstStyle/>
          <a:p>
            <a:pPr lvl="0" eaLnBrk="0" fontAlgn="base" hangingPunct="0">
              <a:lnSpc>
                <a:spcPct val="110000"/>
              </a:lnSpc>
              <a:spcBef>
                <a:spcPct val="0"/>
              </a:spcBef>
              <a:spcAft>
                <a:spcPct val="0"/>
              </a:spcAft>
            </a:pPr>
            <a:r>
              <a:rPr lang="en-GB" altLang="en-US"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altLang="en-US" sz="3200" dirty="0">
                <a:solidFill>
                  <a:srgbClr val="002060"/>
                </a:solidFill>
                <a:ea typeface="Times New Roman" panose="02020603050405020304" pitchFamily="18" charset="0"/>
              </a:rPr>
              <a:t> a(t) = </a:t>
            </a:r>
            <a:endParaRPr lang="en-GB" altLang="en-US"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3010307674"/>
      </p:ext>
    </p:extLst>
  </p:cSld>
  <p:clrMapOvr>
    <a:masterClrMapping/>
  </p:clrMapOvr>
  <mc:AlternateContent xmlns:mc="http://schemas.openxmlformats.org/markup-compatibility/2006" xmlns:p14="http://schemas.microsoft.com/office/powerpoint/2010/main">
    <mc:Choice Requires="p14">
      <p:transition spd="slow" p14:dur="2000" advTm="75178"/>
    </mc:Choice>
    <mc:Fallback xmlns="">
      <p:transition spd="slow" advTm="75178"/>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fontScale="90000"/>
          </a:bodyPr>
          <a:lstStyle/>
          <a:p>
            <a:r>
              <a:rPr lang="en-US" sz="3600" dirty="0"/>
              <a:t>Fourier Synthesis of Rectangular Waveform</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pSp>
        <p:nvGrpSpPr>
          <p:cNvPr id="4" name="Group 3">
            <a:extLst>
              <a:ext uri="{FF2B5EF4-FFF2-40B4-BE49-F238E27FC236}">
                <a16:creationId xmlns:a16="http://schemas.microsoft.com/office/drawing/2014/main" id="{B894E9DE-6550-437E-9981-C4D4B5806A60}"/>
              </a:ext>
            </a:extLst>
          </p:cNvPr>
          <p:cNvGrpSpPr/>
          <p:nvPr/>
        </p:nvGrpSpPr>
        <p:grpSpPr>
          <a:xfrm>
            <a:off x="751523" y="1645920"/>
            <a:ext cx="10689566" cy="3566160"/>
            <a:chOff x="0" y="0"/>
            <a:chExt cx="10689566" cy="3566160"/>
          </a:xfrm>
        </p:grpSpPr>
        <p:cxnSp>
          <p:nvCxnSpPr>
            <p:cNvPr id="5" name="Line 384">
              <a:extLst>
                <a:ext uri="{FF2B5EF4-FFF2-40B4-BE49-F238E27FC236}">
                  <a16:creationId xmlns:a16="http://schemas.microsoft.com/office/drawing/2014/main" id="{8FF41F0C-B9EE-4ABC-948D-2747B8311DF3}"/>
                </a:ext>
              </a:extLst>
            </p:cNvPr>
            <p:cNvCxnSpPr>
              <a:cxnSpLocks noChangeAspect="1" noChangeShapeType="1"/>
            </p:cNvCxnSpPr>
            <p:nvPr/>
          </p:nvCxnSpPr>
          <p:spPr bwMode="auto">
            <a:xfrm>
              <a:off x="2662328" y="0"/>
              <a:ext cx="0" cy="3566160"/>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6" name="Line 385">
              <a:extLst>
                <a:ext uri="{FF2B5EF4-FFF2-40B4-BE49-F238E27FC236}">
                  <a16:creationId xmlns:a16="http://schemas.microsoft.com/office/drawing/2014/main" id="{9C845A8A-7D4E-405E-9F43-5069BA40AA6B}"/>
                </a:ext>
              </a:extLst>
            </p:cNvPr>
            <p:cNvCxnSpPr>
              <a:cxnSpLocks noChangeAspect="1" noChangeShapeType="1"/>
            </p:cNvCxnSpPr>
            <p:nvPr/>
          </p:nvCxnSpPr>
          <p:spPr bwMode="auto">
            <a:xfrm>
              <a:off x="0" y="1768774"/>
              <a:ext cx="10607040"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sp>
          <p:nvSpPr>
            <p:cNvPr id="7" name="Text Box 397">
              <a:extLst>
                <a:ext uri="{FF2B5EF4-FFF2-40B4-BE49-F238E27FC236}">
                  <a16:creationId xmlns:a16="http://schemas.microsoft.com/office/drawing/2014/main" id="{C4AFE9EA-C70D-4411-A4D9-48CC20DDDBB2}"/>
                </a:ext>
              </a:extLst>
            </p:cNvPr>
            <p:cNvSpPr txBox="1">
              <a:spLocks noChangeAspect="1" noChangeArrowheads="1"/>
            </p:cNvSpPr>
            <p:nvPr/>
          </p:nvSpPr>
          <p:spPr bwMode="auto">
            <a:xfrm>
              <a:off x="10308566" y="1074707"/>
              <a:ext cx="3810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6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8" name="Freeform: Shape 7">
              <a:extLst>
                <a:ext uri="{FF2B5EF4-FFF2-40B4-BE49-F238E27FC236}">
                  <a16:creationId xmlns:a16="http://schemas.microsoft.com/office/drawing/2014/main" id="{5F646F4B-4BFC-4374-B101-490E74160C67}"/>
                </a:ext>
              </a:extLst>
            </p:cNvPr>
            <p:cNvSpPr/>
            <p:nvPr/>
          </p:nvSpPr>
          <p:spPr>
            <a:xfrm>
              <a:off x="36303" y="388188"/>
              <a:ext cx="10541479" cy="2734574"/>
            </a:xfrm>
            <a:custGeom>
              <a:avLst/>
              <a:gdLst>
                <a:gd name="connsiteX0" fmla="*/ 0 w 10541479"/>
                <a:gd name="connsiteY0" fmla="*/ 2700068 h 2734574"/>
                <a:gd name="connsiteX1" fmla="*/ 1207698 w 10541479"/>
                <a:gd name="connsiteY1" fmla="*/ 2734574 h 2734574"/>
                <a:gd name="connsiteX2" fmla="*/ 1354347 w 10541479"/>
                <a:gd name="connsiteY2" fmla="*/ 0 h 2734574"/>
                <a:gd name="connsiteX3" fmla="*/ 3890513 w 10541479"/>
                <a:gd name="connsiteY3" fmla="*/ 8626 h 2734574"/>
                <a:gd name="connsiteX4" fmla="*/ 3976777 w 10541479"/>
                <a:gd name="connsiteY4" fmla="*/ 2700068 h 2734574"/>
                <a:gd name="connsiteX5" fmla="*/ 6547449 w 10541479"/>
                <a:gd name="connsiteY5" fmla="*/ 2725947 h 2734574"/>
                <a:gd name="connsiteX6" fmla="*/ 6642340 w 10541479"/>
                <a:gd name="connsiteY6" fmla="*/ 8626 h 2734574"/>
                <a:gd name="connsiteX7" fmla="*/ 9161253 w 10541479"/>
                <a:gd name="connsiteY7" fmla="*/ 0 h 2734574"/>
                <a:gd name="connsiteX8" fmla="*/ 9299276 w 10541479"/>
                <a:gd name="connsiteY8" fmla="*/ 2708694 h 2734574"/>
                <a:gd name="connsiteX9" fmla="*/ 10541479 w 10541479"/>
                <a:gd name="connsiteY9" fmla="*/ 2691441 h 2734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41479" h="2734574">
                  <a:moveTo>
                    <a:pt x="0" y="2700068"/>
                  </a:moveTo>
                  <a:lnTo>
                    <a:pt x="1207698" y="2734574"/>
                  </a:lnTo>
                  <a:lnTo>
                    <a:pt x="1354347" y="0"/>
                  </a:lnTo>
                  <a:lnTo>
                    <a:pt x="3890513" y="8626"/>
                  </a:lnTo>
                  <a:lnTo>
                    <a:pt x="3976777" y="2700068"/>
                  </a:lnTo>
                  <a:lnTo>
                    <a:pt x="6547449" y="2725947"/>
                  </a:lnTo>
                  <a:lnTo>
                    <a:pt x="6642340" y="8626"/>
                  </a:lnTo>
                  <a:lnTo>
                    <a:pt x="9161253" y="0"/>
                  </a:lnTo>
                  <a:lnTo>
                    <a:pt x="9299276" y="2708694"/>
                  </a:lnTo>
                  <a:lnTo>
                    <a:pt x="10541479" y="2691441"/>
                  </a:ln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9" name="Rectangle 8">
            <a:extLst>
              <a:ext uri="{FF2B5EF4-FFF2-40B4-BE49-F238E27FC236}">
                <a16:creationId xmlns:a16="http://schemas.microsoft.com/office/drawing/2014/main" id="{6A91CA69-A432-4F6A-B5A1-416CDD946C9D}"/>
              </a:ext>
            </a:extLst>
          </p:cNvPr>
          <p:cNvSpPr/>
          <p:nvPr/>
        </p:nvSpPr>
        <p:spPr>
          <a:xfrm>
            <a:off x="429715" y="5396943"/>
            <a:ext cx="9522359" cy="1200329"/>
          </a:xfrm>
          <a:prstGeom prst="rect">
            <a:avLst/>
          </a:prstGeom>
        </p:spPr>
        <p:txBody>
          <a:bodyPr wrap="square">
            <a:spAutoFit/>
          </a:bodyPr>
          <a:lstStyle/>
          <a:p>
            <a:r>
              <a:rPr lang="en-GB" sz="3600" dirty="0">
                <a:solidFill>
                  <a:srgbClr val="002060"/>
                </a:solidFill>
                <a:latin typeface="Times New Roman" panose="02020603050405020304" pitchFamily="18" charset="0"/>
                <a:ea typeface="Times New Roman" panose="02020603050405020304" pitchFamily="18" charset="0"/>
              </a:rPr>
              <a:t>Figure 11 shows synthesis of the rectangular waveform using the Fourier components obtained.</a:t>
            </a:r>
            <a:endParaRPr lang="en-GB" sz="3600" dirty="0"/>
          </a:p>
        </p:txBody>
      </p:sp>
      <p:sp>
        <p:nvSpPr>
          <p:cNvPr id="10" name="Freeform: Shape 9">
            <a:extLst>
              <a:ext uri="{FF2B5EF4-FFF2-40B4-BE49-F238E27FC236}">
                <a16:creationId xmlns:a16="http://schemas.microsoft.com/office/drawing/2014/main" id="{FEC3F331-A50C-434B-9A98-25B551A961B0}"/>
              </a:ext>
            </a:extLst>
          </p:cNvPr>
          <p:cNvSpPr/>
          <p:nvPr/>
        </p:nvSpPr>
        <p:spPr>
          <a:xfrm>
            <a:off x="816928" y="1697990"/>
            <a:ext cx="10558145" cy="3462020"/>
          </a:xfrm>
          <a:custGeom>
            <a:avLst/>
            <a:gdLst>
              <a:gd name="connsiteX0" fmla="*/ 0 w 10558732"/>
              <a:gd name="connsiteY0" fmla="*/ 3436354 h 3462233"/>
              <a:gd name="connsiteX1" fmla="*/ 353683 w 10558732"/>
              <a:gd name="connsiteY1" fmla="*/ 3306958 h 3462233"/>
              <a:gd name="connsiteX2" fmla="*/ 940280 w 10558732"/>
              <a:gd name="connsiteY2" fmla="*/ 2427063 h 3462233"/>
              <a:gd name="connsiteX3" fmla="*/ 1293963 w 10558732"/>
              <a:gd name="connsiteY3" fmla="*/ 1719697 h 3462233"/>
              <a:gd name="connsiteX4" fmla="*/ 1708030 w 10558732"/>
              <a:gd name="connsiteY4" fmla="*/ 917441 h 3462233"/>
              <a:gd name="connsiteX5" fmla="*/ 2268747 w 10558732"/>
              <a:gd name="connsiteY5" fmla="*/ 141063 h 3462233"/>
              <a:gd name="connsiteX6" fmla="*/ 2639683 w 10558732"/>
              <a:gd name="connsiteY6" fmla="*/ 28920 h 3462233"/>
              <a:gd name="connsiteX7" fmla="*/ 2976113 w 10558732"/>
              <a:gd name="connsiteY7" fmla="*/ 149690 h 3462233"/>
              <a:gd name="connsiteX8" fmla="*/ 3640347 w 10558732"/>
              <a:gd name="connsiteY8" fmla="*/ 1029584 h 3462233"/>
              <a:gd name="connsiteX9" fmla="*/ 3968151 w 10558732"/>
              <a:gd name="connsiteY9" fmla="*/ 1762829 h 3462233"/>
              <a:gd name="connsiteX10" fmla="*/ 4442604 w 10558732"/>
              <a:gd name="connsiteY10" fmla="*/ 2659976 h 3462233"/>
              <a:gd name="connsiteX11" fmla="*/ 4942936 w 10558732"/>
              <a:gd name="connsiteY11" fmla="*/ 3315584 h 3462233"/>
              <a:gd name="connsiteX12" fmla="*/ 5296619 w 10558732"/>
              <a:gd name="connsiteY12" fmla="*/ 3444980 h 3462233"/>
              <a:gd name="connsiteX13" fmla="*/ 5779698 w 10558732"/>
              <a:gd name="connsiteY13" fmla="*/ 3160308 h 3462233"/>
              <a:gd name="connsiteX14" fmla="*/ 6374921 w 10558732"/>
              <a:gd name="connsiteY14" fmla="*/ 2151018 h 3462233"/>
              <a:gd name="connsiteX15" fmla="*/ 6607834 w 10558732"/>
              <a:gd name="connsiteY15" fmla="*/ 1728324 h 3462233"/>
              <a:gd name="connsiteX16" fmla="*/ 6901132 w 10558732"/>
              <a:gd name="connsiteY16" fmla="*/ 1115848 h 3462233"/>
              <a:gd name="connsiteX17" fmla="*/ 7211683 w 10558732"/>
              <a:gd name="connsiteY17" fmla="*/ 546505 h 3462233"/>
              <a:gd name="connsiteX18" fmla="*/ 7461849 w 10558732"/>
              <a:gd name="connsiteY18" fmla="*/ 253207 h 3462233"/>
              <a:gd name="connsiteX19" fmla="*/ 7755147 w 10558732"/>
              <a:gd name="connsiteY19" fmla="*/ 54799 h 3462233"/>
              <a:gd name="connsiteX20" fmla="*/ 8100204 w 10558732"/>
              <a:gd name="connsiteY20" fmla="*/ 46173 h 3462233"/>
              <a:gd name="connsiteX21" fmla="*/ 8635042 w 10558732"/>
              <a:gd name="connsiteY21" fmla="*/ 598263 h 3462233"/>
              <a:gd name="connsiteX22" fmla="*/ 9135374 w 10558732"/>
              <a:gd name="connsiteY22" fmla="*/ 1521290 h 3462233"/>
              <a:gd name="connsiteX23" fmla="*/ 9644332 w 10558732"/>
              <a:gd name="connsiteY23" fmla="*/ 2521954 h 3462233"/>
              <a:gd name="connsiteX24" fmla="*/ 10058400 w 10558732"/>
              <a:gd name="connsiteY24" fmla="*/ 3168935 h 3462233"/>
              <a:gd name="connsiteX25" fmla="*/ 10334446 w 10558732"/>
              <a:gd name="connsiteY25" fmla="*/ 3375969 h 3462233"/>
              <a:gd name="connsiteX26" fmla="*/ 10558732 w 10558732"/>
              <a:gd name="connsiteY26" fmla="*/ 3462233 h 346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58732" h="3462233">
                <a:moveTo>
                  <a:pt x="0" y="3436354"/>
                </a:moveTo>
                <a:cubicBezTo>
                  <a:pt x="98485" y="3455763"/>
                  <a:pt x="196970" y="3475173"/>
                  <a:pt x="353683" y="3306958"/>
                </a:cubicBezTo>
                <a:cubicBezTo>
                  <a:pt x="510396" y="3138743"/>
                  <a:pt x="783567" y="2691606"/>
                  <a:pt x="940280" y="2427063"/>
                </a:cubicBezTo>
                <a:cubicBezTo>
                  <a:pt x="1096993" y="2162519"/>
                  <a:pt x="1166005" y="1971301"/>
                  <a:pt x="1293963" y="1719697"/>
                </a:cubicBezTo>
                <a:cubicBezTo>
                  <a:pt x="1421921" y="1468093"/>
                  <a:pt x="1545566" y="1180547"/>
                  <a:pt x="1708030" y="917441"/>
                </a:cubicBezTo>
                <a:cubicBezTo>
                  <a:pt x="1870494" y="654335"/>
                  <a:pt x="2113472" y="289150"/>
                  <a:pt x="2268747" y="141063"/>
                </a:cubicBezTo>
                <a:cubicBezTo>
                  <a:pt x="2424022" y="-7024"/>
                  <a:pt x="2521789" y="27482"/>
                  <a:pt x="2639683" y="28920"/>
                </a:cubicBezTo>
                <a:cubicBezTo>
                  <a:pt x="2757577" y="30358"/>
                  <a:pt x="2809336" y="-17087"/>
                  <a:pt x="2976113" y="149690"/>
                </a:cubicBezTo>
                <a:cubicBezTo>
                  <a:pt x="3142890" y="316467"/>
                  <a:pt x="3475007" y="760727"/>
                  <a:pt x="3640347" y="1029584"/>
                </a:cubicBezTo>
                <a:cubicBezTo>
                  <a:pt x="3805687" y="1298441"/>
                  <a:pt x="3834442" y="1491097"/>
                  <a:pt x="3968151" y="1762829"/>
                </a:cubicBezTo>
                <a:cubicBezTo>
                  <a:pt x="4101860" y="2034561"/>
                  <a:pt x="4280140" y="2401184"/>
                  <a:pt x="4442604" y="2659976"/>
                </a:cubicBezTo>
                <a:cubicBezTo>
                  <a:pt x="4605068" y="2918768"/>
                  <a:pt x="4800600" y="3184750"/>
                  <a:pt x="4942936" y="3315584"/>
                </a:cubicBezTo>
                <a:cubicBezTo>
                  <a:pt x="5085272" y="3446418"/>
                  <a:pt x="5157159" y="3470859"/>
                  <a:pt x="5296619" y="3444980"/>
                </a:cubicBezTo>
                <a:cubicBezTo>
                  <a:pt x="5436079" y="3419101"/>
                  <a:pt x="5599981" y="3375968"/>
                  <a:pt x="5779698" y="3160308"/>
                </a:cubicBezTo>
                <a:cubicBezTo>
                  <a:pt x="5959415" y="2944648"/>
                  <a:pt x="6236898" y="2389682"/>
                  <a:pt x="6374921" y="2151018"/>
                </a:cubicBezTo>
                <a:cubicBezTo>
                  <a:pt x="6512944" y="1912354"/>
                  <a:pt x="6520132" y="1900852"/>
                  <a:pt x="6607834" y="1728324"/>
                </a:cubicBezTo>
                <a:cubicBezTo>
                  <a:pt x="6695536" y="1555796"/>
                  <a:pt x="6800490" y="1312818"/>
                  <a:pt x="6901132" y="1115848"/>
                </a:cubicBezTo>
                <a:cubicBezTo>
                  <a:pt x="7001774" y="918878"/>
                  <a:pt x="7118230" y="690278"/>
                  <a:pt x="7211683" y="546505"/>
                </a:cubicBezTo>
                <a:cubicBezTo>
                  <a:pt x="7305136" y="402732"/>
                  <a:pt x="7371272" y="335158"/>
                  <a:pt x="7461849" y="253207"/>
                </a:cubicBezTo>
                <a:cubicBezTo>
                  <a:pt x="7552426" y="171256"/>
                  <a:pt x="7648755" y="89305"/>
                  <a:pt x="7755147" y="54799"/>
                </a:cubicBezTo>
                <a:cubicBezTo>
                  <a:pt x="7861539" y="20293"/>
                  <a:pt x="7953555" y="-44404"/>
                  <a:pt x="8100204" y="46173"/>
                </a:cubicBezTo>
                <a:cubicBezTo>
                  <a:pt x="8246853" y="136750"/>
                  <a:pt x="8462514" y="352410"/>
                  <a:pt x="8635042" y="598263"/>
                </a:cubicBezTo>
                <a:cubicBezTo>
                  <a:pt x="8807570" y="844116"/>
                  <a:pt x="8967159" y="1200675"/>
                  <a:pt x="9135374" y="1521290"/>
                </a:cubicBezTo>
                <a:cubicBezTo>
                  <a:pt x="9303589" y="1841905"/>
                  <a:pt x="9490494" y="2247347"/>
                  <a:pt x="9644332" y="2521954"/>
                </a:cubicBezTo>
                <a:cubicBezTo>
                  <a:pt x="9798170" y="2796561"/>
                  <a:pt x="9943381" y="3026599"/>
                  <a:pt x="10058400" y="3168935"/>
                </a:cubicBezTo>
                <a:cubicBezTo>
                  <a:pt x="10173419" y="3311271"/>
                  <a:pt x="10251057" y="3327086"/>
                  <a:pt x="10334446" y="3375969"/>
                </a:cubicBezTo>
                <a:cubicBezTo>
                  <a:pt x="10417835" y="3424852"/>
                  <a:pt x="10488283" y="3443542"/>
                  <a:pt x="10558732" y="3462233"/>
                </a:cubicBezTo>
              </a:path>
            </a:pathLst>
          </a:cu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1" name="Freeform: Shape 10">
            <a:extLst>
              <a:ext uri="{FF2B5EF4-FFF2-40B4-BE49-F238E27FC236}">
                <a16:creationId xmlns:a16="http://schemas.microsoft.com/office/drawing/2014/main" id="{B96B5222-7A8A-4869-85C7-8E91FA59F1C2}"/>
              </a:ext>
            </a:extLst>
          </p:cNvPr>
          <p:cNvSpPr/>
          <p:nvPr/>
        </p:nvSpPr>
        <p:spPr>
          <a:xfrm>
            <a:off x="815975" y="1793557"/>
            <a:ext cx="10549890" cy="3270885"/>
          </a:xfrm>
          <a:custGeom>
            <a:avLst/>
            <a:gdLst>
              <a:gd name="connsiteX0" fmla="*/ 0 w 10550106"/>
              <a:gd name="connsiteY0" fmla="*/ 2790165 h 3271297"/>
              <a:gd name="connsiteX1" fmla="*/ 215661 w 10550106"/>
              <a:gd name="connsiteY1" fmla="*/ 2893682 h 3271297"/>
              <a:gd name="connsiteX2" fmla="*/ 491706 w 10550106"/>
              <a:gd name="connsiteY2" fmla="*/ 3186980 h 3271297"/>
              <a:gd name="connsiteX3" fmla="*/ 672861 w 10550106"/>
              <a:gd name="connsiteY3" fmla="*/ 3255992 h 3271297"/>
              <a:gd name="connsiteX4" fmla="*/ 931653 w 10550106"/>
              <a:gd name="connsiteY4" fmla="*/ 2936814 h 3271297"/>
              <a:gd name="connsiteX5" fmla="*/ 1138687 w 10550106"/>
              <a:gd name="connsiteY5" fmla="*/ 2281207 h 3271297"/>
              <a:gd name="connsiteX6" fmla="*/ 1423359 w 10550106"/>
              <a:gd name="connsiteY6" fmla="*/ 1220158 h 3271297"/>
              <a:gd name="connsiteX7" fmla="*/ 1578634 w 10550106"/>
              <a:gd name="connsiteY7" fmla="*/ 573177 h 3271297"/>
              <a:gd name="connsiteX8" fmla="*/ 1708030 w 10550106"/>
              <a:gd name="connsiteY8" fmla="*/ 236746 h 3271297"/>
              <a:gd name="connsiteX9" fmla="*/ 1923691 w 10550106"/>
              <a:gd name="connsiteY9" fmla="*/ 21086 h 3271297"/>
              <a:gd name="connsiteX10" fmla="*/ 2122098 w 10550106"/>
              <a:gd name="connsiteY10" fmla="*/ 72844 h 3271297"/>
              <a:gd name="connsiteX11" fmla="*/ 2372264 w 10550106"/>
              <a:gd name="connsiteY11" fmla="*/ 357516 h 3271297"/>
              <a:gd name="connsiteX12" fmla="*/ 2570672 w 10550106"/>
              <a:gd name="connsiteY12" fmla="*/ 478286 h 3271297"/>
              <a:gd name="connsiteX13" fmla="*/ 2777706 w 10550106"/>
              <a:gd name="connsiteY13" fmla="*/ 435154 h 3271297"/>
              <a:gd name="connsiteX14" fmla="*/ 3036498 w 10550106"/>
              <a:gd name="connsiteY14" fmla="*/ 193614 h 3271297"/>
              <a:gd name="connsiteX15" fmla="*/ 3226280 w 10550106"/>
              <a:gd name="connsiteY15" fmla="*/ 29712 h 3271297"/>
              <a:gd name="connsiteX16" fmla="*/ 3407434 w 10550106"/>
              <a:gd name="connsiteY16" fmla="*/ 64218 h 3271297"/>
              <a:gd name="connsiteX17" fmla="*/ 3631721 w 10550106"/>
              <a:gd name="connsiteY17" fmla="*/ 478286 h 3271297"/>
              <a:gd name="connsiteX18" fmla="*/ 3864634 w 10550106"/>
              <a:gd name="connsiteY18" fmla="*/ 1246037 h 3271297"/>
              <a:gd name="connsiteX19" fmla="*/ 4045789 w 10550106"/>
              <a:gd name="connsiteY19" fmla="*/ 1996535 h 3271297"/>
              <a:gd name="connsiteX20" fmla="*/ 4201064 w 10550106"/>
              <a:gd name="connsiteY20" fmla="*/ 2609010 h 3271297"/>
              <a:gd name="connsiteX21" fmla="*/ 4399472 w 10550106"/>
              <a:gd name="connsiteY21" fmla="*/ 3100716 h 3271297"/>
              <a:gd name="connsiteX22" fmla="*/ 4597880 w 10550106"/>
              <a:gd name="connsiteY22" fmla="*/ 3264618 h 3271297"/>
              <a:gd name="connsiteX23" fmla="*/ 4804913 w 10550106"/>
              <a:gd name="connsiteY23" fmla="*/ 3135222 h 3271297"/>
              <a:gd name="connsiteX24" fmla="*/ 5063706 w 10550106"/>
              <a:gd name="connsiteY24" fmla="*/ 2859177 h 3271297"/>
              <a:gd name="connsiteX25" fmla="*/ 5287993 w 10550106"/>
              <a:gd name="connsiteY25" fmla="*/ 2772912 h 3271297"/>
              <a:gd name="connsiteX26" fmla="*/ 5486400 w 10550106"/>
              <a:gd name="connsiteY26" fmla="*/ 2885056 h 3271297"/>
              <a:gd name="connsiteX27" fmla="*/ 5753819 w 10550106"/>
              <a:gd name="connsiteY27" fmla="*/ 3169727 h 3271297"/>
              <a:gd name="connsiteX28" fmla="*/ 5917721 w 10550106"/>
              <a:gd name="connsiteY28" fmla="*/ 3247365 h 3271297"/>
              <a:gd name="connsiteX29" fmla="*/ 6185140 w 10550106"/>
              <a:gd name="connsiteY29" fmla="*/ 3031705 h 3271297"/>
              <a:gd name="connsiteX30" fmla="*/ 6366295 w 10550106"/>
              <a:gd name="connsiteY30" fmla="*/ 2419229 h 3271297"/>
              <a:gd name="connsiteX31" fmla="*/ 6633713 w 10550106"/>
              <a:gd name="connsiteY31" fmla="*/ 1461697 h 3271297"/>
              <a:gd name="connsiteX32" fmla="*/ 6814868 w 10550106"/>
              <a:gd name="connsiteY32" fmla="*/ 719826 h 3271297"/>
              <a:gd name="connsiteX33" fmla="*/ 7039155 w 10550106"/>
              <a:gd name="connsiteY33" fmla="*/ 219493 h 3271297"/>
              <a:gd name="connsiteX34" fmla="*/ 7116793 w 10550106"/>
              <a:gd name="connsiteY34" fmla="*/ 38339 h 3271297"/>
              <a:gd name="connsiteX35" fmla="*/ 7263442 w 10550106"/>
              <a:gd name="connsiteY35" fmla="*/ 12460 h 3271297"/>
              <a:gd name="connsiteX36" fmla="*/ 7504981 w 10550106"/>
              <a:gd name="connsiteY36" fmla="*/ 193614 h 3271297"/>
              <a:gd name="connsiteX37" fmla="*/ 7781027 w 10550106"/>
              <a:gd name="connsiteY37" fmla="*/ 452407 h 3271297"/>
              <a:gd name="connsiteX38" fmla="*/ 8057072 w 10550106"/>
              <a:gd name="connsiteY38" fmla="*/ 469660 h 3271297"/>
              <a:gd name="connsiteX39" fmla="*/ 8246853 w 10550106"/>
              <a:gd name="connsiteY39" fmla="*/ 253999 h 3271297"/>
              <a:gd name="connsiteX40" fmla="*/ 8419381 w 10550106"/>
              <a:gd name="connsiteY40" fmla="*/ 72844 h 3271297"/>
              <a:gd name="connsiteX41" fmla="*/ 8548778 w 10550106"/>
              <a:gd name="connsiteY41" fmla="*/ 21086 h 3271297"/>
              <a:gd name="connsiteX42" fmla="*/ 8729932 w 10550106"/>
              <a:gd name="connsiteY42" fmla="*/ 107350 h 3271297"/>
              <a:gd name="connsiteX43" fmla="*/ 9057736 w 10550106"/>
              <a:gd name="connsiteY43" fmla="*/ 892354 h 3271297"/>
              <a:gd name="connsiteX44" fmla="*/ 9238891 w 10550106"/>
              <a:gd name="connsiteY44" fmla="*/ 1634226 h 3271297"/>
              <a:gd name="connsiteX45" fmla="*/ 9463178 w 10550106"/>
              <a:gd name="connsiteY45" fmla="*/ 2505493 h 3271297"/>
              <a:gd name="connsiteX46" fmla="*/ 9652959 w 10550106"/>
              <a:gd name="connsiteY46" fmla="*/ 3031705 h 3271297"/>
              <a:gd name="connsiteX47" fmla="*/ 9790981 w 10550106"/>
              <a:gd name="connsiteY47" fmla="*/ 3212860 h 3271297"/>
              <a:gd name="connsiteX48" fmla="*/ 9989389 w 10550106"/>
              <a:gd name="connsiteY48" fmla="*/ 3230112 h 3271297"/>
              <a:gd name="connsiteX49" fmla="*/ 10153291 w 10550106"/>
              <a:gd name="connsiteY49" fmla="*/ 3083463 h 3271297"/>
              <a:gd name="connsiteX50" fmla="*/ 10308566 w 10550106"/>
              <a:gd name="connsiteY50" fmla="*/ 2919561 h 3271297"/>
              <a:gd name="connsiteX51" fmla="*/ 10489721 w 10550106"/>
              <a:gd name="connsiteY51" fmla="*/ 2807418 h 3271297"/>
              <a:gd name="connsiteX52" fmla="*/ 10550106 w 10550106"/>
              <a:gd name="connsiteY52" fmla="*/ 2781539 h 3271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550106" h="3271297">
                <a:moveTo>
                  <a:pt x="0" y="2790165"/>
                </a:moveTo>
                <a:cubicBezTo>
                  <a:pt x="66855" y="2808855"/>
                  <a:pt x="133710" y="2827546"/>
                  <a:pt x="215661" y="2893682"/>
                </a:cubicBezTo>
                <a:cubicBezTo>
                  <a:pt x="297612" y="2959818"/>
                  <a:pt x="415506" y="3126595"/>
                  <a:pt x="491706" y="3186980"/>
                </a:cubicBezTo>
                <a:cubicBezTo>
                  <a:pt x="567906" y="3247365"/>
                  <a:pt x="599537" y="3297686"/>
                  <a:pt x="672861" y="3255992"/>
                </a:cubicBezTo>
                <a:cubicBezTo>
                  <a:pt x="746185" y="3214298"/>
                  <a:pt x="854015" y="3099278"/>
                  <a:pt x="931653" y="2936814"/>
                </a:cubicBezTo>
                <a:cubicBezTo>
                  <a:pt x="1009291" y="2774350"/>
                  <a:pt x="1056736" y="2567316"/>
                  <a:pt x="1138687" y="2281207"/>
                </a:cubicBezTo>
                <a:cubicBezTo>
                  <a:pt x="1220638" y="1995098"/>
                  <a:pt x="1350035" y="1504830"/>
                  <a:pt x="1423359" y="1220158"/>
                </a:cubicBezTo>
                <a:cubicBezTo>
                  <a:pt x="1496683" y="935486"/>
                  <a:pt x="1531189" y="737079"/>
                  <a:pt x="1578634" y="573177"/>
                </a:cubicBezTo>
                <a:cubicBezTo>
                  <a:pt x="1626079" y="409275"/>
                  <a:pt x="1650521" y="328761"/>
                  <a:pt x="1708030" y="236746"/>
                </a:cubicBezTo>
                <a:cubicBezTo>
                  <a:pt x="1765539" y="144731"/>
                  <a:pt x="1854680" y="48403"/>
                  <a:pt x="1923691" y="21086"/>
                </a:cubicBezTo>
                <a:cubicBezTo>
                  <a:pt x="1992702" y="-6231"/>
                  <a:pt x="2047336" y="16772"/>
                  <a:pt x="2122098" y="72844"/>
                </a:cubicBezTo>
                <a:cubicBezTo>
                  <a:pt x="2196860" y="128916"/>
                  <a:pt x="2297502" y="289942"/>
                  <a:pt x="2372264" y="357516"/>
                </a:cubicBezTo>
                <a:cubicBezTo>
                  <a:pt x="2447026" y="425090"/>
                  <a:pt x="2503098" y="465346"/>
                  <a:pt x="2570672" y="478286"/>
                </a:cubicBezTo>
                <a:cubicBezTo>
                  <a:pt x="2638246" y="491226"/>
                  <a:pt x="2700068" y="482599"/>
                  <a:pt x="2777706" y="435154"/>
                </a:cubicBezTo>
                <a:cubicBezTo>
                  <a:pt x="2855344" y="387709"/>
                  <a:pt x="2961736" y="261188"/>
                  <a:pt x="3036498" y="193614"/>
                </a:cubicBezTo>
                <a:cubicBezTo>
                  <a:pt x="3111260" y="126040"/>
                  <a:pt x="3164458" y="51278"/>
                  <a:pt x="3226280" y="29712"/>
                </a:cubicBezTo>
                <a:cubicBezTo>
                  <a:pt x="3288102" y="8146"/>
                  <a:pt x="3339861" y="-10544"/>
                  <a:pt x="3407434" y="64218"/>
                </a:cubicBezTo>
                <a:cubicBezTo>
                  <a:pt x="3475007" y="138980"/>
                  <a:pt x="3555521" y="281316"/>
                  <a:pt x="3631721" y="478286"/>
                </a:cubicBezTo>
                <a:cubicBezTo>
                  <a:pt x="3707921" y="675256"/>
                  <a:pt x="3795623" y="992995"/>
                  <a:pt x="3864634" y="1246037"/>
                </a:cubicBezTo>
                <a:cubicBezTo>
                  <a:pt x="3933645" y="1499078"/>
                  <a:pt x="3989717" y="1769373"/>
                  <a:pt x="4045789" y="1996535"/>
                </a:cubicBezTo>
                <a:cubicBezTo>
                  <a:pt x="4101861" y="2223697"/>
                  <a:pt x="4142117" y="2424980"/>
                  <a:pt x="4201064" y="2609010"/>
                </a:cubicBezTo>
                <a:cubicBezTo>
                  <a:pt x="4260011" y="2793040"/>
                  <a:pt x="4333336" y="2991448"/>
                  <a:pt x="4399472" y="3100716"/>
                </a:cubicBezTo>
                <a:cubicBezTo>
                  <a:pt x="4465608" y="3209984"/>
                  <a:pt x="4530307" y="3258867"/>
                  <a:pt x="4597880" y="3264618"/>
                </a:cubicBezTo>
                <a:cubicBezTo>
                  <a:pt x="4665453" y="3270369"/>
                  <a:pt x="4727275" y="3202796"/>
                  <a:pt x="4804913" y="3135222"/>
                </a:cubicBezTo>
                <a:cubicBezTo>
                  <a:pt x="4882551" y="3067648"/>
                  <a:pt x="4983193" y="2919562"/>
                  <a:pt x="5063706" y="2859177"/>
                </a:cubicBezTo>
                <a:cubicBezTo>
                  <a:pt x="5144219" y="2798792"/>
                  <a:pt x="5217544" y="2768599"/>
                  <a:pt x="5287993" y="2772912"/>
                </a:cubicBezTo>
                <a:cubicBezTo>
                  <a:pt x="5358442" y="2777225"/>
                  <a:pt x="5408762" y="2818920"/>
                  <a:pt x="5486400" y="2885056"/>
                </a:cubicBezTo>
                <a:cubicBezTo>
                  <a:pt x="5564038" y="2951192"/>
                  <a:pt x="5681932" y="3109342"/>
                  <a:pt x="5753819" y="3169727"/>
                </a:cubicBezTo>
                <a:cubicBezTo>
                  <a:pt x="5825706" y="3230112"/>
                  <a:pt x="5845834" y="3270369"/>
                  <a:pt x="5917721" y="3247365"/>
                </a:cubicBezTo>
                <a:cubicBezTo>
                  <a:pt x="5989608" y="3224361"/>
                  <a:pt x="6110378" y="3169728"/>
                  <a:pt x="6185140" y="3031705"/>
                </a:cubicBezTo>
                <a:cubicBezTo>
                  <a:pt x="6259902" y="2893682"/>
                  <a:pt x="6291533" y="2680897"/>
                  <a:pt x="6366295" y="2419229"/>
                </a:cubicBezTo>
                <a:cubicBezTo>
                  <a:pt x="6441057" y="2157561"/>
                  <a:pt x="6558951" y="1744931"/>
                  <a:pt x="6633713" y="1461697"/>
                </a:cubicBezTo>
                <a:cubicBezTo>
                  <a:pt x="6708475" y="1178463"/>
                  <a:pt x="6747294" y="926860"/>
                  <a:pt x="6814868" y="719826"/>
                </a:cubicBezTo>
                <a:cubicBezTo>
                  <a:pt x="6882442" y="512792"/>
                  <a:pt x="6988834" y="333074"/>
                  <a:pt x="7039155" y="219493"/>
                </a:cubicBezTo>
                <a:cubicBezTo>
                  <a:pt x="7089476" y="105912"/>
                  <a:pt x="7079412" y="72844"/>
                  <a:pt x="7116793" y="38339"/>
                </a:cubicBezTo>
                <a:cubicBezTo>
                  <a:pt x="7154174" y="3834"/>
                  <a:pt x="7198744" y="-13419"/>
                  <a:pt x="7263442" y="12460"/>
                </a:cubicBezTo>
                <a:cubicBezTo>
                  <a:pt x="7328140" y="38339"/>
                  <a:pt x="7418717" y="120290"/>
                  <a:pt x="7504981" y="193614"/>
                </a:cubicBezTo>
                <a:cubicBezTo>
                  <a:pt x="7591245" y="266938"/>
                  <a:pt x="7689012" y="406399"/>
                  <a:pt x="7781027" y="452407"/>
                </a:cubicBezTo>
                <a:cubicBezTo>
                  <a:pt x="7873042" y="498415"/>
                  <a:pt x="7979434" y="502728"/>
                  <a:pt x="8057072" y="469660"/>
                </a:cubicBezTo>
                <a:cubicBezTo>
                  <a:pt x="8134710" y="436592"/>
                  <a:pt x="8186468" y="320135"/>
                  <a:pt x="8246853" y="253999"/>
                </a:cubicBezTo>
                <a:cubicBezTo>
                  <a:pt x="8307238" y="187863"/>
                  <a:pt x="8369060" y="111663"/>
                  <a:pt x="8419381" y="72844"/>
                </a:cubicBezTo>
                <a:cubicBezTo>
                  <a:pt x="8469702" y="34025"/>
                  <a:pt x="8497020" y="15335"/>
                  <a:pt x="8548778" y="21086"/>
                </a:cubicBezTo>
                <a:cubicBezTo>
                  <a:pt x="8600536" y="26837"/>
                  <a:pt x="8645106" y="-37861"/>
                  <a:pt x="8729932" y="107350"/>
                </a:cubicBezTo>
                <a:cubicBezTo>
                  <a:pt x="8814758" y="252561"/>
                  <a:pt x="8972910" y="637875"/>
                  <a:pt x="9057736" y="892354"/>
                </a:cubicBezTo>
                <a:cubicBezTo>
                  <a:pt x="9142563" y="1146833"/>
                  <a:pt x="9171317" y="1365370"/>
                  <a:pt x="9238891" y="1634226"/>
                </a:cubicBezTo>
                <a:cubicBezTo>
                  <a:pt x="9306465" y="1903082"/>
                  <a:pt x="9394167" y="2272580"/>
                  <a:pt x="9463178" y="2505493"/>
                </a:cubicBezTo>
                <a:cubicBezTo>
                  <a:pt x="9532189" y="2738406"/>
                  <a:pt x="9598325" y="2913811"/>
                  <a:pt x="9652959" y="3031705"/>
                </a:cubicBezTo>
                <a:cubicBezTo>
                  <a:pt x="9707593" y="3149599"/>
                  <a:pt x="9734909" y="3179792"/>
                  <a:pt x="9790981" y="3212860"/>
                </a:cubicBezTo>
                <a:cubicBezTo>
                  <a:pt x="9847053" y="3245928"/>
                  <a:pt x="9929004" y="3251678"/>
                  <a:pt x="9989389" y="3230112"/>
                </a:cubicBezTo>
                <a:cubicBezTo>
                  <a:pt x="10049774" y="3208546"/>
                  <a:pt x="10100095" y="3135221"/>
                  <a:pt x="10153291" y="3083463"/>
                </a:cubicBezTo>
                <a:cubicBezTo>
                  <a:pt x="10206487" y="3031705"/>
                  <a:pt x="10252494" y="2965568"/>
                  <a:pt x="10308566" y="2919561"/>
                </a:cubicBezTo>
                <a:cubicBezTo>
                  <a:pt x="10364638" y="2873554"/>
                  <a:pt x="10449464" y="2830422"/>
                  <a:pt x="10489721" y="2807418"/>
                </a:cubicBezTo>
                <a:cubicBezTo>
                  <a:pt x="10529978" y="2784414"/>
                  <a:pt x="10540042" y="2782976"/>
                  <a:pt x="10550106" y="2781539"/>
                </a:cubicBezTo>
              </a:path>
            </a:pathLst>
          </a:cu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12" name="Group 11">
            <a:extLst>
              <a:ext uri="{FF2B5EF4-FFF2-40B4-BE49-F238E27FC236}">
                <a16:creationId xmlns:a16="http://schemas.microsoft.com/office/drawing/2014/main" id="{20AB8A6B-1EB2-4153-BBA0-CCE2234FCDC5}"/>
              </a:ext>
            </a:extLst>
          </p:cNvPr>
          <p:cNvGrpSpPr/>
          <p:nvPr/>
        </p:nvGrpSpPr>
        <p:grpSpPr>
          <a:xfrm>
            <a:off x="842010" y="2866707"/>
            <a:ext cx="10534016" cy="1143000"/>
            <a:chOff x="0" y="-3"/>
            <a:chExt cx="10534433" cy="1143003"/>
          </a:xfrm>
        </p:grpSpPr>
        <p:sp>
          <p:nvSpPr>
            <p:cNvPr id="13" name="Freeform: Shape 12">
              <a:extLst>
                <a:ext uri="{FF2B5EF4-FFF2-40B4-BE49-F238E27FC236}">
                  <a16:creationId xmlns:a16="http://schemas.microsoft.com/office/drawing/2014/main" id="{48B1C6EE-9233-4AE5-A436-D9CA4C7EF182}"/>
                </a:ext>
              </a:extLst>
            </p:cNvPr>
            <p:cNvSpPr>
              <a:spLocks noChangeAspect="1"/>
            </p:cNvSpPr>
            <p:nvPr/>
          </p:nvSpPr>
          <p:spPr>
            <a:xfrm flipV="1">
              <a:off x="0" y="0"/>
              <a:ext cx="3483864" cy="1143000"/>
            </a:xfrm>
            <a:custGeom>
              <a:avLst/>
              <a:gdLst>
                <a:gd name="connsiteX0" fmla="*/ 0 w 10558732"/>
                <a:gd name="connsiteY0" fmla="*/ 3436354 h 3462233"/>
                <a:gd name="connsiteX1" fmla="*/ 353683 w 10558732"/>
                <a:gd name="connsiteY1" fmla="*/ 3306958 h 3462233"/>
                <a:gd name="connsiteX2" fmla="*/ 940280 w 10558732"/>
                <a:gd name="connsiteY2" fmla="*/ 2427063 h 3462233"/>
                <a:gd name="connsiteX3" fmla="*/ 1293963 w 10558732"/>
                <a:gd name="connsiteY3" fmla="*/ 1719697 h 3462233"/>
                <a:gd name="connsiteX4" fmla="*/ 1708030 w 10558732"/>
                <a:gd name="connsiteY4" fmla="*/ 917441 h 3462233"/>
                <a:gd name="connsiteX5" fmla="*/ 2268747 w 10558732"/>
                <a:gd name="connsiteY5" fmla="*/ 141063 h 3462233"/>
                <a:gd name="connsiteX6" fmla="*/ 2639683 w 10558732"/>
                <a:gd name="connsiteY6" fmla="*/ 28920 h 3462233"/>
                <a:gd name="connsiteX7" fmla="*/ 2976113 w 10558732"/>
                <a:gd name="connsiteY7" fmla="*/ 149690 h 3462233"/>
                <a:gd name="connsiteX8" fmla="*/ 3640347 w 10558732"/>
                <a:gd name="connsiteY8" fmla="*/ 1029584 h 3462233"/>
                <a:gd name="connsiteX9" fmla="*/ 3968151 w 10558732"/>
                <a:gd name="connsiteY9" fmla="*/ 1762829 h 3462233"/>
                <a:gd name="connsiteX10" fmla="*/ 4442604 w 10558732"/>
                <a:gd name="connsiteY10" fmla="*/ 2659976 h 3462233"/>
                <a:gd name="connsiteX11" fmla="*/ 4942936 w 10558732"/>
                <a:gd name="connsiteY11" fmla="*/ 3315584 h 3462233"/>
                <a:gd name="connsiteX12" fmla="*/ 5296619 w 10558732"/>
                <a:gd name="connsiteY12" fmla="*/ 3444980 h 3462233"/>
                <a:gd name="connsiteX13" fmla="*/ 5779698 w 10558732"/>
                <a:gd name="connsiteY13" fmla="*/ 3160308 h 3462233"/>
                <a:gd name="connsiteX14" fmla="*/ 6374921 w 10558732"/>
                <a:gd name="connsiteY14" fmla="*/ 2151018 h 3462233"/>
                <a:gd name="connsiteX15" fmla="*/ 6607834 w 10558732"/>
                <a:gd name="connsiteY15" fmla="*/ 1728324 h 3462233"/>
                <a:gd name="connsiteX16" fmla="*/ 6901132 w 10558732"/>
                <a:gd name="connsiteY16" fmla="*/ 1115848 h 3462233"/>
                <a:gd name="connsiteX17" fmla="*/ 7211683 w 10558732"/>
                <a:gd name="connsiteY17" fmla="*/ 546505 h 3462233"/>
                <a:gd name="connsiteX18" fmla="*/ 7461849 w 10558732"/>
                <a:gd name="connsiteY18" fmla="*/ 253207 h 3462233"/>
                <a:gd name="connsiteX19" fmla="*/ 7755147 w 10558732"/>
                <a:gd name="connsiteY19" fmla="*/ 54799 h 3462233"/>
                <a:gd name="connsiteX20" fmla="*/ 8100204 w 10558732"/>
                <a:gd name="connsiteY20" fmla="*/ 46173 h 3462233"/>
                <a:gd name="connsiteX21" fmla="*/ 8635042 w 10558732"/>
                <a:gd name="connsiteY21" fmla="*/ 598263 h 3462233"/>
                <a:gd name="connsiteX22" fmla="*/ 9135374 w 10558732"/>
                <a:gd name="connsiteY22" fmla="*/ 1521290 h 3462233"/>
                <a:gd name="connsiteX23" fmla="*/ 9644332 w 10558732"/>
                <a:gd name="connsiteY23" fmla="*/ 2521954 h 3462233"/>
                <a:gd name="connsiteX24" fmla="*/ 10058400 w 10558732"/>
                <a:gd name="connsiteY24" fmla="*/ 3168935 h 3462233"/>
                <a:gd name="connsiteX25" fmla="*/ 10334446 w 10558732"/>
                <a:gd name="connsiteY25" fmla="*/ 3375969 h 3462233"/>
                <a:gd name="connsiteX26" fmla="*/ 10558732 w 10558732"/>
                <a:gd name="connsiteY26" fmla="*/ 3462233 h 346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58732" h="3462233">
                  <a:moveTo>
                    <a:pt x="0" y="3436354"/>
                  </a:moveTo>
                  <a:cubicBezTo>
                    <a:pt x="98485" y="3455763"/>
                    <a:pt x="196970" y="3475173"/>
                    <a:pt x="353683" y="3306958"/>
                  </a:cubicBezTo>
                  <a:cubicBezTo>
                    <a:pt x="510396" y="3138743"/>
                    <a:pt x="783567" y="2691606"/>
                    <a:pt x="940280" y="2427063"/>
                  </a:cubicBezTo>
                  <a:cubicBezTo>
                    <a:pt x="1096993" y="2162519"/>
                    <a:pt x="1166005" y="1971301"/>
                    <a:pt x="1293963" y="1719697"/>
                  </a:cubicBezTo>
                  <a:cubicBezTo>
                    <a:pt x="1421921" y="1468093"/>
                    <a:pt x="1545566" y="1180547"/>
                    <a:pt x="1708030" y="917441"/>
                  </a:cubicBezTo>
                  <a:cubicBezTo>
                    <a:pt x="1870494" y="654335"/>
                    <a:pt x="2113472" y="289150"/>
                    <a:pt x="2268747" y="141063"/>
                  </a:cubicBezTo>
                  <a:cubicBezTo>
                    <a:pt x="2424022" y="-7024"/>
                    <a:pt x="2521789" y="27482"/>
                    <a:pt x="2639683" y="28920"/>
                  </a:cubicBezTo>
                  <a:cubicBezTo>
                    <a:pt x="2757577" y="30358"/>
                    <a:pt x="2809336" y="-17087"/>
                    <a:pt x="2976113" y="149690"/>
                  </a:cubicBezTo>
                  <a:cubicBezTo>
                    <a:pt x="3142890" y="316467"/>
                    <a:pt x="3475007" y="760727"/>
                    <a:pt x="3640347" y="1029584"/>
                  </a:cubicBezTo>
                  <a:cubicBezTo>
                    <a:pt x="3805687" y="1298441"/>
                    <a:pt x="3834442" y="1491097"/>
                    <a:pt x="3968151" y="1762829"/>
                  </a:cubicBezTo>
                  <a:cubicBezTo>
                    <a:pt x="4101860" y="2034561"/>
                    <a:pt x="4280140" y="2401184"/>
                    <a:pt x="4442604" y="2659976"/>
                  </a:cubicBezTo>
                  <a:cubicBezTo>
                    <a:pt x="4605068" y="2918768"/>
                    <a:pt x="4800600" y="3184750"/>
                    <a:pt x="4942936" y="3315584"/>
                  </a:cubicBezTo>
                  <a:cubicBezTo>
                    <a:pt x="5085272" y="3446418"/>
                    <a:pt x="5157159" y="3470859"/>
                    <a:pt x="5296619" y="3444980"/>
                  </a:cubicBezTo>
                  <a:cubicBezTo>
                    <a:pt x="5436079" y="3419101"/>
                    <a:pt x="5599981" y="3375968"/>
                    <a:pt x="5779698" y="3160308"/>
                  </a:cubicBezTo>
                  <a:cubicBezTo>
                    <a:pt x="5959415" y="2944648"/>
                    <a:pt x="6236898" y="2389682"/>
                    <a:pt x="6374921" y="2151018"/>
                  </a:cubicBezTo>
                  <a:cubicBezTo>
                    <a:pt x="6512944" y="1912354"/>
                    <a:pt x="6520132" y="1900852"/>
                    <a:pt x="6607834" y="1728324"/>
                  </a:cubicBezTo>
                  <a:cubicBezTo>
                    <a:pt x="6695536" y="1555796"/>
                    <a:pt x="6800490" y="1312818"/>
                    <a:pt x="6901132" y="1115848"/>
                  </a:cubicBezTo>
                  <a:cubicBezTo>
                    <a:pt x="7001774" y="918878"/>
                    <a:pt x="7118230" y="690278"/>
                    <a:pt x="7211683" y="546505"/>
                  </a:cubicBezTo>
                  <a:cubicBezTo>
                    <a:pt x="7305136" y="402732"/>
                    <a:pt x="7371272" y="335158"/>
                    <a:pt x="7461849" y="253207"/>
                  </a:cubicBezTo>
                  <a:cubicBezTo>
                    <a:pt x="7552426" y="171256"/>
                    <a:pt x="7648755" y="89305"/>
                    <a:pt x="7755147" y="54799"/>
                  </a:cubicBezTo>
                  <a:cubicBezTo>
                    <a:pt x="7861539" y="20293"/>
                    <a:pt x="7953555" y="-44404"/>
                    <a:pt x="8100204" y="46173"/>
                  </a:cubicBezTo>
                  <a:cubicBezTo>
                    <a:pt x="8246853" y="136750"/>
                    <a:pt x="8462514" y="352410"/>
                    <a:pt x="8635042" y="598263"/>
                  </a:cubicBezTo>
                  <a:cubicBezTo>
                    <a:pt x="8807570" y="844116"/>
                    <a:pt x="8967159" y="1200675"/>
                    <a:pt x="9135374" y="1521290"/>
                  </a:cubicBezTo>
                  <a:cubicBezTo>
                    <a:pt x="9303589" y="1841905"/>
                    <a:pt x="9490494" y="2247347"/>
                    <a:pt x="9644332" y="2521954"/>
                  </a:cubicBezTo>
                  <a:cubicBezTo>
                    <a:pt x="9798170" y="2796561"/>
                    <a:pt x="9943381" y="3026599"/>
                    <a:pt x="10058400" y="3168935"/>
                  </a:cubicBezTo>
                  <a:cubicBezTo>
                    <a:pt x="10173419" y="3311271"/>
                    <a:pt x="10251057" y="3327086"/>
                    <a:pt x="10334446" y="3375969"/>
                  </a:cubicBezTo>
                  <a:cubicBezTo>
                    <a:pt x="10417835" y="3424852"/>
                    <a:pt x="10488283" y="3443542"/>
                    <a:pt x="10558732" y="3462233"/>
                  </a:cubicBezTo>
                </a:path>
              </a:pathLst>
            </a:cu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4" name="Freeform: Shape 13">
              <a:extLst>
                <a:ext uri="{FF2B5EF4-FFF2-40B4-BE49-F238E27FC236}">
                  <a16:creationId xmlns:a16="http://schemas.microsoft.com/office/drawing/2014/main" id="{0FF2C987-29A3-4BB5-A2E5-AC04D22BE5F2}"/>
                </a:ext>
              </a:extLst>
            </p:cNvPr>
            <p:cNvSpPr>
              <a:spLocks noChangeAspect="1"/>
            </p:cNvSpPr>
            <p:nvPr/>
          </p:nvSpPr>
          <p:spPr>
            <a:xfrm flipV="1">
              <a:off x="3485054" y="-3"/>
              <a:ext cx="3510967" cy="1143000"/>
            </a:xfrm>
            <a:custGeom>
              <a:avLst/>
              <a:gdLst>
                <a:gd name="connsiteX0" fmla="*/ 0 w 10558732"/>
                <a:gd name="connsiteY0" fmla="*/ 3436354 h 3462233"/>
                <a:gd name="connsiteX1" fmla="*/ 353683 w 10558732"/>
                <a:gd name="connsiteY1" fmla="*/ 3306958 h 3462233"/>
                <a:gd name="connsiteX2" fmla="*/ 940280 w 10558732"/>
                <a:gd name="connsiteY2" fmla="*/ 2427063 h 3462233"/>
                <a:gd name="connsiteX3" fmla="*/ 1293963 w 10558732"/>
                <a:gd name="connsiteY3" fmla="*/ 1719697 h 3462233"/>
                <a:gd name="connsiteX4" fmla="*/ 1708030 w 10558732"/>
                <a:gd name="connsiteY4" fmla="*/ 917441 h 3462233"/>
                <a:gd name="connsiteX5" fmla="*/ 2268747 w 10558732"/>
                <a:gd name="connsiteY5" fmla="*/ 141063 h 3462233"/>
                <a:gd name="connsiteX6" fmla="*/ 2639683 w 10558732"/>
                <a:gd name="connsiteY6" fmla="*/ 28920 h 3462233"/>
                <a:gd name="connsiteX7" fmla="*/ 2976113 w 10558732"/>
                <a:gd name="connsiteY7" fmla="*/ 149690 h 3462233"/>
                <a:gd name="connsiteX8" fmla="*/ 3640347 w 10558732"/>
                <a:gd name="connsiteY8" fmla="*/ 1029584 h 3462233"/>
                <a:gd name="connsiteX9" fmla="*/ 3968151 w 10558732"/>
                <a:gd name="connsiteY9" fmla="*/ 1762829 h 3462233"/>
                <a:gd name="connsiteX10" fmla="*/ 4442604 w 10558732"/>
                <a:gd name="connsiteY10" fmla="*/ 2659976 h 3462233"/>
                <a:gd name="connsiteX11" fmla="*/ 4942936 w 10558732"/>
                <a:gd name="connsiteY11" fmla="*/ 3315584 h 3462233"/>
                <a:gd name="connsiteX12" fmla="*/ 5296619 w 10558732"/>
                <a:gd name="connsiteY12" fmla="*/ 3444980 h 3462233"/>
                <a:gd name="connsiteX13" fmla="*/ 5779698 w 10558732"/>
                <a:gd name="connsiteY13" fmla="*/ 3160308 h 3462233"/>
                <a:gd name="connsiteX14" fmla="*/ 6374921 w 10558732"/>
                <a:gd name="connsiteY14" fmla="*/ 2151018 h 3462233"/>
                <a:gd name="connsiteX15" fmla="*/ 6607834 w 10558732"/>
                <a:gd name="connsiteY15" fmla="*/ 1728324 h 3462233"/>
                <a:gd name="connsiteX16" fmla="*/ 6901132 w 10558732"/>
                <a:gd name="connsiteY16" fmla="*/ 1115848 h 3462233"/>
                <a:gd name="connsiteX17" fmla="*/ 7211683 w 10558732"/>
                <a:gd name="connsiteY17" fmla="*/ 546505 h 3462233"/>
                <a:gd name="connsiteX18" fmla="*/ 7461849 w 10558732"/>
                <a:gd name="connsiteY18" fmla="*/ 253207 h 3462233"/>
                <a:gd name="connsiteX19" fmla="*/ 7755147 w 10558732"/>
                <a:gd name="connsiteY19" fmla="*/ 54799 h 3462233"/>
                <a:gd name="connsiteX20" fmla="*/ 8100204 w 10558732"/>
                <a:gd name="connsiteY20" fmla="*/ 46173 h 3462233"/>
                <a:gd name="connsiteX21" fmla="*/ 8635042 w 10558732"/>
                <a:gd name="connsiteY21" fmla="*/ 598263 h 3462233"/>
                <a:gd name="connsiteX22" fmla="*/ 9135374 w 10558732"/>
                <a:gd name="connsiteY22" fmla="*/ 1521290 h 3462233"/>
                <a:gd name="connsiteX23" fmla="*/ 9644332 w 10558732"/>
                <a:gd name="connsiteY23" fmla="*/ 2521954 h 3462233"/>
                <a:gd name="connsiteX24" fmla="*/ 10058400 w 10558732"/>
                <a:gd name="connsiteY24" fmla="*/ 3168935 h 3462233"/>
                <a:gd name="connsiteX25" fmla="*/ 10334446 w 10558732"/>
                <a:gd name="connsiteY25" fmla="*/ 3375969 h 3462233"/>
                <a:gd name="connsiteX26" fmla="*/ 10558732 w 10558732"/>
                <a:gd name="connsiteY26" fmla="*/ 3462233 h 346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58732" h="3462233">
                  <a:moveTo>
                    <a:pt x="0" y="3436354"/>
                  </a:moveTo>
                  <a:cubicBezTo>
                    <a:pt x="98485" y="3455763"/>
                    <a:pt x="196970" y="3475173"/>
                    <a:pt x="353683" y="3306958"/>
                  </a:cubicBezTo>
                  <a:cubicBezTo>
                    <a:pt x="510396" y="3138743"/>
                    <a:pt x="783567" y="2691606"/>
                    <a:pt x="940280" y="2427063"/>
                  </a:cubicBezTo>
                  <a:cubicBezTo>
                    <a:pt x="1096993" y="2162519"/>
                    <a:pt x="1166005" y="1971301"/>
                    <a:pt x="1293963" y="1719697"/>
                  </a:cubicBezTo>
                  <a:cubicBezTo>
                    <a:pt x="1421921" y="1468093"/>
                    <a:pt x="1545566" y="1180547"/>
                    <a:pt x="1708030" y="917441"/>
                  </a:cubicBezTo>
                  <a:cubicBezTo>
                    <a:pt x="1870494" y="654335"/>
                    <a:pt x="2113472" y="289150"/>
                    <a:pt x="2268747" y="141063"/>
                  </a:cubicBezTo>
                  <a:cubicBezTo>
                    <a:pt x="2424022" y="-7024"/>
                    <a:pt x="2521789" y="27482"/>
                    <a:pt x="2639683" y="28920"/>
                  </a:cubicBezTo>
                  <a:cubicBezTo>
                    <a:pt x="2757577" y="30358"/>
                    <a:pt x="2809336" y="-17087"/>
                    <a:pt x="2976113" y="149690"/>
                  </a:cubicBezTo>
                  <a:cubicBezTo>
                    <a:pt x="3142890" y="316467"/>
                    <a:pt x="3475007" y="760727"/>
                    <a:pt x="3640347" y="1029584"/>
                  </a:cubicBezTo>
                  <a:cubicBezTo>
                    <a:pt x="3805687" y="1298441"/>
                    <a:pt x="3834442" y="1491097"/>
                    <a:pt x="3968151" y="1762829"/>
                  </a:cubicBezTo>
                  <a:cubicBezTo>
                    <a:pt x="4101860" y="2034561"/>
                    <a:pt x="4280140" y="2401184"/>
                    <a:pt x="4442604" y="2659976"/>
                  </a:cubicBezTo>
                  <a:cubicBezTo>
                    <a:pt x="4605068" y="2918768"/>
                    <a:pt x="4800600" y="3184750"/>
                    <a:pt x="4942936" y="3315584"/>
                  </a:cubicBezTo>
                  <a:cubicBezTo>
                    <a:pt x="5085272" y="3446418"/>
                    <a:pt x="5157159" y="3470859"/>
                    <a:pt x="5296619" y="3444980"/>
                  </a:cubicBezTo>
                  <a:cubicBezTo>
                    <a:pt x="5436079" y="3419101"/>
                    <a:pt x="5599981" y="3375968"/>
                    <a:pt x="5779698" y="3160308"/>
                  </a:cubicBezTo>
                  <a:cubicBezTo>
                    <a:pt x="5959415" y="2944648"/>
                    <a:pt x="6236898" y="2389682"/>
                    <a:pt x="6374921" y="2151018"/>
                  </a:cubicBezTo>
                  <a:cubicBezTo>
                    <a:pt x="6512944" y="1912354"/>
                    <a:pt x="6520132" y="1900852"/>
                    <a:pt x="6607834" y="1728324"/>
                  </a:cubicBezTo>
                  <a:cubicBezTo>
                    <a:pt x="6695536" y="1555796"/>
                    <a:pt x="6800490" y="1312818"/>
                    <a:pt x="6901132" y="1115848"/>
                  </a:cubicBezTo>
                  <a:cubicBezTo>
                    <a:pt x="7001774" y="918878"/>
                    <a:pt x="7118230" y="690278"/>
                    <a:pt x="7211683" y="546505"/>
                  </a:cubicBezTo>
                  <a:cubicBezTo>
                    <a:pt x="7305136" y="402732"/>
                    <a:pt x="7371272" y="335158"/>
                    <a:pt x="7461849" y="253207"/>
                  </a:cubicBezTo>
                  <a:cubicBezTo>
                    <a:pt x="7552426" y="171256"/>
                    <a:pt x="7648755" y="89305"/>
                    <a:pt x="7755147" y="54799"/>
                  </a:cubicBezTo>
                  <a:cubicBezTo>
                    <a:pt x="7861539" y="20293"/>
                    <a:pt x="7953555" y="-44404"/>
                    <a:pt x="8100204" y="46173"/>
                  </a:cubicBezTo>
                  <a:cubicBezTo>
                    <a:pt x="8246853" y="136750"/>
                    <a:pt x="8462514" y="352410"/>
                    <a:pt x="8635042" y="598263"/>
                  </a:cubicBezTo>
                  <a:cubicBezTo>
                    <a:pt x="8807570" y="844116"/>
                    <a:pt x="8967159" y="1200675"/>
                    <a:pt x="9135374" y="1521290"/>
                  </a:cubicBezTo>
                  <a:cubicBezTo>
                    <a:pt x="9303589" y="1841905"/>
                    <a:pt x="9490494" y="2247347"/>
                    <a:pt x="9644332" y="2521954"/>
                  </a:cubicBezTo>
                  <a:cubicBezTo>
                    <a:pt x="9798170" y="2796561"/>
                    <a:pt x="9943381" y="3026599"/>
                    <a:pt x="10058400" y="3168935"/>
                  </a:cubicBezTo>
                  <a:cubicBezTo>
                    <a:pt x="10173419" y="3311271"/>
                    <a:pt x="10251057" y="3327086"/>
                    <a:pt x="10334446" y="3375969"/>
                  </a:cubicBezTo>
                  <a:cubicBezTo>
                    <a:pt x="10417835" y="3424852"/>
                    <a:pt x="10488283" y="3443542"/>
                    <a:pt x="10558732" y="3462233"/>
                  </a:cubicBezTo>
                </a:path>
              </a:pathLst>
            </a:cu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5" name="Freeform: Shape 14">
              <a:extLst>
                <a:ext uri="{FF2B5EF4-FFF2-40B4-BE49-F238E27FC236}">
                  <a16:creationId xmlns:a16="http://schemas.microsoft.com/office/drawing/2014/main" id="{CF69E599-9BB9-4DEC-A5ED-DFBBD6EAB939}"/>
                </a:ext>
              </a:extLst>
            </p:cNvPr>
            <p:cNvSpPr>
              <a:spLocks noChangeAspect="1"/>
            </p:cNvSpPr>
            <p:nvPr/>
          </p:nvSpPr>
          <p:spPr>
            <a:xfrm flipV="1">
              <a:off x="6995949" y="0"/>
              <a:ext cx="3538484" cy="1143000"/>
            </a:xfrm>
            <a:custGeom>
              <a:avLst/>
              <a:gdLst>
                <a:gd name="connsiteX0" fmla="*/ 0 w 10558732"/>
                <a:gd name="connsiteY0" fmla="*/ 3436354 h 3462233"/>
                <a:gd name="connsiteX1" fmla="*/ 353683 w 10558732"/>
                <a:gd name="connsiteY1" fmla="*/ 3306958 h 3462233"/>
                <a:gd name="connsiteX2" fmla="*/ 940280 w 10558732"/>
                <a:gd name="connsiteY2" fmla="*/ 2427063 h 3462233"/>
                <a:gd name="connsiteX3" fmla="*/ 1293963 w 10558732"/>
                <a:gd name="connsiteY3" fmla="*/ 1719697 h 3462233"/>
                <a:gd name="connsiteX4" fmla="*/ 1708030 w 10558732"/>
                <a:gd name="connsiteY4" fmla="*/ 917441 h 3462233"/>
                <a:gd name="connsiteX5" fmla="*/ 2268747 w 10558732"/>
                <a:gd name="connsiteY5" fmla="*/ 141063 h 3462233"/>
                <a:gd name="connsiteX6" fmla="*/ 2639683 w 10558732"/>
                <a:gd name="connsiteY6" fmla="*/ 28920 h 3462233"/>
                <a:gd name="connsiteX7" fmla="*/ 2976113 w 10558732"/>
                <a:gd name="connsiteY7" fmla="*/ 149690 h 3462233"/>
                <a:gd name="connsiteX8" fmla="*/ 3640347 w 10558732"/>
                <a:gd name="connsiteY8" fmla="*/ 1029584 h 3462233"/>
                <a:gd name="connsiteX9" fmla="*/ 3968151 w 10558732"/>
                <a:gd name="connsiteY9" fmla="*/ 1762829 h 3462233"/>
                <a:gd name="connsiteX10" fmla="*/ 4442604 w 10558732"/>
                <a:gd name="connsiteY10" fmla="*/ 2659976 h 3462233"/>
                <a:gd name="connsiteX11" fmla="*/ 4942936 w 10558732"/>
                <a:gd name="connsiteY11" fmla="*/ 3315584 h 3462233"/>
                <a:gd name="connsiteX12" fmla="*/ 5296619 w 10558732"/>
                <a:gd name="connsiteY12" fmla="*/ 3444980 h 3462233"/>
                <a:gd name="connsiteX13" fmla="*/ 5779698 w 10558732"/>
                <a:gd name="connsiteY13" fmla="*/ 3160308 h 3462233"/>
                <a:gd name="connsiteX14" fmla="*/ 6374921 w 10558732"/>
                <a:gd name="connsiteY14" fmla="*/ 2151018 h 3462233"/>
                <a:gd name="connsiteX15" fmla="*/ 6607834 w 10558732"/>
                <a:gd name="connsiteY15" fmla="*/ 1728324 h 3462233"/>
                <a:gd name="connsiteX16" fmla="*/ 6901132 w 10558732"/>
                <a:gd name="connsiteY16" fmla="*/ 1115848 h 3462233"/>
                <a:gd name="connsiteX17" fmla="*/ 7211683 w 10558732"/>
                <a:gd name="connsiteY17" fmla="*/ 546505 h 3462233"/>
                <a:gd name="connsiteX18" fmla="*/ 7461849 w 10558732"/>
                <a:gd name="connsiteY18" fmla="*/ 253207 h 3462233"/>
                <a:gd name="connsiteX19" fmla="*/ 7755147 w 10558732"/>
                <a:gd name="connsiteY19" fmla="*/ 54799 h 3462233"/>
                <a:gd name="connsiteX20" fmla="*/ 8100204 w 10558732"/>
                <a:gd name="connsiteY20" fmla="*/ 46173 h 3462233"/>
                <a:gd name="connsiteX21" fmla="*/ 8635042 w 10558732"/>
                <a:gd name="connsiteY21" fmla="*/ 598263 h 3462233"/>
                <a:gd name="connsiteX22" fmla="*/ 9135374 w 10558732"/>
                <a:gd name="connsiteY22" fmla="*/ 1521290 h 3462233"/>
                <a:gd name="connsiteX23" fmla="*/ 9644332 w 10558732"/>
                <a:gd name="connsiteY23" fmla="*/ 2521954 h 3462233"/>
                <a:gd name="connsiteX24" fmla="*/ 10058400 w 10558732"/>
                <a:gd name="connsiteY24" fmla="*/ 3168935 h 3462233"/>
                <a:gd name="connsiteX25" fmla="*/ 10334446 w 10558732"/>
                <a:gd name="connsiteY25" fmla="*/ 3375969 h 3462233"/>
                <a:gd name="connsiteX26" fmla="*/ 10558732 w 10558732"/>
                <a:gd name="connsiteY26" fmla="*/ 3462233 h 346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58732" h="3462233">
                  <a:moveTo>
                    <a:pt x="0" y="3436354"/>
                  </a:moveTo>
                  <a:cubicBezTo>
                    <a:pt x="98485" y="3455763"/>
                    <a:pt x="196970" y="3475173"/>
                    <a:pt x="353683" y="3306958"/>
                  </a:cubicBezTo>
                  <a:cubicBezTo>
                    <a:pt x="510396" y="3138743"/>
                    <a:pt x="783567" y="2691606"/>
                    <a:pt x="940280" y="2427063"/>
                  </a:cubicBezTo>
                  <a:cubicBezTo>
                    <a:pt x="1096993" y="2162519"/>
                    <a:pt x="1166005" y="1971301"/>
                    <a:pt x="1293963" y="1719697"/>
                  </a:cubicBezTo>
                  <a:cubicBezTo>
                    <a:pt x="1421921" y="1468093"/>
                    <a:pt x="1545566" y="1180547"/>
                    <a:pt x="1708030" y="917441"/>
                  </a:cubicBezTo>
                  <a:cubicBezTo>
                    <a:pt x="1870494" y="654335"/>
                    <a:pt x="2113472" y="289150"/>
                    <a:pt x="2268747" y="141063"/>
                  </a:cubicBezTo>
                  <a:cubicBezTo>
                    <a:pt x="2424022" y="-7024"/>
                    <a:pt x="2521789" y="27482"/>
                    <a:pt x="2639683" y="28920"/>
                  </a:cubicBezTo>
                  <a:cubicBezTo>
                    <a:pt x="2757577" y="30358"/>
                    <a:pt x="2809336" y="-17087"/>
                    <a:pt x="2976113" y="149690"/>
                  </a:cubicBezTo>
                  <a:cubicBezTo>
                    <a:pt x="3142890" y="316467"/>
                    <a:pt x="3475007" y="760727"/>
                    <a:pt x="3640347" y="1029584"/>
                  </a:cubicBezTo>
                  <a:cubicBezTo>
                    <a:pt x="3805687" y="1298441"/>
                    <a:pt x="3834442" y="1491097"/>
                    <a:pt x="3968151" y="1762829"/>
                  </a:cubicBezTo>
                  <a:cubicBezTo>
                    <a:pt x="4101860" y="2034561"/>
                    <a:pt x="4280140" y="2401184"/>
                    <a:pt x="4442604" y="2659976"/>
                  </a:cubicBezTo>
                  <a:cubicBezTo>
                    <a:pt x="4605068" y="2918768"/>
                    <a:pt x="4800600" y="3184750"/>
                    <a:pt x="4942936" y="3315584"/>
                  </a:cubicBezTo>
                  <a:cubicBezTo>
                    <a:pt x="5085272" y="3446418"/>
                    <a:pt x="5157159" y="3470859"/>
                    <a:pt x="5296619" y="3444980"/>
                  </a:cubicBezTo>
                  <a:cubicBezTo>
                    <a:pt x="5436079" y="3419101"/>
                    <a:pt x="5599981" y="3375968"/>
                    <a:pt x="5779698" y="3160308"/>
                  </a:cubicBezTo>
                  <a:cubicBezTo>
                    <a:pt x="5959415" y="2944648"/>
                    <a:pt x="6236898" y="2389682"/>
                    <a:pt x="6374921" y="2151018"/>
                  </a:cubicBezTo>
                  <a:cubicBezTo>
                    <a:pt x="6512944" y="1912354"/>
                    <a:pt x="6520132" y="1900852"/>
                    <a:pt x="6607834" y="1728324"/>
                  </a:cubicBezTo>
                  <a:cubicBezTo>
                    <a:pt x="6695536" y="1555796"/>
                    <a:pt x="6800490" y="1312818"/>
                    <a:pt x="6901132" y="1115848"/>
                  </a:cubicBezTo>
                  <a:cubicBezTo>
                    <a:pt x="7001774" y="918878"/>
                    <a:pt x="7118230" y="690278"/>
                    <a:pt x="7211683" y="546505"/>
                  </a:cubicBezTo>
                  <a:cubicBezTo>
                    <a:pt x="7305136" y="402732"/>
                    <a:pt x="7371272" y="335158"/>
                    <a:pt x="7461849" y="253207"/>
                  </a:cubicBezTo>
                  <a:cubicBezTo>
                    <a:pt x="7552426" y="171256"/>
                    <a:pt x="7648755" y="89305"/>
                    <a:pt x="7755147" y="54799"/>
                  </a:cubicBezTo>
                  <a:cubicBezTo>
                    <a:pt x="7861539" y="20293"/>
                    <a:pt x="7953555" y="-44404"/>
                    <a:pt x="8100204" y="46173"/>
                  </a:cubicBezTo>
                  <a:cubicBezTo>
                    <a:pt x="8246853" y="136750"/>
                    <a:pt x="8462514" y="352410"/>
                    <a:pt x="8635042" y="598263"/>
                  </a:cubicBezTo>
                  <a:cubicBezTo>
                    <a:pt x="8807570" y="844116"/>
                    <a:pt x="8967159" y="1200675"/>
                    <a:pt x="9135374" y="1521290"/>
                  </a:cubicBezTo>
                  <a:cubicBezTo>
                    <a:pt x="9303589" y="1841905"/>
                    <a:pt x="9490494" y="2247347"/>
                    <a:pt x="9644332" y="2521954"/>
                  </a:cubicBezTo>
                  <a:cubicBezTo>
                    <a:pt x="9798170" y="2796561"/>
                    <a:pt x="9943381" y="3026599"/>
                    <a:pt x="10058400" y="3168935"/>
                  </a:cubicBezTo>
                  <a:cubicBezTo>
                    <a:pt x="10173419" y="3311271"/>
                    <a:pt x="10251057" y="3327086"/>
                    <a:pt x="10334446" y="3375969"/>
                  </a:cubicBezTo>
                  <a:cubicBezTo>
                    <a:pt x="10417835" y="3424852"/>
                    <a:pt x="10488283" y="3443542"/>
                    <a:pt x="10558732" y="3462233"/>
                  </a:cubicBezTo>
                </a:path>
              </a:pathLst>
            </a:cu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grpSp>
        <p:nvGrpSpPr>
          <p:cNvPr id="16" name="Group 15">
            <a:extLst>
              <a:ext uri="{FF2B5EF4-FFF2-40B4-BE49-F238E27FC236}">
                <a16:creationId xmlns:a16="http://schemas.microsoft.com/office/drawing/2014/main" id="{53AB422C-E0ED-4707-B9FD-663CFD300EC1}"/>
              </a:ext>
            </a:extLst>
          </p:cNvPr>
          <p:cNvGrpSpPr/>
          <p:nvPr/>
        </p:nvGrpSpPr>
        <p:grpSpPr>
          <a:xfrm>
            <a:off x="804545" y="3089275"/>
            <a:ext cx="10582910" cy="702945"/>
            <a:chOff x="0" y="0"/>
            <a:chExt cx="10583413" cy="703316"/>
          </a:xfrm>
        </p:grpSpPr>
        <p:sp>
          <p:nvSpPr>
            <p:cNvPr id="18" name="Freeform: Shape 17">
              <a:extLst>
                <a:ext uri="{FF2B5EF4-FFF2-40B4-BE49-F238E27FC236}">
                  <a16:creationId xmlns:a16="http://schemas.microsoft.com/office/drawing/2014/main" id="{C21CBF32-E1D4-49B9-B417-FBB39A4F179A}"/>
                </a:ext>
              </a:extLst>
            </p:cNvPr>
            <p:cNvSpPr>
              <a:spLocks noChangeAspect="1"/>
            </p:cNvSpPr>
            <p:nvPr/>
          </p:nvSpPr>
          <p:spPr>
            <a:xfrm>
              <a:off x="0" y="8626"/>
              <a:ext cx="2120900" cy="694690"/>
            </a:xfrm>
            <a:custGeom>
              <a:avLst/>
              <a:gdLst>
                <a:gd name="connsiteX0" fmla="*/ 0 w 10558732"/>
                <a:gd name="connsiteY0" fmla="*/ 3436354 h 3462233"/>
                <a:gd name="connsiteX1" fmla="*/ 353683 w 10558732"/>
                <a:gd name="connsiteY1" fmla="*/ 3306958 h 3462233"/>
                <a:gd name="connsiteX2" fmla="*/ 940280 w 10558732"/>
                <a:gd name="connsiteY2" fmla="*/ 2427063 h 3462233"/>
                <a:gd name="connsiteX3" fmla="*/ 1293963 w 10558732"/>
                <a:gd name="connsiteY3" fmla="*/ 1719697 h 3462233"/>
                <a:gd name="connsiteX4" fmla="*/ 1708030 w 10558732"/>
                <a:gd name="connsiteY4" fmla="*/ 917441 h 3462233"/>
                <a:gd name="connsiteX5" fmla="*/ 2268747 w 10558732"/>
                <a:gd name="connsiteY5" fmla="*/ 141063 h 3462233"/>
                <a:gd name="connsiteX6" fmla="*/ 2639683 w 10558732"/>
                <a:gd name="connsiteY6" fmla="*/ 28920 h 3462233"/>
                <a:gd name="connsiteX7" fmla="*/ 2976113 w 10558732"/>
                <a:gd name="connsiteY7" fmla="*/ 149690 h 3462233"/>
                <a:gd name="connsiteX8" fmla="*/ 3640347 w 10558732"/>
                <a:gd name="connsiteY8" fmla="*/ 1029584 h 3462233"/>
                <a:gd name="connsiteX9" fmla="*/ 3968151 w 10558732"/>
                <a:gd name="connsiteY9" fmla="*/ 1762829 h 3462233"/>
                <a:gd name="connsiteX10" fmla="*/ 4442604 w 10558732"/>
                <a:gd name="connsiteY10" fmla="*/ 2659976 h 3462233"/>
                <a:gd name="connsiteX11" fmla="*/ 4942936 w 10558732"/>
                <a:gd name="connsiteY11" fmla="*/ 3315584 h 3462233"/>
                <a:gd name="connsiteX12" fmla="*/ 5296619 w 10558732"/>
                <a:gd name="connsiteY12" fmla="*/ 3444980 h 3462233"/>
                <a:gd name="connsiteX13" fmla="*/ 5779698 w 10558732"/>
                <a:gd name="connsiteY13" fmla="*/ 3160308 h 3462233"/>
                <a:gd name="connsiteX14" fmla="*/ 6374921 w 10558732"/>
                <a:gd name="connsiteY14" fmla="*/ 2151018 h 3462233"/>
                <a:gd name="connsiteX15" fmla="*/ 6607834 w 10558732"/>
                <a:gd name="connsiteY15" fmla="*/ 1728324 h 3462233"/>
                <a:gd name="connsiteX16" fmla="*/ 6901132 w 10558732"/>
                <a:gd name="connsiteY16" fmla="*/ 1115848 h 3462233"/>
                <a:gd name="connsiteX17" fmla="*/ 7211683 w 10558732"/>
                <a:gd name="connsiteY17" fmla="*/ 546505 h 3462233"/>
                <a:gd name="connsiteX18" fmla="*/ 7461849 w 10558732"/>
                <a:gd name="connsiteY18" fmla="*/ 253207 h 3462233"/>
                <a:gd name="connsiteX19" fmla="*/ 7755147 w 10558732"/>
                <a:gd name="connsiteY19" fmla="*/ 54799 h 3462233"/>
                <a:gd name="connsiteX20" fmla="*/ 8100204 w 10558732"/>
                <a:gd name="connsiteY20" fmla="*/ 46173 h 3462233"/>
                <a:gd name="connsiteX21" fmla="*/ 8635042 w 10558732"/>
                <a:gd name="connsiteY21" fmla="*/ 598263 h 3462233"/>
                <a:gd name="connsiteX22" fmla="*/ 9135374 w 10558732"/>
                <a:gd name="connsiteY22" fmla="*/ 1521290 h 3462233"/>
                <a:gd name="connsiteX23" fmla="*/ 9644332 w 10558732"/>
                <a:gd name="connsiteY23" fmla="*/ 2521954 h 3462233"/>
                <a:gd name="connsiteX24" fmla="*/ 10058400 w 10558732"/>
                <a:gd name="connsiteY24" fmla="*/ 3168935 h 3462233"/>
                <a:gd name="connsiteX25" fmla="*/ 10334446 w 10558732"/>
                <a:gd name="connsiteY25" fmla="*/ 3375969 h 3462233"/>
                <a:gd name="connsiteX26" fmla="*/ 10558732 w 10558732"/>
                <a:gd name="connsiteY26" fmla="*/ 3462233 h 346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58732" h="3462233">
                  <a:moveTo>
                    <a:pt x="0" y="3436354"/>
                  </a:moveTo>
                  <a:cubicBezTo>
                    <a:pt x="98485" y="3455763"/>
                    <a:pt x="196970" y="3475173"/>
                    <a:pt x="353683" y="3306958"/>
                  </a:cubicBezTo>
                  <a:cubicBezTo>
                    <a:pt x="510396" y="3138743"/>
                    <a:pt x="783567" y="2691606"/>
                    <a:pt x="940280" y="2427063"/>
                  </a:cubicBezTo>
                  <a:cubicBezTo>
                    <a:pt x="1096993" y="2162519"/>
                    <a:pt x="1166005" y="1971301"/>
                    <a:pt x="1293963" y="1719697"/>
                  </a:cubicBezTo>
                  <a:cubicBezTo>
                    <a:pt x="1421921" y="1468093"/>
                    <a:pt x="1545566" y="1180547"/>
                    <a:pt x="1708030" y="917441"/>
                  </a:cubicBezTo>
                  <a:cubicBezTo>
                    <a:pt x="1870494" y="654335"/>
                    <a:pt x="2113472" y="289150"/>
                    <a:pt x="2268747" y="141063"/>
                  </a:cubicBezTo>
                  <a:cubicBezTo>
                    <a:pt x="2424022" y="-7024"/>
                    <a:pt x="2521789" y="27482"/>
                    <a:pt x="2639683" y="28920"/>
                  </a:cubicBezTo>
                  <a:cubicBezTo>
                    <a:pt x="2757577" y="30358"/>
                    <a:pt x="2809336" y="-17087"/>
                    <a:pt x="2976113" y="149690"/>
                  </a:cubicBezTo>
                  <a:cubicBezTo>
                    <a:pt x="3142890" y="316467"/>
                    <a:pt x="3475007" y="760727"/>
                    <a:pt x="3640347" y="1029584"/>
                  </a:cubicBezTo>
                  <a:cubicBezTo>
                    <a:pt x="3805687" y="1298441"/>
                    <a:pt x="3834442" y="1491097"/>
                    <a:pt x="3968151" y="1762829"/>
                  </a:cubicBezTo>
                  <a:cubicBezTo>
                    <a:pt x="4101860" y="2034561"/>
                    <a:pt x="4280140" y="2401184"/>
                    <a:pt x="4442604" y="2659976"/>
                  </a:cubicBezTo>
                  <a:cubicBezTo>
                    <a:pt x="4605068" y="2918768"/>
                    <a:pt x="4800600" y="3184750"/>
                    <a:pt x="4942936" y="3315584"/>
                  </a:cubicBezTo>
                  <a:cubicBezTo>
                    <a:pt x="5085272" y="3446418"/>
                    <a:pt x="5157159" y="3470859"/>
                    <a:pt x="5296619" y="3444980"/>
                  </a:cubicBezTo>
                  <a:cubicBezTo>
                    <a:pt x="5436079" y="3419101"/>
                    <a:pt x="5599981" y="3375968"/>
                    <a:pt x="5779698" y="3160308"/>
                  </a:cubicBezTo>
                  <a:cubicBezTo>
                    <a:pt x="5959415" y="2944648"/>
                    <a:pt x="6236898" y="2389682"/>
                    <a:pt x="6374921" y="2151018"/>
                  </a:cubicBezTo>
                  <a:cubicBezTo>
                    <a:pt x="6512944" y="1912354"/>
                    <a:pt x="6520132" y="1900852"/>
                    <a:pt x="6607834" y="1728324"/>
                  </a:cubicBezTo>
                  <a:cubicBezTo>
                    <a:pt x="6695536" y="1555796"/>
                    <a:pt x="6800490" y="1312818"/>
                    <a:pt x="6901132" y="1115848"/>
                  </a:cubicBezTo>
                  <a:cubicBezTo>
                    <a:pt x="7001774" y="918878"/>
                    <a:pt x="7118230" y="690278"/>
                    <a:pt x="7211683" y="546505"/>
                  </a:cubicBezTo>
                  <a:cubicBezTo>
                    <a:pt x="7305136" y="402732"/>
                    <a:pt x="7371272" y="335158"/>
                    <a:pt x="7461849" y="253207"/>
                  </a:cubicBezTo>
                  <a:cubicBezTo>
                    <a:pt x="7552426" y="171256"/>
                    <a:pt x="7648755" y="89305"/>
                    <a:pt x="7755147" y="54799"/>
                  </a:cubicBezTo>
                  <a:cubicBezTo>
                    <a:pt x="7861539" y="20293"/>
                    <a:pt x="7953555" y="-44404"/>
                    <a:pt x="8100204" y="46173"/>
                  </a:cubicBezTo>
                  <a:cubicBezTo>
                    <a:pt x="8246853" y="136750"/>
                    <a:pt x="8462514" y="352410"/>
                    <a:pt x="8635042" y="598263"/>
                  </a:cubicBezTo>
                  <a:cubicBezTo>
                    <a:pt x="8807570" y="844116"/>
                    <a:pt x="8967159" y="1200675"/>
                    <a:pt x="9135374" y="1521290"/>
                  </a:cubicBezTo>
                  <a:cubicBezTo>
                    <a:pt x="9303589" y="1841905"/>
                    <a:pt x="9490494" y="2247347"/>
                    <a:pt x="9644332" y="2521954"/>
                  </a:cubicBezTo>
                  <a:cubicBezTo>
                    <a:pt x="9798170" y="2796561"/>
                    <a:pt x="9943381" y="3026599"/>
                    <a:pt x="10058400" y="3168935"/>
                  </a:cubicBezTo>
                  <a:cubicBezTo>
                    <a:pt x="10173419" y="3311271"/>
                    <a:pt x="10251057" y="3327086"/>
                    <a:pt x="10334446" y="3375969"/>
                  </a:cubicBezTo>
                  <a:cubicBezTo>
                    <a:pt x="10417835" y="3424852"/>
                    <a:pt x="10488283" y="3443542"/>
                    <a:pt x="10558732" y="3462233"/>
                  </a:cubicBezTo>
                </a:path>
              </a:pathLst>
            </a:cu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9" name="Freeform: Shape 18">
              <a:extLst>
                <a:ext uri="{FF2B5EF4-FFF2-40B4-BE49-F238E27FC236}">
                  <a16:creationId xmlns:a16="http://schemas.microsoft.com/office/drawing/2014/main" id="{E68F7BC1-712D-4836-85AB-14A82EA23418}"/>
                </a:ext>
              </a:extLst>
            </p:cNvPr>
            <p:cNvSpPr>
              <a:spLocks noChangeAspect="1"/>
            </p:cNvSpPr>
            <p:nvPr/>
          </p:nvSpPr>
          <p:spPr>
            <a:xfrm>
              <a:off x="2122098" y="8626"/>
              <a:ext cx="2120900" cy="694690"/>
            </a:xfrm>
            <a:custGeom>
              <a:avLst/>
              <a:gdLst>
                <a:gd name="connsiteX0" fmla="*/ 0 w 10558732"/>
                <a:gd name="connsiteY0" fmla="*/ 3436354 h 3462233"/>
                <a:gd name="connsiteX1" fmla="*/ 353683 w 10558732"/>
                <a:gd name="connsiteY1" fmla="*/ 3306958 h 3462233"/>
                <a:gd name="connsiteX2" fmla="*/ 940280 w 10558732"/>
                <a:gd name="connsiteY2" fmla="*/ 2427063 h 3462233"/>
                <a:gd name="connsiteX3" fmla="*/ 1293963 w 10558732"/>
                <a:gd name="connsiteY3" fmla="*/ 1719697 h 3462233"/>
                <a:gd name="connsiteX4" fmla="*/ 1708030 w 10558732"/>
                <a:gd name="connsiteY4" fmla="*/ 917441 h 3462233"/>
                <a:gd name="connsiteX5" fmla="*/ 2268747 w 10558732"/>
                <a:gd name="connsiteY5" fmla="*/ 141063 h 3462233"/>
                <a:gd name="connsiteX6" fmla="*/ 2639683 w 10558732"/>
                <a:gd name="connsiteY6" fmla="*/ 28920 h 3462233"/>
                <a:gd name="connsiteX7" fmla="*/ 2976113 w 10558732"/>
                <a:gd name="connsiteY7" fmla="*/ 149690 h 3462233"/>
                <a:gd name="connsiteX8" fmla="*/ 3640347 w 10558732"/>
                <a:gd name="connsiteY8" fmla="*/ 1029584 h 3462233"/>
                <a:gd name="connsiteX9" fmla="*/ 3968151 w 10558732"/>
                <a:gd name="connsiteY9" fmla="*/ 1762829 h 3462233"/>
                <a:gd name="connsiteX10" fmla="*/ 4442604 w 10558732"/>
                <a:gd name="connsiteY10" fmla="*/ 2659976 h 3462233"/>
                <a:gd name="connsiteX11" fmla="*/ 4942936 w 10558732"/>
                <a:gd name="connsiteY11" fmla="*/ 3315584 h 3462233"/>
                <a:gd name="connsiteX12" fmla="*/ 5296619 w 10558732"/>
                <a:gd name="connsiteY12" fmla="*/ 3444980 h 3462233"/>
                <a:gd name="connsiteX13" fmla="*/ 5779698 w 10558732"/>
                <a:gd name="connsiteY13" fmla="*/ 3160308 h 3462233"/>
                <a:gd name="connsiteX14" fmla="*/ 6374921 w 10558732"/>
                <a:gd name="connsiteY14" fmla="*/ 2151018 h 3462233"/>
                <a:gd name="connsiteX15" fmla="*/ 6607834 w 10558732"/>
                <a:gd name="connsiteY15" fmla="*/ 1728324 h 3462233"/>
                <a:gd name="connsiteX16" fmla="*/ 6901132 w 10558732"/>
                <a:gd name="connsiteY16" fmla="*/ 1115848 h 3462233"/>
                <a:gd name="connsiteX17" fmla="*/ 7211683 w 10558732"/>
                <a:gd name="connsiteY17" fmla="*/ 546505 h 3462233"/>
                <a:gd name="connsiteX18" fmla="*/ 7461849 w 10558732"/>
                <a:gd name="connsiteY18" fmla="*/ 253207 h 3462233"/>
                <a:gd name="connsiteX19" fmla="*/ 7755147 w 10558732"/>
                <a:gd name="connsiteY19" fmla="*/ 54799 h 3462233"/>
                <a:gd name="connsiteX20" fmla="*/ 8100204 w 10558732"/>
                <a:gd name="connsiteY20" fmla="*/ 46173 h 3462233"/>
                <a:gd name="connsiteX21" fmla="*/ 8635042 w 10558732"/>
                <a:gd name="connsiteY21" fmla="*/ 598263 h 3462233"/>
                <a:gd name="connsiteX22" fmla="*/ 9135374 w 10558732"/>
                <a:gd name="connsiteY22" fmla="*/ 1521290 h 3462233"/>
                <a:gd name="connsiteX23" fmla="*/ 9644332 w 10558732"/>
                <a:gd name="connsiteY23" fmla="*/ 2521954 h 3462233"/>
                <a:gd name="connsiteX24" fmla="*/ 10058400 w 10558732"/>
                <a:gd name="connsiteY24" fmla="*/ 3168935 h 3462233"/>
                <a:gd name="connsiteX25" fmla="*/ 10334446 w 10558732"/>
                <a:gd name="connsiteY25" fmla="*/ 3375969 h 3462233"/>
                <a:gd name="connsiteX26" fmla="*/ 10558732 w 10558732"/>
                <a:gd name="connsiteY26" fmla="*/ 3462233 h 346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58732" h="3462233">
                  <a:moveTo>
                    <a:pt x="0" y="3436354"/>
                  </a:moveTo>
                  <a:cubicBezTo>
                    <a:pt x="98485" y="3455763"/>
                    <a:pt x="196970" y="3475173"/>
                    <a:pt x="353683" y="3306958"/>
                  </a:cubicBezTo>
                  <a:cubicBezTo>
                    <a:pt x="510396" y="3138743"/>
                    <a:pt x="783567" y="2691606"/>
                    <a:pt x="940280" y="2427063"/>
                  </a:cubicBezTo>
                  <a:cubicBezTo>
                    <a:pt x="1096993" y="2162519"/>
                    <a:pt x="1166005" y="1971301"/>
                    <a:pt x="1293963" y="1719697"/>
                  </a:cubicBezTo>
                  <a:cubicBezTo>
                    <a:pt x="1421921" y="1468093"/>
                    <a:pt x="1545566" y="1180547"/>
                    <a:pt x="1708030" y="917441"/>
                  </a:cubicBezTo>
                  <a:cubicBezTo>
                    <a:pt x="1870494" y="654335"/>
                    <a:pt x="2113472" y="289150"/>
                    <a:pt x="2268747" y="141063"/>
                  </a:cubicBezTo>
                  <a:cubicBezTo>
                    <a:pt x="2424022" y="-7024"/>
                    <a:pt x="2521789" y="27482"/>
                    <a:pt x="2639683" y="28920"/>
                  </a:cubicBezTo>
                  <a:cubicBezTo>
                    <a:pt x="2757577" y="30358"/>
                    <a:pt x="2809336" y="-17087"/>
                    <a:pt x="2976113" y="149690"/>
                  </a:cubicBezTo>
                  <a:cubicBezTo>
                    <a:pt x="3142890" y="316467"/>
                    <a:pt x="3475007" y="760727"/>
                    <a:pt x="3640347" y="1029584"/>
                  </a:cubicBezTo>
                  <a:cubicBezTo>
                    <a:pt x="3805687" y="1298441"/>
                    <a:pt x="3834442" y="1491097"/>
                    <a:pt x="3968151" y="1762829"/>
                  </a:cubicBezTo>
                  <a:cubicBezTo>
                    <a:pt x="4101860" y="2034561"/>
                    <a:pt x="4280140" y="2401184"/>
                    <a:pt x="4442604" y="2659976"/>
                  </a:cubicBezTo>
                  <a:cubicBezTo>
                    <a:pt x="4605068" y="2918768"/>
                    <a:pt x="4800600" y="3184750"/>
                    <a:pt x="4942936" y="3315584"/>
                  </a:cubicBezTo>
                  <a:cubicBezTo>
                    <a:pt x="5085272" y="3446418"/>
                    <a:pt x="5157159" y="3470859"/>
                    <a:pt x="5296619" y="3444980"/>
                  </a:cubicBezTo>
                  <a:cubicBezTo>
                    <a:pt x="5436079" y="3419101"/>
                    <a:pt x="5599981" y="3375968"/>
                    <a:pt x="5779698" y="3160308"/>
                  </a:cubicBezTo>
                  <a:cubicBezTo>
                    <a:pt x="5959415" y="2944648"/>
                    <a:pt x="6236898" y="2389682"/>
                    <a:pt x="6374921" y="2151018"/>
                  </a:cubicBezTo>
                  <a:cubicBezTo>
                    <a:pt x="6512944" y="1912354"/>
                    <a:pt x="6520132" y="1900852"/>
                    <a:pt x="6607834" y="1728324"/>
                  </a:cubicBezTo>
                  <a:cubicBezTo>
                    <a:pt x="6695536" y="1555796"/>
                    <a:pt x="6800490" y="1312818"/>
                    <a:pt x="6901132" y="1115848"/>
                  </a:cubicBezTo>
                  <a:cubicBezTo>
                    <a:pt x="7001774" y="918878"/>
                    <a:pt x="7118230" y="690278"/>
                    <a:pt x="7211683" y="546505"/>
                  </a:cubicBezTo>
                  <a:cubicBezTo>
                    <a:pt x="7305136" y="402732"/>
                    <a:pt x="7371272" y="335158"/>
                    <a:pt x="7461849" y="253207"/>
                  </a:cubicBezTo>
                  <a:cubicBezTo>
                    <a:pt x="7552426" y="171256"/>
                    <a:pt x="7648755" y="89305"/>
                    <a:pt x="7755147" y="54799"/>
                  </a:cubicBezTo>
                  <a:cubicBezTo>
                    <a:pt x="7861539" y="20293"/>
                    <a:pt x="7953555" y="-44404"/>
                    <a:pt x="8100204" y="46173"/>
                  </a:cubicBezTo>
                  <a:cubicBezTo>
                    <a:pt x="8246853" y="136750"/>
                    <a:pt x="8462514" y="352410"/>
                    <a:pt x="8635042" y="598263"/>
                  </a:cubicBezTo>
                  <a:cubicBezTo>
                    <a:pt x="8807570" y="844116"/>
                    <a:pt x="8967159" y="1200675"/>
                    <a:pt x="9135374" y="1521290"/>
                  </a:cubicBezTo>
                  <a:cubicBezTo>
                    <a:pt x="9303589" y="1841905"/>
                    <a:pt x="9490494" y="2247347"/>
                    <a:pt x="9644332" y="2521954"/>
                  </a:cubicBezTo>
                  <a:cubicBezTo>
                    <a:pt x="9798170" y="2796561"/>
                    <a:pt x="9943381" y="3026599"/>
                    <a:pt x="10058400" y="3168935"/>
                  </a:cubicBezTo>
                  <a:cubicBezTo>
                    <a:pt x="10173419" y="3311271"/>
                    <a:pt x="10251057" y="3327086"/>
                    <a:pt x="10334446" y="3375969"/>
                  </a:cubicBezTo>
                  <a:cubicBezTo>
                    <a:pt x="10417835" y="3424852"/>
                    <a:pt x="10488283" y="3443542"/>
                    <a:pt x="10558732" y="3462233"/>
                  </a:cubicBezTo>
                </a:path>
              </a:pathLst>
            </a:cu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0" name="Freeform: Shape 19">
              <a:extLst>
                <a:ext uri="{FF2B5EF4-FFF2-40B4-BE49-F238E27FC236}">
                  <a16:creationId xmlns:a16="http://schemas.microsoft.com/office/drawing/2014/main" id="{3B52D000-3072-4758-B7B4-314230AE091C}"/>
                </a:ext>
              </a:extLst>
            </p:cNvPr>
            <p:cNvSpPr>
              <a:spLocks noChangeAspect="1"/>
            </p:cNvSpPr>
            <p:nvPr/>
          </p:nvSpPr>
          <p:spPr>
            <a:xfrm>
              <a:off x="4252823" y="8626"/>
              <a:ext cx="2120900" cy="694690"/>
            </a:xfrm>
            <a:custGeom>
              <a:avLst/>
              <a:gdLst>
                <a:gd name="connsiteX0" fmla="*/ 0 w 10558732"/>
                <a:gd name="connsiteY0" fmla="*/ 3436354 h 3462233"/>
                <a:gd name="connsiteX1" fmla="*/ 353683 w 10558732"/>
                <a:gd name="connsiteY1" fmla="*/ 3306958 h 3462233"/>
                <a:gd name="connsiteX2" fmla="*/ 940280 w 10558732"/>
                <a:gd name="connsiteY2" fmla="*/ 2427063 h 3462233"/>
                <a:gd name="connsiteX3" fmla="*/ 1293963 w 10558732"/>
                <a:gd name="connsiteY3" fmla="*/ 1719697 h 3462233"/>
                <a:gd name="connsiteX4" fmla="*/ 1708030 w 10558732"/>
                <a:gd name="connsiteY4" fmla="*/ 917441 h 3462233"/>
                <a:gd name="connsiteX5" fmla="*/ 2268747 w 10558732"/>
                <a:gd name="connsiteY5" fmla="*/ 141063 h 3462233"/>
                <a:gd name="connsiteX6" fmla="*/ 2639683 w 10558732"/>
                <a:gd name="connsiteY6" fmla="*/ 28920 h 3462233"/>
                <a:gd name="connsiteX7" fmla="*/ 2976113 w 10558732"/>
                <a:gd name="connsiteY7" fmla="*/ 149690 h 3462233"/>
                <a:gd name="connsiteX8" fmla="*/ 3640347 w 10558732"/>
                <a:gd name="connsiteY8" fmla="*/ 1029584 h 3462233"/>
                <a:gd name="connsiteX9" fmla="*/ 3968151 w 10558732"/>
                <a:gd name="connsiteY9" fmla="*/ 1762829 h 3462233"/>
                <a:gd name="connsiteX10" fmla="*/ 4442604 w 10558732"/>
                <a:gd name="connsiteY10" fmla="*/ 2659976 h 3462233"/>
                <a:gd name="connsiteX11" fmla="*/ 4942936 w 10558732"/>
                <a:gd name="connsiteY11" fmla="*/ 3315584 h 3462233"/>
                <a:gd name="connsiteX12" fmla="*/ 5296619 w 10558732"/>
                <a:gd name="connsiteY12" fmla="*/ 3444980 h 3462233"/>
                <a:gd name="connsiteX13" fmla="*/ 5779698 w 10558732"/>
                <a:gd name="connsiteY13" fmla="*/ 3160308 h 3462233"/>
                <a:gd name="connsiteX14" fmla="*/ 6374921 w 10558732"/>
                <a:gd name="connsiteY14" fmla="*/ 2151018 h 3462233"/>
                <a:gd name="connsiteX15" fmla="*/ 6607834 w 10558732"/>
                <a:gd name="connsiteY15" fmla="*/ 1728324 h 3462233"/>
                <a:gd name="connsiteX16" fmla="*/ 6901132 w 10558732"/>
                <a:gd name="connsiteY16" fmla="*/ 1115848 h 3462233"/>
                <a:gd name="connsiteX17" fmla="*/ 7211683 w 10558732"/>
                <a:gd name="connsiteY17" fmla="*/ 546505 h 3462233"/>
                <a:gd name="connsiteX18" fmla="*/ 7461849 w 10558732"/>
                <a:gd name="connsiteY18" fmla="*/ 253207 h 3462233"/>
                <a:gd name="connsiteX19" fmla="*/ 7755147 w 10558732"/>
                <a:gd name="connsiteY19" fmla="*/ 54799 h 3462233"/>
                <a:gd name="connsiteX20" fmla="*/ 8100204 w 10558732"/>
                <a:gd name="connsiteY20" fmla="*/ 46173 h 3462233"/>
                <a:gd name="connsiteX21" fmla="*/ 8635042 w 10558732"/>
                <a:gd name="connsiteY21" fmla="*/ 598263 h 3462233"/>
                <a:gd name="connsiteX22" fmla="*/ 9135374 w 10558732"/>
                <a:gd name="connsiteY22" fmla="*/ 1521290 h 3462233"/>
                <a:gd name="connsiteX23" fmla="*/ 9644332 w 10558732"/>
                <a:gd name="connsiteY23" fmla="*/ 2521954 h 3462233"/>
                <a:gd name="connsiteX24" fmla="*/ 10058400 w 10558732"/>
                <a:gd name="connsiteY24" fmla="*/ 3168935 h 3462233"/>
                <a:gd name="connsiteX25" fmla="*/ 10334446 w 10558732"/>
                <a:gd name="connsiteY25" fmla="*/ 3375969 h 3462233"/>
                <a:gd name="connsiteX26" fmla="*/ 10558732 w 10558732"/>
                <a:gd name="connsiteY26" fmla="*/ 3462233 h 346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58732" h="3462233">
                  <a:moveTo>
                    <a:pt x="0" y="3436354"/>
                  </a:moveTo>
                  <a:cubicBezTo>
                    <a:pt x="98485" y="3455763"/>
                    <a:pt x="196970" y="3475173"/>
                    <a:pt x="353683" y="3306958"/>
                  </a:cubicBezTo>
                  <a:cubicBezTo>
                    <a:pt x="510396" y="3138743"/>
                    <a:pt x="783567" y="2691606"/>
                    <a:pt x="940280" y="2427063"/>
                  </a:cubicBezTo>
                  <a:cubicBezTo>
                    <a:pt x="1096993" y="2162519"/>
                    <a:pt x="1166005" y="1971301"/>
                    <a:pt x="1293963" y="1719697"/>
                  </a:cubicBezTo>
                  <a:cubicBezTo>
                    <a:pt x="1421921" y="1468093"/>
                    <a:pt x="1545566" y="1180547"/>
                    <a:pt x="1708030" y="917441"/>
                  </a:cubicBezTo>
                  <a:cubicBezTo>
                    <a:pt x="1870494" y="654335"/>
                    <a:pt x="2113472" y="289150"/>
                    <a:pt x="2268747" y="141063"/>
                  </a:cubicBezTo>
                  <a:cubicBezTo>
                    <a:pt x="2424022" y="-7024"/>
                    <a:pt x="2521789" y="27482"/>
                    <a:pt x="2639683" y="28920"/>
                  </a:cubicBezTo>
                  <a:cubicBezTo>
                    <a:pt x="2757577" y="30358"/>
                    <a:pt x="2809336" y="-17087"/>
                    <a:pt x="2976113" y="149690"/>
                  </a:cubicBezTo>
                  <a:cubicBezTo>
                    <a:pt x="3142890" y="316467"/>
                    <a:pt x="3475007" y="760727"/>
                    <a:pt x="3640347" y="1029584"/>
                  </a:cubicBezTo>
                  <a:cubicBezTo>
                    <a:pt x="3805687" y="1298441"/>
                    <a:pt x="3834442" y="1491097"/>
                    <a:pt x="3968151" y="1762829"/>
                  </a:cubicBezTo>
                  <a:cubicBezTo>
                    <a:pt x="4101860" y="2034561"/>
                    <a:pt x="4280140" y="2401184"/>
                    <a:pt x="4442604" y="2659976"/>
                  </a:cubicBezTo>
                  <a:cubicBezTo>
                    <a:pt x="4605068" y="2918768"/>
                    <a:pt x="4800600" y="3184750"/>
                    <a:pt x="4942936" y="3315584"/>
                  </a:cubicBezTo>
                  <a:cubicBezTo>
                    <a:pt x="5085272" y="3446418"/>
                    <a:pt x="5157159" y="3470859"/>
                    <a:pt x="5296619" y="3444980"/>
                  </a:cubicBezTo>
                  <a:cubicBezTo>
                    <a:pt x="5436079" y="3419101"/>
                    <a:pt x="5599981" y="3375968"/>
                    <a:pt x="5779698" y="3160308"/>
                  </a:cubicBezTo>
                  <a:cubicBezTo>
                    <a:pt x="5959415" y="2944648"/>
                    <a:pt x="6236898" y="2389682"/>
                    <a:pt x="6374921" y="2151018"/>
                  </a:cubicBezTo>
                  <a:cubicBezTo>
                    <a:pt x="6512944" y="1912354"/>
                    <a:pt x="6520132" y="1900852"/>
                    <a:pt x="6607834" y="1728324"/>
                  </a:cubicBezTo>
                  <a:cubicBezTo>
                    <a:pt x="6695536" y="1555796"/>
                    <a:pt x="6800490" y="1312818"/>
                    <a:pt x="6901132" y="1115848"/>
                  </a:cubicBezTo>
                  <a:cubicBezTo>
                    <a:pt x="7001774" y="918878"/>
                    <a:pt x="7118230" y="690278"/>
                    <a:pt x="7211683" y="546505"/>
                  </a:cubicBezTo>
                  <a:cubicBezTo>
                    <a:pt x="7305136" y="402732"/>
                    <a:pt x="7371272" y="335158"/>
                    <a:pt x="7461849" y="253207"/>
                  </a:cubicBezTo>
                  <a:cubicBezTo>
                    <a:pt x="7552426" y="171256"/>
                    <a:pt x="7648755" y="89305"/>
                    <a:pt x="7755147" y="54799"/>
                  </a:cubicBezTo>
                  <a:cubicBezTo>
                    <a:pt x="7861539" y="20293"/>
                    <a:pt x="7953555" y="-44404"/>
                    <a:pt x="8100204" y="46173"/>
                  </a:cubicBezTo>
                  <a:cubicBezTo>
                    <a:pt x="8246853" y="136750"/>
                    <a:pt x="8462514" y="352410"/>
                    <a:pt x="8635042" y="598263"/>
                  </a:cubicBezTo>
                  <a:cubicBezTo>
                    <a:pt x="8807570" y="844116"/>
                    <a:pt x="8967159" y="1200675"/>
                    <a:pt x="9135374" y="1521290"/>
                  </a:cubicBezTo>
                  <a:cubicBezTo>
                    <a:pt x="9303589" y="1841905"/>
                    <a:pt x="9490494" y="2247347"/>
                    <a:pt x="9644332" y="2521954"/>
                  </a:cubicBezTo>
                  <a:cubicBezTo>
                    <a:pt x="9798170" y="2796561"/>
                    <a:pt x="9943381" y="3026599"/>
                    <a:pt x="10058400" y="3168935"/>
                  </a:cubicBezTo>
                  <a:cubicBezTo>
                    <a:pt x="10173419" y="3311271"/>
                    <a:pt x="10251057" y="3327086"/>
                    <a:pt x="10334446" y="3375969"/>
                  </a:cubicBezTo>
                  <a:cubicBezTo>
                    <a:pt x="10417835" y="3424852"/>
                    <a:pt x="10488283" y="3443542"/>
                    <a:pt x="10558732" y="3462233"/>
                  </a:cubicBezTo>
                </a:path>
              </a:pathLst>
            </a:cu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1" name="Freeform: Shape 20">
              <a:extLst>
                <a:ext uri="{FF2B5EF4-FFF2-40B4-BE49-F238E27FC236}">
                  <a16:creationId xmlns:a16="http://schemas.microsoft.com/office/drawing/2014/main" id="{B70C78FF-9074-4C27-8BBE-E875620C6289}"/>
                </a:ext>
              </a:extLst>
            </p:cNvPr>
            <p:cNvSpPr>
              <a:spLocks noChangeAspect="1"/>
            </p:cNvSpPr>
            <p:nvPr/>
          </p:nvSpPr>
          <p:spPr>
            <a:xfrm>
              <a:off x="6374921" y="8626"/>
              <a:ext cx="2120900" cy="694690"/>
            </a:xfrm>
            <a:custGeom>
              <a:avLst/>
              <a:gdLst>
                <a:gd name="connsiteX0" fmla="*/ 0 w 10558732"/>
                <a:gd name="connsiteY0" fmla="*/ 3436354 h 3462233"/>
                <a:gd name="connsiteX1" fmla="*/ 353683 w 10558732"/>
                <a:gd name="connsiteY1" fmla="*/ 3306958 h 3462233"/>
                <a:gd name="connsiteX2" fmla="*/ 940280 w 10558732"/>
                <a:gd name="connsiteY2" fmla="*/ 2427063 h 3462233"/>
                <a:gd name="connsiteX3" fmla="*/ 1293963 w 10558732"/>
                <a:gd name="connsiteY3" fmla="*/ 1719697 h 3462233"/>
                <a:gd name="connsiteX4" fmla="*/ 1708030 w 10558732"/>
                <a:gd name="connsiteY4" fmla="*/ 917441 h 3462233"/>
                <a:gd name="connsiteX5" fmla="*/ 2268747 w 10558732"/>
                <a:gd name="connsiteY5" fmla="*/ 141063 h 3462233"/>
                <a:gd name="connsiteX6" fmla="*/ 2639683 w 10558732"/>
                <a:gd name="connsiteY6" fmla="*/ 28920 h 3462233"/>
                <a:gd name="connsiteX7" fmla="*/ 2976113 w 10558732"/>
                <a:gd name="connsiteY7" fmla="*/ 149690 h 3462233"/>
                <a:gd name="connsiteX8" fmla="*/ 3640347 w 10558732"/>
                <a:gd name="connsiteY8" fmla="*/ 1029584 h 3462233"/>
                <a:gd name="connsiteX9" fmla="*/ 3968151 w 10558732"/>
                <a:gd name="connsiteY9" fmla="*/ 1762829 h 3462233"/>
                <a:gd name="connsiteX10" fmla="*/ 4442604 w 10558732"/>
                <a:gd name="connsiteY10" fmla="*/ 2659976 h 3462233"/>
                <a:gd name="connsiteX11" fmla="*/ 4942936 w 10558732"/>
                <a:gd name="connsiteY11" fmla="*/ 3315584 h 3462233"/>
                <a:gd name="connsiteX12" fmla="*/ 5296619 w 10558732"/>
                <a:gd name="connsiteY12" fmla="*/ 3444980 h 3462233"/>
                <a:gd name="connsiteX13" fmla="*/ 5779698 w 10558732"/>
                <a:gd name="connsiteY13" fmla="*/ 3160308 h 3462233"/>
                <a:gd name="connsiteX14" fmla="*/ 6374921 w 10558732"/>
                <a:gd name="connsiteY14" fmla="*/ 2151018 h 3462233"/>
                <a:gd name="connsiteX15" fmla="*/ 6607834 w 10558732"/>
                <a:gd name="connsiteY15" fmla="*/ 1728324 h 3462233"/>
                <a:gd name="connsiteX16" fmla="*/ 6901132 w 10558732"/>
                <a:gd name="connsiteY16" fmla="*/ 1115848 h 3462233"/>
                <a:gd name="connsiteX17" fmla="*/ 7211683 w 10558732"/>
                <a:gd name="connsiteY17" fmla="*/ 546505 h 3462233"/>
                <a:gd name="connsiteX18" fmla="*/ 7461849 w 10558732"/>
                <a:gd name="connsiteY18" fmla="*/ 253207 h 3462233"/>
                <a:gd name="connsiteX19" fmla="*/ 7755147 w 10558732"/>
                <a:gd name="connsiteY19" fmla="*/ 54799 h 3462233"/>
                <a:gd name="connsiteX20" fmla="*/ 8100204 w 10558732"/>
                <a:gd name="connsiteY20" fmla="*/ 46173 h 3462233"/>
                <a:gd name="connsiteX21" fmla="*/ 8635042 w 10558732"/>
                <a:gd name="connsiteY21" fmla="*/ 598263 h 3462233"/>
                <a:gd name="connsiteX22" fmla="*/ 9135374 w 10558732"/>
                <a:gd name="connsiteY22" fmla="*/ 1521290 h 3462233"/>
                <a:gd name="connsiteX23" fmla="*/ 9644332 w 10558732"/>
                <a:gd name="connsiteY23" fmla="*/ 2521954 h 3462233"/>
                <a:gd name="connsiteX24" fmla="*/ 10058400 w 10558732"/>
                <a:gd name="connsiteY24" fmla="*/ 3168935 h 3462233"/>
                <a:gd name="connsiteX25" fmla="*/ 10334446 w 10558732"/>
                <a:gd name="connsiteY25" fmla="*/ 3375969 h 3462233"/>
                <a:gd name="connsiteX26" fmla="*/ 10558732 w 10558732"/>
                <a:gd name="connsiteY26" fmla="*/ 3462233 h 346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58732" h="3462233">
                  <a:moveTo>
                    <a:pt x="0" y="3436354"/>
                  </a:moveTo>
                  <a:cubicBezTo>
                    <a:pt x="98485" y="3455763"/>
                    <a:pt x="196970" y="3475173"/>
                    <a:pt x="353683" y="3306958"/>
                  </a:cubicBezTo>
                  <a:cubicBezTo>
                    <a:pt x="510396" y="3138743"/>
                    <a:pt x="783567" y="2691606"/>
                    <a:pt x="940280" y="2427063"/>
                  </a:cubicBezTo>
                  <a:cubicBezTo>
                    <a:pt x="1096993" y="2162519"/>
                    <a:pt x="1166005" y="1971301"/>
                    <a:pt x="1293963" y="1719697"/>
                  </a:cubicBezTo>
                  <a:cubicBezTo>
                    <a:pt x="1421921" y="1468093"/>
                    <a:pt x="1545566" y="1180547"/>
                    <a:pt x="1708030" y="917441"/>
                  </a:cubicBezTo>
                  <a:cubicBezTo>
                    <a:pt x="1870494" y="654335"/>
                    <a:pt x="2113472" y="289150"/>
                    <a:pt x="2268747" y="141063"/>
                  </a:cubicBezTo>
                  <a:cubicBezTo>
                    <a:pt x="2424022" y="-7024"/>
                    <a:pt x="2521789" y="27482"/>
                    <a:pt x="2639683" y="28920"/>
                  </a:cubicBezTo>
                  <a:cubicBezTo>
                    <a:pt x="2757577" y="30358"/>
                    <a:pt x="2809336" y="-17087"/>
                    <a:pt x="2976113" y="149690"/>
                  </a:cubicBezTo>
                  <a:cubicBezTo>
                    <a:pt x="3142890" y="316467"/>
                    <a:pt x="3475007" y="760727"/>
                    <a:pt x="3640347" y="1029584"/>
                  </a:cubicBezTo>
                  <a:cubicBezTo>
                    <a:pt x="3805687" y="1298441"/>
                    <a:pt x="3834442" y="1491097"/>
                    <a:pt x="3968151" y="1762829"/>
                  </a:cubicBezTo>
                  <a:cubicBezTo>
                    <a:pt x="4101860" y="2034561"/>
                    <a:pt x="4280140" y="2401184"/>
                    <a:pt x="4442604" y="2659976"/>
                  </a:cubicBezTo>
                  <a:cubicBezTo>
                    <a:pt x="4605068" y="2918768"/>
                    <a:pt x="4800600" y="3184750"/>
                    <a:pt x="4942936" y="3315584"/>
                  </a:cubicBezTo>
                  <a:cubicBezTo>
                    <a:pt x="5085272" y="3446418"/>
                    <a:pt x="5157159" y="3470859"/>
                    <a:pt x="5296619" y="3444980"/>
                  </a:cubicBezTo>
                  <a:cubicBezTo>
                    <a:pt x="5436079" y="3419101"/>
                    <a:pt x="5599981" y="3375968"/>
                    <a:pt x="5779698" y="3160308"/>
                  </a:cubicBezTo>
                  <a:cubicBezTo>
                    <a:pt x="5959415" y="2944648"/>
                    <a:pt x="6236898" y="2389682"/>
                    <a:pt x="6374921" y="2151018"/>
                  </a:cubicBezTo>
                  <a:cubicBezTo>
                    <a:pt x="6512944" y="1912354"/>
                    <a:pt x="6520132" y="1900852"/>
                    <a:pt x="6607834" y="1728324"/>
                  </a:cubicBezTo>
                  <a:cubicBezTo>
                    <a:pt x="6695536" y="1555796"/>
                    <a:pt x="6800490" y="1312818"/>
                    <a:pt x="6901132" y="1115848"/>
                  </a:cubicBezTo>
                  <a:cubicBezTo>
                    <a:pt x="7001774" y="918878"/>
                    <a:pt x="7118230" y="690278"/>
                    <a:pt x="7211683" y="546505"/>
                  </a:cubicBezTo>
                  <a:cubicBezTo>
                    <a:pt x="7305136" y="402732"/>
                    <a:pt x="7371272" y="335158"/>
                    <a:pt x="7461849" y="253207"/>
                  </a:cubicBezTo>
                  <a:cubicBezTo>
                    <a:pt x="7552426" y="171256"/>
                    <a:pt x="7648755" y="89305"/>
                    <a:pt x="7755147" y="54799"/>
                  </a:cubicBezTo>
                  <a:cubicBezTo>
                    <a:pt x="7861539" y="20293"/>
                    <a:pt x="7953555" y="-44404"/>
                    <a:pt x="8100204" y="46173"/>
                  </a:cubicBezTo>
                  <a:cubicBezTo>
                    <a:pt x="8246853" y="136750"/>
                    <a:pt x="8462514" y="352410"/>
                    <a:pt x="8635042" y="598263"/>
                  </a:cubicBezTo>
                  <a:cubicBezTo>
                    <a:pt x="8807570" y="844116"/>
                    <a:pt x="8967159" y="1200675"/>
                    <a:pt x="9135374" y="1521290"/>
                  </a:cubicBezTo>
                  <a:cubicBezTo>
                    <a:pt x="9303589" y="1841905"/>
                    <a:pt x="9490494" y="2247347"/>
                    <a:pt x="9644332" y="2521954"/>
                  </a:cubicBezTo>
                  <a:cubicBezTo>
                    <a:pt x="9798170" y="2796561"/>
                    <a:pt x="9943381" y="3026599"/>
                    <a:pt x="10058400" y="3168935"/>
                  </a:cubicBezTo>
                  <a:cubicBezTo>
                    <a:pt x="10173419" y="3311271"/>
                    <a:pt x="10251057" y="3327086"/>
                    <a:pt x="10334446" y="3375969"/>
                  </a:cubicBezTo>
                  <a:cubicBezTo>
                    <a:pt x="10417835" y="3424852"/>
                    <a:pt x="10488283" y="3443542"/>
                    <a:pt x="10558732" y="3462233"/>
                  </a:cubicBezTo>
                </a:path>
              </a:pathLst>
            </a:cu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2" name="Freeform: Shape 21">
              <a:extLst>
                <a:ext uri="{FF2B5EF4-FFF2-40B4-BE49-F238E27FC236}">
                  <a16:creationId xmlns:a16="http://schemas.microsoft.com/office/drawing/2014/main" id="{9C3FA682-B320-48CF-B637-7132FA313553}"/>
                </a:ext>
              </a:extLst>
            </p:cNvPr>
            <p:cNvSpPr>
              <a:spLocks noChangeAspect="1"/>
            </p:cNvSpPr>
            <p:nvPr/>
          </p:nvSpPr>
          <p:spPr>
            <a:xfrm>
              <a:off x="8462513" y="0"/>
              <a:ext cx="2120900" cy="694690"/>
            </a:xfrm>
            <a:custGeom>
              <a:avLst/>
              <a:gdLst>
                <a:gd name="connsiteX0" fmla="*/ 0 w 10558732"/>
                <a:gd name="connsiteY0" fmla="*/ 3436354 h 3462233"/>
                <a:gd name="connsiteX1" fmla="*/ 353683 w 10558732"/>
                <a:gd name="connsiteY1" fmla="*/ 3306958 h 3462233"/>
                <a:gd name="connsiteX2" fmla="*/ 940280 w 10558732"/>
                <a:gd name="connsiteY2" fmla="*/ 2427063 h 3462233"/>
                <a:gd name="connsiteX3" fmla="*/ 1293963 w 10558732"/>
                <a:gd name="connsiteY3" fmla="*/ 1719697 h 3462233"/>
                <a:gd name="connsiteX4" fmla="*/ 1708030 w 10558732"/>
                <a:gd name="connsiteY4" fmla="*/ 917441 h 3462233"/>
                <a:gd name="connsiteX5" fmla="*/ 2268747 w 10558732"/>
                <a:gd name="connsiteY5" fmla="*/ 141063 h 3462233"/>
                <a:gd name="connsiteX6" fmla="*/ 2639683 w 10558732"/>
                <a:gd name="connsiteY6" fmla="*/ 28920 h 3462233"/>
                <a:gd name="connsiteX7" fmla="*/ 2976113 w 10558732"/>
                <a:gd name="connsiteY7" fmla="*/ 149690 h 3462233"/>
                <a:gd name="connsiteX8" fmla="*/ 3640347 w 10558732"/>
                <a:gd name="connsiteY8" fmla="*/ 1029584 h 3462233"/>
                <a:gd name="connsiteX9" fmla="*/ 3968151 w 10558732"/>
                <a:gd name="connsiteY9" fmla="*/ 1762829 h 3462233"/>
                <a:gd name="connsiteX10" fmla="*/ 4442604 w 10558732"/>
                <a:gd name="connsiteY10" fmla="*/ 2659976 h 3462233"/>
                <a:gd name="connsiteX11" fmla="*/ 4942936 w 10558732"/>
                <a:gd name="connsiteY11" fmla="*/ 3315584 h 3462233"/>
                <a:gd name="connsiteX12" fmla="*/ 5296619 w 10558732"/>
                <a:gd name="connsiteY12" fmla="*/ 3444980 h 3462233"/>
                <a:gd name="connsiteX13" fmla="*/ 5779698 w 10558732"/>
                <a:gd name="connsiteY13" fmla="*/ 3160308 h 3462233"/>
                <a:gd name="connsiteX14" fmla="*/ 6374921 w 10558732"/>
                <a:gd name="connsiteY14" fmla="*/ 2151018 h 3462233"/>
                <a:gd name="connsiteX15" fmla="*/ 6607834 w 10558732"/>
                <a:gd name="connsiteY15" fmla="*/ 1728324 h 3462233"/>
                <a:gd name="connsiteX16" fmla="*/ 6901132 w 10558732"/>
                <a:gd name="connsiteY16" fmla="*/ 1115848 h 3462233"/>
                <a:gd name="connsiteX17" fmla="*/ 7211683 w 10558732"/>
                <a:gd name="connsiteY17" fmla="*/ 546505 h 3462233"/>
                <a:gd name="connsiteX18" fmla="*/ 7461849 w 10558732"/>
                <a:gd name="connsiteY18" fmla="*/ 253207 h 3462233"/>
                <a:gd name="connsiteX19" fmla="*/ 7755147 w 10558732"/>
                <a:gd name="connsiteY19" fmla="*/ 54799 h 3462233"/>
                <a:gd name="connsiteX20" fmla="*/ 8100204 w 10558732"/>
                <a:gd name="connsiteY20" fmla="*/ 46173 h 3462233"/>
                <a:gd name="connsiteX21" fmla="*/ 8635042 w 10558732"/>
                <a:gd name="connsiteY21" fmla="*/ 598263 h 3462233"/>
                <a:gd name="connsiteX22" fmla="*/ 9135374 w 10558732"/>
                <a:gd name="connsiteY22" fmla="*/ 1521290 h 3462233"/>
                <a:gd name="connsiteX23" fmla="*/ 9644332 w 10558732"/>
                <a:gd name="connsiteY23" fmla="*/ 2521954 h 3462233"/>
                <a:gd name="connsiteX24" fmla="*/ 10058400 w 10558732"/>
                <a:gd name="connsiteY24" fmla="*/ 3168935 h 3462233"/>
                <a:gd name="connsiteX25" fmla="*/ 10334446 w 10558732"/>
                <a:gd name="connsiteY25" fmla="*/ 3375969 h 3462233"/>
                <a:gd name="connsiteX26" fmla="*/ 10558732 w 10558732"/>
                <a:gd name="connsiteY26" fmla="*/ 3462233 h 346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58732" h="3462233">
                  <a:moveTo>
                    <a:pt x="0" y="3436354"/>
                  </a:moveTo>
                  <a:cubicBezTo>
                    <a:pt x="98485" y="3455763"/>
                    <a:pt x="196970" y="3475173"/>
                    <a:pt x="353683" y="3306958"/>
                  </a:cubicBezTo>
                  <a:cubicBezTo>
                    <a:pt x="510396" y="3138743"/>
                    <a:pt x="783567" y="2691606"/>
                    <a:pt x="940280" y="2427063"/>
                  </a:cubicBezTo>
                  <a:cubicBezTo>
                    <a:pt x="1096993" y="2162519"/>
                    <a:pt x="1166005" y="1971301"/>
                    <a:pt x="1293963" y="1719697"/>
                  </a:cubicBezTo>
                  <a:cubicBezTo>
                    <a:pt x="1421921" y="1468093"/>
                    <a:pt x="1545566" y="1180547"/>
                    <a:pt x="1708030" y="917441"/>
                  </a:cubicBezTo>
                  <a:cubicBezTo>
                    <a:pt x="1870494" y="654335"/>
                    <a:pt x="2113472" y="289150"/>
                    <a:pt x="2268747" y="141063"/>
                  </a:cubicBezTo>
                  <a:cubicBezTo>
                    <a:pt x="2424022" y="-7024"/>
                    <a:pt x="2521789" y="27482"/>
                    <a:pt x="2639683" y="28920"/>
                  </a:cubicBezTo>
                  <a:cubicBezTo>
                    <a:pt x="2757577" y="30358"/>
                    <a:pt x="2809336" y="-17087"/>
                    <a:pt x="2976113" y="149690"/>
                  </a:cubicBezTo>
                  <a:cubicBezTo>
                    <a:pt x="3142890" y="316467"/>
                    <a:pt x="3475007" y="760727"/>
                    <a:pt x="3640347" y="1029584"/>
                  </a:cubicBezTo>
                  <a:cubicBezTo>
                    <a:pt x="3805687" y="1298441"/>
                    <a:pt x="3834442" y="1491097"/>
                    <a:pt x="3968151" y="1762829"/>
                  </a:cubicBezTo>
                  <a:cubicBezTo>
                    <a:pt x="4101860" y="2034561"/>
                    <a:pt x="4280140" y="2401184"/>
                    <a:pt x="4442604" y="2659976"/>
                  </a:cubicBezTo>
                  <a:cubicBezTo>
                    <a:pt x="4605068" y="2918768"/>
                    <a:pt x="4800600" y="3184750"/>
                    <a:pt x="4942936" y="3315584"/>
                  </a:cubicBezTo>
                  <a:cubicBezTo>
                    <a:pt x="5085272" y="3446418"/>
                    <a:pt x="5157159" y="3470859"/>
                    <a:pt x="5296619" y="3444980"/>
                  </a:cubicBezTo>
                  <a:cubicBezTo>
                    <a:pt x="5436079" y="3419101"/>
                    <a:pt x="5599981" y="3375968"/>
                    <a:pt x="5779698" y="3160308"/>
                  </a:cubicBezTo>
                  <a:cubicBezTo>
                    <a:pt x="5959415" y="2944648"/>
                    <a:pt x="6236898" y="2389682"/>
                    <a:pt x="6374921" y="2151018"/>
                  </a:cubicBezTo>
                  <a:cubicBezTo>
                    <a:pt x="6512944" y="1912354"/>
                    <a:pt x="6520132" y="1900852"/>
                    <a:pt x="6607834" y="1728324"/>
                  </a:cubicBezTo>
                  <a:cubicBezTo>
                    <a:pt x="6695536" y="1555796"/>
                    <a:pt x="6800490" y="1312818"/>
                    <a:pt x="6901132" y="1115848"/>
                  </a:cubicBezTo>
                  <a:cubicBezTo>
                    <a:pt x="7001774" y="918878"/>
                    <a:pt x="7118230" y="690278"/>
                    <a:pt x="7211683" y="546505"/>
                  </a:cubicBezTo>
                  <a:cubicBezTo>
                    <a:pt x="7305136" y="402732"/>
                    <a:pt x="7371272" y="335158"/>
                    <a:pt x="7461849" y="253207"/>
                  </a:cubicBezTo>
                  <a:cubicBezTo>
                    <a:pt x="7552426" y="171256"/>
                    <a:pt x="7648755" y="89305"/>
                    <a:pt x="7755147" y="54799"/>
                  </a:cubicBezTo>
                  <a:cubicBezTo>
                    <a:pt x="7861539" y="20293"/>
                    <a:pt x="7953555" y="-44404"/>
                    <a:pt x="8100204" y="46173"/>
                  </a:cubicBezTo>
                  <a:cubicBezTo>
                    <a:pt x="8246853" y="136750"/>
                    <a:pt x="8462514" y="352410"/>
                    <a:pt x="8635042" y="598263"/>
                  </a:cubicBezTo>
                  <a:cubicBezTo>
                    <a:pt x="8807570" y="844116"/>
                    <a:pt x="8967159" y="1200675"/>
                    <a:pt x="9135374" y="1521290"/>
                  </a:cubicBezTo>
                  <a:cubicBezTo>
                    <a:pt x="9303589" y="1841905"/>
                    <a:pt x="9490494" y="2247347"/>
                    <a:pt x="9644332" y="2521954"/>
                  </a:cubicBezTo>
                  <a:cubicBezTo>
                    <a:pt x="9798170" y="2796561"/>
                    <a:pt x="9943381" y="3026599"/>
                    <a:pt x="10058400" y="3168935"/>
                  </a:cubicBezTo>
                  <a:cubicBezTo>
                    <a:pt x="10173419" y="3311271"/>
                    <a:pt x="10251057" y="3327086"/>
                    <a:pt x="10334446" y="3375969"/>
                  </a:cubicBezTo>
                  <a:cubicBezTo>
                    <a:pt x="10417835" y="3424852"/>
                    <a:pt x="10488283" y="3443542"/>
                    <a:pt x="10558732" y="3462233"/>
                  </a:cubicBezTo>
                </a:path>
              </a:pathLst>
            </a:cu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17" name="Freeform: Shape 16">
            <a:extLst>
              <a:ext uri="{FF2B5EF4-FFF2-40B4-BE49-F238E27FC236}">
                <a16:creationId xmlns:a16="http://schemas.microsoft.com/office/drawing/2014/main" id="{2F1110CD-8576-4D8F-9B79-F234FC5CA210}"/>
              </a:ext>
            </a:extLst>
          </p:cNvPr>
          <p:cNvSpPr/>
          <p:nvPr/>
        </p:nvSpPr>
        <p:spPr>
          <a:xfrm>
            <a:off x="804545" y="1811020"/>
            <a:ext cx="10549890" cy="3235960"/>
          </a:xfrm>
          <a:custGeom>
            <a:avLst/>
            <a:gdLst>
              <a:gd name="connsiteX0" fmla="*/ 0 w 10550106"/>
              <a:gd name="connsiteY0" fmla="*/ 3089960 h 3236038"/>
              <a:gd name="connsiteX1" fmla="*/ 172529 w 10550106"/>
              <a:gd name="connsiteY1" fmla="*/ 3012322 h 3236038"/>
              <a:gd name="connsiteX2" fmla="*/ 310551 w 10550106"/>
              <a:gd name="connsiteY2" fmla="*/ 2865673 h 3236038"/>
              <a:gd name="connsiteX3" fmla="*/ 448574 w 10550106"/>
              <a:gd name="connsiteY3" fmla="*/ 2822541 h 3236038"/>
              <a:gd name="connsiteX4" fmla="*/ 586596 w 10550106"/>
              <a:gd name="connsiteY4" fmla="*/ 2908805 h 3236038"/>
              <a:gd name="connsiteX5" fmla="*/ 715993 w 10550106"/>
              <a:gd name="connsiteY5" fmla="*/ 3089960 h 3236038"/>
              <a:gd name="connsiteX6" fmla="*/ 828136 w 10550106"/>
              <a:gd name="connsiteY6" fmla="*/ 3227983 h 3236038"/>
              <a:gd name="connsiteX7" fmla="*/ 957532 w 10550106"/>
              <a:gd name="connsiteY7" fmla="*/ 3133092 h 3236038"/>
              <a:gd name="connsiteX8" fmla="*/ 1164566 w 10550106"/>
              <a:gd name="connsiteY8" fmla="*/ 2434353 h 3236038"/>
              <a:gd name="connsiteX9" fmla="*/ 1302589 w 10550106"/>
              <a:gd name="connsiteY9" fmla="*/ 1614843 h 3236038"/>
              <a:gd name="connsiteX10" fmla="*/ 1500996 w 10550106"/>
              <a:gd name="connsiteY10" fmla="*/ 596926 h 3236038"/>
              <a:gd name="connsiteX11" fmla="*/ 1630393 w 10550106"/>
              <a:gd name="connsiteY11" fmla="*/ 105221 h 3236038"/>
              <a:gd name="connsiteX12" fmla="*/ 1716657 w 10550106"/>
              <a:gd name="connsiteY12" fmla="*/ 10330 h 3236038"/>
              <a:gd name="connsiteX13" fmla="*/ 1837427 w 10550106"/>
              <a:gd name="connsiteY13" fmla="*/ 62088 h 3236038"/>
              <a:gd name="connsiteX14" fmla="*/ 2001329 w 10550106"/>
              <a:gd name="connsiteY14" fmla="*/ 286375 h 3236038"/>
              <a:gd name="connsiteX15" fmla="*/ 2182483 w 10550106"/>
              <a:gd name="connsiteY15" fmla="*/ 450277 h 3236038"/>
              <a:gd name="connsiteX16" fmla="*/ 2337759 w 10550106"/>
              <a:gd name="connsiteY16" fmla="*/ 346760 h 3236038"/>
              <a:gd name="connsiteX17" fmla="*/ 2527540 w 10550106"/>
              <a:gd name="connsiteY17" fmla="*/ 165605 h 3236038"/>
              <a:gd name="connsiteX18" fmla="*/ 2665563 w 10550106"/>
              <a:gd name="connsiteY18" fmla="*/ 156979 h 3236038"/>
              <a:gd name="connsiteX19" fmla="*/ 2803585 w 10550106"/>
              <a:gd name="connsiteY19" fmla="*/ 277749 h 3236038"/>
              <a:gd name="connsiteX20" fmla="*/ 2984740 w 10550106"/>
              <a:gd name="connsiteY20" fmla="*/ 415771 h 3236038"/>
              <a:gd name="connsiteX21" fmla="*/ 3114136 w 10550106"/>
              <a:gd name="connsiteY21" fmla="*/ 424398 h 3236038"/>
              <a:gd name="connsiteX22" fmla="*/ 3260785 w 10550106"/>
              <a:gd name="connsiteY22" fmla="*/ 295002 h 3236038"/>
              <a:gd name="connsiteX23" fmla="*/ 3381555 w 10550106"/>
              <a:gd name="connsiteY23" fmla="*/ 131100 h 3236038"/>
              <a:gd name="connsiteX24" fmla="*/ 3485072 w 10550106"/>
              <a:gd name="connsiteY24" fmla="*/ 27583 h 3236038"/>
              <a:gd name="connsiteX25" fmla="*/ 3597215 w 10550106"/>
              <a:gd name="connsiteY25" fmla="*/ 105221 h 3236038"/>
              <a:gd name="connsiteX26" fmla="*/ 3864634 w 10550106"/>
              <a:gd name="connsiteY26" fmla="*/ 1062753 h 3236038"/>
              <a:gd name="connsiteX27" fmla="*/ 3950898 w 10550106"/>
              <a:gd name="connsiteY27" fmla="*/ 1649349 h 3236038"/>
              <a:gd name="connsiteX28" fmla="*/ 4175185 w 10550106"/>
              <a:gd name="connsiteY28" fmla="*/ 2727651 h 3236038"/>
              <a:gd name="connsiteX29" fmla="*/ 4287329 w 10550106"/>
              <a:gd name="connsiteY29" fmla="*/ 3133092 h 3236038"/>
              <a:gd name="connsiteX30" fmla="*/ 4408098 w 10550106"/>
              <a:gd name="connsiteY30" fmla="*/ 3202104 h 3236038"/>
              <a:gd name="connsiteX31" fmla="*/ 4546121 w 10550106"/>
              <a:gd name="connsiteY31" fmla="*/ 3081334 h 3236038"/>
              <a:gd name="connsiteX32" fmla="*/ 4727276 w 10550106"/>
              <a:gd name="connsiteY32" fmla="*/ 2865673 h 3236038"/>
              <a:gd name="connsiteX33" fmla="*/ 4848046 w 10550106"/>
              <a:gd name="connsiteY33" fmla="*/ 2805288 h 3236038"/>
              <a:gd name="connsiteX34" fmla="*/ 5055080 w 10550106"/>
              <a:gd name="connsiteY34" fmla="*/ 2977817 h 3236038"/>
              <a:gd name="connsiteX35" fmla="*/ 5218981 w 10550106"/>
              <a:gd name="connsiteY35" fmla="*/ 3115839 h 3236038"/>
              <a:gd name="connsiteX36" fmla="*/ 5408763 w 10550106"/>
              <a:gd name="connsiteY36" fmla="*/ 3046828 h 3236038"/>
              <a:gd name="connsiteX37" fmla="*/ 5598544 w 10550106"/>
              <a:gd name="connsiteY37" fmla="*/ 2882926 h 3236038"/>
              <a:gd name="connsiteX38" fmla="*/ 5719313 w 10550106"/>
              <a:gd name="connsiteY38" fmla="*/ 2805288 h 3236038"/>
              <a:gd name="connsiteX39" fmla="*/ 5891842 w 10550106"/>
              <a:gd name="connsiteY39" fmla="*/ 2926058 h 3236038"/>
              <a:gd name="connsiteX40" fmla="*/ 6047117 w 10550106"/>
              <a:gd name="connsiteY40" fmla="*/ 3150345 h 3236038"/>
              <a:gd name="connsiteX41" fmla="*/ 6245525 w 10550106"/>
              <a:gd name="connsiteY41" fmla="*/ 3158971 h 3236038"/>
              <a:gd name="connsiteX42" fmla="*/ 6435306 w 10550106"/>
              <a:gd name="connsiteY42" fmla="*/ 2460232 h 3236038"/>
              <a:gd name="connsiteX43" fmla="*/ 6616461 w 10550106"/>
              <a:gd name="connsiteY43" fmla="*/ 1632096 h 3236038"/>
              <a:gd name="connsiteX44" fmla="*/ 6711351 w 10550106"/>
              <a:gd name="connsiteY44" fmla="*/ 855719 h 3236038"/>
              <a:gd name="connsiteX45" fmla="*/ 6840747 w 10550106"/>
              <a:gd name="connsiteY45" fmla="*/ 329507 h 3236038"/>
              <a:gd name="connsiteX46" fmla="*/ 6901132 w 10550106"/>
              <a:gd name="connsiteY46" fmla="*/ 165605 h 3236038"/>
              <a:gd name="connsiteX47" fmla="*/ 6996023 w 10550106"/>
              <a:gd name="connsiteY47" fmla="*/ 27583 h 3236038"/>
              <a:gd name="connsiteX48" fmla="*/ 7099540 w 10550106"/>
              <a:gd name="connsiteY48" fmla="*/ 27583 h 3236038"/>
              <a:gd name="connsiteX49" fmla="*/ 7194430 w 10550106"/>
              <a:gd name="connsiteY49" fmla="*/ 208737 h 3236038"/>
              <a:gd name="connsiteX50" fmla="*/ 7384212 w 10550106"/>
              <a:gd name="connsiteY50" fmla="*/ 415771 h 3236038"/>
              <a:gd name="connsiteX51" fmla="*/ 7479102 w 10550106"/>
              <a:gd name="connsiteY51" fmla="*/ 441651 h 3236038"/>
              <a:gd name="connsiteX52" fmla="*/ 7625751 w 10550106"/>
              <a:gd name="connsiteY52" fmla="*/ 355387 h 3236038"/>
              <a:gd name="connsiteX53" fmla="*/ 7789653 w 10550106"/>
              <a:gd name="connsiteY53" fmla="*/ 217364 h 3236038"/>
              <a:gd name="connsiteX54" fmla="*/ 7893170 w 10550106"/>
              <a:gd name="connsiteY54" fmla="*/ 156979 h 3236038"/>
              <a:gd name="connsiteX55" fmla="*/ 8057072 w 10550106"/>
              <a:gd name="connsiteY55" fmla="*/ 191485 h 3236038"/>
              <a:gd name="connsiteX56" fmla="*/ 8195095 w 10550106"/>
              <a:gd name="connsiteY56" fmla="*/ 346760 h 3236038"/>
              <a:gd name="connsiteX57" fmla="*/ 8315864 w 10550106"/>
              <a:gd name="connsiteY57" fmla="*/ 424398 h 3236038"/>
              <a:gd name="connsiteX58" fmla="*/ 8471140 w 10550106"/>
              <a:gd name="connsiteY58" fmla="*/ 389892 h 3236038"/>
              <a:gd name="connsiteX59" fmla="*/ 8591910 w 10550106"/>
              <a:gd name="connsiteY59" fmla="*/ 251870 h 3236038"/>
              <a:gd name="connsiteX60" fmla="*/ 8678174 w 10550106"/>
              <a:gd name="connsiteY60" fmla="*/ 105221 h 3236038"/>
              <a:gd name="connsiteX61" fmla="*/ 8747185 w 10550106"/>
              <a:gd name="connsiteY61" fmla="*/ 36209 h 3236038"/>
              <a:gd name="connsiteX62" fmla="*/ 8893834 w 10550106"/>
              <a:gd name="connsiteY62" fmla="*/ 62088 h 3236038"/>
              <a:gd name="connsiteX63" fmla="*/ 9066363 w 10550106"/>
              <a:gd name="connsiteY63" fmla="*/ 640058 h 3236038"/>
              <a:gd name="connsiteX64" fmla="*/ 9247517 w 10550106"/>
              <a:gd name="connsiteY64" fmla="*/ 1649349 h 3236038"/>
              <a:gd name="connsiteX65" fmla="*/ 9428672 w 10550106"/>
              <a:gd name="connsiteY65" fmla="*/ 2615507 h 3236038"/>
              <a:gd name="connsiteX66" fmla="*/ 9540815 w 10550106"/>
              <a:gd name="connsiteY66" fmla="*/ 3003696 h 3236038"/>
              <a:gd name="connsiteX67" fmla="*/ 9609827 w 10550106"/>
              <a:gd name="connsiteY67" fmla="*/ 3184851 h 3236038"/>
              <a:gd name="connsiteX68" fmla="*/ 9730596 w 10550106"/>
              <a:gd name="connsiteY68" fmla="*/ 3219356 h 3236038"/>
              <a:gd name="connsiteX69" fmla="*/ 9842740 w 10550106"/>
              <a:gd name="connsiteY69" fmla="*/ 3046828 h 3236038"/>
              <a:gd name="connsiteX70" fmla="*/ 9980763 w 10550106"/>
              <a:gd name="connsiteY70" fmla="*/ 2900179 h 3236038"/>
              <a:gd name="connsiteX71" fmla="*/ 10075653 w 10550106"/>
              <a:gd name="connsiteY71" fmla="*/ 2813915 h 3236038"/>
              <a:gd name="connsiteX72" fmla="*/ 10161917 w 10550106"/>
              <a:gd name="connsiteY72" fmla="*/ 2822541 h 3236038"/>
              <a:gd name="connsiteX73" fmla="*/ 10282687 w 10550106"/>
              <a:gd name="connsiteY73" fmla="*/ 2908805 h 3236038"/>
              <a:gd name="connsiteX74" fmla="*/ 10403457 w 10550106"/>
              <a:gd name="connsiteY74" fmla="*/ 3029575 h 3236038"/>
              <a:gd name="connsiteX75" fmla="*/ 10550106 w 10550106"/>
              <a:gd name="connsiteY75" fmla="*/ 3115839 h 3236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10550106" h="3236038">
                <a:moveTo>
                  <a:pt x="0" y="3089960"/>
                </a:moveTo>
                <a:cubicBezTo>
                  <a:pt x="60385" y="3069831"/>
                  <a:pt x="120771" y="3049703"/>
                  <a:pt x="172529" y="3012322"/>
                </a:cubicBezTo>
                <a:cubicBezTo>
                  <a:pt x="224287" y="2974941"/>
                  <a:pt x="264544" y="2897303"/>
                  <a:pt x="310551" y="2865673"/>
                </a:cubicBezTo>
                <a:cubicBezTo>
                  <a:pt x="356558" y="2834043"/>
                  <a:pt x="402567" y="2815352"/>
                  <a:pt x="448574" y="2822541"/>
                </a:cubicBezTo>
                <a:cubicBezTo>
                  <a:pt x="494582" y="2829730"/>
                  <a:pt x="542026" y="2864235"/>
                  <a:pt x="586596" y="2908805"/>
                </a:cubicBezTo>
                <a:cubicBezTo>
                  <a:pt x="631166" y="2953375"/>
                  <a:pt x="675736" y="3036764"/>
                  <a:pt x="715993" y="3089960"/>
                </a:cubicBezTo>
                <a:cubicBezTo>
                  <a:pt x="756250" y="3143156"/>
                  <a:pt x="787880" y="3220794"/>
                  <a:pt x="828136" y="3227983"/>
                </a:cubicBezTo>
                <a:cubicBezTo>
                  <a:pt x="868392" y="3235172"/>
                  <a:pt x="901460" y="3265364"/>
                  <a:pt x="957532" y="3133092"/>
                </a:cubicBezTo>
                <a:cubicBezTo>
                  <a:pt x="1013604" y="3000820"/>
                  <a:pt x="1107057" y="2687394"/>
                  <a:pt x="1164566" y="2434353"/>
                </a:cubicBezTo>
                <a:cubicBezTo>
                  <a:pt x="1222075" y="2181312"/>
                  <a:pt x="1246517" y="1921081"/>
                  <a:pt x="1302589" y="1614843"/>
                </a:cubicBezTo>
                <a:cubicBezTo>
                  <a:pt x="1358661" y="1308605"/>
                  <a:pt x="1446362" y="848530"/>
                  <a:pt x="1500996" y="596926"/>
                </a:cubicBezTo>
                <a:cubicBezTo>
                  <a:pt x="1555630" y="345322"/>
                  <a:pt x="1594450" y="202987"/>
                  <a:pt x="1630393" y="105221"/>
                </a:cubicBezTo>
                <a:cubicBezTo>
                  <a:pt x="1666336" y="7455"/>
                  <a:pt x="1682151" y="17519"/>
                  <a:pt x="1716657" y="10330"/>
                </a:cubicBezTo>
                <a:cubicBezTo>
                  <a:pt x="1751163" y="3141"/>
                  <a:pt x="1789982" y="16081"/>
                  <a:pt x="1837427" y="62088"/>
                </a:cubicBezTo>
                <a:cubicBezTo>
                  <a:pt x="1884872" y="108095"/>
                  <a:pt x="1943820" y="221677"/>
                  <a:pt x="2001329" y="286375"/>
                </a:cubicBezTo>
                <a:cubicBezTo>
                  <a:pt x="2058838" y="351073"/>
                  <a:pt x="2126411" y="440213"/>
                  <a:pt x="2182483" y="450277"/>
                </a:cubicBezTo>
                <a:cubicBezTo>
                  <a:pt x="2238555" y="460341"/>
                  <a:pt x="2280250" y="394205"/>
                  <a:pt x="2337759" y="346760"/>
                </a:cubicBezTo>
                <a:cubicBezTo>
                  <a:pt x="2395269" y="299315"/>
                  <a:pt x="2472906" y="197235"/>
                  <a:pt x="2527540" y="165605"/>
                </a:cubicBezTo>
                <a:cubicBezTo>
                  <a:pt x="2582174" y="133975"/>
                  <a:pt x="2619556" y="138288"/>
                  <a:pt x="2665563" y="156979"/>
                </a:cubicBezTo>
                <a:cubicBezTo>
                  <a:pt x="2711570" y="175670"/>
                  <a:pt x="2750389" y="234617"/>
                  <a:pt x="2803585" y="277749"/>
                </a:cubicBezTo>
                <a:cubicBezTo>
                  <a:pt x="2856781" y="320881"/>
                  <a:pt x="2932982" y="391330"/>
                  <a:pt x="2984740" y="415771"/>
                </a:cubicBezTo>
                <a:cubicBezTo>
                  <a:pt x="3036498" y="440212"/>
                  <a:pt x="3068129" y="444526"/>
                  <a:pt x="3114136" y="424398"/>
                </a:cubicBezTo>
                <a:cubicBezTo>
                  <a:pt x="3160143" y="404270"/>
                  <a:pt x="3216215" y="343885"/>
                  <a:pt x="3260785" y="295002"/>
                </a:cubicBezTo>
                <a:cubicBezTo>
                  <a:pt x="3305355" y="246119"/>
                  <a:pt x="3344174" y="175670"/>
                  <a:pt x="3381555" y="131100"/>
                </a:cubicBezTo>
                <a:cubicBezTo>
                  <a:pt x="3418936" y="86530"/>
                  <a:pt x="3449129" y="31896"/>
                  <a:pt x="3485072" y="27583"/>
                </a:cubicBezTo>
                <a:cubicBezTo>
                  <a:pt x="3521015" y="23270"/>
                  <a:pt x="3533955" y="-67307"/>
                  <a:pt x="3597215" y="105221"/>
                </a:cubicBezTo>
                <a:cubicBezTo>
                  <a:pt x="3660475" y="277749"/>
                  <a:pt x="3805687" y="805398"/>
                  <a:pt x="3864634" y="1062753"/>
                </a:cubicBezTo>
                <a:cubicBezTo>
                  <a:pt x="3923581" y="1320108"/>
                  <a:pt x="3899140" y="1371866"/>
                  <a:pt x="3950898" y="1649349"/>
                </a:cubicBezTo>
                <a:cubicBezTo>
                  <a:pt x="4002656" y="1926832"/>
                  <a:pt x="4119113" y="2480360"/>
                  <a:pt x="4175185" y="2727651"/>
                </a:cubicBezTo>
                <a:cubicBezTo>
                  <a:pt x="4231257" y="2974941"/>
                  <a:pt x="4248510" y="3054017"/>
                  <a:pt x="4287329" y="3133092"/>
                </a:cubicBezTo>
                <a:cubicBezTo>
                  <a:pt x="4326148" y="3212167"/>
                  <a:pt x="4364966" y="3210730"/>
                  <a:pt x="4408098" y="3202104"/>
                </a:cubicBezTo>
                <a:cubicBezTo>
                  <a:pt x="4451230" y="3193478"/>
                  <a:pt x="4492925" y="3137406"/>
                  <a:pt x="4546121" y="3081334"/>
                </a:cubicBezTo>
                <a:cubicBezTo>
                  <a:pt x="4599317" y="3025262"/>
                  <a:pt x="4676955" y="2911681"/>
                  <a:pt x="4727276" y="2865673"/>
                </a:cubicBezTo>
                <a:cubicBezTo>
                  <a:pt x="4777597" y="2819665"/>
                  <a:pt x="4793412" y="2786597"/>
                  <a:pt x="4848046" y="2805288"/>
                </a:cubicBezTo>
                <a:cubicBezTo>
                  <a:pt x="4902680" y="2823979"/>
                  <a:pt x="5055080" y="2977817"/>
                  <a:pt x="5055080" y="2977817"/>
                </a:cubicBezTo>
                <a:cubicBezTo>
                  <a:pt x="5116903" y="3029576"/>
                  <a:pt x="5160034" y="3104337"/>
                  <a:pt x="5218981" y="3115839"/>
                </a:cubicBezTo>
                <a:cubicBezTo>
                  <a:pt x="5277928" y="3127341"/>
                  <a:pt x="5345503" y="3085647"/>
                  <a:pt x="5408763" y="3046828"/>
                </a:cubicBezTo>
                <a:cubicBezTo>
                  <a:pt x="5472023" y="3008009"/>
                  <a:pt x="5546786" y="2923183"/>
                  <a:pt x="5598544" y="2882926"/>
                </a:cubicBezTo>
                <a:cubicBezTo>
                  <a:pt x="5650302" y="2842669"/>
                  <a:pt x="5670430" y="2798099"/>
                  <a:pt x="5719313" y="2805288"/>
                </a:cubicBezTo>
                <a:cubicBezTo>
                  <a:pt x="5768196" y="2812477"/>
                  <a:pt x="5837208" y="2868549"/>
                  <a:pt x="5891842" y="2926058"/>
                </a:cubicBezTo>
                <a:cubicBezTo>
                  <a:pt x="5946476" y="2983567"/>
                  <a:pt x="5988170" y="3111526"/>
                  <a:pt x="6047117" y="3150345"/>
                </a:cubicBezTo>
                <a:cubicBezTo>
                  <a:pt x="6106064" y="3189164"/>
                  <a:pt x="6180827" y="3273990"/>
                  <a:pt x="6245525" y="3158971"/>
                </a:cubicBezTo>
                <a:cubicBezTo>
                  <a:pt x="6310223" y="3043952"/>
                  <a:pt x="6373483" y="2714711"/>
                  <a:pt x="6435306" y="2460232"/>
                </a:cubicBezTo>
                <a:cubicBezTo>
                  <a:pt x="6497129" y="2205753"/>
                  <a:pt x="6570454" y="1899515"/>
                  <a:pt x="6616461" y="1632096"/>
                </a:cubicBezTo>
                <a:cubicBezTo>
                  <a:pt x="6662468" y="1364677"/>
                  <a:pt x="6673970" y="1072817"/>
                  <a:pt x="6711351" y="855719"/>
                </a:cubicBezTo>
                <a:cubicBezTo>
                  <a:pt x="6748732" y="638621"/>
                  <a:pt x="6809117" y="444526"/>
                  <a:pt x="6840747" y="329507"/>
                </a:cubicBezTo>
                <a:cubicBezTo>
                  <a:pt x="6872377" y="214488"/>
                  <a:pt x="6875253" y="215926"/>
                  <a:pt x="6901132" y="165605"/>
                </a:cubicBezTo>
                <a:cubicBezTo>
                  <a:pt x="6927011" y="115284"/>
                  <a:pt x="6962955" y="50587"/>
                  <a:pt x="6996023" y="27583"/>
                </a:cubicBezTo>
                <a:cubicBezTo>
                  <a:pt x="7029091" y="4579"/>
                  <a:pt x="7066472" y="-2609"/>
                  <a:pt x="7099540" y="27583"/>
                </a:cubicBezTo>
                <a:cubicBezTo>
                  <a:pt x="7132608" y="57775"/>
                  <a:pt x="7146985" y="144039"/>
                  <a:pt x="7194430" y="208737"/>
                </a:cubicBezTo>
                <a:cubicBezTo>
                  <a:pt x="7241875" y="273435"/>
                  <a:pt x="7336767" y="376952"/>
                  <a:pt x="7384212" y="415771"/>
                </a:cubicBezTo>
                <a:cubicBezTo>
                  <a:pt x="7431657" y="454590"/>
                  <a:pt x="7438846" y="451715"/>
                  <a:pt x="7479102" y="441651"/>
                </a:cubicBezTo>
                <a:cubicBezTo>
                  <a:pt x="7519359" y="431587"/>
                  <a:pt x="7573993" y="392768"/>
                  <a:pt x="7625751" y="355387"/>
                </a:cubicBezTo>
                <a:cubicBezTo>
                  <a:pt x="7677509" y="318006"/>
                  <a:pt x="7745083" y="250432"/>
                  <a:pt x="7789653" y="217364"/>
                </a:cubicBezTo>
                <a:cubicBezTo>
                  <a:pt x="7834223" y="184296"/>
                  <a:pt x="7848600" y="161292"/>
                  <a:pt x="7893170" y="156979"/>
                </a:cubicBezTo>
                <a:cubicBezTo>
                  <a:pt x="7937740" y="152666"/>
                  <a:pt x="8006751" y="159855"/>
                  <a:pt x="8057072" y="191485"/>
                </a:cubicBezTo>
                <a:cubicBezTo>
                  <a:pt x="8107393" y="223115"/>
                  <a:pt x="8151963" y="307941"/>
                  <a:pt x="8195095" y="346760"/>
                </a:cubicBezTo>
                <a:cubicBezTo>
                  <a:pt x="8238227" y="385579"/>
                  <a:pt x="8269857" y="417209"/>
                  <a:pt x="8315864" y="424398"/>
                </a:cubicBezTo>
                <a:cubicBezTo>
                  <a:pt x="8361872" y="431587"/>
                  <a:pt x="8425132" y="418647"/>
                  <a:pt x="8471140" y="389892"/>
                </a:cubicBezTo>
                <a:cubicBezTo>
                  <a:pt x="8517148" y="361137"/>
                  <a:pt x="8557404" y="299315"/>
                  <a:pt x="8591910" y="251870"/>
                </a:cubicBezTo>
                <a:cubicBezTo>
                  <a:pt x="8626416" y="204425"/>
                  <a:pt x="8652295" y="141164"/>
                  <a:pt x="8678174" y="105221"/>
                </a:cubicBezTo>
                <a:cubicBezTo>
                  <a:pt x="8704053" y="69277"/>
                  <a:pt x="8711242" y="43398"/>
                  <a:pt x="8747185" y="36209"/>
                </a:cubicBezTo>
                <a:cubicBezTo>
                  <a:pt x="8783128" y="29020"/>
                  <a:pt x="8840638" y="-38553"/>
                  <a:pt x="8893834" y="62088"/>
                </a:cubicBezTo>
                <a:cubicBezTo>
                  <a:pt x="8947030" y="162729"/>
                  <a:pt x="9007416" y="375514"/>
                  <a:pt x="9066363" y="640058"/>
                </a:cubicBezTo>
                <a:cubicBezTo>
                  <a:pt x="9125310" y="904601"/>
                  <a:pt x="9187132" y="1320108"/>
                  <a:pt x="9247517" y="1649349"/>
                </a:cubicBezTo>
                <a:cubicBezTo>
                  <a:pt x="9307902" y="1978590"/>
                  <a:pt x="9379789" y="2389782"/>
                  <a:pt x="9428672" y="2615507"/>
                </a:cubicBezTo>
                <a:cubicBezTo>
                  <a:pt x="9477555" y="2841232"/>
                  <a:pt x="9510623" y="2908805"/>
                  <a:pt x="9540815" y="3003696"/>
                </a:cubicBezTo>
                <a:cubicBezTo>
                  <a:pt x="9571007" y="3098587"/>
                  <a:pt x="9578197" y="3148908"/>
                  <a:pt x="9609827" y="3184851"/>
                </a:cubicBezTo>
                <a:cubicBezTo>
                  <a:pt x="9641457" y="3220794"/>
                  <a:pt x="9691777" y="3242360"/>
                  <a:pt x="9730596" y="3219356"/>
                </a:cubicBezTo>
                <a:cubicBezTo>
                  <a:pt x="9769415" y="3196352"/>
                  <a:pt x="9801046" y="3100024"/>
                  <a:pt x="9842740" y="3046828"/>
                </a:cubicBezTo>
                <a:cubicBezTo>
                  <a:pt x="9884434" y="2993632"/>
                  <a:pt x="9941944" y="2938998"/>
                  <a:pt x="9980763" y="2900179"/>
                </a:cubicBezTo>
                <a:cubicBezTo>
                  <a:pt x="10019582" y="2861360"/>
                  <a:pt x="10045461" y="2826855"/>
                  <a:pt x="10075653" y="2813915"/>
                </a:cubicBezTo>
                <a:cubicBezTo>
                  <a:pt x="10105845" y="2800975"/>
                  <a:pt x="10127411" y="2806726"/>
                  <a:pt x="10161917" y="2822541"/>
                </a:cubicBezTo>
                <a:cubicBezTo>
                  <a:pt x="10196423" y="2838356"/>
                  <a:pt x="10242430" y="2874299"/>
                  <a:pt x="10282687" y="2908805"/>
                </a:cubicBezTo>
                <a:cubicBezTo>
                  <a:pt x="10322944" y="2943311"/>
                  <a:pt x="10358887" y="2995069"/>
                  <a:pt x="10403457" y="3029575"/>
                </a:cubicBezTo>
                <a:cubicBezTo>
                  <a:pt x="10448027" y="3064081"/>
                  <a:pt x="10499066" y="3089960"/>
                  <a:pt x="10550106" y="3115839"/>
                </a:cubicBezTo>
              </a:path>
            </a:pathLst>
          </a:cu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nvGrpSpPr>
          <p:cNvPr id="23" name="Group 22">
            <a:extLst>
              <a:ext uri="{FF2B5EF4-FFF2-40B4-BE49-F238E27FC236}">
                <a16:creationId xmlns:a16="http://schemas.microsoft.com/office/drawing/2014/main" id="{59D78A93-AF88-4C90-8915-9E522DA32816}"/>
              </a:ext>
            </a:extLst>
          </p:cNvPr>
          <p:cNvGrpSpPr/>
          <p:nvPr/>
        </p:nvGrpSpPr>
        <p:grpSpPr>
          <a:xfrm>
            <a:off x="791528" y="3220720"/>
            <a:ext cx="10608944" cy="521970"/>
            <a:chOff x="0" y="0"/>
            <a:chExt cx="10609257" cy="522449"/>
          </a:xfrm>
        </p:grpSpPr>
        <p:grpSp>
          <p:nvGrpSpPr>
            <p:cNvPr id="25" name="Group 24">
              <a:extLst>
                <a:ext uri="{FF2B5EF4-FFF2-40B4-BE49-F238E27FC236}">
                  <a16:creationId xmlns:a16="http://schemas.microsoft.com/office/drawing/2014/main" id="{506D7DC9-3AA0-4DAB-BD4F-A1305300B0E2}"/>
                </a:ext>
              </a:extLst>
            </p:cNvPr>
            <p:cNvGrpSpPr>
              <a:grpSpLocks noChangeAspect="1"/>
            </p:cNvGrpSpPr>
            <p:nvPr/>
          </p:nvGrpSpPr>
          <p:grpSpPr>
            <a:xfrm flipV="1">
              <a:off x="0" y="0"/>
              <a:ext cx="7571230" cy="502920"/>
              <a:chOff x="0" y="0"/>
              <a:chExt cx="10583413" cy="703316"/>
            </a:xfrm>
          </p:grpSpPr>
          <p:sp>
            <p:nvSpPr>
              <p:cNvPr id="28" name="Freeform: Shape 27">
                <a:extLst>
                  <a:ext uri="{FF2B5EF4-FFF2-40B4-BE49-F238E27FC236}">
                    <a16:creationId xmlns:a16="http://schemas.microsoft.com/office/drawing/2014/main" id="{AA0A5E0D-C17F-49B5-B9C2-91AF52CE8A25}"/>
                  </a:ext>
                </a:extLst>
              </p:cNvPr>
              <p:cNvSpPr>
                <a:spLocks noChangeAspect="1"/>
              </p:cNvSpPr>
              <p:nvPr/>
            </p:nvSpPr>
            <p:spPr>
              <a:xfrm>
                <a:off x="0" y="8626"/>
                <a:ext cx="2120900" cy="694690"/>
              </a:xfrm>
              <a:custGeom>
                <a:avLst/>
                <a:gdLst>
                  <a:gd name="connsiteX0" fmla="*/ 0 w 10558732"/>
                  <a:gd name="connsiteY0" fmla="*/ 3436354 h 3462233"/>
                  <a:gd name="connsiteX1" fmla="*/ 353683 w 10558732"/>
                  <a:gd name="connsiteY1" fmla="*/ 3306958 h 3462233"/>
                  <a:gd name="connsiteX2" fmla="*/ 940280 w 10558732"/>
                  <a:gd name="connsiteY2" fmla="*/ 2427063 h 3462233"/>
                  <a:gd name="connsiteX3" fmla="*/ 1293963 w 10558732"/>
                  <a:gd name="connsiteY3" fmla="*/ 1719697 h 3462233"/>
                  <a:gd name="connsiteX4" fmla="*/ 1708030 w 10558732"/>
                  <a:gd name="connsiteY4" fmla="*/ 917441 h 3462233"/>
                  <a:gd name="connsiteX5" fmla="*/ 2268747 w 10558732"/>
                  <a:gd name="connsiteY5" fmla="*/ 141063 h 3462233"/>
                  <a:gd name="connsiteX6" fmla="*/ 2639683 w 10558732"/>
                  <a:gd name="connsiteY6" fmla="*/ 28920 h 3462233"/>
                  <a:gd name="connsiteX7" fmla="*/ 2976113 w 10558732"/>
                  <a:gd name="connsiteY7" fmla="*/ 149690 h 3462233"/>
                  <a:gd name="connsiteX8" fmla="*/ 3640347 w 10558732"/>
                  <a:gd name="connsiteY8" fmla="*/ 1029584 h 3462233"/>
                  <a:gd name="connsiteX9" fmla="*/ 3968151 w 10558732"/>
                  <a:gd name="connsiteY9" fmla="*/ 1762829 h 3462233"/>
                  <a:gd name="connsiteX10" fmla="*/ 4442604 w 10558732"/>
                  <a:gd name="connsiteY10" fmla="*/ 2659976 h 3462233"/>
                  <a:gd name="connsiteX11" fmla="*/ 4942936 w 10558732"/>
                  <a:gd name="connsiteY11" fmla="*/ 3315584 h 3462233"/>
                  <a:gd name="connsiteX12" fmla="*/ 5296619 w 10558732"/>
                  <a:gd name="connsiteY12" fmla="*/ 3444980 h 3462233"/>
                  <a:gd name="connsiteX13" fmla="*/ 5779698 w 10558732"/>
                  <a:gd name="connsiteY13" fmla="*/ 3160308 h 3462233"/>
                  <a:gd name="connsiteX14" fmla="*/ 6374921 w 10558732"/>
                  <a:gd name="connsiteY14" fmla="*/ 2151018 h 3462233"/>
                  <a:gd name="connsiteX15" fmla="*/ 6607834 w 10558732"/>
                  <a:gd name="connsiteY15" fmla="*/ 1728324 h 3462233"/>
                  <a:gd name="connsiteX16" fmla="*/ 6901132 w 10558732"/>
                  <a:gd name="connsiteY16" fmla="*/ 1115848 h 3462233"/>
                  <a:gd name="connsiteX17" fmla="*/ 7211683 w 10558732"/>
                  <a:gd name="connsiteY17" fmla="*/ 546505 h 3462233"/>
                  <a:gd name="connsiteX18" fmla="*/ 7461849 w 10558732"/>
                  <a:gd name="connsiteY18" fmla="*/ 253207 h 3462233"/>
                  <a:gd name="connsiteX19" fmla="*/ 7755147 w 10558732"/>
                  <a:gd name="connsiteY19" fmla="*/ 54799 h 3462233"/>
                  <a:gd name="connsiteX20" fmla="*/ 8100204 w 10558732"/>
                  <a:gd name="connsiteY20" fmla="*/ 46173 h 3462233"/>
                  <a:gd name="connsiteX21" fmla="*/ 8635042 w 10558732"/>
                  <a:gd name="connsiteY21" fmla="*/ 598263 h 3462233"/>
                  <a:gd name="connsiteX22" fmla="*/ 9135374 w 10558732"/>
                  <a:gd name="connsiteY22" fmla="*/ 1521290 h 3462233"/>
                  <a:gd name="connsiteX23" fmla="*/ 9644332 w 10558732"/>
                  <a:gd name="connsiteY23" fmla="*/ 2521954 h 3462233"/>
                  <a:gd name="connsiteX24" fmla="*/ 10058400 w 10558732"/>
                  <a:gd name="connsiteY24" fmla="*/ 3168935 h 3462233"/>
                  <a:gd name="connsiteX25" fmla="*/ 10334446 w 10558732"/>
                  <a:gd name="connsiteY25" fmla="*/ 3375969 h 3462233"/>
                  <a:gd name="connsiteX26" fmla="*/ 10558732 w 10558732"/>
                  <a:gd name="connsiteY26" fmla="*/ 3462233 h 346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58732" h="3462233">
                    <a:moveTo>
                      <a:pt x="0" y="3436354"/>
                    </a:moveTo>
                    <a:cubicBezTo>
                      <a:pt x="98485" y="3455763"/>
                      <a:pt x="196970" y="3475173"/>
                      <a:pt x="353683" y="3306958"/>
                    </a:cubicBezTo>
                    <a:cubicBezTo>
                      <a:pt x="510396" y="3138743"/>
                      <a:pt x="783567" y="2691606"/>
                      <a:pt x="940280" y="2427063"/>
                    </a:cubicBezTo>
                    <a:cubicBezTo>
                      <a:pt x="1096993" y="2162519"/>
                      <a:pt x="1166005" y="1971301"/>
                      <a:pt x="1293963" y="1719697"/>
                    </a:cubicBezTo>
                    <a:cubicBezTo>
                      <a:pt x="1421921" y="1468093"/>
                      <a:pt x="1545566" y="1180547"/>
                      <a:pt x="1708030" y="917441"/>
                    </a:cubicBezTo>
                    <a:cubicBezTo>
                      <a:pt x="1870494" y="654335"/>
                      <a:pt x="2113472" y="289150"/>
                      <a:pt x="2268747" y="141063"/>
                    </a:cubicBezTo>
                    <a:cubicBezTo>
                      <a:pt x="2424022" y="-7024"/>
                      <a:pt x="2521789" y="27482"/>
                      <a:pt x="2639683" y="28920"/>
                    </a:cubicBezTo>
                    <a:cubicBezTo>
                      <a:pt x="2757577" y="30358"/>
                      <a:pt x="2809336" y="-17087"/>
                      <a:pt x="2976113" y="149690"/>
                    </a:cubicBezTo>
                    <a:cubicBezTo>
                      <a:pt x="3142890" y="316467"/>
                      <a:pt x="3475007" y="760727"/>
                      <a:pt x="3640347" y="1029584"/>
                    </a:cubicBezTo>
                    <a:cubicBezTo>
                      <a:pt x="3805687" y="1298441"/>
                      <a:pt x="3834442" y="1491097"/>
                      <a:pt x="3968151" y="1762829"/>
                    </a:cubicBezTo>
                    <a:cubicBezTo>
                      <a:pt x="4101860" y="2034561"/>
                      <a:pt x="4280140" y="2401184"/>
                      <a:pt x="4442604" y="2659976"/>
                    </a:cubicBezTo>
                    <a:cubicBezTo>
                      <a:pt x="4605068" y="2918768"/>
                      <a:pt x="4800600" y="3184750"/>
                      <a:pt x="4942936" y="3315584"/>
                    </a:cubicBezTo>
                    <a:cubicBezTo>
                      <a:pt x="5085272" y="3446418"/>
                      <a:pt x="5157159" y="3470859"/>
                      <a:pt x="5296619" y="3444980"/>
                    </a:cubicBezTo>
                    <a:cubicBezTo>
                      <a:pt x="5436079" y="3419101"/>
                      <a:pt x="5599981" y="3375968"/>
                      <a:pt x="5779698" y="3160308"/>
                    </a:cubicBezTo>
                    <a:cubicBezTo>
                      <a:pt x="5959415" y="2944648"/>
                      <a:pt x="6236898" y="2389682"/>
                      <a:pt x="6374921" y="2151018"/>
                    </a:cubicBezTo>
                    <a:cubicBezTo>
                      <a:pt x="6512944" y="1912354"/>
                      <a:pt x="6520132" y="1900852"/>
                      <a:pt x="6607834" y="1728324"/>
                    </a:cubicBezTo>
                    <a:cubicBezTo>
                      <a:pt x="6695536" y="1555796"/>
                      <a:pt x="6800490" y="1312818"/>
                      <a:pt x="6901132" y="1115848"/>
                    </a:cubicBezTo>
                    <a:cubicBezTo>
                      <a:pt x="7001774" y="918878"/>
                      <a:pt x="7118230" y="690278"/>
                      <a:pt x="7211683" y="546505"/>
                    </a:cubicBezTo>
                    <a:cubicBezTo>
                      <a:pt x="7305136" y="402732"/>
                      <a:pt x="7371272" y="335158"/>
                      <a:pt x="7461849" y="253207"/>
                    </a:cubicBezTo>
                    <a:cubicBezTo>
                      <a:pt x="7552426" y="171256"/>
                      <a:pt x="7648755" y="89305"/>
                      <a:pt x="7755147" y="54799"/>
                    </a:cubicBezTo>
                    <a:cubicBezTo>
                      <a:pt x="7861539" y="20293"/>
                      <a:pt x="7953555" y="-44404"/>
                      <a:pt x="8100204" y="46173"/>
                    </a:cubicBezTo>
                    <a:cubicBezTo>
                      <a:pt x="8246853" y="136750"/>
                      <a:pt x="8462514" y="352410"/>
                      <a:pt x="8635042" y="598263"/>
                    </a:cubicBezTo>
                    <a:cubicBezTo>
                      <a:pt x="8807570" y="844116"/>
                      <a:pt x="8967159" y="1200675"/>
                      <a:pt x="9135374" y="1521290"/>
                    </a:cubicBezTo>
                    <a:cubicBezTo>
                      <a:pt x="9303589" y="1841905"/>
                      <a:pt x="9490494" y="2247347"/>
                      <a:pt x="9644332" y="2521954"/>
                    </a:cubicBezTo>
                    <a:cubicBezTo>
                      <a:pt x="9798170" y="2796561"/>
                      <a:pt x="9943381" y="3026599"/>
                      <a:pt x="10058400" y="3168935"/>
                    </a:cubicBezTo>
                    <a:cubicBezTo>
                      <a:pt x="10173419" y="3311271"/>
                      <a:pt x="10251057" y="3327086"/>
                      <a:pt x="10334446" y="3375969"/>
                    </a:cubicBezTo>
                    <a:cubicBezTo>
                      <a:pt x="10417835" y="3424852"/>
                      <a:pt x="10488283" y="3443542"/>
                      <a:pt x="10558732" y="3462233"/>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9" name="Freeform: Shape 28">
                <a:extLst>
                  <a:ext uri="{FF2B5EF4-FFF2-40B4-BE49-F238E27FC236}">
                    <a16:creationId xmlns:a16="http://schemas.microsoft.com/office/drawing/2014/main" id="{81013E5D-241A-4578-932C-62D720E33BD1}"/>
                  </a:ext>
                </a:extLst>
              </p:cNvPr>
              <p:cNvSpPr>
                <a:spLocks noChangeAspect="1"/>
              </p:cNvSpPr>
              <p:nvPr/>
            </p:nvSpPr>
            <p:spPr>
              <a:xfrm>
                <a:off x="2122098" y="8626"/>
                <a:ext cx="2120900" cy="694690"/>
              </a:xfrm>
              <a:custGeom>
                <a:avLst/>
                <a:gdLst>
                  <a:gd name="connsiteX0" fmla="*/ 0 w 10558732"/>
                  <a:gd name="connsiteY0" fmla="*/ 3436354 h 3462233"/>
                  <a:gd name="connsiteX1" fmla="*/ 353683 w 10558732"/>
                  <a:gd name="connsiteY1" fmla="*/ 3306958 h 3462233"/>
                  <a:gd name="connsiteX2" fmla="*/ 940280 w 10558732"/>
                  <a:gd name="connsiteY2" fmla="*/ 2427063 h 3462233"/>
                  <a:gd name="connsiteX3" fmla="*/ 1293963 w 10558732"/>
                  <a:gd name="connsiteY3" fmla="*/ 1719697 h 3462233"/>
                  <a:gd name="connsiteX4" fmla="*/ 1708030 w 10558732"/>
                  <a:gd name="connsiteY4" fmla="*/ 917441 h 3462233"/>
                  <a:gd name="connsiteX5" fmla="*/ 2268747 w 10558732"/>
                  <a:gd name="connsiteY5" fmla="*/ 141063 h 3462233"/>
                  <a:gd name="connsiteX6" fmla="*/ 2639683 w 10558732"/>
                  <a:gd name="connsiteY6" fmla="*/ 28920 h 3462233"/>
                  <a:gd name="connsiteX7" fmla="*/ 2976113 w 10558732"/>
                  <a:gd name="connsiteY7" fmla="*/ 149690 h 3462233"/>
                  <a:gd name="connsiteX8" fmla="*/ 3640347 w 10558732"/>
                  <a:gd name="connsiteY8" fmla="*/ 1029584 h 3462233"/>
                  <a:gd name="connsiteX9" fmla="*/ 3968151 w 10558732"/>
                  <a:gd name="connsiteY9" fmla="*/ 1762829 h 3462233"/>
                  <a:gd name="connsiteX10" fmla="*/ 4442604 w 10558732"/>
                  <a:gd name="connsiteY10" fmla="*/ 2659976 h 3462233"/>
                  <a:gd name="connsiteX11" fmla="*/ 4942936 w 10558732"/>
                  <a:gd name="connsiteY11" fmla="*/ 3315584 h 3462233"/>
                  <a:gd name="connsiteX12" fmla="*/ 5296619 w 10558732"/>
                  <a:gd name="connsiteY12" fmla="*/ 3444980 h 3462233"/>
                  <a:gd name="connsiteX13" fmla="*/ 5779698 w 10558732"/>
                  <a:gd name="connsiteY13" fmla="*/ 3160308 h 3462233"/>
                  <a:gd name="connsiteX14" fmla="*/ 6374921 w 10558732"/>
                  <a:gd name="connsiteY14" fmla="*/ 2151018 h 3462233"/>
                  <a:gd name="connsiteX15" fmla="*/ 6607834 w 10558732"/>
                  <a:gd name="connsiteY15" fmla="*/ 1728324 h 3462233"/>
                  <a:gd name="connsiteX16" fmla="*/ 6901132 w 10558732"/>
                  <a:gd name="connsiteY16" fmla="*/ 1115848 h 3462233"/>
                  <a:gd name="connsiteX17" fmla="*/ 7211683 w 10558732"/>
                  <a:gd name="connsiteY17" fmla="*/ 546505 h 3462233"/>
                  <a:gd name="connsiteX18" fmla="*/ 7461849 w 10558732"/>
                  <a:gd name="connsiteY18" fmla="*/ 253207 h 3462233"/>
                  <a:gd name="connsiteX19" fmla="*/ 7755147 w 10558732"/>
                  <a:gd name="connsiteY19" fmla="*/ 54799 h 3462233"/>
                  <a:gd name="connsiteX20" fmla="*/ 8100204 w 10558732"/>
                  <a:gd name="connsiteY20" fmla="*/ 46173 h 3462233"/>
                  <a:gd name="connsiteX21" fmla="*/ 8635042 w 10558732"/>
                  <a:gd name="connsiteY21" fmla="*/ 598263 h 3462233"/>
                  <a:gd name="connsiteX22" fmla="*/ 9135374 w 10558732"/>
                  <a:gd name="connsiteY22" fmla="*/ 1521290 h 3462233"/>
                  <a:gd name="connsiteX23" fmla="*/ 9644332 w 10558732"/>
                  <a:gd name="connsiteY23" fmla="*/ 2521954 h 3462233"/>
                  <a:gd name="connsiteX24" fmla="*/ 10058400 w 10558732"/>
                  <a:gd name="connsiteY24" fmla="*/ 3168935 h 3462233"/>
                  <a:gd name="connsiteX25" fmla="*/ 10334446 w 10558732"/>
                  <a:gd name="connsiteY25" fmla="*/ 3375969 h 3462233"/>
                  <a:gd name="connsiteX26" fmla="*/ 10558732 w 10558732"/>
                  <a:gd name="connsiteY26" fmla="*/ 3462233 h 346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58732" h="3462233">
                    <a:moveTo>
                      <a:pt x="0" y="3436354"/>
                    </a:moveTo>
                    <a:cubicBezTo>
                      <a:pt x="98485" y="3455763"/>
                      <a:pt x="196970" y="3475173"/>
                      <a:pt x="353683" y="3306958"/>
                    </a:cubicBezTo>
                    <a:cubicBezTo>
                      <a:pt x="510396" y="3138743"/>
                      <a:pt x="783567" y="2691606"/>
                      <a:pt x="940280" y="2427063"/>
                    </a:cubicBezTo>
                    <a:cubicBezTo>
                      <a:pt x="1096993" y="2162519"/>
                      <a:pt x="1166005" y="1971301"/>
                      <a:pt x="1293963" y="1719697"/>
                    </a:cubicBezTo>
                    <a:cubicBezTo>
                      <a:pt x="1421921" y="1468093"/>
                      <a:pt x="1545566" y="1180547"/>
                      <a:pt x="1708030" y="917441"/>
                    </a:cubicBezTo>
                    <a:cubicBezTo>
                      <a:pt x="1870494" y="654335"/>
                      <a:pt x="2113472" y="289150"/>
                      <a:pt x="2268747" y="141063"/>
                    </a:cubicBezTo>
                    <a:cubicBezTo>
                      <a:pt x="2424022" y="-7024"/>
                      <a:pt x="2521789" y="27482"/>
                      <a:pt x="2639683" y="28920"/>
                    </a:cubicBezTo>
                    <a:cubicBezTo>
                      <a:pt x="2757577" y="30358"/>
                      <a:pt x="2809336" y="-17087"/>
                      <a:pt x="2976113" y="149690"/>
                    </a:cubicBezTo>
                    <a:cubicBezTo>
                      <a:pt x="3142890" y="316467"/>
                      <a:pt x="3475007" y="760727"/>
                      <a:pt x="3640347" y="1029584"/>
                    </a:cubicBezTo>
                    <a:cubicBezTo>
                      <a:pt x="3805687" y="1298441"/>
                      <a:pt x="3834442" y="1491097"/>
                      <a:pt x="3968151" y="1762829"/>
                    </a:cubicBezTo>
                    <a:cubicBezTo>
                      <a:pt x="4101860" y="2034561"/>
                      <a:pt x="4280140" y="2401184"/>
                      <a:pt x="4442604" y="2659976"/>
                    </a:cubicBezTo>
                    <a:cubicBezTo>
                      <a:pt x="4605068" y="2918768"/>
                      <a:pt x="4800600" y="3184750"/>
                      <a:pt x="4942936" y="3315584"/>
                    </a:cubicBezTo>
                    <a:cubicBezTo>
                      <a:pt x="5085272" y="3446418"/>
                      <a:pt x="5157159" y="3470859"/>
                      <a:pt x="5296619" y="3444980"/>
                    </a:cubicBezTo>
                    <a:cubicBezTo>
                      <a:pt x="5436079" y="3419101"/>
                      <a:pt x="5599981" y="3375968"/>
                      <a:pt x="5779698" y="3160308"/>
                    </a:cubicBezTo>
                    <a:cubicBezTo>
                      <a:pt x="5959415" y="2944648"/>
                      <a:pt x="6236898" y="2389682"/>
                      <a:pt x="6374921" y="2151018"/>
                    </a:cubicBezTo>
                    <a:cubicBezTo>
                      <a:pt x="6512944" y="1912354"/>
                      <a:pt x="6520132" y="1900852"/>
                      <a:pt x="6607834" y="1728324"/>
                    </a:cubicBezTo>
                    <a:cubicBezTo>
                      <a:pt x="6695536" y="1555796"/>
                      <a:pt x="6800490" y="1312818"/>
                      <a:pt x="6901132" y="1115848"/>
                    </a:cubicBezTo>
                    <a:cubicBezTo>
                      <a:pt x="7001774" y="918878"/>
                      <a:pt x="7118230" y="690278"/>
                      <a:pt x="7211683" y="546505"/>
                    </a:cubicBezTo>
                    <a:cubicBezTo>
                      <a:pt x="7305136" y="402732"/>
                      <a:pt x="7371272" y="335158"/>
                      <a:pt x="7461849" y="253207"/>
                    </a:cubicBezTo>
                    <a:cubicBezTo>
                      <a:pt x="7552426" y="171256"/>
                      <a:pt x="7648755" y="89305"/>
                      <a:pt x="7755147" y="54799"/>
                    </a:cubicBezTo>
                    <a:cubicBezTo>
                      <a:pt x="7861539" y="20293"/>
                      <a:pt x="7953555" y="-44404"/>
                      <a:pt x="8100204" y="46173"/>
                    </a:cubicBezTo>
                    <a:cubicBezTo>
                      <a:pt x="8246853" y="136750"/>
                      <a:pt x="8462514" y="352410"/>
                      <a:pt x="8635042" y="598263"/>
                    </a:cubicBezTo>
                    <a:cubicBezTo>
                      <a:pt x="8807570" y="844116"/>
                      <a:pt x="8967159" y="1200675"/>
                      <a:pt x="9135374" y="1521290"/>
                    </a:cubicBezTo>
                    <a:cubicBezTo>
                      <a:pt x="9303589" y="1841905"/>
                      <a:pt x="9490494" y="2247347"/>
                      <a:pt x="9644332" y="2521954"/>
                    </a:cubicBezTo>
                    <a:cubicBezTo>
                      <a:pt x="9798170" y="2796561"/>
                      <a:pt x="9943381" y="3026599"/>
                      <a:pt x="10058400" y="3168935"/>
                    </a:cubicBezTo>
                    <a:cubicBezTo>
                      <a:pt x="10173419" y="3311271"/>
                      <a:pt x="10251057" y="3327086"/>
                      <a:pt x="10334446" y="3375969"/>
                    </a:cubicBezTo>
                    <a:cubicBezTo>
                      <a:pt x="10417835" y="3424852"/>
                      <a:pt x="10488283" y="3443542"/>
                      <a:pt x="10558732" y="3462233"/>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0" name="Freeform: Shape 29">
                <a:extLst>
                  <a:ext uri="{FF2B5EF4-FFF2-40B4-BE49-F238E27FC236}">
                    <a16:creationId xmlns:a16="http://schemas.microsoft.com/office/drawing/2014/main" id="{5E946DD2-1300-4BC9-AD1B-51CE483D0067}"/>
                  </a:ext>
                </a:extLst>
              </p:cNvPr>
              <p:cNvSpPr>
                <a:spLocks noChangeAspect="1"/>
              </p:cNvSpPr>
              <p:nvPr/>
            </p:nvSpPr>
            <p:spPr>
              <a:xfrm>
                <a:off x="4252823" y="8626"/>
                <a:ext cx="2120900" cy="694690"/>
              </a:xfrm>
              <a:custGeom>
                <a:avLst/>
                <a:gdLst>
                  <a:gd name="connsiteX0" fmla="*/ 0 w 10558732"/>
                  <a:gd name="connsiteY0" fmla="*/ 3436354 h 3462233"/>
                  <a:gd name="connsiteX1" fmla="*/ 353683 w 10558732"/>
                  <a:gd name="connsiteY1" fmla="*/ 3306958 h 3462233"/>
                  <a:gd name="connsiteX2" fmla="*/ 940280 w 10558732"/>
                  <a:gd name="connsiteY2" fmla="*/ 2427063 h 3462233"/>
                  <a:gd name="connsiteX3" fmla="*/ 1293963 w 10558732"/>
                  <a:gd name="connsiteY3" fmla="*/ 1719697 h 3462233"/>
                  <a:gd name="connsiteX4" fmla="*/ 1708030 w 10558732"/>
                  <a:gd name="connsiteY4" fmla="*/ 917441 h 3462233"/>
                  <a:gd name="connsiteX5" fmla="*/ 2268747 w 10558732"/>
                  <a:gd name="connsiteY5" fmla="*/ 141063 h 3462233"/>
                  <a:gd name="connsiteX6" fmla="*/ 2639683 w 10558732"/>
                  <a:gd name="connsiteY6" fmla="*/ 28920 h 3462233"/>
                  <a:gd name="connsiteX7" fmla="*/ 2976113 w 10558732"/>
                  <a:gd name="connsiteY7" fmla="*/ 149690 h 3462233"/>
                  <a:gd name="connsiteX8" fmla="*/ 3640347 w 10558732"/>
                  <a:gd name="connsiteY8" fmla="*/ 1029584 h 3462233"/>
                  <a:gd name="connsiteX9" fmla="*/ 3968151 w 10558732"/>
                  <a:gd name="connsiteY9" fmla="*/ 1762829 h 3462233"/>
                  <a:gd name="connsiteX10" fmla="*/ 4442604 w 10558732"/>
                  <a:gd name="connsiteY10" fmla="*/ 2659976 h 3462233"/>
                  <a:gd name="connsiteX11" fmla="*/ 4942936 w 10558732"/>
                  <a:gd name="connsiteY11" fmla="*/ 3315584 h 3462233"/>
                  <a:gd name="connsiteX12" fmla="*/ 5296619 w 10558732"/>
                  <a:gd name="connsiteY12" fmla="*/ 3444980 h 3462233"/>
                  <a:gd name="connsiteX13" fmla="*/ 5779698 w 10558732"/>
                  <a:gd name="connsiteY13" fmla="*/ 3160308 h 3462233"/>
                  <a:gd name="connsiteX14" fmla="*/ 6374921 w 10558732"/>
                  <a:gd name="connsiteY14" fmla="*/ 2151018 h 3462233"/>
                  <a:gd name="connsiteX15" fmla="*/ 6607834 w 10558732"/>
                  <a:gd name="connsiteY15" fmla="*/ 1728324 h 3462233"/>
                  <a:gd name="connsiteX16" fmla="*/ 6901132 w 10558732"/>
                  <a:gd name="connsiteY16" fmla="*/ 1115848 h 3462233"/>
                  <a:gd name="connsiteX17" fmla="*/ 7211683 w 10558732"/>
                  <a:gd name="connsiteY17" fmla="*/ 546505 h 3462233"/>
                  <a:gd name="connsiteX18" fmla="*/ 7461849 w 10558732"/>
                  <a:gd name="connsiteY18" fmla="*/ 253207 h 3462233"/>
                  <a:gd name="connsiteX19" fmla="*/ 7755147 w 10558732"/>
                  <a:gd name="connsiteY19" fmla="*/ 54799 h 3462233"/>
                  <a:gd name="connsiteX20" fmla="*/ 8100204 w 10558732"/>
                  <a:gd name="connsiteY20" fmla="*/ 46173 h 3462233"/>
                  <a:gd name="connsiteX21" fmla="*/ 8635042 w 10558732"/>
                  <a:gd name="connsiteY21" fmla="*/ 598263 h 3462233"/>
                  <a:gd name="connsiteX22" fmla="*/ 9135374 w 10558732"/>
                  <a:gd name="connsiteY22" fmla="*/ 1521290 h 3462233"/>
                  <a:gd name="connsiteX23" fmla="*/ 9644332 w 10558732"/>
                  <a:gd name="connsiteY23" fmla="*/ 2521954 h 3462233"/>
                  <a:gd name="connsiteX24" fmla="*/ 10058400 w 10558732"/>
                  <a:gd name="connsiteY24" fmla="*/ 3168935 h 3462233"/>
                  <a:gd name="connsiteX25" fmla="*/ 10334446 w 10558732"/>
                  <a:gd name="connsiteY25" fmla="*/ 3375969 h 3462233"/>
                  <a:gd name="connsiteX26" fmla="*/ 10558732 w 10558732"/>
                  <a:gd name="connsiteY26" fmla="*/ 3462233 h 346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58732" h="3462233">
                    <a:moveTo>
                      <a:pt x="0" y="3436354"/>
                    </a:moveTo>
                    <a:cubicBezTo>
                      <a:pt x="98485" y="3455763"/>
                      <a:pt x="196970" y="3475173"/>
                      <a:pt x="353683" y="3306958"/>
                    </a:cubicBezTo>
                    <a:cubicBezTo>
                      <a:pt x="510396" y="3138743"/>
                      <a:pt x="783567" y="2691606"/>
                      <a:pt x="940280" y="2427063"/>
                    </a:cubicBezTo>
                    <a:cubicBezTo>
                      <a:pt x="1096993" y="2162519"/>
                      <a:pt x="1166005" y="1971301"/>
                      <a:pt x="1293963" y="1719697"/>
                    </a:cubicBezTo>
                    <a:cubicBezTo>
                      <a:pt x="1421921" y="1468093"/>
                      <a:pt x="1545566" y="1180547"/>
                      <a:pt x="1708030" y="917441"/>
                    </a:cubicBezTo>
                    <a:cubicBezTo>
                      <a:pt x="1870494" y="654335"/>
                      <a:pt x="2113472" y="289150"/>
                      <a:pt x="2268747" y="141063"/>
                    </a:cubicBezTo>
                    <a:cubicBezTo>
                      <a:pt x="2424022" y="-7024"/>
                      <a:pt x="2521789" y="27482"/>
                      <a:pt x="2639683" y="28920"/>
                    </a:cubicBezTo>
                    <a:cubicBezTo>
                      <a:pt x="2757577" y="30358"/>
                      <a:pt x="2809336" y="-17087"/>
                      <a:pt x="2976113" y="149690"/>
                    </a:cubicBezTo>
                    <a:cubicBezTo>
                      <a:pt x="3142890" y="316467"/>
                      <a:pt x="3475007" y="760727"/>
                      <a:pt x="3640347" y="1029584"/>
                    </a:cubicBezTo>
                    <a:cubicBezTo>
                      <a:pt x="3805687" y="1298441"/>
                      <a:pt x="3834442" y="1491097"/>
                      <a:pt x="3968151" y="1762829"/>
                    </a:cubicBezTo>
                    <a:cubicBezTo>
                      <a:pt x="4101860" y="2034561"/>
                      <a:pt x="4280140" y="2401184"/>
                      <a:pt x="4442604" y="2659976"/>
                    </a:cubicBezTo>
                    <a:cubicBezTo>
                      <a:pt x="4605068" y="2918768"/>
                      <a:pt x="4800600" y="3184750"/>
                      <a:pt x="4942936" y="3315584"/>
                    </a:cubicBezTo>
                    <a:cubicBezTo>
                      <a:pt x="5085272" y="3446418"/>
                      <a:pt x="5157159" y="3470859"/>
                      <a:pt x="5296619" y="3444980"/>
                    </a:cubicBezTo>
                    <a:cubicBezTo>
                      <a:pt x="5436079" y="3419101"/>
                      <a:pt x="5599981" y="3375968"/>
                      <a:pt x="5779698" y="3160308"/>
                    </a:cubicBezTo>
                    <a:cubicBezTo>
                      <a:pt x="5959415" y="2944648"/>
                      <a:pt x="6236898" y="2389682"/>
                      <a:pt x="6374921" y="2151018"/>
                    </a:cubicBezTo>
                    <a:cubicBezTo>
                      <a:pt x="6512944" y="1912354"/>
                      <a:pt x="6520132" y="1900852"/>
                      <a:pt x="6607834" y="1728324"/>
                    </a:cubicBezTo>
                    <a:cubicBezTo>
                      <a:pt x="6695536" y="1555796"/>
                      <a:pt x="6800490" y="1312818"/>
                      <a:pt x="6901132" y="1115848"/>
                    </a:cubicBezTo>
                    <a:cubicBezTo>
                      <a:pt x="7001774" y="918878"/>
                      <a:pt x="7118230" y="690278"/>
                      <a:pt x="7211683" y="546505"/>
                    </a:cubicBezTo>
                    <a:cubicBezTo>
                      <a:pt x="7305136" y="402732"/>
                      <a:pt x="7371272" y="335158"/>
                      <a:pt x="7461849" y="253207"/>
                    </a:cubicBezTo>
                    <a:cubicBezTo>
                      <a:pt x="7552426" y="171256"/>
                      <a:pt x="7648755" y="89305"/>
                      <a:pt x="7755147" y="54799"/>
                    </a:cubicBezTo>
                    <a:cubicBezTo>
                      <a:pt x="7861539" y="20293"/>
                      <a:pt x="7953555" y="-44404"/>
                      <a:pt x="8100204" y="46173"/>
                    </a:cubicBezTo>
                    <a:cubicBezTo>
                      <a:pt x="8246853" y="136750"/>
                      <a:pt x="8462514" y="352410"/>
                      <a:pt x="8635042" y="598263"/>
                    </a:cubicBezTo>
                    <a:cubicBezTo>
                      <a:pt x="8807570" y="844116"/>
                      <a:pt x="8967159" y="1200675"/>
                      <a:pt x="9135374" y="1521290"/>
                    </a:cubicBezTo>
                    <a:cubicBezTo>
                      <a:pt x="9303589" y="1841905"/>
                      <a:pt x="9490494" y="2247347"/>
                      <a:pt x="9644332" y="2521954"/>
                    </a:cubicBezTo>
                    <a:cubicBezTo>
                      <a:pt x="9798170" y="2796561"/>
                      <a:pt x="9943381" y="3026599"/>
                      <a:pt x="10058400" y="3168935"/>
                    </a:cubicBezTo>
                    <a:cubicBezTo>
                      <a:pt x="10173419" y="3311271"/>
                      <a:pt x="10251057" y="3327086"/>
                      <a:pt x="10334446" y="3375969"/>
                    </a:cubicBezTo>
                    <a:cubicBezTo>
                      <a:pt x="10417835" y="3424852"/>
                      <a:pt x="10488283" y="3443542"/>
                      <a:pt x="10558732" y="3462233"/>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1" name="Freeform: Shape 30">
                <a:extLst>
                  <a:ext uri="{FF2B5EF4-FFF2-40B4-BE49-F238E27FC236}">
                    <a16:creationId xmlns:a16="http://schemas.microsoft.com/office/drawing/2014/main" id="{3F3A186B-BD23-4422-83B0-B33B2E316998}"/>
                  </a:ext>
                </a:extLst>
              </p:cNvPr>
              <p:cNvSpPr>
                <a:spLocks noChangeAspect="1"/>
              </p:cNvSpPr>
              <p:nvPr/>
            </p:nvSpPr>
            <p:spPr>
              <a:xfrm>
                <a:off x="6374921" y="8626"/>
                <a:ext cx="2120900" cy="694690"/>
              </a:xfrm>
              <a:custGeom>
                <a:avLst/>
                <a:gdLst>
                  <a:gd name="connsiteX0" fmla="*/ 0 w 10558732"/>
                  <a:gd name="connsiteY0" fmla="*/ 3436354 h 3462233"/>
                  <a:gd name="connsiteX1" fmla="*/ 353683 w 10558732"/>
                  <a:gd name="connsiteY1" fmla="*/ 3306958 h 3462233"/>
                  <a:gd name="connsiteX2" fmla="*/ 940280 w 10558732"/>
                  <a:gd name="connsiteY2" fmla="*/ 2427063 h 3462233"/>
                  <a:gd name="connsiteX3" fmla="*/ 1293963 w 10558732"/>
                  <a:gd name="connsiteY3" fmla="*/ 1719697 h 3462233"/>
                  <a:gd name="connsiteX4" fmla="*/ 1708030 w 10558732"/>
                  <a:gd name="connsiteY4" fmla="*/ 917441 h 3462233"/>
                  <a:gd name="connsiteX5" fmla="*/ 2268747 w 10558732"/>
                  <a:gd name="connsiteY5" fmla="*/ 141063 h 3462233"/>
                  <a:gd name="connsiteX6" fmla="*/ 2639683 w 10558732"/>
                  <a:gd name="connsiteY6" fmla="*/ 28920 h 3462233"/>
                  <a:gd name="connsiteX7" fmla="*/ 2976113 w 10558732"/>
                  <a:gd name="connsiteY7" fmla="*/ 149690 h 3462233"/>
                  <a:gd name="connsiteX8" fmla="*/ 3640347 w 10558732"/>
                  <a:gd name="connsiteY8" fmla="*/ 1029584 h 3462233"/>
                  <a:gd name="connsiteX9" fmla="*/ 3968151 w 10558732"/>
                  <a:gd name="connsiteY9" fmla="*/ 1762829 h 3462233"/>
                  <a:gd name="connsiteX10" fmla="*/ 4442604 w 10558732"/>
                  <a:gd name="connsiteY10" fmla="*/ 2659976 h 3462233"/>
                  <a:gd name="connsiteX11" fmla="*/ 4942936 w 10558732"/>
                  <a:gd name="connsiteY11" fmla="*/ 3315584 h 3462233"/>
                  <a:gd name="connsiteX12" fmla="*/ 5296619 w 10558732"/>
                  <a:gd name="connsiteY12" fmla="*/ 3444980 h 3462233"/>
                  <a:gd name="connsiteX13" fmla="*/ 5779698 w 10558732"/>
                  <a:gd name="connsiteY13" fmla="*/ 3160308 h 3462233"/>
                  <a:gd name="connsiteX14" fmla="*/ 6374921 w 10558732"/>
                  <a:gd name="connsiteY14" fmla="*/ 2151018 h 3462233"/>
                  <a:gd name="connsiteX15" fmla="*/ 6607834 w 10558732"/>
                  <a:gd name="connsiteY15" fmla="*/ 1728324 h 3462233"/>
                  <a:gd name="connsiteX16" fmla="*/ 6901132 w 10558732"/>
                  <a:gd name="connsiteY16" fmla="*/ 1115848 h 3462233"/>
                  <a:gd name="connsiteX17" fmla="*/ 7211683 w 10558732"/>
                  <a:gd name="connsiteY17" fmla="*/ 546505 h 3462233"/>
                  <a:gd name="connsiteX18" fmla="*/ 7461849 w 10558732"/>
                  <a:gd name="connsiteY18" fmla="*/ 253207 h 3462233"/>
                  <a:gd name="connsiteX19" fmla="*/ 7755147 w 10558732"/>
                  <a:gd name="connsiteY19" fmla="*/ 54799 h 3462233"/>
                  <a:gd name="connsiteX20" fmla="*/ 8100204 w 10558732"/>
                  <a:gd name="connsiteY20" fmla="*/ 46173 h 3462233"/>
                  <a:gd name="connsiteX21" fmla="*/ 8635042 w 10558732"/>
                  <a:gd name="connsiteY21" fmla="*/ 598263 h 3462233"/>
                  <a:gd name="connsiteX22" fmla="*/ 9135374 w 10558732"/>
                  <a:gd name="connsiteY22" fmla="*/ 1521290 h 3462233"/>
                  <a:gd name="connsiteX23" fmla="*/ 9644332 w 10558732"/>
                  <a:gd name="connsiteY23" fmla="*/ 2521954 h 3462233"/>
                  <a:gd name="connsiteX24" fmla="*/ 10058400 w 10558732"/>
                  <a:gd name="connsiteY24" fmla="*/ 3168935 h 3462233"/>
                  <a:gd name="connsiteX25" fmla="*/ 10334446 w 10558732"/>
                  <a:gd name="connsiteY25" fmla="*/ 3375969 h 3462233"/>
                  <a:gd name="connsiteX26" fmla="*/ 10558732 w 10558732"/>
                  <a:gd name="connsiteY26" fmla="*/ 3462233 h 346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58732" h="3462233">
                    <a:moveTo>
                      <a:pt x="0" y="3436354"/>
                    </a:moveTo>
                    <a:cubicBezTo>
                      <a:pt x="98485" y="3455763"/>
                      <a:pt x="196970" y="3475173"/>
                      <a:pt x="353683" y="3306958"/>
                    </a:cubicBezTo>
                    <a:cubicBezTo>
                      <a:pt x="510396" y="3138743"/>
                      <a:pt x="783567" y="2691606"/>
                      <a:pt x="940280" y="2427063"/>
                    </a:cubicBezTo>
                    <a:cubicBezTo>
                      <a:pt x="1096993" y="2162519"/>
                      <a:pt x="1166005" y="1971301"/>
                      <a:pt x="1293963" y="1719697"/>
                    </a:cubicBezTo>
                    <a:cubicBezTo>
                      <a:pt x="1421921" y="1468093"/>
                      <a:pt x="1545566" y="1180547"/>
                      <a:pt x="1708030" y="917441"/>
                    </a:cubicBezTo>
                    <a:cubicBezTo>
                      <a:pt x="1870494" y="654335"/>
                      <a:pt x="2113472" y="289150"/>
                      <a:pt x="2268747" y="141063"/>
                    </a:cubicBezTo>
                    <a:cubicBezTo>
                      <a:pt x="2424022" y="-7024"/>
                      <a:pt x="2521789" y="27482"/>
                      <a:pt x="2639683" y="28920"/>
                    </a:cubicBezTo>
                    <a:cubicBezTo>
                      <a:pt x="2757577" y="30358"/>
                      <a:pt x="2809336" y="-17087"/>
                      <a:pt x="2976113" y="149690"/>
                    </a:cubicBezTo>
                    <a:cubicBezTo>
                      <a:pt x="3142890" y="316467"/>
                      <a:pt x="3475007" y="760727"/>
                      <a:pt x="3640347" y="1029584"/>
                    </a:cubicBezTo>
                    <a:cubicBezTo>
                      <a:pt x="3805687" y="1298441"/>
                      <a:pt x="3834442" y="1491097"/>
                      <a:pt x="3968151" y="1762829"/>
                    </a:cubicBezTo>
                    <a:cubicBezTo>
                      <a:pt x="4101860" y="2034561"/>
                      <a:pt x="4280140" y="2401184"/>
                      <a:pt x="4442604" y="2659976"/>
                    </a:cubicBezTo>
                    <a:cubicBezTo>
                      <a:pt x="4605068" y="2918768"/>
                      <a:pt x="4800600" y="3184750"/>
                      <a:pt x="4942936" y="3315584"/>
                    </a:cubicBezTo>
                    <a:cubicBezTo>
                      <a:pt x="5085272" y="3446418"/>
                      <a:pt x="5157159" y="3470859"/>
                      <a:pt x="5296619" y="3444980"/>
                    </a:cubicBezTo>
                    <a:cubicBezTo>
                      <a:pt x="5436079" y="3419101"/>
                      <a:pt x="5599981" y="3375968"/>
                      <a:pt x="5779698" y="3160308"/>
                    </a:cubicBezTo>
                    <a:cubicBezTo>
                      <a:pt x="5959415" y="2944648"/>
                      <a:pt x="6236898" y="2389682"/>
                      <a:pt x="6374921" y="2151018"/>
                    </a:cubicBezTo>
                    <a:cubicBezTo>
                      <a:pt x="6512944" y="1912354"/>
                      <a:pt x="6520132" y="1900852"/>
                      <a:pt x="6607834" y="1728324"/>
                    </a:cubicBezTo>
                    <a:cubicBezTo>
                      <a:pt x="6695536" y="1555796"/>
                      <a:pt x="6800490" y="1312818"/>
                      <a:pt x="6901132" y="1115848"/>
                    </a:cubicBezTo>
                    <a:cubicBezTo>
                      <a:pt x="7001774" y="918878"/>
                      <a:pt x="7118230" y="690278"/>
                      <a:pt x="7211683" y="546505"/>
                    </a:cubicBezTo>
                    <a:cubicBezTo>
                      <a:pt x="7305136" y="402732"/>
                      <a:pt x="7371272" y="335158"/>
                      <a:pt x="7461849" y="253207"/>
                    </a:cubicBezTo>
                    <a:cubicBezTo>
                      <a:pt x="7552426" y="171256"/>
                      <a:pt x="7648755" y="89305"/>
                      <a:pt x="7755147" y="54799"/>
                    </a:cubicBezTo>
                    <a:cubicBezTo>
                      <a:pt x="7861539" y="20293"/>
                      <a:pt x="7953555" y="-44404"/>
                      <a:pt x="8100204" y="46173"/>
                    </a:cubicBezTo>
                    <a:cubicBezTo>
                      <a:pt x="8246853" y="136750"/>
                      <a:pt x="8462514" y="352410"/>
                      <a:pt x="8635042" y="598263"/>
                    </a:cubicBezTo>
                    <a:cubicBezTo>
                      <a:pt x="8807570" y="844116"/>
                      <a:pt x="8967159" y="1200675"/>
                      <a:pt x="9135374" y="1521290"/>
                    </a:cubicBezTo>
                    <a:cubicBezTo>
                      <a:pt x="9303589" y="1841905"/>
                      <a:pt x="9490494" y="2247347"/>
                      <a:pt x="9644332" y="2521954"/>
                    </a:cubicBezTo>
                    <a:cubicBezTo>
                      <a:pt x="9798170" y="2796561"/>
                      <a:pt x="9943381" y="3026599"/>
                      <a:pt x="10058400" y="3168935"/>
                    </a:cubicBezTo>
                    <a:cubicBezTo>
                      <a:pt x="10173419" y="3311271"/>
                      <a:pt x="10251057" y="3327086"/>
                      <a:pt x="10334446" y="3375969"/>
                    </a:cubicBezTo>
                    <a:cubicBezTo>
                      <a:pt x="10417835" y="3424852"/>
                      <a:pt x="10488283" y="3443542"/>
                      <a:pt x="10558732" y="3462233"/>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32" name="Freeform: Shape 31">
                <a:extLst>
                  <a:ext uri="{FF2B5EF4-FFF2-40B4-BE49-F238E27FC236}">
                    <a16:creationId xmlns:a16="http://schemas.microsoft.com/office/drawing/2014/main" id="{285D1F00-77BD-477F-BB44-A0DF53F426CD}"/>
                  </a:ext>
                </a:extLst>
              </p:cNvPr>
              <p:cNvSpPr>
                <a:spLocks noChangeAspect="1"/>
              </p:cNvSpPr>
              <p:nvPr/>
            </p:nvSpPr>
            <p:spPr>
              <a:xfrm>
                <a:off x="8462513" y="0"/>
                <a:ext cx="2120900" cy="694690"/>
              </a:xfrm>
              <a:custGeom>
                <a:avLst/>
                <a:gdLst>
                  <a:gd name="connsiteX0" fmla="*/ 0 w 10558732"/>
                  <a:gd name="connsiteY0" fmla="*/ 3436354 h 3462233"/>
                  <a:gd name="connsiteX1" fmla="*/ 353683 w 10558732"/>
                  <a:gd name="connsiteY1" fmla="*/ 3306958 h 3462233"/>
                  <a:gd name="connsiteX2" fmla="*/ 940280 w 10558732"/>
                  <a:gd name="connsiteY2" fmla="*/ 2427063 h 3462233"/>
                  <a:gd name="connsiteX3" fmla="*/ 1293963 w 10558732"/>
                  <a:gd name="connsiteY3" fmla="*/ 1719697 h 3462233"/>
                  <a:gd name="connsiteX4" fmla="*/ 1708030 w 10558732"/>
                  <a:gd name="connsiteY4" fmla="*/ 917441 h 3462233"/>
                  <a:gd name="connsiteX5" fmla="*/ 2268747 w 10558732"/>
                  <a:gd name="connsiteY5" fmla="*/ 141063 h 3462233"/>
                  <a:gd name="connsiteX6" fmla="*/ 2639683 w 10558732"/>
                  <a:gd name="connsiteY6" fmla="*/ 28920 h 3462233"/>
                  <a:gd name="connsiteX7" fmla="*/ 2976113 w 10558732"/>
                  <a:gd name="connsiteY7" fmla="*/ 149690 h 3462233"/>
                  <a:gd name="connsiteX8" fmla="*/ 3640347 w 10558732"/>
                  <a:gd name="connsiteY8" fmla="*/ 1029584 h 3462233"/>
                  <a:gd name="connsiteX9" fmla="*/ 3968151 w 10558732"/>
                  <a:gd name="connsiteY9" fmla="*/ 1762829 h 3462233"/>
                  <a:gd name="connsiteX10" fmla="*/ 4442604 w 10558732"/>
                  <a:gd name="connsiteY10" fmla="*/ 2659976 h 3462233"/>
                  <a:gd name="connsiteX11" fmla="*/ 4942936 w 10558732"/>
                  <a:gd name="connsiteY11" fmla="*/ 3315584 h 3462233"/>
                  <a:gd name="connsiteX12" fmla="*/ 5296619 w 10558732"/>
                  <a:gd name="connsiteY12" fmla="*/ 3444980 h 3462233"/>
                  <a:gd name="connsiteX13" fmla="*/ 5779698 w 10558732"/>
                  <a:gd name="connsiteY13" fmla="*/ 3160308 h 3462233"/>
                  <a:gd name="connsiteX14" fmla="*/ 6374921 w 10558732"/>
                  <a:gd name="connsiteY14" fmla="*/ 2151018 h 3462233"/>
                  <a:gd name="connsiteX15" fmla="*/ 6607834 w 10558732"/>
                  <a:gd name="connsiteY15" fmla="*/ 1728324 h 3462233"/>
                  <a:gd name="connsiteX16" fmla="*/ 6901132 w 10558732"/>
                  <a:gd name="connsiteY16" fmla="*/ 1115848 h 3462233"/>
                  <a:gd name="connsiteX17" fmla="*/ 7211683 w 10558732"/>
                  <a:gd name="connsiteY17" fmla="*/ 546505 h 3462233"/>
                  <a:gd name="connsiteX18" fmla="*/ 7461849 w 10558732"/>
                  <a:gd name="connsiteY18" fmla="*/ 253207 h 3462233"/>
                  <a:gd name="connsiteX19" fmla="*/ 7755147 w 10558732"/>
                  <a:gd name="connsiteY19" fmla="*/ 54799 h 3462233"/>
                  <a:gd name="connsiteX20" fmla="*/ 8100204 w 10558732"/>
                  <a:gd name="connsiteY20" fmla="*/ 46173 h 3462233"/>
                  <a:gd name="connsiteX21" fmla="*/ 8635042 w 10558732"/>
                  <a:gd name="connsiteY21" fmla="*/ 598263 h 3462233"/>
                  <a:gd name="connsiteX22" fmla="*/ 9135374 w 10558732"/>
                  <a:gd name="connsiteY22" fmla="*/ 1521290 h 3462233"/>
                  <a:gd name="connsiteX23" fmla="*/ 9644332 w 10558732"/>
                  <a:gd name="connsiteY23" fmla="*/ 2521954 h 3462233"/>
                  <a:gd name="connsiteX24" fmla="*/ 10058400 w 10558732"/>
                  <a:gd name="connsiteY24" fmla="*/ 3168935 h 3462233"/>
                  <a:gd name="connsiteX25" fmla="*/ 10334446 w 10558732"/>
                  <a:gd name="connsiteY25" fmla="*/ 3375969 h 3462233"/>
                  <a:gd name="connsiteX26" fmla="*/ 10558732 w 10558732"/>
                  <a:gd name="connsiteY26" fmla="*/ 3462233 h 346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58732" h="3462233">
                    <a:moveTo>
                      <a:pt x="0" y="3436354"/>
                    </a:moveTo>
                    <a:cubicBezTo>
                      <a:pt x="98485" y="3455763"/>
                      <a:pt x="196970" y="3475173"/>
                      <a:pt x="353683" y="3306958"/>
                    </a:cubicBezTo>
                    <a:cubicBezTo>
                      <a:pt x="510396" y="3138743"/>
                      <a:pt x="783567" y="2691606"/>
                      <a:pt x="940280" y="2427063"/>
                    </a:cubicBezTo>
                    <a:cubicBezTo>
                      <a:pt x="1096993" y="2162519"/>
                      <a:pt x="1166005" y="1971301"/>
                      <a:pt x="1293963" y="1719697"/>
                    </a:cubicBezTo>
                    <a:cubicBezTo>
                      <a:pt x="1421921" y="1468093"/>
                      <a:pt x="1545566" y="1180547"/>
                      <a:pt x="1708030" y="917441"/>
                    </a:cubicBezTo>
                    <a:cubicBezTo>
                      <a:pt x="1870494" y="654335"/>
                      <a:pt x="2113472" y="289150"/>
                      <a:pt x="2268747" y="141063"/>
                    </a:cubicBezTo>
                    <a:cubicBezTo>
                      <a:pt x="2424022" y="-7024"/>
                      <a:pt x="2521789" y="27482"/>
                      <a:pt x="2639683" y="28920"/>
                    </a:cubicBezTo>
                    <a:cubicBezTo>
                      <a:pt x="2757577" y="30358"/>
                      <a:pt x="2809336" y="-17087"/>
                      <a:pt x="2976113" y="149690"/>
                    </a:cubicBezTo>
                    <a:cubicBezTo>
                      <a:pt x="3142890" y="316467"/>
                      <a:pt x="3475007" y="760727"/>
                      <a:pt x="3640347" y="1029584"/>
                    </a:cubicBezTo>
                    <a:cubicBezTo>
                      <a:pt x="3805687" y="1298441"/>
                      <a:pt x="3834442" y="1491097"/>
                      <a:pt x="3968151" y="1762829"/>
                    </a:cubicBezTo>
                    <a:cubicBezTo>
                      <a:pt x="4101860" y="2034561"/>
                      <a:pt x="4280140" y="2401184"/>
                      <a:pt x="4442604" y="2659976"/>
                    </a:cubicBezTo>
                    <a:cubicBezTo>
                      <a:pt x="4605068" y="2918768"/>
                      <a:pt x="4800600" y="3184750"/>
                      <a:pt x="4942936" y="3315584"/>
                    </a:cubicBezTo>
                    <a:cubicBezTo>
                      <a:pt x="5085272" y="3446418"/>
                      <a:pt x="5157159" y="3470859"/>
                      <a:pt x="5296619" y="3444980"/>
                    </a:cubicBezTo>
                    <a:cubicBezTo>
                      <a:pt x="5436079" y="3419101"/>
                      <a:pt x="5599981" y="3375968"/>
                      <a:pt x="5779698" y="3160308"/>
                    </a:cubicBezTo>
                    <a:cubicBezTo>
                      <a:pt x="5959415" y="2944648"/>
                      <a:pt x="6236898" y="2389682"/>
                      <a:pt x="6374921" y="2151018"/>
                    </a:cubicBezTo>
                    <a:cubicBezTo>
                      <a:pt x="6512944" y="1912354"/>
                      <a:pt x="6520132" y="1900852"/>
                      <a:pt x="6607834" y="1728324"/>
                    </a:cubicBezTo>
                    <a:cubicBezTo>
                      <a:pt x="6695536" y="1555796"/>
                      <a:pt x="6800490" y="1312818"/>
                      <a:pt x="6901132" y="1115848"/>
                    </a:cubicBezTo>
                    <a:cubicBezTo>
                      <a:pt x="7001774" y="918878"/>
                      <a:pt x="7118230" y="690278"/>
                      <a:pt x="7211683" y="546505"/>
                    </a:cubicBezTo>
                    <a:cubicBezTo>
                      <a:pt x="7305136" y="402732"/>
                      <a:pt x="7371272" y="335158"/>
                      <a:pt x="7461849" y="253207"/>
                    </a:cubicBezTo>
                    <a:cubicBezTo>
                      <a:pt x="7552426" y="171256"/>
                      <a:pt x="7648755" y="89305"/>
                      <a:pt x="7755147" y="54799"/>
                    </a:cubicBezTo>
                    <a:cubicBezTo>
                      <a:pt x="7861539" y="20293"/>
                      <a:pt x="7953555" y="-44404"/>
                      <a:pt x="8100204" y="46173"/>
                    </a:cubicBezTo>
                    <a:cubicBezTo>
                      <a:pt x="8246853" y="136750"/>
                      <a:pt x="8462514" y="352410"/>
                      <a:pt x="8635042" y="598263"/>
                    </a:cubicBezTo>
                    <a:cubicBezTo>
                      <a:pt x="8807570" y="844116"/>
                      <a:pt x="8967159" y="1200675"/>
                      <a:pt x="9135374" y="1521290"/>
                    </a:cubicBezTo>
                    <a:cubicBezTo>
                      <a:pt x="9303589" y="1841905"/>
                      <a:pt x="9490494" y="2247347"/>
                      <a:pt x="9644332" y="2521954"/>
                    </a:cubicBezTo>
                    <a:cubicBezTo>
                      <a:pt x="9798170" y="2796561"/>
                      <a:pt x="9943381" y="3026599"/>
                      <a:pt x="10058400" y="3168935"/>
                    </a:cubicBezTo>
                    <a:cubicBezTo>
                      <a:pt x="10173419" y="3311271"/>
                      <a:pt x="10251057" y="3327086"/>
                      <a:pt x="10334446" y="3375969"/>
                    </a:cubicBezTo>
                    <a:cubicBezTo>
                      <a:pt x="10417835" y="3424852"/>
                      <a:pt x="10488283" y="3443542"/>
                      <a:pt x="10558732" y="3462233"/>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26" name="Freeform: Shape 25">
              <a:extLst>
                <a:ext uri="{FF2B5EF4-FFF2-40B4-BE49-F238E27FC236}">
                  <a16:creationId xmlns:a16="http://schemas.microsoft.com/office/drawing/2014/main" id="{5598B68A-F15E-44DA-B89E-A40D6A7D7597}"/>
                </a:ext>
              </a:extLst>
            </p:cNvPr>
            <p:cNvSpPr>
              <a:spLocks noChangeAspect="1"/>
            </p:cNvSpPr>
            <p:nvPr/>
          </p:nvSpPr>
          <p:spPr>
            <a:xfrm flipV="1">
              <a:off x="7562120" y="17252"/>
              <a:ext cx="1554767" cy="496570"/>
            </a:xfrm>
            <a:custGeom>
              <a:avLst/>
              <a:gdLst>
                <a:gd name="connsiteX0" fmla="*/ 0 w 10558732"/>
                <a:gd name="connsiteY0" fmla="*/ 3436354 h 3462233"/>
                <a:gd name="connsiteX1" fmla="*/ 353683 w 10558732"/>
                <a:gd name="connsiteY1" fmla="*/ 3306958 h 3462233"/>
                <a:gd name="connsiteX2" fmla="*/ 940280 w 10558732"/>
                <a:gd name="connsiteY2" fmla="*/ 2427063 h 3462233"/>
                <a:gd name="connsiteX3" fmla="*/ 1293963 w 10558732"/>
                <a:gd name="connsiteY3" fmla="*/ 1719697 h 3462233"/>
                <a:gd name="connsiteX4" fmla="*/ 1708030 w 10558732"/>
                <a:gd name="connsiteY4" fmla="*/ 917441 h 3462233"/>
                <a:gd name="connsiteX5" fmla="*/ 2268747 w 10558732"/>
                <a:gd name="connsiteY5" fmla="*/ 141063 h 3462233"/>
                <a:gd name="connsiteX6" fmla="*/ 2639683 w 10558732"/>
                <a:gd name="connsiteY6" fmla="*/ 28920 h 3462233"/>
                <a:gd name="connsiteX7" fmla="*/ 2976113 w 10558732"/>
                <a:gd name="connsiteY7" fmla="*/ 149690 h 3462233"/>
                <a:gd name="connsiteX8" fmla="*/ 3640347 w 10558732"/>
                <a:gd name="connsiteY8" fmla="*/ 1029584 h 3462233"/>
                <a:gd name="connsiteX9" fmla="*/ 3968151 w 10558732"/>
                <a:gd name="connsiteY9" fmla="*/ 1762829 h 3462233"/>
                <a:gd name="connsiteX10" fmla="*/ 4442604 w 10558732"/>
                <a:gd name="connsiteY10" fmla="*/ 2659976 h 3462233"/>
                <a:gd name="connsiteX11" fmla="*/ 4942936 w 10558732"/>
                <a:gd name="connsiteY11" fmla="*/ 3315584 h 3462233"/>
                <a:gd name="connsiteX12" fmla="*/ 5296619 w 10558732"/>
                <a:gd name="connsiteY12" fmla="*/ 3444980 h 3462233"/>
                <a:gd name="connsiteX13" fmla="*/ 5779698 w 10558732"/>
                <a:gd name="connsiteY13" fmla="*/ 3160308 h 3462233"/>
                <a:gd name="connsiteX14" fmla="*/ 6374921 w 10558732"/>
                <a:gd name="connsiteY14" fmla="*/ 2151018 h 3462233"/>
                <a:gd name="connsiteX15" fmla="*/ 6607834 w 10558732"/>
                <a:gd name="connsiteY15" fmla="*/ 1728324 h 3462233"/>
                <a:gd name="connsiteX16" fmla="*/ 6901132 w 10558732"/>
                <a:gd name="connsiteY16" fmla="*/ 1115848 h 3462233"/>
                <a:gd name="connsiteX17" fmla="*/ 7211683 w 10558732"/>
                <a:gd name="connsiteY17" fmla="*/ 546505 h 3462233"/>
                <a:gd name="connsiteX18" fmla="*/ 7461849 w 10558732"/>
                <a:gd name="connsiteY18" fmla="*/ 253207 h 3462233"/>
                <a:gd name="connsiteX19" fmla="*/ 7755147 w 10558732"/>
                <a:gd name="connsiteY19" fmla="*/ 54799 h 3462233"/>
                <a:gd name="connsiteX20" fmla="*/ 8100204 w 10558732"/>
                <a:gd name="connsiteY20" fmla="*/ 46173 h 3462233"/>
                <a:gd name="connsiteX21" fmla="*/ 8635042 w 10558732"/>
                <a:gd name="connsiteY21" fmla="*/ 598263 h 3462233"/>
                <a:gd name="connsiteX22" fmla="*/ 9135374 w 10558732"/>
                <a:gd name="connsiteY22" fmla="*/ 1521290 h 3462233"/>
                <a:gd name="connsiteX23" fmla="*/ 9644332 w 10558732"/>
                <a:gd name="connsiteY23" fmla="*/ 2521954 h 3462233"/>
                <a:gd name="connsiteX24" fmla="*/ 10058400 w 10558732"/>
                <a:gd name="connsiteY24" fmla="*/ 3168935 h 3462233"/>
                <a:gd name="connsiteX25" fmla="*/ 10334446 w 10558732"/>
                <a:gd name="connsiteY25" fmla="*/ 3375969 h 3462233"/>
                <a:gd name="connsiteX26" fmla="*/ 10558732 w 10558732"/>
                <a:gd name="connsiteY26" fmla="*/ 3462233 h 346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58732" h="3462233">
                  <a:moveTo>
                    <a:pt x="0" y="3436354"/>
                  </a:moveTo>
                  <a:cubicBezTo>
                    <a:pt x="98485" y="3455763"/>
                    <a:pt x="196970" y="3475173"/>
                    <a:pt x="353683" y="3306958"/>
                  </a:cubicBezTo>
                  <a:cubicBezTo>
                    <a:pt x="510396" y="3138743"/>
                    <a:pt x="783567" y="2691606"/>
                    <a:pt x="940280" y="2427063"/>
                  </a:cubicBezTo>
                  <a:cubicBezTo>
                    <a:pt x="1096993" y="2162519"/>
                    <a:pt x="1166005" y="1971301"/>
                    <a:pt x="1293963" y="1719697"/>
                  </a:cubicBezTo>
                  <a:cubicBezTo>
                    <a:pt x="1421921" y="1468093"/>
                    <a:pt x="1545566" y="1180547"/>
                    <a:pt x="1708030" y="917441"/>
                  </a:cubicBezTo>
                  <a:cubicBezTo>
                    <a:pt x="1870494" y="654335"/>
                    <a:pt x="2113472" y="289150"/>
                    <a:pt x="2268747" y="141063"/>
                  </a:cubicBezTo>
                  <a:cubicBezTo>
                    <a:pt x="2424022" y="-7024"/>
                    <a:pt x="2521789" y="27482"/>
                    <a:pt x="2639683" y="28920"/>
                  </a:cubicBezTo>
                  <a:cubicBezTo>
                    <a:pt x="2757577" y="30358"/>
                    <a:pt x="2809336" y="-17087"/>
                    <a:pt x="2976113" y="149690"/>
                  </a:cubicBezTo>
                  <a:cubicBezTo>
                    <a:pt x="3142890" y="316467"/>
                    <a:pt x="3475007" y="760727"/>
                    <a:pt x="3640347" y="1029584"/>
                  </a:cubicBezTo>
                  <a:cubicBezTo>
                    <a:pt x="3805687" y="1298441"/>
                    <a:pt x="3834442" y="1491097"/>
                    <a:pt x="3968151" y="1762829"/>
                  </a:cubicBezTo>
                  <a:cubicBezTo>
                    <a:pt x="4101860" y="2034561"/>
                    <a:pt x="4280140" y="2401184"/>
                    <a:pt x="4442604" y="2659976"/>
                  </a:cubicBezTo>
                  <a:cubicBezTo>
                    <a:pt x="4605068" y="2918768"/>
                    <a:pt x="4800600" y="3184750"/>
                    <a:pt x="4942936" y="3315584"/>
                  </a:cubicBezTo>
                  <a:cubicBezTo>
                    <a:pt x="5085272" y="3446418"/>
                    <a:pt x="5157159" y="3470859"/>
                    <a:pt x="5296619" y="3444980"/>
                  </a:cubicBezTo>
                  <a:cubicBezTo>
                    <a:pt x="5436079" y="3419101"/>
                    <a:pt x="5599981" y="3375968"/>
                    <a:pt x="5779698" y="3160308"/>
                  </a:cubicBezTo>
                  <a:cubicBezTo>
                    <a:pt x="5959415" y="2944648"/>
                    <a:pt x="6236898" y="2389682"/>
                    <a:pt x="6374921" y="2151018"/>
                  </a:cubicBezTo>
                  <a:cubicBezTo>
                    <a:pt x="6512944" y="1912354"/>
                    <a:pt x="6520132" y="1900852"/>
                    <a:pt x="6607834" y="1728324"/>
                  </a:cubicBezTo>
                  <a:cubicBezTo>
                    <a:pt x="6695536" y="1555796"/>
                    <a:pt x="6800490" y="1312818"/>
                    <a:pt x="6901132" y="1115848"/>
                  </a:cubicBezTo>
                  <a:cubicBezTo>
                    <a:pt x="7001774" y="918878"/>
                    <a:pt x="7118230" y="690278"/>
                    <a:pt x="7211683" y="546505"/>
                  </a:cubicBezTo>
                  <a:cubicBezTo>
                    <a:pt x="7305136" y="402732"/>
                    <a:pt x="7371272" y="335158"/>
                    <a:pt x="7461849" y="253207"/>
                  </a:cubicBezTo>
                  <a:cubicBezTo>
                    <a:pt x="7552426" y="171256"/>
                    <a:pt x="7648755" y="89305"/>
                    <a:pt x="7755147" y="54799"/>
                  </a:cubicBezTo>
                  <a:cubicBezTo>
                    <a:pt x="7861539" y="20293"/>
                    <a:pt x="7953555" y="-44404"/>
                    <a:pt x="8100204" y="46173"/>
                  </a:cubicBezTo>
                  <a:cubicBezTo>
                    <a:pt x="8246853" y="136750"/>
                    <a:pt x="8462514" y="352410"/>
                    <a:pt x="8635042" y="598263"/>
                  </a:cubicBezTo>
                  <a:cubicBezTo>
                    <a:pt x="8807570" y="844116"/>
                    <a:pt x="8967159" y="1200675"/>
                    <a:pt x="9135374" y="1521290"/>
                  </a:cubicBezTo>
                  <a:cubicBezTo>
                    <a:pt x="9303589" y="1841905"/>
                    <a:pt x="9490494" y="2247347"/>
                    <a:pt x="9644332" y="2521954"/>
                  </a:cubicBezTo>
                  <a:cubicBezTo>
                    <a:pt x="9798170" y="2796561"/>
                    <a:pt x="9943381" y="3026599"/>
                    <a:pt x="10058400" y="3168935"/>
                  </a:cubicBezTo>
                  <a:cubicBezTo>
                    <a:pt x="10173419" y="3311271"/>
                    <a:pt x="10251057" y="3327086"/>
                    <a:pt x="10334446" y="3375969"/>
                  </a:cubicBezTo>
                  <a:cubicBezTo>
                    <a:pt x="10417835" y="3424852"/>
                    <a:pt x="10488283" y="3443542"/>
                    <a:pt x="10558732" y="3462233"/>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7" name="Freeform: Shape 26">
              <a:extLst>
                <a:ext uri="{FF2B5EF4-FFF2-40B4-BE49-F238E27FC236}">
                  <a16:creationId xmlns:a16="http://schemas.microsoft.com/office/drawing/2014/main" id="{2EDA852F-8087-49E3-9913-A6A6567B0E76}"/>
                </a:ext>
              </a:extLst>
            </p:cNvPr>
            <p:cNvSpPr>
              <a:spLocks noChangeAspect="1"/>
            </p:cNvSpPr>
            <p:nvPr/>
          </p:nvSpPr>
          <p:spPr>
            <a:xfrm flipV="1">
              <a:off x="9092242" y="25879"/>
              <a:ext cx="1517015" cy="496570"/>
            </a:xfrm>
            <a:custGeom>
              <a:avLst/>
              <a:gdLst>
                <a:gd name="connsiteX0" fmla="*/ 0 w 10558732"/>
                <a:gd name="connsiteY0" fmla="*/ 3436354 h 3462233"/>
                <a:gd name="connsiteX1" fmla="*/ 353683 w 10558732"/>
                <a:gd name="connsiteY1" fmla="*/ 3306958 h 3462233"/>
                <a:gd name="connsiteX2" fmla="*/ 940280 w 10558732"/>
                <a:gd name="connsiteY2" fmla="*/ 2427063 h 3462233"/>
                <a:gd name="connsiteX3" fmla="*/ 1293963 w 10558732"/>
                <a:gd name="connsiteY3" fmla="*/ 1719697 h 3462233"/>
                <a:gd name="connsiteX4" fmla="*/ 1708030 w 10558732"/>
                <a:gd name="connsiteY4" fmla="*/ 917441 h 3462233"/>
                <a:gd name="connsiteX5" fmla="*/ 2268747 w 10558732"/>
                <a:gd name="connsiteY5" fmla="*/ 141063 h 3462233"/>
                <a:gd name="connsiteX6" fmla="*/ 2639683 w 10558732"/>
                <a:gd name="connsiteY6" fmla="*/ 28920 h 3462233"/>
                <a:gd name="connsiteX7" fmla="*/ 2976113 w 10558732"/>
                <a:gd name="connsiteY7" fmla="*/ 149690 h 3462233"/>
                <a:gd name="connsiteX8" fmla="*/ 3640347 w 10558732"/>
                <a:gd name="connsiteY8" fmla="*/ 1029584 h 3462233"/>
                <a:gd name="connsiteX9" fmla="*/ 3968151 w 10558732"/>
                <a:gd name="connsiteY9" fmla="*/ 1762829 h 3462233"/>
                <a:gd name="connsiteX10" fmla="*/ 4442604 w 10558732"/>
                <a:gd name="connsiteY10" fmla="*/ 2659976 h 3462233"/>
                <a:gd name="connsiteX11" fmla="*/ 4942936 w 10558732"/>
                <a:gd name="connsiteY11" fmla="*/ 3315584 h 3462233"/>
                <a:gd name="connsiteX12" fmla="*/ 5296619 w 10558732"/>
                <a:gd name="connsiteY12" fmla="*/ 3444980 h 3462233"/>
                <a:gd name="connsiteX13" fmla="*/ 5779698 w 10558732"/>
                <a:gd name="connsiteY13" fmla="*/ 3160308 h 3462233"/>
                <a:gd name="connsiteX14" fmla="*/ 6374921 w 10558732"/>
                <a:gd name="connsiteY14" fmla="*/ 2151018 h 3462233"/>
                <a:gd name="connsiteX15" fmla="*/ 6607834 w 10558732"/>
                <a:gd name="connsiteY15" fmla="*/ 1728324 h 3462233"/>
                <a:gd name="connsiteX16" fmla="*/ 6901132 w 10558732"/>
                <a:gd name="connsiteY16" fmla="*/ 1115848 h 3462233"/>
                <a:gd name="connsiteX17" fmla="*/ 7211683 w 10558732"/>
                <a:gd name="connsiteY17" fmla="*/ 546505 h 3462233"/>
                <a:gd name="connsiteX18" fmla="*/ 7461849 w 10558732"/>
                <a:gd name="connsiteY18" fmla="*/ 253207 h 3462233"/>
                <a:gd name="connsiteX19" fmla="*/ 7755147 w 10558732"/>
                <a:gd name="connsiteY19" fmla="*/ 54799 h 3462233"/>
                <a:gd name="connsiteX20" fmla="*/ 8100204 w 10558732"/>
                <a:gd name="connsiteY20" fmla="*/ 46173 h 3462233"/>
                <a:gd name="connsiteX21" fmla="*/ 8635042 w 10558732"/>
                <a:gd name="connsiteY21" fmla="*/ 598263 h 3462233"/>
                <a:gd name="connsiteX22" fmla="*/ 9135374 w 10558732"/>
                <a:gd name="connsiteY22" fmla="*/ 1521290 h 3462233"/>
                <a:gd name="connsiteX23" fmla="*/ 9644332 w 10558732"/>
                <a:gd name="connsiteY23" fmla="*/ 2521954 h 3462233"/>
                <a:gd name="connsiteX24" fmla="*/ 10058400 w 10558732"/>
                <a:gd name="connsiteY24" fmla="*/ 3168935 h 3462233"/>
                <a:gd name="connsiteX25" fmla="*/ 10334446 w 10558732"/>
                <a:gd name="connsiteY25" fmla="*/ 3375969 h 3462233"/>
                <a:gd name="connsiteX26" fmla="*/ 10558732 w 10558732"/>
                <a:gd name="connsiteY26" fmla="*/ 3462233 h 346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58732" h="3462233">
                  <a:moveTo>
                    <a:pt x="0" y="3436354"/>
                  </a:moveTo>
                  <a:cubicBezTo>
                    <a:pt x="98485" y="3455763"/>
                    <a:pt x="196970" y="3475173"/>
                    <a:pt x="353683" y="3306958"/>
                  </a:cubicBezTo>
                  <a:cubicBezTo>
                    <a:pt x="510396" y="3138743"/>
                    <a:pt x="783567" y="2691606"/>
                    <a:pt x="940280" y="2427063"/>
                  </a:cubicBezTo>
                  <a:cubicBezTo>
                    <a:pt x="1096993" y="2162519"/>
                    <a:pt x="1166005" y="1971301"/>
                    <a:pt x="1293963" y="1719697"/>
                  </a:cubicBezTo>
                  <a:cubicBezTo>
                    <a:pt x="1421921" y="1468093"/>
                    <a:pt x="1545566" y="1180547"/>
                    <a:pt x="1708030" y="917441"/>
                  </a:cubicBezTo>
                  <a:cubicBezTo>
                    <a:pt x="1870494" y="654335"/>
                    <a:pt x="2113472" y="289150"/>
                    <a:pt x="2268747" y="141063"/>
                  </a:cubicBezTo>
                  <a:cubicBezTo>
                    <a:pt x="2424022" y="-7024"/>
                    <a:pt x="2521789" y="27482"/>
                    <a:pt x="2639683" y="28920"/>
                  </a:cubicBezTo>
                  <a:cubicBezTo>
                    <a:pt x="2757577" y="30358"/>
                    <a:pt x="2809336" y="-17087"/>
                    <a:pt x="2976113" y="149690"/>
                  </a:cubicBezTo>
                  <a:cubicBezTo>
                    <a:pt x="3142890" y="316467"/>
                    <a:pt x="3475007" y="760727"/>
                    <a:pt x="3640347" y="1029584"/>
                  </a:cubicBezTo>
                  <a:cubicBezTo>
                    <a:pt x="3805687" y="1298441"/>
                    <a:pt x="3834442" y="1491097"/>
                    <a:pt x="3968151" y="1762829"/>
                  </a:cubicBezTo>
                  <a:cubicBezTo>
                    <a:pt x="4101860" y="2034561"/>
                    <a:pt x="4280140" y="2401184"/>
                    <a:pt x="4442604" y="2659976"/>
                  </a:cubicBezTo>
                  <a:cubicBezTo>
                    <a:pt x="4605068" y="2918768"/>
                    <a:pt x="4800600" y="3184750"/>
                    <a:pt x="4942936" y="3315584"/>
                  </a:cubicBezTo>
                  <a:cubicBezTo>
                    <a:pt x="5085272" y="3446418"/>
                    <a:pt x="5157159" y="3470859"/>
                    <a:pt x="5296619" y="3444980"/>
                  </a:cubicBezTo>
                  <a:cubicBezTo>
                    <a:pt x="5436079" y="3419101"/>
                    <a:pt x="5599981" y="3375968"/>
                    <a:pt x="5779698" y="3160308"/>
                  </a:cubicBezTo>
                  <a:cubicBezTo>
                    <a:pt x="5959415" y="2944648"/>
                    <a:pt x="6236898" y="2389682"/>
                    <a:pt x="6374921" y="2151018"/>
                  </a:cubicBezTo>
                  <a:cubicBezTo>
                    <a:pt x="6512944" y="1912354"/>
                    <a:pt x="6520132" y="1900852"/>
                    <a:pt x="6607834" y="1728324"/>
                  </a:cubicBezTo>
                  <a:cubicBezTo>
                    <a:pt x="6695536" y="1555796"/>
                    <a:pt x="6800490" y="1312818"/>
                    <a:pt x="6901132" y="1115848"/>
                  </a:cubicBezTo>
                  <a:cubicBezTo>
                    <a:pt x="7001774" y="918878"/>
                    <a:pt x="7118230" y="690278"/>
                    <a:pt x="7211683" y="546505"/>
                  </a:cubicBezTo>
                  <a:cubicBezTo>
                    <a:pt x="7305136" y="402732"/>
                    <a:pt x="7371272" y="335158"/>
                    <a:pt x="7461849" y="253207"/>
                  </a:cubicBezTo>
                  <a:cubicBezTo>
                    <a:pt x="7552426" y="171256"/>
                    <a:pt x="7648755" y="89305"/>
                    <a:pt x="7755147" y="54799"/>
                  </a:cubicBezTo>
                  <a:cubicBezTo>
                    <a:pt x="7861539" y="20293"/>
                    <a:pt x="7953555" y="-44404"/>
                    <a:pt x="8100204" y="46173"/>
                  </a:cubicBezTo>
                  <a:cubicBezTo>
                    <a:pt x="8246853" y="136750"/>
                    <a:pt x="8462514" y="352410"/>
                    <a:pt x="8635042" y="598263"/>
                  </a:cubicBezTo>
                  <a:cubicBezTo>
                    <a:pt x="8807570" y="844116"/>
                    <a:pt x="8967159" y="1200675"/>
                    <a:pt x="9135374" y="1521290"/>
                  </a:cubicBezTo>
                  <a:cubicBezTo>
                    <a:pt x="9303589" y="1841905"/>
                    <a:pt x="9490494" y="2247347"/>
                    <a:pt x="9644332" y="2521954"/>
                  </a:cubicBezTo>
                  <a:cubicBezTo>
                    <a:pt x="9798170" y="2796561"/>
                    <a:pt x="9943381" y="3026599"/>
                    <a:pt x="10058400" y="3168935"/>
                  </a:cubicBezTo>
                  <a:cubicBezTo>
                    <a:pt x="10173419" y="3311271"/>
                    <a:pt x="10251057" y="3327086"/>
                    <a:pt x="10334446" y="3375969"/>
                  </a:cubicBezTo>
                  <a:cubicBezTo>
                    <a:pt x="10417835" y="3424852"/>
                    <a:pt x="10488283" y="3443542"/>
                    <a:pt x="10558732" y="3462233"/>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24" name="Freeform: Shape 23">
            <a:extLst>
              <a:ext uri="{FF2B5EF4-FFF2-40B4-BE49-F238E27FC236}">
                <a16:creationId xmlns:a16="http://schemas.microsoft.com/office/drawing/2014/main" id="{33689C25-EC72-40A6-A9E1-F001291D3524}"/>
              </a:ext>
            </a:extLst>
          </p:cNvPr>
          <p:cNvSpPr/>
          <p:nvPr/>
        </p:nvSpPr>
        <p:spPr>
          <a:xfrm>
            <a:off x="800418" y="1792605"/>
            <a:ext cx="10567035" cy="3272790"/>
          </a:xfrm>
          <a:custGeom>
            <a:avLst/>
            <a:gdLst>
              <a:gd name="connsiteX0" fmla="*/ 0 w 10567358"/>
              <a:gd name="connsiteY0" fmla="*/ 2920629 h 3273054"/>
              <a:gd name="connsiteX1" fmla="*/ 129396 w 10567358"/>
              <a:gd name="connsiteY1" fmla="*/ 2989640 h 3273054"/>
              <a:gd name="connsiteX2" fmla="*/ 232913 w 10567358"/>
              <a:gd name="connsiteY2" fmla="*/ 3075904 h 3273054"/>
              <a:gd name="connsiteX3" fmla="*/ 301924 w 10567358"/>
              <a:gd name="connsiteY3" fmla="*/ 3127663 h 3273054"/>
              <a:gd name="connsiteX4" fmla="*/ 448573 w 10567358"/>
              <a:gd name="connsiteY4" fmla="*/ 3067278 h 3273054"/>
              <a:gd name="connsiteX5" fmla="*/ 543464 w 10567358"/>
              <a:gd name="connsiteY5" fmla="*/ 2937882 h 3273054"/>
              <a:gd name="connsiteX6" fmla="*/ 629728 w 10567358"/>
              <a:gd name="connsiteY6" fmla="*/ 2886123 h 3273054"/>
              <a:gd name="connsiteX7" fmla="*/ 724619 w 10567358"/>
              <a:gd name="connsiteY7" fmla="*/ 2920629 h 3273054"/>
              <a:gd name="connsiteX8" fmla="*/ 802256 w 10567358"/>
              <a:gd name="connsiteY8" fmla="*/ 3050025 h 3273054"/>
              <a:gd name="connsiteX9" fmla="*/ 879894 w 10567358"/>
              <a:gd name="connsiteY9" fmla="*/ 3162168 h 3273054"/>
              <a:gd name="connsiteX10" fmla="*/ 923026 w 10567358"/>
              <a:gd name="connsiteY10" fmla="*/ 3239806 h 3273054"/>
              <a:gd name="connsiteX11" fmla="*/ 1052422 w 10567358"/>
              <a:gd name="connsiteY11" fmla="*/ 3222553 h 3273054"/>
              <a:gd name="connsiteX12" fmla="*/ 1164566 w 10567358"/>
              <a:gd name="connsiteY12" fmla="*/ 2799859 h 3273054"/>
              <a:gd name="connsiteX13" fmla="*/ 1337094 w 10567358"/>
              <a:gd name="connsiteY13" fmla="*/ 1661172 h 3273054"/>
              <a:gd name="connsiteX14" fmla="*/ 1449238 w 10567358"/>
              <a:gd name="connsiteY14" fmla="*/ 712266 h 3273054"/>
              <a:gd name="connsiteX15" fmla="*/ 1544128 w 10567358"/>
              <a:gd name="connsiteY15" fmla="*/ 280946 h 3273054"/>
              <a:gd name="connsiteX16" fmla="*/ 1578634 w 10567358"/>
              <a:gd name="connsiteY16" fmla="*/ 125670 h 3273054"/>
              <a:gd name="connsiteX17" fmla="*/ 1621766 w 10567358"/>
              <a:gd name="connsiteY17" fmla="*/ 91165 h 3273054"/>
              <a:gd name="connsiteX18" fmla="*/ 1794294 w 10567358"/>
              <a:gd name="connsiteY18" fmla="*/ 211934 h 3273054"/>
              <a:gd name="connsiteX19" fmla="*/ 1854679 w 10567358"/>
              <a:gd name="connsiteY19" fmla="*/ 358583 h 3273054"/>
              <a:gd name="connsiteX20" fmla="*/ 1949570 w 10567358"/>
              <a:gd name="connsiteY20" fmla="*/ 470727 h 3273054"/>
              <a:gd name="connsiteX21" fmla="*/ 2035834 w 10567358"/>
              <a:gd name="connsiteY21" fmla="*/ 444848 h 3273054"/>
              <a:gd name="connsiteX22" fmla="*/ 2165230 w 10567358"/>
              <a:gd name="connsiteY22" fmla="*/ 272319 h 3273054"/>
              <a:gd name="connsiteX23" fmla="*/ 2294626 w 10567358"/>
              <a:gd name="connsiteY23" fmla="*/ 211934 h 3273054"/>
              <a:gd name="connsiteX24" fmla="*/ 2432649 w 10567358"/>
              <a:gd name="connsiteY24" fmla="*/ 263693 h 3273054"/>
              <a:gd name="connsiteX25" fmla="*/ 2544792 w 10567358"/>
              <a:gd name="connsiteY25" fmla="*/ 367210 h 3273054"/>
              <a:gd name="connsiteX26" fmla="*/ 2631056 w 10567358"/>
              <a:gd name="connsiteY26" fmla="*/ 418968 h 3273054"/>
              <a:gd name="connsiteX27" fmla="*/ 2777706 w 10567358"/>
              <a:gd name="connsiteY27" fmla="*/ 375836 h 3273054"/>
              <a:gd name="connsiteX28" fmla="*/ 2898475 w 10567358"/>
              <a:gd name="connsiteY28" fmla="*/ 220561 h 3273054"/>
              <a:gd name="connsiteX29" fmla="*/ 3053751 w 10567358"/>
              <a:gd name="connsiteY29" fmla="*/ 246440 h 3273054"/>
              <a:gd name="connsiteX30" fmla="*/ 3148641 w 10567358"/>
              <a:gd name="connsiteY30" fmla="*/ 367210 h 3273054"/>
              <a:gd name="connsiteX31" fmla="*/ 3252158 w 10567358"/>
              <a:gd name="connsiteY31" fmla="*/ 462100 h 3273054"/>
              <a:gd name="connsiteX32" fmla="*/ 3372928 w 10567358"/>
              <a:gd name="connsiteY32" fmla="*/ 436221 h 3273054"/>
              <a:gd name="connsiteX33" fmla="*/ 3433313 w 10567358"/>
              <a:gd name="connsiteY33" fmla="*/ 298199 h 3273054"/>
              <a:gd name="connsiteX34" fmla="*/ 3528204 w 10567358"/>
              <a:gd name="connsiteY34" fmla="*/ 177429 h 3273054"/>
              <a:gd name="connsiteX35" fmla="*/ 3588589 w 10567358"/>
              <a:gd name="connsiteY35" fmla="*/ 91165 h 3273054"/>
              <a:gd name="connsiteX36" fmla="*/ 3709358 w 10567358"/>
              <a:gd name="connsiteY36" fmla="*/ 194682 h 3273054"/>
              <a:gd name="connsiteX37" fmla="*/ 3881887 w 10567358"/>
              <a:gd name="connsiteY37" fmla="*/ 945180 h 3273054"/>
              <a:gd name="connsiteX38" fmla="*/ 3985404 w 10567358"/>
              <a:gd name="connsiteY38" fmla="*/ 1712931 h 3273054"/>
              <a:gd name="connsiteX39" fmla="*/ 4045789 w 10567358"/>
              <a:gd name="connsiteY39" fmla="*/ 2385791 h 3273054"/>
              <a:gd name="connsiteX40" fmla="*/ 4097547 w 10567358"/>
              <a:gd name="connsiteY40" fmla="*/ 2713595 h 3273054"/>
              <a:gd name="connsiteX41" fmla="*/ 4183811 w 10567358"/>
              <a:gd name="connsiteY41" fmla="*/ 3093157 h 3273054"/>
              <a:gd name="connsiteX42" fmla="*/ 4244196 w 10567358"/>
              <a:gd name="connsiteY42" fmla="*/ 3257059 h 3273054"/>
              <a:gd name="connsiteX43" fmla="*/ 4295955 w 10567358"/>
              <a:gd name="connsiteY43" fmla="*/ 3257059 h 3273054"/>
              <a:gd name="connsiteX44" fmla="*/ 4382219 w 10567358"/>
              <a:gd name="connsiteY44" fmla="*/ 3170795 h 3273054"/>
              <a:gd name="connsiteX45" fmla="*/ 4477109 w 10567358"/>
              <a:gd name="connsiteY45" fmla="*/ 2963761 h 3273054"/>
              <a:gd name="connsiteX46" fmla="*/ 4606506 w 10567358"/>
              <a:gd name="connsiteY46" fmla="*/ 2894750 h 3273054"/>
              <a:gd name="connsiteX47" fmla="*/ 4718649 w 10567358"/>
              <a:gd name="connsiteY47" fmla="*/ 2955134 h 3273054"/>
              <a:gd name="connsiteX48" fmla="*/ 4856672 w 10567358"/>
              <a:gd name="connsiteY48" fmla="*/ 3119036 h 3273054"/>
              <a:gd name="connsiteX49" fmla="*/ 4960189 w 10567358"/>
              <a:gd name="connsiteY49" fmla="*/ 3119036 h 3273054"/>
              <a:gd name="connsiteX50" fmla="*/ 5080958 w 10567358"/>
              <a:gd name="connsiteY50" fmla="*/ 3050025 h 3273054"/>
              <a:gd name="connsiteX51" fmla="*/ 5193102 w 10567358"/>
              <a:gd name="connsiteY51" fmla="*/ 2929255 h 3273054"/>
              <a:gd name="connsiteX52" fmla="*/ 5279366 w 10567358"/>
              <a:gd name="connsiteY52" fmla="*/ 2929255 h 3273054"/>
              <a:gd name="connsiteX53" fmla="*/ 5477773 w 10567358"/>
              <a:gd name="connsiteY53" fmla="*/ 2998266 h 3273054"/>
              <a:gd name="connsiteX54" fmla="*/ 5572664 w 10567358"/>
              <a:gd name="connsiteY54" fmla="*/ 3136289 h 3273054"/>
              <a:gd name="connsiteX55" fmla="*/ 5684807 w 10567358"/>
              <a:gd name="connsiteY55" fmla="*/ 3110410 h 3273054"/>
              <a:gd name="connsiteX56" fmla="*/ 5753819 w 10567358"/>
              <a:gd name="connsiteY56" fmla="*/ 3032772 h 3273054"/>
              <a:gd name="connsiteX57" fmla="*/ 5822830 w 10567358"/>
              <a:gd name="connsiteY57" fmla="*/ 2937882 h 3273054"/>
              <a:gd name="connsiteX58" fmla="*/ 5900468 w 10567358"/>
              <a:gd name="connsiteY58" fmla="*/ 2886123 h 3273054"/>
              <a:gd name="connsiteX59" fmla="*/ 5986732 w 10567358"/>
              <a:gd name="connsiteY59" fmla="*/ 2886123 h 3273054"/>
              <a:gd name="connsiteX60" fmla="*/ 6090249 w 10567358"/>
              <a:gd name="connsiteY60" fmla="*/ 3032772 h 3273054"/>
              <a:gd name="connsiteX61" fmla="*/ 6185139 w 10567358"/>
              <a:gd name="connsiteY61" fmla="*/ 3188048 h 3273054"/>
              <a:gd name="connsiteX62" fmla="*/ 6271404 w 10567358"/>
              <a:gd name="connsiteY62" fmla="*/ 3239806 h 3273054"/>
              <a:gd name="connsiteX63" fmla="*/ 6357668 w 10567358"/>
              <a:gd name="connsiteY63" fmla="*/ 3119036 h 3273054"/>
              <a:gd name="connsiteX64" fmla="*/ 6504317 w 10567358"/>
              <a:gd name="connsiteY64" fmla="*/ 2437550 h 3273054"/>
              <a:gd name="connsiteX65" fmla="*/ 6625087 w 10567358"/>
              <a:gd name="connsiteY65" fmla="*/ 1661172 h 3273054"/>
              <a:gd name="connsiteX66" fmla="*/ 6685472 w 10567358"/>
              <a:gd name="connsiteY66" fmla="*/ 1022817 h 3273054"/>
              <a:gd name="connsiteX67" fmla="*/ 6763109 w 10567358"/>
              <a:gd name="connsiteY67" fmla="*/ 479353 h 3273054"/>
              <a:gd name="connsiteX68" fmla="*/ 6823494 w 10567358"/>
              <a:gd name="connsiteY68" fmla="*/ 237814 h 3273054"/>
              <a:gd name="connsiteX69" fmla="*/ 6875253 w 10567358"/>
              <a:gd name="connsiteY69" fmla="*/ 108417 h 3273054"/>
              <a:gd name="connsiteX70" fmla="*/ 6952890 w 10567358"/>
              <a:gd name="connsiteY70" fmla="*/ 108417 h 3273054"/>
              <a:gd name="connsiteX71" fmla="*/ 7056407 w 10567358"/>
              <a:gd name="connsiteY71" fmla="*/ 220561 h 3273054"/>
              <a:gd name="connsiteX72" fmla="*/ 7151298 w 10567358"/>
              <a:gd name="connsiteY72" fmla="*/ 367210 h 3273054"/>
              <a:gd name="connsiteX73" fmla="*/ 7263441 w 10567358"/>
              <a:gd name="connsiteY73" fmla="*/ 479353 h 3273054"/>
              <a:gd name="connsiteX74" fmla="*/ 7358332 w 10567358"/>
              <a:gd name="connsiteY74" fmla="*/ 418968 h 3273054"/>
              <a:gd name="connsiteX75" fmla="*/ 7453222 w 10567358"/>
              <a:gd name="connsiteY75" fmla="*/ 289572 h 3273054"/>
              <a:gd name="connsiteX76" fmla="*/ 7573992 w 10567358"/>
              <a:gd name="connsiteY76" fmla="*/ 211934 h 3273054"/>
              <a:gd name="connsiteX77" fmla="*/ 7737894 w 10567358"/>
              <a:gd name="connsiteY77" fmla="*/ 289572 h 3273054"/>
              <a:gd name="connsiteX78" fmla="*/ 7841411 w 10567358"/>
              <a:gd name="connsiteY78" fmla="*/ 410342 h 3273054"/>
              <a:gd name="connsiteX79" fmla="*/ 7962181 w 10567358"/>
              <a:gd name="connsiteY79" fmla="*/ 418968 h 3273054"/>
              <a:gd name="connsiteX80" fmla="*/ 8126083 w 10567358"/>
              <a:gd name="connsiteY80" fmla="*/ 306825 h 3273054"/>
              <a:gd name="connsiteX81" fmla="*/ 8212347 w 10567358"/>
              <a:gd name="connsiteY81" fmla="*/ 211934 h 3273054"/>
              <a:gd name="connsiteX82" fmla="*/ 8324490 w 10567358"/>
              <a:gd name="connsiteY82" fmla="*/ 237814 h 3273054"/>
              <a:gd name="connsiteX83" fmla="*/ 8445260 w 10567358"/>
              <a:gd name="connsiteY83" fmla="*/ 367210 h 3273054"/>
              <a:gd name="connsiteX84" fmla="*/ 8514272 w 10567358"/>
              <a:gd name="connsiteY84" fmla="*/ 444848 h 3273054"/>
              <a:gd name="connsiteX85" fmla="*/ 8591909 w 10567358"/>
              <a:gd name="connsiteY85" fmla="*/ 444848 h 3273054"/>
              <a:gd name="connsiteX86" fmla="*/ 8678173 w 10567358"/>
              <a:gd name="connsiteY86" fmla="*/ 358583 h 3273054"/>
              <a:gd name="connsiteX87" fmla="*/ 8755811 w 10567358"/>
              <a:gd name="connsiteY87" fmla="*/ 237814 h 3273054"/>
              <a:gd name="connsiteX88" fmla="*/ 8816196 w 10567358"/>
              <a:gd name="connsiteY88" fmla="*/ 134297 h 3273054"/>
              <a:gd name="connsiteX89" fmla="*/ 8885207 w 10567358"/>
              <a:gd name="connsiteY89" fmla="*/ 99791 h 3273054"/>
              <a:gd name="connsiteX90" fmla="*/ 8971472 w 10567358"/>
              <a:gd name="connsiteY90" fmla="*/ 125670 h 3273054"/>
              <a:gd name="connsiteX91" fmla="*/ 9273396 w 10567358"/>
              <a:gd name="connsiteY91" fmla="*/ 1695678 h 3273054"/>
              <a:gd name="connsiteX92" fmla="*/ 9368287 w 10567358"/>
              <a:gd name="connsiteY92" fmla="*/ 2515187 h 3273054"/>
              <a:gd name="connsiteX93" fmla="*/ 9402792 w 10567358"/>
              <a:gd name="connsiteY93" fmla="*/ 2825738 h 3273054"/>
              <a:gd name="connsiteX94" fmla="*/ 9471804 w 10567358"/>
              <a:gd name="connsiteY94" fmla="*/ 3127663 h 3273054"/>
              <a:gd name="connsiteX95" fmla="*/ 9506309 w 10567358"/>
              <a:gd name="connsiteY95" fmla="*/ 3231180 h 3273054"/>
              <a:gd name="connsiteX96" fmla="*/ 9583947 w 10567358"/>
              <a:gd name="connsiteY96" fmla="*/ 3265685 h 3273054"/>
              <a:gd name="connsiteX97" fmla="*/ 9678838 w 10567358"/>
              <a:gd name="connsiteY97" fmla="*/ 3188048 h 3273054"/>
              <a:gd name="connsiteX98" fmla="*/ 9773728 w 10567358"/>
              <a:gd name="connsiteY98" fmla="*/ 2998266 h 3273054"/>
              <a:gd name="connsiteX99" fmla="*/ 9825487 w 10567358"/>
              <a:gd name="connsiteY99" fmla="*/ 2903376 h 3273054"/>
              <a:gd name="connsiteX100" fmla="*/ 9911751 w 10567358"/>
              <a:gd name="connsiteY100" fmla="*/ 2894750 h 3273054"/>
              <a:gd name="connsiteX101" fmla="*/ 10075653 w 10567358"/>
              <a:gd name="connsiteY101" fmla="*/ 2989640 h 3273054"/>
              <a:gd name="connsiteX102" fmla="*/ 10196422 w 10567358"/>
              <a:gd name="connsiteY102" fmla="*/ 3110410 h 3273054"/>
              <a:gd name="connsiteX103" fmla="*/ 10282687 w 10567358"/>
              <a:gd name="connsiteY103" fmla="*/ 3127663 h 3273054"/>
              <a:gd name="connsiteX104" fmla="*/ 10351698 w 10567358"/>
              <a:gd name="connsiteY104" fmla="*/ 3050025 h 3273054"/>
              <a:gd name="connsiteX105" fmla="*/ 10472468 w 10567358"/>
              <a:gd name="connsiteY105" fmla="*/ 2963761 h 3273054"/>
              <a:gd name="connsiteX106" fmla="*/ 10567358 w 10567358"/>
              <a:gd name="connsiteY106" fmla="*/ 2929255 h 3273054"/>
              <a:gd name="connsiteX107" fmla="*/ 10567358 w 10567358"/>
              <a:gd name="connsiteY107" fmla="*/ 2929255 h 3273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10567358" h="3273054">
                <a:moveTo>
                  <a:pt x="0" y="2920629"/>
                </a:moveTo>
                <a:cubicBezTo>
                  <a:pt x="45288" y="2942195"/>
                  <a:pt x="90577" y="2963761"/>
                  <a:pt x="129396" y="2989640"/>
                </a:cubicBezTo>
                <a:cubicBezTo>
                  <a:pt x="168215" y="3015519"/>
                  <a:pt x="204158" y="3052900"/>
                  <a:pt x="232913" y="3075904"/>
                </a:cubicBezTo>
                <a:cubicBezTo>
                  <a:pt x="261668" y="3098908"/>
                  <a:pt x="265981" y="3129101"/>
                  <a:pt x="301924" y="3127663"/>
                </a:cubicBezTo>
                <a:cubicBezTo>
                  <a:pt x="337867" y="3126225"/>
                  <a:pt x="408316" y="3098908"/>
                  <a:pt x="448573" y="3067278"/>
                </a:cubicBezTo>
                <a:cubicBezTo>
                  <a:pt x="488830" y="3035648"/>
                  <a:pt x="513272" y="2968074"/>
                  <a:pt x="543464" y="2937882"/>
                </a:cubicBezTo>
                <a:cubicBezTo>
                  <a:pt x="573656" y="2907690"/>
                  <a:pt x="599536" y="2888998"/>
                  <a:pt x="629728" y="2886123"/>
                </a:cubicBezTo>
                <a:cubicBezTo>
                  <a:pt x="659921" y="2883247"/>
                  <a:pt x="695864" y="2893312"/>
                  <a:pt x="724619" y="2920629"/>
                </a:cubicBezTo>
                <a:cubicBezTo>
                  <a:pt x="753374" y="2947946"/>
                  <a:pt x="776377" y="3009769"/>
                  <a:pt x="802256" y="3050025"/>
                </a:cubicBezTo>
                <a:cubicBezTo>
                  <a:pt x="828135" y="3090282"/>
                  <a:pt x="859766" y="3130538"/>
                  <a:pt x="879894" y="3162168"/>
                </a:cubicBezTo>
                <a:cubicBezTo>
                  <a:pt x="900022" y="3193798"/>
                  <a:pt x="894271" y="3229742"/>
                  <a:pt x="923026" y="3239806"/>
                </a:cubicBezTo>
                <a:cubicBezTo>
                  <a:pt x="951781" y="3249870"/>
                  <a:pt x="1012165" y="3295877"/>
                  <a:pt x="1052422" y="3222553"/>
                </a:cubicBezTo>
                <a:cubicBezTo>
                  <a:pt x="1092679" y="3149229"/>
                  <a:pt x="1117121" y="3060089"/>
                  <a:pt x="1164566" y="2799859"/>
                </a:cubicBezTo>
                <a:cubicBezTo>
                  <a:pt x="1212011" y="2539629"/>
                  <a:pt x="1289649" y="2009104"/>
                  <a:pt x="1337094" y="1661172"/>
                </a:cubicBezTo>
                <a:cubicBezTo>
                  <a:pt x="1384539" y="1313240"/>
                  <a:pt x="1414732" y="942304"/>
                  <a:pt x="1449238" y="712266"/>
                </a:cubicBezTo>
                <a:cubicBezTo>
                  <a:pt x="1483744" y="482228"/>
                  <a:pt x="1522562" y="378712"/>
                  <a:pt x="1544128" y="280946"/>
                </a:cubicBezTo>
                <a:cubicBezTo>
                  <a:pt x="1565694" y="183180"/>
                  <a:pt x="1565694" y="157300"/>
                  <a:pt x="1578634" y="125670"/>
                </a:cubicBezTo>
                <a:cubicBezTo>
                  <a:pt x="1591574" y="94040"/>
                  <a:pt x="1585823" y="76788"/>
                  <a:pt x="1621766" y="91165"/>
                </a:cubicBezTo>
                <a:cubicBezTo>
                  <a:pt x="1657709" y="105542"/>
                  <a:pt x="1755475" y="167364"/>
                  <a:pt x="1794294" y="211934"/>
                </a:cubicBezTo>
                <a:cubicBezTo>
                  <a:pt x="1833113" y="256504"/>
                  <a:pt x="1828800" y="315451"/>
                  <a:pt x="1854679" y="358583"/>
                </a:cubicBezTo>
                <a:cubicBezTo>
                  <a:pt x="1880558" y="401715"/>
                  <a:pt x="1919378" y="456349"/>
                  <a:pt x="1949570" y="470727"/>
                </a:cubicBezTo>
                <a:cubicBezTo>
                  <a:pt x="1979763" y="485104"/>
                  <a:pt x="1999891" y="477916"/>
                  <a:pt x="2035834" y="444848"/>
                </a:cubicBezTo>
                <a:cubicBezTo>
                  <a:pt x="2071777" y="411780"/>
                  <a:pt x="2122098" y="311138"/>
                  <a:pt x="2165230" y="272319"/>
                </a:cubicBezTo>
                <a:cubicBezTo>
                  <a:pt x="2208362" y="233500"/>
                  <a:pt x="2250056" y="213372"/>
                  <a:pt x="2294626" y="211934"/>
                </a:cubicBezTo>
                <a:cubicBezTo>
                  <a:pt x="2339196" y="210496"/>
                  <a:pt x="2390955" y="237814"/>
                  <a:pt x="2432649" y="263693"/>
                </a:cubicBezTo>
                <a:cubicBezTo>
                  <a:pt x="2474343" y="289572"/>
                  <a:pt x="2511724" y="341331"/>
                  <a:pt x="2544792" y="367210"/>
                </a:cubicBezTo>
                <a:cubicBezTo>
                  <a:pt x="2577860" y="393089"/>
                  <a:pt x="2592237" y="417530"/>
                  <a:pt x="2631056" y="418968"/>
                </a:cubicBezTo>
                <a:cubicBezTo>
                  <a:pt x="2669875" y="420406"/>
                  <a:pt x="2733136" y="408904"/>
                  <a:pt x="2777706" y="375836"/>
                </a:cubicBezTo>
                <a:cubicBezTo>
                  <a:pt x="2822276" y="342768"/>
                  <a:pt x="2852468" y="242127"/>
                  <a:pt x="2898475" y="220561"/>
                </a:cubicBezTo>
                <a:cubicBezTo>
                  <a:pt x="2944482" y="198995"/>
                  <a:pt x="3012057" y="221999"/>
                  <a:pt x="3053751" y="246440"/>
                </a:cubicBezTo>
                <a:cubicBezTo>
                  <a:pt x="3095445" y="270881"/>
                  <a:pt x="3115573" y="331267"/>
                  <a:pt x="3148641" y="367210"/>
                </a:cubicBezTo>
                <a:cubicBezTo>
                  <a:pt x="3181709" y="403153"/>
                  <a:pt x="3214777" y="450598"/>
                  <a:pt x="3252158" y="462100"/>
                </a:cubicBezTo>
                <a:cubicBezTo>
                  <a:pt x="3289539" y="473602"/>
                  <a:pt x="3342736" y="463538"/>
                  <a:pt x="3372928" y="436221"/>
                </a:cubicBezTo>
                <a:cubicBezTo>
                  <a:pt x="3403121" y="408904"/>
                  <a:pt x="3407434" y="341331"/>
                  <a:pt x="3433313" y="298199"/>
                </a:cubicBezTo>
                <a:cubicBezTo>
                  <a:pt x="3459192" y="255067"/>
                  <a:pt x="3502325" y="211935"/>
                  <a:pt x="3528204" y="177429"/>
                </a:cubicBezTo>
                <a:cubicBezTo>
                  <a:pt x="3554083" y="142923"/>
                  <a:pt x="3558397" y="88289"/>
                  <a:pt x="3588589" y="91165"/>
                </a:cubicBezTo>
                <a:cubicBezTo>
                  <a:pt x="3618781" y="94040"/>
                  <a:pt x="3660475" y="52346"/>
                  <a:pt x="3709358" y="194682"/>
                </a:cubicBezTo>
                <a:cubicBezTo>
                  <a:pt x="3758241" y="337018"/>
                  <a:pt x="3835879" y="692139"/>
                  <a:pt x="3881887" y="945180"/>
                </a:cubicBezTo>
                <a:cubicBezTo>
                  <a:pt x="3927895" y="1198221"/>
                  <a:pt x="3958087" y="1472829"/>
                  <a:pt x="3985404" y="1712931"/>
                </a:cubicBezTo>
                <a:cubicBezTo>
                  <a:pt x="4012721" y="1953033"/>
                  <a:pt x="4027099" y="2219014"/>
                  <a:pt x="4045789" y="2385791"/>
                </a:cubicBezTo>
                <a:cubicBezTo>
                  <a:pt x="4064479" y="2552568"/>
                  <a:pt x="4074543" y="2595701"/>
                  <a:pt x="4097547" y="2713595"/>
                </a:cubicBezTo>
                <a:cubicBezTo>
                  <a:pt x="4120551" y="2831489"/>
                  <a:pt x="4159370" y="3002580"/>
                  <a:pt x="4183811" y="3093157"/>
                </a:cubicBezTo>
                <a:cubicBezTo>
                  <a:pt x="4208252" y="3183734"/>
                  <a:pt x="4225505" y="3229742"/>
                  <a:pt x="4244196" y="3257059"/>
                </a:cubicBezTo>
                <a:cubicBezTo>
                  <a:pt x="4262887" y="3284376"/>
                  <a:pt x="4272951" y="3271436"/>
                  <a:pt x="4295955" y="3257059"/>
                </a:cubicBezTo>
                <a:cubicBezTo>
                  <a:pt x="4318959" y="3242682"/>
                  <a:pt x="4352027" y="3219678"/>
                  <a:pt x="4382219" y="3170795"/>
                </a:cubicBezTo>
                <a:cubicBezTo>
                  <a:pt x="4412411" y="3121912"/>
                  <a:pt x="4439728" y="3009769"/>
                  <a:pt x="4477109" y="2963761"/>
                </a:cubicBezTo>
                <a:cubicBezTo>
                  <a:pt x="4514490" y="2917753"/>
                  <a:pt x="4566249" y="2896188"/>
                  <a:pt x="4606506" y="2894750"/>
                </a:cubicBezTo>
                <a:cubicBezTo>
                  <a:pt x="4646763" y="2893312"/>
                  <a:pt x="4676955" y="2917753"/>
                  <a:pt x="4718649" y="2955134"/>
                </a:cubicBezTo>
                <a:cubicBezTo>
                  <a:pt x="4760343" y="2992515"/>
                  <a:pt x="4816415" y="3091719"/>
                  <a:pt x="4856672" y="3119036"/>
                </a:cubicBezTo>
                <a:cubicBezTo>
                  <a:pt x="4896929" y="3146353"/>
                  <a:pt x="4922808" y="3130538"/>
                  <a:pt x="4960189" y="3119036"/>
                </a:cubicBezTo>
                <a:cubicBezTo>
                  <a:pt x="4997570" y="3107534"/>
                  <a:pt x="5042139" y="3081655"/>
                  <a:pt x="5080958" y="3050025"/>
                </a:cubicBezTo>
                <a:cubicBezTo>
                  <a:pt x="5119777" y="3018395"/>
                  <a:pt x="5160034" y="2949383"/>
                  <a:pt x="5193102" y="2929255"/>
                </a:cubicBezTo>
                <a:cubicBezTo>
                  <a:pt x="5226170" y="2909127"/>
                  <a:pt x="5231921" y="2917753"/>
                  <a:pt x="5279366" y="2929255"/>
                </a:cubicBezTo>
                <a:cubicBezTo>
                  <a:pt x="5326811" y="2940757"/>
                  <a:pt x="5428890" y="2963760"/>
                  <a:pt x="5477773" y="2998266"/>
                </a:cubicBezTo>
                <a:cubicBezTo>
                  <a:pt x="5526656" y="3032772"/>
                  <a:pt x="5538158" y="3117598"/>
                  <a:pt x="5572664" y="3136289"/>
                </a:cubicBezTo>
                <a:cubicBezTo>
                  <a:pt x="5607170" y="3154980"/>
                  <a:pt x="5654615" y="3127663"/>
                  <a:pt x="5684807" y="3110410"/>
                </a:cubicBezTo>
                <a:cubicBezTo>
                  <a:pt x="5714999" y="3093157"/>
                  <a:pt x="5730815" y="3061527"/>
                  <a:pt x="5753819" y="3032772"/>
                </a:cubicBezTo>
                <a:cubicBezTo>
                  <a:pt x="5776823" y="3004017"/>
                  <a:pt x="5798389" y="2962323"/>
                  <a:pt x="5822830" y="2937882"/>
                </a:cubicBezTo>
                <a:cubicBezTo>
                  <a:pt x="5847271" y="2913441"/>
                  <a:pt x="5873151" y="2894749"/>
                  <a:pt x="5900468" y="2886123"/>
                </a:cubicBezTo>
                <a:cubicBezTo>
                  <a:pt x="5927785" y="2877496"/>
                  <a:pt x="5955102" y="2861681"/>
                  <a:pt x="5986732" y="2886123"/>
                </a:cubicBezTo>
                <a:cubicBezTo>
                  <a:pt x="6018362" y="2910564"/>
                  <a:pt x="6057181" y="2982451"/>
                  <a:pt x="6090249" y="3032772"/>
                </a:cubicBezTo>
                <a:cubicBezTo>
                  <a:pt x="6123317" y="3083093"/>
                  <a:pt x="6154947" y="3153542"/>
                  <a:pt x="6185139" y="3188048"/>
                </a:cubicBezTo>
                <a:cubicBezTo>
                  <a:pt x="6215331" y="3222554"/>
                  <a:pt x="6242649" y="3251308"/>
                  <a:pt x="6271404" y="3239806"/>
                </a:cubicBezTo>
                <a:cubicBezTo>
                  <a:pt x="6300159" y="3228304"/>
                  <a:pt x="6318849" y="3252745"/>
                  <a:pt x="6357668" y="3119036"/>
                </a:cubicBezTo>
                <a:cubicBezTo>
                  <a:pt x="6396487" y="2985327"/>
                  <a:pt x="6459747" y="2680527"/>
                  <a:pt x="6504317" y="2437550"/>
                </a:cubicBezTo>
                <a:cubicBezTo>
                  <a:pt x="6548887" y="2194573"/>
                  <a:pt x="6594895" y="1896961"/>
                  <a:pt x="6625087" y="1661172"/>
                </a:cubicBezTo>
                <a:cubicBezTo>
                  <a:pt x="6655280" y="1425383"/>
                  <a:pt x="6662468" y="1219787"/>
                  <a:pt x="6685472" y="1022817"/>
                </a:cubicBezTo>
                <a:cubicBezTo>
                  <a:pt x="6708476" y="825847"/>
                  <a:pt x="6740105" y="610187"/>
                  <a:pt x="6763109" y="479353"/>
                </a:cubicBezTo>
                <a:cubicBezTo>
                  <a:pt x="6786113" y="348519"/>
                  <a:pt x="6804803" y="299637"/>
                  <a:pt x="6823494" y="237814"/>
                </a:cubicBezTo>
                <a:cubicBezTo>
                  <a:pt x="6842185" y="175991"/>
                  <a:pt x="6853687" y="129983"/>
                  <a:pt x="6875253" y="108417"/>
                </a:cubicBezTo>
                <a:cubicBezTo>
                  <a:pt x="6896819" y="86851"/>
                  <a:pt x="6922698" y="89726"/>
                  <a:pt x="6952890" y="108417"/>
                </a:cubicBezTo>
                <a:cubicBezTo>
                  <a:pt x="6983082" y="127108"/>
                  <a:pt x="7023339" y="177429"/>
                  <a:pt x="7056407" y="220561"/>
                </a:cubicBezTo>
                <a:cubicBezTo>
                  <a:pt x="7089475" y="263693"/>
                  <a:pt x="7116792" y="324078"/>
                  <a:pt x="7151298" y="367210"/>
                </a:cubicBezTo>
                <a:cubicBezTo>
                  <a:pt x="7185804" y="410342"/>
                  <a:pt x="7228935" y="470727"/>
                  <a:pt x="7263441" y="479353"/>
                </a:cubicBezTo>
                <a:cubicBezTo>
                  <a:pt x="7297947" y="487979"/>
                  <a:pt x="7326702" y="450598"/>
                  <a:pt x="7358332" y="418968"/>
                </a:cubicBezTo>
                <a:cubicBezTo>
                  <a:pt x="7389962" y="387338"/>
                  <a:pt x="7417279" y="324078"/>
                  <a:pt x="7453222" y="289572"/>
                </a:cubicBezTo>
                <a:cubicBezTo>
                  <a:pt x="7489165" y="255066"/>
                  <a:pt x="7526547" y="211934"/>
                  <a:pt x="7573992" y="211934"/>
                </a:cubicBezTo>
                <a:cubicBezTo>
                  <a:pt x="7621437" y="211934"/>
                  <a:pt x="7693324" y="256504"/>
                  <a:pt x="7737894" y="289572"/>
                </a:cubicBezTo>
                <a:cubicBezTo>
                  <a:pt x="7782464" y="322640"/>
                  <a:pt x="7804030" y="388776"/>
                  <a:pt x="7841411" y="410342"/>
                </a:cubicBezTo>
                <a:cubicBezTo>
                  <a:pt x="7878792" y="431908"/>
                  <a:pt x="7914736" y="436221"/>
                  <a:pt x="7962181" y="418968"/>
                </a:cubicBezTo>
                <a:cubicBezTo>
                  <a:pt x="8009626" y="401715"/>
                  <a:pt x="8084389" y="341331"/>
                  <a:pt x="8126083" y="306825"/>
                </a:cubicBezTo>
                <a:cubicBezTo>
                  <a:pt x="8167777" y="272319"/>
                  <a:pt x="8179279" y="223436"/>
                  <a:pt x="8212347" y="211934"/>
                </a:cubicBezTo>
                <a:cubicBezTo>
                  <a:pt x="8245415" y="200432"/>
                  <a:pt x="8285671" y="211935"/>
                  <a:pt x="8324490" y="237814"/>
                </a:cubicBezTo>
                <a:cubicBezTo>
                  <a:pt x="8363309" y="263693"/>
                  <a:pt x="8413630" y="332704"/>
                  <a:pt x="8445260" y="367210"/>
                </a:cubicBezTo>
                <a:cubicBezTo>
                  <a:pt x="8476890" y="401716"/>
                  <a:pt x="8489831" y="431908"/>
                  <a:pt x="8514272" y="444848"/>
                </a:cubicBezTo>
                <a:cubicBezTo>
                  <a:pt x="8538713" y="457788"/>
                  <a:pt x="8564592" y="459225"/>
                  <a:pt x="8591909" y="444848"/>
                </a:cubicBezTo>
                <a:cubicBezTo>
                  <a:pt x="8619226" y="430470"/>
                  <a:pt x="8650856" y="393089"/>
                  <a:pt x="8678173" y="358583"/>
                </a:cubicBezTo>
                <a:cubicBezTo>
                  <a:pt x="8705490" y="324077"/>
                  <a:pt x="8732807" y="275195"/>
                  <a:pt x="8755811" y="237814"/>
                </a:cubicBezTo>
                <a:cubicBezTo>
                  <a:pt x="8778815" y="200433"/>
                  <a:pt x="8794630" y="157301"/>
                  <a:pt x="8816196" y="134297"/>
                </a:cubicBezTo>
                <a:cubicBezTo>
                  <a:pt x="8837762" y="111293"/>
                  <a:pt x="8859328" y="101229"/>
                  <a:pt x="8885207" y="99791"/>
                </a:cubicBezTo>
                <a:cubicBezTo>
                  <a:pt x="8911086" y="98353"/>
                  <a:pt x="8906774" y="-140311"/>
                  <a:pt x="8971472" y="125670"/>
                </a:cubicBezTo>
                <a:cubicBezTo>
                  <a:pt x="9036170" y="391651"/>
                  <a:pt x="9207260" y="1297425"/>
                  <a:pt x="9273396" y="1695678"/>
                </a:cubicBezTo>
                <a:cubicBezTo>
                  <a:pt x="9339532" y="2093931"/>
                  <a:pt x="9346721" y="2326844"/>
                  <a:pt x="9368287" y="2515187"/>
                </a:cubicBezTo>
                <a:cubicBezTo>
                  <a:pt x="9389853" y="2703530"/>
                  <a:pt x="9385539" y="2723659"/>
                  <a:pt x="9402792" y="2825738"/>
                </a:cubicBezTo>
                <a:cubicBezTo>
                  <a:pt x="9420045" y="2927817"/>
                  <a:pt x="9454551" y="3060089"/>
                  <a:pt x="9471804" y="3127663"/>
                </a:cubicBezTo>
                <a:cubicBezTo>
                  <a:pt x="9489057" y="3195237"/>
                  <a:pt x="9487619" y="3208176"/>
                  <a:pt x="9506309" y="3231180"/>
                </a:cubicBezTo>
                <a:cubicBezTo>
                  <a:pt x="9525000" y="3254184"/>
                  <a:pt x="9555192" y="3272874"/>
                  <a:pt x="9583947" y="3265685"/>
                </a:cubicBezTo>
                <a:cubicBezTo>
                  <a:pt x="9612702" y="3258496"/>
                  <a:pt x="9647208" y="3232618"/>
                  <a:pt x="9678838" y="3188048"/>
                </a:cubicBezTo>
                <a:cubicBezTo>
                  <a:pt x="9710468" y="3143478"/>
                  <a:pt x="9749287" y="3045711"/>
                  <a:pt x="9773728" y="2998266"/>
                </a:cubicBezTo>
                <a:cubicBezTo>
                  <a:pt x="9798169" y="2950821"/>
                  <a:pt x="9802483" y="2920629"/>
                  <a:pt x="9825487" y="2903376"/>
                </a:cubicBezTo>
                <a:cubicBezTo>
                  <a:pt x="9848491" y="2886123"/>
                  <a:pt x="9870057" y="2880373"/>
                  <a:pt x="9911751" y="2894750"/>
                </a:cubicBezTo>
                <a:cubicBezTo>
                  <a:pt x="9953445" y="2909127"/>
                  <a:pt x="10028208" y="2953697"/>
                  <a:pt x="10075653" y="2989640"/>
                </a:cubicBezTo>
                <a:cubicBezTo>
                  <a:pt x="10123098" y="3025583"/>
                  <a:pt x="10161916" y="3087406"/>
                  <a:pt x="10196422" y="3110410"/>
                </a:cubicBezTo>
                <a:cubicBezTo>
                  <a:pt x="10230928" y="3133414"/>
                  <a:pt x="10256808" y="3137727"/>
                  <a:pt x="10282687" y="3127663"/>
                </a:cubicBezTo>
                <a:cubicBezTo>
                  <a:pt x="10308566" y="3117599"/>
                  <a:pt x="10320068" y="3077342"/>
                  <a:pt x="10351698" y="3050025"/>
                </a:cubicBezTo>
                <a:cubicBezTo>
                  <a:pt x="10383328" y="3022708"/>
                  <a:pt x="10436525" y="2983889"/>
                  <a:pt x="10472468" y="2963761"/>
                </a:cubicBezTo>
                <a:cubicBezTo>
                  <a:pt x="10508411" y="2943633"/>
                  <a:pt x="10567358" y="2929255"/>
                  <a:pt x="10567358" y="2929255"/>
                </a:cubicBezTo>
                <a:lnTo>
                  <a:pt x="10567358" y="2929255"/>
                </a:ln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Tree>
    <p:custDataLst>
      <p:tags r:id="rId1"/>
    </p:custDataLst>
    <p:extLst>
      <p:ext uri="{BB962C8B-B14F-4D97-AF65-F5344CB8AC3E}">
        <p14:creationId xmlns:p14="http://schemas.microsoft.com/office/powerpoint/2010/main" val="2359166056"/>
      </p:ext>
    </p:extLst>
  </p:cSld>
  <p:clrMapOvr>
    <a:masterClrMapping/>
  </p:clrMapOvr>
  <mc:AlternateContent xmlns:mc="http://schemas.openxmlformats.org/markup-compatibility/2006" xmlns:p14="http://schemas.microsoft.com/office/powerpoint/2010/main">
    <mc:Choice Requires="p14">
      <p:transition spd="slow" p14:dur="2000" advTm="59646"/>
    </mc:Choice>
    <mc:Fallback xmlns="">
      <p:transition spd="slow" advTm="5964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7" grpId="0" animBg="1"/>
      <p:bldP spid="2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a:bodyPr>
          <a:lstStyle/>
          <a:p>
            <a:r>
              <a:rPr lang="en-GB" dirty="0"/>
              <a:t>Frequency spectrum of  Rectangular waveform</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pSp>
        <p:nvGrpSpPr>
          <p:cNvPr id="4" name="Group 3">
            <a:extLst>
              <a:ext uri="{FF2B5EF4-FFF2-40B4-BE49-F238E27FC236}">
                <a16:creationId xmlns:a16="http://schemas.microsoft.com/office/drawing/2014/main" id="{29F8FB48-C6DE-4F01-AE94-C519460D3506}"/>
              </a:ext>
            </a:extLst>
          </p:cNvPr>
          <p:cNvGrpSpPr>
            <a:grpSpLocks noChangeAspect="1"/>
          </p:cNvGrpSpPr>
          <p:nvPr/>
        </p:nvGrpSpPr>
        <p:grpSpPr bwMode="auto">
          <a:xfrm>
            <a:off x="429715" y="1278824"/>
            <a:ext cx="10735604" cy="3926777"/>
            <a:chOff x="5498" y="2858"/>
            <a:chExt cx="5228" cy="2471"/>
          </a:xfrm>
        </p:grpSpPr>
        <p:cxnSp>
          <p:nvCxnSpPr>
            <p:cNvPr id="5" name="Line 1532">
              <a:extLst>
                <a:ext uri="{FF2B5EF4-FFF2-40B4-BE49-F238E27FC236}">
                  <a16:creationId xmlns:a16="http://schemas.microsoft.com/office/drawing/2014/main" id="{D989A484-442B-4EA2-A988-72B3008A69CA}"/>
                </a:ext>
              </a:extLst>
            </p:cNvPr>
            <p:cNvCxnSpPr>
              <a:cxnSpLocks noChangeAspect="1" noChangeShapeType="1"/>
            </p:cNvCxnSpPr>
            <p:nvPr/>
          </p:nvCxnSpPr>
          <p:spPr bwMode="auto">
            <a:xfrm>
              <a:off x="6578" y="2858"/>
              <a:ext cx="0" cy="1620"/>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6" name="Line 1533">
              <a:extLst>
                <a:ext uri="{FF2B5EF4-FFF2-40B4-BE49-F238E27FC236}">
                  <a16:creationId xmlns:a16="http://schemas.microsoft.com/office/drawing/2014/main" id="{1E3619A0-DF0C-4CF4-B451-35610AE228BF}"/>
                </a:ext>
              </a:extLst>
            </p:cNvPr>
            <p:cNvCxnSpPr>
              <a:cxnSpLocks noChangeAspect="1" noChangeShapeType="1"/>
            </p:cNvCxnSpPr>
            <p:nvPr/>
          </p:nvCxnSpPr>
          <p:spPr bwMode="auto">
            <a:xfrm>
              <a:off x="6578" y="4478"/>
              <a:ext cx="3840"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7" name="Line 1534">
              <a:extLst>
                <a:ext uri="{FF2B5EF4-FFF2-40B4-BE49-F238E27FC236}">
                  <a16:creationId xmlns:a16="http://schemas.microsoft.com/office/drawing/2014/main" id="{CB6D3B3E-26A1-4CB3-A6DF-F3C1B7C9C36F}"/>
                </a:ext>
              </a:extLst>
            </p:cNvPr>
            <p:cNvCxnSpPr>
              <a:cxnSpLocks noChangeAspect="1" noChangeShapeType="1"/>
            </p:cNvCxnSpPr>
            <p:nvPr/>
          </p:nvCxnSpPr>
          <p:spPr bwMode="auto">
            <a:xfrm>
              <a:off x="6578" y="4478"/>
              <a:ext cx="0" cy="91"/>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8" name="Line 1535">
              <a:extLst>
                <a:ext uri="{FF2B5EF4-FFF2-40B4-BE49-F238E27FC236}">
                  <a16:creationId xmlns:a16="http://schemas.microsoft.com/office/drawing/2014/main" id="{24C9787A-BFFE-4267-A5C2-C8BA267482E2}"/>
                </a:ext>
              </a:extLst>
            </p:cNvPr>
            <p:cNvCxnSpPr>
              <a:cxnSpLocks noChangeAspect="1" noChangeShapeType="1"/>
            </p:cNvCxnSpPr>
            <p:nvPr/>
          </p:nvCxnSpPr>
          <p:spPr bwMode="auto">
            <a:xfrm>
              <a:off x="7058" y="4478"/>
              <a:ext cx="0" cy="91"/>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9" name="Line 1536">
              <a:extLst>
                <a:ext uri="{FF2B5EF4-FFF2-40B4-BE49-F238E27FC236}">
                  <a16:creationId xmlns:a16="http://schemas.microsoft.com/office/drawing/2014/main" id="{AEFEBF0C-225E-4A98-B628-1618D0C93B99}"/>
                </a:ext>
              </a:extLst>
            </p:cNvPr>
            <p:cNvCxnSpPr>
              <a:cxnSpLocks noChangeAspect="1" noChangeShapeType="1"/>
            </p:cNvCxnSpPr>
            <p:nvPr/>
          </p:nvCxnSpPr>
          <p:spPr bwMode="auto">
            <a:xfrm>
              <a:off x="7538" y="4478"/>
              <a:ext cx="0" cy="91"/>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0" name="Line 1537">
              <a:extLst>
                <a:ext uri="{FF2B5EF4-FFF2-40B4-BE49-F238E27FC236}">
                  <a16:creationId xmlns:a16="http://schemas.microsoft.com/office/drawing/2014/main" id="{EDA57BEF-412F-4893-8050-71C1773C2ADB}"/>
                </a:ext>
              </a:extLst>
            </p:cNvPr>
            <p:cNvCxnSpPr>
              <a:cxnSpLocks noChangeAspect="1" noChangeShapeType="1"/>
            </p:cNvCxnSpPr>
            <p:nvPr/>
          </p:nvCxnSpPr>
          <p:spPr bwMode="auto">
            <a:xfrm>
              <a:off x="8018" y="4478"/>
              <a:ext cx="0" cy="91"/>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1" name="Line 1538">
              <a:extLst>
                <a:ext uri="{FF2B5EF4-FFF2-40B4-BE49-F238E27FC236}">
                  <a16:creationId xmlns:a16="http://schemas.microsoft.com/office/drawing/2014/main" id="{FF184987-78D5-4201-8B0B-06D86D24187A}"/>
                </a:ext>
              </a:extLst>
            </p:cNvPr>
            <p:cNvCxnSpPr>
              <a:cxnSpLocks noChangeAspect="1" noChangeShapeType="1"/>
            </p:cNvCxnSpPr>
            <p:nvPr/>
          </p:nvCxnSpPr>
          <p:spPr bwMode="auto">
            <a:xfrm>
              <a:off x="8498" y="4478"/>
              <a:ext cx="0" cy="91"/>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2" name="Line 1539">
              <a:extLst>
                <a:ext uri="{FF2B5EF4-FFF2-40B4-BE49-F238E27FC236}">
                  <a16:creationId xmlns:a16="http://schemas.microsoft.com/office/drawing/2014/main" id="{45D236B8-1013-4203-858A-6EFD1676E581}"/>
                </a:ext>
              </a:extLst>
            </p:cNvPr>
            <p:cNvCxnSpPr>
              <a:cxnSpLocks noChangeAspect="1" noChangeShapeType="1"/>
            </p:cNvCxnSpPr>
            <p:nvPr/>
          </p:nvCxnSpPr>
          <p:spPr bwMode="auto">
            <a:xfrm>
              <a:off x="8978" y="4478"/>
              <a:ext cx="0" cy="91"/>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3" name="Line 1540">
              <a:extLst>
                <a:ext uri="{FF2B5EF4-FFF2-40B4-BE49-F238E27FC236}">
                  <a16:creationId xmlns:a16="http://schemas.microsoft.com/office/drawing/2014/main" id="{8BDF6673-6544-4748-947E-2DCA5266DF33}"/>
                </a:ext>
              </a:extLst>
            </p:cNvPr>
            <p:cNvCxnSpPr>
              <a:cxnSpLocks noChangeAspect="1" noChangeShapeType="1"/>
            </p:cNvCxnSpPr>
            <p:nvPr/>
          </p:nvCxnSpPr>
          <p:spPr bwMode="auto">
            <a:xfrm>
              <a:off x="9458" y="4478"/>
              <a:ext cx="0" cy="91"/>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4" name="Line 1541">
              <a:extLst>
                <a:ext uri="{FF2B5EF4-FFF2-40B4-BE49-F238E27FC236}">
                  <a16:creationId xmlns:a16="http://schemas.microsoft.com/office/drawing/2014/main" id="{105C35E4-38BD-41FD-ADFE-7CF7C8E7AD54}"/>
                </a:ext>
              </a:extLst>
            </p:cNvPr>
            <p:cNvCxnSpPr>
              <a:cxnSpLocks noChangeAspect="1" noChangeShapeType="1"/>
            </p:cNvCxnSpPr>
            <p:nvPr/>
          </p:nvCxnSpPr>
          <p:spPr bwMode="auto">
            <a:xfrm>
              <a:off x="9938" y="4478"/>
              <a:ext cx="0" cy="91"/>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15" name="Text Box 1542">
              <a:extLst>
                <a:ext uri="{FF2B5EF4-FFF2-40B4-BE49-F238E27FC236}">
                  <a16:creationId xmlns:a16="http://schemas.microsoft.com/office/drawing/2014/main" id="{F932BCE8-7F45-45FD-B6C3-2310D336239C}"/>
                </a:ext>
              </a:extLst>
            </p:cNvPr>
            <p:cNvSpPr txBox="1">
              <a:spLocks noChangeAspect="1" noChangeArrowheads="1"/>
            </p:cNvSpPr>
            <p:nvPr/>
          </p:nvSpPr>
          <p:spPr bwMode="auto">
            <a:xfrm>
              <a:off x="5498" y="2870"/>
              <a:ext cx="1320" cy="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600" dirty="0">
                  <a:solidFill>
                    <a:srgbClr val="002060"/>
                  </a:solidFill>
                  <a:effectLst/>
                  <a:latin typeface="Times New Roman" panose="02020603050405020304" pitchFamily="18" charset="0"/>
                  <a:ea typeface="Times New Roman" panose="02020603050405020304" pitchFamily="18" charset="0"/>
                </a:rPr>
                <a:t>Amplitude</a:t>
              </a:r>
              <a:endParaRPr lang="en-GB" sz="1400" dirty="0">
                <a:effectLst/>
                <a:latin typeface="Times New Roman" panose="02020603050405020304" pitchFamily="18" charset="0"/>
                <a:ea typeface="Times New Roman" panose="02020603050405020304" pitchFamily="18" charset="0"/>
              </a:endParaRPr>
            </a:p>
          </p:txBody>
        </p:sp>
        <p:sp>
          <p:nvSpPr>
            <p:cNvPr id="16" name="Text Box 1543">
              <a:extLst>
                <a:ext uri="{FF2B5EF4-FFF2-40B4-BE49-F238E27FC236}">
                  <a16:creationId xmlns:a16="http://schemas.microsoft.com/office/drawing/2014/main" id="{CED03E32-CEF2-4249-929A-3277ADC9D87E}"/>
                </a:ext>
              </a:extLst>
            </p:cNvPr>
            <p:cNvSpPr txBox="1">
              <a:spLocks noChangeAspect="1" noChangeArrowheads="1"/>
            </p:cNvSpPr>
            <p:nvPr/>
          </p:nvSpPr>
          <p:spPr bwMode="auto">
            <a:xfrm>
              <a:off x="6533" y="4343"/>
              <a:ext cx="4193" cy="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200" dirty="0">
                  <a:solidFill>
                    <a:srgbClr val="002060"/>
                  </a:solidFill>
                  <a:effectLst/>
                  <a:latin typeface="Times New Roman" panose="02020603050405020304" pitchFamily="18" charset="0"/>
                  <a:ea typeface="Times New Roman" panose="02020603050405020304" pitchFamily="18" charset="0"/>
                </a:rPr>
                <a:t>0       </a:t>
              </a:r>
              <a:r>
                <a:rPr lang="en-GB" sz="3200" dirty="0">
                  <a:solidFill>
                    <a:srgbClr val="002060"/>
                  </a:solidFill>
                  <a:effectLst/>
                  <a:latin typeface="Symbol" panose="05050102010706020507" pitchFamily="18" charset="2"/>
                  <a:ea typeface="Times New Roman" panose="02020603050405020304" pitchFamily="18" charset="0"/>
                </a:rPr>
                <a:t>w</a:t>
              </a:r>
              <a:r>
                <a:rPr lang="en-GB" sz="3200" baseline="-25000" dirty="0">
                  <a:solidFill>
                    <a:srgbClr val="002060"/>
                  </a:solidFill>
                  <a:effectLst/>
                  <a:latin typeface="Times New Roman" panose="02020603050405020304" pitchFamily="18" charset="0"/>
                  <a:ea typeface="Times New Roman" panose="02020603050405020304" pitchFamily="18" charset="0"/>
                </a:rPr>
                <a:t>o</a:t>
              </a:r>
              <a:r>
                <a:rPr lang="en-GB" sz="3200" dirty="0">
                  <a:solidFill>
                    <a:srgbClr val="002060"/>
                  </a:solidFill>
                  <a:effectLst/>
                  <a:latin typeface="Times New Roman" panose="02020603050405020304" pitchFamily="18" charset="0"/>
                  <a:ea typeface="Times New Roman" panose="02020603050405020304" pitchFamily="18" charset="0"/>
                </a:rPr>
                <a:t> </a:t>
              </a:r>
              <a:r>
                <a:rPr lang="en-GB" sz="6000" dirty="0">
                  <a:solidFill>
                    <a:srgbClr val="002060"/>
                  </a:solidFill>
                  <a:effectLst/>
                  <a:latin typeface="Times New Roman" panose="02020603050405020304" pitchFamily="18" charset="0"/>
                  <a:ea typeface="Times New Roman" panose="02020603050405020304" pitchFamily="18" charset="0"/>
                </a:rPr>
                <a:t> </a:t>
              </a:r>
              <a:r>
                <a:rPr lang="en-GB" sz="3200" dirty="0">
                  <a:solidFill>
                    <a:srgbClr val="002060"/>
                  </a:solidFill>
                  <a:effectLst/>
                  <a:latin typeface="Times New Roman" panose="02020603050405020304" pitchFamily="18" charset="0"/>
                  <a:ea typeface="Times New Roman" panose="02020603050405020304" pitchFamily="18" charset="0"/>
                </a:rPr>
                <a:t>  2</a:t>
              </a:r>
              <a:r>
                <a:rPr lang="en-GB" sz="3200" dirty="0">
                  <a:solidFill>
                    <a:srgbClr val="002060"/>
                  </a:solidFill>
                  <a:effectLst/>
                  <a:latin typeface="Symbol" panose="05050102010706020507" pitchFamily="18" charset="2"/>
                  <a:ea typeface="Times New Roman" panose="02020603050405020304" pitchFamily="18" charset="0"/>
                </a:rPr>
                <a:t>w</a:t>
              </a:r>
              <a:r>
                <a:rPr lang="en-GB" sz="3200" baseline="-25000" dirty="0">
                  <a:solidFill>
                    <a:srgbClr val="002060"/>
                  </a:solidFill>
                  <a:effectLst/>
                  <a:latin typeface="Times New Roman" panose="02020603050405020304" pitchFamily="18" charset="0"/>
                  <a:ea typeface="Times New Roman" panose="02020603050405020304" pitchFamily="18" charset="0"/>
                </a:rPr>
                <a:t>o</a:t>
              </a:r>
              <a:r>
                <a:rPr lang="en-GB" sz="3200" dirty="0">
                  <a:solidFill>
                    <a:srgbClr val="002060"/>
                  </a:solidFill>
                  <a:effectLst/>
                  <a:latin typeface="Times New Roman" panose="02020603050405020304" pitchFamily="18" charset="0"/>
                  <a:ea typeface="Times New Roman" panose="02020603050405020304" pitchFamily="18" charset="0"/>
                </a:rPr>
                <a:t>    3</a:t>
              </a:r>
              <a:r>
                <a:rPr lang="en-GB" sz="3200" dirty="0">
                  <a:solidFill>
                    <a:srgbClr val="002060"/>
                  </a:solidFill>
                  <a:effectLst/>
                  <a:latin typeface="Symbol" panose="05050102010706020507" pitchFamily="18" charset="2"/>
                  <a:ea typeface="Times New Roman" panose="02020603050405020304" pitchFamily="18" charset="0"/>
                </a:rPr>
                <a:t>w</a:t>
              </a:r>
              <a:r>
                <a:rPr lang="en-GB" sz="3200" baseline="-25000" dirty="0">
                  <a:solidFill>
                    <a:srgbClr val="002060"/>
                  </a:solidFill>
                  <a:effectLst/>
                  <a:latin typeface="Times New Roman" panose="02020603050405020304" pitchFamily="18" charset="0"/>
                  <a:ea typeface="Times New Roman" panose="02020603050405020304" pitchFamily="18" charset="0"/>
                </a:rPr>
                <a:t>o</a:t>
              </a:r>
              <a:r>
                <a:rPr lang="en-GB" sz="3200" dirty="0">
                  <a:solidFill>
                    <a:srgbClr val="002060"/>
                  </a:solidFill>
                  <a:effectLst/>
                  <a:latin typeface="Times New Roman" panose="02020603050405020304" pitchFamily="18" charset="0"/>
                  <a:ea typeface="Times New Roman" panose="02020603050405020304" pitchFamily="18" charset="0"/>
                </a:rPr>
                <a:t>   4</a:t>
              </a:r>
              <a:r>
                <a:rPr lang="en-GB" sz="3200" dirty="0">
                  <a:solidFill>
                    <a:srgbClr val="002060"/>
                  </a:solidFill>
                  <a:effectLst/>
                  <a:latin typeface="Symbol" panose="05050102010706020507" pitchFamily="18" charset="2"/>
                  <a:ea typeface="Times New Roman" panose="02020603050405020304" pitchFamily="18" charset="0"/>
                </a:rPr>
                <a:t>w</a:t>
              </a:r>
              <a:r>
                <a:rPr lang="en-GB" sz="3200" baseline="-25000" dirty="0">
                  <a:solidFill>
                    <a:srgbClr val="002060"/>
                  </a:solidFill>
                  <a:effectLst/>
                  <a:latin typeface="Times New Roman" panose="02020603050405020304" pitchFamily="18" charset="0"/>
                  <a:ea typeface="Times New Roman" panose="02020603050405020304" pitchFamily="18" charset="0"/>
                </a:rPr>
                <a:t>o</a:t>
              </a:r>
              <a:r>
                <a:rPr lang="en-GB" sz="3200" dirty="0">
                  <a:solidFill>
                    <a:srgbClr val="002060"/>
                  </a:solidFill>
                  <a:effectLst/>
                  <a:latin typeface="Times New Roman" panose="02020603050405020304" pitchFamily="18" charset="0"/>
                  <a:ea typeface="Times New Roman" panose="02020603050405020304" pitchFamily="18" charset="0"/>
                </a:rPr>
                <a:t>    5</a:t>
              </a:r>
              <a:r>
                <a:rPr lang="en-GB" sz="3200" dirty="0">
                  <a:solidFill>
                    <a:srgbClr val="002060"/>
                  </a:solidFill>
                  <a:effectLst/>
                  <a:latin typeface="Symbol" panose="05050102010706020507" pitchFamily="18" charset="2"/>
                  <a:ea typeface="Times New Roman" panose="02020603050405020304" pitchFamily="18" charset="0"/>
                </a:rPr>
                <a:t>w</a:t>
              </a:r>
              <a:r>
                <a:rPr lang="en-GB" sz="3200" baseline="-25000" dirty="0">
                  <a:solidFill>
                    <a:srgbClr val="002060"/>
                  </a:solidFill>
                  <a:effectLst/>
                  <a:latin typeface="Times New Roman" panose="02020603050405020304" pitchFamily="18" charset="0"/>
                  <a:ea typeface="Times New Roman" panose="02020603050405020304" pitchFamily="18" charset="0"/>
                </a:rPr>
                <a:t>o</a:t>
              </a:r>
              <a:r>
                <a:rPr lang="en-GB" sz="3200" dirty="0">
                  <a:solidFill>
                    <a:srgbClr val="002060"/>
                  </a:solidFill>
                  <a:effectLst/>
                  <a:latin typeface="Times New Roman" panose="02020603050405020304" pitchFamily="18" charset="0"/>
                  <a:ea typeface="Times New Roman" panose="02020603050405020304" pitchFamily="18" charset="0"/>
                </a:rPr>
                <a:t>    6</a:t>
              </a:r>
              <a:r>
                <a:rPr lang="en-GB" sz="3200" dirty="0">
                  <a:solidFill>
                    <a:srgbClr val="002060"/>
                  </a:solidFill>
                  <a:effectLst/>
                  <a:latin typeface="Symbol" panose="05050102010706020507" pitchFamily="18" charset="2"/>
                  <a:ea typeface="Times New Roman" panose="02020603050405020304" pitchFamily="18" charset="0"/>
                </a:rPr>
                <a:t>w</a:t>
              </a:r>
              <a:r>
                <a:rPr lang="en-GB" sz="3200" baseline="-25000" dirty="0">
                  <a:solidFill>
                    <a:srgbClr val="002060"/>
                  </a:solidFill>
                  <a:effectLst/>
                  <a:latin typeface="Times New Roman" panose="02020603050405020304" pitchFamily="18" charset="0"/>
                  <a:ea typeface="Times New Roman" panose="02020603050405020304" pitchFamily="18" charset="0"/>
                </a:rPr>
                <a:t>o</a:t>
              </a:r>
              <a:r>
                <a:rPr lang="en-GB" sz="3200" dirty="0">
                  <a:solidFill>
                    <a:srgbClr val="002060"/>
                  </a:solidFill>
                  <a:effectLst/>
                  <a:latin typeface="Times New Roman" panose="02020603050405020304" pitchFamily="18" charset="0"/>
                  <a:ea typeface="Times New Roman" panose="02020603050405020304" pitchFamily="18" charset="0"/>
                </a:rPr>
                <a:t>   7</a:t>
              </a:r>
              <a:r>
                <a:rPr lang="en-GB" sz="3200" dirty="0">
                  <a:solidFill>
                    <a:srgbClr val="002060"/>
                  </a:solidFill>
                  <a:effectLst/>
                  <a:latin typeface="Symbol" panose="05050102010706020507" pitchFamily="18" charset="2"/>
                  <a:ea typeface="Times New Roman" panose="02020603050405020304" pitchFamily="18" charset="0"/>
                </a:rPr>
                <a:t>w</a:t>
              </a:r>
              <a:r>
                <a:rPr lang="en-GB" sz="3200" baseline="-25000" dirty="0">
                  <a:solidFill>
                    <a:srgbClr val="002060"/>
                  </a:solidFill>
                  <a:effectLst/>
                  <a:latin typeface="Times New Roman" panose="02020603050405020304" pitchFamily="18" charset="0"/>
                  <a:ea typeface="Times New Roman" panose="02020603050405020304" pitchFamily="18" charset="0"/>
                </a:rPr>
                <a:t>o</a:t>
              </a:r>
              <a:r>
                <a:rPr lang="en-GB" sz="3200" dirty="0">
                  <a:solidFill>
                    <a:srgbClr val="002060"/>
                  </a:solidFill>
                  <a:effectLst/>
                  <a:latin typeface="Times New Roman" panose="02020603050405020304" pitchFamily="18" charset="0"/>
                  <a:ea typeface="Times New Roman" panose="02020603050405020304" pitchFamily="18" charset="0"/>
                </a:rPr>
                <a:t>    </a:t>
              </a:r>
              <a:r>
                <a:rPr lang="en-GB" sz="4400" dirty="0">
                  <a:solidFill>
                    <a:srgbClr val="002060"/>
                  </a:solidFill>
                  <a:effectLst/>
                  <a:latin typeface="Times New Roman" panose="02020603050405020304" pitchFamily="18" charset="0"/>
                  <a:ea typeface="Times New Roman" panose="02020603050405020304" pitchFamily="18" charset="0"/>
                </a:rPr>
                <a:t>t</a:t>
              </a:r>
              <a:endParaRPr lang="en-GB" sz="1600" dirty="0">
                <a:effectLst/>
                <a:latin typeface="Times New Roman" panose="02020603050405020304" pitchFamily="18" charset="0"/>
                <a:ea typeface="Times New Roman" panose="02020603050405020304" pitchFamily="18" charset="0"/>
              </a:endParaRPr>
            </a:p>
          </p:txBody>
        </p:sp>
        <p:cxnSp>
          <p:nvCxnSpPr>
            <p:cNvPr id="17" name="Line 1544">
              <a:extLst>
                <a:ext uri="{FF2B5EF4-FFF2-40B4-BE49-F238E27FC236}">
                  <a16:creationId xmlns:a16="http://schemas.microsoft.com/office/drawing/2014/main" id="{42188657-D6F0-4F6F-A6EF-D46F93F90DDB}"/>
                </a:ext>
              </a:extLst>
            </p:cNvPr>
            <p:cNvCxnSpPr>
              <a:cxnSpLocks noChangeAspect="1" noChangeShapeType="1"/>
            </p:cNvCxnSpPr>
            <p:nvPr/>
          </p:nvCxnSpPr>
          <p:spPr bwMode="auto">
            <a:xfrm flipV="1">
              <a:off x="7058" y="3038"/>
              <a:ext cx="0" cy="144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18" name="Line 1545">
              <a:extLst>
                <a:ext uri="{FF2B5EF4-FFF2-40B4-BE49-F238E27FC236}">
                  <a16:creationId xmlns:a16="http://schemas.microsoft.com/office/drawing/2014/main" id="{C22A8BDC-27A3-490E-B814-FDB2045658AF}"/>
                </a:ext>
              </a:extLst>
            </p:cNvPr>
            <p:cNvCxnSpPr>
              <a:cxnSpLocks noChangeAspect="1" noChangeShapeType="1"/>
            </p:cNvCxnSpPr>
            <p:nvPr/>
          </p:nvCxnSpPr>
          <p:spPr bwMode="auto">
            <a:xfrm flipV="1">
              <a:off x="8018" y="4002"/>
              <a:ext cx="0" cy="476"/>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19" name="Line 1546">
              <a:extLst>
                <a:ext uri="{FF2B5EF4-FFF2-40B4-BE49-F238E27FC236}">
                  <a16:creationId xmlns:a16="http://schemas.microsoft.com/office/drawing/2014/main" id="{3800C69F-0611-4B2A-85E3-DA4F7D4E1F82}"/>
                </a:ext>
              </a:extLst>
            </p:cNvPr>
            <p:cNvCxnSpPr>
              <a:cxnSpLocks noChangeAspect="1" noChangeShapeType="1"/>
            </p:cNvCxnSpPr>
            <p:nvPr/>
          </p:nvCxnSpPr>
          <p:spPr bwMode="auto">
            <a:xfrm flipV="1">
              <a:off x="8978" y="4189"/>
              <a:ext cx="0" cy="289"/>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0" name="Line 1547">
              <a:extLst>
                <a:ext uri="{FF2B5EF4-FFF2-40B4-BE49-F238E27FC236}">
                  <a16:creationId xmlns:a16="http://schemas.microsoft.com/office/drawing/2014/main" id="{4C374060-AFF9-4379-9C50-97466DBB6A85}"/>
                </a:ext>
              </a:extLst>
            </p:cNvPr>
            <p:cNvCxnSpPr>
              <a:cxnSpLocks noChangeAspect="1" noChangeShapeType="1"/>
            </p:cNvCxnSpPr>
            <p:nvPr/>
          </p:nvCxnSpPr>
          <p:spPr bwMode="auto">
            <a:xfrm flipV="1">
              <a:off x="9938" y="4274"/>
              <a:ext cx="0" cy="204"/>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sp>
          <p:nvSpPr>
            <p:cNvPr id="21" name="Text Box 1548">
              <a:extLst>
                <a:ext uri="{FF2B5EF4-FFF2-40B4-BE49-F238E27FC236}">
                  <a16:creationId xmlns:a16="http://schemas.microsoft.com/office/drawing/2014/main" id="{2D2AFF43-F67B-4E52-A2F2-5A7A9C0CFFD3}"/>
                </a:ext>
              </a:extLst>
            </p:cNvPr>
            <p:cNvSpPr txBox="1">
              <a:spLocks noChangeAspect="1" noChangeArrowheads="1"/>
            </p:cNvSpPr>
            <p:nvPr/>
          </p:nvSpPr>
          <p:spPr bwMode="auto">
            <a:xfrm>
              <a:off x="7175" y="4959"/>
              <a:ext cx="2909"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600" dirty="0">
                  <a:solidFill>
                    <a:srgbClr val="002060"/>
                  </a:solidFill>
                  <a:effectLst/>
                  <a:latin typeface="Times New Roman" panose="02020603050405020304" pitchFamily="18" charset="0"/>
                  <a:ea typeface="Times New Roman" panose="02020603050405020304" pitchFamily="18" charset="0"/>
                </a:rPr>
                <a:t>Figure 12 – Line Spectrum</a:t>
              </a:r>
              <a:endParaRPr lang="en-GB" sz="1400" dirty="0">
                <a:effectLst/>
                <a:latin typeface="Times New Roman" panose="02020603050405020304" pitchFamily="18" charset="0"/>
                <a:ea typeface="Times New Roman" panose="02020603050405020304" pitchFamily="18" charset="0"/>
              </a:endParaRPr>
            </a:p>
          </p:txBody>
        </p:sp>
      </p:grpSp>
      <p:sp>
        <p:nvSpPr>
          <p:cNvPr id="3" name="Rectangle 2">
            <a:extLst>
              <a:ext uri="{FF2B5EF4-FFF2-40B4-BE49-F238E27FC236}">
                <a16:creationId xmlns:a16="http://schemas.microsoft.com/office/drawing/2014/main" id="{45327F9D-7FF5-46F1-ACE5-43AA70C4B456}"/>
              </a:ext>
            </a:extLst>
          </p:cNvPr>
          <p:cNvSpPr/>
          <p:nvPr/>
        </p:nvSpPr>
        <p:spPr>
          <a:xfrm>
            <a:off x="429715" y="5182098"/>
            <a:ext cx="9117460" cy="1569660"/>
          </a:xfrm>
          <a:prstGeom prst="rect">
            <a:avLst/>
          </a:prstGeom>
        </p:spPr>
        <p:txBody>
          <a:bodyPr wrap="square">
            <a:spAutoFit/>
          </a:bodyPr>
          <a:lstStyle/>
          <a:p>
            <a:r>
              <a:rPr lang="en-GB" sz="3200" dirty="0">
                <a:solidFill>
                  <a:srgbClr val="002060"/>
                </a:solidFill>
                <a:latin typeface="Times New Roman" panose="02020603050405020304" pitchFamily="18" charset="0"/>
                <a:ea typeface="Times New Roman" panose="02020603050405020304" pitchFamily="18" charset="0"/>
              </a:rPr>
              <a:t>Now consider what will happen to the spectrum if the rectangular waveform is shifted vertically and/or horizontally</a:t>
            </a:r>
            <a:endParaRPr lang="en-GB" sz="3200" dirty="0"/>
          </a:p>
        </p:txBody>
      </p:sp>
    </p:spTree>
    <p:extLst>
      <p:ext uri="{BB962C8B-B14F-4D97-AF65-F5344CB8AC3E}">
        <p14:creationId xmlns:p14="http://schemas.microsoft.com/office/powerpoint/2010/main" val="3237599889"/>
      </p:ext>
    </p:extLst>
  </p:cSld>
  <p:clrMapOvr>
    <a:masterClrMapping/>
  </p:clrMapOvr>
  <mc:AlternateContent xmlns:mc="http://schemas.openxmlformats.org/markup-compatibility/2006" xmlns:p14="http://schemas.microsoft.com/office/powerpoint/2010/main">
    <mc:Choice Requires="p14">
      <p:transition spd="slow" p14:dur="2000" advTm="42652"/>
    </mc:Choice>
    <mc:Fallback xmlns="">
      <p:transition spd="slow" advTm="42652"/>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6" y="514228"/>
            <a:ext cx="5718846" cy="453093"/>
          </a:xfrm>
        </p:spPr>
        <p:txBody>
          <a:bodyPr>
            <a:normAutofit fontScale="90000"/>
          </a:bodyPr>
          <a:lstStyle/>
          <a:p>
            <a:pPr algn="l"/>
            <a:r>
              <a:rPr lang="en-GB" dirty="0"/>
              <a:t>Example 2</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4" name="Rectangle 3">
            <a:extLst>
              <a:ext uri="{FF2B5EF4-FFF2-40B4-BE49-F238E27FC236}">
                <a16:creationId xmlns:a16="http://schemas.microsoft.com/office/drawing/2014/main" id="{0B0CDD0A-D294-4FF1-BCE9-F1B69C3829EC}"/>
              </a:ext>
            </a:extLst>
          </p:cNvPr>
          <p:cNvSpPr/>
          <p:nvPr/>
        </p:nvSpPr>
        <p:spPr>
          <a:xfrm>
            <a:off x="429715" y="3357673"/>
            <a:ext cx="11264980" cy="3323987"/>
          </a:xfrm>
          <a:prstGeom prst="rect">
            <a:avLst/>
          </a:prstGeom>
        </p:spPr>
        <p:txBody>
          <a:bodyPr wrap="square">
            <a:spAutoFit/>
          </a:bodyPr>
          <a:lstStyle/>
          <a:p>
            <a:r>
              <a:rPr lang="en-US" sz="3000" dirty="0">
                <a:solidFill>
                  <a:srgbClr val="002060"/>
                </a:solidFill>
                <a:latin typeface="Times New Roman" panose="02020603050405020304" pitchFamily="18" charset="0"/>
                <a:cs typeface="Times New Roman" panose="02020603050405020304" pitchFamily="18" charset="0"/>
              </a:rPr>
              <a:t>Find the Fourier series of the waveform shown  in figure 13.</a:t>
            </a:r>
          </a:p>
          <a:p>
            <a:r>
              <a:rPr lang="en-US" sz="3000" b="1" i="1" dirty="0">
                <a:solidFill>
                  <a:srgbClr val="002060"/>
                </a:solidFill>
                <a:latin typeface="Times New Roman" panose="02020603050405020304" pitchFamily="18" charset="0"/>
                <a:cs typeface="Times New Roman" panose="02020603050405020304" pitchFamily="18" charset="0"/>
              </a:rPr>
              <a:t>Solution</a:t>
            </a:r>
          </a:p>
          <a:p>
            <a:r>
              <a:rPr lang="en-US" sz="3000" dirty="0">
                <a:solidFill>
                  <a:srgbClr val="002060"/>
                </a:solidFill>
                <a:latin typeface="Times New Roman" panose="02020603050405020304" pitchFamily="18" charset="0"/>
                <a:cs typeface="Times New Roman" panose="02020603050405020304" pitchFamily="18" charset="0"/>
              </a:rPr>
              <a:t>Waveform does not have any symmetrical properties, although it is virtually same waveform as in example 1. </a:t>
            </a:r>
          </a:p>
          <a:p>
            <a:r>
              <a:rPr lang="en-US" sz="3000" dirty="0">
                <a:solidFill>
                  <a:srgbClr val="002060"/>
                </a:solidFill>
                <a:latin typeface="Times New Roman" panose="02020603050405020304" pitchFamily="18" charset="0"/>
                <a:cs typeface="Times New Roman" panose="02020603050405020304" pitchFamily="18" charset="0"/>
              </a:rPr>
              <a:t>Period = 2T,  mean value = E/2</a:t>
            </a:r>
          </a:p>
          <a:p>
            <a:r>
              <a:rPr lang="en-US" sz="3000" dirty="0">
                <a:solidFill>
                  <a:srgbClr val="002060"/>
                </a:solidFill>
                <a:latin typeface="Times New Roman" panose="02020603050405020304" pitchFamily="18" charset="0"/>
                <a:cs typeface="Times New Roman" panose="02020603050405020304" pitchFamily="18" charset="0"/>
              </a:rPr>
              <a:t>If E/2 is subtracted from the waveform b(t), </a:t>
            </a:r>
          </a:p>
          <a:p>
            <a:r>
              <a:rPr lang="en-US" sz="3000" dirty="0">
                <a:solidFill>
                  <a:srgbClr val="002060"/>
                </a:solidFill>
                <a:latin typeface="Times New Roman" panose="02020603050405020304" pitchFamily="18" charset="0"/>
                <a:cs typeface="Times New Roman" panose="02020603050405020304" pitchFamily="18" charset="0"/>
              </a:rPr>
              <a:t>half wave symmetry is observed.</a:t>
            </a:r>
          </a:p>
        </p:txBody>
      </p:sp>
      <p:grpSp>
        <p:nvGrpSpPr>
          <p:cNvPr id="6" name="Group 5">
            <a:extLst>
              <a:ext uri="{FF2B5EF4-FFF2-40B4-BE49-F238E27FC236}">
                <a16:creationId xmlns:a16="http://schemas.microsoft.com/office/drawing/2014/main" id="{EBE1CD9E-E617-41E2-92EB-C2C16F9E7CE9}"/>
              </a:ext>
            </a:extLst>
          </p:cNvPr>
          <p:cNvGrpSpPr>
            <a:grpSpLocks noChangeAspect="1"/>
          </p:cNvGrpSpPr>
          <p:nvPr/>
        </p:nvGrpSpPr>
        <p:grpSpPr bwMode="auto">
          <a:xfrm>
            <a:off x="1010655" y="468761"/>
            <a:ext cx="7483642" cy="2861310"/>
            <a:chOff x="7658" y="1478"/>
            <a:chExt cx="3360" cy="1800"/>
          </a:xfrm>
        </p:grpSpPr>
        <p:cxnSp>
          <p:nvCxnSpPr>
            <p:cNvPr id="7" name="Line 416">
              <a:extLst>
                <a:ext uri="{FF2B5EF4-FFF2-40B4-BE49-F238E27FC236}">
                  <a16:creationId xmlns:a16="http://schemas.microsoft.com/office/drawing/2014/main" id="{0FD909F1-4B43-4399-AD63-E3BE061ADF6E}"/>
                </a:ext>
              </a:extLst>
            </p:cNvPr>
            <p:cNvCxnSpPr>
              <a:cxnSpLocks noChangeAspect="1" noChangeShapeType="1"/>
            </p:cNvCxnSpPr>
            <p:nvPr/>
          </p:nvCxnSpPr>
          <p:spPr bwMode="auto">
            <a:xfrm>
              <a:off x="9218" y="1658"/>
              <a:ext cx="0" cy="1620"/>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8" name="Line 417">
              <a:extLst>
                <a:ext uri="{FF2B5EF4-FFF2-40B4-BE49-F238E27FC236}">
                  <a16:creationId xmlns:a16="http://schemas.microsoft.com/office/drawing/2014/main" id="{6FC3D793-1774-41DC-8E14-CD6A32C417A5}"/>
                </a:ext>
              </a:extLst>
            </p:cNvPr>
            <p:cNvCxnSpPr>
              <a:cxnSpLocks noChangeAspect="1" noChangeShapeType="1"/>
            </p:cNvCxnSpPr>
            <p:nvPr/>
          </p:nvCxnSpPr>
          <p:spPr bwMode="auto">
            <a:xfrm>
              <a:off x="7658" y="2678"/>
              <a:ext cx="3240"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grpSp>
          <p:nvGrpSpPr>
            <p:cNvPr id="9" name="Group 8">
              <a:extLst>
                <a:ext uri="{FF2B5EF4-FFF2-40B4-BE49-F238E27FC236}">
                  <a16:creationId xmlns:a16="http://schemas.microsoft.com/office/drawing/2014/main" id="{A25CF05D-4679-4469-BE32-2220B14309E5}"/>
                </a:ext>
              </a:extLst>
            </p:cNvPr>
            <p:cNvGrpSpPr>
              <a:grpSpLocks noChangeAspect="1"/>
            </p:cNvGrpSpPr>
            <p:nvPr/>
          </p:nvGrpSpPr>
          <p:grpSpPr bwMode="auto">
            <a:xfrm>
              <a:off x="7778" y="1958"/>
              <a:ext cx="3000" cy="1080"/>
              <a:chOff x="7538" y="1778"/>
              <a:chExt cx="3000" cy="1080"/>
            </a:xfrm>
          </p:grpSpPr>
          <p:cxnSp>
            <p:nvCxnSpPr>
              <p:cNvPr id="19" name="Line 419">
                <a:extLst>
                  <a:ext uri="{FF2B5EF4-FFF2-40B4-BE49-F238E27FC236}">
                    <a16:creationId xmlns:a16="http://schemas.microsoft.com/office/drawing/2014/main" id="{C38CCD8E-6616-41A7-BD20-A7459A09CA3B}"/>
                  </a:ext>
                </a:extLst>
              </p:cNvPr>
              <p:cNvCxnSpPr>
                <a:cxnSpLocks noChangeAspect="1" noChangeShapeType="1"/>
              </p:cNvCxnSpPr>
              <p:nvPr/>
            </p:nvCxnSpPr>
            <p:spPr bwMode="auto">
              <a:xfrm>
                <a:off x="8738" y="1778"/>
                <a:ext cx="72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0" name="Line 420">
                <a:extLst>
                  <a:ext uri="{FF2B5EF4-FFF2-40B4-BE49-F238E27FC236}">
                    <a16:creationId xmlns:a16="http://schemas.microsoft.com/office/drawing/2014/main" id="{C4C4A47F-C0BA-47CE-BF3F-7118D8089F88}"/>
                  </a:ext>
                </a:extLst>
              </p:cNvPr>
              <p:cNvCxnSpPr>
                <a:cxnSpLocks noChangeAspect="1" noChangeShapeType="1"/>
              </p:cNvCxnSpPr>
              <p:nvPr/>
            </p:nvCxnSpPr>
            <p:spPr bwMode="auto">
              <a:xfrm>
                <a:off x="9458" y="177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1" name="Line 421">
                <a:extLst>
                  <a:ext uri="{FF2B5EF4-FFF2-40B4-BE49-F238E27FC236}">
                    <a16:creationId xmlns:a16="http://schemas.microsoft.com/office/drawing/2014/main" id="{DDDA418E-C612-43A7-BD6F-B8E4B1088F60}"/>
                  </a:ext>
                </a:extLst>
              </p:cNvPr>
              <p:cNvCxnSpPr>
                <a:cxnSpLocks noChangeAspect="1" noChangeShapeType="1"/>
              </p:cNvCxnSpPr>
              <p:nvPr/>
            </p:nvCxnSpPr>
            <p:spPr bwMode="auto">
              <a:xfrm>
                <a:off x="9458" y="2858"/>
                <a:ext cx="72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2" name="Line 422">
                <a:extLst>
                  <a:ext uri="{FF2B5EF4-FFF2-40B4-BE49-F238E27FC236}">
                    <a16:creationId xmlns:a16="http://schemas.microsoft.com/office/drawing/2014/main" id="{E2ED9DCB-6880-4B33-B573-89DB1E47560E}"/>
                  </a:ext>
                </a:extLst>
              </p:cNvPr>
              <p:cNvCxnSpPr>
                <a:cxnSpLocks noChangeAspect="1" noChangeShapeType="1"/>
              </p:cNvCxnSpPr>
              <p:nvPr/>
            </p:nvCxnSpPr>
            <p:spPr bwMode="auto">
              <a:xfrm>
                <a:off x="10178" y="177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3" name="Line 423">
                <a:extLst>
                  <a:ext uri="{FF2B5EF4-FFF2-40B4-BE49-F238E27FC236}">
                    <a16:creationId xmlns:a16="http://schemas.microsoft.com/office/drawing/2014/main" id="{7E960516-8EA7-46D0-9A96-6C2E5469B562}"/>
                  </a:ext>
                </a:extLst>
              </p:cNvPr>
              <p:cNvCxnSpPr>
                <a:cxnSpLocks noChangeAspect="1" noChangeShapeType="1"/>
              </p:cNvCxnSpPr>
              <p:nvPr/>
            </p:nvCxnSpPr>
            <p:spPr bwMode="auto">
              <a:xfrm>
                <a:off x="10178" y="1778"/>
                <a:ext cx="36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4" name="Line 424">
                <a:extLst>
                  <a:ext uri="{FF2B5EF4-FFF2-40B4-BE49-F238E27FC236}">
                    <a16:creationId xmlns:a16="http://schemas.microsoft.com/office/drawing/2014/main" id="{4DE5CBFD-F892-4F69-8004-C1A0B2294BEA}"/>
                  </a:ext>
                </a:extLst>
              </p:cNvPr>
              <p:cNvCxnSpPr>
                <a:cxnSpLocks noChangeAspect="1" noChangeShapeType="1"/>
              </p:cNvCxnSpPr>
              <p:nvPr/>
            </p:nvCxnSpPr>
            <p:spPr bwMode="auto">
              <a:xfrm>
                <a:off x="7538" y="1778"/>
                <a:ext cx="48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5" name="Line 425">
                <a:extLst>
                  <a:ext uri="{FF2B5EF4-FFF2-40B4-BE49-F238E27FC236}">
                    <a16:creationId xmlns:a16="http://schemas.microsoft.com/office/drawing/2014/main" id="{01A0EC5E-1717-4B34-A67F-9D04F725545C}"/>
                  </a:ext>
                </a:extLst>
              </p:cNvPr>
              <p:cNvCxnSpPr>
                <a:cxnSpLocks noChangeAspect="1" noChangeShapeType="1"/>
              </p:cNvCxnSpPr>
              <p:nvPr/>
            </p:nvCxnSpPr>
            <p:spPr bwMode="auto">
              <a:xfrm>
                <a:off x="8018" y="177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6" name="Line 426">
                <a:extLst>
                  <a:ext uri="{FF2B5EF4-FFF2-40B4-BE49-F238E27FC236}">
                    <a16:creationId xmlns:a16="http://schemas.microsoft.com/office/drawing/2014/main" id="{9D54E272-6C46-48A3-B7A1-4755F49E7E6E}"/>
                  </a:ext>
                </a:extLst>
              </p:cNvPr>
              <p:cNvCxnSpPr>
                <a:cxnSpLocks noChangeAspect="1" noChangeShapeType="1"/>
              </p:cNvCxnSpPr>
              <p:nvPr/>
            </p:nvCxnSpPr>
            <p:spPr bwMode="auto">
              <a:xfrm>
                <a:off x="8018" y="2858"/>
                <a:ext cx="720"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7" name="Line 427">
                <a:extLst>
                  <a:ext uri="{FF2B5EF4-FFF2-40B4-BE49-F238E27FC236}">
                    <a16:creationId xmlns:a16="http://schemas.microsoft.com/office/drawing/2014/main" id="{7E4F1A3E-84D7-44C1-8325-83B7740C8843}"/>
                  </a:ext>
                </a:extLst>
              </p:cNvPr>
              <p:cNvCxnSpPr>
                <a:cxnSpLocks noChangeAspect="1" noChangeShapeType="1"/>
              </p:cNvCxnSpPr>
              <p:nvPr/>
            </p:nvCxnSpPr>
            <p:spPr bwMode="auto">
              <a:xfrm>
                <a:off x="8738" y="1778"/>
                <a:ext cx="0" cy="108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grpSp>
        <p:sp>
          <p:nvSpPr>
            <p:cNvPr id="10" name="Text Box 428">
              <a:extLst>
                <a:ext uri="{FF2B5EF4-FFF2-40B4-BE49-F238E27FC236}">
                  <a16:creationId xmlns:a16="http://schemas.microsoft.com/office/drawing/2014/main" id="{7F6B4AA4-6DCC-4162-BA15-CE099CE9D490}"/>
                </a:ext>
              </a:extLst>
            </p:cNvPr>
            <p:cNvSpPr txBox="1">
              <a:spLocks noChangeAspect="1" noChangeArrowheads="1"/>
            </p:cNvSpPr>
            <p:nvPr/>
          </p:nvSpPr>
          <p:spPr bwMode="auto">
            <a:xfrm>
              <a:off x="9338" y="1478"/>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b(t)</a:t>
              </a:r>
              <a:endParaRPr lang="en-GB" sz="1200">
                <a:effectLst/>
                <a:latin typeface="Times New Roman" panose="02020603050405020304" pitchFamily="18" charset="0"/>
                <a:ea typeface="Times New Roman" panose="02020603050405020304" pitchFamily="18" charset="0"/>
              </a:endParaRPr>
            </a:p>
          </p:txBody>
        </p:sp>
        <p:sp>
          <p:nvSpPr>
            <p:cNvPr id="11" name="Text Box 429">
              <a:extLst>
                <a:ext uri="{FF2B5EF4-FFF2-40B4-BE49-F238E27FC236}">
                  <a16:creationId xmlns:a16="http://schemas.microsoft.com/office/drawing/2014/main" id="{08114B7C-045A-4668-B9FA-8C8FDCD42C44}"/>
                </a:ext>
              </a:extLst>
            </p:cNvPr>
            <p:cNvSpPr txBox="1">
              <a:spLocks noChangeAspect="1" noChangeArrowheads="1"/>
            </p:cNvSpPr>
            <p:nvPr/>
          </p:nvSpPr>
          <p:spPr bwMode="auto">
            <a:xfrm>
              <a:off x="10778" y="2318"/>
              <a:ext cx="2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12" name="Text Box 430">
              <a:extLst>
                <a:ext uri="{FF2B5EF4-FFF2-40B4-BE49-F238E27FC236}">
                  <a16:creationId xmlns:a16="http://schemas.microsoft.com/office/drawing/2014/main" id="{7584F482-B66D-4261-BC30-EF84A83D00E7}"/>
                </a:ext>
              </a:extLst>
            </p:cNvPr>
            <p:cNvSpPr txBox="1">
              <a:spLocks noChangeAspect="1" noChangeArrowheads="1"/>
            </p:cNvSpPr>
            <p:nvPr/>
          </p:nvSpPr>
          <p:spPr bwMode="auto">
            <a:xfrm>
              <a:off x="8903" y="1688"/>
              <a:ext cx="51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2E</a:t>
              </a:r>
              <a:endParaRPr lang="en-GB" sz="1200">
                <a:effectLst/>
                <a:latin typeface="Times New Roman" panose="02020603050405020304" pitchFamily="18" charset="0"/>
                <a:ea typeface="Times New Roman" panose="02020603050405020304" pitchFamily="18" charset="0"/>
              </a:endParaRPr>
            </a:p>
          </p:txBody>
        </p:sp>
        <p:sp>
          <p:nvSpPr>
            <p:cNvPr id="13" name="Text Box 431">
              <a:extLst>
                <a:ext uri="{FF2B5EF4-FFF2-40B4-BE49-F238E27FC236}">
                  <a16:creationId xmlns:a16="http://schemas.microsoft.com/office/drawing/2014/main" id="{C64A6F57-AE78-4452-B92F-AF82383AF00E}"/>
                </a:ext>
              </a:extLst>
            </p:cNvPr>
            <p:cNvSpPr txBox="1">
              <a:spLocks noChangeAspect="1" noChangeArrowheads="1"/>
            </p:cNvSpPr>
            <p:nvPr/>
          </p:nvSpPr>
          <p:spPr bwMode="auto">
            <a:xfrm>
              <a:off x="8933" y="2918"/>
              <a:ext cx="40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200">
                  <a:solidFill>
                    <a:srgbClr val="002060"/>
                  </a:solidFill>
                  <a:effectLst/>
                  <a:latin typeface="Times New Roman" panose="02020603050405020304" pitchFamily="18" charset="0"/>
                  <a:ea typeface="Times New Roman" panose="02020603050405020304" pitchFamily="18" charset="0"/>
                </a:rPr>
                <a:t>-E</a:t>
              </a:r>
              <a:endParaRPr lang="en-GB" sz="1200">
                <a:effectLst/>
                <a:latin typeface="Times New Roman" panose="02020603050405020304" pitchFamily="18" charset="0"/>
                <a:ea typeface="Times New Roman" panose="02020603050405020304" pitchFamily="18" charset="0"/>
              </a:endParaRPr>
            </a:p>
          </p:txBody>
        </p:sp>
        <p:sp>
          <p:nvSpPr>
            <p:cNvPr id="14" name="Text Box 432">
              <a:extLst>
                <a:ext uri="{FF2B5EF4-FFF2-40B4-BE49-F238E27FC236}">
                  <a16:creationId xmlns:a16="http://schemas.microsoft.com/office/drawing/2014/main" id="{278ED3AA-D2AF-4E86-875D-FD256E44E216}"/>
                </a:ext>
              </a:extLst>
            </p:cNvPr>
            <p:cNvSpPr txBox="1">
              <a:spLocks noChangeAspect="1" noChangeArrowheads="1"/>
            </p:cNvSpPr>
            <p:nvPr/>
          </p:nvSpPr>
          <p:spPr bwMode="auto">
            <a:xfrm>
              <a:off x="9218" y="2663"/>
              <a:ext cx="2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0</a:t>
              </a:r>
              <a:endParaRPr lang="en-GB" sz="1200">
                <a:effectLst/>
                <a:latin typeface="Times New Roman" panose="02020603050405020304" pitchFamily="18" charset="0"/>
                <a:ea typeface="Times New Roman" panose="02020603050405020304" pitchFamily="18" charset="0"/>
              </a:endParaRPr>
            </a:p>
          </p:txBody>
        </p:sp>
        <p:sp>
          <p:nvSpPr>
            <p:cNvPr id="15" name="Text Box 433">
              <a:extLst>
                <a:ext uri="{FF2B5EF4-FFF2-40B4-BE49-F238E27FC236}">
                  <a16:creationId xmlns:a16="http://schemas.microsoft.com/office/drawing/2014/main" id="{FF7133E1-A825-4FB8-B6EF-FA16DF7C0E6B}"/>
                </a:ext>
              </a:extLst>
            </p:cNvPr>
            <p:cNvSpPr txBox="1">
              <a:spLocks noChangeAspect="1" noChangeArrowheads="1"/>
            </p:cNvSpPr>
            <p:nvPr/>
          </p:nvSpPr>
          <p:spPr bwMode="auto">
            <a:xfrm>
              <a:off x="9698" y="2663"/>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2T/3</a:t>
              </a:r>
              <a:endParaRPr lang="en-GB" sz="1200">
                <a:effectLst/>
                <a:latin typeface="Times New Roman" panose="02020603050405020304" pitchFamily="18" charset="0"/>
                <a:ea typeface="Times New Roman" panose="02020603050405020304" pitchFamily="18" charset="0"/>
              </a:endParaRPr>
            </a:p>
          </p:txBody>
        </p:sp>
        <p:sp>
          <p:nvSpPr>
            <p:cNvPr id="16" name="Text Box 434">
              <a:extLst>
                <a:ext uri="{FF2B5EF4-FFF2-40B4-BE49-F238E27FC236}">
                  <a16:creationId xmlns:a16="http://schemas.microsoft.com/office/drawing/2014/main" id="{C3496CA8-D76F-4B90-979A-FBAD7EC18EDD}"/>
                </a:ext>
              </a:extLst>
            </p:cNvPr>
            <p:cNvSpPr txBox="1">
              <a:spLocks noChangeAspect="1" noChangeArrowheads="1"/>
            </p:cNvSpPr>
            <p:nvPr/>
          </p:nvSpPr>
          <p:spPr bwMode="auto">
            <a:xfrm>
              <a:off x="10418" y="2663"/>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5T/3</a:t>
              </a:r>
              <a:endParaRPr lang="en-GB" sz="1200">
                <a:effectLst/>
                <a:latin typeface="Times New Roman" panose="02020603050405020304" pitchFamily="18" charset="0"/>
                <a:ea typeface="Times New Roman" panose="02020603050405020304" pitchFamily="18" charset="0"/>
              </a:endParaRPr>
            </a:p>
          </p:txBody>
        </p:sp>
        <p:sp>
          <p:nvSpPr>
            <p:cNvPr id="17" name="Text Box 435">
              <a:extLst>
                <a:ext uri="{FF2B5EF4-FFF2-40B4-BE49-F238E27FC236}">
                  <a16:creationId xmlns:a16="http://schemas.microsoft.com/office/drawing/2014/main" id="{C1270394-3320-434F-B6FF-6EEECB25645C}"/>
                </a:ext>
              </a:extLst>
            </p:cNvPr>
            <p:cNvSpPr txBox="1">
              <a:spLocks noChangeAspect="1" noChangeArrowheads="1"/>
            </p:cNvSpPr>
            <p:nvPr/>
          </p:nvSpPr>
          <p:spPr bwMode="auto">
            <a:xfrm>
              <a:off x="8603" y="2663"/>
              <a:ext cx="51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-T/3</a:t>
              </a:r>
              <a:endParaRPr lang="en-GB" sz="1200">
                <a:effectLst/>
                <a:latin typeface="Times New Roman" panose="02020603050405020304" pitchFamily="18" charset="0"/>
                <a:ea typeface="Times New Roman" panose="02020603050405020304" pitchFamily="18" charset="0"/>
              </a:endParaRPr>
            </a:p>
          </p:txBody>
        </p:sp>
        <p:sp>
          <p:nvSpPr>
            <p:cNvPr id="18" name="Text Box 436">
              <a:extLst>
                <a:ext uri="{FF2B5EF4-FFF2-40B4-BE49-F238E27FC236}">
                  <a16:creationId xmlns:a16="http://schemas.microsoft.com/office/drawing/2014/main" id="{68ABA568-37EE-408F-9F35-4C709CBA73E5}"/>
                </a:ext>
              </a:extLst>
            </p:cNvPr>
            <p:cNvSpPr txBox="1">
              <a:spLocks noChangeAspect="1" noChangeArrowheads="1"/>
            </p:cNvSpPr>
            <p:nvPr/>
          </p:nvSpPr>
          <p:spPr bwMode="auto">
            <a:xfrm>
              <a:off x="7778" y="2663"/>
              <a:ext cx="57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-5T/3</a:t>
              </a:r>
              <a:endParaRPr lang="en-GB" sz="1200">
                <a:effectLst/>
                <a:latin typeface="Times New Roman" panose="02020603050405020304" pitchFamily="18" charset="0"/>
                <a:ea typeface="Times New Roman" panose="02020603050405020304" pitchFamily="18" charset="0"/>
              </a:endParaRPr>
            </a:p>
          </p:txBody>
        </p:sp>
      </p:grpSp>
      <p:sp>
        <p:nvSpPr>
          <p:cNvPr id="5" name="Rectangle 4">
            <a:extLst>
              <a:ext uri="{FF2B5EF4-FFF2-40B4-BE49-F238E27FC236}">
                <a16:creationId xmlns:a16="http://schemas.microsoft.com/office/drawing/2014/main" id="{40EAA1A8-5229-44A8-8591-97CDECC4B585}"/>
              </a:ext>
            </a:extLst>
          </p:cNvPr>
          <p:cNvSpPr/>
          <p:nvPr/>
        </p:nvSpPr>
        <p:spPr>
          <a:xfrm>
            <a:off x="9274952" y="1857815"/>
            <a:ext cx="1973617" cy="584775"/>
          </a:xfrm>
          <a:prstGeom prst="rect">
            <a:avLst/>
          </a:prstGeom>
        </p:spPr>
        <p:txBody>
          <a:bodyPr wrap="none">
            <a:spAutoFit/>
          </a:bodyPr>
          <a:lstStyle/>
          <a:p>
            <a:r>
              <a:rPr lang="en-US" sz="3200" dirty="0">
                <a:solidFill>
                  <a:srgbClr val="002060"/>
                </a:solidFill>
                <a:latin typeface="Times New Roman" panose="02020603050405020304" pitchFamily="18" charset="0"/>
                <a:cs typeface="Times New Roman" panose="02020603050405020304" pitchFamily="18" charset="0"/>
              </a:rPr>
              <a:t> Figure 13.</a:t>
            </a:r>
            <a:endParaRPr lang="en-GB" sz="3200" dirty="0"/>
          </a:p>
        </p:txBody>
      </p:sp>
    </p:spTree>
    <p:extLst>
      <p:ext uri="{BB962C8B-B14F-4D97-AF65-F5344CB8AC3E}">
        <p14:creationId xmlns:p14="http://schemas.microsoft.com/office/powerpoint/2010/main" val="3492982083"/>
      </p:ext>
    </p:extLst>
  </p:cSld>
  <p:clrMapOvr>
    <a:masterClrMapping/>
  </p:clrMapOvr>
  <mc:AlternateContent xmlns:mc="http://schemas.openxmlformats.org/markup-compatibility/2006" xmlns:p14="http://schemas.microsoft.com/office/powerpoint/2010/main">
    <mc:Choice Requires="p14">
      <p:transition spd="slow" p14:dur="2000" advTm="85384"/>
    </mc:Choice>
    <mc:Fallback xmlns="">
      <p:transition spd="slow" advTm="85384"/>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49AE0E7B-BFDF-4815-8FAB-6937B4BE241F}"/>
              </a:ext>
            </a:extLst>
          </p:cNvPr>
          <p:cNvGraphicFramePr>
            <a:graphicFrameLocks noChangeAspect="1"/>
          </p:cNvGraphicFramePr>
          <p:nvPr>
            <p:extLst>
              <p:ext uri="{D42A27DB-BD31-4B8C-83A1-F6EECF244321}">
                <p14:modId xmlns:p14="http://schemas.microsoft.com/office/powerpoint/2010/main" val="185422316"/>
              </p:ext>
            </p:extLst>
          </p:nvPr>
        </p:nvGraphicFramePr>
        <p:xfrm>
          <a:off x="3528429" y="4138274"/>
          <a:ext cx="8439150" cy="1200150"/>
        </p:xfrm>
        <a:graphic>
          <a:graphicData uri="http://schemas.openxmlformats.org/presentationml/2006/ole">
            <mc:AlternateContent xmlns:mc="http://schemas.openxmlformats.org/markup-compatibility/2006">
              <mc:Choice xmlns:v="urn:schemas-microsoft-com:vml" Requires="v">
                <p:oleObj r:id="rId3" imgW="3263900" imgH="457200" progId="Equation.3">
                  <p:embed/>
                </p:oleObj>
              </mc:Choice>
              <mc:Fallback>
                <p:oleObj r:id="rId3" imgW="3263900" imgH="4572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8429" y="4138274"/>
                        <a:ext cx="8439150" cy="1200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4">
            <a:extLst>
              <a:ext uri="{FF2B5EF4-FFF2-40B4-BE49-F238E27FC236}">
                <a16:creationId xmlns:a16="http://schemas.microsoft.com/office/drawing/2014/main" id="{9E64A2D7-AAB9-46FB-95EA-6579A534F806}"/>
              </a:ext>
            </a:extLst>
          </p:cNvPr>
          <p:cNvGrpSpPr>
            <a:grpSpLocks noChangeAspect="1"/>
          </p:cNvGrpSpPr>
          <p:nvPr/>
        </p:nvGrpSpPr>
        <p:grpSpPr bwMode="auto">
          <a:xfrm>
            <a:off x="6556344" y="385011"/>
            <a:ext cx="5533094" cy="3458075"/>
            <a:chOff x="7538" y="4538"/>
            <a:chExt cx="3480" cy="2175"/>
          </a:xfrm>
        </p:grpSpPr>
        <p:cxnSp>
          <p:nvCxnSpPr>
            <p:cNvPr id="6" name="Line 442">
              <a:extLst>
                <a:ext uri="{FF2B5EF4-FFF2-40B4-BE49-F238E27FC236}">
                  <a16:creationId xmlns:a16="http://schemas.microsoft.com/office/drawing/2014/main" id="{321868A4-4361-4E56-A655-3CF63C3BB8A9}"/>
                </a:ext>
              </a:extLst>
            </p:cNvPr>
            <p:cNvCxnSpPr>
              <a:cxnSpLocks noChangeAspect="1" noChangeShapeType="1"/>
            </p:cNvCxnSpPr>
            <p:nvPr/>
          </p:nvCxnSpPr>
          <p:spPr bwMode="auto">
            <a:xfrm>
              <a:off x="9338" y="4718"/>
              <a:ext cx="0" cy="1620"/>
            </a:xfrm>
            <a:prstGeom prst="line">
              <a:avLst/>
            </a:prstGeom>
            <a:noFill/>
            <a:ln w="31750">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7" name="Line 443">
              <a:extLst>
                <a:ext uri="{FF2B5EF4-FFF2-40B4-BE49-F238E27FC236}">
                  <a16:creationId xmlns:a16="http://schemas.microsoft.com/office/drawing/2014/main" id="{99EF4662-0BF7-4FF1-A7F8-9AD607F8D9A1}"/>
                </a:ext>
              </a:extLst>
            </p:cNvPr>
            <p:cNvCxnSpPr>
              <a:cxnSpLocks noChangeAspect="1" noChangeShapeType="1"/>
            </p:cNvCxnSpPr>
            <p:nvPr/>
          </p:nvCxnSpPr>
          <p:spPr bwMode="auto">
            <a:xfrm>
              <a:off x="7658" y="5558"/>
              <a:ext cx="3240" cy="0"/>
            </a:xfrm>
            <a:prstGeom prst="line">
              <a:avLst/>
            </a:prstGeom>
            <a:noFill/>
            <a:ln w="31750">
              <a:solidFill>
                <a:srgbClr val="002060"/>
              </a:solidFill>
              <a:round/>
              <a:headEnd/>
              <a:tailEnd type="arrow" w="med" len="med"/>
            </a:ln>
            <a:extLst>
              <a:ext uri="{909E8E84-426E-40DD-AFC4-6F175D3DCCD1}">
                <a14:hiddenFill xmlns:a14="http://schemas.microsoft.com/office/drawing/2010/main">
                  <a:noFill/>
                </a14:hiddenFill>
              </a:ext>
            </a:extLst>
          </p:spPr>
        </p:cxnSp>
        <p:grpSp>
          <p:nvGrpSpPr>
            <p:cNvPr id="8" name="Group 7">
              <a:extLst>
                <a:ext uri="{FF2B5EF4-FFF2-40B4-BE49-F238E27FC236}">
                  <a16:creationId xmlns:a16="http://schemas.microsoft.com/office/drawing/2014/main" id="{64C18F75-F726-4A91-B919-3D90261A59C6}"/>
                </a:ext>
              </a:extLst>
            </p:cNvPr>
            <p:cNvGrpSpPr>
              <a:grpSpLocks noChangeAspect="1"/>
            </p:cNvGrpSpPr>
            <p:nvPr/>
          </p:nvGrpSpPr>
          <p:grpSpPr bwMode="auto">
            <a:xfrm>
              <a:off x="7778" y="5018"/>
              <a:ext cx="3000" cy="1080"/>
              <a:chOff x="7538" y="1778"/>
              <a:chExt cx="3000" cy="1080"/>
            </a:xfrm>
          </p:grpSpPr>
          <p:cxnSp>
            <p:nvCxnSpPr>
              <p:cNvPr id="19" name="Line 445">
                <a:extLst>
                  <a:ext uri="{FF2B5EF4-FFF2-40B4-BE49-F238E27FC236}">
                    <a16:creationId xmlns:a16="http://schemas.microsoft.com/office/drawing/2014/main" id="{A180CEE5-D168-4DE1-9CE6-410C0278DFB6}"/>
                  </a:ext>
                </a:extLst>
              </p:cNvPr>
              <p:cNvCxnSpPr>
                <a:cxnSpLocks noChangeAspect="1" noChangeShapeType="1"/>
              </p:cNvCxnSpPr>
              <p:nvPr/>
            </p:nvCxnSpPr>
            <p:spPr bwMode="auto">
              <a:xfrm>
                <a:off x="8738" y="1778"/>
                <a:ext cx="720" cy="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0" name="Line 446">
                <a:extLst>
                  <a:ext uri="{FF2B5EF4-FFF2-40B4-BE49-F238E27FC236}">
                    <a16:creationId xmlns:a16="http://schemas.microsoft.com/office/drawing/2014/main" id="{27C0C203-9E10-4BEC-AE4B-24196CFD0A46}"/>
                  </a:ext>
                </a:extLst>
              </p:cNvPr>
              <p:cNvCxnSpPr>
                <a:cxnSpLocks noChangeAspect="1" noChangeShapeType="1"/>
              </p:cNvCxnSpPr>
              <p:nvPr/>
            </p:nvCxnSpPr>
            <p:spPr bwMode="auto">
              <a:xfrm>
                <a:off x="9458" y="1778"/>
                <a:ext cx="0" cy="108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1" name="Line 447">
                <a:extLst>
                  <a:ext uri="{FF2B5EF4-FFF2-40B4-BE49-F238E27FC236}">
                    <a16:creationId xmlns:a16="http://schemas.microsoft.com/office/drawing/2014/main" id="{18D5F3D9-C950-406E-9DAD-19ADDCFE3603}"/>
                  </a:ext>
                </a:extLst>
              </p:cNvPr>
              <p:cNvCxnSpPr>
                <a:cxnSpLocks noChangeAspect="1" noChangeShapeType="1"/>
              </p:cNvCxnSpPr>
              <p:nvPr/>
            </p:nvCxnSpPr>
            <p:spPr bwMode="auto">
              <a:xfrm>
                <a:off x="9458" y="2858"/>
                <a:ext cx="720" cy="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2" name="Line 448">
                <a:extLst>
                  <a:ext uri="{FF2B5EF4-FFF2-40B4-BE49-F238E27FC236}">
                    <a16:creationId xmlns:a16="http://schemas.microsoft.com/office/drawing/2014/main" id="{B93B3DF6-249D-4BCD-9D4C-327293675D31}"/>
                  </a:ext>
                </a:extLst>
              </p:cNvPr>
              <p:cNvCxnSpPr>
                <a:cxnSpLocks noChangeAspect="1" noChangeShapeType="1"/>
              </p:cNvCxnSpPr>
              <p:nvPr/>
            </p:nvCxnSpPr>
            <p:spPr bwMode="auto">
              <a:xfrm>
                <a:off x="10178" y="1778"/>
                <a:ext cx="0" cy="108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3" name="Line 449">
                <a:extLst>
                  <a:ext uri="{FF2B5EF4-FFF2-40B4-BE49-F238E27FC236}">
                    <a16:creationId xmlns:a16="http://schemas.microsoft.com/office/drawing/2014/main" id="{A63BC27D-175B-45DB-A473-61743D81250A}"/>
                  </a:ext>
                </a:extLst>
              </p:cNvPr>
              <p:cNvCxnSpPr>
                <a:cxnSpLocks noChangeAspect="1" noChangeShapeType="1"/>
              </p:cNvCxnSpPr>
              <p:nvPr/>
            </p:nvCxnSpPr>
            <p:spPr bwMode="auto">
              <a:xfrm>
                <a:off x="10178" y="1778"/>
                <a:ext cx="360" cy="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4" name="Line 450">
                <a:extLst>
                  <a:ext uri="{FF2B5EF4-FFF2-40B4-BE49-F238E27FC236}">
                    <a16:creationId xmlns:a16="http://schemas.microsoft.com/office/drawing/2014/main" id="{60D78A04-2408-4FEC-947F-BC2C709B41B2}"/>
                  </a:ext>
                </a:extLst>
              </p:cNvPr>
              <p:cNvCxnSpPr>
                <a:cxnSpLocks noChangeAspect="1" noChangeShapeType="1"/>
              </p:cNvCxnSpPr>
              <p:nvPr/>
            </p:nvCxnSpPr>
            <p:spPr bwMode="auto">
              <a:xfrm>
                <a:off x="7538" y="1778"/>
                <a:ext cx="480" cy="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5" name="Line 451">
                <a:extLst>
                  <a:ext uri="{FF2B5EF4-FFF2-40B4-BE49-F238E27FC236}">
                    <a16:creationId xmlns:a16="http://schemas.microsoft.com/office/drawing/2014/main" id="{A27352A7-F9F6-48F9-B487-F3FE3B7F728A}"/>
                  </a:ext>
                </a:extLst>
              </p:cNvPr>
              <p:cNvCxnSpPr>
                <a:cxnSpLocks noChangeAspect="1" noChangeShapeType="1"/>
              </p:cNvCxnSpPr>
              <p:nvPr/>
            </p:nvCxnSpPr>
            <p:spPr bwMode="auto">
              <a:xfrm>
                <a:off x="8018" y="1778"/>
                <a:ext cx="0" cy="108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6" name="Line 452">
                <a:extLst>
                  <a:ext uri="{FF2B5EF4-FFF2-40B4-BE49-F238E27FC236}">
                    <a16:creationId xmlns:a16="http://schemas.microsoft.com/office/drawing/2014/main" id="{2B791B68-533E-4774-87C9-D57C037A58EE}"/>
                  </a:ext>
                </a:extLst>
              </p:cNvPr>
              <p:cNvCxnSpPr>
                <a:cxnSpLocks noChangeAspect="1" noChangeShapeType="1"/>
              </p:cNvCxnSpPr>
              <p:nvPr/>
            </p:nvCxnSpPr>
            <p:spPr bwMode="auto">
              <a:xfrm>
                <a:off x="8018" y="2858"/>
                <a:ext cx="720" cy="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7" name="Line 453">
                <a:extLst>
                  <a:ext uri="{FF2B5EF4-FFF2-40B4-BE49-F238E27FC236}">
                    <a16:creationId xmlns:a16="http://schemas.microsoft.com/office/drawing/2014/main" id="{F625BF30-8EAD-4CCF-B7BC-389857E0B9C7}"/>
                  </a:ext>
                </a:extLst>
              </p:cNvPr>
              <p:cNvCxnSpPr>
                <a:cxnSpLocks noChangeAspect="1" noChangeShapeType="1"/>
              </p:cNvCxnSpPr>
              <p:nvPr/>
            </p:nvCxnSpPr>
            <p:spPr bwMode="auto">
              <a:xfrm>
                <a:off x="8738" y="1778"/>
                <a:ext cx="0" cy="108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grpSp>
        <p:sp>
          <p:nvSpPr>
            <p:cNvPr id="9" name="Text Box 454">
              <a:extLst>
                <a:ext uri="{FF2B5EF4-FFF2-40B4-BE49-F238E27FC236}">
                  <a16:creationId xmlns:a16="http://schemas.microsoft.com/office/drawing/2014/main" id="{D80803F2-276A-493A-B840-9FA8365CA600}"/>
                </a:ext>
              </a:extLst>
            </p:cNvPr>
            <p:cNvSpPr txBox="1">
              <a:spLocks noChangeAspect="1" noChangeArrowheads="1"/>
            </p:cNvSpPr>
            <p:nvPr/>
          </p:nvSpPr>
          <p:spPr bwMode="auto">
            <a:xfrm>
              <a:off x="9458" y="4538"/>
              <a:ext cx="60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200">
                  <a:solidFill>
                    <a:srgbClr val="002060"/>
                  </a:solidFill>
                  <a:effectLst/>
                  <a:latin typeface="Times New Roman" panose="02020603050405020304" pitchFamily="18" charset="0"/>
                  <a:ea typeface="Times New Roman" panose="02020603050405020304" pitchFamily="18" charset="0"/>
                </a:rPr>
                <a:t>b</a:t>
              </a:r>
              <a:r>
                <a:rPr lang="en-GB" sz="3200" baseline="-25000">
                  <a:solidFill>
                    <a:srgbClr val="002060"/>
                  </a:solidFill>
                  <a:effectLst/>
                  <a:latin typeface="Times New Roman" panose="02020603050405020304" pitchFamily="18" charset="0"/>
                  <a:ea typeface="Times New Roman" panose="02020603050405020304" pitchFamily="18" charset="0"/>
                </a:rPr>
                <a:t>1</a:t>
              </a:r>
              <a:r>
                <a:rPr lang="en-GB" sz="32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10" name="Text Box 455">
              <a:extLst>
                <a:ext uri="{FF2B5EF4-FFF2-40B4-BE49-F238E27FC236}">
                  <a16:creationId xmlns:a16="http://schemas.microsoft.com/office/drawing/2014/main" id="{FCB0F18D-9DC9-4160-9E72-D3D4F80C79B7}"/>
                </a:ext>
              </a:extLst>
            </p:cNvPr>
            <p:cNvSpPr txBox="1">
              <a:spLocks noChangeAspect="1" noChangeArrowheads="1"/>
            </p:cNvSpPr>
            <p:nvPr/>
          </p:nvSpPr>
          <p:spPr bwMode="auto">
            <a:xfrm>
              <a:off x="10778" y="5378"/>
              <a:ext cx="2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  t</a:t>
              </a:r>
              <a:endParaRPr lang="en-GB" sz="1200">
                <a:effectLst/>
                <a:latin typeface="Times New Roman" panose="02020603050405020304" pitchFamily="18" charset="0"/>
                <a:ea typeface="Times New Roman" panose="02020603050405020304" pitchFamily="18" charset="0"/>
              </a:endParaRPr>
            </a:p>
          </p:txBody>
        </p:sp>
        <p:sp>
          <p:nvSpPr>
            <p:cNvPr id="11" name="Text Box 456">
              <a:extLst>
                <a:ext uri="{FF2B5EF4-FFF2-40B4-BE49-F238E27FC236}">
                  <a16:creationId xmlns:a16="http://schemas.microsoft.com/office/drawing/2014/main" id="{17B38CEB-7B2F-4DDE-8E67-41FC6963D810}"/>
                </a:ext>
              </a:extLst>
            </p:cNvPr>
            <p:cNvSpPr txBox="1">
              <a:spLocks noChangeAspect="1" noChangeArrowheads="1"/>
            </p:cNvSpPr>
            <p:nvPr/>
          </p:nvSpPr>
          <p:spPr bwMode="auto">
            <a:xfrm>
              <a:off x="8813" y="4748"/>
              <a:ext cx="51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3E/2</a:t>
              </a:r>
              <a:endParaRPr lang="en-GB" sz="1200">
                <a:effectLst/>
                <a:latin typeface="Times New Roman" panose="02020603050405020304" pitchFamily="18" charset="0"/>
                <a:ea typeface="Times New Roman" panose="02020603050405020304" pitchFamily="18" charset="0"/>
              </a:endParaRPr>
            </a:p>
          </p:txBody>
        </p:sp>
        <p:sp>
          <p:nvSpPr>
            <p:cNvPr id="12" name="Text Box 457">
              <a:extLst>
                <a:ext uri="{FF2B5EF4-FFF2-40B4-BE49-F238E27FC236}">
                  <a16:creationId xmlns:a16="http://schemas.microsoft.com/office/drawing/2014/main" id="{067417AE-4B01-48DE-9DAF-47652BF51411}"/>
                </a:ext>
              </a:extLst>
            </p:cNvPr>
            <p:cNvSpPr txBox="1">
              <a:spLocks noChangeAspect="1" noChangeArrowheads="1"/>
            </p:cNvSpPr>
            <p:nvPr/>
          </p:nvSpPr>
          <p:spPr bwMode="auto">
            <a:xfrm>
              <a:off x="8783" y="6053"/>
              <a:ext cx="60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-3E/2</a:t>
              </a:r>
              <a:endParaRPr lang="en-GB" sz="1200">
                <a:effectLst/>
                <a:latin typeface="Times New Roman" panose="02020603050405020304" pitchFamily="18" charset="0"/>
                <a:ea typeface="Times New Roman" panose="02020603050405020304" pitchFamily="18" charset="0"/>
              </a:endParaRPr>
            </a:p>
          </p:txBody>
        </p:sp>
        <p:sp>
          <p:nvSpPr>
            <p:cNvPr id="13" name="Text Box 458">
              <a:extLst>
                <a:ext uri="{FF2B5EF4-FFF2-40B4-BE49-F238E27FC236}">
                  <a16:creationId xmlns:a16="http://schemas.microsoft.com/office/drawing/2014/main" id="{668F92E8-86D8-4510-9129-0605D7635938}"/>
                </a:ext>
              </a:extLst>
            </p:cNvPr>
            <p:cNvSpPr txBox="1">
              <a:spLocks noChangeAspect="1" noChangeArrowheads="1"/>
            </p:cNvSpPr>
            <p:nvPr/>
          </p:nvSpPr>
          <p:spPr bwMode="auto">
            <a:xfrm>
              <a:off x="9218" y="5558"/>
              <a:ext cx="2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0</a:t>
              </a:r>
              <a:endParaRPr lang="en-GB" sz="1200">
                <a:effectLst/>
                <a:latin typeface="Times New Roman" panose="02020603050405020304" pitchFamily="18" charset="0"/>
                <a:ea typeface="Times New Roman" panose="02020603050405020304" pitchFamily="18" charset="0"/>
              </a:endParaRPr>
            </a:p>
          </p:txBody>
        </p:sp>
        <p:sp>
          <p:nvSpPr>
            <p:cNvPr id="14" name="Text Box 459">
              <a:extLst>
                <a:ext uri="{FF2B5EF4-FFF2-40B4-BE49-F238E27FC236}">
                  <a16:creationId xmlns:a16="http://schemas.microsoft.com/office/drawing/2014/main" id="{E66DCB97-40E5-4CA6-9F9B-90685BF405D2}"/>
                </a:ext>
              </a:extLst>
            </p:cNvPr>
            <p:cNvSpPr txBox="1">
              <a:spLocks noChangeAspect="1" noChangeArrowheads="1"/>
            </p:cNvSpPr>
            <p:nvPr/>
          </p:nvSpPr>
          <p:spPr bwMode="auto">
            <a:xfrm>
              <a:off x="9698" y="5558"/>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T/2</a:t>
              </a:r>
              <a:endParaRPr lang="en-GB" sz="1200">
                <a:effectLst/>
                <a:latin typeface="Times New Roman" panose="02020603050405020304" pitchFamily="18" charset="0"/>
                <a:ea typeface="Times New Roman" panose="02020603050405020304" pitchFamily="18" charset="0"/>
              </a:endParaRPr>
            </a:p>
          </p:txBody>
        </p:sp>
        <p:sp>
          <p:nvSpPr>
            <p:cNvPr id="15" name="Text Box 460">
              <a:extLst>
                <a:ext uri="{FF2B5EF4-FFF2-40B4-BE49-F238E27FC236}">
                  <a16:creationId xmlns:a16="http://schemas.microsoft.com/office/drawing/2014/main" id="{93B032B7-0DA0-4421-8C8F-EDF6E1F4086A}"/>
                </a:ext>
              </a:extLst>
            </p:cNvPr>
            <p:cNvSpPr txBox="1">
              <a:spLocks noChangeAspect="1" noChangeArrowheads="1"/>
            </p:cNvSpPr>
            <p:nvPr/>
          </p:nvSpPr>
          <p:spPr bwMode="auto">
            <a:xfrm>
              <a:off x="10418" y="5558"/>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3T/2</a:t>
              </a:r>
              <a:endParaRPr lang="en-GB" sz="1200">
                <a:effectLst/>
                <a:latin typeface="Times New Roman" panose="02020603050405020304" pitchFamily="18" charset="0"/>
                <a:ea typeface="Times New Roman" panose="02020603050405020304" pitchFamily="18" charset="0"/>
              </a:endParaRPr>
            </a:p>
          </p:txBody>
        </p:sp>
        <p:sp>
          <p:nvSpPr>
            <p:cNvPr id="16" name="Text Box 461">
              <a:extLst>
                <a:ext uri="{FF2B5EF4-FFF2-40B4-BE49-F238E27FC236}">
                  <a16:creationId xmlns:a16="http://schemas.microsoft.com/office/drawing/2014/main" id="{7CC0E17A-5D9C-4B41-B02F-5015A4934C5D}"/>
                </a:ext>
              </a:extLst>
            </p:cNvPr>
            <p:cNvSpPr txBox="1">
              <a:spLocks noChangeAspect="1" noChangeArrowheads="1"/>
            </p:cNvSpPr>
            <p:nvPr/>
          </p:nvSpPr>
          <p:spPr bwMode="auto">
            <a:xfrm>
              <a:off x="8603" y="5558"/>
              <a:ext cx="51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-T/2</a:t>
              </a:r>
              <a:endParaRPr lang="en-GB" sz="1200">
                <a:effectLst/>
                <a:latin typeface="Times New Roman" panose="02020603050405020304" pitchFamily="18" charset="0"/>
                <a:ea typeface="Times New Roman" panose="02020603050405020304" pitchFamily="18" charset="0"/>
              </a:endParaRPr>
            </a:p>
          </p:txBody>
        </p:sp>
        <p:sp>
          <p:nvSpPr>
            <p:cNvPr id="17" name="Text Box 462">
              <a:extLst>
                <a:ext uri="{FF2B5EF4-FFF2-40B4-BE49-F238E27FC236}">
                  <a16:creationId xmlns:a16="http://schemas.microsoft.com/office/drawing/2014/main" id="{D2443465-9608-4688-9291-A52E8DB7EB59}"/>
                </a:ext>
              </a:extLst>
            </p:cNvPr>
            <p:cNvSpPr txBox="1">
              <a:spLocks noChangeAspect="1" noChangeArrowheads="1"/>
            </p:cNvSpPr>
            <p:nvPr/>
          </p:nvSpPr>
          <p:spPr bwMode="auto">
            <a:xfrm>
              <a:off x="7778" y="5558"/>
              <a:ext cx="57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-3T/2</a:t>
              </a:r>
              <a:endParaRPr lang="en-GB" sz="1200">
                <a:effectLst/>
                <a:latin typeface="Times New Roman" panose="02020603050405020304" pitchFamily="18" charset="0"/>
                <a:ea typeface="Times New Roman" panose="02020603050405020304" pitchFamily="18" charset="0"/>
              </a:endParaRPr>
            </a:p>
          </p:txBody>
        </p:sp>
        <p:sp>
          <p:nvSpPr>
            <p:cNvPr id="18" name="Text Box 463">
              <a:extLst>
                <a:ext uri="{FF2B5EF4-FFF2-40B4-BE49-F238E27FC236}">
                  <a16:creationId xmlns:a16="http://schemas.microsoft.com/office/drawing/2014/main" id="{6280F665-0E19-4D19-9792-4391CFA9EC0E}"/>
                </a:ext>
              </a:extLst>
            </p:cNvPr>
            <p:cNvSpPr txBox="1">
              <a:spLocks noChangeAspect="1" noChangeArrowheads="1"/>
            </p:cNvSpPr>
            <p:nvPr/>
          </p:nvSpPr>
          <p:spPr bwMode="auto">
            <a:xfrm>
              <a:off x="7538" y="6323"/>
              <a:ext cx="3240"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dirty="0">
                  <a:solidFill>
                    <a:srgbClr val="002060"/>
                  </a:solidFill>
                  <a:effectLst/>
                  <a:latin typeface="Times New Roman" panose="02020603050405020304" pitchFamily="18" charset="0"/>
                  <a:ea typeface="Times New Roman" panose="02020603050405020304" pitchFamily="18" charset="0"/>
                </a:rPr>
                <a:t>Figure 14 – Modified waveform</a:t>
              </a:r>
              <a:endParaRPr lang="en-GB" sz="1100" dirty="0">
                <a:effectLst/>
                <a:latin typeface="Times New Roman" panose="02020603050405020304" pitchFamily="18" charset="0"/>
                <a:ea typeface="Times New Roman" panose="02020603050405020304" pitchFamily="18" charset="0"/>
              </a:endParaRPr>
            </a:p>
          </p:txBody>
        </p:sp>
      </p:grpSp>
      <p:sp>
        <p:nvSpPr>
          <p:cNvPr id="4" name="Rectangle 25">
            <a:extLst>
              <a:ext uri="{FF2B5EF4-FFF2-40B4-BE49-F238E27FC236}">
                <a16:creationId xmlns:a16="http://schemas.microsoft.com/office/drawing/2014/main" id="{4C845973-22FB-424D-8AD9-BC7088B72A8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28" name="Rectangle 36">
            <a:extLst>
              <a:ext uri="{FF2B5EF4-FFF2-40B4-BE49-F238E27FC236}">
                <a16:creationId xmlns:a16="http://schemas.microsoft.com/office/drawing/2014/main" id="{CEC837F3-2192-401A-A18B-CFBFA266913C}"/>
              </a:ext>
            </a:extLst>
          </p:cNvPr>
          <p:cNvSpPr>
            <a:spLocks noChangeArrowheads="1"/>
          </p:cNvSpPr>
          <p:nvPr/>
        </p:nvSpPr>
        <p:spPr bwMode="auto">
          <a:xfrm>
            <a:off x="159216" y="500341"/>
            <a:ext cx="6340476" cy="3849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10000"/>
              </a:lnSpc>
              <a:spcBef>
                <a:spcPct val="0"/>
              </a:spcBef>
              <a:spcAft>
                <a:spcPct val="0"/>
              </a:spcAft>
              <a:buClrTx/>
              <a:buSzTx/>
              <a:buFontTx/>
              <a:buNone/>
              <a:tabLst/>
            </a:pP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If waveform is shifted by T/6 to left, even symmetry is observed.</a:t>
            </a:r>
            <a:endParaRPr kumimoji="0" lang="en-GB"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10000"/>
              </a:lnSpc>
              <a:spcBef>
                <a:spcPct val="0"/>
              </a:spcBef>
              <a:spcAft>
                <a:spcPct val="0"/>
              </a:spcAft>
              <a:buClrTx/>
              <a:buSzTx/>
              <a:buFontTx/>
              <a:buNone/>
              <a:tabLst/>
            </a:pP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Consider waveform </a:t>
            </a:r>
            <a:endParaRPr kumimoji="0" lang="en-GB"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10000"/>
              </a:lnSpc>
              <a:spcBef>
                <a:spcPct val="0"/>
              </a:spcBef>
              <a:spcAft>
                <a:spcPct val="0"/>
              </a:spcAft>
              <a:buClrTx/>
              <a:buSzTx/>
              <a:buFontTx/>
              <a:buNone/>
              <a:tabLst/>
            </a:pP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b</a:t>
            </a:r>
            <a:r>
              <a:rPr kumimoji="0" lang="en-GB" altLang="en-US" sz="28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 = b(t -T/6) - E/2,  in figure 14</a:t>
            </a:r>
            <a:endParaRPr kumimoji="0" lang="en-GB"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10000"/>
              </a:lnSpc>
              <a:spcBef>
                <a:spcPct val="0"/>
              </a:spcBef>
              <a:spcAft>
                <a:spcPct val="0"/>
              </a:spcAft>
              <a:buClrTx/>
              <a:buSzTx/>
              <a:buFontTx/>
              <a:buNone/>
              <a:tabLst/>
            </a:pP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b</a:t>
            </a:r>
            <a:r>
              <a:rPr kumimoji="0" lang="en-GB" altLang="en-US" sz="28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 differs from waveform a(t) in   figure 10 in magnitude only (1.5 times).  </a:t>
            </a:r>
            <a:endParaRPr kumimoji="0" lang="en-GB"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10000"/>
              </a:lnSpc>
              <a:spcBef>
                <a:spcPct val="0"/>
              </a:spcBef>
              <a:spcAft>
                <a:spcPct val="0"/>
              </a:spcAft>
              <a:buClrTx/>
              <a:buSzTx/>
              <a:buFontTx/>
              <a:buNone/>
              <a:tabLst/>
            </a:pP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Thus b</a:t>
            </a:r>
            <a:r>
              <a:rPr kumimoji="0" lang="en-GB" altLang="en-US" sz="28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 can be obtained directly from earlier analysis.</a:t>
            </a:r>
            <a:endParaRPr kumimoji="0" lang="en-GB"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9" name="Rectangle 37">
            <a:extLst>
              <a:ext uri="{FF2B5EF4-FFF2-40B4-BE49-F238E27FC236}">
                <a16:creationId xmlns:a16="http://schemas.microsoft.com/office/drawing/2014/main" id="{0CB768A6-4D0C-4F03-8624-06C0893AC9AF}"/>
              </a:ext>
            </a:extLst>
          </p:cNvPr>
          <p:cNvSpPr>
            <a:spLocks noChangeArrowheads="1"/>
          </p:cNvSpPr>
          <p:nvPr/>
        </p:nvSpPr>
        <p:spPr bwMode="auto">
          <a:xfrm>
            <a:off x="224421" y="5378296"/>
            <a:ext cx="843915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de-DE"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where </a:t>
            </a:r>
            <a:r>
              <a:rPr kumimoji="0" lang="en-GB" altLang="en-US" sz="30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w</a:t>
            </a:r>
            <a:r>
              <a:rPr kumimoji="0" lang="de-DE" altLang="en-US" sz="3000" b="0" i="0" u="none" strike="noStrike" cap="none" normalizeH="0" baseline="-30000" dirty="0">
                <a:ln>
                  <a:noFill/>
                </a:ln>
                <a:solidFill>
                  <a:srgbClr val="002060"/>
                </a:solidFill>
                <a:effectLst/>
                <a:ea typeface="Times New Roman" panose="02020603050405020304" pitchFamily="18" charset="0"/>
              </a:rPr>
              <a:t>o</a:t>
            </a:r>
            <a:r>
              <a:rPr kumimoji="0" lang="de-DE"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2T = 2</a:t>
            </a:r>
            <a:r>
              <a:rPr kumimoji="0" lang="en-GB" altLang="en-US" sz="30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a:t>
            </a:r>
            <a:endParaRPr kumimoji="0" lang="en-GB" altLang="en-US" sz="11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0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de-DE" altLang="en-US" sz="3000" b="0" i="0" u="none" strike="noStrike" cap="none" normalizeH="0" baseline="0" dirty="0">
                <a:ln>
                  <a:noFill/>
                </a:ln>
                <a:solidFill>
                  <a:srgbClr val="002060"/>
                </a:solidFill>
                <a:effectLst/>
                <a:ea typeface="Times New Roman" panose="02020603050405020304" pitchFamily="18" charset="0"/>
              </a:rPr>
              <a:t> b(t) </a:t>
            </a:r>
            <a:r>
              <a:rPr kumimoji="0" lang="de-DE" altLang="en-US" sz="30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 b</a:t>
            </a:r>
            <a:r>
              <a:rPr kumimoji="0" lang="de-DE" altLang="en-US" sz="30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1</a:t>
            </a:r>
            <a:r>
              <a:rPr kumimoji="0" lang="de-DE" altLang="en-US" sz="30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(t +T/6) + E/2,   also  </a:t>
            </a:r>
            <a:r>
              <a:rPr kumimoji="0" lang="en-GB" altLang="en-US" sz="30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w</a:t>
            </a:r>
            <a:r>
              <a:rPr kumimoji="0" lang="de-DE" altLang="en-US" sz="3000" b="0" i="0" u="none" strike="noStrike" cap="none" normalizeH="0" baseline="-30000" dirty="0">
                <a:ln>
                  <a:noFill/>
                </a:ln>
                <a:solidFill>
                  <a:srgbClr val="002060"/>
                </a:solidFill>
                <a:effectLst/>
                <a:ea typeface="Times New Roman" panose="02020603050405020304" pitchFamily="18" charset="0"/>
                <a:sym typeface="Symbol" panose="05050102010706020507" pitchFamily="18" charset="2"/>
              </a:rPr>
              <a:t>o</a:t>
            </a:r>
            <a:r>
              <a:rPr kumimoji="0" lang="de-DE" altLang="en-US" sz="30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T/6 = </a:t>
            </a:r>
            <a:r>
              <a:rPr kumimoji="0" lang="en-GB" altLang="en-US" sz="30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p</a:t>
            </a:r>
            <a:r>
              <a:rPr kumimoji="0" lang="de-DE" altLang="en-US" sz="3000" b="0" i="0" u="none" strike="noStrike" cap="none" normalizeH="0" baseline="0" dirty="0">
                <a:ln>
                  <a:noFill/>
                </a:ln>
                <a:solidFill>
                  <a:srgbClr val="002060"/>
                </a:solidFill>
                <a:effectLst/>
                <a:ea typeface="Times New Roman" panose="02020603050405020304" pitchFamily="18" charset="0"/>
                <a:sym typeface="Symbol" panose="05050102010706020507" pitchFamily="18" charset="2"/>
              </a:rPr>
              <a:t>/6</a:t>
            </a:r>
            <a:endParaRPr kumimoji="0" lang="de-DE" altLang="en-US" sz="30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endParaRPr>
          </a:p>
        </p:txBody>
      </p:sp>
      <p:sp>
        <p:nvSpPr>
          <p:cNvPr id="30" name="Rectangle 29">
            <a:extLst>
              <a:ext uri="{FF2B5EF4-FFF2-40B4-BE49-F238E27FC236}">
                <a16:creationId xmlns:a16="http://schemas.microsoft.com/office/drawing/2014/main" id="{8BC4CB60-33FE-4B90-BEE4-D22E0AE66ACF}"/>
              </a:ext>
            </a:extLst>
          </p:cNvPr>
          <p:cNvSpPr/>
          <p:nvPr/>
        </p:nvSpPr>
        <p:spPr>
          <a:xfrm>
            <a:off x="224421" y="4433358"/>
            <a:ext cx="3400290" cy="523220"/>
          </a:xfrm>
          <a:prstGeom prst="rect">
            <a:avLst/>
          </a:prstGeom>
        </p:spPr>
        <p:txBody>
          <a:bodyPr wrap="none">
            <a:spAutoFit/>
          </a:bodyPr>
          <a:lstStyle/>
          <a:p>
            <a:pPr lvl="0" algn="just" eaLnBrk="0" fontAlgn="base" hangingPunct="0">
              <a:spcBef>
                <a:spcPct val="0"/>
              </a:spcBef>
              <a:spcAft>
                <a:spcPct val="0"/>
              </a:spcAft>
            </a:pPr>
            <a:r>
              <a:rPr lang="en-GB" altLang="en-US" sz="2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a:t>
            </a:r>
            <a:r>
              <a:rPr lang="de-DE" altLang="en-US" sz="2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b</a:t>
            </a:r>
            <a:r>
              <a:rPr lang="de-DE" altLang="en-US" sz="2800" baseline="-300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1</a:t>
            </a:r>
            <a:r>
              <a:rPr lang="de-DE" altLang="en-US" sz="2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(t)    = 1.5</a:t>
            </a:r>
            <a:r>
              <a:rPr lang="en-GB" altLang="en-US" sz="2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a:t>
            </a:r>
            <a:r>
              <a:rPr lang="de-DE" altLang="en-US" sz="2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 </a:t>
            </a:r>
            <a:endParaRPr lang="de-DE" altLang="en-US" sz="2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966231663"/>
      </p:ext>
    </p:extLst>
  </p:cSld>
  <p:clrMapOvr>
    <a:masterClrMapping/>
  </p:clrMapOvr>
  <mc:AlternateContent xmlns:mc="http://schemas.openxmlformats.org/markup-compatibility/2006" xmlns:p14="http://schemas.microsoft.com/office/powerpoint/2010/main">
    <mc:Choice Requires="p14">
      <p:transition spd="slow" p14:dur="2000" advTm="79817"/>
    </mc:Choice>
    <mc:Fallback xmlns="">
      <p:transition spd="slow" advTm="79817"/>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CC733E10-B61C-4763-8DD2-67658871613B}"/>
              </a:ext>
            </a:extLst>
          </p:cNvPr>
          <p:cNvGraphicFramePr>
            <a:graphicFrameLocks noChangeAspect="1"/>
          </p:cNvGraphicFramePr>
          <p:nvPr>
            <p:extLst>
              <p:ext uri="{D42A27DB-BD31-4B8C-83A1-F6EECF244321}">
                <p14:modId xmlns:p14="http://schemas.microsoft.com/office/powerpoint/2010/main" val="1995690292"/>
              </p:ext>
            </p:extLst>
          </p:nvPr>
        </p:nvGraphicFramePr>
        <p:xfrm>
          <a:off x="1155032" y="457200"/>
          <a:ext cx="10846468" cy="1333500"/>
        </p:xfrm>
        <a:graphic>
          <a:graphicData uri="http://schemas.openxmlformats.org/presentationml/2006/ole">
            <mc:AlternateContent xmlns:mc="http://schemas.openxmlformats.org/markup-compatibility/2006">
              <mc:Choice xmlns:v="urn:schemas-microsoft-com:vml" Requires="v">
                <p:oleObj r:id="rId3" imgW="5397500" imgH="609600" progId="Equation.3">
                  <p:embed/>
                </p:oleObj>
              </mc:Choice>
              <mc:Fallback>
                <p:oleObj r:id="rId3" imgW="5397500" imgH="609600" progId="Equation.3">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032" y="457200"/>
                        <a:ext cx="10846468" cy="1333500"/>
                      </a:xfrm>
                      <a:prstGeom prst="rect">
                        <a:avLst/>
                      </a:prstGeom>
                      <a:noFill/>
                    </p:spPr>
                  </p:pic>
                </p:oleObj>
              </mc:Fallback>
            </mc:AlternateContent>
          </a:graphicData>
        </a:graphic>
      </p:graphicFrame>
      <p:grpSp>
        <p:nvGrpSpPr>
          <p:cNvPr id="5" name="Group 4">
            <a:extLst>
              <a:ext uri="{FF2B5EF4-FFF2-40B4-BE49-F238E27FC236}">
                <a16:creationId xmlns:a16="http://schemas.microsoft.com/office/drawing/2014/main" id="{4C5A9FCB-B32F-490D-81F0-F8B95B550813}"/>
              </a:ext>
            </a:extLst>
          </p:cNvPr>
          <p:cNvGrpSpPr>
            <a:grpSpLocks/>
          </p:cNvGrpSpPr>
          <p:nvPr/>
        </p:nvGrpSpPr>
        <p:grpSpPr bwMode="auto">
          <a:xfrm>
            <a:off x="1155032" y="2135302"/>
            <a:ext cx="10021108" cy="3158593"/>
            <a:chOff x="4621" y="4166"/>
            <a:chExt cx="13642" cy="4233"/>
          </a:xfrm>
        </p:grpSpPr>
        <p:cxnSp>
          <p:nvCxnSpPr>
            <p:cNvPr id="6" name="Line 541">
              <a:extLst>
                <a:ext uri="{FF2B5EF4-FFF2-40B4-BE49-F238E27FC236}">
                  <a16:creationId xmlns:a16="http://schemas.microsoft.com/office/drawing/2014/main" id="{CE03691A-6850-4412-AE4B-0E115C45932D}"/>
                </a:ext>
              </a:extLst>
            </p:cNvPr>
            <p:cNvCxnSpPr>
              <a:cxnSpLocks noChangeShapeType="1"/>
            </p:cNvCxnSpPr>
            <p:nvPr/>
          </p:nvCxnSpPr>
          <p:spPr bwMode="auto">
            <a:xfrm>
              <a:off x="5124" y="4797"/>
              <a:ext cx="0" cy="2841"/>
            </a:xfrm>
            <a:prstGeom prst="line">
              <a:avLst/>
            </a:prstGeom>
            <a:noFill/>
            <a:ln w="31750">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7" name="Line 542">
              <a:extLst>
                <a:ext uri="{FF2B5EF4-FFF2-40B4-BE49-F238E27FC236}">
                  <a16:creationId xmlns:a16="http://schemas.microsoft.com/office/drawing/2014/main" id="{D9DD0443-D6DE-42B7-A1AF-7F452D0E24FE}"/>
                </a:ext>
              </a:extLst>
            </p:cNvPr>
            <p:cNvCxnSpPr>
              <a:cxnSpLocks noChangeShapeType="1"/>
            </p:cNvCxnSpPr>
            <p:nvPr/>
          </p:nvCxnSpPr>
          <p:spPr bwMode="auto">
            <a:xfrm>
              <a:off x="5124" y="7638"/>
              <a:ext cx="8050" cy="0"/>
            </a:xfrm>
            <a:prstGeom prst="line">
              <a:avLst/>
            </a:prstGeom>
            <a:noFill/>
            <a:ln w="3175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8" name="Line 543">
              <a:extLst>
                <a:ext uri="{FF2B5EF4-FFF2-40B4-BE49-F238E27FC236}">
                  <a16:creationId xmlns:a16="http://schemas.microsoft.com/office/drawing/2014/main" id="{BEF9FBB8-0CC2-49D3-B6E3-BA0340511189}"/>
                </a:ext>
              </a:extLst>
            </p:cNvPr>
            <p:cNvCxnSpPr>
              <a:cxnSpLocks noChangeShapeType="1"/>
            </p:cNvCxnSpPr>
            <p:nvPr/>
          </p:nvCxnSpPr>
          <p:spPr bwMode="auto">
            <a:xfrm>
              <a:off x="5124" y="7638"/>
              <a:ext cx="0" cy="16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cxnSp>
        <p:cxnSp>
          <p:nvCxnSpPr>
            <p:cNvPr id="9" name="Line 544">
              <a:extLst>
                <a:ext uri="{FF2B5EF4-FFF2-40B4-BE49-F238E27FC236}">
                  <a16:creationId xmlns:a16="http://schemas.microsoft.com/office/drawing/2014/main" id="{9C75DECA-84BC-4D03-B1DE-172C442BC199}"/>
                </a:ext>
              </a:extLst>
            </p:cNvPr>
            <p:cNvCxnSpPr>
              <a:cxnSpLocks noChangeShapeType="1"/>
            </p:cNvCxnSpPr>
            <p:nvPr/>
          </p:nvCxnSpPr>
          <p:spPr bwMode="auto">
            <a:xfrm>
              <a:off x="6130" y="7638"/>
              <a:ext cx="0" cy="16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cxnSp>
        <p:cxnSp>
          <p:nvCxnSpPr>
            <p:cNvPr id="10" name="Line 545">
              <a:extLst>
                <a:ext uri="{FF2B5EF4-FFF2-40B4-BE49-F238E27FC236}">
                  <a16:creationId xmlns:a16="http://schemas.microsoft.com/office/drawing/2014/main" id="{4E4C85FB-BA04-407E-B6DB-AB2A749B19B3}"/>
                </a:ext>
              </a:extLst>
            </p:cNvPr>
            <p:cNvCxnSpPr>
              <a:cxnSpLocks noChangeShapeType="1"/>
            </p:cNvCxnSpPr>
            <p:nvPr/>
          </p:nvCxnSpPr>
          <p:spPr bwMode="auto">
            <a:xfrm>
              <a:off x="7137" y="7638"/>
              <a:ext cx="0" cy="16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cxnSp>
        <p:cxnSp>
          <p:nvCxnSpPr>
            <p:cNvPr id="11" name="Line 546">
              <a:extLst>
                <a:ext uri="{FF2B5EF4-FFF2-40B4-BE49-F238E27FC236}">
                  <a16:creationId xmlns:a16="http://schemas.microsoft.com/office/drawing/2014/main" id="{5F143FC7-2288-4D26-8DB3-2436E7FF64D4}"/>
                </a:ext>
              </a:extLst>
            </p:cNvPr>
            <p:cNvCxnSpPr>
              <a:cxnSpLocks noChangeShapeType="1"/>
            </p:cNvCxnSpPr>
            <p:nvPr/>
          </p:nvCxnSpPr>
          <p:spPr bwMode="auto">
            <a:xfrm>
              <a:off x="8143" y="7638"/>
              <a:ext cx="0" cy="16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cxnSp>
        <p:cxnSp>
          <p:nvCxnSpPr>
            <p:cNvPr id="12" name="Line 547">
              <a:extLst>
                <a:ext uri="{FF2B5EF4-FFF2-40B4-BE49-F238E27FC236}">
                  <a16:creationId xmlns:a16="http://schemas.microsoft.com/office/drawing/2014/main" id="{C992803F-98F8-404C-B1D4-9663B41A14C2}"/>
                </a:ext>
              </a:extLst>
            </p:cNvPr>
            <p:cNvCxnSpPr>
              <a:cxnSpLocks noChangeShapeType="1"/>
            </p:cNvCxnSpPr>
            <p:nvPr/>
          </p:nvCxnSpPr>
          <p:spPr bwMode="auto">
            <a:xfrm>
              <a:off x="9149" y="7638"/>
              <a:ext cx="0" cy="16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cxnSp>
        <p:cxnSp>
          <p:nvCxnSpPr>
            <p:cNvPr id="13" name="Line 548">
              <a:extLst>
                <a:ext uri="{FF2B5EF4-FFF2-40B4-BE49-F238E27FC236}">
                  <a16:creationId xmlns:a16="http://schemas.microsoft.com/office/drawing/2014/main" id="{2D811891-9E4B-4328-ADB3-BD372066ED2D}"/>
                </a:ext>
              </a:extLst>
            </p:cNvPr>
            <p:cNvCxnSpPr>
              <a:cxnSpLocks noChangeShapeType="1"/>
            </p:cNvCxnSpPr>
            <p:nvPr/>
          </p:nvCxnSpPr>
          <p:spPr bwMode="auto">
            <a:xfrm>
              <a:off x="10155" y="7638"/>
              <a:ext cx="0" cy="16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cxnSp>
        <p:cxnSp>
          <p:nvCxnSpPr>
            <p:cNvPr id="14" name="Line 549">
              <a:extLst>
                <a:ext uri="{FF2B5EF4-FFF2-40B4-BE49-F238E27FC236}">
                  <a16:creationId xmlns:a16="http://schemas.microsoft.com/office/drawing/2014/main" id="{2BF5B428-5AE4-4482-8A06-6E3401CC4C30}"/>
                </a:ext>
              </a:extLst>
            </p:cNvPr>
            <p:cNvCxnSpPr>
              <a:cxnSpLocks noChangeShapeType="1"/>
            </p:cNvCxnSpPr>
            <p:nvPr/>
          </p:nvCxnSpPr>
          <p:spPr bwMode="auto">
            <a:xfrm>
              <a:off x="11162" y="7638"/>
              <a:ext cx="0" cy="16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cxnSp>
        <p:cxnSp>
          <p:nvCxnSpPr>
            <p:cNvPr id="15" name="Line 550">
              <a:extLst>
                <a:ext uri="{FF2B5EF4-FFF2-40B4-BE49-F238E27FC236}">
                  <a16:creationId xmlns:a16="http://schemas.microsoft.com/office/drawing/2014/main" id="{0D6760BD-9CD6-4258-8A62-F56914B13F6A}"/>
                </a:ext>
              </a:extLst>
            </p:cNvPr>
            <p:cNvCxnSpPr>
              <a:cxnSpLocks noChangeShapeType="1"/>
            </p:cNvCxnSpPr>
            <p:nvPr/>
          </p:nvCxnSpPr>
          <p:spPr bwMode="auto">
            <a:xfrm>
              <a:off x="12168" y="7638"/>
              <a:ext cx="0" cy="16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cxnSp>
        <p:sp>
          <p:nvSpPr>
            <p:cNvPr id="16" name="Text Box 551">
              <a:extLst>
                <a:ext uri="{FF2B5EF4-FFF2-40B4-BE49-F238E27FC236}">
                  <a16:creationId xmlns:a16="http://schemas.microsoft.com/office/drawing/2014/main" id="{3100B49F-95F9-4870-8C91-DAB13E6EA6F8}"/>
                </a:ext>
              </a:extLst>
            </p:cNvPr>
            <p:cNvSpPr txBox="1">
              <a:spLocks noChangeArrowheads="1"/>
            </p:cNvSpPr>
            <p:nvPr/>
          </p:nvSpPr>
          <p:spPr bwMode="auto">
            <a:xfrm>
              <a:off x="13583" y="5944"/>
              <a:ext cx="4680" cy="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FFFFFF"/>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200" dirty="0">
                  <a:solidFill>
                    <a:srgbClr val="002060"/>
                  </a:solidFill>
                  <a:effectLst/>
                  <a:latin typeface="Times New Roman" panose="02020603050405020304" pitchFamily="18" charset="0"/>
                  <a:ea typeface="Times New Roman" panose="02020603050405020304" pitchFamily="18" charset="0"/>
                </a:rPr>
                <a:t>Figure 15 – Line Spectrum</a:t>
              </a:r>
              <a:endParaRPr lang="en-GB" sz="1200" dirty="0">
                <a:effectLst/>
                <a:latin typeface="Times New Roman" panose="02020603050405020304" pitchFamily="18" charset="0"/>
                <a:ea typeface="Times New Roman" panose="02020603050405020304" pitchFamily="18" charset="0"/>
              </a:endParaRPr>
            </a:p>
          </p:txBody>
        </p:sp>
        <p:sp>
          <p:nvSpPr>
            <p:cNvPr id="17" name="Text Box 552">
              <a:extLst>
                <a:ext uri="{FF2B5EF4-FFF2-40B4-BE49-F238E27FC236}">
                  <a16:creationId xmlns:a16="http://schemas.microsoft.com/office/drawing/2014/main" id="{D61F530B-4755-4E99-AA13-510687939CC4}"/>
                </a:ext>
              </a:extLst>
            </p:cNvPr>
            <p:cNvSpPr txBox="1">
              <a:spLocks noChangeArrowheads="1"/>
            </p:cNvSpPr>
            <p:nvPr/>
          </p:nvSpPr>
          <p:spPr bwMode="auto">
            <a:xfrm>
              <a:off x="5030" y="7768"/>
              <a:ext cx="8553" cy="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FFFFFF"/>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400" dirty="0">
                  <a:solidFill>
                    <a:srgbClr val="002060"/>
                  </a:solidFill>
                  <a:effectLst/>
                  <a:latin typeface="Times New Roman" panose="02020603050405020304" pitchFamily="18" charset="0"/>
                  <a:ea typeface="Times New Roman" panose="02020603050405020304" pitchFamily="18" charset="0"/>
                </a:rPr>
                <a:t>0       </a:t>
              </a:r>
              <a:r>
                <a:rPr lang="en-GB" sz="2400" dirty="0">
                  <a:solidFill>
                    <a:srgbClr val="002060"/>
                  </a:solidFill>
                  <a:effectLst/>
                  <a:latin typeface="Symbol" panose="05050102010706020507" pitchFamily="18" charset="2"/>
                  <a:ea typeface="Times New Roman" panose="02020603050405020304" pitchFamily="18" charset="0"/>
                </a:rPr>
                <a:t>w</a:t>
              </a:r>
              <a:r>
                <a:rPr lang="en-GB" sz="2400" baseline="-25000" dirty="0">
                  <a:solidFill>
                    <a:srgbClr val="002060"/>
                  </a:solidFill>
                  <a:effectLst/>
                  <a:latin typeface="Times New Roman" panose="02020603050405020304" pitchFamily="18" charset="0"/>
                  <a:ea typeface="Times New Roman" panose="02020603050405020304" pitchFamily="18" charset="0"/>
                </a:rPr>
                <a:t>o</a:t>
              </a:r>
              <a:r>
                <a:rPr lang="en-GB" sz="2400" dirty="0">
                  <a:solidFill>
                    <a:srgbClr val="002060"/>
                  </a:solidFill>
                  <a:effectLst/>
                  <a:latin typeface="Times New Roman" panose="02020603050405020304" pitchFamily="18" charset="0"/>
                  <a:ea typeface="Times New Roman" panose="02020603050405020304" pitchFamily="18" charset="0"/>
                </a:rPr>
                <a:t>    2</a:t>
              </a:r>
              <a:r>
                <a:rPr lang="en-GB" sz="2400" dirty="0">
                  <a:solidFill>
                    <a:srgbClr val="002060"/>
                  </a:solidFill>
                  <a:effectLst/>
                  <a:latin typeface="Symbol" panose="05050102010706020507" pitchFamily="18" charset="2"/>
                  <a:ea typeface="Times New Roman" panose="02020603050405020304" pitchFamily="18" charset="0"/>
                </a:rPr>
                <a:t>w</a:t>
              </a:r>
              <a:r>
                <a:rPr lang="en-GB" sz="2400" baseline="-25000" dirty="0">
                  <a:solidFill>
                    <a:srgbClr val="002060"/>
                  </a:solidFill>
                  <a:effectLst/>
                  <a:latin typeface="Times New Roman" panose="02020603050405020304" pitchFamily="18" charset="0"/>
                  <a:ea typeface="Times New Roman" panose="02020603050405020304" pitchFamily="18" charset="0"/>
                </a:rPr>
                <a:t>o</a:t>
              </a:r>
              <a:r>
                <a:rPr lang="en-GB" sz="2400" dirty="0">
                  <a:solidFill>
                    <a:srgbClr val="002060"/>
                  </a:solidFill>
                  <a:effectLst/>
                  <a:latin typeface="Times New Roman" panose="02020603050405020304" pitchFamily="18" charset="0"/>
                  <a:ea typeface="Times New Roman" panose="02020603050405020304" pitchFamily="18" charset="0"/>
                </a:rPr>
                <a:t>    3</a:t>
              </a:r>
              <a:r>
                <a:rPr lang="en-GB" sz="2400" dirty="0">
                  <a:solidFill>
                    <a:srgbClr val="002060"/>
                  </a:solidFill>
                  <a:effectLst/>
                  <a:latin typeface="Symbol" panose="05050102010706020507" pitchFamily="18" charset="2"/>
                  <a:ea typeface="Times New Roman" panose="02020603050405020304" pitchFamily="18" charset="0"/>
                </a:rPr>
                <a:t>w</a:t>
              </a:r>
              <a:r>
                <a:rPr lang="en-GB" sz="2400" baseline="-25000" dirty="0">
                  <a:solidFill>
                    <a:srgbClr val="002060"/>
                  </a:solidFill>
                  <a:effectLst/>
                  <a:latin typeface="Times New Roman" panose="02020603050405020304" pitchFamily="18" charset="0"/>
                  <a:ea typeface="Times New Roman" panose="02020603050405020304" pitchFamily="18" charset="0"/>
                </a:rPr>
                <a:t>o</a:t>
              </a:r>
              <a:r>
                <a:rPr lang="en-GB" sz="2400" dirty="0">
                  <a:solidFill>
                    <a:srgbClr val="002060"/>
                  </a:solidFill>
                  <a:effectLst/>
                  <a:latin typeface="Times New Roman" panose="02020603050405020304" pitchFamily="18" charset="0"/>
                  <a:ea typeface="Times New Roman" panose="02020603050405020304" pitchFamily="18" charset="0"/>
                </a:rPr>
                <a:t>   4</a:t>
              </a:r>
              <a:r>
                <a:rPr lang="en-GB" sz="2400" dirty="0">
                  <a:solidFill>
                    <a:srgbClr val="002060"/>
                  </a:solidFill>
                  <a:effectLst/>
                  <a:latin typeface="Symbol" panose="05050102010706020507" pitchFamily="18" charset="2"/>
                  <a:ea typeface="Times New Roman" panose="02020603050405020304" pitchFamily="18" charset="0"/>
                </a:rPr>
                <a:t>w</a:t>
              </a:r>
              <a:r>
                <a:rPr lang="en-GB" sz="2400" baseline="-25000" dirty="0">
                  <a:solidFill>
                    <a:srgbClr val="002060"/>
                  </a:solidFill>
                  <a:effectLst/>
                  <a:latin typeface="Times New Roman" panose="02020603050405020304" pitchFamily="18" charset="0"/>
                  <a:ea typeface="Times New Roman" panose="02020603050405020304" pitchFamily="18" charset="0"/>
                </a:rPr>
                <a:t>o</a:t>
              </a:r>
              <a:r>
                <a:rPr lang="en-GB" sz="2400" dirty="0">
                  <a:solidFill>
                    <a:srgbClr val="002060"/>
                  </a:solidFill>
                  <a:effectLst/>
                  <a:latin typeface="Times New Roman" panose="02020603050405020304" pitchFamily="18" charset="0"/>
                  <a:ea typeface="Times New Roman" panose="02020603050405020304" pitchFamily="18" charset="0"/>
                </a:rPr>
                <a:t>    5</a:t>
              </a:r>
              <a:r>
                <a:rPr lang="en-GB" sz="2400" dirty="0">
                  <a:solidFill>
                    <a:srgbClr val="002060"/>
                  </a:solidFill>
                  <a:effectLst/>
                  <a:latin typeface="Symbol" panose="05050102010706020507" pitchFamily="18" charset="2"/>
                  <a:ea typeface="Times New Roman" panose="02020603050405020304" pitchFamily="18" charset="0"/>
                </a:rPr>
                <a:t>w</a:t>
              </a:r>
              <a:r>
                <a:rPr lang="en-GB" sz="2400" baseline="-25000" dirty="0">
                  <a:solidFill>
                    <a:srgbClr val="002060"/>
                  </a:solidFill>
                  <a:effectLst/>
                  <a:latin typeface="Times New Roman" panose="02020603050405020304" pitchFamily="18" charset="0"/>
                  <a:ea typeface="Times New Roman" panose="02020603050405020304" pitchFamily="18" charset="0"/>
                </a:rPr>
                <a:t>o</a:t>
              </a:r>
              <a:r>
                <a:rPr lang="en-GB" sz="2400" dirty="0">
                  <a:solidFill>
                    <a:srgbClr val="002060"/>
                  </a:solidFill>
                  <a:effectLst/>
                  <a:latin typeface="Times New Roman" panose="02020603050405020304" pitchFamily="18" charset="0"/>
                  <a:ea typeface="Times New Roman" panose="02020603050405020304" pitchFamily="18" charset="0"/>
                </a:rPr>
                <a:t>    6</a:t>
              </a:r>
              <a:r>
                <a:rPr lang="en-GB" sz="2400" dirty="0">
                  <a:solidFill>
                    <a:srgbClr val="002060"/>
                  </a:solidFill>
                  <a:effectLst/>
                  <a:latin typeface="Symbol" panose="05050102010706020507" pitchFamily="18" charset="2"/>
                  <a:ea typeface="Times New Roman" panose="02020603050405020304" pitchFamily="18" charset="0"/>
                </a:rPr>
                <a:t>w</a:t>
              </a:r>
              <a:r>
                <a:rPr lang="en-GB" sz="2400" baseline="-25000" dirty="0">
                  <a:solidFill>
                    <a:srgbClr val="002060"/>
                  </a:solidFill>
                  <a:effectLst/>
                  <a:latin typeface="Times New Roman" panose="02020603050405020304" pitchFamily="18" charset="0"/>
                  <a:ea typeface="Times New Roman" panose="02020603050405020304" pitchFamily="18" charset="0"/>
                </a:rPr>
                <a:t>o</a:t>
              </a:r>
              <a:r>
                <a:rPr lang="en-GB" sz="2400" dirty="0">
                  <a:solidFill>
                    <a:srgbClr val="002060"/>
                  </a:solidFill>
                  <a:effectLst/>
                  <a:latin typeface="Times New Roman" panose="02020603050405020304" pitchFamily="18" charset="0"/>
                  <a:ea typeface="Times New Roman" panose="02020603050405020304" pitchFamily="18" charset="0"/>
                </a:rPr>
                <a:t>   7</a:t>
              </a:r>
              <a:r>
                <a:rPr lang="en-GB" sz="2400" dirty="0">
                  <a:solidFill>
                    <a:srgbClr val="002060"/>
                  </a:solidFill>
                  <a:effectLst/>
                  <a:latin typeface="Symbol" panose="05050102010706020507" pitchFamily="18" charset="2"/>
                  <a:ea typeface="Times New Roman" panose="02020603050405020304" pitchFamily="18" charset="0"/>
                </a:rPr>
                <a:t>w</a:t>
              </a:r>
              <a:r>
                <a:rPr lang="en-GB" sz="2400" baseline="-25000" dirty="0">
                  <a:solidFill>
                    <a:srgbClr val="002060"/>
                  </a:solidFill>
                  <a:effectLst/>
                  <a:latin typeface="Times New Roman" panose="02020603050405020304" pitchFamily="18" charset="0"/>
                  <a:ea typeface="Times New Roman" panose="02020603050405020304" pitchFamily="18" charset="0"/>
                </a:rPr>
                <a:t>o</a:t>
              </a:r>
              <a:r>
                <a:rPr lang="en-GB" sz="2400" dirty="0">
                  <a:solidFill>
                    <a:srgbClr val="002060"/>
                  </a:solidFill>
                  <a:effectLst/>
                  <a:latin typeface="Times New Roman" panose="02020603050405020304" pitchFamily="18" charset="0"/>
                  <a:ea typeface="Times New Roman" panose="02020603050405020304" pitchFamily="18" charset="0"/>
                </a:rPr>
                <a:t>    </a:t>
              </a:r>
              <a:r>
                <a:rPr lang="en-GB" sz="2800" dirty="0">
                  <a:solidFill>
                    <a:srgbClr val="002060"/>
                  </a:solidFill>
                  <a:effectLst/>
                  <a:latin typeface="Times New Roman" panose="02020603050405020304" pitchFamily="18" charset="0"/>
                  <a:ea typeface="Times New Roman" panose="02020603050405020304" pitchFamily="18" charset="0"/>
                </a:rPr>
                <a:t>t</a:t>
              </a:r>
              <a:endParaRPr lang="en-GB" sz="1400" dirty="0">
                <a:effectLst/>
                <a:latin typeface="Times New Roman" panose="02020603050405020304" pitchFamily="18" charset="0"/>
                <a:ea typeface="Times New Roman" panose="02020603050405020304" pitchFamily="18" charset="0"/>
              </a:endParaRPr>
            </a:p>
          </p:txBody>
        </p:sp>
        <p:cxnSp>
          <p:nvCxnSpPr>
            <p:cNvPr id="18" name="Line 553">
              <a:extLst>
                <a:ext uri="{FF2B5EF4-FFF2-40B4-BE49-F238E27FC236}">
                  <a16:creationId xmlns:a16="http://schemas.microsoft.com/office/drawing/2014/main" id="{95B28804-04C8-463C-BB3E-EED0A46BA8FA}"/>
                </a:ext>
              </a:extLst>
            </p:cNvPr>
            <p:cNvCxnSpPr>
              <a:cxnSpLocks noChangeShapeType="1"/>
            </p:cNvCxnSpPr>
            <p:nvPr/>
          </p:nvCxnSpPr>
          <p:spPr bwMode="auto">
            <a:xfrm flipV="1">
              <a:off x="6130" y="5113"/>
              <a:ext cx="0" cy="2525"/>
            </a:xfrm>
            <a:prstGeom prst="line">
              <a:avLst/>
            </a:prstGeom>
            <a:noFill/>
            <a:ln w="76200" cmpd="sng">
              <a:solidFill>
                <a:srgbClr val="C00000"/>
              </a:solidFill>
              <a:round/>
              <a:headEnd/>
              <a:tailEnd/>
            </a:ln>
            <a:extLst>
              <a:ext uri="{909E8E84-426E-40DD-AFC4-6F175D3DCCD1}">
                <a14:hiddenFill xmlns:a14="http://schemas.microsoft.com/office/drawing/2010/main">
                  <a:noFill/>
                </a14:hiddenFill>
              </a:ext>
            </a:extLst>
          </p:spPr>
        </p:cxnSp>
        <p:cxnSp>
          <p:nvCxnSpPr>
            <p:cNvPr id="19" name="Line 554">
              <a:extLst>
                <a:ext uri="{FF2B5EF4-FFF2-40B4-BE49-F238E27FC236}">
                  <a16:creationId xmlns:a16="http://schemas.microsoft.com/office/drawing/2014/main" id="{CB8DBFFB-A4BC-4C18-9991-007A5283D77A}"/>
                </a:ext>
              </a:extLst>
            </p:cNvPr>
            <p:cNvCxnSpPr>
              <a:cxnSpLocks noChangeShapeType="1"/>
            </p:cNvCxnSpPr>
            <p:nvPr/>
          </p:nvCxnSpPr>
          <p:spPr bwMode="auto">
            <a:xfrm flipV="1">
              <a:off x="8143" y="6804"/>
              <a:ext cx="0" cy="834"/>
            </a:xfrm>
            <a:prstGeom prst="line">
              <a:avLst/>
            </a:prstGeom>
            <a:noFill/>
            <a:ln w="76200" cmpd="sng">
              <a:solidFill>
                <a:srgbClr val="C00000"/>
              </a:solidFill>
              <a:round/>
              <a:headEnd/>
              <a:tailEnd/>
            </a:ln>
            <a:extLst>
              <a:ext uri="{909E8E84-426E-40DD-AFC4-6F175D3DCCD1}">
                <a14:hiddenFill xmlns:a14="http://schemas.microsoft.com/office/drawing/2010/main">
                  <a:noFill/>
                </a14:hiddenFill>
              </a:ext>
            </a:extLst>
          </p:spPr>
        </p:cxnSp>
        <p:cxnSp>
          <p:nvCxnSpPr>
            <p:cNvPr id="20" name="Line 555">
              <a:extLst>
                <a:ext uri="{FF2B5EF4-FFF2-40B4-BE49-F238E27FC236}">
                  <a16:creationId xmlns:a16="http://schemas.microsoft.com/office/drawing/2014/main" id="{51127415-95D7-41ED-B03E-8B469DA1D37E}"/>
                </a:ext>
              </a:extLst>
            </p:cNvPr>
            <p:cNvCxnSpPr>
              <a:cxnSpLocks noChangeShapeType="1"/>
            </p:cNvCxnSpPr>
            <p:nvPr/>
          </p:nvCxnSpPr>
          <p:spPr bwMode="auto">
            <a:xfrm flipV="1">
              <a:off x="10155" y="7132"/>
              <a:ext cx="0" cy="506"/>
            </a:xfrm>
            <a:prstGeom prst="line">
              <a:avLst/>
            </a:prstGeom>
            <a:noFill/>
            <a:ln w="76200" cmpd="sng">
              <a:solidFill>
                <a:srgbClr val="C00000"/>
              </a:solidFill>
              <a:round/>
              <a:headEnd/>
              <a:tailEnd/>
            </a:ln>
            <a:extLst>
              <a:ext uri="{909E8E84-426E-40DD-AFC4-6F175D3DCCD1}">
                <a14:hiddenFill xmlns:a14="http://schemas.microsoft.com/office/drawing/2010/main">
                  <a:noFill/>
                </a14:hiddenFill>
              </a:ext>
            </a:extLst>
          </p:spPr>
        </p:cxnSp>
        <p:cxnSp>
          <p:nvCxnSpPr>
            <p:cNvPr id="21" name="Line 556">
              <a:extLst>
                <a:ext uri="{FF2B5EF4-FFF2-40B4-BE49-F238E27FC236}">
                  <a16:creationId xmlns:a16="http://schemas.microsoft.com/office/drawing/2014/main" id="{07A1EA4D-9663-45AE-8418-3E7ECF4F8F13}"/>
                </a:ext>
              </a:extLst>
            </p:cNvPr>
            <p:cNvCxnSpPr>
              <a:cxnSpLocks noChangeShapeType="1"/>
            </p:cNvCxnSpPr>
            <p:nvPr/>
          </p:nvCxnSpPr>
          <p:spPr bwMode="auto">
            <a:xfrm flipV="1">
              <a:off x="12168" y="7281"/>
              <a:ext cx="0" cy="357"/>
            </a:xfrm>
            <a:prstGeom prst="line">
              <a:avLst/>
            </a:prstGeom>
            <a:noFill/>
            <a:ln w="76200" cmpd="sng">
              <a:solidFill>
                <a:srgbClr val="C00000"/>
              </a:solidFill>
              <a:round/>
              <a:headEnd/>
              <a:tailEnd/>
            </a:ln>
            <a:extLst>
              <a:ext uri="{909E8E84-426E-40DD-AFC4-6F175D3DCCD1}">
                <a14:hiddenFill xmlns:a14="http://schemas.microsoft.com/office/drawing/2010/main">
                  <a:noFill/>
                </a14:hiddenFill>
              </a:ext>
            </a:extLst>
          </p:spPr>
        </p:cxnSp>
        <p:sp>
          <p:nvSpPr>
            <p:cNvPr id="22" name="Text Box 557">
              <a:extLst>
                <a:ext uri="{FF2B5EF4-FFF2-40B4-BE49-F238E27FC236}">
                  <a16:creationId xmlns:a16="http://schemas.microsoft.com/office/drawing/2014/main" id="{AC9949F8-6BB7-48E5-A03B-471D8D2A9B72}"/>
                </a:ext>
              </a:extLst>
            </p:cNvPr>
            <p:cNvSpPr txBox="1">
              <a:spLocks noChangeArrowheads="1"/>
            </p:cNvSpPr>
            <p:nvPr/>
          </p:nvSpPr>
          <p:spPr bwMode="auto">
            <a:xfrm>
              <a:off x="4621" y="4166"/>
              <a:ext cx="2516" cy="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FFFFFF"/>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200">
                  <a:solidFill>
                    <a:srgbClr val="002060"/>
                  </a:solidFill>
                  <a:effectLst/>
                  <a:latin typeface="Times New Roman" panose="02020603050405020304" pitchFamily="18" charset="0"/>
                  <a:ea typeface="Times New Roman" panose="02020603050405020304" pitchFamily="18" charset="0"/>
                </a:rPr>
                <a:t>Amplitude</a:t>
              </a:r>
              <a:endParaRPr lang="en-GB" sz="1200">
                <a:effectLst/>
                <a:latin typeface="Times New Roman" panose="02020603050405020304" pitchFamily="18" charset="0"/>
                <a:ea typeface="Times New Roman" panose="02020603050405020304" pitchFamily="18" charset="0"/>
              </a:endParaRPr>
            </a:p>
          </p:txBody>
        </p:sp>
        <p:cxnSp>
          <p:nvCxnSpPr>
            <p:cNvPr id="23" name="Line 558">
              <a:extLst>
                <a:ext uri="{FF2B5EF4-FFF2-40B4-BE49-F238E27FC236}">
                  <a16:creationId xmlns:a16="http://schemas.microsoft.com/office/drawing/2014/main" id="{8F19E410-59A6-47AC-8875-1BE8AF4BCC7B}"/>
                </a:ext>
              </a:extLst>
            </p:cNvPr>
            <p:cNvCxnSpPr>
              <a:cxnSpLocks noChangeShapeType="1"/>
            </p:cNvCxnSpPr>
            <p:nvPr/>
          </p:nvCxnSpPr>
          <p:spPr bwMode="auto">
            <a:xfrm flipV="1">
              <a:off x="5124" y="6982"/>
              <a:ext cx="0" cy="656"/>
            </a:xfrm>
            <a:prstGeom prst="line">
              <a:avLst/>
            </a:prstGeom>
            <a:noFill/>
            <a:ln w="76200" cmpd="sng">
              <a:solidFill>
                <a:srgbClr val="C00000"/>
              </a:solidFill>
              <a:round/>
              <a:headEnd/>
              <a:tailEnd/>
            </a:ln>
            <a:extLst>
              <a:ext uri="{909E8E84-426E-40DD-AFC4-6F175D3DCCD1}">
                <a14:hiddenFill xmlns:a14="http://schemas.microsoft.com/office/drawing/2010/main">
                  <a:noFill/>
                </a14:hiddenFill>
              </a:ext>
            </a:extLst>
          </p:spPr>
        </p:cxnSp>
      </p:grpSp>
      <p:sp>
        <p:nvSpPr>
          <p:cNvPr id="4" name="Rectangle 21">
            <a:extLst>
              <a:ext uri="{FF2B5EF4-FFF2-40B4-BE49-F238E27FC236}">
                <a16:creationId xmlns:a16="http://schemas.microsoft.com/office/drawing/2014/main" id="{2DA7C4DA-273B-4E50-B067-0DB54DD5FE5A}"/>
              </a:ext>
            </a:extLst>
          </p:cNvPr>
          <p:cNvSpPr>
            <a:spLocks noChangeArrowheads="1"/>
          </p:cNvSpPr>
          <p:nvPr/>
        </p:nvSpPr>
        <p:spPr bwMode="auto">
          <a:xfrm>
            <a:off x="-1" y="828124"/>
            <a:ext cx="197317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b(t) = </a:t>
            </a:r>
            <a:endParaRPr kumimoji="0" lang="en-GB" altLang="en-US" sz="1600" b="0" i="0" u="none" strike="noStrike" cap="none" normalizeH="0" baseline="0" dirty="0">
              <a:ln>
                <a:noFill/>
              </a:ln>
              <a:solidFill>
                <a:schemeClr val="tx1"/>
              </a:solidFill>
              <a:effectLst/>
              <a:latin typeface="Arial" panose="020B0604020202020204" pitchFamily="34" charset="0"/>
            </a:endParaRPr>
          </a:p>
        </p:txBody>
      </p:sp>
      <p:sp>
        <p:nvSpPr>
          <p:cNvPr id="25" name="Rectangle 26">
            <a:extLst>
              <a:ext uri="{FF2B5EF4-FFF2-40B4-BE49-F238E27FC236}">
                <a16:creationId xmlns:a16="http://schemas.microsoft.com/office/drawing/2014/main" id="{F55435DD-0F0D-43F8-A73F-A540B5C5168C}"/>
              </a:ext>
            </a:extLst>
          </p:cNvPr>
          <p:cNvSpPr>
            <a:spLocks noChangeArrowheads="1"/>
          </p:cNvSpPr>
          <p:nvPr/>
        </p:nvSpPr>
        <p:spPr bwMode="auto">
          <a:xfrm>
            <a:off x="-1" y="1677556"/>
            <a:ext cx="12001496"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If problem is worked from first principles the resultant would be same.  </a:t>
            </a:r>
            <a:endParaRPr kumimoji="0" lang="en-GB" altLang="en-US" sz="3000" b="0" i="0" u="none" strike="noStrike" cap="none" normalizeH="0" baseline="0" dirty="0">
              <a:ln>
                <a:noFill/>
              </a:ln>
              <a:solidFill>
                <a:schemeClr val="tx1"/>
              </a:solidFill>
              <a:effectLst/>
              <a:latin typeface="Arial" panose="020B0604020202020204" pitchFamily="34" charset="0"/>
            </a:endParaRPr>
          </a:p>
        </p:txBody>
      </p:sp>
      <p:sp>
        <p:nvSpPr>
          <p:cNvPr id="27" name="Rectangle 26">
            <a:extLst>
              <a:ext uri="{FF2B5EF4-FFF2-40B4-BE49-F238E27FC236}">
                <a16:creationId xmlns:a16="http://schemas.microsoft.com/office/drawing/2014/main" id="{D1EBEC1D-4150-4E80-987F-464B155C682B}"/>
              </a:ext>
            </a:extLst>
          </p:cNvPr>
          <p:cNvSpPr>
            <a:spLocks noChangeArrowheads="1"/>
          </p:cNvSpPr>
          <p:nvPr/>
        </p:nvSpPr>
        <p:spPr bwMode="auto">
          <a:xfrm>
            <a:off x="152400" y="5146436"/>
            <a:ext cx="966536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Figure 15 shows the corresponding line spectrum.  </a:t>
            </a:r>
            <a:endParaRPr kumimoji="0" lang="en-GB" altLang="en-US" sz="3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Only differences from earlier are that amplitudes are 1.5 times higher and a </a:t>
            </a:r>
            <a:r>
              <a:rPr kumimoji="0" lang="en-GB" altLang="en-US" sz="30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d.c.</a:t>
            </a:r>
            <a:r>
              <a:rPr kumimoji="0" lang="en-GB"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term is present.</a:t>
            </a:r>
            <a:endParaRPr kumimoji="0" lang="en-GB" altLang="en-US" sz="3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64007687"/>
      </p:ext>
    </p:extLst>
  </p:cSld>
  <p:clrMapOvr>
    <a:masterClrMapping/>
  </p:clrMapOvr>
  <mc:AlternateContent xmlns:mc="http://schemas.openxmlformats.org/markup-compatibility/2006" xmlns:p14="http://schemas.microsoft.com/office/powerpoint/2010/main">
    <mc:Choice Requires="p14">
      <p:transition spd="slow" p14:dur="2000" advTm="36995"/>
    </mc:Choice>
    <mc:Fallback xmlns="">
      <p:transition spd="slow" advTm="36995"/>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213148" y="514228"/>
            <a:ext cx="10924085" cy="553998"/>
          </a:xfrm>
        </p:spPr>
        <p:txBody>
          <a:bodyPr>
            <a:normAutofit fontScale="90000"/>
          </a:bodyPr>
          <a:lstStyle/>
          <a:p>
            <a:pPr algn="l"/>
            <a:r>
              <a:rPr lang="en-GB" sz="3600" dirty="0"/>
              <a:t>Example 3</a:t>
            </a:r>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1812266C-6084-4BBF-BC05-125BC75E2325}"/>
              </a:ext>
            </a:extLst>
          </p:cNvPr>
          <p:cNvGraphicFramePr>
            <a:graphicFrameLocks noChangeAspect="1"/>
          </p:cNvGraphicFramePr>
          <p:nvPr>
            <p:extLst>
              <p:ext uri="{D42A27DB-BD31-4B8C-83A1-F6EECF244321}">
                <p14:modId xmlns:p14="http://schemas.microsoft.com/office/powerpoint/2010/main" val="2730789848"/>
              </p:ext>
            </p:extLst>
          </p:nvPr>
        </p:nvGraphicFramePr>
        <p:xfrm>
          <a:off x="429715" y="4148750"/>
          <a:ext cx="5467350" cy="1276350"/>
        </p:xfrm>
        <a:graphic>
          <a:graphicData uri="http://schemas.openxmlformats.org/presentationml/2006/ole">
            <mc:AlternateContent xmlns:mc="http://schemas.openxmlformats.org/markup-compatibility/2006">
              <mc:Choice xmlns:v="urn:schemas-microsoft-com:vml" Requires="v">
                <p:oleObj r:id="rId3" imgW="2032000" imgH="482600" progId="Equation.3">
                  <p:embed/>
                </p:oleObj>
              </mc:Choice>
              <mc:Fallback>
                <p:oleObj r:id="rId3" imgW="2032000" imgH="482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715" y="4148750"/>
                        <a:ext cx="5467350" cy="1276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E2E3FD53-A0B8-4F80-94D4-10C349068827}"/>
              </a:ext>
            </a:extLst>
          </p:cNvPr>
          <p:cNvGraphicFramePr>
            <a:graphicFrameLocks noChangeAspect="1"/>
          </p:cNvGraphicFramePr>
          <p:nvPr>
            <p:extLst>
              <p:ext uri="{D42A27DB-BD31-4B8C-83A1-F6EECF244321}">
                <p14:modId xmlns:p14="http://schemas.microsoft.com/office/powerpoint/2010/main" val="3095012891"/>
              </p:ext>
            </p:extLst>
          </p:nvPr>
        </p:nvGraphicFramePr>
        <p:xfrm>
          <a:off x="1295991" y="5343333"/>
          <a:ext cx="5924550" cy="1390650"/>
        </p:xfrm>
        <a:graphic>
          <a:graphicData uri="http://schemas.openxmlformats.org/presentationml/2006/ole">
            <mc:AlternateContent xmlns:mc="http://schemas.openxmlformats.org/markup-compatibility/2006">
              <mc:Choice xmlns:v="urn:schemas-microsoft-com:vml" Requires="v">
                <p:oleObj r:id="rId5" imgW="2387600" imgH="558800" progId="Equation.3">
                  <p:embed/>
                </p:oleObj>
              </mc:Choice>
              <mc:Fallback>
                <p:oleObj r:id="rId5" imgW="2387600" imgH="5588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991" y="5343333"/>
                        <a:ext cx="5924550" cy="1390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3">
            <a:extLst>
              <a:ext uri="{FF2B5EF4-FFF2-40B4-BE49-F238E27FC236}">
                <a16:creationId xmlns:a16="http://schemas.microsoft.com/office/drawing/2014/main" id="{FA0DAFBA-1398-4AC2-B90F-8C4CB1D59279}"/>
              </a:ext>
            </a:extLst>
          </p:cNvPr>
          <p:cNvSpPr>
            <a:spLocks noChangeArrowheads="1"/>
          </p:cNvSpPr>
          <p:nvPr/>
        </p:nvSpPr>
        <p:spPr bwMode="auto">
          <a:xfrm>
            <a:off x="152400" y="949333"/>
            <a:ext cx="12039600" cy="3148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1pPr>
            <a:lvl2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2pPr>
            <a:lvl3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3pPr>
            <a:lvl4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4pPr>
            <a:lvl5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5pPr>
            <a:lvl6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6pPr>
            <a:lvl7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7pPr>
            <a:lvl8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8pPr>
            <a:lvl9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tab pos="457200" algn="r"/>
                <a:tab pos="2743200" algn="ctr"/>
                <a:tab pos="5486400" algn="r"/>
              </a:tabLst>
            </a:pPr>
            <a:r>
              <a:rPr kumimoji="0" lang="en-GB" altLang="en-US" sz="2800" b="0" i="0" u="none" strike="noStrike" cap="none" normalizeH="0" baseline="0" dirty="0">
                <a:ln>
                  <a:noFill/>
                </a:ln>
                <a:solidFill>
                  <a:srgbClr val="002060"/>
                </a:solidFill>
                <a:effectLst/>
                <a:ea typeface="Times New Roman" panose="02020603050405020304" pitchFamily="18" charset="0"/>
              </a:rPr>
              <a:t>Find Fourier Series of  triangular waveform shown in figure 16.</a:t>
            </a:r>
            <a:endParaRPr kumimoji="0" lang="en-GB"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20000"/>
              </a:lnSpc>
              <a:spcBef>
                <a:spcPct val="0"/>
              </a:spcBef>
              <a:spcAft>
                <a:spcPct val="0"/>
              </a:spcAft>
              <a:buClrTx/>
              <a:buSzTx/>
              <a:buFontTx/>
              <a:buNone/>
              <a:tabLst>
                <a:tab pos="457200" algn="r"/>
                <a:tab pos="2743200" algn="ctr"/>
                <a:tab pos="5486400" algn="r"/>
              </a:tabLst>
            </a:pPr>
            <a:r>
              <a:rPr kumimoji="0" lang="en-GB" altLang="en-US" sz="2800" b="0" i="1" u="none" strike="noStrike" cap="none" normalizeH="0" baseline="0" dirty="0">
                <a:ln>
                  <a:noFill/>
                </a:ln>
                <a:solidFill>
                  <a:srgbClr val="002060"/>
                </a:solidFill>
                <a:effectLst/>
                <a:ea typeface="Times New Roman" panose="02020603050405020304" pitchFamily="18" charset="0"/>
              </a:rPr>
              <a:t>Solution</a:t>
            </a:r>
            <a:endParaRPr kumimoji="0" lang="en-GB"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20000"/>
              </a:lnSpc>
              <a:spcBef>
                <a:spcPct val="0"/>
              </a:spcBef>
              <a:spcAft>
                <a:spcPct val="0"/>
              </a:spcAft>
              <a:buClrTx/>
              <a:buSzTx/>
              <a:buFontTx/>
              <a:buNone/>
              <a:tabLst>
                <a:tab pos="457200" algn="r"/>
                <a:tab pos="2743200" algn="ctr"/>
                <a:tab pos="5486400" algn="r"/>
              </a:tabLst>
            </a:pPr>
            <a:r>
              <a:rPr kumimoji="0" lang="en-GB" altLang="en-US" sz="2800" b="0" i="0" u="none" strike="noStrike" cap="none" normalizeH="0" baseline="0" dirty="0">
                <a:ln>
                  <a:noFill/>
                </a:ln>
                <a:solidFill>
                  <a:srgbClr val="002060"/>
                </a:solidFill>
                <a:effectLst/>
                <a:ea typeface="Times New Roman" panose="02020603050405020304" pitchFamily="18" charset="0"/>
              </a:rPr>
              <a:t>Period of waveform = 2T,    </a:t>
            </a:r>
            <a:r>
              <a:rPr kumimoji="0" lang="en-GB" altLang="en-US" sz="28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w</a:t>
            </a:r>
            <a:r>
              <a:rPr kumimoji="0" lang="en-GB" altLang="en-US" sz="2800" b="0" i="0" u="none" strike="noStrike" cap="none" normalizeH="0" baseline="-30000" dirty="0">
                <a:ln>
                  <a:noFill/>
                </a:ln>
                <a:solidFill>
                  <a:srgbClr val="002060"/>
                </a:solidFill>
                <a:effectLst/>
                <a:ea typeface="Times New Roman" panose="02020603050405020304" pitchFamily="18" charset="0"/>
              </a:rPr>
              <a:t>o</a:t>
            </a:r>
            <a:r>
              <a:rPr kumimoji="0" lang="en-GB" altLang="en-US" sz="2800" b="0" i="0" u="none" strike="noStrike" cap="none" normalizeH="0" baseline="0" dirty="0">
                <a:ln>
                  <a:noFill/>
                </a:ln>
                <a:solidFill>
                  <a:srgbClr val="002060"/>
                </a:solidFill>
                <a:effectLst/>
                <a:ea typeface="Times New Roman" panose="02020603050405020304" pitchFamily="18" charset="0"/>
              </a:rPr>
              <a:t>.2T = 2</a:t>
            </a:r>
            <a:r>
              <a:rPr kumimoji="0" lang="en-GB" altLang="en-US" sz="28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a:t>
            </a:r>
            <a:endParaRPr kumimoji="0" lang="en-GB"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20000"/>
              </a:lnSpc>
              <a:spcBef>
                <a:spcPct val="0"/>
              </a:spcBef>
              <a:spcAft>
                <a:spcPct val="0"/>
              </a:spcAft>
              <a:buClrTx/>
              <a:buSzTx/>
              <a:buFontTx/>
              <a:buNone/>
              <a:tabLst>
                <a:tab pos="457200" algn="r"/>
              </a:tabLst>
            </a:pPr>
            <a:r>
              <a:rPr kumimoji="0" lang="en-GB" altLang="en-US" sz="2800" b="0" i="0" u="none" strike="noStrike" cap="none" normalizeH="0" baseline="0" dirty="0">
                <a:ln>
                  <a:noFill/>
                </a:ln>
                <a:solidFill>
                  <a:srgbClr val="002060"/>
                </a:solidFill>
                <a:effectLst/>
                <a:ea typeface="Times New Roman" panose="02020603050405020304" pitchFamily="18" charset="0"/>
              </a:rPr>
              <a:t>Mean value = 0.   	</a:t>
            </a:r>
            <a:r>
              <a:rPr lang="en-GB" altLang="en-US" sz="2800" dirty="0">
                <a:solidFill>
                  <a:srgbClr val="002060"/>
                </a:solidFill>
                <a:ea typeface="Times New Roman" panose="02020603050405020304" pitchFamily="18" charset="0"/>
              </a:rPr>
              <a:t>      </a:t>
            </a: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2800" b="0" i="0" u="none" strike="noStrike" cap="none" normalizeH="0" baseline="0" dirty="0" err="1">
                <a:ln>
                  <a:noFill/>
                </a:ln>
                <a:solidFill>
                  <a:srgbClr val="002060"/>
                </a:solidFill>
                <a:effectLst/>
                <a:ea typeface="Times New Roman" panose="02020603050405020304" pitchFamily="18" charset="0"/>
              </a:rPr>
              <a:t>A</a:t>
            </a:r>
            <a:r>
              <a:rPr kumimoji="0" lang="en-GB" altLang="en-US" sz="2800" b="0" i="0" u="none" strike="noStrike" cap="none" normalizeH="0" baseline="-3000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o</a:t>
            </a: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/2</a:t>
            </a:r>
            <a:r>
              <a:rPr kumimoji="0" lang="en-GB" altLang="en-US" sz="28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0</a:t>
            </a:r>
            <a:endParaRPr kumimoji="0" lang="en-GB" altLang="en-US" sz="28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20000"/>
              </a:lnSpc>
              <a:spcBef>
                <a:spcPct val="0"/>
              </a:spcBef>
              <a:spcAft>
                <a:spcPct val="0"/>
              </a:spcAft>
              <a:buClrTx/>
              <a:buSzTx/>
              <a:buFontTx/>
              <a:buNone/>
              <a:tabLst>
                <a:tab pos="457200" algn="r"/>
              </a:tabLst>
            </a:pPr>
            <a:r>
              <a:rPr kumimoji="0" lang="en-GB" altLang="en-US" sz="2800" b="0" i="0" u="none" strike="noStrike" cap="none" normalizeH="0" baseline="0" dirty="0">
                <a:ln>
                  <a:noFill/>
                </a:ln>
                <a:solidFill>
                  <a:srgbClr val="002060"/>
                </a:solidFill>
                <a:effectLst/>
                <a:ea typeface="Times New Roman" panose="02020603050405020304" pitchFamily="18" charset="0"/>
                <a:cs typeface="Arial" panose="020B0604020202020204" pitchFamily="34" charset="0"/>
                <a:sym typeface="Symbol" panose="05050102010706020507" pitchFamily="18" charset="2"/>
              </a:rPr>
              <a:t>Has odd symmetry.</a:t>
            </a: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2800" b="0" i="0" u="none" strike="noStrike" cap="none" normalizeH="0" baseline="0" dirty="0">
                <a:ln>
                  <a:noFill/>
                </a:ln>
                <a:solidFill>
                  <a:srgbClr val="002060"/>
                </a:solidFill>
                <a:effectLst/>
                <a:ea typeface="Times New Roman" panose="02020603050405020304" pitchFamily="18" charset="0"/>
              </a:rPr>
              <a:t>A</a:t>
            </a:r>
            <a:r>
              <a:rPr kumimoji="0" lang="en-GB" altLang="en-US" sz="28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 </a:t>
            </a: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0 	</a:t>
            </a:r>
            <a:r>
              <a:rPr kumimoji="0" lang="en-GB" altLang="en-US" sz="2800" b="0" i="0" u="none" strike="noStrike" cap="none" normalizeH="0" baseline="0" dirty="0">
                <a:ln>
                  <a:noFill/>
                </a:ln>
                <a:solidFill>
                  <a:srgbClr val="002060"/>
                </a:solidFill>
                <a:effectLst/>
                <a:ea typeface="Times New Roman" panose="02020603050405020304" pitchFamily="18" charset="0"/>
                <a:cs typeface="Arial" panose="020B0604020202020204" pitchFamily="34" charset="0"/>
                <a:sym typeface="Symbol" panose="05050102010706020507" pitchFamily="18" charset="2"/>
              </a:rPr>
              <a:t>for all n</a:t>
            </a:r>
            <a:endParaRPr kumimoji="0" lang="en-GB" altLang="en-US" sz="2800" b="0" i="0" u="none" strike="noStrike" cap="none" normalizeH="0" baseline="0" dirty="0">
              <a:ln>
                <a:noFill/>
              </a:ln>
              <a:solidFill>
                <a:schemeClr val="tx1"/>
              </a:solidFill>
              <a:effectLst/>
              <a:cs typeface="Arial" panose="020B0604020202020204" pitchFamily="34" charset="0"/>
              <a:sym typeface="Symbol" panose="05050102010706020507" pitchFamily="18" charset="2"/>
            </a:endParaRPr>
          </a:p>
          <a:p>
            <a:pPr marL="0" marR="0" lvl="0" indent="0" algn="l" defTabSz="914400" rtl="0" eaLnBrk="0" fontAlgn="base" latinLnBrk="0" hangingPunct="0">
              <a:lnSpc>
                <a:spcPct val="120000"/>
              </a:lnSpc>
              <a:spcBef>
                <a:spcPct val="0"/>
              </a:spcBef>
              <a:spcAft>
                <a:spcPct val="0"/>
              </a:spcAft>
              <a:buClrTx/>
              <a:buSzTx/>
              <a:buFontTx/>
              <a:buNone/>
              <a:tabLst>
                <a:tab pos="457200" algn="r"/>
                <a:tab pos="2743200" algn="ctr"/>
                <a:tab pos="5486400" algn="r"/>
              </a:tabLst>
            </a:pPr>
            <a:r>
              <a:rPr kumimoji="0" lang="en-GB" altLang="en-US" sz="2800" b="0" i="0" u="none" strike="noStrike" cap="none" normalizeH="0" baseline="0" dirty="0">
                <a:ln>
                  <a:noFill/>
                </a:ln>
                <a:solidFill>
                  <a:srgbClr val="002060"/>
                </a:solidFill>
                <a:effectLst/>
                <a:ea typeface="Times New Roman" panose="02020603050405020304" pitchFamily="18" charset="0"/>
                <a:cs typeface="Arial" panose="020B0604020202020204" pitchFamily="34" charset="0"/>
                <a:sym typeface="Symbol" panose="05050102010706020507" pitchFamily="18" charset="2"/>
              </a:rPr>
              <a:t>Has half-wave symmetry.</a:t>
            </a: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2800" b="0" i="0" u="none" strike="noStrike" cap="none" normalizeH="0" baseline="0" dirty="0">
                <a:ln>
                  <a:noFill/>
                </a:ln>
                <a:solidFill>
                  <a:srgbClr val="002060"/>
                </a:solidFill>
                <a:effectLst/>
                <a:ea typeface="Times New Roman" panose="02020603050405020304" pitchFamily="18" charset="0"/>
              </a:rPr>
              <a:t>A</a:t>
            </a:r>
            <a:r>
              <a:rPr kumimoji="0" lang="en-GB" altLang="en-US" sz="28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a:t>
            </a: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B</a:t>
            </a:r>
            <a:r>
              <a:rPr kumimoji="0" lang="en-GB" altLang="en-US" sz="28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 </a:t>
            </a: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0  </a:t>
            </a:r>
            <a:r>
              <a:rPr lang="en-GB" altLang="en-US" sz="2800" dirty="0">
                <a:solidFill>
                  <a:srgbClr val="002060"/>
                </a:solidFill>
                <a:cs typeface="Arial" panose="020B0604020202020204" pitchFamily="34" charset="0"/>
                <a:sym typeface="Symbol" panose="05050102010706020507" pitchFamily="18" charset="2"/>
              </a:rPr>
              <a:t>for even n</a:t>
            </a:r>
          </a:p>
        </p:txBody>
      </p:sp>
      <p:sp>
        <p:nvSpPr>
          <p:cNvPr id="6" name="Rectangle 4">
            <a:extLst>
              <a:ext uri="{FF2B5EF4-FFF2-40B4-BE49-F238E27FC236}">
                <a16:creationId xmlns:a16="http://schemas.microsoft.com/office/drawing/2014/main" id="{BF0B68ED-1D43-428A-9E74-5E9CB94EC03A}"/>
              </a:ext>
            </a:extLst>
          </p:cNvPr>
          <p:cNvSpPr>
            <a:spLocks noChangeArrowheads="1"/>
          </p:cNvSpPr>
          <p:nvPr/>
        </p:nvSpPr>
        <p:spPr bwMode="auto">
          <a:xfrm>
            <a:off x="429715" y="5669459"/>
            <a:ext cx="78606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F5EB5F60-E4BE-482C-A459-E4CB3D5217CE}"/>
              </a:ext>
            </a:extLst>
          </p:cNvPr>
          <p:cNvSpPr>
            <a:spLocks noChangeArrowheads="1"/>
          </p:cNvSpPr>
          <p:nvPr/>
        </p:nvSpPr>
        <p:spPr bwMode="auto">
          <a:xfrm>
            <a:off x="7613573" y="5715492"/>
            <a:ext cx="20694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for odd n</a:t>
            </a:r>
            <a:r>
              <a:rPr kumimoji="0" lang="en-GB" altLang="en-US" sz="1100" b="0" i="0" u="none" strike="noStrike" cap="none" normalizeH="0" baseline="0" dirty="0">
                <a:ln>
                  <a:noFill/>
                </a:ln>
                <a:solidFill>
                  <a:schemeClr val="tx1"/>
                </a:solidFill>
                <a:effectLst/>
                <a:latin typeface="Arial" panose="020B0604020202020204" pitchFamily="34" charset="0"/>
              </a:rPr>
              <a:t>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grpSp>
        <p:nvGrpSpPr>
          <p:cNvPr id="9" name="Group 8">
            <a:extLst>
              <a:ext uri="{FF2B5EF4-FFF2-40B4-BE49-F238E27FC236}">
                <a16:creationId xmlns:a16="http://schemas.microsoft.com/office/drawing/2014/main" id="{94962446-8ACC-4787-9833-ADC232498106}"/>
              </a:ext>
            </a:extLst>
          </p:cNvPr>
          <p:cNvGrpSpPr>
            <a:grpSpLocks/>
          </p:cNvGrpSpPr>
          <p:nvPr/>
        </p:nvGrpSpPr>
        <p:grpSpPr bwMode="auto">
          <a:xfrm>
            <a:off x="7886168" y="1274972"/>
            <a:ext cx="4271356" cy="3673475"/>
            <a:chOff x="6556" y="539"/>
            <a:chExt cx="10259" cy="5785"/>
          </a:xfrm>
        </p:grpSpPr>
        <p:cxnSp>
          <p:nvCxnSpPr>
            <p:cNvPr id="10" name="Line 713">
              <a:extLst>
                <a:ext uri="{FF2B5EF4-FFF2-40B4-BE49-F238E27FC236}">
                  <a16:creationId xmlns:a16="http://schemas.microsoft.com/office/drawing/2014/main" id="{BE9311C5-0638-47BE-8B5F-8416864CA52C}"/>
                </a:ext>
              </a:extLst>
            </p:cNvPr>
            <p:cNvCxnSpPr>
              <a:cxnSpLocks noChangeAspect="1" noChangeShapeType="1"/>
            </p:cNvCxnSpPr>
            <p:nvPr/>
          </p:nvCxnSpPr>
          <p:spPr bwMode="auto">
            <a:xfrm>
              <a:off x="11685" y="729"/>
              <a:ext cx="0" cy="4050"/>
            </a:xfrm>
            <a:prstGeom prst="line">
              <a:avLst/>
            </a:prstGeom>
            <a:noFill/>
            <a:ln w="31750">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11" name="Line 714">
              <a:extLst>
                <a:ext uri="{FF2B5EF4-FFF2-40B4-BE49-F238E27FC236}">
                  <a16:creationId xmlns:a16="http://schemas.microsoft.com/office/drawing/2014/main" id="{A42001FC-787A-4B12-B7DF-184DDA9BC5FB}"/>
                </a:ext>
              </a:extLst>
            </p:cNvPr>
            <p:cNvCxnSpPr>
              <a:cxnSpLocks noChangeAspect="1" noChangeShapeType="1"/>
            </p:cNvCxnSpPr>
            <p:nvPr/>
          </p:nvCxnSpPr>
          <p:spPr bwMode="auto">
            <a:xfrm>
              <a:off x="7485" y="2979"/>
              <a:ext cx="8785" cy="0"/>
            </a:xfrm>
            <a:prstGeom prst="line">
              <a:avLst/>
            </a:prstGeom>
            <a:noFill/>
            <a:ln w="31750">
              <a:solidFill>
                <a:srgbClr val="002060"/>
              </a:solidFill>
              <a:round/>
              <a:headEnd/>
              <a:tailEnd type="arrow" w="lg" len="lg"/>
            </a:ln>
            <a:extLst>
              <a:ext uri="{909E8E84-426E-40DD-AFC4-6F175D3DCCD1}">
                <a14:hiddenFill xmlns:a14="http://schemas.microsoft.com/office/drawing/2010/main">
                  <a:noFill/>
                </a14:hiddenFill>
              </a:ext>
            </a:extLst>
          </p:spPr>
        </p:cxnSp>
        <p:sp>
          <p:nvSpPr>
            <p:cNvPr id="12" name="Text Box 725">
              <a:extLst>
                <a:ext uri="{FF2B5EF4-FFF2-40B4-BE49-F238E27FC236}">
                  <a16:creationId xmlns:a16="http://schemas.microsoft.com/office/drawing/2014/main" id="{7D3AEB53-A538-49CF-904E-A0D44241C17D}"/>
                </a:ext>
              </a:extLst>
            </p:cNvPr>
            <p:cNvSpPr txBox="1">
              <a:spLocks noChangeAspect="1" noChangeArrowheads="1"/>
            </p:cNvSpPr>
            <p:nvPr/>
          </p:nvSpPr>
          <p:spPr bwMode="auto">
            <a:xfrm>
              <a:off x="11985" y="539"/>
              <a:ext cx="1800" cy="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400" dirty="0">
                  <a:solidFill>
                    <a:srgbClr val="002060"/>
                  </a:solidFill>
                  <a:effectLst/>
                  <a:latin typeface="Times New Roman" panose="02020603050405020304" pitchFamily="18" charset="0"/>
                  <a:ea typeface="Times New Roman" panose="02020603050405020304" pitchFamily="18" charset="0"/>
                </a:rPr>
                <a:t>y(t)</a:t>
              </a:r>
              <a:endParaRPr lang="en-GB" sz="1100" dirty="0">
                <a:effectLst/>
                <a:latin typeface="Times New Roman" panose="02020603050405020304" pitchFamily="18" charset="0"/>
                <a:ea typeface="Times New Roman" panose="02020603050405020304" pitchFamily="18" charset="0"/>
              </a:endParaRPr>
            </a:p>
          </p:txBody>
        </p:sp>
        <p:sp>
          <p:nvSpPr>
            <p:cNvPr id="13" name="Text Box 726">
              <a:extLst>
                <a:ext uri="{FF2B5EF4-FFF2-40B4-BE49-F238E27FC236}">
                  <a16:creationId xmlns:a16="http://schemas.microsoft.com/office/drawing/2014/main" id="{5AF0096F-41DC-411E-AE5B-0F8C31AF817B}"/>
                </a:ext>
              </a:extLst>
            </p:cNvPr>
            <p:cNvSpPr txBox="1">
              <a:spLocks noChangeAspect="1" noChangeArrowheads="1"/>
            </p:cNvSpPr>
            <p:nvPr/>
          </p:nvSpPr>
          <p:spPr bwMode="auto">
            <a:xfrm>
              <a:off x="15285" y="2079"/>
              <a:ext cx="600" cy="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400">
                  <a:solidFill>
                    <a:srgbClr val="FFFFFF"/>
                  </a:solidFill>
                  <a:effectLst/>
                  <a:latin typeface="Times New Roman" panose="02020603050405020304" pitchFamily="18" charset="0"/>
                  <a:ea typeface="Times New Roman" panose="02020603050405020304" pitchFamily="18" charset="0"/>
                </a:rPr>
                <a:t>t</a:t>
              </a:r>
              <a:endParaRPr lang="en-GB" sz="1100">
                <a:effectLst/>
                <a:latin typeface="Times New Roman" panose="02020603050405020304" pitchFamily="18" charset="0"/>
                <a:ea typeface="Times New Roman" panose="02020603050405020304" pitchFamily="18" charset="0"/>
              </a:endParaRPr>
            </a:p>
          </p:txBody>
        </p:sp>
        <p:sp>
          <p:nvSpPr>
            <p:cNvPr id="14" name="Text Box 727">
              <a:extLst>
                <a:ext uri="{FF2B5EF4-FFF2-40B4-BE49-F238E27FC236}">
                  <a16:creationId xmlns:a16="http://schemas.microsoft.com/office/drawing/2014/main" id="{8C913663-212A-4A2F-A67E-CF4CDE48F638}"/>
                </a:ext>
              </a:extLst>
            </p:cNvPr>
            <p:cNvSpPr txBox="1">
              <a:spLocks noChangeAspect="1" noChangeArrowheads="1"/>
            </p:cNvSpPr>
            <p:nvPr/>
          </p:nvSpPr>
          <p:spPr bwMode="auto">
            <a:xfrm>
              <a:off x="11160" y="1179"/>
              <a:ext cx="600" cy="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400">
                  <a:solidFill>
                    <a:srgbClr val="002060"/>
                  </a:solidFill>
                  <a:effectLst/>
                  <a:latin typeface="Times New Roman" panose="02020603050405020304" pitchFamily="18" charset="0"/>
                  <a:ea typeface="Times New Roman" panose="02020603050405020304" pitchFamily="18" charset="0"/>
                </a:rPr>
                <a:t>E</a:t>
              </a:r>
              <a:endParaRPr lang="en-GB" sz="1100">
                <a:effectLst/>
                <a:latin typeface="Times New Roman" panose="02020603050405020304" pitchFamily="18" charset="0"/>
                <a:ea typeface="Times New Roman" panose="02020603050405020304" pitchFamily="18" charset="0"/>
              </a:endParaRPr>
            </a:p>
          </p:txBody>
        </p:sp>
        <p:sp>
          <p:nvSpPr>
            <p:cNvPr id="15" name="Text Box 728">
              <a:extLst>
                <a:ext uri="{FF2B5EF4-FFF2-40B4-BE49-F238E27FC236}">
                  <a16:creationId xmlns:a16="http://schemas.microsoft.com/office/drawing/2014/main" id="{68D95435-560C-4BF6-AE11-0CBFED20EA94}"/>
                </a:ext>
              </a:extLst>
            </p:cNvPr>
            <p:cNvSpPr txBox="1">
              <a:spLocks noChangeAspect="1" noChangeArrowheads="1"/>
            </p:cNvSpPr>
            <p:nvPr/>
          </p:nvSpPr>
          <p:spPr bwMode="auto">
            <a:xfrm>
              <a:off x="10973" y="3879"/>
              <a:ext cx="975" cy="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400" dirty="0">
                  <a:solidFill>
                    <a:srgbClr val="002060"/>
                  </a:solidFill>
                  <a:effectLst/>
                  <a:latin typeface="Times New Roman" panose="02020603050405020304" pitchFamily="18" charset="0"/>
                  <a:ea typeface="Times New Roman" panose="02020603050405020304" pitchFamily="18" charset="0"/>
                </a:rPr>
                <a:t>-E</a:t>
              </a:r>
              <a:endParaRPr lang="en-GB" sz="1100" dirty="0">
                <a:effectLst/>
                <a:latin typeface="Times New Roman" panose="02020603050405020304" pitchFamily="18" charset="0"/>
                <a:ea typeface="Times New Roman" panose="02020603050405020304" pitchFamily="18" charset="0"/>
              </a:endParaRPr>
            </a:p>
          </p:txBody>
        </p:sp>
        <p:sp>
          <p:nvSpPr>
            <p:cNvPr id="16" name="Text Box 729">
              <a:extLst>
                <a:ext uri="{FF2B5EF4-FFF2-40B4-BE49-F238E27FC236}">
                  <a16:creationId xmlns:a16="http://schemas.microsoft.com/office/drawing/2014/main" id="{5CA64F46-2F47-4AD3-828B-073F04CC465C}"/>
                </a:ext>
              </a:extLst>
            </p:cNvPr>
            <p:cNvSpPr txBox="1">
              <a:spLocks noChangeAspect="1" noChangeArrowheads="1"/>
            </p:cNvSpPr>
            <p:nvPr/>
          </p:nvSpPr>
          <p:spPr bwMode="auto">
            <a:xfrm>
              <a:off x="11310" y="2979"/>
              <a:ext cx="600" cy="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400">
                  <a:solidFill>
                    <a:srgbClr val="002060"/>
                  </a:solidFill>
                  <a:effectLst/>
                  <a:latin typeface="Times New Roman" panose="02020603050405020304" pitchFamily="18" charset="0"/>
                  <a:ea typeface="Times New Roman" panose="02020603050405020304" pitchFamily="18" charset="0"/>
                </a:rPr>
                <a:t>0</a:t>
              </a:r>
              <a:endParaRPr lang="en-GB" sz="1100">
                <a:effectLst/>
                <a:latin typeface="Times New Roman" panose="02020603050405020304" pitchFamily="18" charset="0"/>
                <a:ea typeface="Times New Roman" panose="02020603050405020304" pitchFamily="18" charset="0"/>
              </a:endParaRPr>
            </a:p>
          </p:txBody>
        </p:sp>
        <p:sp>
          <p:nvSpPr>
            <p:cNvPr id="17" name="Text Box 730">
              <a:extLst>
                <a:ext uri="{FF2B5EF4-FFF2-40B4-BE49-F238E27FC236}">
                  <a16:creationId xmlns:a16="http://schemas.microsoft.com/office/drawing/2014/main" id="{8F7653B8-0BB8-4BE5-B47A-598384964E9C}"/>
                </a:ext>
              </a:extLst>
            </p:cNvPr>
            <p:cNvSpPr txBox="1">
              <a:spLocks noChangeAspect="1" noChangeArrowheads="1"/>
            </p:cNvSpPr>
            <p:nvPr/>
          </p:nvSpPr>
          <p:spPr bwMode="auto">
            <a:xfrm>
              <a:off x="12173" y="2979"/>
              <a:ext cx="1312" cy="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000" dirty="0">
                  <a:solidFill>
                    <a:srgbClr val="002060"/>
                  </a:solidFill>
                  <a:effectLst/>
                  <a:latin typeface="Times New Roman" panose="02020603050405020304" pitchFamily="18" charset="0"/>
                  <a:ea typeface="Times New Roman" panose="02020603050405020304" pitchFamily="18" charset="0"/>
                </a:rPr>
                <a:t>T/2</a:t>
              </a:r>
              <a:endParaRPr lang="en-GB" sz="1050" dirty="0">
                <a:effectLst/>
                <a:latin typeface="Times New Roman" panose="02020603050405020304" pitchFamily="18" charset="0"/>
                <a:ea typeface="Times New Roman" panose="02020603050405020304" pitchFamily="18" charset="0"/>
              </a:endParaRPr>
            </a:p>
          </p:txBody>
        </p:sp>
        <p:sp>
          <p:nvSpPr>
            <p:cNvPr id="18" name="Text Box 731">
              <a:extLst>
                <a:ext uri="{FF2B5EF4-FFF2-40B4-BE49-F238E27FC236}">
                  <a16:creationId xmlns:a16="http://schemas.microsoft.com/office/drawing/2014/main" id="{63B47D5D-93DF-4884-819B-CC9E0542E5E6}"/>
                </a:ext>
              </a:extLst>
            </p:cNvPr>
            <p:cNvSpPr txBox="1">
              <a:spLocks noChangeAspect="1" noChangeArrowheads="1"/>
            </p:cNvSpPr>
            <p:nvPr/>
          </p:nvSpPr>
          <p:spPr bwMode="auto">
            <a:xfrm>
              <a:off x="14985" y="2979"/>
              <a:ext cx="1200" cy="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2T</a:t>
              </a:r>
              <a:endParaRPr lang="en-GB" sz="1050">
                <a:effectLst/>
                <a:latin typeface="Times New Roman" panose="02020603050405020304" pitchFamily="18" charset="0"/>
                <a:ea typeface="Times New Roman" panose="02020603050405020304" pitchFamily="18" charset="0"/>
              </a:endParaRPr>
            </a:p>
          </p:txBody>
        </p:sp>
        <p:sp>
          <p:nvSpPr>
            <p:cNvPr id="19" name="Text Box 732">
              <a:extLst>
                <a:ext uri="{FF2B5EF4-FFF2-40B4-BE49-F238E27FC236}">
                  <a16:creationId xmlns:a16="http://schemas.microsoft.com/office/drawing/2014/main" id="{E9F1FAD2-9FD7-4545-83D7-4441E7E9395F}"/>
                </a:ext>
              </a:extLst>
            </p:cNvPr>
            <p:cNvSpPr txBox="1">
              <a:spLocks noChangeAspect="1" noChangeArrowheads="1"/>
            </p:cNvSpPr>
            <p:nvPr/>
          </p:nvSpPr>
          <p:spPr bwMode="auto">
            <a:xfrm>
              <a:off x="9848" y="2979"/>
              <a:ext cx="1275" cy="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000">
                  <a:solidFill>
                    <a:srgbClr val="002060"/>
                  </a:solidFill>
                  <a:effectLst/>
                  <a:latin typeface="Times New Roman" panose="02020603050405020304" pitchFamily="18" charset="0"/>
                  <a:ea typeface="Times New Roman" panose="02020603050405020304" pitchFamily="18" charset="0"/>
                </a:rPr>
                <a:t>-T</a:t>
              </a:r>
              <a:endParaRPr lang="en-GB" sz="1050">
                <a:effectLst/>
                <a:latin typeface="Times New Roman" panose="02020603050405020304" pitchFamily="18" charset="0"/>
                <a:ea typeface="Times New Roman" panose="02020603050405020304" pitchFamily="18" charset="0"/>
              </a:endParaRPr>
            </a:p>
          </p:txBody>
        </p:sp>
        <p:sp>
          <p:nvSpPr>
            <p:cNvPr id="20" name="Text Box 733">
              <a:extLst>
                <a:ext uri="{FF2B5EF4-FFF2-40B4-BE49-F238E27FC236}">
                  <a16:creationId xmlns:a16="http://schemas.microsoft.com/office/drawing/2014/main" id="{BE99A13E-E1C6-45A2-9BAA-59FCAB0C5CBE}"/>
                </a:ext>
              </a:extLst>
            </p:cNvPr>
            <p:cNvSpPr txBox="1">
              <a:spLocks noChangeAspect="1" noChangeArrowheads="1"/>
            </p:cNvSpPr>
            <p:nvPr/>
          </p:nvSpPr>
          <p:spPr bwMode="auto">
            <a:xfrm>
              <a:off x="7785" y="2979"/>
              <a:ext cx="1425" cy="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000" dirty="0">
                  <a:solidFill>
                    <a:srgbClr val="002060"/>
                  </a:solidFill>
                  <a:effectLst/>
                  <a:latin typeface="Times New Roman" panose="02020603050405020304" pitchFamily="18" charset="0"/>
                  <a:ea typeface="Times New Roman" panose="02020603050405020304" pitchFamily="18" charset="0"/>
                </a:rPr>
                <a:t>-2T</a:t>
              </a:r>
              <a:endParaRPr lang="en-GB" sz="1050" dirty="0">
                <a:effectLst/>
                <a:latin typeface="Times New Roman" panose="02020603050405020304" pitchFamily="18" charset="0"/>
                <a:ea typeface="Times New Roman" panose="02020603050405020304" pitchFamily="18" charset="0"/>
              </a:endParaRPr>
            </a:p>
          </p:txBody>
        </p:sp>
        <p:sp>
          <p:nvSpPr>
            <p:cNvPr id="21" name="Text Box 734">
              <a:extLst>
                <a:ext uri="{FF2B5EF4-FFF2-40B4-BE49-F238E27FC236}">
                  <a16:creationId xmlns:a16="http://schemas.microsoft.com/office/drawing/2014/main" id="{614AC310-D5A2-480D-AB91-AEA7F248D899}"/>
                </a:ext>
              </a:extLst>
            </p:cNvPr>
            <p:cNvSpPr txBox="1">
              <a:spLocks noChangeAspect="1" noChangeArrowheads="1"/>
            </p:cNvSpPr>
            <p:nvPr/>
          </p:nvSpPr>
          <p:spPr bwMode="auto">
            <a:xfrm>
              <a:off x="6556" y="5445"/>
              <a:ext cx="10259" cy="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400" dirty="0">
                  <a:solidFill>
                    <a:srgbClr val="002060"/>
                  </a:solidFill>
                  <a:effectLst/>
                  <a:latin typeface="Times New Roman" panose="02020603050405020304" pitchFamily="18" charset="0"/>
                  <a:ea typeface="Times New Roman" panose="02020603050405020304" pitchFamily="18" charset="0"/>
                </a:rPr>
                <a:t>Figure 16 – Triangular waveform</a:t>
              </a:r>
              <a:endParaRPr lang="en-GB" sz="1100" dirty="0">
                <a:effectLst/>
                <a:latin typeface="Times New Roman" panose="02020603050405020304" pitchFamily="18" charset="0"/>
                <a:ea typeface="Times New Roman" panose="02020603050405020304" pitchFamily="18" charset="0"/>
              </a:endParaRPr>
            </a:p>
          </p:txBody>
        </p:sp>
        <p:grpSp>
          <p:nvGrpSpPr>
            <p:cNvPr id="22" name="Group 21">
              <a:extLst>
                <a:ext uri="{FF2B5EF4-FFF2-40B4-BE49-F238E27FC236}">
                  <a16:creationId xmlns:a16="http://schemas.microsoft.com/office/drawing/2014/main" id="{68F8D94D-D6B8-4950-B0DA-E39034A1043C}"/>
                </a:ext>
              </a:extLst>
            </p:cNvPr>
            <p:cNvGrpSpPr>
              <a:grpSpLocks noChangeAspect="1"/>
            </p:cNvGrpSpPr>
            <p:nvPr/>
          </p:nvGrpSpPr>
          <p:grpSpPr bwMode="auto">
            <a:xfrm>
              <a:off x="7185" y="1629"/>
              <a:ext cx="9000" cy="2700"/>
              <a:chOff x="7538" y="1778"/>
              <a:chExt cx="3600" cy="1080"/>
            </a:xfrm>
          </p:grpSpPr>
          <p:cxnSp>
            <p:nvCxnSpPr>
              <p:cNvPr id="24" name="Line 735">
                <a:extLst>
                  <a:ext uri="{FF2B5EF4-FFF2-40B4-BE49-F238E27FC236}">
                    <a16:creationId xmlns:a16="http://schemas.microsoft.com/office/drawing/2014/main" id="{F941B835-2B95-42E8-BEC0-3FA186097F5F}"/>
                  </a:ext>
                </a:extLst>
              </p:cNvPr>
              <p:cNvCxnSpPr>
                <a:cxnSpLocks noChangeAspect="1" noChangeShapeType="1"/>
              </p:cNvCxnSpPr>
              <p:nvPr/>
            </p:nvCxnSpPr>
            <p:spPr bwMode="auto">
              <a:xfrm>
                <a:off x="9698" y="1778"/>
                <a:ext cx="720" cy="108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5" name="Line 736">
                <a:extLst>
                  <a:ext uri="{FF2B5EF4-FFF2-40B4-BE49-F238E27FC236}">
                    <a16:creationId xmlns:a16="http://schemas.microsoft.com/office/drawing/2014/main" id="{3AA259C4-DFB5-45CE-BC9B-12764A58F07C}"/>
                  </a:ext>
                </a:extLst>
              </p:cNvPr>
              <p:cNvCxnSpPr>
                <a:cxnSpLocks noChangeAspect="1" noChangeShapeType="1"/>
              </p:cNvCxnSpPr>
              <p:nvPr/>
            </p:nvCxnSpPr>
            <p:spPr bwMode="auto">
              <a:xfrm flipH="1">
                <a:off x="8978" y="1778"/>
                <a:ext cx="720" cy="108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6" name="Line 737">
                <a:extLst>
                  <a:ext uri="{FF2B5EF4-FFF2-40B4-BE49-F238E27FC236}">
                    <a16:creationId xmlns:a16="http://schemas.microsoft.com/office/drawing/2014/main" id="{83DB7231-6073-4975-944E-62258A3944BE}"/>
                  </a:ext>
                </a:extLst>
              </p:cNvPr>
              <p:cNvCxnSpPr>
                <a:cxnSpLocks noChangeAspect="1" noChangeShapeType="1"/>
              </p:cNvCxnSpPr>
              <p:nvPr/>
            </p:nvCxnSpPr>
            <p:spPr bwMode="auto">
              <a:xfrm>
                <a:off x="8258" y="1778"/>
                <a:ext cx="720" cy="108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7" name="Line 738">
                <a:extLst>
                  <a:ext uri="{FF2B5EF4-FFF2-40B4-BE49-F238E27FC236}">
                    <a16:creationId xmlns:a16="http://schemas.microsoft.com/office/drawing/2014/main" id="{D2CB61B1-72B0-4FC4-A278-E1E53AE100FE}"/>
                  </a:ext>
                </a:extLst>
              </p:cNvPr>
              <p:cNvCxnSpPr>
                <a:cxnSpLocks noChangeAspect="1" noChangeShapeType="1"/>
              </p:cNvCxnSpPr>
              <p:nvPr/>
            </p:nvCxnSpPr>
            <p:spPr bwMode="auto">
              <a:xfrm flipH="1">
                <a:off x="7538" y="1778"/>
                <a:ext cx="720" cy="108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8" name="Line 739">
                <a:extLst>
                  <a:ext uri="{FF2B5EF4-FFF2-40B4-BE49-F238E27FC236}">
                    <a16:creationId xmlns:a16="http://schemas.microsoft.com/office/drawing/2014/main" id="{898E333B-0D3E-4E53-BED8-D8D28174F9BD}"/>
                  </a:ext>
                </a:extLst>
              </p:cNvPr>
              <p:cNvCxnSpPr>
                <a:cxnSpLocks noChangeAspect="1" noChangeShapeType="1"/>
              </p:cNvCxnSpPr>
              <p:nvPr/>
            </p:nvCxnSpPr>
            <p:spPr bwMode="auto">
              <a:xfrm flipH="1">
                <a:off x="10418" y="1778"/>
                <a:ext cx="720" cy="108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grpSp>
        <p:sp>
          <p:nvSpPr>
            <p:cNvPr id="23" name="Text Box 742">
              <a:extLst>
                <a:ext uri="{FF2B5EF4-FFF2-40B4-BE49-F238E27FC236}">
                  <a16:creationId xmlns:a16="http://schemas.microsoft.com/office/drawing/2014/main" id="{43CF30FA-D00C-4831-BA35-B01A97268FD8}"/>
                </a:ext>
              </a:extLst>
            </p:cNvPr>
            <p:cNvSpPr txBox="1">
              <a:spLocks noChangeAspect="1" noChangeArrowheads="1"/>
            </p:cNvSpPr>
            <p:nvPr/>
          </p:nvSpPr>
          <p:spPr bwMode="auto">
            <a:xfrm>
              <a:off x="13707" y="2979"/>
              <a:ext cx="900" cy="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000" dirty="0">
                  <a:solidFill>
                    <a:srgbClr val="002060"/>
                  </a:solidFill>
                  <a:effectLst/>
                  <a:latin typeface="Times New Roman" panose="02020603050405020304" pitchFamily="18" charset="0"/>
                  <a:ea typeface="Times New Roman" panose="02020603050405020304" pitchFamily="18" charset="0"/>
                </a:rPr>
                <a:t>T</a:t>
              </a:r>
              <a:endParaRPr lang="en-GB" sz="1050" dirty="0">
                <a:effectLst/>
                <a:latin typeface="Times New Roman" panose="02020603050405020304" pitchFamily="18" charset="0"/>
                <a:ea typeface="Times New Roman" panose="02020603050405020304" pitchFamily="18" charset="0"/>
              </a:endParaRPr>
            </a:p>
          </p:txBody>
        </p:sp>
      </p:grpSp>
    </p:spTree>
    <p:extLst>
      <p:ext uri="{BB962C8B-B14F-4D97-AF65-F5344CB8AC3E}">
        <p14:creationId xmlns:p14="http://schemas.microsoft.com/office/powerpoint/2010/main" val="2965178274"/>
      </p:ext>
    </p:extLst>
  </p:cSld>
  <p:clrMapOvr>
    <a:masterClrMapping/>
  </p:clrMapOvr>
  <mc:AlternateContent xmlns:mc="http://schemas.openxmlformats.org/markup-compatibility/2006" xmlns:p14="http://schemas.microsoft.com/office/powerpoint/2010/main">
    <mc:Choice Requires="p14">
      <p:transition spd="slow" p14:dur="2000" advTm="85522"/>
    </mc:Choice>
    <mc:Fallback xmlns="">
      <p:transition spd="slow" advTm="85522"/>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59FED6B4-927E-4602-AE6E-6AF322C45386}"/>
              </a:ext>
            </a:extLst>
          </p:cNvPr>
          <p:cNvGraphicFramePr>
            <a:graphicFrameLocks noChangeAspect="1"/>
          </p:cNvGraphicFramePr>
          <p:nvPr>
            <p:extLst>
              <p:ext uri="{D42A27DB-BD31-4B8C-83A1-F6EECF244321}">
                <p14:modId xmlns:p14="http://schemas.microsoft.com/office/powerpoint/2010/main" val="3078424962"/>
              </p:ext>
            </p:extLst>
          </p:nvPr>
        </p:nvGraphicFramePr>
        <p:xfrm>
          <a:off x="2438400" y="478141"/>
          <a:ext cx="7620000" cy="1485900"/>
        </p:xfrm>
        <a:graphic>
          <a:graphicData uri="http://schemas.openxmlformats.org/presentationml/2006/ole">
            <mc:AlternateContent xmlns:mc="http://schemas.openxmlformats.org/markup-compatibility/2006">
              <mc:Choice xmlns:v="urn:schemas-microsoft-com:vml" Requires="v">
                <p:oleObj r:id="rId3" imgW="2679700" imgH="520700" progId="Equation.3">
                  <p:embed/>
                </p:oleObj>
              </mc:Choice>
              <mc:Fallback>
                <p:oleObj r:id="rId3" imgW="2679700" imgH="5207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478141"/>
                        <a:ext cx="7620000" cy="148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801D9726-AD3B-4372-A531-2C02E79E1CF0}"/>
              </a:ext>
            </a:extLst>
          </p:cNvPr>
          <p:cNvGraphicFramePr>
            <a:graphicFrameLocks noChangeAspect="1"/>
          </p:cNvGraphicFramePr>
          <p:nvPr>
            <p:extLst>
              <p:ext uri="{D42A27DB-BD31-4B8C-83A1-F6EECF244321}">
                <p14:modId xmlns:p14="http://schemas.microsoft.com/office/powerpoint/2010/main" val="2141183182"/>
              </p:ext>
            </p:extLst>
          </p:nvPr>
        </p:nvGraphicFramePr>
        <p:xfrm>
          <a:off x="2265948" y="1805897"/>
          <a:ext cx="4933950" cy="1428750"/>
        </p:xfrm>
        <a:graphic>
          <a:graphicData uri="http://schemas.openxmlformats.org/presentationml/2006/ole">
            <mc:AlternateContent xmlns:mc="http://schemas.openxmlformats.org/markup-compatibility/2006">
              <mc:Choice xmlns:v="urn:schemas-microsoft-com:vml" Requires="v">
                <p:oleObj r:id="rId5" imgW="1778000" imgH="520700" progId="Equation.3">
                  <p:embed/>
                </p:oleObj>
              </mc:Choice>
              <mc:Fallback>
                <p:oleObj r:id="rId5" imgW="1778000" imgH="5207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5948" y="1805897"/>
                        <a:ext cx="4933950" cy="142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a:extLst>
              <a:ext uri="{FF2B5EF4-FFF2-40B4-BE49-F238E27FC236}">
                <a16:creationId xmlns:a16="http://schemas.microsoft.com/office/drawing/2014/main" id="{C1259FE9-7322-4820-BFB7-2D057D21FE69}"/>
              </a:ext>
            </a:extLst>
          </p:cNvPr>
          <p:cNvGraphicFramePr>
            <a:graphicFrameLocks noChangeAspect="1"/>
          </p:cNvGraphicFramePr>
          <p:nvPr>
            <p:extLst>
              <p:ext uri="{D42A27DB-BD31-4B8C-83A1-F6EECF244321}">
                <p14:modId xmlns:p14="http://schemas.microsoft.com/office/powerpoint/2010/main" val="1655799641"/>
              </p:ext>
            </p:extLst>
          </p:nvPr>
        </p:nvGraphicFramePr>
        <p:xfrm>
          <a:off x="1889961" y="5411263"/>
          <a:ext cx="8096250" cy="1123950"/>
        </p:xfrm>
        <a:graphic>
          <a:graphicData uri="http://schemas.openxmlformats.org/presentationml/2006/ole">
            <mc:AlternateContent xmlns:mc="http://schemas.openxmlformats.org/markup-compatibility/2006">
              <mc:Choice xmlns:v="urn:schemas-microsoft-com:vml" Requires="v">
                <p:oleObj r:id="rId7" imgW="3314700" imgH="457200" progId="Equation.3">
                  <p:embed/>
                </p:oleObj>
              </mc:Choice>
              <mc:Fallback>
                <p:oleObj r:id="rId7" imgW="3314700" imgH="457200"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89961" y="5411263"/>
                        <a:ext cx="8096250" cy="1123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
            <a:extLst>
              <a:ext uri="{FF2B5EF4-FFF2-40B4-BE49-F238E27FC236}">
                <a16:creationId xmlns:a16="http://schemas.microsoft.com/office/drawing/2014/main" id="{6A365AE6-7856-418C-A8FB-2E9DF421C283}"/>
              </a:ext>
            </a:extLst>
          </p:cNvPr>
          <p:cNvSpPr>
            <a:spLocks noChangeArrowheads="1"/>
          </p:cNvSpPr>
          <p:nvPr/>
        </p:nvSpPr>
        <p:spPr bwMode="auto">
          <a:xfrm>
            <a:off x="513348" y="987043"/>
            <a:ext cx="156410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pt-BR" altLang="en-US" sz="3600" i="1" dirty="0">
                <a:solidFill>
                  <a:srgbClr val="002060"/>
                </a:solidFill>
                <a:latin typeface="Arial" panose="020B0604020202020204" pitchFamily="34" charset="0"/>
                <a:ea typeface="Times New Roman" panose="02020603050405020304" pitchFamily="18" charset="0"/>
              </a:rPr>
              <a:t>B</a:t>
            </a:r>
            <a:r>
              <a:rPr lang="pt-BR" altLang="en-US" sz="3600" i="1" baseline="-30000" dirty="0">
                <a:solidFill>
                  <a:srgbClr val="002060"/>
                </a:solidFill>
                <a:latin typeface="Arial" panose="020B0604020202020204" pitchFamily="34" charset="0"/>
                <a:ea typeface="Times New Roman" panose="02020603050405020304" pitchFamily="18" charset="0"/>
              </a:rPr>
              <a:t>n</a:t>
            </a:r>
            <a:r>
              <a:rPr lang="pt-BR" altLang="en-US" sz="3600" i="1" dirty="0">
                <a:solidFill>
                  <a:srgbClr val="002060"/>
                </a:solidFill>
                <a:latin typeface="Arial" panose="020B0604020202020204" pitchFamily="34" charset="0"/>
                <a:ea typeface="Times New Roman" panose="02020603050405020304" pitchFamily="18" charset="0"/>
              </a:rPr>
              <a:t> </a:t>
            </a:r>
            <a:r>
              <a:rPr kumimoji="0" lang="pt-BR"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t>
            </a:r>
            <a:endParaRPr kumimoji="0" lang="pt-BR"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205DBCB1-61C4-4E5C-A36F-87A4645C8475}"/>
              </a:ext>
            </a:extLst>
          </p:cNvPr>
          <p:cNvSpPr>
            <a:spLocks noChangeArrowheads="1"/>
          </p:cNvSpPr>
          <p:nvPr/>
        </p:nvSpPr>
        <p:spPr bwMode="auto">
          <a:xfrm>
            <a:off x="513348" y="2189605"/>
            <a:ext cx="16603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en-US" sz="3600" b="0"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B</a:t>
            </a:r>
            <a:r>
              <a:rPr kumimoji="0" lang="pt-BR" altLang="en-US" sz="3600" b="0" i="1"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n</a:t>
            </a:r>
            <a:r>
              <a:rPr kumimoji="0" lang="pt-BR" altLang="en-US" sz="3600" b="0"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pt-BR"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t>
            </a:r>
            <a:endParaRPr kumimoji="0" lang="pt-BR"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6">
            <a:extLst>
              <a:ext uri="{FF2B5EF4-FFF2-40B4-BE49-F238E27FC236}">
                <a16:creationId xmlns:a16="http://schemas.microsoft.com/office/drawing/2014/main" id="{3A34F211-98EB-4A5C-A5EA-19B751F845F8}"/>
              </a:ext>
            </a:extLst>
          </p:cNvPr>
          <p:cNvSpPr>
            <a:spLocks noChangeArrowheads="1"/>
          </p:cNvSpPr>
          <p:nvPr/>
        </p:nvSpPr>
        <p:spPr bwMode="auto">
          <a:xfrm>
            <a:off x="376990" y="3149673"/>
            <a:ext cx="11197389" cy="30718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20000"/>
              </a:lnSpc>
              <a:spcBef>
                <a:spcPct val="0"/>
              </a:spcBef>
              <a:spcAft>
                <a:spcPct val="0"/>
              </a:spcAft>
              <a:buClrTx/>
              <a:buSzTx/>
              <a:buFontTx/>
              <a:buNone/>
              <a:tabLst/>
            </a:pPr>
            <a:r>
              <a:rPr kumimoji="0" lang="pt-BR"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Substituting values</a:t>
            </a:r>
            <a:endParaRPr kumimoji="0" lang="en-GB"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20000"/>
              </a:lnSpc>
              <a:spcBef>
                <a:spcPct val="0"/>
              </a:spcBef>
              <a:spcAft>
                <a:spcPct val="0"/>
              </a:spcAft>
              <a:buClrTx/>
              <a:buSzTx/>
              <a:buFontTx/>
              <a:buNone/>
              <a:tabLst/>
            </a:pPr>
            <a:r>
              <a:rPr kumimoji="0" lang="pt-BR"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B</a:t>
            </a:r>
            <a:r>
              <a:rPr kumimoji="0" lang="pt-BR"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1</a:t>
            </a:r>
            <a:r>
              <a:rPr kumimoji="0" lang="pt-BR"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8E/</a:t>
            </a:r>
            <a:r>
              <a:rPr kumimoji="0" lang="en-US"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a:t>
            </a:r>
            <a:r>
              <a:rPr kumimoji="0" lang="pt-BR" altLang="en-US" sz="3200" b="0" i="0" u="none" strike="noStrike" cap="none" normalizeH="0" baseline="30000" dirty="0">
                <a:ln>
                  <a:noFill/>
                </a:ln>
                <a:solidFill>
                  <a:srgbClr val="002060"/>
                </a:solidFill>
                <a:effectLst/>
                <a:ea typeface="Times New Roman" panose="02020603050405020304" pitchFamily="18" charset="0"/>
              </a:rPr>
              <a:t>2</a:t>
            </a:r>
            <a:r>
              <a:rPr kumimoji="0" lang="pt-BR"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B</a:t>
            </a:r>
            <a:r>
              <a:rPr kumimoji="0" lang="pt-BR"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3 </a:t>
            </a:r>
            <a:r>
              <a:rPr kumimoji="0" lang="pt-BR"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US"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t>
            </a:r>
            <a:r>
              <a:rPr kumimoji="0" lang="pt-BR" altLang="en-US" sz="3200" b="0" i="0" u="none" strike="noStrike" cap="none" normalizeH="0" baseline="0" dirty="0">
                <a:ln>
                  <a:noFill/>
                </a:ln>
                <a:solidFill>
                  <a:srgbClr val="002060"/>
                </a:solidFill>
                <a:effectLst/>
                <a:ea typeface="Times New Roman" panose="02020603050405020304" pitchFamily="18" charset="0"/>
              </a:rPr>
              <a:t>8E/(3</a:t>
            </a:r>
            <a:r>
              <a:rPr kumimoji="0" lang="en-US"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a:t>
            </a:r>
            <a:r>
              <a:rPr kumimoji="0" lang="pt-BR" altLang="en-US" sz="3200" b="0" i="0" u="none" strike="noStrike" cap="none" normalizeH="0" baseline="30000" dirty="0">
                <a:ln>
                  <a:noFill/>
                </a:ln>
                <a:solidFill>
                  <a:srgbClr val="002060"/>
                </a:solidFill>
                <a:effectLst/>
                <a:ea typeface="Times New Roman" panose="02020603050405020304" pitchFamily="18" charset="0"/>
              </a:rPr>
              <a:t>2</a:t>
            </a:r>
            <a:r>
              <a:rPr kumimoji="0" lang="pt-BR"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p>
          <a:p>
            <a:pPr marL="0" marR="0" lvl="0" indent="0" algn="l" defTabSz="914400" rtl="0" eaLnBrk="0" fontAlgn="base" latinLnBrk="0" hangingPunct="0">
              <a:lnSpc>
                <a:spcPct val="120000"/>
              </a:lnSpc>
              <a:spcBef>
                <a:spcPct val="0"/>
              </a:spcBef>
              <a:spcAft>
                <a:spcPct val="0"/>
              </a:spcAft>
              <a:buClrTx/>
              <a:buSzTx/>
              <a:buFontTx/>
              <a:buNone/>
              <a:tabLst/>
            </a:pPr>
            <a:r>
              <a:rPr kumimoji="0" lang="pt-BR"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B</a:t>
            </a:r>
            <a:r>
              <a:rPr kumimoji="0" lang="pt-BR"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5 </a:t>
            </a:r>
            <a:r>
              <a:rPr kumimoji="0" lang="pt-BR"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8E/(5</a:t>
            </a:r>
            <a:r>
              <a:rPr kumimoji="0" lang="en-US"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a:t>
            </a:r>
            <a:r>
              <a:rPr kumimoji="0" lang="pt-BR" altLang="en-US" sz="3200" b="0" i="0" u="none" strike="noStrike" cap="none" normalizeH="0" baseline="30000" dirty="0">
                <a:ln>
                  <a:noFill/>
                </a:ln>
                <a:solidFill>
                  <a:srgbClr val="002060"/>
                </a:solidFill>
                <a:effectLst/>
                <a:ea typeface="Times New Roman" panose="02020603050405020304" pitchFamily="18" charset="0"/>
              </a:rPr>
              <a:t>2</a:t>
            </a:r>
            <a:r>
              <a:rPr kumimoji="0" lang="pt-BR"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B</a:t>
            </a:r>
            <a:r>
              <a:rPr kumimoji="0" lang="pt-BR"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7 </a:t>
            </a:r>
            <a:r>
              <a:rPr kumimoji="0" lang="pt-BR"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US"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t>
            </a:r>
            <a:r>
              <a:rPr kumimoji="0" lang="pt-BR" altLang="en-US" sz="3200" b="0" i="0" u="none" strike="noStrike" cap="none" normalizeH="0" baseline="0" dirty="0">
                <a:ln>
                  <a:noFill/>
                </a:ln>
                <a:solidFill>
                  <a:srgbClr val="002060"/>
                </a:solidFill>
                <a:effectLst/>
                <a:ea typeface="Times New Roman" panose="02020603050405020304" pitchFamily="18" charset="0"/>
              </a:rPr>
              <a:t>8E/(7</a:t>
            </a:r>
            <a:r>
              <a:rPr kumimoji="0" lang="en-US"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a:t>
            </a:r>
            <a:r>
              <a:rPr kumimoji="0" lang="pt-BR" altLang="en-US" sz="3200" b="0" i="0" u="none" strike="noStrike" cap="none" normalizeH="0" baseline="30000" dirty="0">
                <a:ln>
                  <a:noFill/>
                </a:ln>
                <a:solidFill>
                  <a:srgbClr val="002060"/>
                </a:solidFill>
                <a:effectLst/>
                <a:ea typeface="Times New Roman" panose="02020603050405020304" pitchFamily="18" charset="0"/>
              </a:rPr>
              <a:t>2</a:t>
            </a:r>
            <a:r>
              <a:rPr kumimoji="0" lang="pt-BR"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p>
          <a:p>
            <a:pPr marL="0" marR="0" lvl="0" indent="0" algn="l" defTabSz="914400" rtl="0" eaLnBrk="0" fontAlgn="base" latinLnBrk="0" hangingPunct="0">
              <a:lnSpc>
                <a:spcPct val="120000"/>
              </a:lnSpc>
              <a:spcBef>
                <a:spcPct val="0"/>
              </a:spcBef>
              <a:spcAft>
                <a:spcPct val="0"/>
              </a:spcAft>
              <a:buClrTx/>
              <a:buSzTx/>
              <a:buFontTx/>
              <a:buNone/>
              <a:tabLst/>
            </a:pPr>
            <a:endPar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2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y(t) = </a:t>
            </a:r>
            <a:endPar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214224423"/>
      </p:ext>
    </p:extLst>
  </p:cSld>
  <p:clrMapOvr>
    <a:masterClrMapping/>
  </p:clrMapOvr>
  <mc:AlternateContent xmlns:mc="http://schemas.openxmlformats.org/markup-compatibility/2006" xmlns:p14="http://schemas.microsoft.com/office/powerpoint/2010/main">
    <mc:Choice Requires="p14">
      <p:transition spd="slow" p14:dur="2000" advTm="50702"/>
    </mc:Choice>
    <mc:Fallback xmlns="">
      <p:transition spd="slow" advTm="50702"/>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a:bodyPr>
          <a:lstStyle/>
          <a:p>
            <a:r>
              <a:rPr lang="en-US" dirty="0"/>
              <a:t>Derivative of triangular waveform y(t)</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0086A357-2C54-402D-9662-CD5E64271467}"/>
              </a:ext>
            </a:extLst>
          </p:cNvPr>
          <p:cNvGraphicFramePr>
            <a:graphicFrameLocks noChangeAspect="1"/>
          </p:cNvGraphicFramePr>
          <p:nvPr>
            <p:extLst>
              <p:ext uri="{D42A27DB-BD31-4B8C-83A1-F6EECF244321}">
                <p14:modId xmlns:p14="http://schemas.microsoft.com/office/powerpoint/2010/main" val="905470877"/>
              </p:ext>
            </p:extLst>
          </p:nvPr>
        </p:nvGraphicFramePr>
        <p:xfrm>
          <a:off x="1234440" y="5275970"/>
          <a:ext cx="8763000" cy="1276350"/>
        </p:xfrm>
        <a:graphic>
          <a:graphicData uri="http://schemas.openxmlformats.org/presentationml/2006/ole">
            <mc:AlternateContent xmlns:mc="http://schemas.openxmlformats.org/markup-compatibility/2006">
              <mc:Choice xmlns:v="urn:schemas-microsoft-com:vml" Requires="v">
                <p:oleObj r:id="rId3" imgW="3467100" imgH="457200" progId="Equation.3">
                  <p:embed/>
                </p:oleObj>
              </mc:Choice>
              <mc:Fallback>
                <p:oleObj r:id="rId3" imgW="3467100" imgH="4572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4440" y="5275970"/>
                        <a:ext cx="8763000" cy="1276350"/>
                      </a:xfrm>
                      <a:prstGeom prst="rect">
                        <a:avLst/>
                      </a:prstGeom>
                      <a:noFill/>
                    </p:spPr>
                  </p:pic>
                </p:oleObj>
              </mc:Fallback>
            </mc:AlternateContent>
          </a:graphicData>
        </a:graphic>
      </p:graphicFrame>
      <p:grpSp>
        <p:nvGrpSpPr>
          <p:cNvPr id="5" name="Group 4">
            <a:extLst>
              <a:ext uri="{FF2B5EF4-FFF2-40B4-BE49-F238E27FC236}">
                <a16:creationId xmlns:a16="http://schemas.microsoft.com/office/drawing/2014/main" id="{1D30FCD9-19C2-4E62-9C19-9B05212FF5EE}"/>
              </a:ext>
            </a:extLst>
          </p:cNvPr>
          <p:cNvGrpSpPr>
            <a:grpSpLocks/>
          </p:cNvGrpSpPr>
          <p:nvPr/>
        </p:nvGrpSpPr>
        <p:grpSpPr bwMode="auto">
          <a:xfrm>
            <a:off x="7356376" y="1740836"/>
            <a:ext cx="4795520" cy="2968625"/>
            <a:chOff x="9026" y="5765"/>
            <a:chExt cx="7552" cy="4795"/>
          </a:xfrm>
        </p:grpSpPr>
        <p:grpSp>
          <p:nvGrpSpPr>
            <p:cNvPr id="6" name="Group 5">
              <a:extLst>
                <a:ext uri="{FF2B5EF4-FFF2-40B4-BE49-F238E27FC236}">
                  <a16:creationId xmlns:a16="http://schemas.microsoft.com/office/drawing/2014/main" id="{E844ED1C-6A0C-4A8F-8ED0-15B45BE171EF}"/>
                </a:ext>
              </a:extLst>
            </p:cNvPr>
            <p:cNvGrpSpPr>
              <a:grpSpLocks/>
            </p:cNvGrpSpPr>
            <p:nvPr/>
          </p:nvGrpSpPr>
          <p:grpSpPr bwMode="auto">
            <a:xfrm>
              <a:off x="9186" y="5765"/>
              <a:ext cx="7392" cy="4079"/>
              <a:chOff x="8784" y="5765"/>
              <a:chExt cx="7392" cy="4079"/>
            </a:xfrm>
          </p:grpSpPr>
          <p:cxnSp>
            <p:nvCxnSpPr>
              <p:cNvPr id="8" name="Line 689">
                <a:extLst>
                  <a:ext uri="{FF2B5EF4-FFF2-40B4-BE49-F238E27FC236}">
                    <a16:creationId xmlns:a16="http://schemas.microsoft.com/office/drawing/2014/main" id="{786B1B19-9BE8-445A-8046-CFC581324474}"/>
                  </a:ext>
                </a:extLst>
              </p:cNvPr>
              <p:cNvCxnSpPr>
                <a:cxnSpLocks noChangeAspect="1" noChangeShapeType="1"/>
              </p:cNvCxnSpPr>
              <p:nvPr/>
            </p:nvCxnSpPr>
            <p:spPr bwMode="auto">
              <a:xfrm>
                <a:off x="12480" y="5831"/>
                <a:ext cx="0" cy="4013"/>
              </a:xfrm>
              <a:prstGeom prst="line">
                <a:avLst/>
              </a:prstGeom>
              <a:noFill/>
              <a:ln w="31750">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9" name="Line 690">
                <a:extLst>
                  <a:ext uri="{FF2B5EF4-FFF2-40B4-BE49-F238E27FC236}">
                    <a16:creationId xmlns:a16="http://schemas.microsoft.com/office/drawing/2014/main" id="{CB518206-98AD-420F-8729-0D2838625D8B}"/>
                  </a:ext>
                </a:extLst>
              </p:cNvPr>
              <p:cNvCxnSpPr>
                <a:cxnSpLocks noChangeAspect="1" noChangeShapeType="1"/>
              </p:cNvCxnSpPr>
              <p:nvPr/>
            </p:nvCxnSpPr>
            <p:spPr bwMode="auto">
              <a:xfrm>
                <a:off x="8784" y="8260"/>
                <a:ext cx="7128" cy="0"/>
              </a:xfrm>
              <a:prstGeom prst="line">
                <a:avLst/>
              </a:prstGeom>
              <a:noFill/>
              <a:ln w="31750">
                <a:solidFill>
                  <a:srgbClr val="002060"/>
                </a:solidFill>
                <a:round/>
                <a:headEnd/>
                <a:tailEnd type="arrow" w="med" len="med"/>
              </a:ln>
              <a:extLst>
                <a:ext uri="{909E8E84-426E-40DD-AFC4-6F175D3DCCD1}">
                  <a14:hiddenFill xmlns:a14="http://schemas.microsoft.com/office/drawing/2010/main">
                    <a:noFill/>
                  </a14:hiddenFill>
                </a:ext>
              </a:extLst>
            </p:spPr>
          </p:cxnSp>
          <p:grpSp>
            <p:nvGrpSpPr>
              <p:cNvPr id="10" name="Group 9">
                <a:extLst>
                  <a:ext uri="{FF2B5EF4-FFF2-40B4-BE49-F238E27FC236}">
                    <a16:creationId xmlns:a16="http://schemas.microsoft.com/office/drawing/2014/main" id="{E95C0F88-BF9E-4EF6-B008-3D75DF5C55A2}"/>
                  </a:ext>
                </a:extLst>
              </p:cNvPr>
              <p:cNvGrpSpPr>
                <a:grpSpLocks noChangeAspect="1"/>
              </p:cNvGrpSpPr>
              <p:nvPr/>
            </p:nvGrpSpPr>
            <p:grpSpPr bwMode="auto">
              <a:xfrm>
                <a:off x="9048" y="7072"/>
                <a:ext cx="6600" cy="2376"/>
                <a:chOff x="7538" y="1778"/>
                <a:chExt cx="3000" cy="1080"/>
              </a:xfrm>
            </p:grpSpPr>
            <p:cxnSp>
              <p:nvCxnSpPr>
                <p:cNvPr id="20" name="Line 692">
                  <a:extLst>
                    <a:ext uri="{FF2B5EF4-FFF2-40B4-BE49-F238E27FC236}">
                      <a16:creationId xmlns:a16="http://schemas.microsoft.com/office/drawing/2014/main" id="{C6717159-8DA4-4FE2-BD15-486F28C8B0C0}"/>
                    </a:ext>
                  </a:extLst>
                </p:cNvPr>
                <p:cNvCxnSpPr>
                  <a:cxnSpLocks noChangeAspect="1" noChangeShapeType="1"/>
                </p:cNvCxnSpPr>
                <p:nvPr/>
              </p:nvCxnSpPr>
              <p:spPr bwMode="auto">
                <a:xfrm>
                  <a:off x="8738" y="1778"/>
                  <a:ext cx="720" cy="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1" name="Line 693">
                  <a:extLst>
                    <a:ext uri="{FF2B5EF4-FFF2-40B4-BE49-F238E27FC236}">
                      <a16:creationId xmlns:a16="http://schemas.microsoft.com/office/drawing/2014/main" id="{FE036BE7-11D0-4D92-9E29-3C0C34C88B02}"/>
                    </a:ext>
                  </a:extLst>
                </p:cNvPr>
                <p:cNvCxnSpPr>
                  <a:cxnSpLocks noChangeAspect="1" noChangeShapeType="1"/>
                </p:cNvCxnSpPr>
                <p:nvPr/>
              </p:nvCxnSpPr>
              <p:spPr bwMode="auto">
                <a:xfrm>
                  <a:off x="9458" y="1778"/>
                  <a:ext cx="0" cy="108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2" name="Line 694">
                  <a:extLst>
                    <a:ext uri="{FF2B5EF4-FFF2-40B4-BE49-F238E27FC236}">
                      <a16:creationId xmlns:a16="http://schemas.microsoft.com/office/drawing/2014/main" id="{78C26734-D1AD-4A0E-AC63-02BF3E36AC99}"/>
                    </a:ext>
                  </a:extLst>
                </p:cNvPr>
                <p:cNvCxnSpPr>
                  <a:cxnSpLocks noChangeAspect="1" noChangeShapeType="1"/>
                </p:cNvCxnSpPr>
                <p:nvPr/>
              </p:nvCxnSpPr>
              <p:spPr bwMode="auto">
                <a:xfrm>
                  <a:off x="9458" y="2858"/>
                  <a:ext cx="720" cy="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3" name="Line 695">
                  <a:extLst>
                    <a:ext uri="{FF2B5EF4-FFF2-40B4-BE49-F238E27FC236}">
                      <a16:creationId xmlns:a16="http://schemas.microsoft.com/office/drawing/2014/main" id="{3FB8D50E-E90A-432B-9C19-28D9D8B03E47}"/>
                    </a:ext>
                  </a:extLst>
                </p:cNvPr>
                <p:cNvCxnSpPr>
                  <a:cxnSpLocks noChangeAspect="1" noChangeShapeType="1"/>
                </p:cNvCxnSpPr>
                <p:nvPr/>
              </p:nvCxnSpPr>
              <p:spPr bwMode="auto">
                <a:xfrm>
                  <a:off x="10178" y="1778"/>
                  <a:ext cx="0" cy="108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4" name="Line 696">
                  <a:extLst>
                    <a:ext uri="{FF2B5EF4-FFF2-40B4-BE49-F238E27FC236}">
                      <a16:creationId xmlns:a16="http://schemas.microsoft.com/office/drawing/2014/main" id="{7E6286C8-DFE2-4154-99CD-EE1E70149732}"/>
                    </a:ext>
                  </a:extLst>
                </p:cNvPr>
                <p:cNvCxnSpPr>
                  <a:cxnSpLocks noChangeAspect="1" noChangeShapeType="1"/>
                </p:cNvCxnSpPr>
                <p:nvPr/>
              </p:nvCxnSpPr>
              <p:spPr bwMode="auto">
                <a:xfrm>
                  <a:off x="10178" y="1778"/>
                  <a:ext cx="360" cy="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5" name="Line 697">
                  <a:extLst>
                    <a:ext uri="{FF2B5EF4-FFF2-40B4-BE49-F238E27FC236}">
                      <a16:creationId xmlns:a16="http://schemas.microsoft.com/office/drawing/2014/main" id="{2C740DF0-9E3C-4B8D-B4BA-A398185BA7D9}"/>
                    </a:ext>
                  </a:extLst>
                </p:cNvPr>
                <p:cNvCxnSpPr>
                  <a:cxnSpLocks noChangeAspect="1" noChangeShapeType="1"/>
                </p:cNvCxnSpPr>
                <p:nvPr/>
              </p:nvCxnSpPr>
              <p:spPr bwMode="auto">
                <a:xfrm>
                  <a:off x="7538" y="1778"/>
                  <a:ext cx="480" cy="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6" name="Line 698">
                  <a:extLst>
                    <a:ext uri="{FF2B5EF4-FFF2-40B4-BE49-F238E27FC236}">
                      <a16:creationId xmlns:a16="http://schemas.microsoft.com/office/drawing/2014/main" id="{5EC4BB58-843F-4A2D-9FA2-87285A03C6DA}"/>
                    </a:ext>
                  </a:extLst>
                </p:cNvPr>
                <p:cNvCxnSpPr>
                  <a:cxnSpLocks noChangeAspect="1" noChangeShapeType="1"/>
                </p:cNvCxnSpPr>
                <p:nvPr/>
              </p:nvCxnSpPr>
              <p:spPr bwMode="auto">
                <a:xfrm>
                  <a:off x="8018" y="1778"/>
                  <a:ext cx="0" cy="108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7" name="Line 699">
                  <a:extLst>
                    <a:ext uri="{FF2B5EF4-FFF2-40B4-BE49-F238E27FC236}">
                      <a16:creationId xmlns:a16="http://schemas.microsoft.com/office/drawing/2014/main" id="{4BEE6D50-E5E4-4D34-91D1-48AEDC1B69EE}"/>
                    </a:ext>
                  </a:extLst>
                </p:cNvPr>
                <p:cNvCxnSpPr>
                  <a:cxnSpLocks noChangeAspect="1" noChangeShapeType="1"/>
                </p:cNvCxnSpPr>
                <p:nvPr/>
              </p:nvCxnSpPr>
              <p:spPr bwMode="auto">
                <a:xfrm>
                  <a:off x="8018" y="2858"/>
                  <a:ext cx="720" cy="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cxnSp>
              <p:nvCxnSpPr>
                <p:cNvPr id="28" name="Line 700">
                  <a:extLst>
                    <a:ext uri="{FF2B5EF4-FFF2-40B4-BE49-F238E27FC236}">
                      <a16:creationId xmlns:a16="http://schemas.microsoft.com/office/drawing/2014/main" id="{2D6846A7-A1F6-4729-888B-6C943E4413F8}"/>
                    </a:ext>
                  </a:extLst>
                </p:cNvPr>
                <p:cNvCxnSpPr>
                  <a:cxnSpLocks noChangeAspect="1" noChangeShapeType="1"/>
                </p:cNvCxnSpPr>
                <p:nvPr/>
              </p:nvCxnSpPr>
              <p:spPr bwMode="auto">
                <a:xfrm>
                  <a:off x="8738" y="1778"/>
                  <a:ext cx="0" cy="1080"/>
                </a:xfrm>
                <a:prstGeom prst="line">
                  <a:avLst/>
                </a:prstGeom>
                <a:noFill/>
                <a:ln w="31750">
                  <a:solidFill>
                    <a:srgbClr val="C00000"/>
                  </a:solidFill>
                  <a:round/>
                  <a:headEnd/>
                  <a:tailEnd/>
                </a:ln>
                <a:extLst>
                  <a:ext uri="{909E8E84-426E-40DD-AFC4-6F175D3DCCD1}">
                    <a14:hiddenFill xmlns:a14="http://schemas.microsoft.com/office/drawing/2010/main">
                      <a:noFill/>
                    </a14:hiddenFill>
                  </a:ext>
                </a:extLst>
              </p:spPr>
            </p:cxnSp>
          </p:grpSp>
          <p:sp>
            <p:nvSpPr>
              <p:cNvPr id="11" name="Text Box 701">
                <a:extLst>
                  <a:ext uri="{FF2B5EF4-FFF2-40B4-BE49-F238E27FC236}">
                    <a16:creationId xmlns:a16="http://schemas.microsoft.com/office/drawing/2014/main" id="{701DE946-092B-4B47-BEE1-AB5D139A9F26}"/>
                  </a:ext>
                </a:extLst>
              </p:cNvPr>
              <p:cNvSpPr txBox="1">
                <a:spLocks noChangeAspect="1" noChangeArrowheads="1"/>
              </p:cNvSpPr>
              <p:nvPr/>
            </p:nvSpPr>
            <p:spPr bwMode="auto">
              <a:xfrm>
                <a:off x="12744" y="5765"/>
                <a:ext cx="1056" cy="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12" name="Text Box 702">
                <a:extLst>
                  <a:ext uri="{FF2B5EF4-FFF2-40B4-BE49-F238E27FC236}">
                    <a16:creationId xmlns:a16="http://schemas.microsoft.com/office/drawing/2014/main" id="{FB24BB1F-C8DD-4BE9-92B5-2012783519BF}"/>
                  </a:ext>
                </a:extLst>
              </p:cNvPr>
              <p:cNvSpPr txBox="1">
                <a:spLocks noChangeAspect="1" noChangeArrowheads="1"/>
              </p:cNvSpPr>
              <p:nvPr/>
            </p:nvSpPr>
            <p:spPr bwMode="auto">
              <a:xfrm>
                <a:off x="15648" y="7468"/>
                <a:ext cx="528" cy="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sp>
            <p:nvSpPr>
              <p:cNvPr id="13" name="Text Box 703">
                <a:extLst>
                  <a:ext uri="{FF2B5EF4-FFF2-40B4-BE49-F238E27FC236}">
                    <a16:creationId xmlns:a16="http://schemas.microsoft.com/office/drawing/2014/main" id="{DFEA9CDD-622C-41D7-976D-54CE8B7DC8B3}"/>
                  </a:ext>
                </a:extLst>
              </p:cNvPr>
              <p:cNvSpPr txBox="1">
                <a:spLocks noChangeAspect="1" noChangeArrowheads="1"/>
              </p:cNvSpPr>
              <p:nvPr/>
            </p:nvSpPr>
            <p:spPr bwMode="auto">
              <a:xfrm>
                <a:off x="11754" y="6424"/>
                <a:ext cx="1584" cy="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2E/T</a:t>
                </a:r>
                <a:endParaRPr lang="en-GB" sz="1200">
                  <a:effectLst/>
                  <a:latin typeface="Times New Roman" panose="02020603050405020304" pitchFamily="18" charset="0"/>
                  <a:ea typeface="Times New Roman" panose="02020603050405020304" pitchFamily="18" charset="0"/>
                </a:endParaRPr>
              </a:p>
            </p:txBody>
          </p:sp>
          <p:sp>
            <p:nvSpPr>
              <p:cNvPr id="14" name="Text Box 704">
                <a:extLst>
                  <a:ext uri="{FF2B5EF4-FFF2-40B4-BE49-F238E27FC236}">
                    <a16:creationId xmlns:a16="http://schemas.microsoft.com/office/drawing/2014/main" id="{830F7691-10C2-49BD-B404-FE38DE00BD12}"/>
                  </a:ext>
                </a:extLst>
              </p:cNvPr>
              <p:cNvSpPr txBox="1">
                <a:spLocks noChangeAspect="1" noChangeArrowheads="1"/>
              </p:cNvSpPr>
              <p:nvPr/>
            </p:nvSpPr>
            <p:spPr bwMode="auto">
              <a:xfrm>
                <a:off x="11853" y="9052"/>
                <a:ext cx="1485" cy="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-2E/T</a:t>
                </a:r>
                <a:endParaRPr lang="en-GB" sz="1200">
                  <a:effectLst/>
                  <a:latin typeface="Times New Roman" panose="02020603050405020304" pitchFamily="18" charset="0"/>
                  <a:ea typeface="Times New Roman" panose="02020603050405020304" pitchFamily="18" charset="0"/>
                </a:endParaRPr>
              </a:p>
            </p:txBody>
          </p:sp>
          <p:sp>
            <p:nvSpPr>
              <p:cNvPr id="15" name="Text Box 705">
                <a:extLst>
                  <a:ext uri="{FF2B5EF4-FFF2-40B4-BE49-F238E27FC236}">
                    <a16:creationId xmlns:a16="http://schemas.microsoft.com/office/drawing/2014/main" id="{C7EDD71A-B062-413F-BD89-832FDAEB1EBA}"/>
                  </a:ext>
                </a:extLst>
              </p:cNvPr>
              <p:cNvSpPr txBox="1">
                <a:spLocks noChangeAspect="1" noChangeArrowheads="1"/>
              </p:cNvSpPr>
              <p:nvPr/>
            </p:nvSpPr>
            <p:spPr bwMode="auto">
              <a:xfrm>
                <a:off x="12150" y="8260"/>
                <a:ext cx="528" cy="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600">
                    <a:solidFill>
                      <a:srgbClr val="002060"/>
                    </a:solidFill>
                    <a:effectLst/>
                    <a:latin typeface="Times New Roman" panose="02020603050405020304" pitchFamily="18" charset="0"/>
                    <a:ea typeface="Times New Roman" panose="02020603050405020304" pitchFamily="18" charset="0"/>
                  </a:rPr>
                  <a:t>0</a:t>
                </a:r>
                <a:endParaRPr lang="en-GB" sz="1200">
                  <a:effectLst/>
                  <a:latin typeface="Times New Roman" panose="02020603050405020304" pitchFamily="18" charset="0"/>
                  <a:ea typeface="Times New Roman" panose="02020603050405020304" pitchFamily="18" charset="0"/>
                </a:endParaRPr>
              </a:p>
            </p:txBody>
          </p:sp>
          <p:sp>
            <p:nvSpPr>
              <p:cNvPr id="16" name="Text Box 706">
                <a:extLst>
                  <a:ext uri="{FF2B5EF4-FFF2-40B4-BE49-F238E27FC236}">
                    <a16:creationId xmlns:a16="http://schemas.microsoft.com/office/drawing/2014/main" id="{D172E556-1768-46E5-934A-99AC03A65995}"/>
                  </a:ext>
                </a:extLst>
              </p:cNvPr>
              <p:cNvSpPr txBox="1">
                <a:spLocks noChangeAspect="1" noChangeArrowheads="1"/>
              </p:cNvSpPr>
              <p:nvPr/>
            </p:nvSpPr>
            <p:spPr bwMode="auto">
              <a:xfrm>
                <a:off x="13272" y="8260"/>
                <a:ext cx="792" cy="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600">
                    <a:solidFill>
                      <a:srgbClr val="002060"/>
                    </a:solidFill>
                    <a:effectLst/>
                    <a:latin typeface="Times New Roman" panose="02020603050405020304" pitchFamily="18" charset="0"/>
                    <a:ea typeface="Times New Roman" panose="02020603050405020304" pitchFamily="18" charset="0"/>
                  </a:rPr>
                  <a:t>T/2</a:t>
                </a:r>
                <a:endParaRPr lang="en-GB" sz="1200">
                  <a:effectLst/>
                  <a:latin typeface="Times New Roman" panose="02020603050405020304" pitchFamily="18" charset="0"/>
                  <a:ea typeface="Times New Roman" panose="02020603050405020304" pitchFamily="18" charset="0"/>
                </a:endParaRPr>
              </a:p>
            </p:txBody>
          </p:sp>
          <p:sp>
            <p:nvSpPr>
              <p:cNvPr id="17" name="Text Box 707">
                <a:extLst>
                  <a:ext uri="{FF2B5EF4-FFF2-40B4-BE49-F238E27FC236}">
                    <a16:creationId xmlns:a16="http://schemas.microsoft.com/office/drawing/2014/main" id="{44D2BA46-7B42-4D45-ABE1-8C5ECB0E6D88}"/>
                  </a:ext>
                </a:extLst>
              </p:cNvPr>
              <p:cNvSpPr txBox="1">
                <a:spLocks noChangeAspect="1" noChangeArrowheads="1"/>
              </p:cNvSpPr>
              <p:nvPr/>
            </p:nvSpPr>
            <p:spPr bwMode="auto">
              <a:xfrm>
                <a:off x="14856" y="8260"/>
                <a:ext cx="1056" cy="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600">
                    <a:solidFill>
                      <a:srgbClr val="002060"/>
                    </a:solidFill>
                    <a:effectLst/>
                    <a:latin typeface="Times New Roman" panose="02020603050405020304" pitchFamily="18" charset="0"/>
                    <a:ea typeface="Times New Roman" panose="02020603050405020304" pitchFamily="18" charset="0"/>
                  </a:rPr>
                  <a:t>3T/2</a:t>
                </a:r>
                <a:endParaRPr lang="en-GB" sz="1200">
                  <a:effectLst/>
                  <a:latin typeface="Times New Roman" panose="02020603050405020304" pitchFamily="18" charset="0"/>
                  <a:ea typeface="Times New Roman" panose="02020603050405020304" pitchFamily="18" charset="0"/>
                </a:endParaRPr>
              </a:p>
            </p:txBody>
          </p:sp>
          <p:sp>
            <p:nvSpPr>
              <p:cNvPr id="18" name="Text Box 708">
                <a:extLst>
                  <a:ext uri="{FF2B5EF4-FFF2-40B4-BE49-F238E27FC236}">
                    <a16:creationId xmlns:a16="http://schemas.microsoft.com/office/drawing/2014/main" id="{63B001A8-3F70-4267-B235-1D77AD28D39B}"/>
                  </a:ext>
                </a:extLst>
              </p:cNvPr>
              <p:cNvSpPr txBox="1">
                <a:spLocks noChangeAspect="1" noChangeArrowheads="1"/>
              </p:cNvSpPr>
              <p:nvPr/>
            </p:nvSpPr>
            <p:spPr bwMode="auto">
              <a:xfrm>
                <a:off x="10863" y="8260"/>
                <a:ext cx="1122" cy="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600">
                    <a:solidFill>
                      <a:srgbClr val="002060"/>
                    </a:solidFill>
                    <a:effectLst/>
                    <a:latin typeface="Times New Roman" panose="02020603050405020304" pitchFamily="18" charset="0"/>
                    <a:ea typeface="Times New Roman" panose="02020603050405020304" pitchFamily="18" charset="0"/>
                  </a:rPr>
                  <a:t>-T/2</a:t>
                </a:r>
                <a:endParaRPr lang="en-GB" sz="1200">
                  <a:effectLst/>
                  <a:latin typeface="Times New Roman" panose="02020603050405020304" pitchFamily="18" charset="0"/>
                  <a:ea typeface="Times New Roman" panose="02020603050405020304" pitchFamily="18" charset="0"/>
                </a:endParaRPr>
              </a:p>
            </p:txBody>
          </p:sp>
          <p:sp>
            <p:nvSpPr>
              <p:cNvPr id="19" name="Text Box 709">
                <a:extLst>
                  <a:ext uri="{FF2B5EF4-FFF2-40B4-BE49-F238E27FC236}">
                    <a16:creationId xmlns:a16="http://schemas.microsoft.com/office/drawing/2014/main" id="{109C5DF9-54FD-4A20-A04B-F47E1D848654}"/>
                  </a:ext>
                </a:extLst>
              </p:cNvPr>
              <p:cNvSpPr txBox="1">
                <a:spLocks noChangeAspect="1" noChangeArrowheads="1"/>
              </p:cNvSpPr>
              <p:nvPr/>
            </p:nvSpPr>
            <p:spPr bwMode="auto">
              <a:xfrm>
                <a:off x="9048" y="8260"/>
                <a:ext cx="1254" cy="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600">
                    <a:solidFill>
                      <a:srgbClr val="002060"/>
                    </a:solidFill>
                    <a:effectLst/>
                    <a:latin typeface="Times New Roman" panose="02020603050405020304" pitchFamily="18" charset="0"/>
                    <a:ea typeface="Times New Roman" panose="02020603050405020304" pitchFamily="18" charset="0"/>
                  </a:rPr>
                  <a:t>-3T/2</a:t>
                </a:r>
                <a:endParaRPr lang="en-GB" sz="1200">
                  <a:effectLst/>
                  <a:latin typeface="Times New Roman" panose="02020603050405020304" pitchFamily="18" charset="0"/>
                  <a:ea typeface="Times New Roman" panose="02020603050405020304" pitchFamily="18" charset="0"/>
                </a:endParaRPr>
              </a:p>
            </p:txBody>
          </p:sp>
        </p:grpSp>
        <p:sp>
          <p:nvSpPr>
            <p:cNvPr id="7" name="Text Box 710">
              <a:extLst>
                <a:ext uri="{FF2B5EF4-FFF2-40B4-BE49-F238E27FC236}">
                  <a16:creationId xmlns:a16="http://schemas.microsoft.com/office/drawing/2014/main" id="{91AAF069-3BA4-4FCD-BC5A-99CD3B106115}"/>
                </a:ext>
              </a:extLst>
            </p:cNvPr>
            <p:cNvSpPr txBox="1">
              <a:spLocks noChangeAspect="1" noChangeArrowheads="1"/>
            </p:cNvSpPr>
            <p:nvPr/>
          </p:nvSpPr>
          <p:spPr bwMode="auto">
            <a:xfrm>
              <a:off x="9026" y="9768"/>
              <a:ext cx="7414" cy="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600">
                  <a:solidFill>
                    <a:srgbClr val="002060"/>
                  </a:solidFill>
                  <a:effectLst/>
                  <a:latin typeface="Times New Roman" panose="02020603050405020304" pitchFamily="18" charset="0"/>
                  <a:ea typeface="Times New Roman" panose="02020603050405020304" pitchFamily="18" charset="0"/>
                </a:rPr>
                <a:t>Figure 17 – Rectangular waveform</a:t>
              </a:r>
              <a:endParaRPr lang="en-GB" sz="1200">
                <a:effectLst/>
                <a:latin typeface="Times New Roman" panose="02020603050405020304" pitchFamily="18" charset="0"/>
                <a:ea typeface="Times New Roman" panose="02020603050405020304" pitchFamily="18" charset="0"/>
              </a:endParaRPr>
            </a:p>
          </p:txBody>
        </p:sp>
      </p:grpSp>
      <p:sp>
        <p:nvSpPr>
          <p:cNvPr id="4" name="Rectangle 26">
            <a:extLst>
              <a:ext uri="{FF2B5EF4-FFF2-40B4-BE49-F238E27FC236}">
                <a16:creationId xmlns:a16="http://schemas.microsoft.com/office/drawing/2014/main" id="{EFDB5088-9FBF-4585-AC11-459F39E00A5B}"/>
              </a:ext>
            </a:extLst>
          </p:cNvPr>
          <p:cNvSpPr>
            <a:spLocks noChangeArrowheads="1"/>
          </p:cNvSpPr>
          <p:nvPr/>
        </p:nvSpPr>
        <p:spPr bwMode="auto">
          <a:xfrm>
            <a:off x="-1048385" y="149191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29" name="Rectangle 37">
            <a:extLst>
              <a:ext uri="{FF2B5EF4-FFF2-40B4-BE49-F238E27FC236}">
                <a16:creationId xmlns:a16="http://schemas.microsoft.com/office/drawing/2014/main" id="{A6745EDC-BB6B-459F-88E4-35BD86D04746}"/>
              </a:ext>
            </a:extLst>
          </p:cNvPr>
          <p:cNvSpPr>
            <a:spLocks noChangeArrowheads="1"/>
          </p:cNvSpPr>
          <p:nvPr/>
        </p:nvSpPr>
        <p:spPr bwMode="auto">
          <a:xfrm>
            <a:off x="262672" y="1161922"/>
            <a:ext cx="7224077"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Derivative of y(t),has waveform shown in figure 17.  </a:t>
            </a:r>
            <a:endParaRPr kumimoji="0" lang="en-GB"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This corresponds to same type of rectangular waveform in example  1, </a:t>
            </a:r>
            <a:endParaRPr kumimoji="0" lang="en-GB"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except that the amplitude is 2/T times higher.  </a:t>
            </a:r>
            <a:endParaRPr kumimoji="0" lang="en-GB"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Thus use integral of analyzed waveform a(t) to obtain y(t).</a:t>
            </a:r>
            <a:endParaRPr kumimoji="0" lang="en-US" altLang="en-US" sz="3200" b="1"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endParaRPr>
          </a:p>
        </p:txBody>
      </p:sp>
      <p:sp>
        <p:nvSpPr>
          <p:cNvPr id="30" name="Rectangle 38">
            <a:extLst>
              <a:ext uri="{FF2B5EF4-FFF2-40B4-BE49-F238E27FC236}">
                <a16:creationId xmlns:a16="http://schemas.microsoft.com/office/drawing/2014/main" id="{3794AC62-9B1A-4B2C-9D7D-11D098367998}"/>
              </a:ext>
            </a:extLst>
          </p:cNvPr>
          <p:cNvSpPr>
            <a:spLocks noChangeArrowheads="1"/>
          </p:cNvSpPr>
          <p:nvPr/>
        </p:nvSpPr>
        <p:spPr bwMode="auto">
          <a:xfrm>
            <a:off x="-1048385" y="32254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chemeClr val="tx1"/>
                </a:solidFill>
                <a:effectLst/>
                <a:latin typeface="Arial" panose="020B060402020202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31" name="Rectangle 30">
            <a:extLst>
              <a:ext uri="{FF2B5EF4-FFF2-40B4-BE49-F238E27FC236}">
                <a16:creationId xmlns:a16="http://schemas.microsoft.com/office/drawing/2014/main" id="{A3D227C5-D887-4C49-9127-AD536FBFC15A}"/>
              </a:ext>
            </a:extLst>
          </p:cNvPr>
          <p:cNvSpPr/>
          <p:nvPr/>
        </p:nvSpPr>
        <p:spPr>
          <a:xfrm>
            <a:off x="70168" y="5594380"/>
            <a:ext cx="1039067" cy="584775"/>
          </a:xfrm>
          <a:prstGeom prst="rect">
            <a:avLst/>
          </a:prstGeom>
        </p:spPr>
        <p:txBody>
          <a:bodyPr wrap="none">
            <a:spAutoFit/>
          </a:bodyPr>
          <a:lstStyle/>
          <a:p>
            <a:r>
              <a:rPr lang="en-US" altLang="en-US" sz="3200" i="1" dirty="0">
                <a:solidFill>
                  <a:srgbClr val="002060"/>
                </a:solidFill>
                <a:latin typeface="Arial" panose="020B0604020202020204" pitchFamily="34" charset="0"/>
                <a:ea typeface="Times New Roman" panose="02020603050405020304" pitchFamily="18" charset="0"/>
              </a:rPr>
              <a:t>a(t)=</a:t>
            </a:r>
            <a:endParaRPr lang="en-GB" sz="3200" dirty="0"/>
          </a:p>
        </p:txBody>
      </p:sp>
    </p:spTree>
    <p:extLst>
      <p:ext uri="{BB962C8B-B14F-4D97-AF65-F5344CB8AC3E}">
        <p14:creationId xmlns:p14="http://schemas.microsoft.com/office/powerpoint/2010/main" val="3094628751"/>
      </p:ext>
    </p:extLst>
  </p:cSld>
  <p:clrMapOvr>
    <a:masterClrMapping/>
  </p:clrMapOvr>
  <mc:AlternateContent xmlns:mc="http://schemas.openxmlformats.org/markup-compatibility/2006" xmlns:p14="http://schemas.microsoft.com/office/powerpoint/2010/main">
    <mc:Choice Requires="p14">
      <p:transition spd="slow" p14:dur="2000" advTm="70854"/>
    </mc:Choice>
    <mc:Fallback xmlns="">
      <p:transition spd="slow" advTm="70854"/>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4" name="Object 3">
            <a:extLst>
              <a:ext uri="{FF2B5EF4-FFF2-40B4-BE49-F238E27FC236}">
                <a16:creationId xmlns:a16="http://schemas.microsoft.com/office/drawing/2014/main" id="{5B5F8313-5390-4E7F-931D-5973298B73C1}"/>
              </a:ext>
            </a:extLst>
          </p:cNvPr>
          <p:cNvGraphicFramePr>
            <a:graphicFrameLocks noChangeAspect="1"/>
          </p:cNvGraphicFramePr>
          <p:nvPr>
            <p:extLst>
              <p:ext uri="{D42A27DB-BD31-4B8C-83A1-F6EECF244321}">
                <p14:modId xmlns:p14="http://schemas.microsoft.com/office/powerpoint/2010/main" val="672730745"/>
              </p:ext>
            </p:extLst>
          </p:nvPr>
        </p:nvGraphicFramePr>
        <p:xfrm>
          <a:off x="1714500" y="513348"/>
          <a:ext cx="9378616" cy="1276350"/>
        </p:xfrm>
        <a:graphic>
          <a:graphicData uri="http://schemas.openxmlformats.org/presentationml/2006/ole">
            <mc:AlternateContent xmlns:mc="http://schemas.openxmlformats.org/markup-compatibility/2006">
              <mc:Choice xmlns:v="urn:schemas-microsoft-com:vml" Requires="v">
                <p:oleObj r:id="rId3" imgW="3467100" imgH="457200" progId="Equation.3">
                  <p:embed/>
                </p:oleObj>
              </mc:Choice>
              <mc:Fallback>
                <p:oleObj r:id="rId3" imgW="3467100" imgH="457200" progId="Equation.3">
                  <p:embed/>
                  <p:pic>
                    <p:nvPicPr>
                      <p:cNvPr id="3" name="Object 2">
                        <a:extLst>
                          <a:ext uri="{FF2B5EF4-FFF2-40B4-BE49-F238E27FC236}">
                            <a16:creationId xmlns:a16="http://schemas.microsoft.com/office/drawing/2014/main" id="{0086A357-2C54-402D-9662-CD5E642714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4500" y="513348"/>
                        <a:ext cx="9378616" cy="1276350"/>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04F8CBD6-C5B7-4D80-8B5B-7E4F327F1D06}"/>
              </a:ext>
            </a:extLst>
          </p:cNvPr>
          <p:cNvSpPr/>
          <p:nvPr/>
        </p:nvSpPr>
        <p:spPr>
          <a:xfrm>
            <a:off x="550228" y="831758"/>
            <a:ext cx="1112063" cy="584775"/>
          </a:xfrm>
          <a:prstGeom prst="rect">
            <a:avLst/>
          </a:prstGeom>
        </p:spPr>
        <p:txBody>
          <a:bodyPr wrap="square">
            <a:spAutoFit/>
          </a:bodyPr>
          <a:lstStyle/>
          <a:p>
            <a:r>
              <a:rPr lang="en-US" altLang="en-US" sz="3200" i="1" dirty="0">
                <a:solidFill>
                  <a:srgbClr val="002060"/>
                </a:solidFill>
                <a:latin typeface="Arial" panose="020B0604020202020204" pitchFamily="34" charset="0"/>
                <a:ea typeface="Times New Roman" panose="02020603050405020304" pitchFamily="18" charset="0"/>
              </a:rPr>
              <a:t>a(t)=</a:t>
            </a:r>
            <a:endParaRPr lang="en-GB" sz="3200" dirty="0"/>
          </a:p>
        </p:txBody>
      </p:sp>
      <p:graphicFrame>
        <p:nvGraphicFramePr>
          <p:cNvPr id="3" name="Object 2">
            <a:extLst>
              <a:ext uri="{FF2B5EF4-FFF2-40B4-BE49-F238E27FC236}">
                <a16:creationId xmlns:a16="http://schemas.microsoft.com/office/drawing/2014/main" id="{AC561A4C-F9A7-4984-A09E-49B6E56C499A}"/>
              </a:ext>
            </a:extLst>
          </p:cNvPr>
          <p:cNvGraphicFramePr>
            <a:graphicFrameLocks noChangeAspect="1"/>
          </p:cNvGraphicFramePr>
          <p:nvPr>
            <p:extLst>
              <p:ext uri="{D42A27DB-BD31-4B8C-83A1-F6EECF244321}">
                <p14:modId xmlns:p14="http://schemas.microsoft.com/office/powerpoint/2010/main" val="2001583057"/>
              </p:ext>
            </p:extLst>
          </p:nvPr>
        </p:nvGraphicFramePr>
        <p:xfrm>
          <a:off x="705851" y="2392569"/>
          <a:ext cx="11370406" cy="1430462"/>
        </p:xfrm>
        <a:graphic>
          <a:graphicData uri="http://schemas.openxmlformats.org/presentationml/2006/ole">
            <mc:AlternateContent xmlns:mc="http://schemas.openxmlformats.org/markup-compatibility/2006">
              <mc:Choice xmlns:v="urn:schemas-microsoft-com:vml" Requires="v">
                <p:oleObj r:id="rId5" imgW="3759200" imgH="457200" progId="Equation.3">
                  <p:embed/>
                </p:oleObj>
              </mc:Choice>
              <mc:Fallback>
                <p:oleObj r:id="rId5" imgW="3759200" imgH="4572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5851" y="2392569"/>
                        <a:ext cx="11370406" cy="1430462"/>
                      </a:xfrm>
                      <a:prstGeom prst="rect">
                        <a:avLst/>
                      </a:prstGeom>
                      <a:noFill/>
                    </p:spPr>
                  </p:pic>
                </p:oleObj>
              </mc:Fallback>
            </mc:AlternateContent>
          </a:graphicData>
        </a:graphic>
      </p:graphicFrame>
      <p:graphicFrame>
        <p:nvGraphicFramePr>
          <p:cNvPr id="6" name="Object 5">
            <a:extLst>
              <a:ext uri="{FF2B5EF4-FFF2-40B4-BE49-F238E27FC236}">
                <a16:creationId xmlns:a16="http://schemas.microsoft.com/office/drawing/2014/main" id="{1F80BB8A-CCDB-459B-A541-4D72B36F633E}"/>
              </a:ext>
            </a:extLst>
          </p:cNvPr>
          <p:cNvGraphicFramePr>
            <a:graphicFrameLocks noChangeAspect="1"/>
          </p:cNvGraphicFramePr>
          <p:nvPr>
            <p:extLst>
              <p:ext uri="{D42A27DB-BD31-4B8C-83A1-F6EECF244321}">
                <p14:modId xmlns:p14="http://schemas.microsoft.com/office/powerpoint/2010/main" val="3934488090"/>
              </p:ext>
            </p:extLst>
          </p:nvPr>
        </p:nvGraphicFramePr>
        <p:xfrm>
          <a:off x="592555" y="3705375"/>
          <a:ext cx="11622505" cy="1634055"/>
        </p:xfrm>
        <a:graphic>
          <a:graphicData uri="http://schemas.openxmlformats.org/presentationml/2006/ole">
            <mc:AlternateContent xmlns:mc="http://schemas.openxmlformats.org/markup-compatibility/2006">
              <mc:Choice xmlns:v="urn:schemas-microsoft-com:vml" Requires="v">
                <p:oleObj r:id="rId7" imgW="3403600" imgH="482600" progId="Equation.3">
                  <p:embed/>
                </p:oleObj>
              </mc:Choice>
              <mc:Fallback>
                <p:oleObj r:id="rId7" imgW="3403600" imgH="482600"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2555" y="3705375"/>
                        <a:ext cx="11622505" cy="1634055"/>
                      </a:xfrm>
                      <a:prstGeom prst="rect">
                        <a:avLst/>
                      </a:prstGeom>
                      <a:noFill/>
                    </p:spPr>
                  </p:pic>
                </p:oleObj>
              </mc:Fallback>
            </mc:AlternateContent>
          </a:graphicData>
        </a:graphic>
      </p:graphicFrame>
      <p:sp>
        <p:nvSpPr>
          <p:cNvPr id="7" name="Rectangle 3">
            <a:extLst>
              <a:ext uri="{FF2B5EF4-FFF2-40B4-BE49-F238E27FC236}">
                <a16:creationId xmlns:a16="http://schemas.microsoft.com/office/drawing/2014/main" id="{D370986C-9FEA-44A8-BD27-9F12104C2ED9}"/>
              </a:ext>
            </a:extLst>
          </p:cNvPr>
          <p:cNvSpPr>
            <a:spLocks noChangeArrowheads="1"/>
          </p:cNvSpPr>
          <p:nvPr/>
        </p:nvSpPr>
        <p:spPr bwMode="auto">
          <a:xfrm>
            <a:off x="167439" y="1795301"/>
            <a:ext cx="3465095" cy="70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5235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y(t)</a:t>
            </a:r>
            <a:r>
              <a:rPr kumimoji="0" lang="en-US" altLang="en-US" sz="36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a:t>
            </a:r>
            <a:r>
              <a:rPr kumimoji="0" lang="en-US" altLang="en-US" sz="36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a(t) dt </a:t>
            </a:r>
            <a:r>
              <a:rPr kumimoji="0" lang="en-US" altLang="en-US" sz="36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a:t>
            </a:r>
          </a:p>
        </p:txBody>
      </p:sp>
      <p:sp>
        <p:nvSpPr>
          <p:cNvPr id="8" name="Rectangle 4">
            <a:extLst>
              <a:ext uri="{FF2B5EF4-FFF2-40B4-BE49-F238E27FC236}">
                <a16:creationId xmlns:a16="http://schemas.microsoft.com/office/drawing/2014/main" id="{5182AA65-3958-4367-8772-67A288DB39EA}"/>
              </a:ext>
            </a:extLst>
          </p:cNvPr>
          <p:cNvSpPr>
            <a:spLocks noChangeArrowheads="1"/>
          </p:cNvSpPr>
          <p:nvPr/>
        </p:nvSpPr>
        <p:spPr bwMode="auto">
          <a:xfrm>
            <a:off x="152400" y="4199236"/>
            <a:ext cx="59255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5">
            <a:extLst>
              <a:ext uri="{FF2B5EF4-FFF2-40B4-BE49-F238E27FC236}">
                <a16:creationId xmlns:a16="http://schemas.microsoft.com/office/drawing/2014/main" id="{2816B91B-329E-4061-85AA-FE46DC23691B}"/>
              </a:ext>
            </a:extLst>
          </p:cNvPr>
          <p:cNvSpPr>
            <a:spLocks noChangeArrowheads="1"/>
          </p:cNvSpPr>
          <p:nvPr/>
        </p:nvSpPr>
        <p:spPr bwMode="auto">
          <a:xfrm>
            <a:off x="320843" y="5294111"/>
            <a:ext cx="9015664"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400"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which when simplified is identical to result obtained using normal method.</a:t>
            </a:r>
            <a:r>
              <a:rPr kumimoji="0" lang="en-GB" altLang="en-US" sz="1100" i="0" u="none" strike="noStrike" cap="none" normalizeH="0" baseline="0" dirty="0">
                <a:ln>
                  <a:noFill/>
                </a:ln>
                <a:solidFill>
                  <a:schemeClr val="tx1"/>
                </a:solidFill>
                <a:effectLst/>
                <a:latin typeface="Arial" panose="020B0604020202020204" pitchFamily="34" charset="0"/>
              </a:rPr>
              <a:t> </a:t>
            </a:r>
            <a:endParaRPr kumimoji="0" lang="en-GB" altLang="en-US" sz="1800" i="0" u="none" strike="noStrike" cap="none" normalizeH="0" baseline="0" dirty="0">
              <a:ln>
                <a:noFill/>
              </a:ln>
              <a:solidFill>
                <a:schemeClr val="tx1"/>
              </a:solidFill>
              <a:effectLst/>
              <a:latin typeface="Arial" panose="020B0604020202020204" pitchFamily="34" charset="0"/>
            </a:endParaRPr>
          </a:p>
        </p:txBody>
      </p:sp>
      <p:sp>
        <p:nvSpPr>
          <p:cNvPr id="11" name="Rectangle 4">
            <a:extLst>
              <a:ext uri="{FF2B5EF4-FFF2-40B4-BE49-F238E27FC236}">
                <a16:creationId xmlns:a16="http://schemas.microsoft.com/office/drawing/2014/main" id="{6FB7E54F-78C2-4E01-921F-6A36CA7E798A}"/>
              </a:ext>
            </a:extLst>
          </p:cNvPr>
          <p:cNvSpPr>
            <a:spLocks noChangeArrowheads="1"/>
          </p:cNvSpPr>
          <p:nvPr/>
        </p:nvSpPr>
        <p:spPr bwMode="auto">
          <a:xfrm>
            <a:off x="167439" y="2820218"/>
            <a:ext cx="59255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19369317"/>
      </p:ext>
    </p:extLst>
  </p:cSld>
  <p:clrMapOvr>
    <a:masterClrMapping/>
  </p:clrMapOvr>
  <mc:AlternateContent xmlns:mc="http://schemas.openxmlformats.org/markup-compatibility/2006" xmlns:p14="http://schemas.microsoft.com/office/powerpoint/2010/main">
    <mc:Choice Requires="p14">
      <p:transition spd="slow" p14:dur="2000" advTm="47934"/>
    </mc:Choice>
    <mc:Fallback xmlns="">
      <p:transition spd="slow" advTm="47934"/>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545058"/>
            <a:ext cx="3131632" cy="457200"/>
          </a:xfrm>
        </p:spPr>
        <p:txBody>
          <a:bodyPr>
            <a:normAutofit fontScale="90000"/>
          </a:bodyPr>
          <a:lstStyle/>
          <a:p>
            <a:pPr algn="l"/>
            <a:r>
              <a:rPr lang="en-GB" sz="3600" dirty="0"/>
              <a:t>Example 4</a:t>
            </a:r>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1501BC85-CB6B-4B96-8C51-23CA7F7C0B97}"/>
              </a:ext>
            </a:extLst>
          </p:cNvPr>
          <p:cNvGraphicFramePr>
            <a:graphicFrameLocks noChangeAspect="1"/>
          </p:cNvGraphicFramePr>
          <p:nvPr>
            <p:extLst>
              <p:ext uri="{D42A27DB-BD31-4B8C-83A1-F6EECF244321}">
                <p14:modId xmlns:p14="http://schemas.microsoft.com/office/powerpoint/2010/main" val="1544450989"/>
              </p:ext>
            </p:extLst>
          </p:nvPr>
        </p:nvGraphicFramePr>
        <p:xfrm>
          <a:off x="598156" y="4354795"/>
          <a:ext cx="9715500" cy="1085850"/>
        </p:xfrm>
        <a:graphic>
          <a:graphicData uri="http://schemas.openxmlformats.org/presentationml/2006/ole">
            <mc:AlternateContent xmlns:mc="http://schemas.openxmlformats.org/markup-compatibility/2006">
              <mc:Choice xmlns:v="urn:schemas-microsoft-com:vml" Requires="v">
                <p:oleObj r:id="rId3" imgW="4914900" imgH="533400" progId="Equation.3">
                  <p:embed/>
                </p:oleObj>
              </mc:Choice>
              <mc:Fallback>
                <p:oleObj r:id="rId3" imgW="4914900" imgH="533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156" y="4354795"/>
                        <a:ext cx="9715500" cy="1085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F6328701-FED4-4BF7-BC1C-47A9E6EA55C4}"/>
              </a:ext>
            </a:extLst>
          </p:cNvPr>
          <p:cNvGraphicFramePr>
            <a:graphicFrameLocks noChangeAspect="1"/>
          </p:cNvGraphicFramePr>
          <p:nvPr>
            <p:extLst>
              <p:ext uri="{D42A27DB-BD31-4B8C-83A1-F6EECF244321}">
                <p14:modId xmlns:p14="http://schemas.microsoft.com/office/powerpoint/2010/main" val="1037546115"/>
              </p:ext>
            </p:extLst>
          </p:nvPr>
        </p:nvGraphicFramePr>
        <p:xfrm>
          <a:off x="598156" y="5307050"/>
          <a:ext cx="9277350" cy="1181100"/>
        </p:xfrm>
        <a:graphic>
          <a:graphicData uri="http://schemas.openxmlformats.org/presentationml/2006/ole">
            <mc:AlternateContent xmlns:mc="http://schemas.openxmlformats.org/markup-compatibility/2006">
              <mc:Choice xmlns:v="urn:schemas-microsoft-com:vml" Requires="v">
                <p:oleObj r:id="rId5" imgW="4699000" imgH="596900" progId="Equation.3">
                  <p:embed/>
                </p:oleObj>
              </mc:Choice>
              <mc:Fallback>
                <p:oleObj r:id="rId5" imgW="4699000" imgH="5969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8156" y="5307050"/>
                        <a:ext cx="9277350" cy="1181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3">
            <a:extLst>
              <a:ext uri="{FF2B5EF4-FFF2-40B4-BE49-F238E27FC236}">
                <a16:creationId xmlns:a16="http://schemas.microsoft.com/office/drawing/2014/main" id="{4E91F36D-BCF9-48C6-B802-71FBA104552F}"/>
              </a:ext>
            </a:extLst>
          </p:cNvPr>
          <p:cNvSpPr>
            <a:spLocks noChangeArrowheads="1"/>
          </p:cNvSpPr>
          <p:nvPr/>
        </p:nvSpPr>
        <p:spPr bwMode="auto">
          <a:xfrm>
            <a:off x="248653" y="851438"/>
            <a:ext cx="5943599" cy="3677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2352" rIns="0" bIns="76176" numCol="1" anchor="ctr" anchorCtr="0" compatLnSpc="1">
            <a:prstTxWarp prst="textNoShape">
              <a:avLst/>
            </a:prstTxWarp>
            <a:spAutoFit/>
          </a:bodyPr>
          <a:lstStyle>
            <a:lvl1pPr indent="457200"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1pPr>
            <a:lvl2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2pPr>
            <a:lvl3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3pPr>
            <a:lvl4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4pPr>
            <a:lvl5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5pPr>
            <a:lvl6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6pPr>
            <a:lvl7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7pPr>
            <a:lvl8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8pPr>
            <a:lvl9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9pPr>
          </a:lstStyle>
          <a:p>
            <a:pPr marL="409575" marR="0" lvl="0" indent="-409575"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GB" altLang="en-US" sz="3200" b="0" i="0" u="none" strike="noStrike" cap="none" normalizeH="0" baseline="0" dirty="0">
                <a:ln>
                  <a:noFill/>
                </a:ln>
                <a:solidFill>
                  <a:srgbClr val="002060"/>
                </a:solidFill>
                <a:effectLst/>
                <a:ea typeface="Times New Roman" panose="02020603050405020304" pitchFamily="18" charset="0"/>
              </a:rPr>
              <a:t>Find  Fourier series of waveform shown in figure 18.</a:t>
            </a:r>
            <a:endParaRPr kumimoji="0" lang="en-GB" altLang="en-US" sz="3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GB" altLang="en-US" sz="3200" b="0" i="1"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Solution</a:t>
            </a:r>
            <a:endParaRPr kumimoji="0" lang="en-GB" altLang="en-US" sz="3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defTabSz="914400" rtl="0" eaLnBrk="0" fontAlgn="base" latinLnBrk="0" hangingPunct="0">
              <a:lnSpc>
                <a:spcPct val="100000"/>
              </a:lnSpc>
              <a:spcBef>
                <a:spcPct val="0"/>
              </a:spcBef>
              <a:spcAft>
                <a:spcPct val="0"/>
              </a:spcAft>
              <a:buClrTx/>
              <a:buSzTx/>
              <a:buFontTx/>
              <a:buNone/>
              <a:tabLst>
                <a:tab pos="457200" algn="r"/>
                <a:tab pos="32004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Period = T, 		</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ea typeface="Times New Roman" panose="02020603050405020304" pitchFamily="18" charset="0"/>
              </a:rPr>
              <a:t> </a:t>
            </a:r>
            <a:r>
              <a:rPr kumimoji="0" lang="en-GB" altLang="en-US" sz="3200" b="0" i="0"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w</a:t>
            </a:r>
            <a:r>
              <a:rPr kumimoji="0" lang="en-GB" altLang="en-US" sz="3200" b="0" i="0" u="none" strike="noStrike" cap="none" normalizeH="0" baseline="-30000" dirty="0" err="1">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o</a:t>
            </a:r>
            <a:r>
              <a:rPr kumimoji="0" lang="en-GB" altLang="en-US" sz="3200" b="0" i="0" u="none" strike="noStrike" cap="none" normalizeH="0" baseline="0" dirty="0" err="1">
                <a:ln>
                  <a:noFill/>
                </a:ln>
                <a:solidFill>
                  <a:srgbClr val="002060"/>
                </a:solidFill>
                <a:effectLst/>
                <a:ea typeface="Times New Roman" panose="02020603050405020304" pitchFamily="18" charset="0"/>
                <a:sym typeface="Symbol" panose="05050102010706020507" pitchFamily="18" charset="2"/>
              </a:rPr>
              <a:t>T</a:t>
            </a:r>
            <a:r>
              <a:rPr kumimoji="0" lang="en-GB" altLang="en-US" sz="3200" b="0" i="0" u="none" strike="noStrike" cap="none" normalizeH="0" baseline="0" dirty="0">
                <a:ln>
                  <a:noFill/>
                </a:ln>
                <a:solidFill>
                  <a:srgbClr val="002060"/>
                </a:solidFill>
                <a:effectLst/>
                <a:ea typeface="Times New Roman" panose="02020603050405020304" pitchFamily="18" charset="0"/>
                <a:sym typeface="Symbol" panose="05050102010706020507" pitchFamily="18" charset="2"/>
              </a:rPr>
              <a:t> = 2 </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p</a:t>
            </a:r>
            <a:endParaRPr kumimoji="0" lang="en-GB" altLang="en-US" sz="3200" b="0" i="0" u="none" strike="noStrike" cap="none" normalizeH="0" baseline="0" dirty="0">
              <a:ln>
                <a:noFill/>
              </a:ln>
              <a:solidFill>
                <a:schemeClr val="tx1"/>
              </a:solidFill>
              <a:effectLst/>
              <a:sym typeface="Symbol" panose="05050102010706020507" pitchFamily="18" charset="2"/>
            </a:endParaRPr>
          </a:p>
          <a:p>
            <a:pPr marL="457200" marR="0" lvl="0" indent="-457200"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Mean value = 0,   	</a:t>
            </a:r>
            <a:r>
              <a:rPr kumimoji="0" lang="en-GB" altLang="en-US" sz="3200" b="0" i="0" u="none" strike="noStrike" cap="none" normalizeH="0" baseline="0" dirty="0">
                <a:ln>
                  <a:noFill/>
                </a:ln>
                <a:solidFill>
                  <a:srgbClr val="002060"/>
                </a:solidFill>
                <a:effectLst/>
                <a:ea typeface="Times New Roman" panose="02020603050405020304" pitchFamily="18" charset="0"/>
              </a:rPr>
              <a:t> </a:t>
            </a:r>
            <a:r>
              <a:rPr kumimoji="0" lang="en-GB" altLang="en-US" sz="3200" b="0" i="0" u="none" strike="noStrike" cap="none" normalizeH="0" baseline="0" dirty="0" err="1">
                <a:ln>
                  <a:noFill/>
                </a:ln>
                <a:solidFill>
                  <a:srgbClr val="002060"/>
                </a:solidFill>
                <a:effectLst/>
                <a:ea typeface="Times New Roman" panose="02020603050405020304" pitchFamily="18" charset="0"/>
              </a:rPr>
              <a:t>A</a:t>
            </a:r>
            <a:r>
              <a:rPr kumimoji="0" lang="en-GB" altLang="en-US" sz="3200" b="0" i="0" u="none" strike="noStrike" cap="none" normalizeH="0" baseline="-3000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o</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/2 = 0</a:t>
            </a:r>
            <a:endParaRPr kumimoji="0" lang="en-GB" altLang="en-US" sz="32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457200" marR="0" lvl="0" indent="-457200"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Has half-wave symmetry.	</a:t>
            </a:r>
          </a:p>
          <a:p>
            <a:pPr marL="457200" marR="0" lvl="0" indent="-457200"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ea typeface="Times New Roman" panose="02020603050405020304" pitchFamily="18" charset="0"/>
              </a:rPr>
              <a:t> even harmonics absent. </a:t>
            </a:r>
            <a:endPar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endParaRPr>
          </a:p>
        </p:txBody>
      </p:sp>
      <p:sp>
        <p:nvSpPr>
          <p:cNvPr id="6" name="Rectangle 4">
            <a:extLst>
              <a:ext uri="{FF2B5EF4-FFF2-40B4-BE49-F238E27FC236}">
                <a16:creationId xmlns:a16="http://schemas.microsoft.com/office/drawing/2014/main" id="{FE112A90-690C-40C3-899E-0C950B35887F}"/>
              </a:ext>
            </a:extLst>
          </p:cNvPr>
          <p:cNvSpPr>
            <a:spLocks noChangeArrowheads="1"/>
          </p:cNvSpPr>
          <p:nvPr/>
        </p:nvSpPr>
        <p:spPr bwMode="auto">
          <a:xfrm>
            <a:off x="152400" y="5574239"/>
            <a:ext cx="79750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6">
            <a:extLst>
              <a:ext uri="{FF2B5EF4-FFF2-40B4-BE49-F238E27FC236}">
                <a16:creationId xmlns:a16="http://schemas.microsoft.com/office/drawing/2014/main" id="{A449D49D-7DC6-41E8-843C-A848A53159BD}"/>
              </a:ext>
            </a:extLst>
          </p:cNvPr>
          <p:cNvSpPr/>
          <p:nvPr/>
        </p:nvSpPr>
        <p:spPr>
          <a:xfrm>
            <a:off x="68768" y="4619464"/>
            <a:ext cx="494046" cy="523220"/>
          </a:xfrm>
          <a:prstGeom prst="rect">
            <a:avLst/>
          </a:prstGeom>
        </p:spPr>
        <p:txBody>
          <a:bodyPr wrap="none">
            <a:spAutoFit/>
          </a:bodyPr>
          <a:lstStyle/>
          <a:p>
            <a:r>
              <a:rPr lang="en-GB" altLang="en-US" sz="2800" b="1"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endParaRPr lang="en-GB" sz="2800" b="1" dirty="0"/>
          </a:p>
        </p:txBody>
      </p:sp>
      <p:sp>
        <p:nvSpPr>
          <p:cNvPr id="9" name="Text Box 762">
            <a:extLst>
              <a:ext uri="{FF2B5EF4-FFF2-40B4-BE49-F238E27FC236}">
                <a16:creationId xmlns:a16="http://schemas.microsoft.com/office/drawing/2014/main" id="{A445CD3F-7623-42C2-8DDE-B1ACF88B9E3F}"/>
              </a:ext>
            </a:extLst>
          </p:cNvPr>
          <p:cNvSpPr txBox="1">
            <a:spLocks noChangeAspect="1" noChangeArrowheads="1"/>
          </p:cNvSpPr>
          <p:nvPr/>
        </p:nvSpPr>
        <p:spPr bwMode="auto">
          <a:xfrm>
            <a:off x="6466840" y="3689409"/>
            <a:ext cx="5725160" cy="441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lgn="ctr">
              <a:spcBef>
                <a:spcPts val="0"/>
              </a:spcBef>
              <a:spcAft>
                <a:spcPts val="0"/>
              </a:spcAft>
            </a:pPr>
            <a:r>
              <a:rPr lang="en-GB" sz="3000">
                <a:solidFill>
                  <a:srgbClr val="002060"/>
                </a:solidFill>
                <a:effectLst/>
                <a:latin typeface="Times New Roman" panose="02020603050405020304" pitchFamily="18" charset="0"/>
                <a:ea typeface="Times New Roman" panose="02020603050405020304" pitchFamily="18" charset="0"/>
              </a:rPr>
              <a:t>Figure 18 – Periodic waveform</a:t>
            </a:r>
            <a:endParaRPr lang="en-GB" sz="1200">
              <a:effectLst/>
              <a:latin typeface="Times New Roman" panose="02020603050405020304" pitchFamily="18" charset="0"/>
              <a:ea typeface="Times New Roman" panose="02020603050405020304" pitchFamily="18" charset="0"/>
            </a:endParaRPr>
          </a:p>
        </p:txBody>
      </p:sp>
      <p:grpSp>
        <p:nvGrpSpPr>
          <p:cNvPr id="10" name="Group 9">
            <a:extLst>
              <a:ext uri="{FF2B5EF4-FFF2-40B4-BE49-F238E27FC236}">
                <a16:creationId xmlns:a16="http://schemas.microsoft.com/office/drawing/2014/main" id="{3306A1C8-393A-4081-916D-5D864A66DB63}"/>
              </a:ext>
            </a:extLst>
          </p:cNvPr>
          <p:cNvGrpSpPr>
            <a:grpSpLocks/>
          </p:cNvGrpSpPr>
          <p:nvPr/>
        </p:nvGrpSpPr>
        <p:grpSpPr bwMode="auto">
          <a:xfrm>
            <a:off x="6240378" y="785013"/>
            <a:ext cx="5666285" cy="2680970"/>
            <a:chOff x="7137" y="286"/>
            <a:chExt cx="9317" cy="4222"/>
          </a:xfrm>
        </p:grpSpPr>
        <p:cxnSp>
          <p:nvCxnSpPr>
            <p:cNvPr id="11" name="Line 746">
              <a:extLst>
                <a:ext uri="{FF2B5EF4-FFF2-40B4-BE49-F238E27FC236}">
                  <a16:creationId xmlns:a16="http://schemas.microsoft.com/office/drawing/2014/main" id="{A2F1308A-ED22-4B7D-9887-9F4C7C8DDB4B}"/>
                </a:ext>
              </a:extLst>
            </p:cNvPr>
            <p:cNvCxnSpPr>
              <a:cxnSpLocks noChangeAspect="1" noChangeShapeType="1"/>
            </p:cNvCxnSpPr>
            <p:nvPr/>
          </p:nvCxnSpPr>
          <p:spPr bwMode="auto">
            <a:xfrm>
              <a:off x="11946" y="451"/>
              <a:ext cx="0" cy="4057"/>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12" name="Line 747">
              <a:extLst>
                <a:ext uri="{FF2B5EF4-FFF2-40B4-BE49-F238E27FC236}">
                  <a16:creationId xmlns:a16="http://schemas.microsoft.com/office/drawing/2014/main" id="{9C9098C5-23EB-4FCE-92DE-66561BCAD52B}"/>
                </a:ext>
              </a:extLst>
            </p:cNvPr>
            <p:cNvCxnSpPr>
              <a:cxnSpLocks noChangeAspect="1" noChangeShapeType="1"/>
            </p:cNvCxnSpPr>
            <p:nvPr/>
          </p:nvCxnSpPr>
          <p:spPr bwMode="auto">
            <a:xfrm>
              <a:off x="7137" y="2554"/>
              <a:ext cx="8716"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13" name="Line 748">
              <a:extLst>
                <a:ext uri="{FF2B5EF4-FFF2-40B4-BE49-F238E27FC236}">
                  <a16:creationId xmlns:a16="http://schemas.microsoft.com/office/drawing/2014/main" id="{1FECE7DB-B4D8-4761-93C5-5D9131B66F13}"/>
                </a:ext>
              </a:extLst>
            </p:cNvPr>
            <p:cNvCxnSpPr>
              <a:cxnSpLocks noChangeAspect="1" noChangeShapeType="1"/>
            </p:cNvCxnSpPr>
            <p:nvPr/>
          </p:nvCxnSpPr>
          <p:spPr bwMode="auto">
            <a:xfrm>
              <a:off x="11946" y="1202"/>
              <a:ext cx="901"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14" name="Line 749">
              <a:extLst>
                <a:ext uri="{FF2B5EF4-FFF2-40B4-BE49-F238E27FC236}">
                  <a16:creationId xmlns:a16="http://schemas.microsoft.com/office/drawing/2014/main" id="{D37A885B-1BA6-4B70-AB4E-5C931B50C045}"/>
                </a:ext>
              </a:extLst>
            </p:cNvPr>
            <p:cNvCxnSpPr>
              <a:cxnSpLocks noChangeAspect="1" noChangeShapeType="1"/>
            </p:cNvCxnSpPr>
            <p:nvPr/>
          </p:nvCxnSpPr>
          <p:spPr bwMode="auto">
            <a:xfrm>
              <a:off x="12847" y="1202"/>
              <a:ext cx="0" cy="1352"/>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15" name="Line 750">
              <a:extLst>
                <a:ext uri="{FF2B5EF4-FFF2-40B4-BE49-F238E27FC236}">
                  <a16:creationId xmlns:a16="http://schemas.microsoft.com/office/drawing/2014/main" id="{EB20D468-D464-4339-8C53-5FFED432DFAB}"/>
                </a:ext>
              </a:extLst>
            </p:cNvPr>
            <p:cNvCxnSpPr>
              <a:cxnSpLocks noChangeAspect="1" noChangeShapeType="1"/>
            </p:cNvCxnSpPr>
            <p:nvPr/>
          </p:nvCxnSpPr>
          <p:spPr bwMode="auto">
            <a:xfrm>
              <a:off x="13749" y="3907"/>
              <a:ext cx="902"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16" name="Line 751">
              <a:extLst>
                <a:ext uri="{FF2B5EF4-FFF2-40B4-BE49-F238E27FC236}">
                  <a16:creationId xmlns:a16="http://schemas.microsoft.com/office/drawing/2014/main" id="{9A2F984E-4BB5-4C2D-8AD3-BD422F1AB2F8}"/>
                </a:ext>
              </a:extLst>
            </p:cNvPr>
            <p:cNvCxnSpPr>
              <a:cxnSpLocks noChangeAspect="1" noChangeShapeType="1"/>
            </p:cNvCxnSpPr>
            <p:nvPr/>
          </p:nvCxnSpPr>
          <p:spPr bwMode="auto">
            <a:xfrm>
              <a:off x="14651" y="2554"/>
              <a:ext cx="0" cy="1353"/>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17" name="Line 752">
              <a:extLst>
                <a:ext uri="{FF2B5EF4-FFF2-40B4-BE49-F238E27FC236}">
                  <a16:creationId xmlns:a16="http://schemas.microsoft.com/office/drawing/2014/main" id="{67BAF401-CE93-49D4-BA92-38B27E62A529}"/>
                </a:ext>
              </a:extLst>
            </p:cNvPr>
            <p:cNvCxnSpPr>
              <a:cxnSpLocks noChangeAspect="1" noChangeShapeType="1"/>
            </p:cNvCxnSpPr>
            <p:nvPr/>
          </p:nvCxnSpPr>
          <p:spPr bwMode="auto">
            <a:xfrm>
              <a:off x="11044" y="2554"/>
              <a:ext cx="0" cy="1353"/>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sp>
          <p:nvSpPr>
            <p:cNvPr id="18" name="Text Box 753">
              <a:extLst>
                <a:ext uri="{FF2B5EF4-FFF2-40B4-BE49-F238E27FC236}">
                  <a16:creationId xmlns:a16="http://schemas.microsoft.com/office/drawing/2014/main" id="{803FA724-837C-41AC-A17E-3976A412537C}"/>
                </a:ext>
              </a:extLst>
            </p:cNvPr>
            <p:cNvSpPr txBox="1">
              <a:spLocks noChangeAspect="1" noChangeArrowheads="1"/>
            </p:cNvSpPr>
            <p:nvPr/>
          </p:nvSpPr>
          <p:spPr bwMode="auto">
            <a:xfrm>
              <a:off x="12194" y="286"/>
              <a:ext cx="1503" cy="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a(t)</a:t>
              </a:r>
              <a:endParaRPr lang="en-GB" sz="1200">
                <a:effectLst/>
                <a:latin typeface="Times New Roman" panose="02020603050405020304" pitchFamily="18" charset="0"/>
                <a:ea typeface="Times New Roman" panose="02020603050405020304" pitchFamily="18" charset="0"/>
              </a:endParaRPr>
            </a:p>
          </p:txBody>
        </p:sp>
        <p:sp>
          <p:nvSpPr>
            <p:cNvPr id="19" name="Text Box 754">
              <a:extLst>
                <a:ext uri="{FF2B5EF4-FFF2-40B4-BE49-F238E27FC236}">
                  <a16:creationId xmlns:a16="http://schemas.microsoft.com/office/drawing/2014/main" id="{638D0A34-ED6C-4E72-800F-AB2281AC53D6}"/>
                </a:ext>
              </a:extLst>
            </p:cNvPr>
            <p:cNvSpPr txBox="1">
              <a:spLocks noChangeAspect="1" noChangeArrowheads="1"/>
            </p:cNvSpPr>
            <p:nvPr/>
          </p:nvSpPr>
          <p:spPr bwMode="auto">
            <a:xfrm>
              <a:off x="15853" y="2554"/>
              <a:ext cx="601" cy="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  t</a:t>
              </a:r>
              <a:endParaRPr lang="en-GB" sz="1200">
                <a:effectLst/>
                <a:latin typeface="Times New Roman" panose="02020603050405020304" pitchFamily="18" charset="0"/>
                <a:ea typeface="Times New Roman" panose="02020603050405020304" pitchFamily="18" charset="0"/>
              </a:endParaRPr>
            </a:p>
          </p:txBody>
        </p:sp>
        <p:sp>
          <p:nvSpPr>
            <p:cNvPr id="20" name="Text Box 755">
              <a:extLst>
                <a:ext uri="{FF2B5EF4-FFF2-40B4-BE49-F238E27FC236}">
                  <a16:creationId xmlns:a16="http://schemas.microsoft.com/office/drawing/2014/main" id="{0A5BA4CE-FF00-4320-9F8D-1F5A2744397C}"/>
                </a:ext>
              </a:extLst>
            </p:cNvPr>
            <p:cNvSpPr txBox="1">
              <a:spLocks noChangeAspect="1" noChangeArrowheads="1"/>
            </p:cNvSpPr>
            <p:nvPr/>
          </p:nvSpPr>
          <p:spPr bwMode="auto">
            <a:xfrm>
              <a:off x="11270" y="751"/>
              <a:ext cx="1277" cy="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  E</a:t>
              </a:r>
              <a:endParaRPr lang="en-GB" sz="1200">
                <a:effectLst/>
                <a:latin typeface="Times New Roman" panose="02020603050405020304" pitchFamily="18" charset="0"/>
                <a:ea typeface="Times New Roman" panose="02020603050405020304" pitchFamily="18" charset="0"/>
              </a:endParaRPr>
            </a:p>
          </p:txBody>
        </p:sp>
        <p:sp>
          <p:nvSpPr>
            <p:cNvPr id="21" name="Text Box 756">
              <a:extLst>
                <a:ext uri="{FF2B5EF4-FFF2-40B4-BE49-F238E27FC236}">
                  <a16:creationId xmlns:a16="http://schemas.microsoft.com/office/drawing/2014/main" id="{61133CD5-0BD5-4455-B0A0-2B60336BCF8E}"/>
                </a:ext>
              </a:extLst>
            </p:cNvPr>
            <p:cNvSpPr txBox="1">
              <a:spLocks noChangeAspect="1" noChangeArrowheads="1"/>
            </p:cNvSpPr>
            <p:nvPr/>
          </p:nvSpPr>
          <p:spPr bwMode="auto">
            <a:xfrm>
              <a:off x="11232" y="3456"/>
              <a:ext cx="1503" cy="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 -E</a:t>
              </a:r>
              <a:endParaRPr lang="en-GB" sz="1200">
                <a:effectLst/>
                <a:latin typeface="Times New Roman" panose="02020603050405020304" pitchFamily="18" charset="0"/>
                <a:ea typeface="Times New Roman" panose="02020603050405020304" pitchFamily="18" charset="0"/>
              </a:endParaRPr>
            </a:p>
          </p:txBody>
        </p:sp>
        <p:sp>
          <p:nvSpPr>
            <p:cNvPr id="22" name="Text Box 757">
              <a:extLst>
                <a:ext uri="{FF2B5EF4-FFF2-40B4-BE49-F238E27FC236}">
                  <a16:creationId xmlns:a16="http://schemas.microsoft.com/office/drawing/2014/main" id="{8EBA7F25-1385-447B-B39B-7B1D03FFC4CF}"/>
                </a:ext>
              </a:extLst>
            </p:cNvPr>
            <p:cNvSpPr txBox="1">
              <a:spLocks noChangeAspect="1" noChangeArrowheads="1"/>
            </p:cNvSpPr>
            <p:nvPr/>
          </p:nvSpPr>
          <p:spPr bwMode="auto">
            <a:xfrm>
              <a:off x="11645" y="2554"/>
              <a:ext cx="601" cy="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0</a:t>
              </a:r>
              <a:endParaRPr lang="en-GB" sz="1200">
                <a:effectLst/>
                <a:latin typeface="Times New Roman" panose="02020603050405020304" pitchFamily="18" charset="0"/>
                <a:ea typeface="Times New Roman" panose="02020603050405020304" pitchFamily="18" charset="0"/>
              </a:endParaRPr>
            </a:p>
          </p:txBody>
        </p:sp>
        <p:sp>
          <p:nvSpPr>
            <p:cNvPr id="23" name="Text Box 758">
              <a:extLst>
                <a:ext uri="{FF2B5EF4-FFF2-40B4-BE49-F238E27FC236}">
                  <a16:creationId xmlns:a16="http://schemas.microsoft.com/office/drawing/2014/main" id="{212BE806-D27F-43CF-865E-CFE4C9343305}"/>
                </a:ext>
              </a:extLst>
            </p:cNvPr>
            <p:cNvSpPr txBox="1">
              <a:spLocks noChangeAspect="1" noChangeArrowheads="1"/>
            </p:cNvSpPr>
            <p:nvPr/>
          </p:nvSpPr>
          <p:spPr bwMode="auto">
            <a:xfrm>
              <a:off x="12847" y="2554"/>
              <a:ext cx="1203" cy="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T/4</a:t>
              </a:r>
              <a:endParaRPr lang="en-GB" sz="1200">
                <a:effectLst/>
                <a:latin typeface="Times New Roman" panose="02020603050405020304" pitchFamily="18" charset="0"/>
                <a:ea typeface="Times New Roman" panose="02020603050405020304" pitchFamily="18" charset="0"/>
              </a:endParaRPr>
            </a:p>
          </p:txBody>
        </p:sp>
        <p:sp>
          <p:nvSpPr>
            <p:cNvPr id="24" name="Text Box 759">
              <a:extLst>
                <a:ext uri="{FF2B5EF4-FFF2-40B4-BE49-F238E27FC236}">
                  <a16:creationId xmlns:a16="http://schemas.microsoft.com/office/drawing/2014/main" id="{90508749-9037-441C-98E2-CF7522933516}"/>
                </a:ext>
              </a:extLst>
            </p:cNvPr>
            <p:cNvSpPr txBox="1">
              <a:spLocks noChangeAspect="1" noChangeArrowheads="1"/>
            </p:cNvSpPr>
            <p:nvPr/>
          </p:nvSpPr>
          <p:spPr bwMode="auto">
            <a:xfrm>
              <a:off x="14651" y="2554"/>
              <a:ext cx="1202" cy="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3T/4</a:t>
              </a:r>
              <a:endParaRPr lang="en-GB" sz="1200">
                <a:effectLst/>
                <a:latin typeface="Times New Roman" panose="02020603050405020304" pitchFamily="18" charset="0"/>
                <a:ea typeface="Times New Roman" panose="02020603050405020304" pitchFamily="18" charset="0"/>
              </a:endParaRPr>
            </a:p>
          </p:txBody>
        </p:sp>
        <p:sp>
          <p:nvSpPr>
            <p:cNvPr id="25" name="Text Box 760">
              <a:extLst>
                <a:ext uri="{FF2B5EF4-FFF2-40B4-BE49-F238E27FC236}">
                  <a16:creationId xmlns:a16="http://schemas.microsoft.com/office/drawing/2014/main" id="{F92A1B61-5D91-42B1-ACB4-9AA83046EA4C}"/>
                </a:ext>
              </a:extLst>
            </p:cNvPr>
            <p:cNvSpPr txBox="1">
              <a:spLocks noChangeAspect="1" noChangeArrowheads="1"/>
            </p:cNvSpPr>
            <p:nvPr/>
          </p:nvSpPr>
          <p:spPr bwMode="auto">
            <a:xfrm>
              <a:off x="10105" y="2554"/>
              <a:ext cx="1277" cy="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-T/4</a:t>
              </a:r>
              <a:endParaRPr lang="en-GB" sz="1200">
                <a:effectLst/>
                <a:latin typeface="Times New Roman" panose="02020603050405020304" pitchFamily="18" charset="0"/>
                <a:ea typeface="Times New Roman" panose="02020603050405020304" pitchFamily="18" charset="0"/>
              </a:endParaRPr>
            </a:p>
          </p:txBody>
        </p:sp>
        <p:sp>
          <p:nvSpPr>
            <p:cNvPr id="26" name="Text Box 761">
              <a:extLst>
                <a:ext uri="{FF2B5EF4-FFF2-40B4-BE49-F238E27FC236}">
                  <a16:creationId xmlns:a16="http://schemas.microsoft.com/office/drawing/2014/main" id="{DF8F92B1-472E-430D-88C8-662387B26E1E}"/>
                </a:ext>
              </a:extLst>
            </p:cNvPr>
            <p:cNvSpPr txBox="1">
              <a:spLocks noChangeAspect="1" noChangeArrowheads="1"/>
            </p:cNvSpPr>
            <p:nvPr/>
          </p:nvSpPr>
          <p:spPr bwMode="auto">
            <a:xfrm>
              <a:off x="8039" y="2554"/>
              <a:ext cx="1427" cy="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-3T/4</a:t>
              </a:r>
              <a:endParaRPr lang="en-GB" sz="1200">
                <a:effectLst/>
                <a:latin typeface="Times New Roman" panose="02020603050405020304" pitchFamily="18" charset="0"/>
                <a:ea typeface="Times New Roman" panose="02020603050405020304" pitchFamily="18" charset="0"/>
              </a:endParaRPr>
            </a:p>
          </p:txBody>
        </p:sp>
        <p:cxnSp>
          <p:nvCxnSpPr>
            <p:cNvPr id="27" name="Line 763">
              <a:extLst>
                <a:ext uri="{FF2B5EF4-FFF2-40B4-BE49-F238E27FC236}">
                  <a16:creationId xmlns:a16="http://schemas.microsoft.com/office/drawing/2014/main" id="{D0F22FDC-0035-4740-8B4D-71C5257A0965}"/>
                </a:ext>
              </a:extLst>
            </p:cNvPr>
            <p:cNvCxnSpPr>
              <a:cxnSpLocks noChangeAspect="1" noChangeShapeType="1"/>
            </p:cNvCxnSpPr>
            <p:nvPr/>
          </p:nvCxnSpPr>
          <p:spPr bwMode="auto">
            <a:xfrm flipH="1">
              <a:off x="11044" y="1202"/>
              <a:ext cx="902" cy="1352"/>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8" name="Line 764">
              <a:extLst>
                <a:ext uri="{FF2B5EF4-FFF2-40B4-BE49-F238E27FC236}">
                  <a16:creationId xmlns:a16="http://schemas.microsoft.com/office/drawing/2014/main" id="{1A0AD035-9014-4A28-8ED5-00F8525C0153}"/>
                </a:ext>
              </a:extLst>
            </p:cNvPr>
            <p:cNvCxnSpPr>
              <a:cxnSpLocks noChangeAspect="1" noChangeShapeType="1"/>
            </p:cNvCxnSpPr>
            <p:nvPr/>
          </p:nvCxnSpPr>
          <p:spPr bwMode="auto">
            <a:xfrm>
              <a:off x="12847" y="2554"/>
              <a:ext cx="902" cy="1353"/>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29" name="Line 765">
              <a:extLst>
                <a:ext uri="{FF2B5EF4-FFF2-40B4-BE49-F238E27FC236}">
                  <a16:creationId xmlns:a16="http://schemas.microsoft.com/office/drawing/2014/main" id="{C5D94BD2-0011-4534-8084-FC0C82033F9F}"/>
                </a:ext>
              </a:extLst>
            </p:cNvPr>
            <p:cNvCxnSpPr>
              <a:cxnSpLocks noChangeAspect="1" noChangeShapeType="1"/>
            </p:cNvCxnSpPr>
            <p:nvPr/>
          </p:nvCxnSpPr>
          <p:spPr bwMode="auto">
            <a:xfrm flipH="1">
              <a:off x="14651" y="1202"/>
              <a:ext cx="901" cy="1352"/>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30" name="Line 766">
              <a:extLst>
                <a:ext uri="{FF2B5EF4-FFF2-40B4-BE49-F238E27FC236}">
                  <a16:creationId xmlns:a16="http://schemas.microsoft.com/office/drawing/2014/main" id="{911D3D00-0B6E-42D0-A180-1C1E37ADE10F}"/>
                </a:ext>
              </a:extLst>
            </p:cNvPr>
            <p:cNvCxnSpPr>
              <a:cxnSpLocks noChangeAspect="1" noChangeShapeType="1"/>
            </p:cNvCxnSpPr>
            <p:nvPr/>
          </p:nvCxnSpPr>
          <p:spPr bwMode="auto">
            <a:xfrm>
              <a:off x="8339" y="1202"/>
              <a:ext cx="902"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31" name="Line 767">
              <a:extLst>
                <a:ext uri="{FF2B5EF4-FFF2-40B4-BE49-F238E27FC236}">
                  <a16:creationId xmlns:a16="http://schemas.microsoft.com/office/drawing/2014/main" id="{EA8D23A0-3109-4782-A08E-66ED0DC8D6F7}"/>
                </a:ext>
              </a:extLst>
            </p:cNvPr>
            <p:cNvCxnSpPr>
              <a:cxnSpLocks noChangeAspect="1" noChangeShapeType="1"/>
            </p:cNvCxnSpPr>
            <p:nvPr/>
          </p:nvCxnSpPr>
          <p:spPr bwMode="auto">
            <a:xfrm>
              <a:off x="9241" y="1202"/>
              <a:ext cx="0" cy="1352"/>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32" name="Line 768">
              <a:extLst>
                <a:ext uri="{FF2B5EF4-FFF2-40B4-BE49-F238E27FC236}">
                  <a16:creationId xmlns:a16="http://schemas.microsoft.com/office/drawing/2014/main" id="{3A51A216-F9CF-4E89-B564-F974CC8884CD}"/>
                </a:ext>
              </a:extLst>
            </p:cNvPr>
            <p:cNvCxnSpPr>
              <a:cxnSpLocks noChangeAspect="1" noChangeShapeType="1"/>
            </p:cNvCxnSpPr>
            <p:nvPr/>
          </p:nvCxnSpPr>
          <p:spPr bwMode="auto">
            <a:xfrm>
              <a:off x="10142" y="3907"/>
              <a:ext cx="902" cy="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33" name="Line 769">
              <a:extLst>
                <a:ext uri="{FF2B5EF4-FFF2-40B4-BE49-F238E27FC236}">
                  <a16:creationId xmlns:a16="http://schemas.microsoft.com/office/drawing/2014/main" id="{F5D0E460-4963-49C3-8108-5DA82CE1DBE2}"/>
                </a:ext>
              </a:extLst>
            </p:cNvPr>
            <p:cNvCxnSpPr>
              <a:cxnSpLocks noChangeAspect="1" noChangeShapeType="1"/>
            </p:cNvCxnSpPr>
            <p:nvPr/>
          </p:nvCxnSpPr>
          <p:spPr bwMode="auto">
            <a:xfrm>
              <a:off x="7438" y="2554"/>
              <a:ext cx="0" cy="1353"/>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35" name="Line 770">
              <a:extLst>
                <a:ext uri="{FF2B5EF4-FFF2-40B4-BE49-F238E27FC236}">
                  <a16:creationId xmlns:a16="http://schemas.microsoft.com/office/drawing/2014/main" id="{46BBCEAD-F0F4-4468-91DD-F7C0162CB73E}"/>
                </a:ext>
              </a:extLst>
            </p:cNvPr>
            <p:cNvCxnSpPr>
              <a:cxnSpLocks noChangeAspect="1" noChangeShapeType="1"/>
            </p:cNvCxnSpPr>
            <p:nvPr/>
          </p:nvCxnSpPr>
          <p:spPr bwMode="auto">
            <a:xfrm flipH="1">
              <a:off x="7438" y="1202"/>
              <a:ext cx="901" cy="1352"/>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cxnSp>
          <p:nvCxnSpPr>
            <p:cNvPr id="36" name="Line 771">
              <a:extLst>
                <a:ext uri="{FF2B5EF4-FFF2-40B4-BE49-F238E27FC236}">
                  <a16:creationId xmlns:a16="http://schemas.microsoft.com/office/drawing/2014/main" id="{8816FD1C-7E15-4576-80EB-DC47C4FF661C}"/>
                </a:ext>
              </a:extLst>
            </p:cNvPr>
            <p:cNvCxnSpPr>
              <a:cxnSpLocks noChangeAspect="1" noChangeShapeType="1"/>
            </p:cNvCxnSpPr>
            <p:nvPr/>
          </p:nvCxnSpPr>
          <p:spPr bwMode="auto">
            <a:xfrm>
              <a:off x="9241" y="2554"/>
              <a:ext cx="901" cy="1353"/>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949091607"/>
      </p:ext>
    </p:extLst>
  </p:cSld>
  <p:clrMapOvr>
    <a:masterClrMapping/>
  </p:clrMapOvr>
  <mc:AlternateContent xmlns:mc="http://schemas.openxmlformats.org/markup-compatibility/2006" xmlns:p14="http://schemas.microsoft.com/office/powerpoint/2010/main">
    <mc:Choice Requires="p14">
      <p:transition spd="slow" p14:dur="2000" advTm="68494"/>
    </mc:Choice>
    <mc:Fallback xmlns="">
      <p:transition spd="slow" advTm="68494"/>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2A327403-759C-4177-99D8-99A1F658B199}"/>
              </a:ext>
            </a:extLst>
          </p:cNvPr>
          <p:cNvGraphicFramePr>
            <a:graphicFrameLocks noChangeAspect="1"/>
          </p:cNvGraphicFramePr>
          <p:nvPr>
            <p:extLst>
              <p:ext uri="{D42A27DB-BD31-4B8C-83A1-F6EECF244321}">
                <p14:modId xmlns:p14="http://schemas.microsoft.com/office/powerpoint/2010/main" val="2002956321"/>
              </p:ext>
            </p:extLst>
          </p:nvPr>
        </p:nvGraphicFramePr>
        <p:xfrm>
          <a:off x="758992" y="748205"/>
          <a:ext cx="9410700" cy="1219200"/>
        </p:xfrm>
        <a:graphic>
          <a:graphicData uri="http://schemas.openxmlformats.org/presentationml/2006/ole">
            <mc:AlternateContent xmlns:mc="http://schemas.openxmlformats.org/markup-compatibility/2006">
              <mc:Choice xmlns:v="urn:schemas-microsoft-com:vml" Requires="v">
                <p:oleObj r:id="rId3" imgW="3746500" imgH="482600" progId="Equation.3">
                  <p:embed/>
                </p:oleObj>
              </mc:Choice>
              <mc:Fallback>
                <p:oleObj r:id="rId3" imgW="3746500" imgH="482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8992" y="748205"/>
                        <a:ext cx="9410700"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5349D26E-C5F2-4F87-9257-88D6AB8A9BB0}"/>
              </a:ext>
            </a:extLst>
          </p:cNvPr>
          <p:cNvGraphicFramePr>
            <a:graphicFrameLocks noChangeAspect="1"/>
          </p:cNvGraphicFramePr>
          <p:nvPr>
            <p:extLst>
              <p:ext uri="{D42A27DB-BD31-4B8C-83A1-F6EECF244321}">
                <p14:modId xmlns:p14="http://schemas.microsoft.com/office/powerpoint/2010/main" val="3106977578"/>
              </p:ext>
            </p:extLst>
          </p:nvPr>
        </p:nvGraphicFramePr>
        <p:xfrm>
          <a:off x="0" y="2564428"/>
          <a:ext cx="8782050" cy="1466850"/>
        </p:xfrm>
        <a:graphic>
          <a:graphicData uri="http://schemas.openxmlformats.org/presentationml/2006/ole">
            <mc:AlternateContent xmlns:mc="http://schemas.openxmlformats.org/markup-compatibility/2006">
              <mc:Choice xmlns:v="urn:schemas-microsoft-com:vml" Requires="v">
                <p:oleObj r:id="rId5" imgW="3721100" imgH="622300" progId="Equation.3">
                  <p:embed/>
                </p:oleObj>
              </mc:Choice>
              <mc:Fallback>
                <p:oleObj r:id="rId5" imgW="3721100" imgH="6223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564428"/>
                        <a:ext cx="8782050" cy="1466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a:extLst>
              <a:ext uri="{FF2B5EF4-FFF2-40B4-BE49-F238E27FC236}">
                <a16:creationId xmlns:a16="http://schemas.microsoft.com/office/drawing/2014/main" id="{C0FD09A7-D478-43EC-ABAA-E99D4C72A2D8}"/>
              </a:ext>
            </a:extLst>
          </p:cNvPr>
          <p:cNvGraphicFramePr>
            <a:graphicFrameLocks noChangeAspect="1"/>
          </p:cNvGraphicFramePr>
          <p:nvPr>
            <p:extLst>
              <p:ext uri="{D42A27DB-BD31-4B8C-83A1-F6EECF244321}">
                <p14:modId xmlns:p14="http://schemas.microsoft.com/office/powerpoint/2010/main" val="1619544346"/>
              </p:ext>
            </p:extLst>
          </p:nvPr>
        </p:nvGraphicFramePr>
        <p:xfrm>
          <a:off x="1082843" y="4575961"/>
          <a:ext cx="2343150" cy="990600"/>
        </p:xfrm>
        <a:graphic>
          <a:graphicData uri="http://schemas.openxmlformats.org/presentationml/2006/ole">
            <mc:AlternateContent xmlns:mc="http://schemas.openxmlformats.org/markup-compatibility/2006">
              <mc:Choice xmlns:v="urn:schemas-microsoft-com:vml" Requires="v">
                <p:oleObj r:id="rId7" imgW="939392" imgH="393529" progId="Equation.3">
                  <p:embed/>
                </p:oleObj>
              </mc:Choice>
              <mc:Fallback>
                <p:oleObj r:id="rId7" imgW="939392" imgH="393529"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82843" y="4575961"/>
                        <a:ext cx="234315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
            <a:extLst>
              <a:ext uri="{FF2B5EF4-FFF2-40B4-BE49-F238E27FC236}">
                <a16:creationId xmlns:a16="http://schemas.microsoft.com/office/drawing/2014/main" id="{EFC9E3C4-07DE-4B38-A892-108186A4E2A4}"/>
              </a:ext>
            </a:extLst>
          </p:cNvPr>
          <p:cNvSpPr>
            <a:spLocks noChangeArrowheads="1"/>
          </p:cNvSpPr>
          <p:nvPr/>
        </p:nvSpPr>
        <p:spPr bwMode="auto">
          <a:xfrm>
            <a:off x="263250" y="931061"/>
            <a:ext cx="75899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A78D7D9C-FE1A-44FE-A079-995BDB274A3C}"/>
              </a:ext>
            </a:extLst>
          </p:cNvPr>
          <p:cNvSpPr>
            <a:spLocks noChangeArrowheads="1"/>
          </p:cNvSpPr>
          <p:nvPr/>
        </p:nvSpPr>
        <p:spPr bwMode="auto">
          <a:xfrm>
            <a:off x="204094" y="2002337"/>
            <a:ext cx="8782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1pPr>
            <a:lvl2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2pPr>
            <a:lvl3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3pPr>
            <a:lvl4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4pPr>
            <a:lvl5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5pPr>
            <a:lvl6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6pPr>
            <a:lvl7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7pPr>
            <a:lvl8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8pPr>
            <a:lvl9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since </a:t>
            </a:r>
            <a:r>
              <a:rPr kumimoji="0" lang="en-GB" altLang="en-US" sz="3200" b="0" i="0"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0" u="none" strike="noStrike" cap="none" normalizeH="0" baseline="-30000" dirty="0" err="1">
                <a:ln>
                  <a:noFill/>
                </a:ln>
                <a:solidFill>
                  <a:srgbClr val="002060"/>
                </a:solidFill>
                <a:effectLst/>
                <a:latin typeface="Symbol" panose="05050102010706020507" pitchFamily="18" charset="2"/>
                <a:ea typeface="Times New Roman" panose="02020603050405020304" pitchFamily="18" charset="0"/>
              </a:rPr>
              <a:t>o</a:t>
            </a:r>
            <a:r>
              <a:rPr kumimoji="0" lang="en-GB" altLang="en-US" sz="3200" b="0" i="0" u="none" strike="noStrike" cap="none" normalizeH="0" baseline="0" dirty="0" err="1">
                <a:ln>
                  <a:noFill/>
                </a:ln>
                <a:solidFill>
                  <a:srgbClr val="002060"/>
                </a:solidFill>
                <a:effectLst/>
                <a:ea typeface="Times New Roman" panose="02020603050405020304" pitchFamily="18" charset="0"/>
              </a:rPr>
              <a:t>T</a:t>
            </a:r>
            <a:r>
              <a:rPr kumimoji="0" lang="en-GB" altLang="en-US" sz="3200" b="0" i="0" u="none" strike="noStrike" cap="none" normalizeH="0" baseline="0" dirty="0">
                <a:ln>
                  <a:noFill/>
                </a:ln>
                <a:solidFill>
                  <a:srgbClr val="002060"/>
                </a:solidFill>
                <a:effectLst/>
                <a:ea typeface="Times New Roman" panose="02020603050405020304" pitchFamily="18" charset="0"/>
              </a:rPr>
              <a:t> = 2 </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  </a:t>
            </a:r>
            <a:r>
              <a:rPr kumimoji="0" lang="en-GB" altLang="en-US" sz="3200" b="0" i="0"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0" u="none" strike="noStrike" cap="none" normalizeH="0" baseline="-30000" dirty="0" err="1">
                <a:ln>
                  <a:noFill/>
                </a:ln>
                <a:solidFill>
                  <a:srgbClr val="002060"/>
                </a:solidFill>
                <a:effectLst/>
                <a:latin typeface="Symbol" panose="05050102010706020507" pitchFamily="18" charset="2"/>
                <a:ea typeface="Times New Roman" panose="02020603050405020304" pitchFamily="18" charset="0"/>
              </a:rPr>
              <a:t>o</a:t>
            </a:r>
            <a:r>
              <a:rPr kumimoji="0" lang="en-GB" altLang="en-US" sz="3200" b="0" i="0" u="none" strike="noStrike" cap="none" normalizeH="0" baseline="0" dirty="0" err="1">
                <a:ln>
                  <a:noFill/>
                </a:ln>
                <a:solidFill>
                  <a:srgbClr val="002060"/>
                </a:solidFill>
                <a:effectLst/>
                <a:ea typeface="Times New Roman" panose="02020603050405020304" pitchFamily="18" charset="0"/>
              </a:rPr>
              <a:t>T</a:t>
            </a:r>
            <a:r>
              <a:rPr kumimoji="0" lang="en-GB" altLang="en-US" sz="3200" b="0" i="0" u="none" strike="noStrike" cap="none" normalizeH="0" baseline="0" dirty="0">
                <a:ln>
                  <a:noFill/>
                </a:ln>
                <a:solidFill>
                  <a:srgbClr val="002060"/>
                </a:solidFill>
                <a:effectLst/>
                <a:ea typeface="Times New Roman" panose="02020603050405020304" pitchFamily="18" charset="0"/>
              </a:rPr>
              <a:t>/4 = </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p/2  </a:t>
            </a:r>
            <a:r>
              <a:rPr kumimoji="0" lang="en-GB" altLang="en-US" sz="3200" b="0" i="0" u="none" strike="noStrike" cap="none" normalizeH="0" baseline="0" dirty="0">
                <a:ln>
                  <a:noFill/>
                </a:ln>
                <a:solidFill>
                  <a:srgbClr val="002060"/>
                </a:solidFill>
                <a:effectLst/>
                <a:ea typeface="Times New Roman" panose="02020603050405020304" pitchFamily="18" charset="0"/>
              </a:rPr>
              <a:t>and</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  </a:t>
            </a:r>
            <a:r>
              <a:rPr kumimoji="0" lang="en-GB" altLang="en-US" sz="3200" b="0" i="0"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0" u="none" strike="noStrike" cap="none" normalizeH="0" baseline="-30000" dirty="0" err="1">
                <a:ln>
                  <a:noFill/>
                </a:ln>
                <a:solidFill>
                  <a:srgbClr val="002060"/>
                </a:solidFill>
                <a:effectLst/>
                <a:latin typeface="Symbol" panose="05050102010706020507" pitchFamily="18" charset="2"/>
                <a:ea typeface="Times New Roman" panose="02020603050405020304" pitchFamily="18" charset="0"/>
              </a:rPr>
              <a:t>o</a:t>
            </a:r>
            <a:r>
              <a:rPr kumimoji="0" lang="en-GB" altLang="en-US" sz="3200" b="0" i="0" u="none" strike="noStrike" cap="none" normalizeH="0" baseline="0" dirty="0" err="1">
                <a:ln>
                  <a:noFill/>
                </a:ln>
                <a:solidFill>
                  <a:srgbClr val="002060"/>
                </a:solidFill>
                <a:effectLst/>
                <a:ea typeface="Times New Roman" panose="02020603050405020304" pitchFamily="18" charset="0"/>
              </a:rPr>
              <a:t>T</a:t>
            </a:r>
            <a:r>
              <a:rPr kumimoji="0" lang="en-GB" altLang="en-US" sz="3200" b="0" i="0" u="none" strike="noStrike" cap="none" normalizeH="0" baseline="0" dirty="0">
                <a:ln>
                  <a:noFill/>
                </a:ln>
                <a:solidFill>
                  <a:srgbClr val="002060"/>
                </a:solidFill>
                <a:effectLst/>
                <a:ea typeface="Times New Roman" panose="02020603050405020304" pitchFamily="18" charset="0"/>
              </a:rPr>
              <a:t>/2 =</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 </a:t>
            </a:r>
            <a:endParaRPr kumimoji="0" lang="en-GB" altLang="en-US" sz="1100" b="0" i="0" u="none" strike="noStrike" cap="none" normalizeH="0" baseline="0" dirty="0">
              <a:ln>
                <a:noFill/>
              </a:ln>
              <a:solidFill>
                <a:schemeClr val="tx1"/>
              </a:solidFill>
              <a:effectLst/>
            </a:endParaRPr>
          </a:p>
        </p:txBody>
      </p:sp>
      <p:sp>
        <p:nvSpPr>
          <p:cNvPr id="8" name="Rectangle 6">
            <a:extLst>
              <a:ext uri="{FF2B5EF4-FFF2-40B4-BE49-F238E27FC236}">
                <a16:creationId xmlns:a16="http://schemas.microsoft.com/office/drawing/2014/main" id="{826488FB-71B3-4C10-9289-BAE90E95A4A2}"/>
              </a:ext>
            </a:extLst>
          </p:cNvPr>
          <p:cNvSpPr>
            <a:spLocks noChangeArrowheads="1"/>
          </p:cNvSpPr>
          <p:nvPr/>
        </p:nvSpPr>
        <p:spPr bwMode="auto">
          <a:xfrm>
            <a:off x="48128" y="3930754"/>
            <a:ext cx="810928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Substituting different values of n, we have</a:t>
            </a:r>
            <a:endParaRPr kumimoji="0" lang="en-GB" altLang="en-US" sz="1100" b="0" i="0" u="none" strike="noStrike" cap="none" normalizeH="0" baseline="0" dirty="0">
              <a:ln>
                <a:noFill/>
              </a:ln>
              <a:solidFill>
                <a:schemeClr val="tx1"/>
              </a:solidFill>
              <a:effectLst/>
              <a:latin typeface="Arial" panose="020B0604020202020204" pitchFamily="34" charset="0"/>
            </a:endParaRPr>
          </a:p>
        </p:txBody>
      </p:sp>
      <p:sp>
        <p:nvSpPr>
          <p:cNvPr id="9" name="Rectangle 7">
            <a:extLst>
              <a:ext uri="{FF2B5EF4-FFF2-40B4-BE49-F238E27FC236}">
                <a16:creationId xmlns:a16="http://schemas.microsoft.com/office/drawing/2014/main" id="{1D6AC592-E8FA-46E3-8085-619CDBC5A8B2}"/>
              </a:ext>
            </a:extLst>
          </p:cNvPr>
          <p:cNvSpPr>
            <a:spLocks noChangeArrowheads="1"/>
          </p:cNvSpPr>
          <p:nvPr/>
        </p:nvSpPr>
        <p:spPr bwMode="auto">
          <a:xfrm>
            <a:off x="0" y="4666937"/>
            <a:ext cx="1034715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lvl="0" algn="just"/>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lang="en-GB" altLang="en-US" sz="3200" dirty="0">
                <a:solidFill>
                  <a:srgbClr val="002060"/>
                </a:solidFill>
                <a:ea typeface="Times New Roman" panose="02020603050405020304" pitchFamily="18" charset="0"/>
              </a:rPr>
              <a:t>A</a:t>
            </a:r>
            <a:r>
              <a:rPr lang="en-GB" altLang="en-US" sz="3200" baseline="-30000" dirty="0">
                <a:solidFill>
                  <a:srgbClr val="002060"/>
                </a:solidFill>
                <a:ea typeface="Times New Roman" panose="02020603050405020304" pitchFamily="18" charset="0"/>
              </a:rPr>
              <a:t>1</a:t>
            </a:r>
            <a:r>
              <a:rPr lang="en-GB" altLang="en-US" sz="3200" dirty="0">
                <a:solidFill>
                  <a:srgbClr val="002060"/>
                </a:solidFill>
                <a:ea typeface="Times New Roman" panose="02020603050405020304" pitchFamily="18" charset="0"/>
              </a:rPr>
              <a:t> =                      </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1.0419E</a:t>
            </a:r>
          </a:p>
          <a:p>
            <a:pPr lvl="0" algn="just"/>
            <a:endParaRPr kumimoji="0" lang="en-GB"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lang="en-GB" altLang="en-US" sz="3200" dirty="0">
                <a:solidFill>
                  <a:srgbClr val="002060"/>
                </a:solidFill>
                <a:ea typeface="Times New Roman" panose="02020603050405020304" pitchFamily="18" charset="0"/>
              </a:rPr>
              <a:t> </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3</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-0.1672E,  A</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5</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0.1435E, A</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7</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-0.08267E</a:t>
            </a:r>
            <a:endParaRPr kumimoji="0" lang="en-GB" altLang="en-US" sz="3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Similarly, the B</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n</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terms for odd n are obtained as follows.</a:t>
            </a:r>
            <a:endParaRPr kumimoji="0" lang="en-GB" altLang="en-US" sz="3200" b="0" i="0" u="none" strike="noStrike" cap="none" normalizeH="0" baseline="0" dirty="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CE56DDB9-212D-4A1B-9936-C193399F48A8}"/>
              </a:ext>
            </a:extLst>
          </p:cNvPr>
          <p:cNvSpPr/>
          <p:nvPr/>
        </p:nvSpPr>
        <p:spPr>
          <a:xfrm>
            <a:off x="9190238" y="3184359"/>
            <a:ext cx="1800493" cy="584775"/>
          </a:xfrm>
          <a:prstGeom prst="rect">
            <a:avLst/>
          </a:prstGeom>
        </p:spPr>
        <p:txBody>
          <a:bodyPr wrap="none">
            <a:spAutoFit/>
          </a:bodyPr>
          <a:lstStyle/>
          <a:p>
            <a:pPr lvl="0" algn="just" eaLnBrk="0" fontAlgn="base" hangingPunct="0">
              <a:spcBef>
                <a:spcPct val="0"/>
              </a:spcBef>
              <a:spcAft>
                <a:spcPct val="0"/>
              </a:spcAft>
              <a:tabLst>
                <a:tab pos="381000" algn="l"/>
                <a:tab pos="3276600" algn="l"/>
              </a:tabLst>
            </a:pPr>
            <a:r>
              <a:rPr lang="en-GB" altLang="en-US" sz="3200" dirty="0">
                <a:solidFill>
                  <a:srgbClr val="002060"/>
                </a:solidFill>
                <a:latin typeface="Arial" panose="020B0604020202020204" pitchFamily="34" charset="0"/>
                <a:ea typeface="Times New Roman" panose="02020603050405020304" pitchFamily="18" charset="0"/>
              </a:rPr>
              <a:t>for odd n</a:t>
            </a:r>
            <a:endParaRPr lang="en-GB" altLang="en-US" sz="1200" dirty="0">
              <a:latin typeface="Arial" panose="020B0604020202020204" pitchFamily="34" charset="0"/>
            </a:endParaRPr>
          </a:p>
        </p:txBody>
      </p:sp>
    </p:spTree>
    <p:extLst>
      <p:ext uri="{BB962C8B-B14F-4D97-AF65-F5344CB8AC3E}">
        <p14:creationId xmlns:p14="http://schemas.microsoft.com/office/powerpoint/2010/main" val="214238841"/>
      </p:ext>
    </p:extLst>
  </p:cSld>
  <p:clrMapOvr>
    <a:masterClrMapping/>
  </p:clrMapOvr>
  <mc:AlternateContent xmlns:mc="http://schemas.openxmlformats.org/markup-compatibility/2006" xmlns:p14="http://schemas.microsoft.com/office/powerpoint/2010/main">
    <mc:Choice Requires="p14">
      <p:transition spd="slow" p14:dur="2000" advTm="24573"/>
    </mc:Choice>
    <mc:Fallback xmlns="">
      <p:transition spd="slow" advTm="24573"/>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DC2C30D1-41D1-48F8-9584-6E16754F1158}"/>
              </a:ext>
            </a:extLst>
          </p:cNvPr>
          <p:cNvGraphicFramePr>
            <a:graphicFrameLocks noChangeAspect="1"/>
          </p:cNvGraphicFramePr>
          <p:nvPr>
            <p:extLst>
              <p:ext uri="{D42A27DB-BD31-4B8C-83A1-F6EECF244321}">
                <p14:modId xmlns:p14="http://schemas.microsoft.com/office/powerpoint/2010/main" val="2346039881"/>
              </p:ext>
            </p:extLst>
          </p:nvPr>
        </p:nvGraphicFramePr>
        <p:xfrm>
          <a:off x="168441" y="529389"/>
          <a:ext cx="11790947" cy="1409700"/>
        </p:xfrm>
        <a:graphic>
          <a:graphicData uri="http://schemas.openxmlformats.org/presentationml/2006/ole">
            <mc:AlternateContent xmlns:mc="http://schemas.openxmlformats.org/markup-compatibility/2006">
              <mc:Choice xmlns:v="urn:schemas-microsoft-com:vml" Requires="v">
                <p:oleObj r:id="rId3" imgW="4851400" imgH="533400" progId="Equation.3">
                  <p:embed/>
                </p:oleObj>
              </mc:Choice>
              <mc:Fallback>
                <p:oleObj r:id="rId3" imgW="4851400" imgH="533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441" y="529389"/>
                        <a:ext cx="11790947" cy="1409700"/>
                      </a:xfrm>
                      <a:prstGeom prst="rect">
                        <a:avLst/>
                      </a:prstGeom>
                      <a:noFill/>
                    </p:spPr>
                  </p:pic>
                </p:oleObj>
              </mc:Fallback>
            </mc:AlternateContent>
          </a:graphicData>
        </a:graphic>
      </p:graphicFrame>
      <p:graphicFrame>
        <p:nvGraphicFramePr>
          <p:cNvPr id="4" name="Object 3">
            <a:extLst>
              <a:ext uri="{FF2B5EF4-FFF2-40B4-BE49-F238E27FC236}">
                <a16:creationId xmlns:a16="http://schemas.microsoft.com/office/drawing/2014/main" id="{67A2D3F4-9F48-428E-A70F-D7811B4B6B33}"/>
              </a:ext>
            </a:extLst>
          </p:cNvPr>
          <p:cNvGraphicFramePr>
            <a:graphicFrameLocks noChangeAspect="1"/>
          </p:cNvGraphicFramePr>
          <p:nvPr>
            <p:extLst>
              <p:ext uri="{D42A27DB-BD31-4B8C-83A1-F6EECF244321}">
                <p14:modId xmlns:p14="http://schemas.microsoft.com/office/powerpoint/2010/main" val="2933530434"/>
              </p:ext>
            </p:extLst>
          </p:nvPr>
        </p:nvGraphicFramePr>
        <p:xfrm>
          <a:off x="1244265" y="1647825"/>
          <a:ext cx="10649953" cy="1447800"/>
        </p:xfrm>
        <a:graphic>
          <a:graphicData uri="http://schemas.openxmlformats.org/presentationml/2006/ole">
            <mc:AlternateContent xmlns:mc="http://schemas.openxmlformats.org/markup-compatibility/2006">
              <mc:Choice xmlns:v="urn:schemas-microsoft-com:vml" Requires="v">
                <p:oleObj r:id="rId5" imgW="4711700" imgH="596900" progId="Equation.3">
                  <p:embed/>
                </p:oleObj>
              </mc:Choice>
              <mc:Fallback>
                <p:oleObj r:id="rId5" imgW="4711700" imgH="5969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4265" y="1647825"/>
                        <a:ext cx="10649953" cy="1447800"/>
                      </a:xfrm>
                      <a:prstGeom prst="rect">
                        <a:avLst/>
                      </a:prstGeom>
                      <a:noFill/>
                    </p:spPr>
                  </p:pic>
                </p:oleObj>
              </mc:Fallback>
            </mc:AlternateContent>
          </a:graphicData>
        </a:graphic>
      </p:graphicFrame>
      <p:graphicFrame>
        <p:nvGraphicFramePr>
          <p:cNvPr id="5" name="Object 4">
            <a:extLst>
              <a:ext uri="{FF2B5EF4-FFF2-40B4-BE49-F238E27FC236}">
                <a16:creationId xmlns:a16="http://schemas.microsoft.com/office/drawing/2014/main" id="{7A5F9860-411A-4D78-A84A-2ECF51F1B22A}"/>
              </a:ext>
            </a:extLst>
          </p:cNvPr>
          <p:cNvGraphicFramePr>
            <a:graphicFrameLocks noChangeAspect="1"/>
          </p:cNvGraphicFramePr>
          <p:nvPr>
            <p:extLst>
              <p:ext uri="{D42A27DB-BD31-4B8C-83A1-F6EECF244321}">
                <p14:modId xmlns:p14="http://schemas.microsoft.com/office/powerpoint/2010/main" val="1411353841"/>
              </p:ext>
            </p:extLst>
          </p:nvPr>
        </p:nvGraphicFramePr>
        <p:xfrm>
          <a:off x="1215689" y="3101139"/>
          <a:ext cx="9696450" cy="1219200"/>
        </p:xfrm>
        <a:graphic>
          <a:graphicData uri="http://schemas.openxmlformats.org/presentationml/2006/ole">
            <mc:AlternateContent xmlns:mc="http://schemas.openxmlformats.org/markup-compatibility/2006">
              <mc:Choice xmlns:v="urn:schemas-microsoft-com:vml" Requires="v">
                <p:oleObj r:id="rId7" imgW="3860800" imgH="482600" progId="Equation.3">
                  <p:embed/>
                </p:oleObj>
              </mc:Choice>
              <mc:Fallback>
                <p:oleObj r:id="rId7" imgW="3860800" imgH="482600"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5689" y="3101139"/>
                        <a:ext cx="9696450"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a:extLst>
              <a:ext uri="{FF2B5EF4-FFF2-40B4-BE49-F238E27FC236}">
                <a16:creationId xmlns:a16="http://schemas.microsoft.com/office/drawing/2014/main" id="{940A447B-BC02-462F-A473-37AED2BBC4F3}"/>
              </a:ext>
            </a:extLst>
          </p:cNvPr>
          <p:cNvGraphicFramePr>
            <a:graphicFrameLocks noChangeAspect="1"/>
          </p:cNvGraphicFramePr>
          <p:nvPr>
            <p:extLst>
              <p:ext uri="{D42A27DB-BD31-4B8C-83A1-F6EECF244321}">
                <p14:modId xmlns:p14="http://schemas.microsoft.com/office/powerpoint/2010/main" val="1356575390"/>
              </p:ext>
            </p:extLst>
          </p:nvPr>
        </p:nvGraphicFramePr>
        <p:xfrm>
          <a:off x="168441" y="4633436"/>
          <a:ext cx="9938084" cy="1771650"/>
        </p:xfrm>
        <a:graphic>
          <a:graphicData uri="http://schemas.openxmlformats.org/presentationml/2006/ole">
            <mc:AlternateContent xmlns:mc="http://schemas.openxmlformats.org/markup-compatibility/2006">
              <mc:Choice xmlns:v="urn:schemas-microsoft-com:vml" Requires="v">
                <p:oleObj r:id="rId9" imgW="4013200" imgH="622300" progId="Equation.3">
                  <p:embed/>
                </p:oleObj>
              </mc:Choice>
              <mc:Fallback>
                <p:oleObj r:id="rId9" imgW="4013200" imgH="622300" progId="Equation.3">
                  <p:embed/>
                  <p:pic>
                    <p:nvPicPr>
                      <p:cNvPr id="0" name="Object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8441" y="4633436"/>
                        <a:ext cx="9938084" cy="1771650"/>
                      </a:xfrm>
                      <a:prstGeom prst="rect">
                        <a:avLst/>
                      </a:prstGeom>
                      <a:noFill/>
                    </p:spPr>
                  </p:pic>
                </p:oleObj>
              </mc:Fallback>
            </mc:AlternateContent>
          </a:graphicData>
        </a:graphic>
      </p:graphicFrame>
      <p:sp>
        <p:nvSpPr>
          <p:cNvPr id="7" name="Rectangle 5">
            <a:extLst>
              <a:ext uri="{FF2B5EF4-FFF2-40B4-BE49-F238E27FC236}">
                <a16:creationId xmlns:a16="http://schemas.microsoft.com/office/drawing/2014/main" id="{2FA4DA28-340D-49D5-B90A-F4F67B3A4BB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8" name="Rectangle 6">
            <a:extLst>
              <a:ext uri="{FF2B5EF4-FFF2-40B4-BE49-F238E27FC236}">
                <a16:creationId xmlns:a16="http://schemas.microsoft.com/office/drawing/2014/main" id="{CA237421-55B4-4679-8A1D-0F90A95096C6}"/>
              </a:ext>
            </a:extLst>
          </p:cNvPr>
          <p:cNvSpPr>
            <a:spLocks noChangeArrowheads="1"/>
          </p:cNvSpPr>
          <p:nvPr/>
        </p:nvSpPr>
        <p:spPr bwMode="auto">
          <a:xfrm>
            <a:off x="297782" y="2042820"/>
            <a:ext cx="117909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17145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7">
            <a:extLst>
              <a:ext uri="{FF2B5EF4-FFF2-40B4-BE49-F238E27FC236}">
                <a16:creationId xmlns:a16="http://schemas.microsoft.com/office/drawing/2014/main" id="{5FDAA4A4-017A-49B4-B930-9B7EC3D70C37}"/>
              </a:ext>
            </a:extLst>
          </p:cNvPr>
          <p:cNvSpPr>
            <a:spLocks noChangeArrowheads="1"/>
          </p:cNvSpPr>
          <p:nvPr/>
        </p:nvSpPr>
        <p:spPr bwMode="auto">
          <a:xfrm>
            <a:off x="305802" y="3293554"/>
            <a:ext cx="93846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17145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5ADD23F8-0846-4DDF-8A06-B314A1D84F26}"/>
              </a:ext>
            </a:extLst>
          </p:cNvPr>
          <p:cNvSpPr>
            <a:spLocks noChangeArrowheads="1"/>
          </p:cNvSpPr>
          <p:nvPr/>
        </p:nvSpPr>
        <p:spPr bwMode="auto">
          <a:xfrm>
            <a:off x="297782" y="4248016"/>
            <a:ext cx="993808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1pPr>
            <a:lvl2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2pPr>
            <a:lvl3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3pPr>
            <a:lvl4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4pPr>
            <a:lvl5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5pPr>
            <a:lvl6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6pPr>
            <a:lvl7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7pPr>
            <a:lvl8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8pPr>
            <a:lvl9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since </a:t>
            </a:r>
            <a:r>
              <a:rPr kumimoji="0" lang="en-GB" altLang="en-US" sz="3600" b="0" i="0"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rPr>
              <a:t>w</a:t>
            </a:r>
            <a:r>
              <a:rPr kumimoji="0" lang="en-GB" altLang="en-US" sz="3600" b="0" i="0" u="none" strike="noStrike" cap="none" normalizeH="0" baseline="-30000" dirty="0" err="1">
                <a:ln>
                  <a:noFill/>
                </a:ln>
                <a:solidFill>
                  <a:srgbClr val="002060"/>
                </a:solidFill>
                <a:effectLst/>
                <a:latin typeface="Symbol" panose="05050102010706020507" pitchFamily="18" charset="2"/>
                <a:ea typeface="Times New Roman" panose="02020603050405020304" pitchFamily="18" charset="0"/>
              </a:rPr>
              <a:t>o</a:t>
            </a:r>
            <a:r>
              <a:rPr kumimoji="0" lang="en-GB" altLang="en-US" sz="3600" b="0" i="0" u="none" strike="noStrike" cap="none" normalizeH="0" baseline="0" dirty="0" err="1">
                <a:ln>
                  <a:noFill/>
                </a:ln>
                <a:solidFill>
                  <a:srgbClr val="002060"/>
                </a:solidFill>
                <a:effectLst/>
                <a:ea typeface="Times New Roman" panose="02020603050405020304" pitchFamily="18" charset="0"/>
              </a:rPr>
              <a:t>T</a:t>
            </a:r>
            <a:r>
              <a:rPr kumimoji="0" lang="en-GB" altLang="en-US" sz="3600" b="0" i="0" u="none" strike="noStrike" cap="none" normalizeH="0" baseline="0" dirty="0">
                <a:ln>
                  <a:noFill/>
                </a:ln>
                <a:solidFill>
                  <a:srgbClr val="002060"/>
                </a:solidFill>
                <a:effectLst/>
                <a:ea typeface="Times New Roman" panose="02020603050405020304" pitchFamily="18" charset="0"/>
              </a:rPr>
              <a:t> = 2 </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 </a:t>
            </a:r>
            <a:r>
              <a:rPr kumimoji="0" lang="en-GB" altLang="en-US" sz="3600" b="0" i="0"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rPr>
              <a:t>w</a:t>
            </a:r>
            <a:r>
              <a:rPr kumimoji="0" lang="en-GB" altLang="en-US" sz="3600" b="0" i="0" u="none" strike="noStrike" cap="none" normalizeH="0" baseline="-30000" dirty="0" err="1">
                <a:ln>
                  <a:noFill/>
                </a:ln>
                <a:solidFill>
                  <a:srgbClr val="002060"/>
                </a:solidFill>
                <a:effectLst/>
                <a:latin typeface="Symbol" panose="05050102010706020507" pitchFamily="18" charset="2"/>
                <a:ea typeface="Times New Roman" panose="02020603050405020304" pitchFamily="18" charset="0"/>
              </a:rPr>
              <a:t>o</a:t>
            </a:r>
            <a:r>
              <a:rPr kumimoji="0" lang="en-GB" altLang="en-US" sz="3600" b="0" i="0" u="none" strike="noStrike" cap="none" normalizeH="0" baseline="0" dirty="0" err="1">
                <a:ln>
                  <a:noFill/>
                </a:ln>
                <a:solidFill>
                  <a:srgbClr val="002060"/>
                </a:solidFill>
                <a:effectLst/>
                <a:ea typeface="Times New Roman" panose="02020603050405020304" pitchFamily="18" charset="0"/>
              </a:rPr>
              <a:t>T</a:t>
            </a:r>
            <a:r>
              <a:rPr kumimoji="0" lang="en-GB" altLang="en-US" sz="3600" b="0" i="0" u="none" strike="noStrike" cap="none" normalizeH="0" baseline="0" dirty="0">
                <a:ln>
                  <a:noFill/>
                </a:ln>
                <a:solidFill>
                  <a:srgbClr val="002060"/>
                </a:solidFill>
                <a:effectLst/>
                <a:ea typeface="Times New Roman" panose="02020603050405020304" pitchFamily="18" charset="0"/>
              </a:rPr>
              <a:t>/4 = </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p/2 </a:t>
            </a:r>
            <a:r>
              <a:rPr kumimoji="0" lang="en-GB" altLang="en-US" sz="3600" b="0" i="0" u="none" strike="noStrike" cap="none" normalizeH="0" baseline="0" dirty="0">
                <a:ln>
                  <a:noFill/>
                </a:ln>
                <a:solidFill>
                  <a:srgbClr val="002060"/>
                </a:solidFill>
                <a:effectLst/>
                <a:ea typeface="Times New Roman" panose="02020603050405020304" pitchFamily="18" charset="0"/>
              </a:rPr>
              <a:t>and</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  </a:t>
            </a:r>
            <a:r>
              <a:rPr kumimoji="0" lang="en-GB" altLang="en-US" sz="3600" b="0" i="0"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rPr>
              <a:t>w</a:t>
            </a:r>
            <a:r>
              <a:rPr kumimoji="0" lang="en-GB" altLang="en-US" sz="3600" b="0" i="0" u="none" strike="noStrike" cap="none" normalizeH="0" baseline="-30000" dirty="0" err="1">
                <a:ln>
                  <a:noFill/>
                </a:ln>
                <a:solidFill>
                  <a:srgbClr val="002060"/>
                </a:solidFill>
                <a:effectLst/>
                <a:latin typeface="Symbol" panose="05050102010706020507" pitchFamily="18" charset="2"/>
                <a:ea typeface="Times New Roman" panose="02020603050405020304" pitchFamily="18" charset="0"/>
              </a:rPr>
              <a:t>o</a:t>
            </a:r>
            <a:r>
              <a:rPr kumimoji="0" lang="en-GB" altLang="en-US" sz="3600" b="0" i="0" u="none" strike="noStrike" cap="none" normalizeH="0" baseline="0" dirty="0" err="1">
                <a:ln>
                  <a:noFill/>
                </a:ln>
                <a:solidFill>
                  <a:srgbClr val="002060"/>
                </a:solidFill>
                <a:effectLst/>
                <a:ea typeface="Times New Roman" panose="02020603050405020304" pitchFamily="18" charset="0"/>
              </a:rPr>
              <a:t>T</a:t>
            </a:r>
            <a:r>
              <a:rPr kumimoji="0" lang="en-GB" altLang="en-US" sz="3600" b="0" i="0" u="none" strike="noStrike" cap="none" normalizeH="0" baseline="0" dirty="0">
                <a:ln>
                  <a:noFill/>
                </a:ln>
                <a:solidFill>
                  <a:srgbClr val="002060"/>
                </a:solidFill>
                <a:effectLst/>
                <a:ea typeface="Times New Roman" panose="02020603050405020304" pitchFamily="18" charset="0"/>
              </a:rPr>
              <a:t>/2 =</a:t>
            </a: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11">
            <a:extLst>
              <a:ext uri="{FF2B5EF4-FFF2-40B4-BE49-F238E27FC236}">
                <a16:creationId xmlns:a16="http://schemas.microsoft.com/office/drawing/2014/main" id="{B405E6CA-7BE1-4D71-AF40-C2470711F736}"/>
              </a:ext>
            </a:extLst>
          </p:cNvPr>
          <p:cNvSpPr/>
          <p:nvPr/>
        </p:nvSpPr>
        <p:spPr>
          <a:xfrm>
            <a:off x="8288372" y="6327884"/>
            <a:ext cx="1502334" cy="523220"/>
          </a:xfrm>
          <a:prstGeom prst="rect">
            <a:avLst/>
          </a:prstGeom>
        </p:spPr>
        <p:txBody>
          <a:bodyPr wrap="none">
            <a:spAutoFit/>
          </a:bodyPr>
          <a:lstStyle/>
          <a:p>
            <a:r>
              <a:rPr lang="en-GB" sz="2800" dirty="0">
                <a:solidFill>
                  <a:srgbClr val="002060"/>
                </a:solidFill>
                <a:latin typeface="Times New Roman" panose="02020603050405020304" pitchFamily="18" charset="0"/>
                <a:ea typeface="Times New Roman" panose="02020603050405020304" pitchFamily="18" charset="0"/>
              </a:rPr>
              <a:t>for odd n</a:t>
            </a:r>
            <a:endParaRPr lang="en-GB" sz="2800" dirty="0"/>
          </a:p>
        </p:txBody>
      </p:sp>
    </p:spTree>
    <p:extLst>
      <p:ext uri="{BB962C8B-B14F-4D97-AF65-F5344CB8AC3E}">
        <p14:creationId xmlns:p14="http://schemas.microsoft.com/office/powerpoint/2010/main" val="1225334046"/>
      </p:ext>
    </p:extLst>
  </p:cSld>
  <p:clrMapOvr>
    <a:masterClrMapping/>
  </p:clrMapOvr>
  <mc:AlternateContent xmlns:mc="http://schemas.openxmlformats.org/markup-compatibility/2006" xmlns:p14="http://schemas.microsoft.com/office/powerpoint/2010/main">
    <mc:Choice Requires="p14">
      <p:transition spd="slow" p14:dur="2000" advTm="10503"/>
    </mc:Choice>
    <mc:Fallback xmlns="">
      <p:transition spd="slow" advTm="10503"/>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4">
            <a:extLst>
              <a:ext uri="{FF2B5EF4-FFF2-40B4-BE49-F238E27FC236}">
                <a16:creationId xmlns:a16="http://schemas.microsoft.com/office/drawing/2014/main" id="{449C08B2-7AC9-416A-8EA9-2B2A56A02374}"/>
              </a:ext>
            </a:extLst>
          </p:cNvPr>
          <p:cNvSpPr>
            <a:spLocks noChangeAspect="1" noChangeArrowheads="1"/>
          </p:cNvSpPr>
          <p:nvPr/>
        </p:nvSpPr>
        <p:spPr bwMode="auto">
          <a:xfrm>
            <a:off x="224588" y="501459"/>
            <a:ext cx="11887201"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Substituting different values of n, </a:t>
            </a:r>
            <a:endParaRPr kumimoji="0" lang="en-GB"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B</a:t>
            </a:r>
            <a:r>
              <a:rPr kumimoji="0" lang="en-GB"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1</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0.4053E, B</a:t>
            </a:r>
            <a:r>
              <a:rPr kumimoji="0" lang="en-GB"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3</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-0.04503E, B</a:t>
            </a:r>
            <a:r>
              <a:rPr kumimoji="0" lang="en-GB"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5</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0.0162E, B</a:t>
            </a:r>
            <a:r>
              <a:rPr kumimoji="0" lang="en-GB"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7</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-0.00827, </a:t>
            </a:r>
            <a:r>
              <a:rPr kumimoji="0" lang="en-GB" altLang="en-US" sz="28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d.c.</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term = 0 </a:t>
            </a:r>
            <a:endParaRPr kumimoji="0" lang="en-GB" altLang="en-US" sz="2800" b="0" i="0" u="none" strike="noStrike" cap="none" normalizeH="0" baseline="0" dirty="0">
              <a:ln>
                <a:noFill/>
              </a:ln>
              <a:solidFill>
                <a:schemeClr val="tx1"/>
              </a:solidFill>
              <a:effectLst/>
              <a:latin typeface="Arial" panose="020B0604020202020204" pitchFamily="34" charset="0"/>
            </a:endParaRPr>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D4ED629B-B86E-4A9E-8624-D1D8E6DDB6F0}"/>
              </a:ext>
            </a:extLst>
          </p:cNvPr>
          <p:cNvGraphicFramePr>
            <a:graphicFrameLocks noChangeAspect="1"/>
          </p:cNvGraphicFramePr>
          <p:nvPr>
            <p:extLst>
              <p:ext uri="{D42A27DB-BD31-4B8C-83A1-F6EECF244321}">
                <p14:modId xmlns:p14="http://schemas.microsoft.com/office/powerpoint/2010/main" val="1649484497"/>
              </p:ext>
            </p:extLst>
          </p:nvPr>
        </p:nvGraphicFramePr>
        <p:xfrm>
          <a:off x="2589231" y="1462616"/>
          <a:ext cx="2417445" cy="497205"/>
        </p:xfrm>
        <a:graphic>
          <a:graphicData uri="http://schemas.openxmlformats.org/presentationml/2006/ole">
            <mc:AlternateContent xmlns:mc="http://schemas.openxmlformats.org/markup-compatibility/2006">
              <mc:Choice xmlns:v="urn:schemas-microsoft-com:vml" Requires="v">
                <p:oleObj r:id="rId3" imgW="1282700" imgH="254000" progId="Equation.3">
                  <p:embed/>
                </p:oleObj>
              </mc:Choice>
              <mc:Fallback>
                <p:oleObj r:id="rId3" imgW="1282700" imgH="254000" progId="Equation.3">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9231" y="1462616"/>
                        <a:ext cx="2417445" cy="497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4">
            <a:extLst>
              <a:ext uri="{FF2B5EF4-FFF2-40B4-BE49-F238E27FC236}">
                <a16:creationId xmlns:a16="http://schemas.microsoft.com/office/drawing/2014/main" id="{E184EE68-6D6D-4C23-86F6-28168A265C5B}"/>
              </a:ext>
            </a:extLst>
          </p:cNvPr>
          <p:cNvGrpSpPr>
            <a:grpSpLocks noChangeAspect="1"/>
          </p:cNvGrpSpPr>
          <p:nvPr/>
        </p:nvGrpSpPr>
        <p:grpSpPr bwMode="auto">
          <a:xfrm>
            <a:off x="5778101" y="2333625"/>
            <a:ext cx="6069902" cy="2944940"/>
            <a:chOff x="5858" y="3594"/>
            <a:chExt cx="4755" cy="2700"/>
          </a:xfrm>
        </p:grpSpPr>
        <p:sp>
          <p:nvSpPr>
            <p:cNvPr id="6" name="Text Box 594">
              <a:extLst>
                <a:ext uri="{FF2B5EF4-FFF2-40B4-BE49-F238E27FC236}">
                  <a16:creationId xmlns:a16="http://schemas.microsoft.com/office/drawing/2014/main" id="{DAD9ED55-64EE-4525-859A-0C6DB627679D}"/>
                </a:ext>
              </a:extLst>
            </p:cNvPr>
            <p:cNvSpPr txBox="1">
              <a:spLocks noChangeAspect="1" noChangeArrowheads="1"/>
            </p:cNvSpPr>
            <p:nvPr/>
          </p:nvSpPr>
          <p:spPr bwMode="auto">
            <a:xfrm>
              <a:off x="7298" y="5934"/>
              <a:ext cx="27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200">
                  <a:solidFill>
                    <a:srgbClr val="002060"/>
                  </a:solidFill>
                  <a:effectLst/>
                  <a:latin typeface="Times New Roman" panose="02020603050405020304" pitchFamily="18" charset="0"/>
                  <a:ea typeface="Times New Roman" panose="02020603050405020304" pitchFamily="18" charset="0"/>
                </a:rPr>
                <a:t>Figure 20 – Line Spectrum</a:t>
              </a:r>
              <a:endParaRPr lang="en-GB" sz="1200">
                <a:effectLst/>
                <a:latin typeface="Times New Roman" panose="02020603050405020304" pitchFamily="18" charset="0"/>
                <a:ea typeface="Times New Roman" panose="02020603050405020304" pitchFamily="18" charset="0"/>
              </a:endParaRPr>
            </a:p>
          </p:txBody>
        </p:sp>
        <p:grpSp>
          <p:nvGrpSpPr>
            <p:cNvPr id="7" name="Group 6">
              <a:extLst>
                <a:ext uri="{FF2B5EF4-FFF2-40B4-BE49-F238E27FC236}">
                  <a16:creationId xmlns:a16="http://schemas.microsoft.com/office/drawing/2014/main" id="{2E19BFA5-72ED-43BC-B207-20AF5EB4A568}"/>
                </a:ext>
              </a:extLst>
            </p:cNvPr>
            <p:cNvGrpSpPr>
              <a:grpSpLocks noChangeAspect="1"/>
            </p:cNvGrpSpPr>
            <p:nvPr/>
          </p:nvGrpSpPr>
          <p:grpSpPr bwMode="auto">
            <a:xfrm>
              <a:off x="5858" y="3594"/>
              <a:ext cx="4755" cy="2340"/>
              <a:chOff x="5858" y="3594"/>
              <a:chExt cx="4755" cy="2340"/>
            </a:xfrm>
          </p:grpSpPr>
          <p:cxnSp>
            <p:nvCxnSpPr>
              <p:cNvPr id="8" name="Line 584">
                <a:extLst>
                  <a:ext uri="{FF2B5EF4-FFF2-40B4-BE49-F238E27FC236}">
                    <a16:creationId xmlns:a16="http://schemas.microsoft.com/office/drawing/2014/main" id="{ACADD78E-2E4E-4E9E-9F5E-D2F96FEF358F}"/>
                  </a:ext>
                </a:extLst>
              </p:cNvPr>
              <p:cNvCxnSpPr>
                <a:cxnSpLocks noChangeAspect="1" noChangeShapeType="1"/>
              </p:cNvCxnSpPr>
              <p:nvPr/>
            </p:nvCxnSpPr>
            <p:spPr bwMode="auto">
              <a:xfrm>
                <a:off x="6578" y="3939"/>
                <a:ext cx="0" cy="1620"/>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9" name="Line 585">
                <a:extLst>
                  <a:ext uri="{FF2B5EF4-FFF2-40B4-BE49-F238E27FC236}">
                    <a16:creationId xmlns:a16="http://schemas.microsoft.com/office/drawing/2014/main" id="{8E3BF465-8A63-441F-870A-435173590C2C}"/>
                  </a:ext>
                </a:extLst>
              </p:cNvPr>
              <p:cNvCxnSpPr>
                <a:cxnSpLocks noChangeAspect="1" noChangeShapeType="1"/>
              </p:cNvCxnSpPr>
              <p:nvPr/>
            </p:nvCxnSpPr>
            <p:spPr bwMode="auto">
              <a:xfrm>
                <a:off x="6578" y="5559"/>
                <a:ext cx="3840"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10" name="Line 586">
                <a:extLst>
                  <a:ext uri="{FF2B5EF4-FFF2-40B4-BE49-F238E27FC236}">
                    <a16:creationId xmlns:a16="http://schemas.microsoft.com/office/drawing/2014/main" id="{D9AC6DD8-535A-4238-B702-D651F986ED39}"/>
                  </a:ext>
                </a:extLst>
              </p:cNvPr>
              <p:cNvCxnSpPr>
                <a:cxnSpLocks noChangeAspect="1" noChangeShapeType="1"/>
              </p:cNvCxnSpPr>
              <p:nvPr/>
            </p:nvCxnSpPr>
            <p:spPr bwMode="auto">
              <a:xfrm>
                <a:off x="6578" y="5574"/>
                <a:ext cx="0" cy="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1" name="Line 587">
                <a:extLst>
                  <a:ext uri="{FF2B5EF4-FFF2-40B4-BE49-F238E27FC236}">
                    <a16:creationId xmlns:a16="http://schemas.microsoft.com/office/drawing/2014/main" id="{B6F6E7A8-4D3E-4DEA-9640-927E51347CD1}"/>
                  </a:ext>
                </a:extLst>
              </p:cNvPr>
              <p:cNvCxnSpPr>
                <a:cxnSpLocks noChangeAspect="1" noChangeShapeType="1"/>
              </p:cNvCxnSpPr>
              <p:nvPr/>
            </p:nvCxnSpPr>
            <p:spPr bwMode="auto">
              <a:xfrm>
                <a:off x="7058" y="5574"/>
                <a:ext cx="0" cy="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2" name="Line 588">
                <a:extLst>
                  <a:ext uri="{FF2B5EF4-FFF2-40B4-BE49-F238E27FC236}">
                    <a16:creationId xmlns:a16="http://schemas.microsoft.com/office/drawing/2014/main" id="{AB7E16DA-549F-45AC-97B4-B097C20BBE09}"/>
                  </a:ext>
                </a:extLst>
              </p:cNvPr>
              <p:cNvCxnSpPr>
                <a:cxnSpLocks noChangeAspect="1" noChangeShapeType="1"/>
              </p:cNvCxnSpPr>
              <p:nvPr/>
            </p:nvCxnSpPr>
            <p:spPr bwMode="auto">
              <a:xfrm>
                <a:off x="7538" y="5574"/>
                <a:ext cx="0" cy="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3" name="Line 589">
                <a:extLst>
                  <a:ext uri="{FF2B5EF4-FFF2-40B4-BE49-F238E27FC236}">
                    <a16:creationId xmlns:a16="http://schemas.microsoft.com/office/drawing/2014/main" id="{A1C58835-FC88-4B30-B2A1-BEEEAF7D6FCD}"/>
                  </a:ext>
                </a:extLst>
              </p:cNvPr>
              <p:cNvCxnSpPr>
                <a:cxnSpLocks noChangeAspect="1" noChangeShapeType="1"/>
              </p:cNvCxnSpPr>
              <p:nvPr/>
            </p:nvCxnSpPr>
            <p:spPr bwMode="auto">
              <a:xfrm>
                <a:off x="8018" y="5574"/>
                <a:ext cx="0" cy="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4" name="Line 590">
                <a:extLst>
                  <a:ext uri="{FF2B5EF4-FFF2-40B4-BE49-F238E27FC236}">
                    <a16:creationId xmlns:a16="http://schemas.microsoft.com/office/drawing/2014/main" id="{D2120F9A-5686-4872-9A50-BC9317C2E7CB}"/>
                  </a:ext>
                </a:extLst>
              </p:cNvPr>
              <p:cNvCxnSpPr>
                <a:cxnSpLocks noChangeAspect="1" noChangeShapeType="1"/>
              </p:cNvCxnSpPr>
              <p:nvPr/>
            </p:nvCxnSpPr>
            <p:spPr bwMode="auto">
              <a:xfrm>
                <a:off x="8498" y="5574"/>
                <a:ext cx="0" cy="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5" name="Line 591">
                <a:extLst>
                  <a:ext uri="{FF2B5EF4-FFF2-40B4-BE49-F238E27FC236}">
                    <a16:creationId xmlns:a16="http://schemas.microsoft.com/office/drawing/2014/main" id="{FE22D894-FF3A-4E7F-9293-06F4BF7FDF0A}"/>
                  </a:ext>
                </a:extLst>
              </p:cNvPr>
              <p:cNvCxnSpPr>
                <a:cxnSpLocks noChangeAspect="1" noChangeShapeType="1"/>
              </p:cNvCxnSpPr>
              <p:nvPr/>
            </p:nvCxnSpPr>
            <p:spPr bwMode="auto">
              <a:xfrm>
                <a:off x="8978" y="5574"/>
                <a:ext cx="0" cy="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6" name="Line 592">
                <a:extLst>
                  <a:ext uri="{FF2B5EF4-FFF2-40B4-BE49-F238E27FC236}">
                    <a16:creationId xmlns:a16="http://schemas.microsoft.com/office/drawing/2014/main" id="{9684BEF6-4083-4057-8A55-3A224E3A1220}"/>
                  </a:ext>
                </a:extLst>
              </p:cNvPr>
              <p:cNvCxnSpPr>
                <a:cxnSpLocks noChangeAspect="1" noChangeShapeType="1"/>
              </p:cNvCxnSpPr>
              <p:nvPr/>
            </p:nvCxnSpPr>
            <p:spPr bwMode="auto">
              <a:xfrm>
                <a:off x="9458" y="5574"/>
                <a:ext cx="0" cy="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7" name="Line 593">
                <a:extLst>
                  <a:ext uri="{FF2B5EF4-FFF2-40B4-BE49-F238E27FC236}">
                    <a16:creationId xmlns:a16="http://schemas.microsoft.com/office/drawing/2014/main" id="{98C4D45F-BA0D-4617-BC1C-C54A07752B9A}"/>
                  </a:ext>
                </a:extLst>
              </p:cNvPr>
              <p:cNvCxnSpPr>
                <a:cxnSpLocks noChangeAspect="1" noChangeShapeType="1"/>
              </p:cNvCxnSpPr>
              <p:nvPr/>
            </p:nvCxnSpPr>
            <p:spPr bwMode="auto">
              <a:xfrm>
                <a:off x="9938" y="5574"/>
                <a:ext cx="0" cy="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18" name="Text Box 595">
                <a:extLst>
                  <a:ext uri="{FF2B5EF4-FFF2-40B4-BE49-F238E27FC236}">
                    <a16:creationId xmlns:a16="http://schemas.microsoft.com/office/drawing/2014/main" id="{7BB47880-8D75-426F-8B92-1D80525EA76D}"/>
                  </a:ext>
                </a:extLst>
              </p:cNvPr>
              <p:cNvSpPr txBox="1">
                <a:spLocks noChangeAspect="1" noChangeArrowheads="1"/>
              </p:cNvSpPr>
              <p:nvPr/>
            </p:nvSpPr>
            <p:spPr bwMode="auto">
              <a:xfrm>
                <a:off x="6533" y="5574"/>
                <a:ext cx="40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100" dirty="0">
                    <a:solidFill>
                      <a:srgbClr val="002060"/>
                    </a:solidFill>
                    <a:effectLst/>
                    <a:latin typeface="Times New Roman" panose="02020603050405020304" pitchFamily="18" charset="0"/>
                    <a:ea typeface="Times New Roman" panose="02020603050405020304" pitchFamily="18" charset="0"/>
                  </a:rPr>
                  <a:t>0      </a:t>
                </a:r>
                <a:r>
                  <a:rPr lang="en-GB" sz="2100" dirty="0">
                    <a:solidFill>
                      <a:srgbClr val="002060"/>
                    </a:solidFill>
                    <a:effectLst/>
                    <a:latin typeface="Symbol" panose="05050102010706020507" pitchFamily="18" charset="2"/>
                    <a:ea typeface="Times New Roman" panose="02020603050405020304" pitchFamily="18" charset="0"/>
                  </a:rPr>
                  <a:t>w</a:t>
                </a:r>
                <a:r>
                  <a:rPr lang="en-GB" sz="2100" baseline="-25000" dirty="0">
                    <a:solidFill>
                      <a:srgbClr val="002060"/>
                    </a:solidFill>
                    <a:effectLst/>
                    <a:latin typeface="Times New Roman" panose="02020603050405020304" pitchFamily="18" charset="0"/>
                    <a:ea typeface="Times New Roman" panose="02020603050405020304" pitchFamily="18" charset="0"/>
                  </a:rPr>
                  <a:t>o</a:t>
                </a:r>
                <a:r>
                  <a:rPr lang="en-GB" sz="2100" dirty="0">
                    <a:solidFill>
                      <a:srgbClr val="002060"/>
                    </a:solidFill>
                    <a:effectLst/>
                    <a:latin typeface="Times New Roman" panose="02020603050405020304" pitchFamily="18" charset="0"/>
                    <a:ea typeface="Times New Roman" panose="02020603050405020304" pitchFamily="18" charset="0"/>
                  </a:rPr>
                  <a:t>    2</a:t>
                </a:r>
                <a:r>
                  <a:rPr lang="en-GB" sz="2100" dirty="0">
                    <a:solidFill>
                      <a:srgbClr val="002060"/>
                    </a:solidFill>
                    <a:effectLst/>
                    <a:latin typeface="Symbol" panose="05050102010706020507" pitchFamily="18" charset="2"/>
                    <a:ea typeface="Times New Roman" panose="02020603050405020304" pitchFamily="18" charset="0"/>
                  </a:rPr>
                  <a:t>w</a:t>
                </a:r>
                <a:r>
                  <a:rPr lang="en-GB" sz="2100" baseline="-25000" dirty="0">
                    <a:solidFill>
                      <a:srgbClr val="002060"/>
                    </a:solidFill>
                    <a:effectLst/>
                    <a:latin typeface="Times New Roman" panose="02020603050405020304" pitchFamily="18" charset="0"/>
                    <a:ea typeface="Times New Roman" panose="02020603050405020304" pitchFamily="18" charset="0"/>
                  </a:rPr>
                  <a:t>o</a:t>
                </a:r>
                <a:r>
                  <a:rPr lang="en-GB" sz="2100" dirty="0">
                    <a:solidFill>
                      <a:srgbClr val="002060"/>
                    </a:solidFill>
                    <a:effectLst/>
                    <a:latin typeface="Times New Roman" panose="02020603050405020304" pitchFamily="18" charset="0"/>
                    <a:ea typeface="Times New Roman" panose="02020603050405020304" pitchFamily="18" charset="0"/>
                  </a:rPr>
                  <a:t>    3</a:t>
                </a:r>
                <a:r>
                  <a:rPr lang="en-GB" sz="2100" dirty="0">
                    <a:solidFill>
                      <a:srgbClr val="002060"/>
                    </a:solidFill>
                    <a:effectLst/>
                    <a:latin typeface="Symbol" panose="05050102010706020507" pitchFamily="18" charset="2"/>
                    <a:ea typeface="Times New Roman" panose="02020603050405020304" pitchFamily="18" charset="0"/>
                  </a:rPr>
                  <a:t>w</a:t>
                </a:r>
                <a:r>
                  <a:rPr lang="en-GB" sz="2100" baseline="-25000" dirty="0">
                    <a:solidFill>
                      <a:srgbClr val="002060"/>
                    </a:solidFill>
                    <a:effectLst/>
                    <a:latin typeface="Times New Roman" panose="02020603050405020304" pitchFamily="18" charset="0"/>
                    <a:ea typeface="Times New Roman" panose="02020603050405020304" pitchFamily="18" charset="0"/>
                  </a:rPr>
                  <a:t>o</a:t>
                </a:r>
                <a:r>
                  <a:rPr lang="en-GB" sz="2100" dirty="0">
                    <a:solidFill>
                      <a:srgbClr val="002060"/>
                    </a:solidFill>
                    <a:effectLst/>
                    <a:latin typeface="Times New Roman" panose="02020603050405020304" pitchFamily="18" charset="0"/>
                    <a:ea typeface="Times New Roman" panose="02020603050405020304" pitchFamily="18" charset="0"/>
                  </a:rPr>
                  <a:t>   4</a:t>
                </a:r>
                <a:r>
                  <a:rPr lang="en-GB" sz="2100" dirty="0">
                    <a:solidFill>
                      <a:srgbClr val="002060"/>
                    </a:solidFill>
                    <a:effectLst/>
                    <a:latin typeface="Symbol" panose="05050102010706020507" pitchFamily="18" charset="2"/>
                    <a:ea typeface="Times New Roman" panose="02020603050405020304" pitchFamily="18" charset="0"/>
                  </a:rPr>
                  <a:t>w</a:t>
                </a:r>
                <a:r>
                  <a:rPr lang="en-GB" sz="2100" baseline="-25000" dirty="0">
                    <a:solidFill>
                      <a:srgbClr val="002060"/>
                    </a:solidFill>
                    <a:effectLst/>
                    <a:latin typeface="Times New Roman" panose="02020603050405020304" pitchFamily="18" charset="0"/>
                    <a:ea typeface="Times New Roman" panose="02020603050405020304" pitchFamily="18" charset="0"/>
                  </a:rPr>
                  <a:t>o</a:t>
                </a:r>
                <a:r>
                  <a:rPr lang="en-GB" sz="2100" dirty="0">
                    <a:solidFill>
                      <a:srgbClr val="002060"/>
                    </a:solidFill>
                    <a:effectLst/>
                    <a:latin typeface="Times New Roman" panose="02020603050405020304" pitchFamily="18" charset="0"/>
                    <a:ea typeface="Times New Roman" panose="02020603050405020304" pitchFamily="18" charset="0"/>
                  </a:rPr>
                  <a:t>   5</a:t>
                </a:r>
                <a:r>
                  <a:rPr lang="en-GB" sz="2100" dirty="0">
                    <a:solidFill>
                      <a:srgbClr val="002060"/>
                    </a:solidFill>
                    <a:effectLst/>
                    <a:latin typeface="Symbol" panose="05050102010706020507" pitchFamily="18" charset="2"/>
                    <a:ea typeface="Times New Roman" panose="02020603050405020304" pitchFamily="18" charset="0"/>
                  </a:rPr>
                  <a:t>w</a:t>
                </a:r>
                <a:r>
                  <a:rPr lang="en-GB" sz="2100" baseline="-25000" dirty="0">
                    <a:solidFill>
                      <a:srgbClr val="002060"/>
                    </a:solidFill>
                    <a:effectLst/>
                    <a:latin typeface="Times New Roman" panose="02020603050405020304" pitchFamily="18" charset="0"/>
                    <a:ea typeface="Times New Roman" panose="02020603050405020304" pitchFamily="18" charset="0"/>
                  </a:rPr>
                  <a:t>o</a:t>
                </a:r>
                <a:r>
                  <a:rPr lang="en-GB" sz="2100" dirty="0">
                    <a:solidFill>
                      <a:srgbClr val="002060"/>
                    </a:solidFill>
                    <a:effectLst/>
                    <a:latin typeface="Times New Roman" panose="02020603050405020304" pitchFamily="18" charset="0"/>
                    <a:ea typeface="Times New Roman" panose="02020603050405020304" pitchFamily="18" charset="0"/>
                  </a:rPr>
                  <a:t>   6</a:t>
                </a:r>
                <a:r>
                  <a:rPr lang="en-GB" sz="2100" dirty="0">
                    <a:solidFill>
                      <a:srgbClr val="002060"/>
                    </a:solidFill>
                    <a:effectLst/>
                    <a:latin typeface="Symbol" panose="05050102010706020507" pitchFamily="18" charset="2"/>
                    <a:ea typeface="Times New Roman" panose="02020603050405020304" pitchFamily="18" charset="0"/>
                  </a:rPr>
                  <a:t>w</a:t>
                </a:r>
                <a:r>
                  <a:rPr lang="en-GB" sz="2100" baseline="-25000" dirty="0">
                    <a:solidFill>
                      <a:srgbClr val="002060"/>
                    </a:solidFill>
                    <a:effectLst/>
                    <a:latin typeface="Times New Roman" panose="02020603050405020304" pitchFamily="18" charset="0"/>
                    <a:ea typeface="Times New Roman" panose="02020603050405020304" pitchFamily="18" charset="0"/>
                  </a:rPr>
                  <a:t>o</a:t>
                </a:r>
                <a:r>
                  <a:rPr lang="en-GB" sz="2100" dirty="0">
                    <a:solidFill>
                      <a:srgbClr val="002060"/>
                    </a:solidFill>
                    <a:effectLst/>
                    <a:latin typeface="Times New Roman" panose="02020603050405020304" pitchFamily="18" charset="0"/>
                    <a:ea typeface="Times New Roman" panose="02020603050405020304" pitchFamily="18" charset="0"/>
                  </a:rPr>
                  <a:t>   7</a:t>
                </a:r>
                <a:r>
                  <a:rPr lang="en-GB" sz="2100" dirty="0">
                    <a:solidFill>
                      <a:srgbClr val="002060"/>
                    </a:solidFill>
                    <a:effectLst/>
                    <a:latin typeface="Symbol" panose="05050102010706020507" pitchFamily="18" charset="2"/>
                    <a:ea typeface="Times New Roman" panose="02020603050405020304" pitchFamily="18" charset="0"/>
                  </a:rPr>
                  <a:t>w</a:t>
                </a:r>
                <a:r>
                  <a:rPr lang="en-GB" sz="2100" baseline="-25000" dirty="0">
                    <a:solidFill>
                      <a:srgbClr val="002060"/>
                    </a:solidFill>
                    <a:effectLst/>
                    <a:latin typeface="Times New Roman" panose="02020603050405020304" pitchFamily="18" charset="0"/>
                    <a:ea typeface="Times New Roman" panose="02020603050405020304" pitchFamily="18" charset="0"/>
                  </a:rPr>
                  <a:t>o</a:t>
                </a:r>
                <a:r>
                  <a:rPr lang="en-GB" sz="2100" dirty="0">
                    <a:solidFill>
                      <a:srgbClr val="002060"/>
                    </a:solidFill>
                    <a:effectLst/>
                    <a:latin typeface="Times New Roman" panose="02020603050405020304" pitchFamily="18" charset="0"/>
                    <a:ea typeface="Times New Roman" panose="02020603050405020304" pitchFamily="18" charset="0"/>
                  </a:rPr>
                  <a:t>    t</a:t>
                </a:r>
                <a:endParaRPr lang="en-GB" sz="2100" dirty="0">
                  <a:effectLst/>
                  <a:latin typeface="Times New Roman" panose="02020603050405020304" pitchFamily="18" charset="0"/>
                  <a:ea typeface="Times New Roman" panose="02020603050405020304" pitchFamily="18" charset="0"/>
                </a:endParaRPr>
              </a:p>
            </p:txBody>
          </p:sp>
          <p:cxnSp>
            <p:nvCxnSpPr>
              <p:cNvPr id="19" name="Line 596">
                <a:extLst>
                  <a:ext uri="{FF2B5EF4-FFF2-40B4-BE49-F238E27FC236}">
                    <a16:creationId xmlns:a16="http://schemas.microsoft.com/office/drawing/2014/main" id="{6FC15A5F-57E0-4CDC-85CE-14EF876A7CA0}"/>
                  </a:ext>
                </a:extLst>
              </p:cNvPr>
              <p:cNvCxnSpPr>
                <a:cxnSpLocks noChangeAspect="1" noChangeShapeType="1"/>
              </p:cNvCxnSpPr>
              <p:nvPr/>
            </p:nvCxnSpPr>
            <p:spPr bwMode="auto">
              <a:xfrm flipV="1">
                <a:off x="7058" y="3959"/>
                <a:ext cx="0" cy="1599"/>
              </a:xfrm>
              <a:prstGeom prst="line">
                <a:avLst/>
              </a:prstGeom>
              <a:noFill/>
              <a:ln w="76200" cmpd="sng">
                <a:solidFill>
                  <a:srgbClr val="C00000"/>
                </a:solidFill>
                <a:round/>
                <a:headEnd/>
                <a:tailEnd/>
              </a:ln>
              <a:extLst>
                <a:ext uri="{909E8E84-426E-40DD-AFC4-6F175D3DCCD1}">
                  <a14:hiddenFill xmlns:a14="http://schemas.microsoft.com/office/drawing/2010/main">
                    <a:noFill/>
                  </a14:hiddenFill>
                </a:ext>
              </a:extLst>
            </p:spPr>
          </p:cxnSp>
          <p:sp>
            <p:nvSpPr>
              <p:cNvPr id="20" name="Text Box 600">
                <a:extLst>
                  <a:ext uri="{FF2B5EF4-FFF2-40B4-BE49-F238E27FC236}">
                    <a16:creationId xmlns:a16="http://schemas.microsoft.com/office/drawing/2014/main" id="{C69E4CDD-1F76-479A-A58F-DA8F87159B9A}"/>
                  </a:ext>
                </a:extLst>
              </p:cNvPr>
              <p:cNvSpPr txBox="1">
                <a:spLocks noChangeAspect="1" noChangeArrowheads="1"/>
              </p:cNvSpPr>
              <p:nvPr/>
            </p:nvSpPr>
            <p:spPr bwMode="auto">
              <a:xfrm>
                <a:off x="5858" y="3594"/>
                <a:ext cx="120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400">
                    <a:solidFill>
                      <a:srgbClr val="002060"/>
                    </a:solidFill>
                    <a:effectLst/>
                    <a:latin typeface="Times New Roman" panose="02020603050405020304" pitchFamily="18" charset="0"/>
                    <a:ea typeface="Times New Roman" panose="02020603050405020304" pitchFamily="18" charset="0"/>
                  </a:rPr>
                  <a:t>Amplitude</a:t>
                </a:r>
                <a:endParaRPr lang="en-GB" sz="1200">
                  <a:effectLst/>
                  <a:latin typeface="Times New Roman" panose="02020603050405020304" pitchFamily="18" charset="0"/>
                  <a:ea typeface="Times New Roman" panose="02020603050405020304" pitchFamily="18" charset="0"/>
                </a:endParaRPr>
              </a:p>
            </p:txBody>
          </p:sp>
          <p:cxnSp>
            <p:nvCxnSpPr>
              <p:cNvPr id="21" name="Line 605">
                <a:extLst>
                  <a:ext uri="{FF2B5EF4-FFF2-40B4-BE49-F238E27FC236}">
                    <a16:creationId xmlns:a16="http://schemas.microsoft.com/office/drawing/2014/main" id="{0E252837-E43B-405C-A3A0-A1FA0E44F12C}"/>
                  </a:ext>
                </a:extLst>
              </p:cNvPr>
              <p:cNvCxnSpPr>
                <a:cxnSpLocks noChangeAspect="1" noChangeShapeType="1"/>
              </p:cNvCxnSpPr>
              <p:nvPr/>
            </p:nvCxnSpPr>
            <p:spPr bwMode="auto">
              <a:xfrm flipV="1">
                <a:off x="8018" y="5314"/>
                <a:ext cx="0" cy="244"/>
              </a:xfrm>
              <a:prstGeom prst="line">
                <a:avLst/>
              </a:prstGeom>
              <a:noFill/>
              <a:ln w="76200" cmpd="sng">
                <a:solidFill>
                  <a:srgbClr val="C00000"/>
                </a:solidFill>
                <a:round/>
                <a:headEnd/>
                <a:tailEnd/>
              </a:ln>
              <a:extLst>
                <a:ext uri="{909E8E84-426E-40DD-AFC4-6F175D3DCCD1}">
                  <a14:hiddenFill xmlns:a14="http://schemas.microsoft.com/office/drawing/2010/main">
                    <a:noFill/>
                  </a14:hiddenFill>
                </a:ext>
              </a:extLst>
            </p:spPr>
          </p:cxnSp>
          <p:cxnSp>
            <p:nvCxnSpPr>
              <p:cNvPr id="22" name="Line 606">
                <a:extLst>
                  <a:ext uri="{FF2B5EF4-FFF2-40B4-BE49-F238E27FC236}">
                    <a16:creationId xmlns:a16="http://schemas.microsoft.com/office/drawing/2014/main" id="{9412CEAB-F0E0-48E2-A397-903DACACB2B5}"/>
                  </a:ext>
                </a:extLst>
              </p:cNvPr>
              <p:cNvCxnSpPr>
                <a:cxnSpLocks noChangeAspect="1" noChangeShapeType="1"/>
              </p:cNvCxnSpPr>
              <p:nvPr/>
            </p:nvCxnSpPr>
            <p:spPr bwMode="auto">
              <a:xfrm flipV="1">
                <a:off x="8978" y="5354"/>
                <a:ext cx="0" cy="204"/>
              </a:xfrm>
              <a:prstGeom prst="line">
                <a:avLst/>
              </a:prstGeom>
              <a:noFill/>
              <a:ln w="76200" cmpd="sng">
                <a:solidFill>
                  <a:srgbClr val="C00000"/>
                </a:solidFill>
                <a:round/>
                <a:headEnd/>
                <a:tailEnd/>
              </a:ln>
              <a:extLst>
                <a:ext uri="{909E8E84-426E-40DD-AFC4-6F175D3DCCD1}">
                  <a14:hiddenFill xmlns:a14="http://schemas.microsoft.com/office/drawing/2010/main">
                    <a:noFill/>
                  </a14:hiddenFill>
                </a:ext>
              </a:extLst>
            </p:spPr>
          </p:cxnSp>
          <p:cxnSp>
            <p:nvCxnSpPr>
              <p:cNvPr id="23" name="Line 607">
                <a:extLst>
                  <a:ext uri="{FF2B5EF4-FFF2-40B4-BE49-F238E27FC236}">
                    <a16:creationId xmlns:a16="http://schemas.microsoft.com/office/drawing/2014/main" id="{8DF69829-244B-4EA0-ABEC-EBE45A3E95CF}"/>
                  </a:ext>
                </a:extLst>
              </p:cNvPr>
              <p:cNvCxnSpPr>
                <a:cxnSpLocks noChangeAspect="1" noChangeShapeType="1"/>
              </p:cNvCxnSpPr>
              <p:nvPr/>
            </p:nvCxnSpPr>
            <p:spPr bwMode="auto">
              <a:xfrm flipV="1">
                <a:off x="9938" y="5445"/>
                <a:ext cx="0" cy="113"/>
              </a:xfrm>
              <a:prstGeom prst="line">
                <a:avLst/>
              </a:prstGeom>
              <a:noFill/>
              <a:ln w="76200" cmpd="sng">
                <a:solidFill>
                  <a:srgbClr val="C00000"/>
                </a:solidFill>
                <a:round/>
                <a:headEnd/>
                <a:tailEnd/>
              </a:ln>
              <a:extLst>
                <a:ext uri="{909E8E84-426E-40DD-AFC4-6F175D3DCCD1}">
                  <a14:hiddenFill xmlns:a14="http://schemas.microsoft.com/office/drawing/2010/main">
                    <a:noFill/>
                  </a14:hiddenFill>
                </a:ext>
              </a:extLst>
            </p:spPr>
          </p:cxnSp>
        </p:grpSp>
      </p:grpSp>
      <p:grpSp>
        <p:nvGrpSpPr>
          <p:cNvPr id="24" name="Group 23">
            <a:extLst>
              <a:ext uri="{FF2B5EF4-FFF2-40B4-BE49-F238E27FC236}">
                <a16:creationId xmlns:a16="http://schemas.microsoft.com/office/drawing/2014/main" id="{8DEC7A81-75CA-4B7B-8835-D9EE2D762DEC}"/>
              </a:ext>
            </a:extLst>
          </p:cNvPr>
          <p:cNvGrpSpPr>
            <a:grpSpLocks noChangeAspect="1"/>
          </p:cNvGrpSpPr>
          <p:nvPr/>
        </p:nvGrpSpPr>
        <p:grpSpPr bwMode="auto">
          <a:xfrm>
            <a:off x="523875" y="2362836"/>
            <a:ext cx="4948619" cy="2920365"/>
            <a:chOff x="585" y="3471"/>
            <a:chExt cx="8659" cy="5110"/>
          </a:xfrm>
        </p:grpSpPr>
        <p:pic>
          <p:nvPicPr>
            <p:cNvPr id="25" name="Picture 24">
              <a:extLst>
                <a:ext uri="{FF2B5EF4-FFF2-40B4-BE49-F238E27FC236}">
                  <a16:creationId xmlns:a16="http://schemas.microsoft.com/office/drawing/2014/main" id="{E795E943-03E2-4037-8111-79037B972E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5" y="3471"/>
              <a:ext cx="8491" cy="4725"/>
            </a:xfrm>
            <a:prstGeom prst="rect">
              <a:avLst/>
            </a:prstGeom>
            <a:noFill/>
            <a:extLst>
              <a:ext uri="{909E8E84-426E-40DD-AFC4-6F175D3DCCD1}">
                <a14:hiddenFill xmlns:a14="http://schemas.microsoft.com/office/drawing/2010/main">
                  <a:solidFill>
                    <a:srgbClr val="FFFFFF"/>
                  </a:solidFill>
                </a14:hiddenFill>
              </a:ext>
            </a:extLst>
          </p:spPr>
        </p:pic>
        <p:sp>
          <p:nvSpPr>
            <p:cNvPr id="26" name="Text Box 562">
              <a:extLst>
                <a:ext uri="{FF2B5EF4-FFF2-40B4-BE49-F238E27FC236}">
                  <a16:creationId xmlns:a16="http://schemas.microsoft.com/office/drawing/2014/main" id="{5D11A5AF-A114-4368-A27C-A84B3586E95C}"/>
                </a:ext>
              </a:extLst>
            </p:cNvPr>
            <p:cNvSpPr txBox="1">
              <a:spLocks noChangeAspect="1" noChangeArrowheads="1"/>
            </p:cNvSpPr>
            <p:nvPr/>
          </p:nvSpPr>
          <p:spPr bwMode="auto">
            <a:xfrm>
              <a:off x="585" y="7810"/>
              <a:ext cx="8659" cy="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lgn="ctr">
                <a:spcBef>
                  <a:spcPts val="0"/>
                </a:spcBef>
                <a:spcAft>
                  <a:spcPts val="0"/>
                </a:spcAft>
              </a:pPr>
              <a:r>
                <a:rPr lang="en-GB" sz="2400" dirty="0">
                  <a:solidFill>
                    <a:srgbClr val="002060"/>
                  </a:solidFill>
                  <a:effectLst/>
                  <a:latin typeface="Times New Roman" panose="02020603050405020304" pitchFamily="18" charset="0"/>
                  <a:ea typeface="Times New Roman" panose="02020603050405020304" pitchFamily="18" charset="0"/>
                </a:rPr>
                <a:t>Figure 19 – Synthesised waveform</a:t>
              </a:r>
              <a:endParaRPr lang="en-GB" sz="1100" dirty="0">
                <a:effectLst/>
                <a:latin typeface="Times New Roman" panose="02020603050405020304" pitchFamily="18" charset="0"/>
                <a:ea typeface="Times New Roman" panose="02020603050405020304" pitchFamily="18" charset="0"/>
              </a:endParaRPr>
            </a:p>
          </p:txBody>
        </p:sp>
      </p:grpSp>
      <p:sp>
        <p:nvSpPr>
          <p:cNvPr id="27" name="Rectangle 25">
            <a:extLst>
              <a:ext uri="{FF2B5EF4-FFF2-40B4-BE49-F238E27FC236}">
                <a16:creationId xmlns:a16="http://schemas.microsoft.com/office/drawing/2014/main" id="{9A7086CE-1FFF-4E13-9FC4-0BBF262C92C0}"/>
              </a:ext>
            </a:extLst>
          </p:cNvPr>
          <p:cNvSpPr>
            <a:spLocks noChangeAspect="1" noChangeArrowheads="1"/>
          </p:cNvSpPr>
          <p:nvPr/>
        </p:nvSpPr>
        <p:spPr bwMode="auto">
          <a:xfrm>
            <a:off x="219073" y="1430468"/>
            <a:ext cx="10833938"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lvl="0"/>
            <a:r>
              <a:rPr lang="en-GB" altLang="en-US" sz="2800" dirty="0">
                <a:solidFill>
                  <a:srgbClr val="002060"/>
                </a:solidFill>
                <a:ea typeface="Times New Roman" panose="02020603050405020304" pitchFamily="18" charset="0"/>
              </a:rPr>
              <a:t>amplitude 1 =                          </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1.1180, amplitude 3 = 0.1731,</a:t>
            </a:r>
            <a:endParaRPr kumimoji="0" lang="en-GB"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amplitude 5 = 0.1444, amplitude 7 = 0.08309, …….</a:t>
            </a:r>
            <a:endParaRPr kumimoji="0" lang="en-GB" altLang="en-US" sz="2800" b="0" i="0" u="none" strike="noStrike" cap="none" normalizeH="0" baseline="0" dirty="0">
              <a:ln>
                <a:noFill/>
              </a:ln>
              <a:solidFill>
                <a:schemeClr val="tx1"/>
              </a:solidFill>
              <a:effectLst/>
              <a:latin typeface="Arial" panose="020B0604020202020204" pitchFamily="34" charset="0"/>
            </a:endParaRPr>
          </a:p>
        </p:txBody>
      </p:sp>
      <p:sp>
        <p:nvSpPr>
          <p:cNvPr id="28" name="Rectangle 30">
            <a:extLst>
              <a:ext uri="{FF2B5EF4-FFF2-40B4-BE49-F238E27FC236}">
                <a16:creationId xmlns:a16="http://schemas.microsoft.com/office/drawing/2014/main" id="{2514E37F-0E84-454D-BB42-FC3E4056D4C9}"/>
              </a:ext>
            </a:extLst>
          </p:cNvPr>
          <p:cNvSpPr>
            <a:spLocks noChangeAspect="1" noChangeArrowheads="1"/>
          </p:cNvSpPr>
          <p:nvPr/>
        </p:nvSpPr>
        <p:spPr bwMode="auto">
          <a:xfrm>
            <a:off x="128346" y="4638053"/>
            <a:ext cx="1022119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endParaRPr kumimoji="0" lang="en-GB" altLang="en-US" sz="2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2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endParaRPr kumimoji="0" lang="en-GB"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2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Figure 19 shows synthesised waveform (red) and its components up to  29</a:t>
            </a:r>
            <a:r>
              <a:rPr kumimoji="0" lang="en-GB" altLang="en-US" sz="24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th</a:t>
            </a:r>
            <a:r>
              <a:rPr kumimoji="0" lang="en-GB" altLang="en-US" sz="2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harmonic (odd harmonics only) along with original waveform (black).  </a:t>
            </a:r>
          </a:p>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2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Figure 20 shows line spectrum of waveform of first 7 harmonics.</a:t>
            </a:r>
            <a:r>
              <a:rPr kumimoji="0" lang="en-GB" altLang="en-US"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025257888"/>
      </p:ext>
    </p:extLst>
  </p:cSld>
  <p:clrMapOvr>
    <a:masterClrMapping/>
  </p:clrMapOvr>
  <mc:AlternateContent xmlns:mc="http://schemas.openxmlformats.org/markup-compatibility/2006" xmlns:p14="http://schemas.microsoft.com/office/powerpoint/2010/main">
    <mc:Choice Requires="p14">
      <p:transition spd="slow" p14:dur="2000" advTm="68618"/>
    </mc:Choice>
    <mc:Fallback xmlns="">
      <p:transition spd="slow" advTm="68618"/>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a:bodyPr>
          <a:lstStyle/>
          <a:p>
            <a:pPr algn="l"/>
            <a:r>
              <a:rPr lang="en-GB" dirty="0"/>
              <a:t>Example 5</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B9541352-B348-4135-AFCE-C8BF6E0975D7}"/>
              </a:ext>
            </a:extLst>
          </p:cNvPr>
          <p:cNvSpPr/>
          <p:nvPr/>
        </p:nvSpPr>
        <p:spPr>
          <a:xfrm>
            <a:off x="333463" y="1399534"/>
            <a:ext cx="6259844" cy="4524315"/>
          </a:xfrm>
          <a:prstGeom prst="rect">
            <a:avLst/>
          </a:prstGeom>
        </p:spPr>
        <p:txBody>
          <a:bodyPr wrap="square">
            <a:spAutoFit/>
          </a:bodyPr>
          <a:lstStyle/>
          <a:p>
            <a:r>
              <a:rPr lang="en-US" sz="3200" dirty="0">
                <a:solidFill>
                  <a:srgbClr val="002060"/>
                </a:solidFill>
                <a:latin typeface="Times New Roman" panose="02020603050405020304" pitchFamily="18" charset="0"/>
                <a:cs typeface="Times New Roman" panose="02020603050405020304" pitchFamily="18" charset="0"/>
              </a:rPr>
              <a:t>Determine the Fourier Series of the power electronic circuit waveform shown in Figure 21.  </a:t>
            </a:r>
          </a:p>
          <a:p>
            <a:r>
              <a:rPr lang="en-US" sz="3200" dirty="0">
                <a:solidFill>
                  <a:srgbClr val="002060"/>
                </a:solidFill>
                <a:latin typeface="Times New Roman" panose="02020603050405020304" pitchFamily="18" charset="0"/>
                <a:cs typeface="Times New Roman" panose="02020603050405020304" pitchFamily="18" charset="0"/>
              </a:rPr>
              <a:t>f(t) is defined as follows for one cycle.</a:t>
            </a:r>
          </a:p>
          <a:p>
            <a:r>
              <a:rPr lang="en-US" sz="3200" dirty="0">
                <a:solidFill>
                  <a:srgbClr val="002060"/>
                </a:solidFill>
                <a:latin typeface="Times New Roman" panose="02020603050405020304" pitchFamily="18" charset="0"/>
                <a:cs typeface="Times New Roman" panose="02020603050405020304" pitchFamily="18" charset="0"/>
              </a:rPr>
              <a:t>   f(t) = 100 cos 314.16 t  </a:t>
            </a:r>
          </a:p>
          <a:p>
            <a:r>
              <a:rPr lang="en-US" sz="3200" dirty="0">
                <a:solidFill>
                  <a:srgbClr val="002060"/>
                </a:solidFill>
                <a:latin typeface="Times New Roman" panose="02020603050405020304" pitchFamily="18" charset="0"/>
                <a:cs typeface="Times New Roman" panose="02020603050405020304" pitchFamily="18" charset="0"/>
              </a:rPr>
              <a:t>       for –0.333 &lt; t &lt; 2.5 </a:t>
            </a:r>
            <a:r>
              <a:rPr lang="en-US" sz="3200" dirty="0" err="1">
                <a:solidFill>
                  <a:srgbClr val="002060"/>
                </a:solidFill>
                <a:latin typeface="Times New Roman" panose="02020603050405020304" pitchFamily="18" charset="0"/>
                <a:cs typeface="Times New Roman" panose="02020603050405020304" pitchFamily="18" charset="0"/>
              </a:rPr>
              <a:t>ms</a:t>
            </a:r>
            <a:endParaRPr lang="en-US" sz="3200" dirty="0">
              <a:solidFill>
                <a:srgbClr val="002060"/>
              </a:solidFill>
              <a:latin typeface="Times New Roman" panose="02020603050405020304" pitchFamily="18" charset="0"/>
              <a:cs typeface="Times New Roman" panose="02020603050405020304" pitchFamily="18" charset="0"/>
            </a:endParaRPr>
          </a:p>
          <a:p>
            <a:r>
              <a:rPr lang="en-US" sz="3200" dirty="0">
                <a:solidFill>
                  <a:srgbClr val="002060"/>
                </a:solidFill>
                <a:latin typeface="Times New Roman" panose="02020603050405020304" pitchFamily="18" charset="0"/>
                <a:cs typeface="Times New Roman" panose="02020603050405020304" pitchFamily="18" charset="0"/>
              </a:rPr>
              <a:t>   f(t) = 86.6 cos (314.16 t – 0.5236) </a:t>
            </a:r>
          </a:p>
          <a:p>
            <a:r>
              <a:rPr lang="en-US" sz="3200" dirty="0">
                <a:solidFill>
                  <a:srgbClr val="002060"/>
                </a:solidFill>
                <a:latin typeface="Times New Roman" panose="02020603050405020304" pitchFamily="18" charset="0"/>
                <a:cs typeface="Times New Roman" panose="02020603050405020304" pitchFamily="18" charset="0"/>
              </a:rPr>
              <a:t>       for 2.5 &lt; t &lt; 3.0 </a:t>
            </a:r>
            <a:r>
              <a:rPr lang="en-US" sz="3200" dirty="0" err="1">
                <a:solidFill>
                  <a:srgbClr val="002060"/>
                </a:solidFill>
                <a:latin typeface="Times New Roman" panose="02020603050405020304" pitchFamily="18" charset="0"/>
                <a:cs typeface="Times New Roman" panose="02020603050405020304" pitchFamily="18" charset="0"/>
              </a:rPr>
              <a:t>ms</a:t>
            </a:r>
            <a:endParaRPr lang="en-US" sz="3200" dirty="0">
              <a:solidFill>
                <a:srgbClr val="002060"/>
              </a:solidFill>
              <a:latin typeface="Times New Roman" panose="02020603050405020304" pitchFamily="18" charset="0"/>
              <a:cs typeface="Times New Roman" panose="02020603050405020304" pitchFamily="18" charset="0"/>
            </a:endParaRPr>
          </a:p>
        </p:txBody>
      </p:sp>
      <p:sp>
        <p:nvSpPr>
          <p:cNvPr id="7" name="Text Box 2388">
            <a:extLst>
              <a:ext uri="{FF2B5EF4-FFF2-40B4-BE49-F238E27FC236}">
                <a16:creationId xmlns:a16="http://schemas.microsoft.com/office/drawing/2014/main" id="{B954A5DD-AD40-4558-94A7-D6DB7E98D7A1}"/>
              </a:ext>
            </a:extLst>
          </p:cNvPr>
          <p:cNvSpPr txBox="1">
            <a:spLocks noChangeAspect="1" noChangeArrowheads="1"/>
          </p:cNvSpPr>
          <p:nvPr/>
        </p:nvSpPr>
        <p:spPr bwMode="auto">
          <a:xfrm>
            <a:off x="6096000" y="4235750"/>
            <a:ext cx="6096000" cy="537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Figure 21 – Power electronics waveform</a:t>
            </a:r>
            <a:endParaRPr lang="en-GB" sz="1100">
              <a:effectLst/>
              <a:latin typeface="Times New Roman" panose="02020603050405020304" pitchFamily="18" charset="0"/>
              <a:ea typeface="Times New Roman" panose="02020603050405020304" pitchFamily="18" charset="0"/>
            </a:endParaRPr>
          </a:p>
        </p:txBody>
      </p:sp>
      <p:grpSp>
        <p:nvGrpSpPr>
          <p:cNvPr id="8" name="Group 7">
            <a:extLst>
              <a:ext uri="{FF2B5EF4-FFF2-40B4-BE49-F238E27FC236}">
                <a16:creationId xmlns:a16="http://schemas.microsoft.com/office/drawing/2014/main" id="{1ADFA11F-13EA-4003-A5AE-DB278F3732E2}"/>
              </a:ext>
            </a:extLst>
          </p:cNvPr>
          <p:cNvGrpSpPr>
            <a:grpSpLocks noChangeAspect="1"/>
          </p:cNvGrpSpPr>
          <p:nvPr/>
        </p:nvGrpSpPr>
        <p:grpSpPr bwMode="auto">
          <a:xfrm>
            <a:off x="6689559" y="820593"/>
            <a:ext cx="5376570" cy="3100070"/>
            <a:chOff x="6143" y="7613"/>
            <a:chExt cx="4155" cy="2445"/>
          </a:xfrm>
        </p:grpSpPr>
        <p:cxnSp>
          <p:nvCxnSpPr>
            <p:cNvPr id="9" name="Line 2374">
              <a:extLst>
                <a:ext uri="{FF2B5EF4-FFF2-40B4-BE49-F238E27FC236}">
                  <a16:creationId xmlns:a16="http://schemas.microsoft.com/office/drawing/2014/main" id="{27131940-B979-45E6-AF6F-AA45D4428323}"/>
                </a:ext>
              </a:extLst>
            </p:cNvPr>
            <p:cNvCxnSpPr>
              <a:cxnSpLocks noChangeAspect="1" noChangeShapeType="1"/>
            </p:cNvCxnSpPr>
            <p:nvPr/>
          </p:nvCxnSpPr>
          <p:spPr bwMode="auto">
            <a:xfrm>
              <a:off x="7178" y="7718"/>
              <a:ext cx="0" cy="1980"/>
            </a:xfrm>
            <a:prstGeom prst="line">
              <a:avLst/>
            </a:prstGeom>
            <a:noFill/>
            <a:ln w="3492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10" name="Line 2375">
              <a:extLst>
                <a:ext uri="{FF2B5EF4-FFF2-40B4-BE49-F238E27FC236}">
                  <a16:creationId xmlns:a16="http://schemas.microsoft.com/office/drawing/2014/main" id="{D15F12A9-E3A9-4B91-ACC5-4AD367782B27}"/>
                </a:ext>
              </a:extLst>
            </p:cNvPr>
            <p:cNvCxnSpPr>
              <a:cxnSpLocks noChangeAspect="1" noChangeShapeType="1"/>
            </p:cNvCxnSpPr>
            <p:nvPr/>
          </p:nvCxnSpPr>
          <p:spPr bwMode="auto">
            <a:xfrm>
              <a:off x="6338" y="9698"/>
              <a:ext cx="3720" cy="0"/>
            </a:xfrm>
            <a:prstGeom prst="line">
              <a:avLst/>
            </a:prstGeom>
            <a:noFill/>
            <a:ln w="34925">
              <a:solidFill>
                <a:srgbClr val="002060"/>
              </a:solidFill>
              <a:round/>
              <a:headEnd/>
              <a:tailEnd type="arrow" w="med" len="med"/>
            </a:ln>
            <a:extLst>
              <a:ext uri="{909E8E84-426E-40DD-AFC4-6F175D3DCCD1}">
                <a14:hiddenFill xmlns:a14="http://schemas.microsoft.com/office/drawing/2010/main">
                  <a:noFill/>
                </a14:hiddenFill>
              </a:ext>
            </a:extLst>
          </p:spPr>
        </p:cxnSp>
        <p:grpSp>
          <p:nvGrpSpPr>
            <p:cNvPr id="11" name="Group 10">
              <a:extLst>
                <a:ext uri="{FF2B5EF4-FFF2-40B4-BE49-F238E27FC236}">
                  <a16:creationId xmlns:a16="http://schemas.microsoft.com/office/drawing/2014/main" id="{87EB4003-D7FC-4593-BC0F-2EA41482D083}"/>
                </a:ext>
              </a:extLst>
            </p:cNvPr>
            <p:cNvGrpSpPr>
              <a:grpSpLocks noChangeAspect="1"/>
            </p:cNvGrpSpPr>
            <p:nvPr/>
          </p:nvGrpSpPr>
          <p:grpSpPr bwMode="auto">
            <a:xfrm>
              <a:off x="6143" y="8108"/>
              <a:ext cx="3990" cy="901"/>
              <a:chOff x="6143" y="8288"/>
              <a:chExt cx="3990" cy="901"/>
            </a:xfrm>
          </p:grpSpPr>
          <p:sp>
            <p:nvSpPr>
              <p:cNvPr id="15" name="Arc 2377">
                <a:extLst>
                  <a:ext uri="{FF2B5EF4-FFF2-40B4-BE49-F238E27FC236}">
                    <a16:creationId xmlns:a16="http://schemas.microsoft.com/office/drawing/2014/main" id="{56BEC5BF-17FA-4F56-9ED2-68E2BF91FB31}"/>
                  </a:ext>
                </a:extLst>
              </p:cNvPr>
              <p:cNvSpPr>
                <a:spLocks noChangeAspect="1"/>
              </p:cNvSpPr>
              <p:nvPr/>
            </p:nvSpPr>
            <p:spPr bwMode="auto">
              <a:xfrm>
                <a:off x="6738" y="8289"/>
                <a:ext cx="1280" cy="900"/>
              </a:xfrm>
              <a:custGeom>
                <a:avLst/>
                <a:gdLst>
                  <a:gd name="G0" fmla="+- 10226 0 0"/>
                  <a:gd name="G1" fmla="+- 21600 0 0"/>
                  <a:gd name="G2" fmla="+- 21600 0 0"/>
                  <a:gd name="T0" fmla="*/ 0 w 29728"/>
                  <a:gd name="T1" fmla="*/ 2574 h 21600"/>
                  <a:gd name="T2" fmla="*/ 29728 w 29728"/>
                  <a:gd name="T3" fmla="*/ 12313 h 21600"/>
                  <a:gd name="T4" fmla="*/ 10226 w 29728"/>
                  <a:gd name="T5" fmla="*/ 21600 h 21600"/>
                </a:gdLst>
                <a:ahLst/>
                <a:cxnLst>
                  <a:cxn ang="0">
                    <a:pos x="T0" y="T1"/>
                  </a:cxn>
                  <a:cxn ang="0">
                    <a:pos x="T2" y="T3"/>
                  </a:cxn>
                  <a:cxn ang="0">
                    <a:pos x="T4" y="T5"/>
                  </a:cxn>
                </a:cxnLst>
                <a:rect l="0" t="0" r="r" b="b"/>
                <a:pathLst>
                  <a:path w="29728" h="21600" fill="none" extrusionOk="0">
                    <a:moveTo>
                      <a:pt x="-1" y="2573"/>
                    </a:moveTo>
                    <a:cubicBezTo>
                      <a:pt x="3143" y="884"/>
                      <a:pt x="6657" y="0"/>
                      <a:pt x="10226" y="0"/>
                    </a:cubicBezTo>
                    <a:cubicBezTo>
                      <a:pt x="18557" y="0"/>
                      <a:pt x="26145" y="4791"/>
                      <a:pt x="29727" y="12313"/>
                    </a:cubicBezTo>
                  </a:path>
                  <a:path w="29728" h="21600" stroke="0" extrusionOk="0">
                    <a:moveTo>
                      <a:pt x="-1" y="2573"/>
                    </a:moveTo>
                    <a:cubicBezTo>
                      <a:pt x="3143" y="884"/>
                      <a:pt x="6657" y="0"/>
                      <a:pt x="10226" y="0"/>
                    </a:cubicBezTo>
                    <a:cubicBezTo>
                      <a:pt x="18557" y="0"/>
                      <a:pt x="26145" y="4791"/>
                      <a:pt x="29727" y="12313"/>
                    </a:cubicBezTo>
                    <a:lnTo>
                      <a:pt x="10226" y="21600"/>
                    </a:lnTo>
                    <a:close/>
                  </a:path>
                </a:pathLst>
              </a:custGeom>
              <a:noFill/>
              <a:ln w="34925">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16" name="Line 2378">
                <a:extLst>
                  <a:ext uri="{FF2B5EF4-FFF2-40B4-BE49-F238E27FC236}">
                    <a16:creationId xmlns:a16="http://schemas.microsoft.com/office/drawing/2014/main" id="{CBFA36D7-F3EC-44CF-9C57-0EAAD0970521}"/>
                  </a:ext>
                </a:extLst>
              </p:cNvPr>
              <p:cNvCxnSpPr>
                <a:cxnSpLocks noChangeAspect="1" noChangeShapeType="1"/>
              </p:cNvCxnSpPr>
              <p:nvPr/>
            </p:nvCxnSpPr>
            <p:spPr bwMode="auto">
              <a:xfrm flipV="1">
                <a:off x="8018" y="8513"/>
                <a:ext cx="0" cy="289"/>
              </a:xfrm>
              <a:prstGeom prst="line">
                <a:avLst/>
              </a:prstGeom>
              <a:noFill/>
              <a:ln w="34925">
                <a:solidFill>
                  <a:srgbClr val="C00000"/>
                </a:solidFill>
                <a:round/>
                <a:headEnd/>
                <a:tailEnd/>
              </a:ln>
              <a:extLst>
                <a:ext uri="{909E8E84-426E-40DD-AFC4-6F175D3DCCD1}">
                  <a14:hiddenFill xmlns:a14="http://schemas.microsoft.com/office/drawing/2010/main">
                    <a:noFill/>
                  </a14:hiddenFill>
                </a:ext>
              </a:extLst>
            </p:spPr>
          </p:cxnSp>
          <p:sp>
            <p:nvSpPr>
              <p:cNvPr id="17" name="Arc 2379">
                <a:extLst>
                  <a:ext uri="{FF2B5EF4-FFF2-40B4-BE49-F238E27FC236}">
                    <a16:creationId xmlns:a16="http://schemas.microsoft.com/office/drawing/2014/main" id="{BE809BF0-949B-46C7-8AEF-DB8654EDBD42}"/>
                  </a:ext>
                </a:extLst>
              </p:cNvPr>
              <p:cNvSpPr>
                <a:spLocks noChangeAspect="1"/>
              </p:cNvSpPr>
              <p:nvPr/>
            </p:nvSpPr>
            <p:spPr bwMode="auto">
              <a:xfrm>
                <a:off x="7853" y="8525"/>
                <a:ext cx="600" cy="620"/>
              </a:xfrm>
              <a:custGeom>
                <a:avLst/>
                <a:gdLst>
                  <a:gd name="G0" fmla="+- 0 0 0"/>
                  <a:gd name="G1" fmla="+- 21252 0 0"/>
                  <a:gd name="G2" fmla="+- 21600 0 0"/>
                  <a:gd name="T0" fmla="*/ 3861 w 13940"/>
                  <a:gd name="T1" fmla="*/ 0 h 21252"/>
                  <a:gd name="T2" fmla="*/ 13940 w 13940"/>
                  <a:gd name="T3" fmla="*/ 4753 h 21252"/>
                  <a:gd name="T4" fmla="*/ 0 w 13940"/>
                  <a:gd name="T5" fmla="*/ 21252 h 21252"/>
                </a:gdLst>
                <a:ahLst/>
                <a:cxnLst>
                  <a:cxn ang="0">
                    <a:pos x="T0" y="T1"/>
                  </a:cxn>
                  <a:cxn ang="0">
                    <a:pos x="T2" y="T3"/>
                  </a:cxn>
                  <a:cxn ang="0">
                    <a:pos x="T4" y="T5"/>
                  </a:cxn>
                </a:cxnLst>
                <a:rect l="0" t="0" r="r" b="b"/>
                <a:pathLst>
                  <a:path w="13940" h="21252" fill="none" extrusionOk="0">
                    <a:moveTo>
                      <a:pt x="3861" y="-1"/>
                    </a:moveTo>
                    <a:cubicBezTo>
                      <a:pt x="7578" y="675"/>
                      <a:pt x="11054" y="2314"/>
                      <a:pt x="13940" y="4752"/>
                    </a:cubicBezTo>
                  </a:path>
                  <a:path w="13940" h="21252" stroke="0" extrusionOk="0">
                    <a:moveTo>
                      <a:pt x="3861" y="-1"/>
                    </a:moveTo>
                    <a:cubicBezTo>
                      <a:pt x="7578" y="675"/>
                      <a:pt x="11054" y="2314"/>
                      <a:pt x="13940" y="4752"/>
                    </a:cubicBezTo>
                    <a:lnTo>
                      <a:pt x="0" y="21252"/>
                    </a:lnTo>
                    <a:close/>
                  </a:path>
                </a:pathLst>
              </a:custGeom>
              <a:noFill/>
              <a:ln w="34925">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8" name="Arc 2380">
                <a:extLst>
                  <a:ext uri="{FF2B5EF4-FFF2-40B4-BE49-F238E27FC236}">
                    <a16:creationId xmlns:a16="http://schemas.microsoft.com/office/drawing/2014/main" id="{62263002-AFFF-4A60-BF61-CB6511679222}"/>
                  </a:ext>
                </a:extLst>
              </p:cNvPr>
              <p:cNvSpPr>
                <a:spLocks noChangeAspect="1"/>
              </p:cNvSpPr>
              <p:nvPr/>
            </p:nvSpPr>
            <p:spPr bwMode="auto">
              <a:xfrm>
                <a:off x="8433" y="8288"/>
                <a:ext cx="1280" cy="900"/>
              </a:xfrm>
              <a:custGeom>
                <a:avLst/>
                <a:gdLst>
                  <a:gd name="G0" fmla="+- 10226 0 0"/>
                  <a:gd name="G1" fmla="+- 21600 0 0"/>
                  <a:gd name="G2" fmla="+- 21600 0 0"/>
                  <a:gd name="T0" fmla="*/ 0 w 29728"/>
                  <a:gd name="T1" fmla="*/ 2574 h 21600"/>
                  <a:gd name="T2" fmla="*/ 29728 w 29728"/>
                  <a:gd name="T3" fmla="*/ 12313 h 21600"/>
                  <a:gd name="T4" fmla="*/ 10226 w 29728"/>
                  <a:gd name="T5" fmla="*/ 21600 h 21600"/>
                </a:gdLst>
                <a:ahLst/>
                <a:cxnLst>
                  <a:cxn ang="0">
                    <a:pos x="T0" y="T1"/>
                  </a:cxn>
                  <a:cxn ang="0">
                    <a:pos x="T2" y="T3"/>
                  </a:cxn>
                  <a:cxn ang="0">
                    <a:pos x="T4" y="T5"/>
                  </a:cxn>
                </a:cxnLst>
                <a:rect l="0" t="0" r="r" b="b"/>
                <a:pathLst>
                  <a:path w="29728" h="21600" fill="none" extrusionOk="0">
                    <a:moveTo>
                      <a:pt x="-1" y="2573"/>
                    </a:moveTo>
                    <a:cubicBezTo>
                      <a:pt x="3143" y="884"/>
                      <a:pt x="6657" y="0"/>
                      <a:pt x="10226" y="0"/>
                    </a:cubicBezTo>
                    <a:cubicBezTo>
                      <a:pt x="18557" y="0"/>
                      <a:pt x="26145" y="4791"/>
                      <a:pt x="29727" y="12313"/>
                    </a:cubicBezTo>
                  </a:path>
                  <a:path w="29728" h="21600" stroke="0" extrusionOk="0">
                    <a:moveTo>
                      <a:pt x="-1" y="2573"/>
                    </a:moveTo>
                    <a:cubicBezTo>
                      <a:pt x="3143" y="884"/>
                      <a:pt x="6657" y="0"/>
                      <a:pt x="10226" y="0"/>
                    </a:cubicBezTo>
                    <a:cubicBezTo>
                      <a:pt x="18557" y="0"/>
                      <a:pt x="26145" y="4791"/>
                      <a:pt x="29727" y="12313"/>
                    </a:cubicBezTo>
                    <a:lnTo>
                      <a:pt x="10226" y="21600"/>
                    </a:lnTo>
                    <a:close/>
                  </a:path>
                </a:pathLst>
              </a:custGeom>
              <a:noFill/>
              <a:ln w="34925">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19" name="Line 2381">
                <a:extLst>
                  <a:ext uri="{FF2B5EF4-FFF2-40B4-BE49-F238E27FC236}">
                    <a16:creationId xmlns:a16="http://schemas.microsoft.com/office/drawing/2014/main" id="{43848815-48CB-4863-887E-7C22635A4B5A}"/>
                  </a:ext>
                </a:extLst>
              </p:cNvPr>
              <p:cNvCxnSpPr>
                <a:cxnSpLocks noChangeAspect="1" noChangeShapeType="1"/>
              </p:cNvCxnSpPr>
              <p:nvPr/>
            </p:nvCxnSpPr>
            <p:spPr bwMode="auto">
              <a:xfrm flipV="1">
                <a:off x="8438" y="8374"/>
                <a:ext cx="0" cy="289"/>
              </a:xfrm>
              <a:prstGeom prst="line">
                <a:avLst/>
              </a:prstGeom>
              <a:noFill/>
              <a:ln w="34925">
                <a:solidFill>
                  <a:srgbClr val="C00000"/>
                </a:solidFill>
                <a:round/>
                <a:headEnd/>
                <a:tailEnd/>
              </a:ln>
              <a:extLst>
                <a:ext uri="{909E8E84-426E-40DD-AFC4-6F175D3DCCD1}">
                  <a14:hiddenFill xmlns:a14="http://schemas.microsoft.com/office/drawing/2010/main">
                    <a:noFill/>
                  </a14:hiddenFill>
                </a:ext>
              </a:extLst>
            </p:spPr>
          </p:cxnSp>
          <p:cxnSp>
            <p:nvCxnSpPr>
              <p:cNvPr id="20" name="Line 2382">
                <a:extLst>
                  <a:ext uri="{FF2B5EF4-FFF2-40B4-BE49-F238E27FC236}">
                    <a16:creationId xmlns:a16="http://schemas.microsoft.com/office/drawing/2014/main" id="{0BE48023-08C2-4BA0-995A-F4C9A5862643}"/>
                  </a:ext>
                </a:extLst>
              </p:cNvPr>
              <p:cNvCxnSpPr>
                <a:cxnSpLocks noChangeAspect="1" noChangeShapeType="1"/>
              </p:cNvCxnSpPr>
              <p:nvPr/>
            </p:nvCxnSpPr>
            <p:spPr bwMode="auto">
              <a:xfrm flipV="1">
                <a:off x="9698" y="8526"/>
                <a:ext cx="0" cy="289"/>
              </a:xfrm>
              <a:prstGeom prst="line">
                <a:avLst/>
              </a:prstGeom>
              <a:noFill/>
              <a:ln w="34925">
                <a:solidFill>
                  <a:srgbClr val="C00000"/>
                </a:solidFill>
                <a:round/>
                <a:headEnd/>
                <a:tailEnd/>
              </a:ln>
              <a:extLst>
                <a:ext uri="{909E8E84-426E-40DD-AFC4-6F175D3DCCD1}">
                  <a14:hiddenFill xmlns:a14="http://schemas.microsoft.com/office/drawing/2010/main">
                    <a:noFill/>
                  </a14:hiddenFill>
                </a:ext>
              </a:extLst>
            </p:spPr>
          </p:cxnSp>
          <p:sp>
            <p:nvSpPr>
              <p:cNvPr id="21" name="Arc 2383">
                <a:extLst>
                  <a:ext uri="{FF2B5EF4-FFF2-40B4-BE49-F238E27FC236}">
                    <a16:creationId xmlns:a16="http://schemas.microsoft.com/office/drawing/2014/main" id="{9267F3B6-F4D7-438F-BE88-950B36298EF4}"/>
                  </a:ext>
                </a:extLst>
              </p:cNvPr>
              <p:cNvSpPr>
                <a:spLocks noChangeAspect="1"/>
              </p:cNvSpPr>
              <p:nvPr/>
            </p:nvSpPr>
            <p:spPr bwMode="auto">
              <a:xfrm>
                <a:off x="9533" y="8538"/>
                <a:ext cx="600" cy="620"/>
              </a:xfrm>
              <a:custGeom>
                <a:avLst/>
                <a:gdLst>
                  <a:gd name="G0" fmla="+- 0 0 0"/>
                  <a:gd name="G1" fmla="+- 21252 0 0"/>
                  <a:gd name="G2" fmla="+- 21600 0 0"/>
                  <a:gd name="T0" fmla="*/ 3861 w 13940"/>
                  <a:gd name="T1" fmla="*/ 0 h 21252"/>
                  <a:gd name="T2" fmla="*/ 13940 w 13940"/>
                  <a:gd name="T3" fmla="*/ 4753 h 21252"/>
                  <a:gd name="T4" fmla="*/ 0 w 13940"/>
                  <a:gd name="T5" fmla="*/ 21252 h 21252"/>
                </a:gdLst>
                <a:ahLst/>
                <a:cxnLst>
                  <a:cxn ang="0">
                    <a:pos x="T0" y="T1"/>
                  </a:cxn>
                  <a:cxn ang="0">
                    <a:pos x="T2" y="T3"/>
                  </a:cxn>
                  <a:cxn ang="0">
                    <a:pos x="T4" y="T5"/>
                  </a:cxn>
                </a:cxnLst>
                <a:rect l="0" t="0" r="r" b="b"/>
                <a:pathLst>
                  <a:path w="13940" h="21252" fill="none" extrusionOk="0">
                    <a:moveTo>
                      <a:pt x="3861" y="-1"/>
                    </a:moveTo>
                    <a:cubicBezTo>
                      <a:pt x="7578" y="675"/>
                      <a:pt x="11054" y="2314"/>
                      <a:pt x="13940" y="4752"/>
                    </a:cubicBezTo>
                  </a:path>
                  <a:path w="13940" h="21252" stroke="0" extrusionOk="0">
                    <a:moveTo>
                      <a:pt x="3861" y="-1"/>
                    </a:moveTo>
                    <a:cubicBezTo>
                      <a:pt x="7578" y="675"/>
                      <a:pt x="11054" y="2314"/>
                      <a:pt x="13940" y="4752"/>
                    </a:cubicBezTo>
                    <a:lnTo>
                      <a:pt x="0" y="21252"/>
                    </a:lnTo>
                    <a:close/>
                  </a:path>
                </a:pathLst>
              </a:custGeom>
              <a:noFill/>
              <a:ln w="34925">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22" name="Line 2384">
                <a:extLst>
                  <a:ext uri="{FF2B5EF4-FFF2-40B4-BE49-F238E27FC236}">
                    <a16:creationId xmlns:a16="http://schemas.microsoft.com/office/drawing/2014/main" id="{912C6935-32B2-405F-B1E3-3C9949F07666}"/>
                  </a:ext>
                </a:extLst>
              </p:cNvPr>
              <p:cNvCxnSpPr>
                <a:cxnSpLocks noChangeAspect="1" noChangeShapeType="1"/>
              </p:cNvCxnSpPr>
              <p:nvPr/>
            </p:nvCxnSpPr>
            <p:spPr bwMode="auto">
              <a:xfrm flipV="1">
                <a:off x="6308" y="8526"/>
                <a:ext cx="0" cy="289"/>
              </a:xfrm>
              <a:prstGeom prst="line">
                <a:avLst/>
              </a:prstGeom>
              <a:noFill/>
              <a:ln w="34925">
                <a:solidFill>
                  <a:srgbClr val="C00000"/>
                </a:solidFill>
                <a:round/>
                <a:headEnd/>
                <a:tailEnd/>
              </a:ln>
              <a:extLst>
                <a:ext uri="{909E8E84-426E-40DD-AFC4-6F175D3DCCD1}">
                  <a14:hiddenFill xmlns:a14="http://schemas.microsoft.com/office/drawing/2010/main">
                    <a:noFill/>
                  </a14:hiddenFill>
                </a:ext>
              </a:extLst>
            </p:spPr>
          </p:cxnSp>
          <p:sp>
            <p:nvSpPr>
              <p:cNvPr id="23" name="Arc 2385">
                <a:extLst>
                  <a:ext uri="{FF2B5EF4-FFF2-40B4-BE49-F238E27FC236}">
                    <a16:creationId xmlns:a16="http://schemas.microsoft.com/office/drawing/2014/main" id="{DD09B40A-EBA0-445F-9BDD-EE94E2F07ACB}"/>
                  </a:ext>
                </a:extLst>
              </p:cNvPr>
              <p:cNvSpPr>
                <a:spLocks noChangeAspect="1"/>
              </p:cNvSpPr>
              <p:nvPr/>
            </p:nvSpPr>
            <p:spPr bwMode="auto">
              <a:xfrm>
                <a:off x="6143" y="8538"/>
                <a:ext cx="600" cy="620"/>
              </a:xfrm>
              <a:custGeom>
                <a:avLst/>
                <a:gdLst>
                  <a:gd name="G0" fmla="+- 0 0 0"/>
                  <a:gd name="G1" fmla="+- 21252 0 0"/>
                  <a:gd name="G2" fmla="+- 21600 0 0"/>
                  <a:gd name="T0" fmla="*/ 3861 w 13940"/>
                  <a:gd name="T1" fmla="*/ 0 h 21252"/>
                  <a:gd name="T2" fmla="*/ 13940 w 13940"/>
                  <a:gd name="T3" fmla="*/ 4753 h 21252"/>
                  <a:gd name="T4" fmla="*/ 0 w 13940"/>
                  <a:gd name="T5" fmla="*/ 21252 h 21252"/>
                </a:gdLst>
                <a:ahLst/>
                <a:cxnLst>
                  <a:cxn ang="0">
                    <a:pos x="T0" y="T1"/>
                  </a:cxn>
                  <a:cxn ang="0">
                    <a:pos x="T2" y="T3"/>
                  </a:cxn>
                  <a:cxn ang="0">
                    <a:pos x="T4" y="T5"/>
                  </a:cxn>
                </a:cxnLst>
                <a:rect l="0" t="0" r="r" b="b"/>
                <a:pathLst>
                  <a:path w="13940" h="21252" fill="none" extrusionOk="0">
                    <a:moveTo>
                      <a:pt x="3861" y="-1"/>
                    </a:moveTo>
                    <a:cubicBezTo>
                      <a:pt x="7578" y="675"/>
                      <a:pt x="11054" y="2314"/>
                      <a:pt x="13940" y="4752"/>
                    </a:cubicBezTo>
                  </a:path>
                  <a:path w="13940" h="21252" stroke="0" extrusionOk="0">
                    <a:moveTo>
                      <a:pt x="3861" y="-1"/>
                    </a:moveTo>
                    <a:cubicBezTo>
                      <a:pt x="7578" y="675"/>
                      <a:pt x="11054" y="2314"/>
                      <a:pt x="13940" y="4752"/>
                    </a:cubicBezTo>
                    <a:lnTo>
                      <a:pt x="0" y="21252"/>
                    </a:lnTo>
                    <a:close/>
                  </a:path>
                </a:pathLst>
              </a:custGeom>
              <a:noFill/>
              <a:ln w="34925">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24" name="Line 2386">
                <a:extLst>
                  <a:ext uri="{FF2B5EF4-FFF2-40B4-BE49-F238E27FC236}">
                    <a16:creationId xmlns:a16="http://schemas.microsoft.com/office/drawing/2014/main" id="{F45AA04C-B55A-4924-AA30-9B534B7B3549}"/>
                  </a:ext>
                </a:extLst>
              </p:cNvPr>
              <p:cNvCxnSpPr>
                <a:cxnSpLocks noChangeAspect="1" noChangeShapeType="1"/>
              </p:cNvCxnSpPr>
              <p:nvPr/>
            </p:nvCxnSpPr>
            <p:spPr bwMode="auto">
              <a:xfrm flipV="1">
                <a:off x="6728" y="8387"/>
                <a:ext cx="0" cy="289"/>
              </a:xfrm>
              <a:prstGeom prst="line">
                <a:avLst/>
              </a:prstGeom>
              <a:noFill/>
              <a:ln w="34925">
                <a:solidFill>
                  <a:srgbClr val="C00000"/>
                </a:solidFill>
                <a:round/>
                <a:headEnd/>
                <a:tailEnd/>
              </a:ln>
              <a:extLst>
                <a:ext uri="{909E8E84-426E-40DD-AFC4-6F175D3DCCD1}">
                  <a14:hiddenFill xmlns:a14="http://schemas.microsoft.com/office/drawing/2010/main">
                    <a:noFill/>
                  </a14:hiddenFill>
                </a:ext>
              </a:extLst>
            </p:spPr>
          </p:cxnSp>
        </p:grpSp>
        <p:sp>
          <p:nvSpPr>
            <p:cNvPr id="12" name="Text Box 2387">
              <a:extLst>
                <a:ext uri="{FF2B5EF4-FFF2-40B4-BE49-F238E27FC236}">
                  <a16:creationId xmlns:a16="http://schemas.microsoft.com/office/drawing/2014/main" id="{C6C71027-CB7B-4020-B21A-194DEB5C210F}"/>
                </a:ext>
              </a:extLst>
            </p:cNvPr>
            <p:cNvSpPr txBox="1">
              <a:spLocks noChangeAspect="1" noChangeArrowheads="1"/>
            </p:cNvSpPr>
            <p:nvPr/>
          </p:nvSpPr>
          <p:spPr bwMode="auto">
            <a:xfrm>
              <a:off x="9458" y="9278"/>
              <a:ext cx="73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1200"/>
                </a:spcBef>
                <a:spcAft>
                  <a:spcPts val="0"/>
                </a:spcAft>
              </a:pPr>
              <a:r>
                <a:rPr lang="en-GB" sz="2200">
                  <a:solidFill>
                    <a:srgbClr val="002060"/>
                  </a:solidFill>
                  <a:effectLst/>
                  <a:latin typeface="Times New Roman" panose="02020603050405020304" pitchFamily="18" charset="0"/>
                  <a:ea typeface="Times New Roman" panose="02020603050405020304" pitchFamily="18" charset="0"/>
                </a:rPr>
                <a:t>t (ms)</a:t>
              </a:r>
              <a:endParaRPr lang="en-GB" sz="1200">
                <a:effectLst/>
                <a:latin typeface="Times New Roman" panose="02020603050405020304" pitchFamily="18" charset="0"/>
                <a:ea typeface="Times New Roman" panose="02020603050405020304" pitchFamily="18" charset="0"/>
              </a:endParaRPr>
            </a:p>
          </p:txBody>
        </p:sp>
        <p:sp>
          <p:nvSpPr>
            <p:cNvPr id="13" name="Text Box 2389">
              <a:extLst>
                <a:ext uri="{FF2B5EF4-FFF2-40B4-BE49-F238E27FC236}">
                  <a16:creationId xmlns:a16="http://schemas.microsoft.com/office/drawing/2014/main" id="{EE49FDF6-5680-434B-8AF9-B90FF45B5D8E}"/>
                </a:ext>
              </a:extLst>
            </p:cNvPr>
            <p:cNvSpPr txBox="1">
              <a:spLocks noChangeAspect="1" noChangeArrowheads="1"/>
            </p:cNvSpPr>
            <p:nvPr/>
          </p:nvSpPr>
          <p:spPr bwMode="auto">
            <a:xfrm>
              <a:off x="6218" y="9698"/>
              <a:ext cx="40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200">
                  <a:solidFill>
                    <a:srgbClr val="002060"/>
                  </a:solidFill>
                  <a:effectLst/>
                  <a:latin typeface="Times New Roman" panose="02020603050405020304" pitchFamily="18" charset="0"/>
                  <a:ea typeface="Times New Roman" panose="02020603050405020304" pitchFamily="18" charset="0"/>
                </a:rPr>
                <a:t>    -0.333   0           2.5    3.0                 5.833</a:t>
              </a:r>
              <a:endParaRPr lang="en-GB" sz="1200">
                <a:effectLst/>
                <a:latin typeface="Times New Roman" panose="02020603050405020304" pitchFamily="18" charset="0"/>
                <a:ea typeface="Times New Roman" panose="02020603050405020304" pitchFamily="18" charset="0"/>
              </a:endParaRPr>
            </a:p>
          </p:txBody>
        </p:sp>
        <p:sp>
          <p:nvSpPr>
            <p:cNvPr id="14" name="Text Box 2390">
              <a:extLst>
                <a:ext uri="{FF2B5EF4-FFF2-40B4-BE49-F238E27FC236}">
                  <a16:creationId xmlns:a16="http://schemas.microsoft.com/office/drawing/2014/main" id="{7BF454D0-9887-435A-A817-D1283812AC9D}"/>
                </a:ext>
              </a:extLst>
            </p:cNvPr>
            <p:cNvSpPr txBox="1">
              <a:spLocks noChangeAspect="1" noChangeArrowheads="1"/>
            </p:cNvSpPr>
            <p:nvPr/>
          </p:nvSpPr>
          <p:spPr bwMode="auto">
            <a:xfrm>
              <a:off x="7313" y="7613"/>
              <a:ext cx="46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200">
                  <a:solidFill>
                    <a:srgbClr val="002060"/>
                  </a:solidFill>
                  <a:effectLst/>
                  <a:latin typeface="Times New Roman" panose="02020603050405020304" pitchFamily="18" charset="0"/>
                  <a:ea typeface="Times New Roman" panose="02020603050405020304" pitchFamily="18" charset="0"/>
                </a:rPr>
                <a:t>f(t)</a:t>
              </a:r>
              <a:endParaRPr lang="en-GB" sz="1200">
                <a:effectLst/>
                <a:latin typeface="Times New Roman" panose="02020603050405020304" pitchFamily="18" charset="0"/>
                <a:ea typeface="Times New Roman" panose="02020603050405020304" pitchFamily="18" charset="0"/>
              </a:endParaRPr>
            </a:p>
          </p:txBody>
        </p:sp>
      </p:grpSp>
    </p:spTree>
    <p:extLst>
      <p:ext uri="{BB962C8B-B14F-4D97-AF65-F5344CB8AC3E}">
        <p14:creationId xmlns:p14="http://schemas.microsoft.com/office/powerpoint/2010/main" val="3317399008"/>
      </p:ext>
    </p:extLst>
  </p:cSld>
  <p:clrMapOvr>
    <a:masterClrMapping/>
  </p:clrMapOvr>
  <mc:AlternateContent xmlns:mc="http://schemas.openxmlformats.org/markup-compatibility/2006" xmlns:p14="http://schemas.microsoft.com/office/powerpoint/2010/main">
    <mc:Choice Requires="p14">
      <p:transition spd="slow" p14:dur="2000" advTm="53536"/>
    </mc:Choice>
    <mc:Fallback xmlns="">
      <p:transition spd="slow" advTm="53536"/>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490165"/>
            <a:ext cx="10924085" cy="553998"/>
          </a:xfrm>
        </p:spPr>
        <p:txBody>
          <a:bodyPr>
            <a:normAutofit fontScale="90000"/>
          </a:bodyPr>
          <a:lstStyle/>
          <a:p>
            <a:pPr algn="l"/>
            <a:r>
              <a:rPr lang="en-US" sz="3600" dirty="0"/>
              <a:t>Solution</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B42DC794-D24A-4EB1-B14F-6E6A9952C103}"/>
              </a:ext>
            </a:extLst>
          </p:cNvPr>
          <p:cNvGraphicFramePr>
            <a:graphicFrameLocks noChangeAspect="1"/>
          </p:cNvGraphicFramePr>
          <p:nvPr>
            <p:extLst>
              <p:ext uri="{D42A27DB-BD31-4B8C-83A1-F6EECF244321}">
                <p14:modId xmlns:p14="http://schemas.microsoft.com/office/powerpoint/2010/main" val="822781149"/>
              </p:ext>
            </p:extLst>
          </p:nvPr>
        </p:nvGraphicFramePr>
        <p:xfrm>
          <a:off x="429715" y="2848208"/>
          <a:ext cx="11834268" cy="1238250"/>
        </p:xfrm>
        <a:graphic>
          <a:graphicData uri="http://schemas.openxmlformats.org/presentationml/2006/ole">
            <mc:AlternateContent xmlns:mc="http://schemas.openxmlformats.org/markup-compatibility/2006">
              <mc:Choice xmlns:v="urn:schemas-microsoft-com:vml" Requires="v">
                <p:oleObj r:id="rId3" imgW="5308600" imgH="533400" progId="Equation.3">
                  <p:embed/>
                </p:oleObj>
              </mc:Choice>
              <mc:Fallback>
                <p:oleObj r:id="rId3" imgW="5308600" imgH="533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715" y="2848208"/>
                        <a:ext cx="11834268" cy="1238250"/>
                      </a:xfrm>
                      <a:prstGeom prst="rect">
                        <a:avLst/>
                      </a:prstGeom>
                      <a:noFill/>
                    </p:spPr>
                  </p:pic>
                </p:oleObj>
              </mc:Fallback>
            </mc:AlternateContent>
          </a:graphicData>
        </a:graphic>
      </p:graphicFrame>
      <p:graphicFrame>
        <p:nvGraphicFramePr>
          <p:cNvPr id="4" name="Object 3">
            <a:extLst>
              <a:ext uri="{FF2B5EF4-FFF2-40B4-BE49-F238E27FC236}">
                <a16:creationId xmlns:a16="http://schemas.microsoft.com/office/drawing/2014/main" id="{A6667BAC-EDB4-46CE-B37D-90AF19275762}"/>
              </a:ext>
            </a:extLst>
          </p:cNvPr>
          <p:cNvGraphicFramePr>
            <a:graphicFrameLocks noChangeAspect="1"/>
          </p:cNvGraphicFramePr>
          <p:nvPr>
            <p:extLst>
              <p:ext uri="{D42A27DB-BD31-4B8C-83A1-F6EECF244321}">
                <p14:modId xmlns:p14="http://schemas.microsoft.com/office/powerpoint/2010/main" val="421228672"/>
              </p:ext>
            </p:extLst>
          </p:nvPr>
        </p:nvGraphicFramePr>
        <p:xfrm>
          <a:off x="429715" y="4310435"/>
          <a:ext cx="9676811" cy="2057400"/>
        </p:xfrm>
        <a:graphic>
          <a:graphicData uri="http://schemas.openxmlformats.org/presentationml/2006/ole">
            <mc:AlternateContent xmlns:mc="http://schemas.openxmlformats.org/markup-compatibility/2006">
              <mc:Choice xmlns:v="urn:schemas-microsoft-com:vml" Requires="v">
                <p:oleObj r:id="rId5" imgW="4699000" imgH="863600" progId="Equation.3">
                  <p:embed/>
                </p:oleObj>
              </mc:Choice>
              <mc:Fallback>
                <p:oleObj r:id="rId5" imgW="4699000" imgH="8636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9715" y="4310435"/>
                        <a:ext cx="9676811" cy="2057400"/>
                      </a:xfrm>
                      <a:prstGeom prst="rect">
                        <a:avLst/>
                      </a:prstGeom>
                      <a:noFill/>
                    </p:spPr>
                  </p:pic>
                </p:oleObj>
              </mc:Fallback>
            </mc:AlternateContent>
          </a:graphicData>
        </a:graphic>
      </p:graphicFrame>
      <p:sp>
        <p:nvSpPr>
          <p:cNvPr id="5" name="Rectangle 3">
            <a:extLst>
              <a:ext uri="{FF2B5EF4-FFF2-40B4-BE49-F238E27FC236}">
                <a16:creationId xmlns:a16="http://schemas.microsoft.com/office/drawing/2014/main" id="{27895667-DC08-4F9F-9CC9-C33368FB2D06}"/>
              </a:ext>
            </a:extLst>
          </p:cNvPr>
          <p:cNvSpPr>
            <a:spLocks noChangeArrowheads="1"/>
          </p:cNvSpPr>
          <p:nvPr/>
        </p:nvSpPr>
        <p:spPr bwMode="auto">
          <a:xfrm>
            <a:off x="429715" y="991314"/>
            <a:ext cx="10284581"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2800" b="0" i="0" u="none" strike="noStrike" cap="none" normalizeH="0" baseline="0" dirty="0">
                <a:ln>
                  <a:noFill/>
                </a:ln>
                <a:solidFill>
                  <a:srgbClr val="002060"/>
                </a:solidFill>
                <a:effectLst/>
                <a:ea typeface="Times New Roman" panose="02020603050405020304" pitchFamily="18" charset="0"/>
              </a:rPr>
              <a:t>Waveform does not have any symmetrical properties.  </a:t>
            </a:r>
            <a:endParaRPr kumimoji="0" lang="en-GB" altLang="en-US" sz="2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2800" b="0" i="0" u="none" strike="noStrike" cap="none" normalizeH="0" baseline="0" dirty="0">
                <a:ln>
                  <a:noFill/>
                </a:ln>
                <a:solidFill>
                  <a:srgbClr val="002060"/>
                </a:solidFill>
                <a:effectLst/>
                <a:ea typeface="Times New Roman" panose="02020603050405020304" pitchFamily="18" charset="0"/>
              </a:rPr>
              <a:t>	T = 0.003333 s,  </a:t>
            </a:r>
            <a:r>
              <a:rPr kumimoji="0" lang="en-GB" altLang="en-US" sz="28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w</a:t>
            </a:r>
            <a:r>
              <a:rPr kumimoji="0" lang="en-GB" altLang="en-US" sz="2800" b="0" i="0" u="none" strike="noStrike" cap="none" normalizeH="0" baseline="-30000" dirty="0">
                <a:ln>
                  <a:noFill/>
                </a:ln>
                <a:solidFill>
                  <a:srgbClr val="002060"/>
                </a:solidFill>
                <a:effectLst/>
                <a:ea typeface="Times New Roman" panose="02020603050405020304" pitchFamily="18" charset="0"/>
              </a:rPr>
              <a:t>o</a:t>
            </a:r>
            <a:r>
              <a:rPr kumimoji="0" lang="en-GB" altLang="en-US" sz="2800" b="0" i="0" u="none" strike="noStrike" cap="none" normalizeH="0" baseline="0" dirty="0">
                <a:ln>
                  <a:noFill/>
                </a:ln>
                <a:solidFill>
                  <a:srgbClr val="002060"/>
                </a:solidFill>
                <a:effectLst/>
                <a:ea typeface="Times New Roman" panose="02020603050405020304" pitchFamily="18" charset="0"/>
              </a:rPr>
              <a:t> = 2</a:t>
            </a:r>
            <a:r>
              <a:rPr kumimoji="0" lang="en-GB" altLang="en-US" sz="28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a:t>
            </a:r>
            <a:r>
              <a:rPr kumimoji="0" lang="en-GB" altLang="en-US" sz="2800" b="0" i="0" u="none" strike="noStrike" cap="none" normalizeH="0" baseline="0" dirty="0">
                <a:ln>
                  <a:noFill/>
                </a:ln>
                <a:solidFill>
                  <a:srgbClr val="002060"/>
                </a:solidFill>
                <a:effectLst/>
                <a:ea typeface="Times New Roman" panose="02020603050405020304" pitchFamily="18" charset="0"/>
              </a:rPr>
              <a:t>/T = 1885 rad/s</a:t>
            </a:r>
            <a:endParaRPr kumimoji="0" lang="en-GB" altLang="en-US" sz="2800" b="0" i="0" u="none" strike="noStrike" cap="none" normalizeH="0" baseline="0" dirty="0">
              <a:ln>
                <a:noFill/>
              </a:ln>
              <a:solidFill>
                <a:schemeClr val="tx1"/>
              </a:solidFill>
              <a:effectLst/>
            </a:endParaRPr>
          </a:p>
        </p:txBody>
      </p:sp>
      <p:sp>
        <p:nvSpPr>
          <p:cNvPr id="6" name="Rectangle 4">
            <a:extLst>
              <a:ext uri="{FF2B5EF4-FFF2-40B4-BE49-F238E27FC236}">
                <a16:creationId xmlns:a16="http://schemas.microsoft.com/office/drawing/2014/main" id="{5800D721-BF1E-488C-9D7A-E820FF279F69}"/>
              </a:ext>
            </a:extLst>
          </p:cNvPr>
          <p:cNvSpPr>
            <a:spLocks noChangeArrowheads="1"/>
          </p:cNvSpPr>
          <p:nvPr/>
        </p:nvSpPr>
        <p:spPr bwMode="auto">
          <a:xfrm>
            <a:off x="-19050" y="385323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24778E76-1D5A-453D-B104-6AAC71C162AF}"/>
                  </a:ext>
                </a:extLst>
              </p:cNvPr>
              <p:cNvSpPr/>
              <p:nvPr/>
            </p:nvSpPr>
            <p:spPr>
              <a:xfrm>
                <a:off x="357732" y="1847850"/>
                <a:ext cx="11781335" cy="113691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3000" i="1" smtClean="0">
                              <a:solidFill>
                                <a:srgbClr val="002060"/>
                              </a:solidFill>
                              <a:latin typeface="Cambria Math" panose="02040503050406030204" pitchFamily="18" charset="0"/>
                            </a:rPr>
                          </m:ctrlPr>
                        </m:sSubPr>
                        <m:e>
                          <m:r>
                            <a:rPr lang="en-GB" sz="3000" i="1">
                              <a:solidFill>
                                <a:srgbClr val="002060"/>
                              </a:solidFill>
                              <a:latin typeface="Cambria Math" panose="02040503050406030204" pitchFamily="18" charset="0"/>
                            </a:rPr>
                            <m:t>𝐴</m:t>
                          </m:r>
                        </m:e>
                        <m:sub>
                          <m:r>
                            <a:rPr lang="en-GB" sz="3000" i="1">
                              <a:solidFill>
                                <a:srgbClr val="002060"/>
                              </a:solidFill>
                              <a:latin typeface="Cambria Math" panose="02040503050406030204" pitchFamily="18" charset="0"/>
                            </a:rPr>
                            <m:t>𝑛</m:t>
                          </m:r>
                        </m:sub>
                      </m:sSub>
                      <m:r>
                        <a:rPr lang="en-GB" sz="3000" i="0">
                          <a:solidFill>
                            <a:srgbClr val="002060"/>
                          </a:solidFill>
                          <a:latin typeface="Cambria Math" panose="02040503050406030204" pitchFamily="18" charset="0"/>
                        </a:rPr>
                        <m:t>=</m:t>
                      </m:r>
                      <m:f>
                        <m:fPr>
                          <m:ctrlPr>
                            <a:rPr lang="en-GB" sz="3000" i="1">
                              <a:solidFill>
                                <a:srgbClr val="002060"/>
                              </a:solidFill>
                              <a:latin typeface="Cambria Math" panose="02040503050406030204" pitchFamily="18" charset="0"/>
                            </a:rPr>
                          </m:ctrlPr>
                        </m:fPr>
                        <m:num>
                          <m:r>
                            <a:rPr lang="en-GB" sz="3000" i="0">
                              <a:solidFill>
                                <a:srgbClr val="002060"/>
                              </a:solidFill>
                              <a:latin typeface="Cambria Math" panose="02040503050406030204" pitchFamily="18" charset="0"/>
                            </a:rPr>
                            <m:t>2</m:t>
                          </m:r>
                        </m:num>
                        <m:den>
                          <m:r>
                            <a:rPr lang="en-GB" sz="3000" i="1">
                              <a:solidFill>
                                <a:srgbClr val="002060"/>
                              </a:solidFill>
                              <a:latin typeface="Cambria Math" panose="02040503050406030204" pitchFamily="18" charset="0"/>
                            </a:rPr>
                            <m:t>𝑇</m:t>
                          </m:r>
                        </m:den>
                      </m:f>
                      <m:nary>
                        <m:naryPr>
                          <m:limLoc m:val="subSup"/>
                          <m:ctrlPr>
                            <a:rPr lang="en-GB" sz="3000" i="1">
                              <a:solidFill>
                                <a:srgbClr val="002060"/>
                              </a:solidFill>
                              <a:latin typeface="Cambria Math" panose="02040503050406030204" pitchFamily="18" charset="0"/>
                            </a:rPr>
                          </m:ctrlPr>
                        </m:naryPr>
                        <m:sub>
                          <m:r>
                            <a:rPr lang="en-GB" sz="3000" i="0">
                              <a:solidFill>
                                <a:srgbClr val="002060"/>
                              </a:solidFill>
                              <a:latin typeface="Cambria Math" panose="02040503050406030204" pitchFamily="18" charset="0"/>
                            </a:rPr>
                            <m:t>−0.000333</m:t>
                          </m:r>
                        </m:sub>
                        <m:sup>
                          <m:r>
                            <a:rPr lang="en-GB" sz="3000" i="0">
                              <a:solidFill>
                                <a:srgbClr val="002060"/>
                              </a:solidFill>
                              <a:latin typeface="Cambria Math" panose="02040503050406030204" pitchFamily="18" charset="0"/>
                            </a:rPr>
                            <m:t>0.0025</m:t>
                          </m:r>
                        </m:sup>
                        <m:e>
                          <m:r>
                            <a:rPr lang="en-GB" sz="3000" i="1">
                              <a:solidFill>
                                <a:srgbClr val="002060"/>
                              </a:solidFill>
                              <a:latin typeface="Cambria Math" panose="02040503050406030204" pitchFamily="18" charset="0"/>
                            </a:rPr>
                            <m:t>𝑓</m:t>
                          </m:r>
                          <m:r>
                            <a:rPr lang="en-GB" sz="3000" i="0">
                              <a:solidFill>
                                <a:srgbClr val="002060"/>
                              </a:solidFill>
                              <a:latin typeface="Cambria Math" panose="02040503050406030204" pitchFamily="18" charset="0"/>
                            </a:rPr>
                            <m:t>(</m:t>
                          </m:r>
                          <m:r>
                            <a:rPr lang="en-GB" sz="3000" i="1">
                              <a:solidFill>
                                <a:srgbClr val="002060"/>
                              </a:solidFill>
                              <a:latin typeface="Cambria Math" panose="02040503050406030204" pitchFamily="18" charset="0"/>
                            </a:rPr>
                            <m:t>𝑡</m:t>
                          </m:r>
                          <m:r>
                            <a:rPr lang="en-GB" sz="3000" i="0">
                              <a:solidFill>
                                <a:srgbClr val="002060"/>
                              </a:solidFill>
                              <a:latin typeface="Cambria Math" panose="02040503050406030204" pitchFamily="18" charset="0"/>
                            </a:rPr>
                            <m:t>)⋅</m:t>
                          </m:r>
                          <m:func>
                            <m:funcPr>
                              <m:ctrlPr>
                                <a:rPr lang="en-GB" sz="3000" i="1">
                                  <a:solidFill>
                                    <a:srgbClr val="002060"/>
                                  </a:solidFill>
                                  <a:latin typeface="Cambria Math" panose="02040503050406030204" pitchFamily="18" charset="0"/>
                                </a:rPr>
                              </m:ctrlPr>
                            </m:funcPr>
                            <m:fName>
                              <m:r>
                                <a:rPr lang="en-GB" sz="3000" i="1">
                                  <a:solidFill>
                                    <a:srgbClr val="002060"/>
                                  </a:solidFill>
                                  <a:latin typeface="Cambria Math" panose="02040503050406030204" pitchFamily="18" charset="0"/>
                                </a:rPr>
                                <m:t>𝑐𝑜𝑠</m:t>
                              </m:r>
                            </m:fName>
                            <m:e>
                              <m:r>
                                <a:rPr lang="en-GB" sz="3000" i="1">
                                  <a:solidFill>
                                    <a:srgbClr val="002060"/>
                                  </a:solidFill>
                                  <a:latin typeface="Cambria Math" panose="02040503050406030204" pitchFamily="18" charset="0"/>
                                </a:rPr>
                                <m:t>𝑛</m:t>
                              </m:r>
                            </m:e>
                          </m:func>
                          <m:sSub>
                            <m:sSubPr>
                              <m:ctrlPr>
                                <a:rPr lang="en-GB" sz="3000" i="1">
                                  <a:solidFill>
                                    <a:srgbClr val="002060"/>
                                  </a:solidFill>
                                  <a:latin typeface="Cambria Math" panose="02040503050406030204" pitchFamily="18" charset="0"/>
                                </a:rPr>
                              </m:ctrlPr>
                            </m:sSubPr>
                            <m:e>
                              <m:r>
                                <a:rPr lang="en-GB" sz="3000" i="1">
                                  <a:solidFill>
                                    <a:srgbClr val="002060"/>
                                  </a:solidFill>
                                  <a:latin typeface="Cambria Math" panose="02040503050406030204" pitchFamily="18" charset="0"/>
                                </a:rPr>
                                <m:t>𝜔</m:t>
                              </m:r>
                            </m:e>
                            <m:sub>
                              <m:r>
                                <a:rPr lang="en-GB" sz="3000" i="1">
                                  <a:solidFill>
                                    <a:srgbClr val="002060"/>
                                  </a:solidFill>
                                  <a:latin typeface="Cambria Math" panose="02040503050406030204" pitchFamily="18" charset="0"/>
                                </a:rPr>
                                <m:t>𝑜</m:t>
                              </m:r>
                            </m:sub>
                          </m:sSub>
                          <m:r>
                            <a:rPr lang="en-GB" sz="3000" i="1">
                              <a:solidFill>
                                <a:srgbClr val="002060"/>
                              </a:solidFill>
                              <a:latin typeface="Cambria Math" panose="02040503050406030204" pitchFamily="18" charset="0"/>
                            </a:rPr>
                            <m:t>𝑡</m:t>
                          </m:r>
                          <m:r>
                            <a:rPr lang="en-GB" sz="3000" i="0">
                              <a:solidFill>
                                <a:srgbClr val="002060"/>
                              </a:solidFill>
                              <a:latin typeface="Cambria Math" panose="02040503050406030204" pitchFamily="18" charset="0"/>
                            </a:rPr>
                            <m:t>⋅</m:t>
                          </m:r>
                          <m:r>
                            <a:rPr lang="en-GB" sz="3000" i="1">
                              <a:solidFill>
                                <a:srgbClr val="002060"/>
                              </a:solidFill>
                              <a:latin typeface="Cambria Math" panose="02040503050406030204" pitchFamily="18" charset="0"/>
                            </a:rPr>
                            <m:t>𝑑𝑡</m:t>
                          </m:r>
                        </m:e>
                      </m:nary>
                      <m:r>
                        <a:rPr lang="en-GB" sz="3000" i="0">
                          <a:solidFill>
                            <a:srgbClr val="002060"/>
                          </a:solidFill>
                          <a:latin typeface="Cambria Math" panose="02040503050406030204" pitchFamily="18" charset="0"/>
                        </a:rPr>
                        <m:t>+</m:t>
                      </m:r>
                      <m:f>
                        <m:fPr>
                          <m:ctrlPr>
                            <a:rPr lang="en-GB" sz="3000" i="1">
                              <a:solidFill>
                                <a:srgbClr val="002060"/>
                              </a:solidFill>
                              <a:latin typeface="Cambria Math" panose="02040503050406030204" pitchFamily="18" charset="0"/>
                            </a:rPr>
                          </m:ctrlPr>
                        </m:fPr>
                        <m:num>
                          <m:r>
                            <a:rPr lang="en-GB" sz="3000" i="0">
                              <a:solidFill>
                                <a:srgbClr val="002060"/>
                              </a:solidFill>
                              <a:latin typeface="Cambria Math" panose="02040503050406030204" pitchFamily="18" charset="0"/>
                            </a:rPr>
                            <m:t>2</m:t>
                          </m:r>
                        </m:num>
                        <m:den>
                          <m:r>
                            <a:rPr lang="en-GB" sz="3000" i="1">
                              <a:solidFill>
                                <a:srgbClr val="002060"/>
                              </a:solidFill>
                              <a:latin typeface="Cambria Math" panose="02040503050406030204" pitchFamily="18" charset="0"/>
                            </a:rPr>
                            <m:t>𝑇</m:t>
                          </m:r>
                        </m:den>
                      </m:f>
                      <m:nary>
                        <m:naryPr>
                          <m:limLoc m:val="subSup"/>
                          <m:ctrlPr>
                            <a:rPr lang="en-GB" sz="3000" i="1">
                              <a:solidFill>
                                <a:srgbClr val="002060"/>
                              </a:solidFill>
                              <a:latin typeface="Cambria Math" panose="02040503050406030204" pitchFamily="18" charset="0"/>
                            </a:rPr>
                          </m:ctrlPr>
                        </m:naryPr>
                        <m:sub>
                          <m:r>
                            <a:rPr lang="en-GB" sz="3000" i="0">
                              <a:solidFill>
                                <a:srgbClr val="002060"/>
                              </a:solidFill>
                              <a:latin typeface="Cambria Math" panose="02040503050406030204" pitchFamily="18" charset="0"/>
                            </a:rPr>
                            <m:t>0.0025</m:t>
                          </m:r>
                        </m:sub>
                        <m:sup>
                          <m:r>
                            <a:rPr lang="en-GB" sz="3000" i="0">
                              <a:solidFill>
                                <a:srgbClr val="002060"/>
                              </a:solidFill>
                              <a:latin typeface="Cambria Math" panose="02040503050406030204" pitchFamily="18" charset="0"/>
                            </a:rPr>
                            <m:t>0.003</m:t>
                          </m:r>
                        </m:sup>
                        <m:e>
                          <m:r>
                            <a:rPr lang="en-GB" sz="3000" i="1">
                              <a:solidFill>
                                <a:srgbClr val="002060"/>
                              </a:solidFill>
                              <a:latin typeface="Cambria Math" panose="02040503050406030204" pitchFamily="18" charset="0"/>
                            </a:rPr>
                            <m:t>𝑓</m:t>
                          </m:r>
                          <m:r>
                            <a:rPr lang="en-GB" sz="3000" i="0">
                              <a:solidFill>
                                <a:srgbClr val="002060"/>
                              </a:solidFill>
                              <a:latin typeface="Cambria Math" panose="02040503050406030204" pitchFamily="18" charset="0"/>
                            </a:rPr>
                            <m:t>(</m:t>
                          </m:r>
                          <m:r>
                            <a:rPr lang="en-GB" sz="3000" i="1">
                              <a:solidFill>
                                <a:srgbClr val="002060"/>
                              </a:solidFill>
                              <a:latin typeface="Cambria Math" panose="02040503050406030204" pitchFamily="18" charset="0"/>
                            </a:rPr>
                            <m:t>𝑡</m:t>
                          </m:r>
                          <m:r>
                            <a:rPr lang="en-GB" sz="3000" i="0">
                              <a:solidFill>
                                <a:srgbClr val="002060"/>
                              </a:solidFill>
                              <a:latin typeface="Cambria Math" panose="02040503050406030204" pitchFamily="18" charset="0"/>
                            </a:rPr>
                            <m:t>)⋅</m:t>
                          </m:r>
                          <m:func>
                            <m:funcPr>
                              <m:ctrlPr>
                                <a:rPr lang="en-GB" sz="3000" i="1">
                                  <a:solidFill>
                                    <a:srgbClr val="002060"/>
                                  </a:solidFill>
                                  <a:latin typeface="Cambria Math" panose="02040503050406030204" pitchFamily="18" charset="0"/>
                                </a:rPr>
                              </m:ctrlPr>
                            </m:funcPr>
                            <m:fName>
                              <m:r>
                                <a:rPr lang="en-GB" sz="3000" i="1">
                                  <a:solidFill>
                                    <a:srgbClr val="002060"/>
                                  </a:solidFill>
                                  <a:latin typeface="Cambria Math" panose="02040503050406030204" pitchFamily="18" charset="0"/>
                                </a:rPr>
                                <m:t>𝑐𝑜𝑠</m:t>
                              </m:r>
                            </m:fName>
                            <m:e>
                              <m:r>
                                <a:rPr lang="en-GB" sz="3000" i="1">
                                  <a:solidFill>
                                    <a:srgbClr val="002060"/>
                                  </a:solidFill>
                                  <a:latin typeface="Cambria Math" panose="02040503050406030204" pitchFamily="18" charset="0"/>
                                </a:rPr>
                                <m:t>𝑛</m:t>
                              </m:r>
                            </m:e>
                          </m:func>
                          <m:sSub>
                            <m:sSubPr>
                              <m:ctrlPr>
                                <a:rPr lang="en-GB" sz="3000" i="1">
                                  <a:solidFill>
                                    <a:srgbClr val="002060"/>
                                  </a:solidFill>
                                  <a:latin typeface="Cambria Math" panose="02040503050406030204" pitchFamily="18" charset="0"/>
                                </a:rPr>
                              </m:ctrlPr>
                            </m:sSubPr>
                            <m:e>
                              <m:r>
                                <a:rPr lang="en-GB" sz="3000" i="1">
                                  <a:solidFill>
                                    <a:srgbClr val="002060"/>
                                  </a:solidFill>
                                  <a:latin typeface="Cambria Math" panose="02040503050406030204" pitchFamily="18" charset="0"/>
                                </a:rPr>
                                <m:t>𝜔</m:t>
                              </m:r>
                            </m:e>
                            <m:sub>
                              <m:r>
                                <a:rPr lang="en-GB" sz="3000" i="1">
                                  <a:solidFill>
                                    <a:srgbClr val="002060"/>
                                  </a:solidFill>
                                  <a:latin typeface="Cambria Math" panose="02040503050406030204" pitchFamily="18" charset="0"/>
                                </a:rPr>
                                <m:t>𝑜</m:t>
                              </m:r>
                            </m:sub>
                          </m:sSub>
                          <m:r>
                            <a:rPr lang="en-GB" sz="3000" i="1">
                              <a:solidFill>
                                <a:srgbClr val="002060"/>
                              </a:solidFill>
                              <a:latin typeface="Cambria Math" panose="02040503050406030204" pitchFamily="18" charset="0"/>
                            </a:rPr>
                            <m:t>𝑡</m:t>
                          </m:r>
                          <m:r>
                            <a:rPr lang="en-GB" sz="3000" i="0">
                              <a:solidFill>
                                <a:srgbClr val="002060"/>
                              </a:solidFill>
                              <a:latin typeface="Cambria Math" panose="02040503050406030204" pitchFamily="18" charset="0"/>
                            </a:rPr>
                            <m:t>⋅</m:t>
                          </m:r>
                          <m:r>
                            <a:rPr lang="en-GB" sz="3000" i="1">
                              <a:solidFill>
                                <a:srgbClr val="002060"/>
                              </a:solidFill>
                              <a:latin typeface="Cambria Math" panose="02040503050406030204" pitchFamily="18" charset="0"/>
                            </a:rPr>
                            <m:t>𝑑𝑡</m:t>
                          </m:r>
                        </m:e>
                      </m:nary>
                    </m:oMath>
                  </m:oMathPara>
                </a14:m>
                <a:endParaRPr lang="en-GB" sz="3000" dirty="0">
                  <a:solidFill>
                    <a:srgbClr val="002060"/>
                  </a:solidFill>
                </a:endParaRPr>
              </a:p>
            </p:txBody>
          </p:sp>
        </mc:Choice>
        <mc:Fallback xmlns="">
          <p:sp>
            <p:nvSpPr>
              <p:cNvPr id="7" name="Rectangle 6">
                <a:extLst>
                  <a:ext uri="{FF2B5EF4-FFF2-40B4-BE49-F238E27FC236}">
                    <a16:creationId xmlns:a16="http://schemas.microsoft.com/office/drawing/2014/main" id="{24778E76-1D5A-453D-B104-6AAC71C162AF}"/>
                  </a:ext>
                </a:extLst>
              </p:cNvPr>
              <p:cNvSpPr>
                <a:spLocks noRot="1" noChangeAspect="1" noMove="1" noResize="1" noEditPoints="1" noAdjustHandles="1" noChangeArrowheads="1" noChangeShapeType="1" noTextEdit="1"/>
              </p:cNvSpPr>
              <p:nvPr/>
            </p:nvSpPr>
            <p:spPr>
              <a:xfrm>
                <a:off x="357732" y="1847850"/>
                <a:ext cx="11781335" cy="1136914"/>
              </a:xfrm>
              <a:prstGeom prst="rect">
                <a:avLst/>
              </a:prstGeom>
              <a:blipFill>
                <a:blip r:embed="rId10"/>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544695388"/>
      </p:ext>
    </p:extLst>
  </p:cSld>
  <p:clrMapOvr>
    <a:masterClrMapping/>
  </p:clrMapOvr>
  <mc:AlternateContent xmlns:mc="http://schemas.openxmlformats.org/markup-compatibility/2006" xmlns:p14="http://schemas.microsoft.com/office/powerpoint/2010/main">
    <mc:Choice Requires="p14">
      <p:transition spd="slow" p14:dur="2000" advTm="33962"/>
    </mc:Choice>
    <mc:Fallback xmlns="">
      <p:transition spd="slow" advTm="33962"/>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1D05B8BD-22BB-4F13-B086-F8C0531DE109}"/>
              </a:ext>
            </a:extLst>
          </p:cNvPr>
          <p:cNvGraphicFramePr>
            <a:graphicFrameLocks noChangeAspect="1"/>
          </p:cNvGraphicFramePr>
          <p:nvPr>
            <p:extLst>
              <p:ext uri="{D42A27DB-BD31-4B8C-83A1-F6EECF244321}">
                <p14:modId xmlns:p14="http://schemas.microsoft.com/office/powerpoint/2010/main" val="2803875758"/>
              </p:ext>
            </p:extLst>
          </p:nvPr>
        </p:nvGraphicFramePr>
        <p:xfrm>
          <a:off x="0" y="457200"/>
          <a:ext cx="12039600" cy="2743200"/>
        </p:xfrm>
        <a:graphic>
          <a:graphicData uri="http://schemas.openxmlformats.org/presentationml/2006/ole">
            <mc:AlternateContent xmlns:mc="http://schemas.openxmlformats.org/markup-compatibility/2006">
              <mc:Choice xmlns:v="urn:schemas-microsoft-com:vml" Requires="v">
                <p:oleObj r:id="rId3" imgW="4711700" imgH="1041400" progId="Equation.3">
                  <p:embed/>
                </p:oleObj>
              </mc:Choice>
              <mc:Fallback>
                <p:oleObj r:id="rId3" imgW="4711700" imgH="1041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57200"/>
                        <a:ext cx="12039600" cy="2743200"/>
                      </a:xfrm>
                      <a:prstGeom prst="rect">
                        <a:avLst/>
                      </a:prstGeom>
                      <a:noFill/>
                    </p:spPr>
                  </p:pic>
                </p:oleObj>
              </mc:Fallback>
            </mc:AlternateContent>
          </a:graphicData>
        </a:graphic>
      </p:graphicFrame>
      <p:graphicFrame>
        <p:nvGraphicFramePr>
          <p:cNvPr id="4" name="Object 3">
            <a:extLst>
              <a:ext uri="{FF2B5EF4-FFF2-40B4-BE49-F238E27FC236}">
                <a16:creationId xmlns:a16="http://schemas.microsoft.com/office/drawing/2014/main" id="{59A314F0-3FE6-4697-BFCE-7FB4F669BF22}"/>
              </a:ext>
            </a:extLst>
          </p:cNvPr>
          <p:cNvGraphicFramePr>
            <a:graphicFrameLocks noChangeAspect="1"/>
          </p:cNvGraphicFramePr>
          <p:nvPr>
            <p:extLst>
              <p:ext uri="{D42A27DB-BD31-4B8C-83A1-F6EECF244321}">
                <p14:modId xmlns:p14="http://schemas.microsoft.com/office/powerpoint/2010/main" val="2363469023"/>
              </p:ext>
            </p:extLst>
          </p:nvPr>
        </p:nvGraphicFramePr>
        <p:xfrm>
          <a:off x="296779" y="3200400"/>
          <a:ext cx="11598442" cy="2514600"/>
        </p:xfrm>
        <a:graphic>
          <a:graphicData uri="http://schemas.openxmlformats.org/presentationml/2006/ole">
            <mc:AlternateContent xmlns:mc="http://schemas.openxmlformats.org/markup-compatibility/2006">
              <mc:Choice xmlns:v="urn:schemas-microsoft-com:vml" Requires="v">
                <p:oleObj r:id="rId5" imgW="5105400" imgH="990600" progId="Equation.3">
                  <p:embed/>
                </p:oleObj>
              </mc:Choice>
              <mc:Fallback>
                <p:oleObj r:id="rId5" imgW="5105400" imgH="9906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6779" y="3200400"/>
                        <a:ext cx="11598442" cy="2514600"/>
                      </a:xfrm>
                      <a:prstGeom prst="rect">
                        <a:avLst/>
                      </a:prstGeom>
                      <a:noFill/>
                    </p:spPr>
                  </p:pic>
                </p:oleObj>
              </mc:Fallback>
            </mc:AlternateContent>
          </a:graphicData>
        </a:graphic>
      </p:graphicFrame>
      <p:sp>
        <p:nvSpPr>
          <p:cNvPr id="5" name="Rectangle 3">
            <a:extLst>
              <a:ext uri="{FF2B5EF4-FFF2-40B4-BE49-F238E27FC236}">
                <a16:creationId xmlns:a16="http://schemas.microsoft.com/office/drawing/2014/main" id="{50EB5E4C-0115-4767-85EF-56DF2E4AC29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6" name="Rectangle 4">
            <a:extLst>
              <a:ext uri="{FF2B5EF4-FFF2-40B4-BE49-F238E27FC236}">
                <a16:creationId xmlns:a16="http://schemas.microsoft.com/office/drawing/2014/main" id="{4A11843A-1978-46DC-A8FA-FBCCC395C2DB}"/>
              </a:ext>
            </a:extLst>
          </p:cNvPr>
          <p:cNvSpPr>
            <a:spLocks noChangeArrowheads="1"/>
          </p:cNvSpPr>
          <p:nvPr/>
        </p:nvSpPr>
        <p:spPr bwMode="auto">
          <a:xfrm>
            <a:off x="0" y="3200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7" name="Rectangle 5">
            <a:extLst>
              <a:ext uri="{FF2B5EF4-FFF2-40B4-BE49-F238E27FC236}">
                <a16:creationId xmlns:a16="http://schemas.microsoft.com/office/drawing/2014/main" id="{EF4EC067-BADE-4E03-A7C1-297B5800A80F}"/>
              </a:ext>
            </a:extLst>
          </p:cNvPr>
          <p:cNvSpPr>
            <a:spLocks noChangeArrowheads="1"/>
          </p:cNvSpPr>
          <p:nvPr/>
        </p:nvSpPr>
        <p:spPr bwMode="auto">
          <a:xfrm>
            <a:off x="0" y="6172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2826849376"/>
      </p:ext>
    </p:extLst>
  </p:cSld>
  <p:clrMapOvr>
    <a:masterClrMapping/>
  </p:clrMapOvr>
  <mc:AlternateContent xmlns:mc="http://schemas.openxmlformats.org/markup-compatibility/2006" xmlns:p14="http://schemas.microsoft.com/office/powerpoint/2010/main">
    <mc:Choice Requires="p14">
      <p:transition spd="slow" p14:dur="2000" advTm="12802"/>
    </mc:Choice>
    <mc:Fallback xmlns="">
      <p:transition spd="slow" advTm="12802"/>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3FB10F81-9191-4FB0-A737-BD4A3861BCF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4" name="Object 3">
            <a:extLst>
              <a:ext uri="{FF2B5EF4-FFF2-40B4-BE49-F238E27FC236}">
                <a16:creationId xmlns:a16="http://schemas.microsoft.com/office/drawing/2014/main" id="{6A77E8F5-DB89-4BC4-AD41-5A4B9908FEB7}"/>
              </a:ext>
            </a:extLst>
          </p:cNvPr>
          <p:cNvGraphicFramePr>
            <a:graphicFrameLocks noChangeAspect="1"/>
          </p:cNvGraphicFramePr>
          <p:nvPr>
            <p:extLst>
              <p:ext uri="{D42A27DB-BD31-4B8C-83A1-F6EECF244321}">
                <p14:modId xmlns:p14="http://schemas.microsoft.com/office/powerpoint/2010/main" val="1531327157"/>
              </p:ext>
            </p:extLst>
          </p:nvPr>
        </p:nvGraphicFramePr>
        <p:xfrm>
          <a:off x="0" y="745955"/>
          <a:ext cx="11839074" cy="2819401"/>
        </p:xfrm>
        <a:graphic>
          <a:graphicData uri="http://schemas.openxmlformats.org/presentationml/2006/ole">
            <mc:AlternateContent xmlns:mc="http://schemas.openxmlformats.org/markup-compatibility/2006">
              <mc:Choice xmlns:v="urn:schemas-microsoft-com:vml" Requires="v">
                <p:oleObj r:id="rId3" imgW="6731000" imgH="1295400" progId="Equation.3">
                  <p:embed/>
                </p:oleObj>
              </mc:Choice>
              <mc:Fallback>
                <p:oleObj r:id="rId3" imgW="6731000" imgH="12954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745955"/>
                        <a:ext cx="11839074" cy="2819401"/>
                      </a:xfrm>
                      <a:prstGeom prst="rect">
                        <a:avLst/>
                      </a:prstGeom>
                      <a:noFill/>
                    </p:spPr>
                  </p:pic>
                </p:oleObj>
              </mc:Fallback>
            </mc:AlternateContent>
          </a:graphicData>
        </a:graphic>
      </p:graphicFrame>
      <p:sp>
        <p:nvSpPr>
          <p:cNvPr id="5" name="Rectangle 3">
            <a:extLst>
              <a:ext uri="{FF2B5EF4-FFF2-40B4-BE49-F238E27FC236}">
                <a16:creationId xmlns:a16="http://schemas.microsoft.com/office/drawing/2014/main" id="{A48A717F-5D7A-4E9F-A290-C6D1B46BE694}"/>
              </a:ext>
            </a:extLst>
          </p:cNvPr>
          <p:cNvSpPr>
            <a:spLocks noChangeArrowheads="1"/>
          </p:cNvSpPr>
          <p:nvPr/>
        </p:nvSpPr>
        <p:spPr bwMode="auto">
          <a:xfrm>
            <a:off x="0" y="3487760"/>
            <a:ext cx="10347158"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Thus A</a:t>
            </a:r>
            <a:r>
              <a:rPr kumimoji="0" lang="en-GB" altLang="en-US" sz="3200" b="0" i="0" u="none" strike="noStrike" cap="none" normalizeH="0" baseline="-30000" dirty="0">
                <a:ln>
                  <a:noFill/>
                </a:ln>
                <a:solidFill>
                  <a:srgbClr val="002060"/>
                </a:solidFill>
                <a:effectLst/>
                <a:ea typeface="Times New Roman" panose="02020603050405020304" pitchFamily="18" charset="0"/>
              </a:rPr>
              <a:t>1</a:t>
            </a:r>
            <a:r>
              <a:rPr kumimoji="0" lang="en-GB" altLang="en-US" sz="3200" b="0" i="0" u="none" strike="noStrike" cap="none" normalizeH="0" baseline="0" dirty="0">
                <a:ln>
                  <a:noFill/>
                </a:ln>
                <a:solidFill>
                  <a:srgbClr val="002060"/>
                </a:solidFill>
                <a:effectLst/>
                <a:ea typeface="Times New Roman" panose="02020603050405020304" pitchFamily="18" charset="0"/>
              </a:rPr>
              <a:t>, A</a:t>
            </a:r>
            <a:r>
              <a:rPr kumimoji="0" lang="en-GB" altLang="en-US" sz="3200" b="0" i="0" u="none" strike="noStrike" cap="none" normalizeH="0" baseline="-30000" dirty="0">
                <a:ln>
                  <a:noFill/>
                </a:ln>
                <a:solidFill>
                  <a:srgbClr val="002060"/>
                </a:solidFill>
                <a:effectLst/>
                <a:ea typeface="Times New Roman" panose="02020603050405020304" pitchFamily="18" charset="0"/>
              </a:rPr>
              <a:t>2</a:t>
            </a:r>
            <a:r>
              <a:rPr kumimoji="0" lang="en-GB" altLang="en-US" sz="3200" b="0" i="0" u="none" strike="noStrike" cap="none" normalizeH="0" baseline="0" dirty="0">
                <a:ln>
                  <a:noFill/>
                </a:ln>
                <a:solidFill>
                  <a:srgbClr val="002060"/>
                </a:solidFill>
                <a:effectLst/>
                <a:ea typeface="Times New Roman" panose="02020603050405020304" pitchFamily="18" charset="0"/>
              </a:rPr>
              <a:t>, A</a:t>
            </a:r>
            <a:r>
              <a:rPr kumimoji="0" lang="en-GB" altLang="en-US" sz="3200" b="0" i="0" u="none" strike="noStrike" cap="none" normalizeH="0" baseline="-30000" dirty="0">
                <a:ln>
                  <a:noFill/>
                </a:ln>
                <a:solidFill>
                  <a:srgbClr val="002060"/>
                </a:solidFill>
                <a:effectLst/>
                <a:ea typeface="Times New Roman" panose="02020603050405020304" pitchFamily="18" charset="0"/>
              </a:rPr>
              <a:t>3</a:t>
            </a:r>
            <a:r>
              <a:rPr kumimoji="0" lang="en-GB" altLang="en-US" sz="3200" b="0" i="0" u="none" strike="noStrike" cap="none" normalizeH="0" baseline="0" dirty="0">
                <a:ln>
                  <a:noFill/>
                </a:ln>
                <a:solidFill>
                  <a:srgbClr val="002060"/>
                </a:solidFill>
                <a:effectLst/>
                <a:ea typeface="Times New Roman" panose="02020603050405020304" pitchFamily="18" charset="0"/>
              </a:rPr>
              <a:t>, A</a:t>
            </a:r>
            <a:r>
              <a:rPr kumimoji="0" lang="en-GB" altLang="en-US" sz="3200" b="0" i="0" u="none" strike="noStrike" cap="none" normalizeH="0" baseline="-30000" dirty="0">
                <a:ln>
                  <a:noFill/>
                </a:ln>
                <a:solidFill>
                  <a:srgbClr val="002060"/>
                </a:solidFill>
                <a:effectLst/>
                <a:ea typeface="Times New Roman" panose="02020603050405020304" pitchFamily="18" charset="0"/>
              </a:rPr>
              <a:t>4</a:t>
            </a:r>
            <a:r>
              <a:rPr kumimoji="0" lang="en-GB" altLang="en-US" sz="3200" b="0" i="0" u="none" strike="noStrike" cap="none" normalizeH="0" baseline="0" dirty="0">
                <a:ln>
                  <a:noFill/>
                </a:ln>
                <a:solidFill>
                  <a:srgbClr val="002060"/>
                </a:solidFill>
                <a:effectLst/>
                <a:ea typeface="Times New Roman" panose="02020603050405020304" pitchFamily="18" charset="0"/>
              </a:rPr>
              <a:t>, A</a:t>
            </a:r>
            <a:r>
              <a:rPr kumimoji="0" lang="en-GB" altLang="en-US" sz="3200" b="0" i="0" u="none" strike="noStrike" cap="none" normalizeH="0" baseline="-30000" dirty="0">
                <a:ln>
                  <a:noFill/>
                </a:ln>
                <a:solidFill>
                  <a:srgbClr val="002060"/>
                </a:solidFill>
                <a:effectLst/>
                <a:ea typeface="Times New Roman" panose="02020603050405020304" pitchFamily="18" charset="0"/>
              </a:rPr>
              <a:t>5</a:t>
            </a:r>
            <a:r>
              <a:rPr kumimoji="0" lang="en-GB" altLang="en-US" sz="3200" b="0" i="0" u="none" strike="noStrike" cap="none" normalizeH="0" baseline="0" dirty="0">
                <a:ln>
                  <a:noFill/>
                </a:ln>
                <a:solidFill>
                  <a:srgbClr val="002060"/>
                </a:solidFill>
                <a:effectLst/>
                <a:ea typeface="Times New Roman" panose="02020603050405020304" pitchFamily="18" charset="0"/>
              </a:rPr>
              <a:t>, A</a:t>
            </a:r>
            <a:r>
              <a:rPr kumimoji="0" lang="en-GB" altLang="en-US" sz="3200" b="0" i="0" u="none" strike="noStrike" cap="none" normalizeH="0" baseline="-30000" dirty="0">
                <a:ln>
                  <a:noFill/>
                </a:ln>
                <a:solidFill>
                  <a:srgbClr val="002060"/>
                </a:solidFill>
                <a:effectLst/>
                <a:ea typeface="Times New Roman" panose="02020603050405020304" pitchFamily="18" charset="0"/>
              </a:rPr>
              <a:t>6</a:t>
            </a:r>
            <a:r>
              <a:rPr kumimoji="0" lang="en-GB" altLang="en-US" sz="3200" b="0" i="0" u="none" strike="noStrike" cap="none" normalizeH="0" baseline="0" dirty="0">
                <a:ln>
                  <a:noFill/>
                </a:ln>
                <a:solidFill>
                  <a:srgbClr val="002060"/>
                </a:solidFill>
                <a:effectLst/>
                <a:ea typeface="Times New Roman" panose="02020603050405020304" pitchFamily="18" charset="0"/>
              </a:rPr>
              <a:t>, …. can be determined.</a:t>
            </a:r>
            <a:endParaRPr kumimoji="0" lang="en-GB" altLang="en-US" sz="3200" b="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None/>
              <a:tabLst>
                <a:tab pos="381000" algn="l"/>
                <a:tab pos="3276600" algn="l"/>
              </a:tabLst>
            </a:pPr>
            <a:endParaRPr kumimoji="0" lang="en-GB" altLang="en-US" sz="4000" b="0" i="0" u="none" strike="noStrike" cap="none" normalizeH="0" baseline="0" dirty="0">
              <a:ln>
                <a:noFill/>
              </a:ln>
              <a:solidFill>
                <a:srgbClr val="002060"/>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endParaRPr lang="en-GB" altLang="en-US" sz="3200" dirty="0">
              <a:solidFill>
                <a:srgbClr val="002060"/>
              </a:solidFill>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B</a:t>
            </a:r>
            <a:r>
              <a:rPr kumimoji="0" lang="en-GB" altLang="en-US" sz="3200" b="0" i="0" u="none" strike="noStrike" cap="none" normalizeH="0" baseline="-30000" dirty="0">
                <a:ln>
                  <a:noFill/>
                </a:ln>
                <a:solidFill>
                  <a:srgbClr val="002060"/>
                </a:solidFill>
                <a:effectLst/>
                <a:ea typeface="Times New Roman" panose="02020603050405020304" pitchFamily="18" charset="0"/>
              </a:rPr>
              <a:t>1</a:t>
            </a:r>
            <a:r>
              <a:rPr kumimoji="0" lang="en-GB" altLang="en-US" sz="3200" b="0" i="0" u="none" strike="noStrike" cap="none" normalizeH="0" baseline="0" dirty="0">
                <a:ln>
                  <a:noFill/>
                </a:ln>
                <a:solidFill>
                  <a:srgbClr val="002060"/>
                </a:solidFill>
                <a:effectLst/>
                <a:ea typeface="Times New Roman" panose="02020603050405020304" pitchFamily="18" charset="0"/>
              </a:rPr>
              <a:t>, B</a:t>
            </a:r>
            <a:r>
              <a:rPr kumimoji="0" lang="en-GB" altLang="en-US" sz="3200" b="0" i="0" u="none" strike="noStrike" cap="none" normalizeH="0" baseline="-30000" dirty="0">
                <a:ln>
                  <a:noFill/>
                </a:ln>
                <a:solidFill>
                  <a:srgbClr val="002060"/>
                </a:solidFill>
                <a:effectLst/>
                <a:ea typeface="Times New Roman" panose="02020603050405020304" pitchFamily="18" charset="0"/>
              </a:rPr>
              <a:t>2</a:t>
            </a:r>
            <a:r>
              <a:rPr kumimoji="0" lang="en-GB" altLang="en-US" sz="3200" b="0" i="0" u="none" strike="noStrike" cap="none" normalizeH="0" baseline="0" dirty="0">
                <a:ln>
                  <a:noFill/>
                </a:ln>
                <a:solidFill>
                  <a:srgbClr val="002060"/>
                </a:solidFill>
                <a:effectLst/>
                <a:ea typeface="Times New Roman" panose="02020603050405020304" pitchFamily="18" charset="0"/>
              </a:rPr>
              <a:t>, B</a:t>
            </a:r>
            <a:r>
              <a:rPr kumimoji="0" lang="en-GB" altLang="en-US" sz="3200" b="0" i="0" u="none" strike="noStrike" cap="none" normalizeH="0" baseline="-30000" dirty="0">
                <a:ln>
                  <a:noFill/>
                </a:ln>
                <a:solidFill>
                  <a:srgbClr val="002060"/>
                </a:solidFill>
                <a:effectLst/>
                <a:ea typeface="Times New Roman" panose="02020603050405020304" pitchFamily="18" charset="0"/>
              </a:rPr>
              <a:t>3</a:t>
            </a:r>
            <a:r>
              <a:rPr kumimoji="0" lang="en-GB" altLang="en-US" sz="3200" b="0" i="0" u="none" strike="noStrike" cap="none" normalizeH="0" baseline="0" dirty="0">
                <a:ln>
                  <a:noFill/>
                </a:ln>
                <a:solidFill>
                  <a:srgbClr val="002060"/>
                </a:solidFill>
                <a:effectLst/>
                <a:ea typeface="Times New Roman" panose="02020603050405020304" pitchFamily="18" charset="0"/>
              </a:rPr>
              <a:t>, B</a:t>
            </a:r>
            <a:r>
              <a:rPr kumimoji="0" lang="en-GB" altLang="en-US" sz="3200" b="0" i="0" u="none" strike="noStrike" cap="none" normalizeH="0" baseline="-30000" dirty="0">
                <a:ln>
                  <a:noFill/>
                </a:ln>
                <a:solidFill>
                  <a:srgbClr val="002060"/>
                </a:solidFill>
                <a:effectLst/>
                <a:ea typeface="Times New Roman" panose="02020603050405020304" pitchFamily="18" charset="0"/>
              </a:rPr>
              <a:t>4</a:t>
            </a:r>
            <a:r>
              <a:rPr kumimoji="0" lang="en-GB" altLang="en-US" sz="3200" b="0" i="0" u="none" strike="noStrike" cap="none" normalizeH="0" baseline="0" dirty="0">
                <a:ln>
                  <a:noFill/>
                </a:ln>
                <a:solidFill>
                  <a:srgbClr val="002060"/>
                </a:solidFill>
                <a:effectLst/>
                <a:ea typeface="Times New Roman" panose="02020603050405020304" pitchFamily="18" charset="0"/>
              </a:rPr>
              <a:t>, B</a:t>
            </a:r>
            <a:r>
              <a:rPr kumimoji="0" lang="en-GB" altLang="en-US" sz="3200" b="0" i="0" u="none" strike="noStrike" cap="none" normalizeH="0" baseline="-30000" dirty="0">
                <a:ln>
                  <a:noFill/>
                </a:ln>
                <a:solidFill>
                  <a:srgbClr val="002060"/>
                </a:solidFill>
                <a:effectLst/>
                <a:ea typeface="Times New Roman" panose="02020603050405020304" pitchFamily="18" charset="0"/>
              </a:rPr>
              <a:t>5</a:t>
            </a:r>
            <a:r>
              <a:rPr kumimoji="0" lang="en-GB" altLang="en-US" sz="3200" b="0" i="0" u="none" strike="noStrike" cap="none" normalizeH="0" baseline="0" dirty="0">
                <a:ln>
                  <a:noFill/>
                </a:ln>
                <a:solidFill>
                  <a:srgbClr val="002060"/>
                </a:solidFill>
                <a:effectLst/>
                <a:ea typeface="Times New Roman" panose="02020603050405020304" pitchFamily="18" charset="0"/>
              </a:rPr>
              <a:t>, B</a:t>
            </a:r>
            <a:r>
              <a:rPr kumimoji="0" lang="en-GB" altLang="en-US" sz="3200" b="0" i="0" u="none" strike="noStrike" cap="none" normalizeH="0" baseline="-30000" dirty="0">
                <a:ln>
                  <a:noFill/>
                </a:ln>
                <a:solidFill>
                  <a:srgbClr val="002060"/>
                </a:solidFill>
                <a:effectLst/>
                <a:ea typeface="Times New Roman" panose="02020603050405020304" pitchFamily="18" charset="0"/>
              </a:rPr>
              <a:t>6</a:t>
            </a:r>
            <a:r>
              <a:rPr kumimoji="0" lang="en-GB" altLang="en-US" sz="3200" b="0" i="0" u="none" strike="noStrike" cap="none" normalizeH="0" baseline="0" dirty="0">
                <a:ln>
                  <a:noFill/>
                </a:ln>
                <a:solidFill>
                  <a:srgbClr val="002060"/>
                </a:solidFill>
                <a:effectLst/>
                <a:ea typeface="Times New Roman" panose="02020603050405020304" pitchFamily="18" charset="0"/>
              </a:rPr>
              <a:t>, …. can be determined.</a:t>
            </a:r>
            <a:endParaRPr kumimoji="0" lang="en-GB" altLang="en-US" sz="3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Fourier Series of waveform can then be determined.</a:t>
            </a:r>
          </a:p>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Remaining calculations are left to reader as an exercise.</a:t>
            </a:r>
            <a:r>
              <a:rPr kumimoji="0" lang="en-GB" altLang="en-US" sz="3200" b="0" i="0" u="none" strike="noStrike" cap="none" normalizeH="0" baseline="0" dirty="0">
                <a:ln>
                  <a:noFill/>
                </a:ln>
                <a:solidFill>
                  <a:schemeClr val="tx1"/>
                </a:solidFill>
                <a:effectLst/>
              </a:rPr>
              <a:t> </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A9113C41-F0A9-4BAC-A736-3FA7D275BD29}"/>
                  </a:ext>
                </a:extLst>
              </p:cNvPr>
              <p:cNvSpPr/>
              <p:nvPr/>
            </p:nvSpPr>
            <p:spPr>
              <a:xfrm>
                <a:off x="168442" y="3970410"/>
                <a:ext cx="11839074" cy="120661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3200" i="1" smtClean="0">
                              <a:solidFill>
                                <a:srgbClr val="002060"/>
                              </a:solidFill>
                              <a:latin typeface="Cambria Math" panose="02040503050406030204" pitchFamily="18" charset="0"/>
                            </a:rPr>
                          </m:ctrlPr>
                        </m:sSubPr>
                        <m:e>
                          <m:r>
                            <a:rPr lang="en-GB" sz="3200" i="1">
                              <a:solidFill>
                                <a:srgbClr val="002060"/>
                              </a:solidFill>
                              <a:latin typeface="Cambria Math" panose="02040503050406030204" pitchFamily="18" charset="0"/>
                            </a:rPr>
                            <m:t>𝐵</m:t>
                          </m:r>
                        </m:e>
                        <m:sub>
                          <m:r>
                            <a:rPr lang="en-GB" sz="3200" i="1">
                              <a:solidFill>
                                <a:srgbClr val="002060"/>
                              </a:solidFill>
                              <a:latin typeface="Cambria Math" panose="02040503050406030204" pitchFamily="18" charset="0"/>
                            </a:rPr>
                            <m:t>𝑛</m:t>
                          </m:r>
                        </m:sub>
                      </m:sSub>
                      <m:r>
                        <a:rPr lang="en-GB" sz="3200" i="0">
                          <a:solidFill>
                            <a:srgbClr val="002060"/>
                          </a:solidFill>
                          <a:latin typeface="Cambria Math" panose="02040503050406030204" pitchFamily="18" charset="0"/>
                        </a:rPr>
                        <m:t>=</m:t>
                      </m:r>
                      <m:f>
                        <m:fPr>
                          <m:ctrlPr>
                            <a:rPr lang="en-GB" sz="3200" i="1">
                              <a:solidFill>
                                <a:srgbClr val="002060"/>
                              </a:solidFill>
                              <a:latin typeface="Cambria Math" panose="02040503050406030204" pitchFamily="18" charset="0"/>
                            </a:rPr>
                          </m:ctrlPr>
                        </m:fPr>
                        <m:num>
                          <m:r>
                            <a:rPr lang="en-GB" sz="3200" i="0">
                              <a:solidFill>
                                <a:srgbClr val="002060"/>
                              </a:solidFill>
                              <a:latin typeface="Cambria Math" panose="02040503050406030204" pitchFamily="18" charset="0"/>
                            </a:rPr>
                            <m:t>2</m:t>
                          </m:r>
                        </m:num>
                        <m:den>
                          <m:r>
                            <a:rPr lang="en-GB" sz="3200" i="1">
                              <a:solidFill>
                                <a:srgbClr val="002060"/>
                              </a:solidFill>
                              <a:latin typeface="Cambria Math" panose="02040503050406030204" pitchFamily="18" charset="0"/>
                            </a:rPr>
                            <m:t>𝑇</m:t>
                          </m:r>
                        </m:den>
                      </m:f>
                      <m:nary>
                        <m:naryPr>
                          <m:limLoc m:val="subSup"/>
                          <m:ctrlPr>
                            <a:rPr lang="en-GB" sz="3200" i="1">
                              <a:solidFill>
                                <a:srgbClr val="002060"/>
                              </a:solidFill>
                              <a:latin typeface="Cambria Math" panose="02040503050406030204" pitchFamily="18" charset="0"/>
                            </a:rPr>
                          </m:ctrlPr>
                        </m:naryPr>
                        <m:sub>
                          <m:r>
                            <a:rPr lang="en-GB" sz="3200" i="0">
                              <a:solidFill>
                                <a:srgbClr val="002060"/>
                              </a:solidFill>
                              <a:latin typeface="Cambria Math" panose="02040503050406030204" pitchFamily="18" charset="0"/>
                            </a:rPr>
                            <m:t>−0.000333</m:t>
                          </m:r>
                        </m:sub>
                        <m:sup>
                          <m:r>
                            <a:rPr lang="en-GB" sz="3200" i="0">
                              <a:solidFill>
                                <a:srgbClr val="002060"/>
                              </a:solidFill>
                              <a:latin typeface="Cambria Math" panose="02040503050406030204" pitchFamily="18" charset="0"/>
                            </a:rPr>
                            <m:t>0.0025</m:t>
                          </m:r>
                        </m:sup>
                        <m:e>
                          <m:r>
                            <a:rPr lang="en-GB" sz="3200" i="1">
                              <a:solidFill>
                                <a:srgbClr val="002060"/>
                              </a:solidFill>
                              <a:latin typeface="Cambria Math" panose="02040503050406030204" pitchFamily="18" charset="0"/>
                            </a:rPr>
                            <m:t>𝑓</m:t>
                          </m:r>
                          <m:r>
                            <a:rPr lang="en-GB" sz="3200" i="0">
                              <a:solidFill>
                                <a:srgbClr val="002060"/>
                              </a:solidFill>
                              <a:latin typeface="Cambria Math" panose="02040503050406030204" pitchFamily="18" charset="0"/>
                            </a:rPr>
                            <m:t>(</m:t>
                          </m:r>
                          <m:r>
                            <a:rPr lang="en-GB" sz="3200" i="1">
                              <a:solidFill>
                                <a:srgbClr val="002060"/>
                              </a:solidFill>
                              <a:latin typeface="Cambria Math" panose="02040503050406030204" pitchFamily="18" charset="0"/>
                            </a:rPr>
                            <m:t>𝑡</m:t>
                          </m:r>
                          <m:r>
                            <a:rPr lang="en-GB" sz="3200" i="0">
                              <a:solidFill>
                                <a:srgbClr val="002060"/>
                              </a:solidFill>
                              <a:latin typeface="Cambria Math" panose="02040503050406030204" pitchFamily="18" charset="0"/>
                            </a:rPr>
                            <m:t>)⋅</m:t>
                          </m:r>
                          <m:func>
                            <m:funcPr>
                              <m:ctrlPr>
                                <a:rPr lang="en-GB" sz="3200" i="1">
                                  <a:solidFill>
                                    <a:srgbClr val="002060"/>
                                  </a:solidFill>
                                  <a:latin typeface="Cambria Math" panose="02040503050406030204" pitchFamily="18" charset="0"/>
                                </a:rPr>
                              </m:ctrlPr>
                            </m:funcPr>
                            <m:fName>
                              <m:r>
                                <a:rPr lang="en-GB" sz="3200" i="1">
                                  <a:solidFill>
                                    <a:srgbClr val="002060"/>
                                  </a:solidFill>
                                  <a:latin typeface="Cambria Math" panose="02040503050406030204" pitchFamily="18" charset="0"/>
                                </a:rPr>
                                <m:t>𝑠𝑖𝑛</m:t>
                              </m:r>
                            </m:fName>
                            <m:e>
                              <m:r>
                                <a:rPr lang="en-GB" sz="3200" i="1">
                                  <a:solidFill>
                                    <a:srgbClr val="002060"/>
                                  </a:solidFill>
                                  <a:latin typeface="Cambria Math" panose="02040503050406030204" pitchFamily="18" charset="0"/>
                                </a:rPr>
                                <m:t>𝑛</m:t>
                              </m:r>
                            </m:e>
                          </m:func>
                          <m:sSub>
                            <m:sSubPr>
                              <m:ctrlPr>
                                <a:rPr lang="en-GB" sz="3200" i="1">
                                  <a:solidFill>
                                    <a:srgbClr val="002060"/>
                                  </a:solidFill>
                                  <a:latin typeface="Cambria Math" panose="02040503050406030204" pitchFamily="18" charset="0"/>
                                </a:rPr>
                              </m:ctrlPr>
                            </m:sSubPr>
                            <m:e>
                              <m:r>
                                <a:rPr lang="en-GB" sz="3200" i="1">
                                  <a:solidFill>
                                    <a:srgbClr val="002060"/>
                                  </a:solidFill>
                                  <a:latin typeface="Cambria Math" panose="02040503050406030204" pitchFamily="18" charset="0"/>
                                </a:rPr>
                                <m:t>𝜔</m:t>
                              </m:r>
                            </m:e>
                            <m:sub>
                              <m:r>
                                <a:rPr lang="en-GB" sz="3200" i="1">
                                  <a:solidFill>
                                    <a:srgbClr val="002060"/>
                                  </a:solidFill>
                                  <a:latin typeface="Cambria Math" panose="02040503050406030204" pitchFamily="18" charset="0"/>
                                </a:rPr>
                                <m:t>𝑜</m:t>
                              </m:r>
                            </m:sub>
                          </m:sSub>
                          <m:r>
                            <a:rPr lang="en-GB" sz="3200" i="1">
                              <a:solidFill>
                                <a:srgbClr val="002060"/>
                              </a:solidFill>
                              <a:latin typeface="Cambria Math" panose="02040503050406030204" pitchFamily="18" charset="0"/>
                            </a:rPr>
                            <m:t>𝑡</m:t>
                          </m:r>
                          <m:r>
                            <a:rPr lang="en-GB" sz="3200" i="0">
                              <a:solidFill>
                                <a:srgbClr val="002060"/>
                              </a:solidFill>
                              <a:latin typeface="Cambria Math" panose="02040503050406030204" pitchFamily="18" charset="0"/>
                            </a:rPr>
                            <m:t>⋅</m:t>
                          </m:r>
                          <m:r>
                            <a:rPr lang="en-GB" sz="3200" i="1">
                              <a:solidFill>
                                <a:srgbClr val="002060"/>
                              </a:solidFill>
                              <a:latin typeface="Cambria Math" panose="02040503050406030204" pitchFamily="18" charset="0"/>
                            </a:rPr>
                            <m:t>𝑑𝑡</m:t>
                          </m:r>
                        </m:e>
                      </m:nary>
                      <m:r>
                        <a:rPr lang="en-GB" sz="3200" i="0">
                          <a:solidFill>
                            <a:srgbClr val="002060"/>
                          </a:solidFill>
                          <a:latin typeface="Cambria Math" panose="02040503050406030204" pitchFamily="18" charset="0"/>
                        </a:rPr>
                        <m:t>+</m:t>
                      </m:r>
                      <m:f>
                        <m:fPr>
                          <m:ctrlPr>
                            <a:rPr lang="en-GB" sz="3200" i="1">
                              <a:solidFill>
                                <a:srgbClr val="002060"/>
                              </a:solidFill>
                              <a:latin typeface="Cambria Math" panose="02040503050406030204" pitchFamily="18" charset="0"/>
                            </a:rPr>
                          </m:ctrlPr>
                        </m:fPr>
                        <m:num>
                          <m:r>
                            <a:rPr lang="en-GB" sz="3200" i="0">
                              <a:solidFill>
                                <a:srgbClr val="002060"/>
                              </a:solidFill>
                              <a:latin typeface="Cambria Math" panose="02040503050406030204" pitchFamily="18" charset="0"/>
                            </a:rPr>
                            <m:t>2</m:t>
                          </m:r>
                        </m:num>
                        <m:den>
                          <m:r>
                            <a:rPr lang="en-GB" sz="3200" i="1">
                              <a:solidFill>
                                <a:srgbClr val="002060"/>
                              </a:solidFill>
                              <a:latin typeface="Cambria Math" panose="02040503050406030204" pitchFamily="18" charset="0"/>
                            </a:rPr>
                            <m:t>𝑇</m:t>
                          </m:r>
                        </m:den>
                      </m:f>
                      <m:nary>
                        <m:naryPr>
                          <m:limLoc m:val="subSup"/>
                          <m:ctrlPr>
                            <a:rPr lang="en-GB" sz="3200" i="1">
                              <a:solidFill>
                                <a:srgbClr val="002060"/>
                              </a:solidFill>
                              <a:latin typeface="Cambria Math" panose="02040503050406030204" pitchFamily="18" charset="0"/>
                            </a:rPr>
                          </m:ctrlPr>
                        </m:naryPr>
                        <m:sub>
                          <m:r>
                            <a:rPr lang="en-GB" sz="3200" i="0">
                              <a:solidFill>
                                <a:srgbClr val="002060"/>
                              </a:solidFill>
                              <a:latin typeface="Cambria Math" panose="02040503050406030204" pitchFamily="18" charset="0"/>
                            </a:rPr>
                            <m:t>0.0025</m:t>
                          </m:r>
                        </m:sub>
                        <m:sup>
                          <m:r>
                            <a:rPr lang="en-GB" sz="3200" i="0">
                              <a:solidFill>
                                <a:srgbClr val="002060"/>
                              </a:solidFill>
                              <a:latin typeface="Cambria Math" panose="02040503050406030204" pitchFamily="18" charset="0"/>
                            </a:rPr>
                            <m:t>0.003</m:t>
                          </m:r>
                        </m:sup>
                        <m:e>
                          <m:r>
                            <a:rPr lang="en-GB" sz="3200" i="1">
                              <a:solidFill>
                                <a:srgbClr val="002060"/>
                              </a:solidFill>
                              <a:latin typeface="Cambria Math" panose="02040503050406030204" pitchFamily="18" charset="0"/>
                            </a:rPr>
                            <m:t>𝑓</m:t>
                          </m:r>
                          <m:r>
                            <a:rPr lang="en-GB" sz="3200" i="0">
                              <a:solidFill>
                                <a:srgbClr val="002060"/>
                              </a:solidFill>
                              <a:latin typeface="Cambria Math" panose="02040503050406030204" pitchFamily="18" charset="0"/>
                            </a:rPr>
                            <m:t>(</m:t>
                          </m:r>
                          <m:r>
                            <a:rPr lang="en-GB" sz="3200" i="1">
                              <a:solidFill>
                                <a:srgbClr val="002060"/>
                              </a:solidFill>
                              <a:latin typeface="Cambria Math" panose="02040503050406030204" pitchFamily="18" charset="0"/>
                            </a:rPr>
                            <m:t>𝑡</m:t>
                          </m:r>
                          <m:r>
                            <a:rPr lang="en-GB" sz="3200" i="0">
                              <a:solidFill>
                                <a:srgbClr val="002060"/>
                              </a:solidFill>
                              <a:latin typeface="Cambria Math" panose="02040503050406030204" pitchFamily="18" charset="0"/>
                            </a:rPr>
                            <m:t>)⋅</m:t>
                          </m:r>
                          <m:func>
                            <m:funcPr>
                              <m:ctrlPr>
                                <a:rPr lang="en-GB" sz="3200" i="1">
                                  <a:solidFill>
                                    <a:srgbClr val="002060"/>
                                  </a:solidFill>
                                  <a:latin typeface="Cambria Math" panose="02040503050406030204" pitchFamily="18" charset="0"/>
                                </a:rPr>
                              </m:ctrlPr>
                            </m:funcPr>
                            <m:fName>
                              <m:r>
                                <a:rPr lang="en-GB" sz="3200" i="1">
                                  <a:solidFill>
                                    <a:srgbClr val="002060"/>
                                  </a:solidFill>
                                  <a:latin typeface="Cambria Math" panose="02040503050406030204" pitchFamily="18" charset="0"/>
                                </a:rPr>
                                <m:t>𝑠𝑖𝑛</m:t>
                              </m:r>
                            </m:fName>
                            <m:e>
                              <m:r>
                                <a:rPr lang="en-GB" sz="3200" i="1">
                                  <a:solidFill>
                                    <a:srgbClr val="002060"/>
                                  </a:solidFill>
                                  <a:latin typeface="Cambria Math" panose="02040503050406030204" pitchFamily="18" charset="0"/>
                                </a:rPr>
                                <m:t>𝑛</m:t>
                              </m:r>
                            </m:e>
                          </m:func>
                          <m:sSub>
                            <m:sSubPr>
                              <m:ctrlPr>
                                <a:rPr lang="en-GB" sz="3200" i="1">
                                  <a:solidFill>
                                    <a:srgbClr val="002060"/>
                                  </a:solidFill>
                                  <a:latin typeface="Cambria Math" panose="02040503050406030204" pitchFamily="18" charset="0"/>
                                </a:rPr>
                              </m:ctrlPr>
                            </m:sSubPr>
                            <m:e>
                              <m:r>
                                <a:rPr lang="en-GB" sz="3200" i="1">
                                  <a:solidFill>
                                    <a:srgbClr val="002060"/>
                                  </a:solidFill>
                                  <a:latin typeface="Cambria Math" panose="02040503050406030204" pitchFamily="18" charset="0"/>
                                </a:rPr>
                                <m:t>𝜔</m:t>
                              </m:r>
                            </m:e>
                            <m:sub>
                              <m:r>
                                <a:rPr lang="en-GB" sz="3200" i="1">
                                  <a:solidFill>
                                    <a:srgbClr val="002060"/>
                                  </a:solidFill>
                                  <a:latin typeface="Cambria Math" panose="02040503050406030204" pitchFamily="18" charset="0"/>
                                </a:rPr>
                                <m:t>𝑜</m:t>
                              </m:r>
                            </m:sub>
                          </m:sSub>
                          <m:r>
                            <a:rPr lang="en-GB" sz="3200" i="1">
                              <a:solidFill>
                                <a:srgbClr val="002060"/>
                              </a:solidFill>
                              <a:latin typeface="Cambria Math" panose="02040503050406030204" pitchFamily="18" charset="0"/>
                            </a:rPr>
                            <m:t>𝑡</m:t>
                          </m:r>
                          <m:r>
                            <a:rPr lang="en-GB" sz="3200" i="0">
                              <a:solidFill>
                                <a:srgbClr val="002060"/>
                              </a:solidFill>
                              <a:latin typeface="Cambria Math" panose="02040503050406030204" pitchFamily="18" charset="0"/>
                            </a:rPr>
                            <m:t>⋅</m:t>
                          </m:r>
                          <m:r>
                            <a:rPr lang="en-GB" sz="3200" i="1">
                              <a:solidFill>
                                <a:srgbClr val="002060"/>
                              </a:solidFill>
                              <a:latin typeface="Cambria Math" panose="02040503050406030204" pitchFamily="18" charset="0"/>
                            </a:rPr>
                            <m:t>𝑑𝑡</m:t>
                          </m:r>
                        </m:e>
                      </m:nary>
                    </m:oMath>
                  </m:oMathPara>
                </a14:m>
                <a:endParaRPr lang="en-GB" sz="3200" dirty="0">
                  <a:solidFill>
                    <a:srgbClr val="002060"/>
                  </a:solidFill>
                </a:endParaRPr>
              </a:p>
            </p:txBody>
          </p:sp>
        </mc:Choice>
        <mc:Fallback xmlns="">
          <p:sp>
            <p:nvSpPr>
              <p:cNvPr id="6" name="Rectangle 5">
                <a:extLst>
                  <a:ext uri="{FF2B5EF4-FFF2-40B4-BE49-F238E27FC236}">
                    <a16:creationId xmlns:a16="http://schemas.microsoft.com/office/drawing/2014/main" id="{A9113C41-F0A9-4BAC-A736-3FA7D275BD29}"/>
                  </a:ext>
                </a:extLst>
              </p:cNvPr>
              <p:cNvSpPr>
                <a:spLocks noRot="1" noChangeAspect="1" noMove="1" noResize="1" noEditPoints="1" noAdjustHandles="1" noChangeArrowheads="1" noChangeShapeType="1" noTextEdit="1"/>
              </p:cNvSpPr>
              <p:nvPr/>
            </p:nvSpPr>
            <p:spPr>
              <a:xfrm>
                <a:off x="168442" y="3970410"/>
                <a:ext cx="11839074" cy="1206612"/>
              </a:xfrm>
              <a:prstGeom prst="rect">
                <a:avLst/>
              </a:prstGeom>
              <a:blipFill>
                <a:blip r:embed="rId8"/>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032685427"/>
      </p:ext>
    </p:extLst>
  </p:cSld>
  <p:clrMapOvr>
    <a:masterClrMapping/>
  </p:clrMapOvr>
  <mc:AlternateContent xmlns:mc="http://schemas.openxmlformats.org/markup-compatibility/2006" xmlns:p14="http://schemas.microsoft.com/office/powerpoint/2010/main">
    <mc:Choice Requires="p14">
      <p:transition spd="slow" p14:dur="2000" advTm="34167"/>
    </mc:Choice>
    <mc:Fallback xmlns="">
      <p:transition spd="slow" advTm="34167"/>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09600"/>
            <a:ext cx="10924085" cy="553998"/>
          </a:xfrm>
        </p:spPr>
        <p:txBody>
          <a:bodyPr>
            <a:normAutofit/>
          </a:bodyPr>
          <a:lstStyle/>
          <a:p>
            <a:r>
              <a:rPr lang="en-GB" dirty="0"/>
              <a:t>Effective Value of a Periodic Waveform</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12123862-982A-4EFB-B8D7-CA3069B4EA42}"/>
              </a:ext>
            </a:extLst>
          </p:cNvPr>
          <p:cNvGraphicFramePr>
            <a:graphicFrameLocks noChangeAspect="1"/>
          </p:cNvGraphicFramePr>
          <p:nvPr>
            <p:extLst>
              <p:ext uri="{D42A27DB-BD31-4B8C-83A1-F6EECF244321}">
                <p14:modId xmlns:p14="http://schemas.microsoft.com/office/powerpoint/2010/main" val="562246302"/>
              </p:ext>
            </p:extLst>
          </p:nvPr>
        </p:nvGraphicFramePr>
        <p:xfrm>
          <a:off x="320841" y="2646946"/>
          <a:ext cx="5295900" cy="1600200"/>
        </p:xfrm>
        <a:graphic>
          <a:graphicData uri="http://schemas.openxmlformats.org/presentationml/2006/ole">
            <mc:AlternateContent xmlns:mc="http://schemas.openxmlformats.org/markup-compatibility/2006">
              <mc:Choice xmlns:v="urn:schemas-microsoft-com:vml" Requires="v">
                <p:oleObj r:id="rId3" imgW="1549400" imgH="469900" progId="Equation.3">
                  <p:embed/>
                </p:oleObj>
              </mc:Choice>
              <mc:Fallback>
                <p:oleObj r:id="rId3" imgW="1549400" imgH="4699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841" y="2646946"/>
                        <a:ext cx="5295900" cy="160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449D255E-638A-48AC-89AE-7518C400B615}"/>
              </a:ext>
            </a:extLst>
          </p:cNvPr>
          <p:cNvGraphicFramePr>
            <a:graphicFrameLocks noChangeAspect="1"/>
          </p:cNvGraphicFramePr>
          <p:nvPr>
            <p:extLst>
              <p:ext uri="{D42A27DB-BD31-4B8C-83A1-F6EECF244321}">
                <p14:modId xmlns:p14="http://schemas.microsoft.com/office/powerpoint/2010/main" val="617734583"/>
              </p:ext>
            </p:extLst>
          </p:nvPr>
        </p:nvGraphicFramePr>
        <p:xfrm>
          <a:off x="152400" y="4800598"/>
          <a:ext cx="9833811" cy="1524000"/>
        </p:xfrm>
        <a:graphic>
          <a:graphicData uri="http://schemas.openxmlformats.org/presentationml/2006/ole">
            <mc:AlternateContent xmlns:mc="http://schemas.openxmlformats.org/markup-compatibility/2006">
              <mc:Choice xmlns:v="urn:schemas-microsoft-com:vml" Requires="v">
                <p:oleObj r:id="rId5" imgW="2616200" imgH="393700" progId="Equation.3">
                  <p:embed/>
                </p:oleObj>
              </mc:Choice>
              <mc:Fallback>
                <p:oleObj r:id="rId5" imgW="2616200" imgH="3937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4800598"/>
                        <a:ext cx="9833811" cy="1524000"/>
                      </a:xfrm>
                      <a:prstGeom prst="rect">
                        <a:avLst/>
                      </a:prstGeom>
                      <a:noFill/>
                    </p:spPr>
                  </p:pic>
                </p:oleObj>
              </mc:Fallback>
            </mc:AlternateContent>
          </a:graphicData>
        </a:graphic>
      </p:graphicFrame>
      <p:sp>
        <p:nvSpPr>
          <p:cNvPr id="5" name="Rectangle 3">
            <a:extLst>
              <a:ext uri="{FF2B5EF4-FFF2-40B4-BE49-F238E27FC236}">
                <a16:creationId xmlns:a16="http://schemas.microsoft.com/office/drawing/2014/main" id="{FE59B8F7-9700-4F7F-85A6-F96FBC5B980B}"/>
              </a:ext>
            </a:extLst>
          </p:cNvPr>
          <p:cNvSpPr>
            <a:spLocks noChangeArrowheads="1"/>
          </p:cNvSpPr>
          <p:nvPr/>
        </p:nvSpPr>
        <p:spPr bwMode="auto">
          <a:xfrm>
            <a:off x="152400" y="1238724"/>
            <a:ext cx="1092408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4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Defined in terms of power dissipation </a:t>
            </a:r>
            <a:endParaRPr kumimoji="0" lang="en-GB" altLang="en-US" sz="11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4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Same as the </a:t>
            </a:r>
            <a:r>
              <a:rPr kumimoji="0" lang="en-GB" altLang="en-US" sz="40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r.m.s.</a:t>
            </a:r>
            <a:r>
              <a:rPr kumimoji="0" lang="en-GB" altLang="en-US" sz="4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value of the waveform.</a:t>
            </a:r>
            <a:endParaRPr kumimoji="0" lang="en-GB" altLang="en-US" sz="1100" b="0" i="0" u="none" strike="noStrike" cap="none" normalizeH="0" baseline="0" dirty="0">
              <a:ln>
                <a:noFill/>
              </a:ln>
              <a:solidFill>
                <a:schemeClr val="tx1"/>
              </a:solidFill>
              <a:effectLst/>
              <a:latin typeface="Arial" panose="020B0604020202020204" pitchFamily="34" charset="0"/>
            </a:endParaRPr>
          </a:p>
        </p:txBody>
      </p:sp>
      <p:sp>
        <p:nvSpPr>
          <p:cNvPr id="6" name="Rectangle 4">
            <a:extLst>
              <a:ext uri="{FF2B5EF4-FFF2-40B4-BE49-F238E27FC236}">
                <a16:creationId xmlns:a16="http://schemas.microsoft.com/office/drawing/2014/main" id="{344F3F43-7860-42CC-A058-6D4354E0293D}"/>
              </a:ext>
            </a:extLst>
          </p:cNvPr>
          <p:cNvSpPr>
            <a:spLocks noChangeArrowheads="1"/>
          </p:cNvSpPr>
          <p:nvPr/>
        </p:nvSpPr>
        <p:spPr bwMode="auto">
          <a:xfrm>
            <a:off x="152400" y="4200996"/>
            <a:ext cx="11201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4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Since the periodic waveform may be defined as</a:t>
            </a:r>
            <a:endParaRPr kumimoji="0" lang="en-GB" altLang="en-US" sz="11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68868098"/>
      </p:ext>
    </p:extLst>
  </p:cSld>
  <p:clrMapOvr>
    <a:masterClrMapping/>
  </p:clrMapOvr>
  <mc:AlternateContent xmlns:mc="http://schemas.openxmlformats.org/markup-compatibility/2006" xmlns:p14="http://schemas.microsoft.com/office/powerpoint/2010/main">
    <mc:Choice Requires="p14">
      <p:transition spd="slow" p14:dur="2000" advTm="58496"/>
    </mc:Choice>
    <mc:Fallback xmlns="">
      <p:transition spd="slow" advTm="58496"/>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1F38FC86-221D-4FB6-BF5E-EC7250E865EA}"/>
              </a:ext>
            </a:extLst>
          </p:cNvPr>
          <p:cNvGraphicFramePr>
            <a:graphicFrameLocks noChangeAspect="1"/>
          </p:cNvGraphicFramePr>
          <p:nvPr>
            <p:extLst>
              <p:ext uri="{D42A27DB-BD31-4B8C-83A1-F6EECF244321}">
                <p14:modId xmlns:p14="http://schemas.microsoft.com/office/powerpoint/2010/main" val="3732045601"/>
              </p:ext>
            </p:extLst>
          </p:nvPr>
        </p:nvGraphicFramePr>
        <p:xfrm>
          <a:off x="152400" y="508526"/>
          <a:ext cx="10149840" cy="1577340"/>
        </p:xfrm>
        <a:graphic>
          <a:graphicData uri="http://schemas.openxmlformats.org/presentationml/2006/ole">
            <mc:AlternateContent xmlns:mc="http://schemas.openxmlformats.org/markup-compatibility/2006">
              <mc:Choice xmlns:v="urn:schemas-microsoft-com:vml" Requires="v">
                <p:oleObj r:id="rId3" imgW="3467100" imgH="533400" progId="Equation.3">
                  <p:embed/>
                </p:oleObj>
              </mc:Choice>
              <mc:Fallback>
                <p:oleObj r:id="rId3" imgW="3467100" imgH="5334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508526"/>
                        <a:ext cx="10149840" cy="15773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627C13FF-A131-418B-8847-98DA90063663}"/>
              </a:ext>
            </a:extLst>
          </p:cNvPr>
          <p:cNvGraphicFramePr>
            <a:graphicFrameLocks noChangeAspect="1"/>
          </p:cNvGraphicFramePr>
          <p:nvPr>
            <p:extLst>
              <p:ext uri="{D42A27DB-BD31-4B8C-83A1-F6EECF244321}">
                <p14:modId xmlns:p14="http://schemas.microsoft.com/office/powerpoint/2010/main" val="2972809325"/>
              </p:ext>
            </p:extLst>
          </p:nvPr>
        </p:nvGraphicFramePr>
        <p:xfrm>
          <a:off x="192405" y="2188694"/>
          <a:ext cx="11847195" cy="1354455"/>
        </p:xfrm>
        <a:graphic>
          <a:graphicData uri="http://schemas.openxmlformats.org/presentationml/2006/ole">
            <mc:AlternateContent xmlns:mc="http://schemas.openxmlformats.org/markup-compatibility/2006">
              <mc:Choice xmlns:v="urn:schemas-microsoft-com:vml" Requires="v">
                <p:oleObj r:id="rId5" imgW="5118100" imgH="584200" progId="Equation.3">
                  <p:embed/>
                </p:oleObj>
              </mc:Choice>
              <mc:Fallback>
                <p:oleObj r:id="rId5" imgW="5118100" imgH="5842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405" y="2188694"/>
                        <a:ext cx="11847195" cy="13544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a:extLst>
              <a:ext uri="{FF2B5EF4-FFF2-40B4-BE49-F238E27FC236}">
                <a16:creationId xmlns:a16="http://schemas.microsoft.com/office/drawing/2014/main" id="{06633CE1-7A88-47F9-942E-0CEF4A96DC82}"/>
              </a:ext>
            </a:extLst>
          </p:cNvPr>
          <p:cNvGraphicFramePr>
            <a:graphicFrameLocks noChangeAspect="1"/>
          </p:cNvGraphicFramePr>
          <p:nvPr>
            <p:extLst>
              <p:ext uri="{D42A27DB-BD31-4B8C-83A1-F6EECF244321}">
                <p14:modId xmlns:p14="http://schemas.microsoft.com/office/powerpoint/2010/main" val="3893623653"/>
              </p:ext>
            </p:extLst>
          </p:nvPr>
        </p:nvGraphicFramePr>
        <p:xfrm>
          <a:off x="0" y="4941969"/>
          <a:ext cx="10058400" cy="1474470"/>
        </p:xfrm>
        <a:graphic>
          <a:graphicData uri="http://schemas.openxmlformats.org/presentationml/2006/ole">
            <mc:AlternateContent xmlns:mc="http://schemas.openxmlformats.org/markup-compatibility/2006">
              <mc:Choice xmlns:v="urn:schemas-microsoft-com:vml" Requires="v">
                <p:oleObj r:id="rId7" imgW="4660900" imgH="584200" progId="Equation.3">
                  <p:embed/>
                </p:oleObj>
              </mc:Choice>
              <mc:Fallback>
                <p:oleObj r:id="rId7" imgW="4660900" imgH="584200"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4941969"/>
                        <a:ext cx="10058400" cy="1474470"/>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930F077D-462B-42F6-8AD6-F05E28E146AF}"/>
              </a:ext>
            </a:extLst>
          </p:cNvPr>
          <p:cNvSpPr>
            <a:spLocks noChangeAspect="1" noChangeArrowheads="1"/>
          </p:cNvSpPr>
          <p:nvPr/>
        </p:nvSpPr>
        <p:spPr bwMode="auto">
          <a:xfrm>
            <a:off x="0" y="0"/>
            <a:ext cx="10972800" cy="411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40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B005A034-0A6A-4134-8921-3914BB11FB9D}"/>
              </a:ext>
            </a:extLst>
          </p:cNvPr>
          <p:cNvSpPr>
            <a:spLocks noChangeAspect="1" noChangeArrowheads="1"/>
          </p:cNvSpPr>
          <p:nvPr/>
        </p:nvSpPr>
        <p:spPr bwMode="auto">
          <a:xfrm>
            <a:off x="0" y="2209800"/>
            <a:ext cx="10972800" cy="411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8" name="Rectangle 6">
            <a:extLst>
              <a:ext uri="{FF2B5EF4-FFF2-40B4-BE49-F238E27FC236}">
                <a16:creationId xmlns:a16="http://schemas.microsoft.com/office/drawing/2014/main" id="{F462A9B0-EE30-440A-AD54-2466A175DB18}"/>
              </a:ext>
            </a:extLst>
          </p:cNvPr>
          <p:cNvSpPr>
            <a:spLocks noChangeAspect="1" noChangeArrowheads="1"/>
          </p:cNvSpPr>
          <p:nvPr/>
        </p:nvSpPr>
        <p:spPr bwMode="auto">
          <a:xfrm>
            <a:off x="72189" y="3622425"/>
            <a:ext cx="121920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From trigonometry, only square terms will give non-zero integrals. </a:t>
            </a:r>
            <a:endParaRPr kumimoji="0" lang="en-GB"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Product terms</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will all give zero integrals.</a:t>
            </a:r>
            <a:endParaRPr kumimoji="0" lang="en-GB"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17731243"/>
      </p:ext>
    </p:extLst>
  </p:cSld>
  <p:clrMapOvr>
    <a:masterClrMapping/>
  </p:clrMapOvr>
  <mc:AlternateContent xmlns:mc="http://schemas.openxmlformats.org/markup-compatibility/2006" xmlns:p14="http://schemas.microsoft.com/office/powerpoint/2010/main">
    <mc:Choice Requires="p14">
      <p:transition spd="slow" p14:dur="2000" advTm="38466"/>
    </mc:Choice>
    <mc:Fallback xmlns="">
      <p:transition spd="slow" advTm="38466"/>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AE23B617-1777-45DD-B00C-1983FE9CA1A7}"/>
                  </a:ext>
                </a:extLst>
              </p:cNvPr>
              <p:cNvSpPr/>
              <p:nvPr/>
            </p:nvSpPr>
            <p:spPr>
              <a:xfrm>
                <a:off x="449179" y="609600"/>
                <a:ext cx="11293642" cy="5811014"/>
              </a:xfrm>
              <a:prstGeom prst="rect">
                <a:avLst/>
              </a:prstGeom>
            </p:spPr>
            <p:txBody>
              <a:bodyPr wrap="square">
                <a:spAutoFit/>
              </a:bodyPr>
              <a:lstStyle/>
              <a:p>
                <a:pPr algn="just">
                  <a:spcAft>
                    <a:spcPts val="600"/>
                  </a:spcAft>
                  <a:tabLst>
                    <a:tab pos="685800" algn="l"/>
                    <a:tab pos="3276600" algn="l"/>
                  </a:tabLst>
                </a:pPr>
                <a:r>
                  <a:rPr lang="en-GB" sz="3600" dirty="0">
                    <a:solidFill>
                      <a:srgbClr val="002060"/>
                    </a:solidFill>
                    <a:latin typeface="Times New Roman" panose="02020603050405020304" pitchFamily="18" charset="0"/>
                    <a:ea typeface="Times New Roman" panose="02020603050405020304" pitchFamily="18" charset="0"/>
                  </a:rPr>
                  <a:t>	</a:t>
                </a:r>
                <a14:m>
                  <m:oMath xmlns:m="http://schemas.openxmlformats.org/officeDocument/2006/math">
                    <m:f>
                      <m:fPr>
                        <m:ctrlPr>
                          <a:rPr lang="en-GB" sz="3600" i="1">
                            <a:solidFill>
                              <a:srgbClr val="002060"/>
                            </a:solidFill>
                            <a:latin typeface="Cambria Math" panose="02040503050406030204" pitchFamily="18" charset="0"/>
                            <a:ea typeface="Times New Roman" panose="02020603050405020304" pitchFamily="18" charset="0"/>
                          </a:rPr>
                        </m:ctrlPr>
                      </m:fPr>
                      <m:num>
                        <m:sSub>
                          <m:sSubPr>
                            <m:ctrlPr>
                              <a:rPr lang="en-GB" sz="3600" i="1">
                                <a:solidFill>
                                  <a:srgbClr val="002060"/>
                                </a:solidFill>
                                <a:latin typeface="Cambria Math" panose="02040503050406030204" pitchFamily="18" charset="0"/>
                                <a:ea typeface="Times New Roman" panose="02020603050405020304" pitchFamily="18" charset="0"/>
                              </a:rPr>
                            </m:ctrlPr>
                          </m:sSubPr>
                          <m:e>
                            <m:r>
                              <a:rPr lang="en-GB" sz="3600" i="1">
                                <a:solidFill>
                                  <a:srgbClr val="002060"/>
                                </a:solidFill>
                                <a:latin typeface="Cambria Math" panose="02040503050406030204" pitchFamily="18" charset="0"/>
                                <a:ea typeface="Times New Roman" panose="02020603050405020304" pitchFamily="18" charset="0"/>
                              </a:rPr>
                              <m:t>𝐴</m:t>
                            </m:r>
                          </m:e>
                          <m:sub>
                            <m:r>
                              <a:rPr lang="en-GB" sz="3600" i="1">
                                <a:solidFill>
                                  <a:srgbClr val="002060"/>
                                </a:solidFill>
                                <a:latin typeface="Cambria Math" panose="02040503050406030204" pitchFamily="18" charset="0"/>
                                <a:ea typeface="Times New Roman" panose="02020603050405020304" pitchFamily="18" charset="0"/>
                              </a:rPr>
                              <m:t>𝑜</m:t>
                            </m:r>
                          </m:sub>
                        </m:sSub>
                      </m:num>
                      <m:den>
                        <m:r>
                          <a:rPr lang="en-GB" sz="3600" i="1">
                            <a:solidFill>
                              <a:srgbClr val="002060"/>
                            </a:solidFill>
                            <a:latin typeface="Cambria Math" panose="02040503050406030204" pitchFamily="18" charset="0"/>
                            <a:ea typeface="Times New Roman" panose="02020603050405020304" pitchFamily="18" charset="0"/>
                          </a:rPr>
                          <m:t>2</m:t>
                        </m:r>
                      </m:den>
                    </m:f>
                  </m:oMath>
                </a14:m>
                <a:r>
                  <a:rPr lang="en-GB" sz="3600" dirty="0">
                    <a:solidFill>
                      <a:srgbClr val="002060"/>
                    </a:solidFill>
                    <a:latin typeface="Times New Roman" panose="02020603050405020304" pitchFamily="18" charset="0"/>
                    <a:ea typeface="Times New Roman" panose="02020603050405020304" pitchFamily="18" charset="0"/>
                  </a:rPr>
                  <a:t> is </a:t>
                </a:r>
                <a:r>
                  <a:rPr lang="en-GB" sz="3600" dirty="0" err="1">
                    <a:solidFill>
                      <a:srgbClr val="002060"/>
                    </a:solidFill>
                    <a:latin typeface="Times New Roman" panose="02020603050405020304" pitchFamily="18" charset="0"/>
                    <a:ea typeface="Times New Roman" panose="02020603050405020304" pitchFamily="18" charset="0"/>
                  </a:rPr>
                  <a:t>d.c.</a:t>
                </a:r>
                <a:r>
                  <a:rPr lang="en-GB" sz="3600" dirty="0">
                    <a:solidFill>
                      <a:srgbClr val="002060"/>
                    </a:solidFill>
                    <a:latin typeface="Times New Roman" panose="02020603050405020304" pitchFamily="18" charset="0"/>
                    <a:ea typeface="Times New Roman" panose="02020603050405020304" pitchFamily="18" charset="0"/>
                  </a:rPr>
                  <a:t> term, </a:t>
                </a:r>
                <a:endParaRPr lang="en-GB" sz="3600" dirty="0">
                  <a:effectLst/>
                  <a:latin typeface="Times New Roman" panose="02020603050405020304" pitchFamily="18" charset="0"/>
                  <a:ea typeface="Times New Roman" panose="02020603050405020304" pitchFamily="18" charset="0"/>
                </a:endParaRPr>
              </a:p>
              <a:p>
                <a:pPr algn="just">
                  <a:spcAft>
                    <a:spcPts val="600"/>
                  </a:spcAft>
                  <a:tabLst>
                    <a:tab pos="685800" algn="l"/>
                    <a:tab pos="3276600" algn="l"/>
                  </a:tabLst>
                </a:pPr>
                <a:r>
                  <a:rPr lang="en-GB" sz="3600" dirty="0">
                    <a:solidFill>
                      <a:srgbClr val="002060"/>
                    </a:solidFill>
                    <a:latin typeface="Times New Roman" panose="02020603050405020304" pitchFamily="18" charset="0"/>
                    <a:ea typeface="Times New Roman" panose="02020603050405020304" pitchFamily="18" charset="0"/>
                  </a:rPr>
                  <a:t>	</a:t>
                </a:r>
                <a14:m>
                  <m:oMath xmlns:m="http://schemas.openxmlformats.org/officeDocument/2006/math">
                    <m:f>
                      <m:fPr>
                        <m:ctrlPr>
                          <a:rPr lang="en-GB" sz="3600" i="1">
                            <a:solidFill>
                              <a:srgbClr val="002060"/>
                            </a:solidFill>
                            <a:latin typeface="Cambria Math" panose="02040503050406030204" pitchFamily="18" charset="0"/>
                            <a:ea typeface="Times New Roman" panose="02020603050405020304" pitchFamily="18" charset="0"/>
                          </a:rPr>
                        </m:ctrlPr>
                      </m:fPr>
                      <m:num>
                        <m:rad>
                          <m:radPr>
                            <m:degHide m:val="on"/>
                            <m:ctrlPr>
                              <a:rPr lang="en-GB" sz="3600" i="1">
                                <a:solidFill>
                                  <a:srgbClr val="002060"/>
                                </a:solidFill>
                                <a:latin typeface="Cambria Math" panose="02040503050406030204" pitchFamily="18" charset="0"/>
                                <a:ea typeface="Times New Roman" panose="02020603050405020304" pitchFamily="18" charset="0"/>
                              </a:rPr>
                            </m:ctrlPr>
                          </m:radPr>
                          <m:deg/>
                          <m:e>
                            <m:r>
                              <a:rPr lang="en-GB" sz="3600" i="1">
                                <a:solidFill>
                                  <a:srgbClr val="002060"/>
                                </a:solidFill>
                                <a:latin typeface="Cambria Math" panose="02040503050406030204" pitchFamily="18" charset="0"/>
                                <a:ea typeface="Times New Roman" panose="02020603050405020304" pitchFamily="18" charset="0"/>
                              </a:rPr>
                              <m:t>(</m:t>
                            </m:r>
                            <m:sSubSup>
                              <m:sSubSupPr>
                                <m:ctrlPr>
                                  <a:rPr lang="en-GB" sz="3600" i="1">
                                    <a:solidFill>
                                      <a:srgbClr val="002060"/>
                                    </a:solidFill>
                                    <a:latin typeface="Cambria Math" panose="02040503050406030204" pitchFamily="18" charset="0"/>
                                    <a:ea typeface="Times New Roman" panose="02020603050405020304" pitchFamily="18" charset="0"/>
                                  </a:rPr>
                                </m:ctrlPr>
                              </m:sSubSupPr>
                              <m:e>
                                <m:r>
                                  <a:rPr lang="en-GB" sz="3600" i="1">
                                    <a:solidFill>
                                      <a:srgbClr val="002060"/>
                                    </a:solidFill>
                                    <a:latin typeface="Cambria Math" panose="02040503050406030204" pitchFamily="18" charset="0"/>
                                    <a:ea typeface="Times New Roman" panose="02020603050405020304" pitchFamily="18" charset="0"/>
                                  </a:rPr>
                                  <m:t>𝐴</m:t>
                                </m:r>
                              </m:e>
                              <m:sub>
                                <m:r>
                                  <a:rPr lang="en-GB" sz="3600" i="1">
                                    <a:solidFill>
                                      <a:srgbClr val="002060"/>
                                    </a:solidFill>
                                    <a:latin typeface="Cambria Math" panose="02040503050406030204" pitchFamily="18" charset="0"/>
                                    <a:ea typeface="Times New Roman" panose="02020603050405020304" pitchFamily="18" charset="0"/>
                                  </a:rPr>
                                  <m:t>𝑛</m:t>
                                </m:r>
                              </m:sub>
                              <m:sup>
                                <m:r>
                                  <a:rPr lang="en-GB" sz="3600" i="1">
                                    <a:solidFill>
                                      <a:srgbClr val="002060"/>
                                    </a:solidFill>
                                    <a:latin typeface="Cambria Math" panose="02040503050406030204" pitchFamily="18" charset="0"/>
                                    <a:ea typeface="Times New Roman" panose="02020603050405020304" pitchFamily="18" charset="0"/>
                                  </a:rPr>
                                  <m:t>2</m:t>
                                </m:r>
                              </m:sup>
                            </m:sSubSup>
                            <m:r>
                              <a:rPr lang="en-GB" sz="3600" i="1">
                                <a:solidFill>
                                  <a:srgbClr val="002060"/>
                                </a:solidFill>
                                <a:latin typeface="Cambria Math" panose="02040503050406030204" pitchFamily="18" charset="0"/>
                                <a:ea typeface="Times New Roman" panose="02020603050405020304" pitchFamily="18" charset="0"/>
                              </a:rPr>
                              <m:t>+</m:t>
                            </m:r>
                            <m:sSubSup>
                              <m:sSubSupPr>
                                <m:ctrlPr>
                                  <a:rPr lang="en-GB" sz="3600" i="1">
                                    <a:solidFill>
                                      <a:srgbClr val="002060"/>
                                    </a:solidFill>
                                    <a:latin typeface="Cambria Math" panose="02040503050406030204" pitchFamily="18" charset="0"/>
                                    <a:ea typeface="Times New Roman" panose="02020603050405020304" pitchFamily="18" charset="0"/>
                                  </a:rPr>
                                </m:ctrlPr>
                              </m:sSubSupPr>
                              <m:e>
                                <m:r>
                                  <a:rPr lang="en-GB" sz="3600" i="1">
                                    <a:solidFill>
                                      <a:srgbClr val="002060"/>
                                    </a:solidFill>
                                    <a:latin typeface="Cambria Math" panose="02040503050406030204" pitchFamily="18" charset="0"/>
                                    <a:ea typeface="Times New Roman" panose="02020603050405020304" pitchFamily="18" charset="0"/>
                                  </a:rPr>
                                  <m:t>𝐵</m:t>
                                </m:r>
                              </m:e>
                              <m:sub>
                                <m:r>
                                  <a:rPr lang="en-GB" sz="3600" i="1">
                                    <a:solidFill>
                                      <a:srgbClr val="002060"/>
                                    </a:solidFill>
                                    <a:latin typeface="Cambria Math" panose="02040503050406030204" pitchFamily="18" charset="0"/>
                                    <a:ea typeface="Times New Roman" panose="02020603050405020304" pitchFamily="18" charset="0"/>
                                  </a:rPr>
                                  <m:t>𝑛</m:t>
                                </m:r>
                              </m:sub>
                              <m:sup>
                                <m:r>
                                  <a:rPr lang="en-GB" sz="3600" i="1">
                                    <a:solidFill>
                                      <a:srgbClr val="002060"/>
                                    </a:solidFill>
                                    <a:latin typeface="Cambria Math" panose="02040503050406030204" pitchFamily="18" charset="0"/>
                                    <a:ea typeface="Times New Roman" panose="02020603050405020304" pitchFamily="18" charset="0"/>
                                  </a:rPr>
                                  <m:t>2</m:t>
                                </m:r>
                              </m:sup>
                            </m:sSubSup>
                            <m:r>
                              <a:rPr lang="en-GB" sz="3600" i="1">
                                <a:solidFill>
                                  <a:srgbClr val="002060"/>
                                </a:solidFill>
                                <a:latin typeface="Cambria Math" panose="02040503050406030204" pitchFamily="18" charset="0"/>
                                <a:ea typeface="Times New Roman" panose="02020603050405020304" pitchFamily="18" charset="0"/>
                              </a:rPr>
                              <m:t>)</m:t>
                            </m:r>
                          </m:e>
                        </m:rad>
                      </m:num>
                      <m:den>
                        <m:rad>
                          <m:radPr>
                            <m:degHide m:val="on"/>
                            <m:ctrlPr>
                              <a:rPr lang="en-GB" sz="3600" i="1">
                                <a:solidFill>
                                  <a:srgbClr val="002060"/>
                                </a:solidFill>
                                <a:latin typeface="Cambria Math" panose="02040503050406030204" pitchFamily="18" charset="0"/>
                                <a:ea typeface="Times New Roman" panose="02020603050405020304" pitchFamily="18" charset="0"/>
                              </a:rPr>
                            </m:ctrlPr>
                          </m:radPr>
                          <m:deg/>
                          <m:e>
                            <m:r>
                              <a:rPr lang="en-GB" sz="3600" i="1">
                                <a:solidFill>
                                  <a:srgbClr val="002060"/>
                                </a:solidFill>
                                <a:latin typeface="Cambria Math" panose="02040503050406030204" pitchFamily="18" charset="0"/>
                                <a:ea typeface="Times New Roman" panose="02020603050405020304" pitchFamily="18" charset="0"/>
                              </a:rPr>
                              <m:t>2</m:t>
                            </m:r>
                          </m:e>
                        </m:rad>
                      </m:den>
                    </m:f>
                  </m:oMath>
                </a14:m>
                <a:r>
                  <a:rPr lang="en-GB" sz="3600" dirty="0">
                    <a:solidFill>
                      <a:srgbClr val="002060"/>
                    </a:solidFill>
                    <a:latin typeface="Times New Roman" panose="02020603050405020304" pitchFamily="18" charset="0"/>
                    <a:ea typeface="Times New Roman" panose="02020603050405020304" pitchFamily="18" charset="0"/>
                  </a:rPr>
                  <a:t> is </a:t>
                </a:r>
                <a:r>
                  <a:rPr lang="en-GB" sz="3600" dirty="0" err="1">
                    <a:solidFill>
                      <a:srgbClr val="002060"/>
                    </a:solidFill>
                    <a:latin typeface="Times New Roman" panose="02020603050405020304" pitchFamily="18" charset="0"/>
                    <a:ea typeface="Times New Roman" panose="02020603050405020304" pitchFamily="18" charset="0"/>
                  </a:rPr>
                  <a:t>r.m.s.</a:t>
                </a:r>
                <a:r>
                  <a:rPr lang="en-GB" sz="3600" dirty="0">
                    <a:solidFill>
                      <a:srgbClr val="002060"/>
                    </a:solidFill>
                    <a:latin typeface="Times New Roman" panose="02020603050405020304" pitchFamily="18" charset="0"/>
                    <a:ea typeface="Times New Roman" panose="02020603050405020304" pitchFamily="18" charset="0"/>
                  </a:rPr>
                  <a:t> value of n</a:t>
                </a:r>
                <a:r>
                  <a:rPr lang="en-GB" sz="3600" baseline="30000" dirty="0">
                    <a:solidFill>
                      <a:srgbClr val="002060"/>
                    </a:solidFill>
                    <a:latin typeface="Times New Roman" panose="02020603050405020304" pitchFamily="18" charset="0"/>
                    <a:ea typeface="Times New Roman" panose="02020603050405020304" pitchFamily="18" charset="0"/>
                  </a:rPr>
                  <a:t>th</a:t>
                </a:r>
                <a:r>
                  <a:rPr lang="en-GB" sz="3600" dirty="0">
                    <a:solidFill>
                      <a:srgbClr val="002060"/>
                    </a:solidFill>
                    <a:latin typeface="Times New Roman" panose="02020603050405020304" pitchFamily="18" charset="0"/>
                    <a:ea typeface="Times New Roman" panose="02020603050405020304" pitchFamily="18" charset="0"/>
                  </a:rPr>
                  <a:t> harmonic</a:t>
                </a:r>
                <a:endParaRPr lang="en-GB" sz="3600" dirty="0">
                  <a:effectLst/>
                  <a:latin typeface="Times New Roman" panose="02020603050405020304" pitchFamily="18" charset="0"/>
                  <a:ea typeface="Times New Roman" panose="02020603050405020304" pitchFamily="18" charset="0"/>
                </a:endParaRPr>
              </a:p>
              <a:p>
                <a:pPr algn="just">
                  <a:spcAft>
                    <a:spcPts val="600"/>
                  </a:spcAft>
                  <a:tabLst>
                    <a:tab pos="381000" algn="l"/>
                    <a:tab pos="3276600" algn="l"/>
                  </a:tabLst>
                </a:pPr>
                <a:r>
                  <a:rPr lang="en-GB" sz="3600" dirty="0">
                    <a:solidFill>
                      <a:srgbClr val="002060"/>
                    </a:solidFill>
                    <a:latin typeface="Times New Roman" panose="02020603050405020304" pitchFamily="18" charset="0"/>
                    <a:ea typeface="Times New Roman" panose="02020603050405020304" pitchFamily="18" charset="0"/>
                  </a:rPr>
                  <a:t>Effective value or </a:t>
                </a:r>
                <a:r>
                  <a:rPr lang="en-GB" sz="3600" dirty="0" err="1">
                    <a:solidFill>
                      <a:srgbClr val="002060"/>
                    </a:solidFill>
                    <a:latin typeface="Times New Roman" panose="02020603050405020304" pitchFamily="18" charset="0"/>
                    <a:ea typeface="Times New Roman" panose="02020603050405020304" pitchFamily="18" charset="0"/>
                  </a:rPr>
                  <a:t>r.m.s.</a:t>
                </a:r>
                <a:r>
                  <a:rPr lang="en-GB" sz="3600" dirty="0">
                    <a:solidFill>
                      <a:srgbClr val="002060"/>
                    </a:solidFill>
                    <a:latin typeface="Times New Roman" panose="02020603050405020304" pitchFamily="18" charset="0"/>
                    <a:ea typeface="Times New Roman" panose="02020603050405020304" pitchFamily="18" charset="0"/>
                  </a:rPr>
                  <a:t> value of a periodic waveform is </a:t>
                </a:r>
                <a:endParaRPr lang="en-GB" sz="3600" dirty="0">
                  <a:effectLst/>
                  <a:latin typeface="Times New Roman" panose="02020603050405020304" pitchFamily="18" charset="0"/>
                  <a:ea typeface="Times New Roman" panose="02020603050405020304" pitchFamily="18" charset="0"/>
                </a:endParaRPr>
              </a:p>
              <a:p>
                <a:pPr algn="just">
                  <a:spcAft>
                    <a:spcPts val="600"/>
                  </a:spcAft>
                  <a:tabLst>
                    <a:tab pos="381000" algn="l"/>
                    <a:tab pos="3276600" algn="l"/>
                  </a:tabLst>
                </a:pPr>
                <a:r>
                  <a:rPr lang="en-GB" sz="3600" dirty="0">
                    <a:solidFill>
                      <a:srgbClr val="002060"/>
                    </a:solidFill>
                    <a:latin typeface="Times New Roman" panose="02020603050405020304" pitchFamily="18" charset="0"/>
                    <a:ea typeface="Times New Roman" panose="02020603050405020304" pitchFamily="18" charset="0"/>
                  </a:rPr>
                  <a:t>square root of sum of squares of </a:t>
                </a:r>
                <a:r>
                  <a:rPr lang="en-GB" sz="3600" dirty="0" err="1">
                    <a:solidFill>
                      <a:srgbClr val="002060"/>
                    </a:solidFill>
                    <a:latin typeface="Times New Roman" panose="02020603050405020304" pitchFamily="18" charset="0"/>
                    <a:ea typeface="Times New Roman" panose="02020603050405020304" pitchFamily="18" charset="0"/>
                  </a:rPr>
                  <a:t>r.m.s.</a:t>
                </a:r>
                <a:r>
                  <a:rPr lang="en-GB" sz="3600" dirty="0">
                    <a:solidFill>
                      <a:srgbClr val="002060"/>
                    </a:solidFill>
                    <a:latin typeface="Times New Roman" panose="02020603050405020304" pitchFamily="18" charset="0"/>
                    <a:ea typeface="Times New Roman" panose="02020603050405020304" pitchFamily="18" charset="0"/>
                  </a:rPr>
                  <a:t> components.</a:t>
                </a:r>
                <a:endParaRPr lang="en-GB" sz="3600" dirty="0">
                  <a:effectLst/>
                  <a:latin typeface="Times New Roman" panose="02020603050405020304" pitchFamily="18" charset="0"/>
                  <a:ea typeface="Times New Roman" panose="02020603050405020304" pitchFamily="18" charset="0"/>
                </a:endParaRPr>
              </a:p>
              <a:p>
                <a:pPr algn="just">
                  <a:spcAft>
                    <a:spcPts val="600"/>
                  </a:spcAft>
                  <a:tabLst>
                    <a:tab pos="381000" algn="l"/>
                    <a:tab pos="3276600" algn="l"/>
                  </a:tabLst>
                </a:pPr>
                <a14:m>
                  <m:oMathPara xmlns:m="http://schemas.openxmlformats.org/officeDocument/2006/math">
                    <m:oMathParaPr>
                      <m:jc m:val="centerGroup"/>
                    </m:oMathParaPr>
                    <m:oMath xmlns:m="http://schemas.openxmlformats.org/officeDocument/2006/math">
                      <m:sSub>
                        <m:sSubPr>
                          <m:ctrlPr>
                            <a:rPr lang="en-GB" sz="3600" i="1">
                              <a:solidFill>
                                <a:srgbClr val="002060"/>
                              </a:solidFill>
                              <a:latin typeface="Cambria Math" panose="02040503050406030204" pitchFamily="18" charset="0"/>
                              <a:ea typeface="Times New Roman" panose="02020603050405020304" pitchFamily="18" charset="0"/>
                            </a:rPr>
                          </m:ctrlPr>
                        </m:sSubPr>
                        <m:e>
                          <m:r>
                            <a:rPr lang="en-GB" sz="3600" i="1">
                              <a:solidFill>
                                <a:srgbClr val="002060"/>
                              </a:solidFill>
                              <a:latin typeface="Cambria Math" panose="02040503050406030204" pitchFamily="18" charset="0"/>
                              <a:ea typeface="Times New Roman" panose="02020603050405020304" pitchFamily="18" charset="0"/>
                            </a:rPr>
                            <m:t>𝐴</m:t>
                          </m:r>
                        </m:e>
                        <m:sub>
                          <m:r>
                            <a:rPr lang="en-GB" sz="3600" i="1">
                              <a:solidFill>
                                <a:srgbClr val="002060"/>
                              </a:solidFill>
                              <a:latin typeface="Cambria Math" panose="02040503050406030204" pitchFamily="18" charset="0"/>
                              <a:ea typeface="Times New Roman" panose="02020603050405020304" pitchFamily="18" charset="0"/>
                            </a:rPr>
                            <m:t>𝑒𝑓𝑓</m:t>
                          </m:r>
                        </m:sub>
                      </m:sSub>
                      <m:r>
                        <a:rPr lang="en-GB" sz="3600" i="1">
                          <a:solidFill>
                            <a:srgbClr val="002060"/>
                          </a:solidFill>
                          <a:latin typeface="Cambria Math" panose="02040503050406030204" pitchFamily="18" charset="0"/>
                          <a:ea typeface="Times New Roman" panose="02020603050405020304" pitchFamily="18" charset="0"/>
                        </a:rPr>
                        <m:t>=</m:t>
                      </m:r>
                      <m:rad>
                        <m:radPr>
                          <m:degHide m:val="on"/>
                          <m:ctrlPr>
                            <a:rPr lang="en-GB" sz="3600" i="1">
                              <a:solidFill>
                                <a:srgbClr val="002060"/>
                              </a:solidFill>
                              <a:latin typeface="Cambria Math" panose="02040503050406030204" pitchFamily="18" charset="0"/>
                              <a:ea typeface="Times New Roman" panose="02020603050405020304" pitchFamily="18" charset="0"/>
                            </a:rPr>
                          </m:ctrlPr>
                        </m:radPr>
                        <m:deg/>
                        <m:e>
                          <m:sSup>
                            <m:sSupPr>
                              <m:ctrlPr>
                                <a:rPr lang="en-GB" sz="3600" i="1">
                                  <a:solidFill>
                                    <a:srgbClr val="002060"/>
                                  </a:solidFill>
                                  <a:latin typeface="Cambria Math" panose="02040503050406030204" pitchFamily="18" charset="0"/>
                                  <a:ea typeface="Times New Roman" panose="02020603050405020304" pitchFamily="18" charset="0"/>
                                </a:rPr>
                              </m:ctrlPr>
                            </m:sSupPr>
                            <m:e>
                              <m:d>
                                <m:dPr>
                                  <m:ctrlPr>
                                    <a:rPr lang="en-GB" sz="3600" i="1">
                                      <a:solidFill>
                                        <a:srgbClr val="002060"/>
                                      </a:solidFill>
                                      <a:latin typeface="Cambria Math" panose="02040503050406030204" pitchFamily="18" charset="0"/>
                                      <a:ea typeface="Times New Roman" panose="02020603050405020304" pitchFamily="18" charset="0"/>
                                    </a:rPr>
                                  </m:ctrlPr>
                                </m:dPr>
                                <m:e>
                                  <m:sSub>
                                    <m:sSubPr>
                                      <m:ctrlPr>
                                        <a:rPr lang="en-GB" sz="3600" i="1">
                                          <a:solidFill>
                                            <a:srgbClr val="002060"/>
                                          </a:solidFill>
                                          <a:latin typeface="Cambria Math" panose="02040503050406030204" pitchFamily="18" charset="0"/>
                                          <a:ea typeface="Times New Roman" panose="02020603050405020304" pitchFamily="18" charset="0"/>
                                        </a:rPr>
                                      </m:ctrlPr>
                                    </m:sSubPr>
                                    <m:e>
                                      <m:r>
                                        <a:rPr lang="en-GB" sz="3600" i="1">
                                          <a:solidFill>
                                            <a:srgbClr val="002060"/>
                                          </a:solidFill>
                                          <a:latin typeface="Cambria Math" panose="02040503050406030204" pitchFamily="18" charset="0"/>
                                          <a:ea typeface="Times New Roman" panose="02020603050405020304" pitchFamily="18" charset="0"/>
                                        </a:rPr>
                                        <m:t>𝐴</m:t>
                                      </m:r>
                                    </m:e>
                                    <m:sub>
                                      <m:r>
                                        <a:rPr lang="en-GB" sz="3600" i="1">
                                          <a:solidFill>
                                            <a:srgbClr val="002060"/>
                                          </a:solidFill>
                                          <a:latin typeface="Cambria Math" panose="02040503050406030204" pitchFamily="18" charset="0"/>
                                          <a:ea typeface="Times New Roman" panose="02020603050405020304" pitchFamily="18" charset="0"/>
                                        </a:rPr>
                                        <m:t>𝑑𝑐</m:t>
                                      </m:r>
                                    </m:sub>
                                  </m:sSub>
                                </m:e>
                              </m:d>
                            </m:e>
                            <m:sup>
                              <m:r>
                                <a:rPr lang="en-GB" sz="3600" i="1">
                                  <a:solidFill>
                                    <a:srgbClr val="002060"/>
                                  </a:solidFill>
                                  <a:latin typeface="Cambria Math" panose="02040503050406030204" pitchFamily="18" charset="0"/>
                                  <a:ea typeface="Times New Roman" panose="02020603050405020304" pitchFamily="18" charset="0"/>
                                </a:rPr>
                                <m:t>2</m:t>
                              </m:r>
                            </m:sup>
                          </m:sSup>
                          <m:r>
                            <a:rPr lang="en-GB" sz="3600" i="1">
                              <a:solidFill>
                                <a:srgbClr val="002060"/>
                              </a:solidFill>
                              <a:latin typeface="Cambria Math" panose="02040503050406030204" pitchFamily="18" charset="0"/>
                              <a:ea typeface="Times New Roman" panose="02020603050405020304" pitchFamily="18" charset="0"/>
                            </a:rPr>
                            <m:t>+</m:t>
                          </m:r>
                          <m:nary>
                            <m:naryPr>
                              <m:chr m:val="∑"/>
                              <m:ctrlPr>
                                <a:rPr lang="en-GB" sz="3600" i="1">
                                  <a:solidFill>
                                    <a:srgbClr val="002060"/>
                                  </a:solidFill>
                                  <a:latin typeface="Cambria Math" panose="02040503050406030204" pitchFamily="18" charset="0"/>
                                  <a:ea typeface="Times New Roman" panose="02020603050405020304" pitchFamily="18" charset="0"/>
                                </a:rPr>
                              </m:ctrlPr>
                            </m:naryPr>
                            <m:sub>
                              <m:r>
                                <a:rPr lang="en-GB" sz="3600" i="1">
                                  <a:solidFill>
                                    <a:srgbClr val="002060"/>
                                  </a:solidFill>
                                  <a:latin typeface="Cambria Math" panose="02040503050406030204" pitchFamily="18" charset="0"/>
                                  <a:ea typeface="Times New Roman" panose="02020603050405020304" pitchFamily="18" charset="0"/>
                                </a:rPr>
                                <m:t>𝑛</m:t>
                              </m:r>
                              <m:r>
                                <a:rPr lang="en-GB" sz="3600" i="1">
                                  <a:solidFill>
                                    <a:srgbClr val="002060"/>
                                  </a:solidFill>
                                  <a:latin typeface="Cambria Math" panose="02040503050406030204" pitchFamily="18" charset="0"/>
                                  <a:ea typeface="Times New Roman" panose="02020603050405020304" pitchFamily="18" charset="0"/>
                                </a:rPr>
                                <m:t>=1</m:t>
                              </m:r>
                            </m:sub>
                            <m:sup>
                              <m:r>
                                <a:rPr lang="en-GB" sz="3600" i="1">
                                  <a:solidFill>
                                    <a:srgbClr val="002060"/>
                                  </a:solidFill>
                                  <a:latin typeface="Cambria Math" panose="02040503050406030204" pitchFamily="18" charset="0"/>
                                  <a:ea typeface="Times New Roman" panose="02020603050405020304" pitchFamily="18" charset="0"/>
                                </a:rPr>
                                <m:t>∞</m:t>
                              </m:r>
                            </m:sup>
                            <m:e>
                              <m:sSup>
                                <m:sSupPr>
                                  <m:ctrlPr>
                                    <a:rPr lang="en-GB" sz="3600" i="1">
                                      <a:solidFill>
                                        <a:srgbClr val="002060"/>
                                      </a:solidFill>
                                      <a:latin typeface="Cambria Math" panose="02040503050406030204" pitchFamily="18" charset="0"/>
                                      <a:ea typeface="Times New Roman" panose="02020603050405020304" pitchFamily="18" charset="0"/>
                                    </a:rPr>
                                  </m:ctrlPr>
                                </m:sSupPr>
                                <m:e>
                                  <m:sSub>
                                    <m:sSubPr>
                                      <m:ctrlPr>
                                        <a:rPr lang="en-GB" sz="3600" i="1">
                                          <a:solidFill>
                                            <a:srgbClr val="002060"/>
                                          </a:solidFill>
                                          <a:latin typeface="Cambria Math" panose="02040503050406030204" pitchFamily="18" charset="0"/>
                                          <a:ea typeface="Times New Roman" panose="02020603050405020304" pitchFamily="18" charset="0"/>
                                        </a:rPr>
                                      </m:ctrlPr>
                                    </m:sSubPr>
                                    <m:e>
                                      <m:r>
                                        <a:rPr lang="en-GB" sz="3600" i="1">
                                          <a:solidFill>
                                            <a:srgbClr val="002060"/>
                                          </a:solidFill>
                                          <a:latin typeface="Cambria Math" panose="02040503050406030204" pitchFamily="18" charset="0"/>
                                          <a:ea typeface="Times New Roman" panose="02020603050405020304" pitchFamily="18" charset="0"/>
                                        </a:rPr>
                                        <m:t>𝐴</m:t>
                                      </m:r>
                                    </m:e>
                                    <m:sub>
                                      <m:r>
                                        <a:rPr lang="en-GB" sz="3600" i="1">
                                          <a:solidFill>
                                            <a:srgbClr val="002060"/>
                                          </a:solidFill>
                                          <a:latin typeface="Cambria Math" panose="02040503050406030204" pitchFamily="18" charset="0"/>
                                          <a:ea typeface="Times New Roman" panose="02020603050405020304" pitchFamily="18" charset="0"/>
                                        </a:rPr>
                                        <m:t>𝑟𝑚𝑠</m:t>
                                      </m:r>
                                      <m:r>
                                        <a:rPr lang="en-GB" sz="3600" i="1">
                                          <a:solidFill>
                                            <a:srgbClr val="002060"/>
                                          </a:solidFill>
                                          <a:latin typeface="Cambria Math" panose="02040503050406030204" pitchFamily="18" charset="0"/>
                                          <a:ea typeface="Times New Roman" panose="02020603050405020304" pitchFamily="18" charset="0"/>
                                        </a:rPr>
                                        <m:t>,</m:t>
                                      </m:r>
                                      <m:r>
                                        <a:rPr lang="en-GB" sz="3600" i="1">
                                          <a:solidFill>
                                            <a:srgbClr val="002060"/>
                                          </a:solidFill>
                                          <a:latin typeface="Cambria Math" panose="02040503050406030204" pitchFamily="18" charset="0"/>
                                          <a:ea typeface="Times New Roman" panose="02020603050405020304" pitchFamily="18" charset="0"/>
                                        </a:rPr>
                                        <m:t>𝑛</m:t>
                                      </m:r>
                                    </m:sub>
                                  </m:sSub>
                                </m:e>
                                <m:sup>
                                  <m:r>
                                    <a:rPr lang="en-GB" sz="3600" i="1">
                                      <a:solidFill>
                                        <a:srgbClr val="002060"/>
                                      </a:solidFill>
                                      <a:latin typeface="Cambria Math" panose="02040503050406030204" pitchFamily="18" charset="0"/>
                                      <a:ea typeface="Times New Roman" panose="02020603050405020304" pitchFamily="18" charset="0"/>
                                    </a:rPr>
                                    <m:t>2</m:t>
                                  </m:r>
                                </m:sup>
                              </m:sSup>
                            </m:e>
                          </m:nary>
                        </m:e>
                      </m:rad>
                    </m:oMath>
                  </m:oMathPara>
                </a14:m>
                <a:endParaRPr lang="en-GB" sz="3600" dirty="0">
                  <a:effectLst/>
                  <a:latin typeface="Times New Roman" panose="02020603050405020304" pitchFamily="18" charset="0"/>
                  <a:ea typeface="Times New Roman" panose="02020603050405020304" pitchFamily="18" charset="0"/>
                </a:endParaRPr>
              </a:p>
            </p:txBody>
          </p:sp>
        </mc:Choice>
        <mc:Fallback xmlns="">
          <p:sp>
            <p:nvSpPr>
              <p:cNvPr id="3" name="Rectangle 2">
                <a:extLst>
                  <a:ext uri="{FF2B5EF4-FFF2-40B4-BE49-F238E27FC236}">
                    <a16:creationId xmlns:a16="http://schemas.microsoft.com/office/drawing/2014/main" id="{AE23B617-1777-45DD-B00C-1983FE9CA1A7}"/>
                  </a:ext>
                </a:extLst>
              </p:cNvPr>
              <p:cNvSpPr>
                <a:spLocks noRot="1" noChangeAspect="1" noMove="1" noResize="1" noEditPoints="1" noAdjustHandles="1" noChangeArrowheads="1" noChangeShapeType="1" noTextEdit="1"/>
              </p:cNvSpPr>
              <p:nvPr/>
            </p:nvSpPr>
            <p:spPr>
              <a:xfrm>
                <a:off x="449179" y="609600"/>
                <a:ext cx="11293642" cy="5811014"/>
              </a:xfrm>
              <a:prstGeom prst="rect">
                <a:avLst/>
              </a:prstGeom>
              <a:blipFill>
                <a:blip r:embed="rId5"/>
                <a:stretch>
                  <a:fillRect l="-1674"/>
                </a:stretch>
              </a:blipFill>
            </p:spPr>
            <p:txBody>
              <a:bodyPr/>
              <a:lstStyle/>
              <a:p>
                <a:r>
                  <a:rPr lang="en-GB">
                    <a:noFill/>
                  </a:rPr>
                  <a:t> </a:t>
                </a:r>
              </a:p>
            </p:txBody>
          </p:sp>
        </mc:Fallback>
      </mc:AlternateContent>
    </p:spTree>
    <p:extLst>
      <p:ext uri="{BB962C8B-B14F-4D97-AF65-F5344CB8AC3E}">
        <p14:creationId xmlns:p14="http://schemas.microsoft.com/office/powerpoint/2010/main" val="2219197823"/>
      </p:ext>
    </p:extLst>
  </p:cSld>
  <p:clrMapOvr>
    <a:masterClrMapping/>
  </p:clrMapOvr>
  <mc:AlternateContent xmlns:mc="http://schemas.openxmlformats.org/markup-compatibility/2006" xmlns:p14="http://schemas.microsoft.com/office/powerpoint/2010/main">
    <mc:Choice Requires="p14">
      <p:transition spd="slow" p14:dur="2000" advTm="29044"/>
    </mc:Choice>
    <mc:Fallback xmlns="">
      <p:transition spd="slow" advTm="29044"/>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6" y="442038"/>
            <a:ext cx="9833812" cy="977689"/>
          </a:xfrm>
        </p:spPr>
        <p:txBody>
          <a:bodyPr>
            <a:normAutofit/>
          </a:bodyPr>
          <a:lstStyle/>
          <a:p>
            <a:r>
              <a:rPr lang="en-GB" sz="2800" dirty="0"/>
              <a:t>Calculation of Power and Power Factor associated with Periodic Waveforms</a:t>
            </a:r>
            <a:endParaRPr lang="en-GB"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27A83B0A-ED0E-46D1-9348-B1272049F013}"/>
              </a:ext>
            </a:extLst>
          </p:cNvPr>
          <p:cNvSpPr>
            <a:spLocks noChangeArrowheads="1"/>
          </p:cNvSpPr>
          <p:nvPr/>
        </p:nvSpPr>
        <p:spPr bwMode="auto">
          <a:xfrm>
            <a:off x="237211" y="2495272"/>
            <a:ext cx="8545843"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10287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10287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10287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10287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10287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10287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10287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10287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10287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1028700" algn="l"/>
                <a:tab pos="3276600" algn="l"/>
              </a:tabLst>
            </a:pPr>
            <a:r>
              <a:rPr kumimoji="0" lang="de-DE" altLang="en-US" sz="3200" b="0" i="0" u="none" strike="noStrike" cap="none" normalizeH="0" baseline="0" dirty="0">
                <a:ln>
                  <a:noFill/>
                </a:ln>
                <a:solidFill>
                  <a:srgbClr val="002060"/>
                </a:solidFill>
                <a:effectLst/>
                <a:ea typeface="Times New Roman" panose="02020603050405020304" pitchFamily="18" charset="0"/>
              </a:rPr>
              <a:t>		</a:t>
            </a:r>
            <a:r>
              <a:rPr kumimoji="0" lang="en-GB" altLang="en-US" sz="3200" b="0" i="1" u="none" strike="noStrike" cap="none" normalizeH="0" baseline="0" dirty="0">
                <a:ln>
                  <a:noFill/>
                </a:ln>
                <a:solidFill>
                  <a:srgbClr val="002060"/>
                </a:solidFill>
                <a:effectLst/>
                <a:ea typeface="Times New Roman" panose="02020603050405020304" pitchFamily="18" charset="0"/>
              </a:rPr>
              <a:t>p(t) = v(t).</a:t>
            </a:r>
            <a:r>
              <a:rPr kumimoji="0" lang="en-GB" altLang="en-US" sz="3200" b="0" i="1" u="none" strike="noStrike" cap="none" normalizeH="0" baseline="0" dirty="0" err="1">
                <a:ln>
                  <a:noFill/>
                </a:ln>
                <a:solidFill>
                  <a:srgbClr val="002060"/>
                </a:solidFill>
                <a:effectLst/>
                <a:ea typeface="Times New Roman" panose="02020603050405020304" pitchFamily="18" charset="0"/>
              </a:rPr>
              <a:t>i</a:t>
            </a:r>
            <a:r>
              <a:rPr kumimoji="0" lang="en-GB" altLang="en-US" sz="3200" b="0" i="1" u="none" strike="noStrike" cap="none" normalizeH="0" baseline="0" dirty="0">
                <a:ln>
                  <a:noFill/>
                </a:ln>
                <a:solidFill>
                  <a:srgbClr val="002060"/>
                </a:solidFill>
                <a:effectLst/>
                <a:ea typeface="Times New Roman" panose="02020603050405020304" pitchFamily="18" charset="0"/>
              </a:rPr>
              <a:t>(t)      </a:t>
            </a:r>
            <a:endParaRPr kumimoji="0" lang="en-GB" altLang="en-US" sz="3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10287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average power</a:t>
            </a:r>
            <a:r>
              <a:rPr kumimoji="0" lang="en-GB" altLang="en-US" sz="3200" b="0" i="1" u="none" strike="noStrike" cap="none" normalizeH="0" baseline="0" dirty="0">
                <a:ln>
                  <a:noFill/>
                </a:ln>
                <a:solidFill>
                  <a:srgbClr val="002060"/>
                </a:solidFill>
                <a:effectLst/>
                <a:ea typeface="Times New Roman" panose="02020603050405020304" pitchFamily="18" charset="0"/>
              </a:rPr>
              <a:t>  P </a:t>
            </a:r>
            <a:r>
              <a:rPr kumimoji="0" lang="en-GB" altLang="en-US" sz="3200" b="0" i="0" u="none" strike="noStrike" cap="none" normalizeH="0" baseline="0" dirty="0">
                <a:ln>
                  <a:noFill/>
                </a:ln>
                <a:solidFill>
                  <a:srgbClr val="002060"/>
                </a:solidFill>
                <a:effectLst/>
                <a:ea typeface="Times New Roman" panose="02020603050405020304" pitchFamily="18" charset="0"/>
              </a:rPr>
              <a:t>is given by</a:t>
            </a:r>
            <a:endParaRPr kumimoji="0" lang="en-GB" altLang="en-US" sz="3200" b="0" i="0" u="none" strike="noStrike" cap="none" normalizeH="0" baseline="0" dirty="0">
              <a:ln>
                <a:noFill/>
              </a:ln>
              <a:solidFill>
                <a:schemeClr val="tx1"/>
              </a:solidFill>
              <a:effectLst/>
            </a:endParaRPr>
          </a:p>
        </p:txBody>
      </p:sp>
      <p:graphicFrame>
        <p:nvGraphicFramePr>
          <p:cNvPr id="4" name="Object 3">
            <a:extLst>
              <a:ext uri="{FF2B5EF4-FFF2-40B4-BE49-F238E27FC236}">
                <a16:creationId xmlns:a16="http://schemas.microsoft.com/office/drawing/2014/main" id="{7DC7EA62-AD67-4E84-823D-27286C1FB8BA}"/>
              </a:ext>
            </a:extLst>
          </p:cNvPr>
          <p:cNvGraphicFramePr>
            <a:graphicFrameLocks noChangeAspect="1"/>
          </p:cNvGraphicFramePr>
          <p:nvPr>
            <p:extLst>
              <p:ext uri="{D42A27DB-BD31-4B8C-83A1-F6EECF244321}">
                <p14:modId xmlns:p14="http://schemas.microsoft.com/office/powerpoint/2010/main" val="1513638853"/>
              </p:ext>
            </p:extLst>
          </p:nvPr>
        </p:nvGraphicFramePr>
        <p:xfrm>
          <a:off x="152400" y="3549315"/>
          <a:ext cx="9833811" cy="3086100"/>
        </p:xfrm>
        <a:graphic>
          <a:graphicData uri="http://schemas.openxmlformats.org/presentationml/2006/ole">
            <mc:AlternateContent xmlns:mc="http://schemas.openxmlformats.org/markup-compatibility/2006">
              <mc:Choice xmlns:v="urn:schemas-microsoft-com:vml" Requires="v">
                <p:oleObj r:id="rId3" imgW="3759200" imgH="1066800" progId="Equation.3">
                  <p:embed/>
                </p:oleObj>
              </mc:Choice>
              <mc:Fallback>
                <p:oleObj r:id="rId3" imgW="3759200" imgH="10668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3549315"/>
                        <a:ext cx="9833811" cy="3086100"/>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8A1BD4BA-2267-43BC-81A5-259899622498}"/>
                  </a:ext>
                </a:extLst>
              </p:cNvPr>
              <p:cNvSpPr/>
              <p:nvPr/>
            </p:nvSpPr>
            <p:spPr>
              <a:xfrm>
                <a:off x="152400" y="1323051"/>
                <a:ext cx="8545843" cy="1283428"/>
              </a:xfrm>
              <a:prstGeom prst="rect">
                <a:avLst/>
              </a:prstGeom>
            </p:spPr>
            <p:txBody>
              <a:bodyPr wrap="square">
                <a:spAutoFit/>
              </a:bodyPr>
              <a:lstStyle/>
              <a:p>
                <a:pPr algn="just">
                  <a:lnSpc>
                    <a:spcPct val="115000"/>
                  </a:lnSpc>
                  <a:tabLst>
                    <a:tab pos="381000" algn="l"/>
                    <a:tab pos="1028700" algn="l"/>
                    <a:tab pos="3276600" algn="l"/>
                  </a:tabLst>
                </a:pPr>
                <a:r>
                  <a:rPr lang="de-DE" sz="3600" i="1" dirty="0">
                    <a:solidFill>
                      <a:srgbClr val="002060"/>
                    </a:solidFill>
                    <a:latin typeface="Times New Roman" panose="02020603050405020304" pitchFamily="18" charset="0"/>
                    <a:ea typeface="Times New Roman" panose="02020603050405020304" pitchFamily="18" charset="0"/>
                  </a:rPr>
                  <a:t>        v(t) = V</a:t>
                </a:r>
                <a:r>
                  <a:rPr lang="de-DE" sz="3600" i="1" baseline="-25000" dirty="0">
                    <a:solidFill>
                      <a:srgbClr val="002060"/>
                    </a:solidFill>
                    <a:latin typeface="Times New Roman" panose="02020603050405020304" pitchFamily="18" charset="0"/>
                    <a:ea typeface="Times New Roman" panose="02020603050405020304" pitchFamily="18" charset="0"/>
                  </a:rPr>
                  <a:t>dc</a:t>
                </a:r>
                <a:r>
                  <a:rPr lang="de-DE" sz="3600" i="1" dirty="0">
                    <a:solidFill>
                      <a:srgbClr val="002060"/>
                    </a:solidFill>
                    <a:latin typeface="Times New Roman" panose="02020603050405020304" pitchFamily="18" charset="0"/>
                    <a:ea typeface="Times New Roman" panose="02020603050405020304" pitchFamily="18" charset="0"/>
                  </a:rPr>
                  <a:t> +</a:t>
                </a:r>
                <a:r>
                  <a:rPr lang="de-DE" sz="3600" dirty="0">
                    <a:solidFill>
                      <a:srgbClr val="002060"/>
                    </a:solidFill>
                    <a:latin typeface="Times New Roman" panose="02020603050405020304" pitchFamily="18" charset="0"/>
                    <a:ea typeface="Times New Roman" panose="02020603050405020304" pitchFamily="18" charset="0"/>
                  </a:rPr>
                  <a:t> </a:t>
                </a:r>
                <a14:m>
                  <m:oMath xmlns:m="http://schemas.openxmlformats.org/officeDocument/2006/math">
                    <m:nary>
                      <m:naryPr>
                        <m:chr m:val="∑"/>
                        <m:ctrlPr>
                          <a:rPr lang="en-GB" sz="3600" i="1">
                            <a:solidFill>
                              <a:srgbClr val="002060"/>
                            </a:solidFill>
                            <a:latin typeface="Cambria Math" panose="02040503050406030204" pitchFamily="18" charset="0"/>
                            <a:ea typeface="Times New Roman" panose="02020603050405020304" pitchFamily="18" charset="0"/>
                          </a:rPr>
                        </m:ctrlPr>
                      </m:naryPr>
                      <m:sub>
                        <m:r>
                          <a:rPr lang="en-GB" sz="3600" i="1">
                            <a:solidFill>
                              <a:srgbClr val="002060"/>
                            </a:solidFill>
                            <a:latin typeface="Cambria Math" panose="02040503050406030204" pitchFamily="18" charset="0"/>
                            <a:ea typeface="Times New Roman" panose="02020603050405020304" pitchFamily="18" charset="0"/>
                          </a:rPr>
                          <m:t>𝑛</m:t>
                        </m:r>
                        <m:r>
                          <a:rPr lang="en-GB" sz="3600" i="1">
                            <a:solidFill>
                              <a:srgbClr val="002060"/>
                            </a:solidFill>
                            <a:latin typeface="Cambria Math" panose="02040503050406030204" pitchFamily="18" charset="0"/>
                            <a:ea typeface="Times New Roman" panose="02020603050405020304" pitchFamily="18" charset="0"/>
                          </a:rPr>
                          <m:t>=1</m:t>
                        </m:r>
                      </m:sub>
                      <m:sup>
                        <m:r>
                          <a:rPr lang="en-GB" sz="3600" i="1">
                            <a:solidFill>
                              <a:srgbClr val="002060"/>
                            </a:solidFill>
                            <a:latin typeface="Cambria Math" panose="02040503050406030204" pitchFamily="18" charset="0"/>
                            <a:ea typeface="Times New Roman" panose="02020603050405020304" pitchFamily="18" charset="0"/>
                          </a:rPr>
                          <m:t>∞</m:t>
                        </m:r>
                      </m:sup>
                      <m:e>
                        <m:sSub>
                          <m:sSubPr>
                            <m:ctrlPr>
                              <a:rPr lang="en-GB" sz="3600" i="1">
                                <a:solidFill>
                                  <a:srgbClr val="002060"/>
                                </a:solidFill>
                                <a:latin typeface="Cambria Math" panose="02040503050406030204" pitchFamily="18" charset="0"/>
                                <a:ea typeface="Times New Roman" panose="02020603050405020304" pitchFamily="18" charset="0"/>
                              </a:rPr>
                            </m:ctrlPr>
                          </m:sSubPr>
                          <m:e>
                            <m:r>
                              <a:rPr lang="en-GB" sz="3600" i="1">
                                <a:solidFill>
                                  <a:srgbClr val="002060"/>
                                </a:solidFill>
                                <a:latin typeface="Cambria Math" panose="02040503050406030204" pitchFamily="18" charset="0"/>
                                <a:ea typeface="Times New Roman" panose="02020603050405020304" pitchFamily="18" charset="0"/>
                              </a:rPr>
                              <m:t>𝑉</m:t>
                            </m:r>
                          </m:e>
                          <m:sub>
                            <m:r>
                              <a:rPr lang="en-GB" sz="3600" i="1">
                                <a:solidFill>
                                  <a:srgbClr val="002060"/>
                                </a:solidFill>
                                <a:latin typeface="Cambria Math" panose="02040503050406030204" pitchFamily="18" charset="0"/>
                                <a:ea typeface="Times New Roman" panose="02020603050405020304" pitchFamily="18" charset="0"/>
                              </a:rPr>
                              <m:t>𝑛</m:t>
                            </m:r>
                          </m:sub>
                        </m:sSub>
                        <m:func>
                          <m:funcPr>
                            <m:ctrlPr>
                              <a:rPr lang="en-GB" sz="3600" i="1">
                                <a:solidFill>
                                  <a:srgbClr val="002060"/>
                                </a:solidFill>
                                <a:latin typeface="Cambria Math" panose="02040503050406030204" pitchFamily="18" charset="0"/>
                                <a:ea typeface="Times New Roman" panose="02020603050405020304" pitchFamily="18" charset="0"/>
                              </a:rPr>
                            </m:ctrlPr>
                          </m:funcPr>
                          <m:fName>
                            <m:r>
                              <a:rPr lang="en-GB" sz="3600" i="1">
                                <a:solidFill>
                                  <a:srgbClr val="002060"/>
                                </a:solidFill>
                                <a:latin typeface="Cambria Math" panose="02040503050406030204" pitchFamily="18" charset="0"/>
                                <a:ea typeface="Times New Roman" panose="02020603050405020304" pitchFamily="18" charset="0"/>
                              </a:rPr>
                              <m:t>𝑠𝑖𝑛</m:t>
                            </m:r>
                          </m:fName>
                          <m:e>
                            <m:r>
                              <a:rPr lang="en-GB" sz="3600" i="1">
                                <a:solidFill>
                                  <a:srgbClr val="002060"/>
                                </a:solidFill>
                                <a:latin typeface="Cambria Math" panose="02040503050406030204" pitchFamily="18" charset="0"/>
                                <a:ea typeface="Times New Roman" panose="02020603050405020304" pitchFamily="18" charset="0"/>
                              </a:rPr>
                              <m:t>(</m:t>
                            </m:r>
                          </m:e>
                        </m:func>
                        <m:r>
                          <a:rPr lang="en-GB" sz="3600" i="1">
                            <a:solidFill>
                              <a:srgbClr val="002060"/>
                            </a:solidFill>
                            <a:latin typeface="Cambria Math" panose="02040503050406030204" pitchFamily="18" charset="0"/>
                            <a:ea typeface="Times New Roman" panose="02020603050405020304" pitchFamily="18" charset="0"/>
                          </a:rPr>
                          <m:t>𝑛</m:t>
                        </m:r>
                        <m:r>
                          <a:rPr lang="en-GB" sz="3600" i="1">
                            <a:solidFill>
                              <a:srgbClr val="002060"/>
                            </a:solidFill>
                            <a:latin typeface="Cambria Math" panose="02040503050406030204" pitchFamily="18" charset="0"/>
                            <a:ea typeface="Times New Roman" panose="02020603050405020304" pitchFamily="18" charset="0"/>
                          </a:rPr>
                          <m:t>𝜔</m:t>
                        </m:r>
                        <m:r>
                          <a:rPr lang="en-GB" sz="3600" i="1">
                            <a:solidFill>
                              <a:srgbClr val="002060"/>
                            </a:solidFill>
                            <a:latin typeface="Cambria Math" panose="02040503050406030204" pitchFamily="18" charset="0"/>
                            <a:ea typeface="Times New Roman" panose="02020603050405020304" pitchFamily="18" charset="0"/>
                          </a:rPr>
                          <m:t>𝑡</m:t>
                        </m:r>
                        <m:r>
                          <a:rPr lang="en-GB" sz="3600" i="1">
                            <a:solidFill>
                              <a:srgbClr val="002060"/>
                            </a:solidFill>
                            <a:latin typeface="Cambria Math" panose="02040503050406030204" pitchFamily="18" charset="0"/>
                            <a:ea typeface="Times New Roman" panose="02020603050405020304" pitchFamily="18" charset="0"/>
                          </a:rPr>
                          <m:t>+</m:t>
                        </m:r>
                        <m:sSub>
                          <m:sSubPr>
                            <m:ctrlPr>
                              <a:rPr lang="en-GB" sz="3600" i="1">
                                <a:solidFill>
                                  <a:srgbClr val="002060"/>
                                </a:solidFill>
                                <a:latin typeface="Cambria Math" panose="02040503050406030204" pitchFamily="18" charset="0"/>
                                <a:ea typeface="Times New Roman" panose="02020603050405020304" pitchFamily="18" charset="0"/>
                              </a:rPr>
                            </m:ctrlPr>
                          </m:sSubPr>
                          <m:e>
                            <m:r>
                              <a:rPr lang="en-GB" sz="3600" i="1">
                                <a:solidFill>
                                  <a:srgbClr val="002060"/>
                                </a:solidFill>
                                <a:latin typeface="Cambria Math" panose="02040503050406030204" pitchFamily="18" charset="0"/>
                                <a:ea typeface="Times New Roman" panose="02020603050405020304" pitchFamily="18" charset="0"/>
                              </a:rPr>
                              <m:t>𝛼</m:t>
                            </m:r>
                          </m:e>
                          <m:sub>
                            <m:r>
                              <a:rPr lang="en-GB" sz="3600" i="1">
                                <a:solidFill>
                                  <a:srgbClr val="002060"/>
                                </a:solidFill>
                                <a:latin typeface="Cambria Math" panose="02040503050406030204" pitchFamily="18" charset="0"/>
                                <a:ea typeface="Times New Roman" panose="02020603050405020304" pitchFamily="18" charset="0"/>
                              </a:rPr>
                              <m:t>𝑛</m:t>
                            </m:r>
                          </m:sub>
                        </m:sSub>
                        <m:r>
                          <a:rPr lang="en-GB" sz="3600" i="1">
                            <a:solidFill>
                              <a:srgbClr val="002060"/>
                            </a:solidFill>
                            <a:latin typeface="Cambria Math" panose="02040503050406030204" pitchFamily="18" charset="0"/>
                            <a:ea typeface="Times New Roman" panose="02020603050405020304" pitchFamily="18" charset="0"/>
                          </a:rPr>
                          <m:t>)</m:t>
                        </m:r>
                      </m:e>
                    </m:nary>
                  </m:oMath>
                </a14:m>
                <a:r>
                  <a:rPr lang="de-DE" sz="3600" dirty="0">
                    <a:solidFill>
                      <a:srgbClr val="002060"/>
                    </a:solidFill>
                    <a:latin typeface="Times New Roman" panose="02020603050405020304" pitchFamily="18" charset="0"/>
                    <a:ea typeface="Times New Roman" panose="02020603050405020304" pitchFamily="18" charset="0"/>
                  </a:rPr>
                  <a:t>  </a:t>
                </a:r>
                <a:endParaRPr lang="en-GB" sz="1200" dirty="0">
                  <a:latin typeface="Times New Roman" panose="02020603050405020304" pitchFamily="18" charset="0"/>
                  <a:ea typeface="Times New Roman" panose="02020603050405020304" pitchFamily="18" charset="0"/>
                </a:endParaRPr>
              </a:p>
              <a:p>
                <a:r>
                  <a:rPr lang="de-DE" sz="3600" dirty="0">
                    <a:solidFill>
                      <a:srgbClr val="002060"/>
                    </a:solidFill>
                    <a:latin typeface="Times New Roman" panose="02020603050405020304" pitchFamily="18" charset="0"/>
                    <a:ea typeface="Times New Roman" panose="02020603050405020304" pitchFamily="18" charset="0"/>
                  </a:rPr>
                  <a:t>and   </a:t>
                </a:r>
                <a:r>
                  <a:rPr lang="de-DE" sz="3600" i="1" dirty="0">
                    <a:solidFill>
                      <a:srgbClr val="002060"/>
                    </a:solidFill>
                    <a:latin typeface="Times New Roman" panose="02020603050405020304" pitchFamily="18" charset="0"/>
                    <a:ea typeface="Times New Roman" panose="02020603050405020304" pitchFamily="18" charset="0"/>
                  </a:rPr>
                  <a:t>i(t) = I</a:t>
                </a:r>
                <a:r>
                  <a:rPr lang="de-DE" sz="3600" i="1" baseline="-25000" dirty="0">
                    <a:solidFill>
                      <a:srgbClr val="002060"/>
                    </a:solidFill>
                    <a:latin typeface="Times New Roman" panose="02020603050405020304" pitchFamily="18" charset="0"/>
                    <a:ea typeface="Times New Roman" panose="02020603050405020304" pitchFamily="18" charset="0"/>
                  </a:rPr>
                  <a:t>dc</a:t>
                </a:r>
                <a:r>
                  <a:rPr lang="de-DE" sz="3600" i="1" dirty="0">
                    <a:solidFill>
                      <a:srgbClr val="002060"/>
                    </a:solidFill>
                    <a:latin typeface="Times New Roman" panose="02020603050405020304" pitchFamily="18" charset="0"/>
                    <a:ea typeface="Times New Roman" panose="02020603050405020304" pitchFamily="18" charset="0"/>
                  </a:rPr>
                  <a:t> + </a:t>
                </a:r>
                <a14:m>
                  <m:oMath xmlns:m="http://schemas.openxmlformats.org/officeDocument/2006/math">
                    <m:nary>
                      <m:naryPr>
                        <m:chr m:val="∑"/>
                        <m:ctrlPr>
                          <a:rPr lang="en-GB" sz="3600" i="1">
                            <a:solidFill>
                              <a:srgbClr val="002060"/>
                            </a:solidFill>
                            <a:latin typeface="Cambria Math" panose="02040503050406030204" pitchFamily="18" charset="0"/>
                          </a:rPr>
                        </m:ctrlPr>
                      </m:naryPr>
                      <m:sub>
                        <m:r>
                          <a:rPr lang="en-GB" sz="3600" i="1">
                            <a:solidFill>
                              <a:srgbClr val="002060"/>
                            </a:solidFill>
                            <a:latin typeface="Cambria Math" panose="02040503050406030204" pitchFamily="18" charset="0"/>
                            <a:ea typeface="Times New Roman" panose="02020603050405020304" pitchFamily="18" charset="0"/>
                            <a:cs typeface="Times New Roman" panose="02020603050405020304" pitchFamily="18" charset="0"/>
                          </a:rPr>
                          <m:t>𝑛</m:t>
                        </m:r>
                        <m:r>
                          <a:rPr lang="en-GB" sz="3600" i="1">
                            <a:solidFill>
                              <a:srgbClr val="002060"/>
                            </a:solidFill>
                            <a:latin typeface="Cambria Math" panose="02040503050406030204" pitchFamily="18" charset="0"/>
                            <a:ea typeface="Times New Roman" panose="02020603050405020304" pitchFamily="18" charset="0"/>
                            <a:cs typeface="Times New Roman" panose="02020603050405020304" pitchFamily="18" charset="0"/>
                          </a:rPr>
                          <m:t>=1</m:t>
                        </m:r>
                      </m:sub>
                      <m:sup>
                        <m:r>
                          <a:rPr lang="en-GB" sz="3600" i="1">
                            <a:solidFill>
                              <a:srgbClr val="002060"/>
                            </a:solidFill>
                            <a:latin typeface="Cambria Math" panose="02040503050406030204" pitchFamily="18" charset="0"/>
                            <a:ea typeface="Times New Roman" panose="02020603050405020304" pitchFamily="18" charset="0"/>
                          </a:rPr>
                          <m:t>∞</m:t>
                        </m:r>
                      </m:sup>
                      <m:e>
                        <m:sSub>
                          <m:sSubPr>
                            <m:ctrlPr>
                              <a:rPr lang="en-GB" sz="3600" i="1">
                                <a:solidFill>
                                  <a:srgbClr val="002060"/>
                                </a:solidFill>
                                <a:latin typeface="Cambria Math" panose="02040503050406030204" pitchFamily="18" charset="0"/>
                              </a:rPr>
                            </m:ctrlPr>
                          </m:sSubPr>
                          <m:e>
                            <m:r>
                              <a:rPr lang="en-GB" sz="3600" i="1">
                                <a:solidFill>
                                  <a:srgbClr val="002060"/>
                                </a:solidFill>
                                <a:latin typeface="Cambria Math" panose="02040503050406030204" pitchFamily="18" charset="0"/>
                                <a:ea typeface="Times New Roman" panose="02020603050405020304" pitchFamily="18" charset="0"/>
                                <a:cs typeface="Times New Roman" panose="02020603050405020304" pitchFamily="18" charset="0"/>
                              </a:rPr>
                              <m:t>𝐼</m:t>
                            </m:r>
                          </m:e>
                          <m:sub>
                            <m:r>
                              <a:rPr lang="en-GB" sz="3600" i="1">
                                <a:solidFill>
                                  <a:srgbClr val="002060"/>
                                </a:solidFill>
                                <a:latin typeface="Cambria Math" panose="02040503050406030204" pitchFamily="18" charset="0"/>
                                <a:ea typeface="Times New Roman" panose="02020603050405020304" pitchFamily="18" charset="0"/>
                                <a:cs typeface="Times New Roman" panose="02020603050405020304" pitchFamily="18" charset="0"/>
                              </a:rPr>
                              <m:t>𝑛</m:t>
                            </m:r>
                          </m:sub>
                        </m:sSub>
                        <m:func>
                          <m:funcPr>
                            <m:ctrlPr>
                              <a:rPr lang="en-GB" sz="3600" i="1">
                                <a:solidFill>
                                  <a:srgbClr val="002060"/>
                                </a:solidFill>
                                <a:latin typeface="Cambria Math" panose="02040503050406030204" pitchFamily="18" charset="0"/>
                              </a:rPr>
                            </m:ctrlPr>
                          </m:funcPr>
                          <m:fName>
                            <m:r>
                              <a:rPr lang="en-GB" sz="3600" i="1">
                                <a:solidFill>
                                  <a:srgbClr val="002060"/>
                                </a:solidFill>
                                <a:latin typeface="Cambria Math" panose="02040503050406030204" pitchFamily="18" charset="0"/>
                                <a:ea typeface="Times New Roman" panose="02020603050405020304" pitchFamily="18" charset="0"/>
                                <a:cs typeface="Times New Roman" panose="02020603050405020304" pitchFamily="18" charset="0"/>
                              </a:rPr>
                              <m:t>𝑠𝑖𝑛</m:t>
                            </m:r>
                          </m:fName>
                          <m:e>
                            <m:r>
                              <a:rPr lang="en-GB" sz="3600" i="1">
                                <a:solidFill>
                                  <a:srgbClr val="002060"/>
                                </a:solidFill>
                                <a:latin typeface="Cambria Math" panose="02040503050406030204" pitchFamily="18" charset="0"/>
                                <a:ea typeface="Times New Roman" panose="02020603050405020304" pitchFamily="18" charset="0"/>
                                <a:cs typeface="Times New Roman" panose="02020603050405020304" pitchFamily="18" charset="0"/>
                              </a:rPr>
                              <m:t>(</m:t>
                            </m:r>
                          </m:e>
                        </m:func>
                        <m:r>
                          <a:rPr lang="en-GB" sz="3600" i="1">
                            <a:solidFill>
                              <a:srgbClr val="002060"/>
                            </a:solidFill>
                            <a:latin typeface="Cambria Math" panose="02040503050406030204" pitchFamily="18" charset="0"/>
                            <a:ea typeface="Times New Roman" panose="02020603050405020304" pitchFamily="18" charset="0"/>
                            <a:cs typeface="Times New Roman" panose="02020603050405020304" pitchFamily="18" charset="0"/>
                          </a:rPr>
                          <m:t>𝑛</m:t>
                        </m:r>
                        <m:r>
                          <a:rPr lang="en-GB" sz="3600" i="1">
                            <a:solidFill>
                              <a:srgbClr val="002060"/>
                            </a:solidFill>
                            <a:latin typeface="Cambria Math" panose="02040503050406030204" pitchFamily="18" charset="0"/>
                            <a:ea typeface="Times New Roman" panose="02020603050405020304" pitchFamily="18" charset="0"/>
                            <a:cs typeface="Times New Roman" panose="02020603050405020304" pitchFamily="18" charset="0"/>
                          </a:rPr>
                          <m:t>𝜔</m:t>
                        </m:r>
                        <m:r>
                          <a:rPr lang="en-GB" sz="3600" i="1">
                            <a:solidFill>
                              <a:srgbClr val="002060"/>
                            </a:solidFill>
                            <a:latin typeface="Cambria Math" panose="02040503050406030204" pitchFamily="18" charset="0"/>
                            <a:ea typeface="Times New Roman" panose="02020603050405020304" pitchFamily="18" charset="0"/>
                            <a:cs typeface="Times New Roman" panose="02020603050405020304" pitchFamily="18" charset="0"/>
                          </a:rPr>
                          <m:t>𝑡</m:t>
                        </m:r>
                        <m:r>
                          <a:rPr lang="en-GB" sz="3600" i="1">
                            <a:solidFill>
                              <a:srgbClr val="002060"/>
                            </a:solidFill>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sz="3600" i="1">
                                <a:solidFill>
                                  <a:srgbClr val="002060"/>
                                </a:solidFill>
                                <a:latin typeface="Cambria Math" panose="02040503050406030204" pitchFamily="18" charset="0"/>
                              </a:rPr>
                            </m:ctrlPr>
                          </m:sSubPr>
                          <m:e>
                            <m:r>
                              <a:rPr lang="en-GB" sz="3600" i="1">
                                <a:solidFill>
                                  <a:srgbClr val="002060"/>
                                </a:solidFill>
                                <a:latin typeface="Cambria Math" panose="02040503050406030204" pitchFamily="18" charset="0"/>
                                <a:ea typeface="Times New Roman" panose="02020603050405020304" pitchFamily="18" charset="0"/>
                                <a:cs typeface="Times New Roman" panose="02020603050405020304" pitchFamily="18" charset="0"/>
                              </a:rPr>
                              <m:t>𝛽</m:t>
                            </m:r>
                          </m:e>
                          <m:sub>
                            <m:r>
                              <a:rPr lang="en-GB" sz="3600" i="1">
                                <a:solidFill>
                                  <a:srgbClr val="002060"/>
                                </a:solidFill>
                                <a:latin typeface="Cambria Math" panose="02040503050406030204" pitchFamily="18" charset="0"/>
                                <a:ea typeface="Times New Roman" panose="02020603050405020304" pitchFamily="18" charset="0"/>
                                <a:cs typeface="Times New Roman" panose="02020603050405020304" pitchFamily="18" charset="0"/>
                              </a:rPr>
                              <m:t>𝑛</m:t>
                            </m:r>
                          </m:sub>
                        </m:sSub>
                        <m:r>
                          <a:rPr lang="en-GB" sz="3600" i="1">
                            <a:solidFill>
                              <a:srgbClr val="002060"/>
                            </a:solidFill>
                            <a:latin typeface="Cambria Math" panose="02040503050406030204" pitchFamily="18" charset="0"/>
                            <a:ea typeface="Times New Roman" panose="02020603050405020304" pitchFamily="18" charset="0"/>
                            <a:cs typeface="Times New Roman" panose="02020603050405020304" pitchFamily="18" charset="0"/>
                          </a:rPr>
                          <m:t>)</m:t>
                        </m:r>
                      </m:e>
                    </m:nary>
                  </m:oMath>
                </a14:m>
                <a:endParaRPr lang="en-GB" dirty="0"/>
              </a:p>
            </p:txBody>
          </p:sp>
        </mc:Choice>
        <mc:Fallback xmlns="">
          <p:sp>
            <p:nvSpPr>
              <p:cNvPr id="5" name="Rectangle 4">
                <a:extLst>
                  <a:ext uri="{FF2B5EF4-FFF2-40B4-BE49-F238E27FC236}">
                    <a16:creationId xmlns:a16="http://schemas.microsoft.com/office/drawing/2014/main" id="{8A1BD4BA-2267-43BC-81A5-259899622498}"/>
                  </a:ext>
                </a:extLst>
              </p:cNvPr>
              <p:cNvSpPr>
                <a:spLocks noRot="1" noChangeAspect="1" noMove="1" noResize="1" noEditPoints="1" noAdjustHandles="1" noChangeArrowheads="1" noChangeShapeType="1" noTextEdit="1"/>
              </p:cNvSpPr>
              <p:nvPr/>
            </p:nvSpPr>
            <p:spPr>
              <a:xfrm>
                <a:off x="152400" y="1323051"/>
                <a:ext cx="8545843" cy="1283428"/>
              </a:xfrm>
              <a:prstGeom prst="rect">
                <a:avLst/>
              </a:prstGeom>
              <a:blipFill>
                <a:blip r:embed="rId8"/>
                <a:stretch>
                  <a:fillRect l="-2140" t="-4739" b="-15640"/>
                </a:stretch>
              </a:blipFill>
            </p:spPr>
            <p:txBody>
              <a:bodyPr/>
              <a:lstStyle/>
              <a:p>
                <a:r>
                  <a:rPr lang="en-GB">
                    <a:noFill/>
                  </a:rPr>
                  <a:t> </a:t>
                </a:r>
              </a:p>
            </p:txBody>
          </p:sp>
        </mc:Fallback>
      </mc:AlternateContent>
    </p:spTree>
    <p:extLst>
      <p:ext uri="{BB962C8B-B14F-4D97-AF65-F5344CB8AC3E}">
        <p14:creationId xmlns:p14="http://schemas.microsoft.com/office/powerpoint/2010/main" val="534051202"/>
      </p:ext>
    </p:extLst>
  </p:cSld>
  <p:clrMapOvr>
    <a:masterClrMapping/>
  </p:clrMapOvr>
  <mc:AlternateContent xmlns:mc="http://schemas.openxmlformats.org/markup-compatibility/2006" xmlns:p14="http://schemas.microsoft.com/office/powerpoint/2010/main">
    <mc:Choice Requires="p14">
      <p:transition spd="slow" p14:dur="2000" advTm="82439"/>
    </mc:Choice>
    <mc:Fallback xmlns="">
      <p:transition spd="slow" advTm="82439"/>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35A35BC9-8089-4AD3-B597-8EBA2600DE23}"/>
              </a:ext>
            </a:extLst>
          </p:cNvPr>
          <p:cNvSpPr/>
          <p:nvPr/>
        </p:nvSpPr>
        <p:spPr>
          <a:xfrm>
            <a:off x="376989" y="889664"/>
            <a:ext cx="11077074" cy="4264694"/>
          </a:xfrm>
          <a:prstGeom prst="rect">
            <a:avLst/>
          </a:prstGeom>
        </p:spPr>
        <p:txBody>
          <a:bodyPr wrap="square">
            <a:spAutoFit/>
          </a:bodyPr>
          <a:lstStyle/>
          <a:p>
            <a:pPr algn="just">
              <a:lnSpc>
                <a:spcPct val="120000"/>
              </a:lnSpc>
              <a:spcAft>
                <a:spcPts val="600"/>
              </a:spcAft>
              <a:tabLst>
                <a:tab pos="381000" algn="l"/>
                <a:tab pos="3276600" algn="l"/>
              </a:tabLst>
            </a:pPr>
            <a:r>
              <a:rPr lang="en-GB" sz="3600" dirty="0">
                <a:solidFill>
                  <a:srgbClr val="002060"/>
                </a:solidFill>
                <a:latin typeface="Times New Roman" panose="02020603050405020304" pitchFamily="18" charset="0"/>
                <a:ea typeface="Times New Roman" panose="02020603050405020304" pitchFamily="18" charset="0"/>
              </a:rPr>
              <a:t>Using trigonometric properties, only similar terms from </a:t>
            </a:r>
            <a:r>
              <a:rPr lang="en-GB" sz="3600" i="1" dirty="0">
                <a:solidFill>
                  <a:srgbClr val="002060"/>
                </a:solidFill>
                <a:latin typeface="Times New Roman" panose="02020603050405020304" pitchFamily="18" charset="0"/>
                <a:ea typeface="Times New Roman" panose="02020603050405020304" pitchFamily="18" charset="0"/>
              </a:rPr>
              <a:t>v(t)</a:t>
            </a:r>
            <a:r>
              <a:rPr lang="en-GB" sz="3600" dirty="0">
                <a:solidFill>
                  <a:srgbClr val="002060"/>
                </a:solidFill>
                <a:latin typeface="Times New Roman" panose="02020603050405020304" pitchFamily="18" charset="0"/>
                <a:ea typeface="Times New Roman" panose="02020603050405020304" pitchFamily="18" charset="0"/>
              </a:rPr>
              <a:t> and </a:t>
            </a:r>
            <a:r>
              <a:rPr lang="en-GB" sz="3600" i="1" dirty="0" err="1">
                <a:solidFill>
                  <a:srgbClr val="002060"/>
                </a:solidFill>
                <a:latin typeface="Times New Roman" panose="02020603050405020304" pitchFamily="18" charset="0"/>
                <a:ea typeface="Times New Roman" panose="02020603050405020304" pitchFamily="18" charset="0"/>
              </a:rPr>
              <a:t>i</a:t>
            </a:r>
            <a:r>
              <a:rPr lang="en-GB" sz="3600" i="1" dirty="0">
                <a:solidFill>
                  <a:srgbClr val="002060"/>
                </a:solidFill>
                <a:latin typeface="Times New Roman" panose="02020603050405020304" pitchFamily="18" charset="0"/>
                <a:ea typeface="Times New Roman" panose="02020603050405020304" pitchFamily="18" charset="0"/>
              </a:rPr>
              <a:t>(t)</a:t>
            </a:r>
            <a:r>
              <a:rPr lang="en-GB" sz="3600" dirty="0">
                <a:solidFill>
                  <a:srgbClr val="002060"/>
                </a:solidFill>
                <a:latin typeface="Times New Roman" panose="02020603050405020304" pitchFamily="18" charset="0"/>
                <a:ea typeface="Times New Roman" panose="02020603050405020304" pitchFamily="18" charset="0"/>
              </a:rPr>
              <a:t> can give rise to non-zero integrals.</a:t>
            </a:r>
            <a:endParaRPr lang="en-GB" sz="3600" dirty="0">
              <a:latin typeface="Times New Roman" panose="02020603050405020304" pitchFamily="18" charset="0"/>
              <a:ea typeface="Times New Roman" panose="02020603050405020304" pitchFamily="18" charset="0"/>
            </a:endParaRPr>
          </a:p>
          <a:p>
            <a:pPr algn="just">
              <a:lnSpc>
                <a:spcPct val="120000"/>
              </a:lnSpc>
              <a:spcAft>
                <a:spcPts val="600"/>
              </a:spcAft>
              <a:tabLst>
                <a:tab pos="381000" algn="l"/>
                <a:tab pos="3276600" algn="l"/>
              </a:tabLst>
            </a:pPr>
            <a:r>
              <a:rPr lang="en-GB" sz="3600" i="1" dirty="0">
                <a:solidFill>
                  <a:srgbClr val="002060"/>
                </a:solidFill>
                <a:latin typeface="Times New Roman" panose="02020603050405020304" pitchFamily="18" charset="0"/>
                <a:ea typeface="Times New Roman" panose="02020603050405020304" pitchFamily="18" charset="0"/>
              </a:rPr>
              <a:t>	P =</a:t>
            </a:r>
            <a:r>
              <a:rPr lang="en-GB" sz="3600" dirty="0">
                <a:solidFill>
                  <a:srgbClr val="002060"/>
                </a:solidFill>
                <a:latin typeface="Times New Roman" panose="02020603050405020304" pitchFamily="18" charset="0"/>
                <a:ea typeface="Times New Roman" panose="02020603050405020304" pitchFamily="18" charset="0"/>
              </a:rPr>
              <a:t> </a:t>
            </a:r>
            <a:r>
              <a:rPr lang="en-GB" sz="3600" i="1" dirty="0" err="1">
                <a:solidFill>
                  <a:srgbClr val="002060"/>
                </a:solidFill>
                <a:latin typeface="Times New Roman" panose="02020603050405020304" pitchFamily="18" charset="0"/>
                <a:ea typeface="Times New Roman" panose="02020603050405020304" pitchFamily="18" charset="0"/>
              </a:rPr>
              <a:t>V</a:t>
            </a:r>
            <a:r>
              <a:rPr lang="en-GB" sz="3600" i="1" baseline="-25000" dirty="0" err="1">
                <a:solidFill>
                  <a:srgbClr val="002060"/>
                </a:solidFill>
                <a:latin typeface="Times New Roman" panose="02020603050405020304" pitchFamily="18" charset="0"/>
                <a:ea typeface="Times New Roman" panose="02020603050405020304" pitchFamily="18" charset="0"/>
              </a:rPr>
              <a:t>dc</a:t>
            </a:r>
            <a:r>
              <a:rPr lang="en-GB" sz="3600" i="1" dirty="0" err="1">
                <a:solidFill>
                  <a:srgbClr val="002060"/>
                </a:solidFill>
                <a:latin typeface="Times New Roman" panose="02020603050405020304" pitchFamily="18" charset="0"/>
                <a:ea typeface="Times New Roman" panose="02020603050405020304" pitchFamily="18" charset="0"/>
              </a:rPr>
              <a:t>.I</a:t>
            </a:r>
            <a:r>
              <a:rPr lang="en-GB" sz="3600" i="1" baseline="-25000" dirty="0" err="1">
                <a:solidFill>
                  <a:srgbClr val="002060"/>
                </a:solidFill>
                <a:latin typeface="Times New Roman" panose="02020603050405020304" pitchFamily="18" charset="0"/>
                <a:ea typeface="Times New Roman" panose="02020603050405020304" pitchFamily="18" charset="0"/>
              </a:rPr>
              <a:t>dc</a:t>
            </a:r>
            <a:r>
              <a:rPr lang="en-GB" sz="3600" i="1" dirty="0">
                <a:solidFill>
                  <a:srgbClr val="002060"/>
                </a:solidFill>
                <a:latin typeface="Times New Roman" panose="02020603050405020304" pitchFamily="18" charset="0"/>
                <a:ea typeface="Times New Roman" panose="02020603050405020304" pitchFamily="18" charset="0"/>
              </a:rPr>
              <a:t> + </a:t>
            </a:r>
            <a:r>
              <a:rPr lang="en-GB" sz="3600" i="1" dirty="0">
                <a:solidFill>
                  <a:srgbClr val="002060"/>
                </a:solidFill>
                <a:latin typeface="Symbol" panose="05050102010706020507" pitchFamily="18" charset="2"/>
                <a:ea typeface="Times New Roman" panose="02020603050405020304" pitchFamily="18" charset="0"/>
              </a:rPr>
              <a:t>S</a:t>
            </a:r>
            <a:r>
              <a:rPr lang="en-GB" sz="3600" i="1" dirty="0">
                <a:solidFill>
                  <a:srgbClr val="002060"/>
                </a:solidFill>
                <a:latin typeface="Times New Roman" panose="02020603050405020304" pitchFamily="18" charset="0"/>
                <a:ea typeface="Times New Roman" panose="02020603050405020304" pitchFamily="18" charset="0"/>
              </a:rPr>
              <a:t> ½V</a:t>
            </a:r>
            <a:r>
              <a:rPr lang="en-GB" sz="3600" i="1" baseline="-25000" dirty="0">
                <a:solidFill>
                  <a:srgbClr val="002060"/>
                </a:solidFill>
                <a:latin typeface="Times New Roman" panose="02020603050405020304" pitchFamily="18" charset="0"/>
                <a:ea typeface="Times New Roman" panose="02020603050405020304" pitchFamily="18" charset="0"/>
              </a:rPr>
              <a:t>n </a:t>
            </a:r>
            <a:r>
              <a:rPr lang="en-GB" sz="3600" i="1" dirty="0">
                <a:solidFill>
                  <a:srgbClr val="002060"/>
                </a:solidFill>
                <a:latin typeface="Times New Roman" panose="02020603050405020304" pitchFamily="18" charset="0"/>
                <a:ea typeface="Times New Roman" panose="02020603050405020304" pitchFamily="18" charset="0"/>
              </a:rPr>
              <a:t>I</a:t>
            </a:r>
            <a:r>
              <a:rPr lang="en-GB" sz="3600" i="1" baseline="-25000" dirty="0">
                <a:solidFill>
                  <a:srgbClr val="002060"/>
                </a:solidFill>
                <a:latin typeface="Times New Roman" panose="02020603050405020304" pitchFamily="18" charset="0"/>
                <a:ea typeface="Times New Roman" panose="02020603050405020304" pitchFamily="18" charset="0"/>
              </a:rPr>
              <a:t>n</a:t>
            </a:r>
            <a:r>
              <a:rPr lang="en-GB" sz="3600" i="1" dirty="0">
                <a:solidFill>
                  <a:srgbClr val="002060"/>
                </a:solidFill>
                <a:latin typeface="Times New Roman" panose="02020603050405020304" pitchFamily="18" charset="0"/>
                <a:ea typeface="Times New Roman" panose="02020603050405020304" pitchFamily="18" charset="0"/>
              </a:rPr>
              <a:t> </a:t>
            </a:r>
            <a:r>
              <a:rPr lang="en-GB" sz="3600" dirty="0">
                <a:solidFill>
                  <a:srgbClr val="002060"/>
                </a:solidFill>
                <a:latin typeface="Times New Roman" panose="02020603050405020304" pitchFamily="18" charset="0"/>
                <a:ea typeface="Times New Roman" panose="02020603050405020304" pitchFamily="18" charset="0"/>
              </a:rPr>
              <a:t>cos</a:t>
            </a:r>
            <a:r>
              <a:rPr lang="en-GB" sz="3600" i="1" dirty="0">
                <a:solidFill>
                  <a:srgbClr val="002060"/>
                </a:solidFill>
                <a:latin typeface="Times New Roman" panose="02020603050405020304" pitchFamily="18" charset="0"/>
                <a:ea typeface="Times New Roman" panose="02020603050405020304" pitchFamily="18" charset="0"/>
              </a:rPr>
              <a:t>(</a:t>
            </a:r>
            <a:r>
              <a:rPr lang="en-GB" sz="3600" i="1" dirty="0">
                <a:solidFill>
                  <a:srgbClr val="002060"/>
                </a:solidFill>
                <a:latin typeface="Symbol" panose="05050102010706020507" pitchFamily="18" charset="2"/>
                <a:ea typeface="Times New Roman" panose="02020603050405020304" pitchFamily="18" charset="0"/>
              </a:rPr>
              <a:t>a</a:t>
            </a:r>
            <a:r>
              <a:rPr lang="en-GB" sz="3600" i="1" baseline="-25000" dirty="0">
                <a:solidFill>
                  <a:srgbClr val="002060"/>
                </a:solidFill>
                <a:latin typeface="Symbol" panose="05050102010706020507" pitchFamily="18" charset="2"/>
                <a:ea typeface="Times New Roman" panose="02020603050405020304" pitchFamily="18" charset="0"/>
              </a:rPr>
              <a:t> </a:t>
            </a:r>
            <a:r>
              <a:rPr lang="en-GB" sz="3600" i="1" baseline="-25000" dirty="0">
                <a:solidFill>
                  <a:srgbClr val="002060"/>
                </a:solidFill>
                <a:latin typeface="Times New Roman" panose="02020603050405020304" pitchFamily="18" charset="0"/>
                <a:ea typeface="Times New Roman" panose="02020603050405020304" pitchFamily="18" charset="0"/>
              </a:rPr>
              <a:t>n </a:t>
            </a:r>
            <a:r>
              <a:rPr lang="en-GB" sz="3600" i="1" dirty="0">
                <a:solidFill>
                  <a:srgbClr val="002060"/>
                </a:solidFill>
                <a:latin typeface="Times New Roman" panose="02020603050405020304" pitchFamily="18" charset="0"/>
                <a:ea typeface="Times New Roman" panose="02020603050405020304" pitchFamily="18" charset="0"/>
              </a:rPr>
              <a:t>- </a:t>
            </a:r>
            <a:r>
              <a:rPr lang="en-GB" sz="3600" i="1" dirty="0">
                <a:solidFill>
                  <a:srgbClr val="002060"/>
                </a:solidFill>
                <a:latin typeface="Symbol" panose="05050102010706020507" pitchFamily="18" charset="2"/>
                <a:ea typeface="Times New Roman" panose="02020603050405020304" pitchFamily="18" charset="0"/>
              </a:rPr>
              <a:t>b</a:t>
            </a:r>
            <a:r>
              <a:rPr lang="en-GB" sz="3600" i="1" baseline="-25000" dirty="0">
                <a:solidFill>
                  <a:srgbClr val="002060"/>
                </a:solidFill>
                <a:latin typeface="Symbol" panose="05050102010706020507" pitchFamily="18" charset="2"/>
                <a:ea typeface="Times New Roman" panose="02020603050405020304" pitchFamily="18" charset="0"/>
              </a:rPr>
              <a:t> </a:t>
            </a:r>
            <a:r>
              <a:rPr lang="en-GB" sz="3600" i="1" baseline="-25000" dirty="0">
                <a:solidFill>
                  <a:srgbClr val="002060"/>
                </a:solidFill>
                <a:latin typeface="Times New Roman" panose="02020603050405020304" pitchFamily="18" charset="0"/>
                <a:ea typeface="Times New Roman" panose="02020603050405020304" pitchFamily="18" charset="0"/>
              </a:rPr>
              <a:t>n</a:t>
            </a:r>
            <a:r>
              <a:rPr lang="en-GB" sz="3600" i="1" dirty="0">
                <a:solidFill>
                  <a:srgbClr val="002060"/>
                </a:solidFill>
                <a:latin typeface="Times New Roman" panose="02020603050405020304" pitchFamily="18" charset="0"/>
                <a:ea typeface="Times New Roman" panose="02020603050405020304" pitchFamily="18" charset="0"/>
              </a:rPr>
              <a:t>) </a:t>
            </a:r>
            <a:endParaRPr lang="en-GB" sz="3600" dirty="0">
              <a:latin typeface="Times New Roman" panose="02020603050405020304" pitchFamily="18" charset="0"/>
              <a:ea typeface="Times New Roman" panose="02020603050405020304" pitchFamily="18" charset="0"/>
            </a:endParaRPr>
          </a:p>
          <a:p>
            <a:pPr algn="just">
              <a:lnSpc>
                <a:spcPct val="120000"/>
              </a:lnSpc>
              <a:spcAft>
                <a:spcPts val="600"/>
              </a:spcAft>
              <a:tabLst>
                <a:tab pos="381000" algn="l"/>
                <a:tab pos="3276600" algn="l"/>
              </a:tabLst>
            </a:pPr>
            <a:r>
              <a:rPr lang="en-GB" sz="3600" i="1" dirty="0">
                <a:solidFill>
                  <a:srgbClr val="002060"/>
                </a:solidFill>
                <a:latin typeface="Times New Roman" panose="02020603050405020304" pitchFamily="18" charset="0"/>
                <a:ea typeface="Times New Roman" panose="02020603050405020304" pitchFamily="18" charset="0"/>
              </a:rPr>
              <a:t>	   = </a:t>
            </a:r>
            <a:r>
              <a:rPr lang="en-GB" sz="3600" i="1" dirty="0" err="1">
                <a:solidFill>
                  <a:srgbClr val="002060"/>
                </a:solidFill>
                <a:latin typeface="Times New Roman" panose="02020603050405020304" pitchFamily="18" charset="0"/>
                <a:ea typeface="Times New Roman" panose="02020603050405020304" pitchFamily="18" charset="0"/>
              </a:rPr>
              <a:t>V</a:t>
            </a:r>
            <a:r>
              <a:rPr lang="en-GB" sz="3600" i="1" baseline="-25000" dirty="0" err="1">
                <a:solidFill>
                  <a:srgbClr val="002060"/>
                </a:solidFill>
                <a:latin typeface="Times New Roman" panose="02020603050405020304" pitchFamily="18" charset="0"/>
                <a:ea typeface="Times New Roman" panose="02020603050405020304" pitchFamily="18" charset="0"/>
              </a:rPr>
              <a:t>dc</a:t>
            </a:r>
            <a:r>
              <a:rPr lang="en-GB" sz="3600" i="1" dirty="0" err="1">
                <a:solidFill>
                  <a:srgbClr val="002060"/>
                </a:solidFill>
                <a:latin typeface="Times New Roman" panose="02020603050405020304" pitchFamily="18" charset="0"/>
                <a:ea typeface="Times New Roman" panose="02020603050405020304" pitchFamily="18" charset="0"/>
              </a:rPr>
              <a:t>.I</a:t>
            </a:r>
            <a:r>
              <a:rPr lang="en-GB" sz="3600" i="1" baseline="-25000" dirty="0" err="1">
                <a:solidFill>
                  <a:srgbClr val="002060"/>
                </a:solidFill>
                <a:latin typeface="Times New Roman" panose="02020603050405020304" pitchFamily="18" charset="0"/>
                <a:ea typeface="Times New Roman" panose="02020603050405020304" pitchFamily="18" charset="0"/>
              </a:rPr>
              <a:t>dc</a:t>
            </a:r>
            <a:r>
              <a:rPr lang="en-GB" sz="3600" i="1" dirty="0">
                <a:solidFill>
                  <a:srgbClr val="002060"/>
                </a:solidFill>
                <a:latin typeface="Times New Roman" panose="02020603050405020304" pitchFamily="18" charset="0"/>
                <a:ea typeface="Times New Roman" panose="02020603050405020304" pitchFamily="18" charset="0"/>
              </a:rPr>
              <a:t> + </a:t>
            </a:r>
            <a:r>
              <a:rPr lang="en-GB" sz="3600" i="1" dirty="0">
                <a:solidFill>
                  <a:srgbClr val="002060"/>
                </a:solidFill>
                <a:latin typeface="Symbol" panose="05050102010706020507" pitchFamily="18" charset="2"/>
                <a:ea typeface="Times New Roman" panose="02020603050405020304" pitchFamily="18" charset="0"/>
              </a:rPr>
              <a:t>S</a:t>
            </a:r>
            <a:r>
              <a:rPr lang="en-GB" sz="3600" i="1" dirty="0">
                <a:solidFill>
                  <a:srgbClr val="002060"/>
                </a:solidFill>
                <a:latin typeface="Times New Roman" panose="02020603050405020304" pitchFamily="18" charset="0"/>
                <a:ea typeface="Times New Roman" panose="02020603050405020304" pitchFamily="18" charset="0"/>
              </a:rPr>
              <a:t> </a:t>
            </a:r>
            <a:r>
              <a:rPr lang="en-GB" sz="3600" i="1" dirty="0" err="1">
                <a:solidFill>
                  <a:srgbClr val="002060"/>
                </a:solidFill>
                <a:latin typeface="Times New Roman" panose="02020603050405020304" pitchFamily="18" charset="0"/>
                <a:ea typeface="Times New Roman" panose="02020603050405020304" pitchFamily="18" charset="0"/>
              </a:rPr>
              <a:t>V</a:t>
            </a:r>
            <a:r>
              <a:rPr lang="en-GB" sz="3600" i="1" baseline="-25000" dirty="0" err="1">
                <a:solidFill>
                  <a:srgbClr val="002060"/>
                </a:solidFill>
                <a:latin typeface="Times New Roman" panose="02020603050405020304" pitchFamily="18" charset="0"/>
                <a:ea typeface="Times New Roman" panose="02020603050405020304" pitchFamily="18" charset="0"/>
              </a:rPr>
              <a:t>rms,n</a:t>
            </a:r>
            <a:r>
              <a:rPr lang="en-GB" sz="3600" i="1" baseline="-25000" dirty="0">
                <a:solidFill>
                  <a:srgbClr val="002060"/>
                </a:solidFill>
                <a:latin typeface="Times New Roman" panose="02020603050405020304" pitchFamily="18" charset="0"/>
                <a:ea typeface="Times New Roman" panose="02020603050405020304" pitchFamily="18" charset="0"/>
              </a:rPr>
              <a:t> </a:t>
            </a:r>
            <a:r>
              <a:rPr lang="en-GB" sz="3600" i="1" dirty="0" err="1">
                <a:solidFill>
                  <a:srgbClr val="002060"/>
                </a:solidFill>
                <a:latin typeface="Times New Roman" panose="02020603050405020304" pitchFamily="18" charset="0"/>
                <a:ea typeface="Times New Roman" panose="02020603050405020304" pitchFamily="18" charset="0"/>
              </a:rPr>
              <a:t>I</a:t>
            </a:r>
            <a:r>
              <a:rPr lang="en-GB" sz="3600" i="1" baseline="-25000" dirty="0" err="1">
                <a:solidFill>
                  <a:srgbClr val="002060"/>
                </a:solidFill>
                <a:latin typeface="Times New Roman" panose="02020603050405020304" pitchFamily="18" charset="0"/>
                <a:ea typeface="Times New Roman" panose="02020603050405020304" pitchFamily="18" charset="0"/>
              </a:rPr>
              <a:t>rms,n</a:t>
            </a:r>
            <a:r>
              <a:rPr lang="en-GB" sz="3600" i="1" dirty="0">
                <a:solidFill>
                  <a:srgbClr val="002060"/>
                </a:solidFill>
                <a:latin typeface="Times New Roman" panose="02020603050405020304" pitchFamily="18" charset="0"/>
                <a:ea typeface="Times New Roman" panose="02020603050405020304" pitchFamily="18" charset="0"/>
              </a:rPr>
              <a:t> </a:t>
            </a:r>
            <a:r>
              <a:rPr lang="en-GB" sz="3600" dirty="0" err="1">
                <a:solidFill>
                  <a:srgbClr val="002060"/>
                </a:solidFill>
                <a:latin typeface="Times New Roman" panose="02020603050405020304" pitchFamily="18" charset="0"/>
                <a:ea typeface="Times New Roman" panose="02020603050405020304" pitchFamily="18" charset="0"/>
              </a:rPr>
              <a:t>cos</a:t>
            </a:r>
            <a:r>
              <a:rPr lang="en-GB" sz="3600" i="1" dirty="0" err="1">
                <a:solidFill>
                  <a:srgbClr val="002060"/>
                </a:solidFill>
                <a:latin typeface="Symbol" panose="05050102010706020507" pitchFamily="18" charset="2"/>
                <a:ea typeface="Times New Roman" panose="02020603050405020304" pitchFamily="18" charset="0"/>
              </a:rPr>
              <a:t>f</a:t>
            </a:r>
            <a:r>
              <a:rPr lang="en-GB" sz="3600" i="1" baseline="-25000" dirty="0">
                <a:solidFill>
                  <a:srgbClr val="002060"/>
                </a:solidFill>
                <a:latin typeface="Symbol" panose="05050102010706020507" pitchFamily="18" charset="2"/>
                <a:ea typeface="Times New Roman" panose="02020603050405020304" pitchFamily="18" charset="0"/>
              </a:rPr>
              <a:t> </a:t>
            </a:r>
            <a:r>
              <a:rPr lang="en-GB" sz="3600" i="1" baseline="-25000" dirty="0">
                <a:solidFill>
                  <a:srgbClr val="002060"/>
                </a:solidFill>
                <a:latin typeface="Times New Roman" panose="02020603050405020304" pitchFamily="18" charset="0"/>
                <a:ea typeface="Times New Roman" panose="02020603050405020304" pitchFamily="18" charset="0"/>
              </a:rPr>
              <a:t>n</a:t>
            </a:r>
            <a:endParaRPr lang="en-GB" sz="3600" dirty="0">
              <a:latin typeface="Times New Roman" panose="02020603050405020304" pitchFamily="18" charset="0"/>
              <a:ea typeface="Times New Roman" panose="02020603050405020304" pitchFamily="18" charset="0"/>
            </a:endParaRPr>
          </a:p>
          <a:p>
            <a:pPr>
              <a:lnSpc>
                <a:spcPct val="120000"/>
              </a:lnSpc>
            </a:pPr>
            <a:r>
              <a:rPr lang="en-GB" sz="3600" dirty="0">
                <a:solidFill>
                  <a:srgbClr val="002060"/>
                </a:solidFill>
                <a:latin typeface="Times New Roman" panose="02020603050405020304" pitchFamily="18" charset="0"/>
                <a:ea typeface="Times New Roman" panose="02020603050405020304" pitchFamily="18" charset="0"/>
              </a:rPr>
              <a:t>Total power is given as sum of the powers of the individual harmonics including the fundamental and the direct term.</a:t>
            </a:r>
            <a:endParaRPr lang="en-GB" sz="3600" dirty="0"/>
          </a:p>
        </p:txBody>
      </p:sp>
    </p:spTree>
    <p:extLst>
      <p:ext uri="{BB962C8B-B14F-4D97-AF65-F5344CB8AC3E}">
        <p14:creationId xmlns:p14="http://schemas.microsoft.com/office/powerpoint/2010/main" val="1305745628"/>
      </p:ext>
    </p:extLst>
  </p:cSld>
  <p:clrMapOvr>
    <a:masterClrMapping/>
  </p:clrMapOvr>
  <mc:AlternateContent xmlns:mc="http://schemas.openxmlformats.org/markup-compatibility/2006" xmlns:p14="http://schemas.microsoft.com/office/powerpoint/2010/main">
    <mc:Choice Requires="p14">
      <p:transition spd="slow" p14:dur="2000" advTm="44482"/>
    </mc:Choice>
    <mc:Fallback xmlns="">
      <p:transition spd="slow" advTm="44482"/>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466102"/>
            <a:ext cx="10924085" cy="553998"/>
          </a:xfrm>
        </p:spPr>
        <p:txBody>
          <a:bodyPr>
            <a:normAutofit fontScale="90000"/>
          </a:bodyPr>
          <a:lstStyle/>
          <a:p>
            <a:r>
              <a:rPr lang="en-GB" sz="3600" dirty="0"/>
              <a:t>Example 6</a:t>
            </a:r>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3FDDF982-FDD5-47EC-B6F1-564630AFEA57}"/>
                  </a:ext>
                </a:extLst>
              </p:cNvPr>
              <p:cNvSpPr/>
              <p:nvPr/>
            </p:nvSpPr>
            <p:spPr>
              <a:xfrm>
                <a:off x="429715" y="919085"/>
                <a:ext cx="11505611" cy="5895460"/>
              </a:xfrm>
              <a:prstGeom prst="rect">
                <a:avLst/>
              </a:prstGeom>
            </p:spPr>
            <p:txBody>
              <a:bodyPr wrap="square">
                <a:spAutoFit/>
              </a:bodyPr>
              <a:lstStyle/>
              <a:p>
                <a:pPr algn="just">
                  <a:tabLst>
                    <a:tab pos="381000" algn="l"/>
                    <a:tab pos="3276600" algn="l"/>
                  </a:tabLst>
                </a:pPr>
                <a:r>
                  <a:rPr lang="en-GB" sz="3000" dirty="0">
                    <a:solidFill>
                      <a:srgbClr val="002060"/>
                    </a:solidFill>
                    <a:latin typeface="Times New Roman" panose="02020603050405020304" pitchFamily="18" charset="0"/>
                    <a:ea typeface="Times New Roman" panose="02020603050405020304" pitchFamily="18" charset="0"/>
                  </a:rPr>
                  <a:t>Determine effective values of voltage and current, total power consumed, overall power factor and fundamental displacement factor, if Fourier series of voltage (V) and current (A) are</a:t>
                </a:r>
                <a:endParaRPr lang="en-GB" sz="3000" dirty="0">
                  <a:effectLst/>
                  <a:latin typeface="Times New Roman" panose="02020603050405020304" pitchFamily="18" charset="0"/>
                  <a:ea typeface="Times New Roman" panose="02020603050405020304" pitchFamily="18" charset="0"/>
                </a:endParaRPr>
              </a:p>
              <a:p>
                <a:pPr algn="just">
                  <a:tabLst>
                    <a:tab pos="228600" algn="l"/>
                    <a:tab pos="3276600" algn="l"/>
                  </a:tabLst>
                </a:pPr>
                <a:r>
                  <a:rPr lang="en-GB" sz="3000" dirty="0">
                    <a:solidFill>
                      <a:srgbClr val="002060"/>
                    </a:solidFill>
                    <a:latin typeface="Times New Roman" panose="02020603050405020304" pitchFamily="18" charset="0"/>
                    <a:ea typeface="Times New Roman" panose="02020603050405020304" pitchFamily="18" charset="0"/>
                  </a:rPr>
                  <a:t>	</a:t>
                </a:r>
                <a:r>
                  <a:rPr lang="en-GB" sz="3000" i="1" dirty="0">
                    <a:solidFill>
                      <a:srgbClr val="002060"/>
                    </a:solidFill>
                    <a:latin typeface="Times New Roman" panose="02020603050405020304" pitchFamily="18" charset="0"/>
                    <a:ea typeface="Times New Roman" panose="02020603050405020304" pitchFamily="18" charset="0"/>
                  </a:rPr>
                  <a:t>v(t) = 5 + 8 </a:t>
                </a:r>
                <a:r>
                  <a:rPr lang="en-GB" sz="3000" dirty="0">
                    <a:solidFill>
                      <a:srgbClr val="002060"/>
                    </a:solidFill>
                    <a:latin typeface="Times New Roman" panose="02020603050405020304" pitchFamily="18" charset="0"/>
                    <a:ea typeface="Times New Roman" panose="02020603050405020304" pitchFamily="18" charset="0"/>
                  </a:rPr>
                  <a:t>sin</a:t>
                </a:r>
                <a:r>
                  <a:rPr lang="en-GB" sz="3000" i="1" dirty="0">
                    <a:solidFill>
                      <a:srgbClr val="002060"/>
                    </a:solidFill>
                    <a:latin typeface="Times New Roman" panose="02020603050405020304" pitchFamily="18" charset="0"/>
                    <a:ea typeface="Times New Roman" panose="02020603050405020304" pitchFamily="18" charset="0"/>
                  </a:rPr>
                  <a:t>(</a:t>
                </a:r>
                <a:r>
                  <a:rPr lang="en-GB" sz="3000" i="1" dirty="0">
                    <a:solidFill>
                      <a:srgbClr val="002060"/>
                    </a:solidFill>
                    <a:latin typeface="Symbol" panose="05050102010706020507" pitchFamily="18" charset="2"/>
                    <a:ea typeface="Times New Roman" panose="02020603050405020304" pitchFamily="18" charset="0"/>
                  </a:rPr>
                  <a:t>w </a:t>
                </a:r>
                <a:r>
                  <a:rPr lang="en-GB" sz="3000" i="1" dirty="0">
                    <a:solidFill>
                      <a:srgbClr val="002060"/>
                    </a:solidFill>
                    <a:latin typeface="Times New Roman" panose="02020603050405020304" pitchFamily="18" charset="0"/>
                    <a:ea typeface="Times New Roman" panose="02020603050405020304" pitchFamily="18" charset="0"/>
                  </a:rPr>
                  <a:t>t + </a:t>
                </a:r>
                <a:r>
                  <a:rPr lang="en-GB" sz="3000" i="1" dirty="0">
                    <a:solidFill>
                      <a:srgbClr val="002060"/>
                    </a:solidFill>
                    <a:latin typeface="Symbol" panose="05050102010706020507" pitchFamily="18" charset="2"/>
                    <a:ea typeface="Times New Roman" panose="02020603050405020304" pitchFamily="18" charset="0"/>
                  </a:rPr>
                  <a:t>p</a:t>
                </a:r>
                <a:r>
                  <a:rPr lang="en-GB" sz="3000" i="1" dirty="0">
                    <a:solidFill>
                      <a:srgbClr val="002060"/>
                    </a:solidFill>
                    <a:latin typeface="Times New Roman" panose="02020603050405020304" pitchFamily="18" charset="0"/>
                    <a:ea typeface="Times New Roman" panose="02020603050405020304" pitchFamily="18" charset="0"/>
                  </a:rPr>
                  <a:t>/6) + 2</a:t>
                </a:r>
                <a:r>
                  <a:rPr lang="en-GB" sz="3000" dirty="0">
                    <a:solidFill>
                      <a:srgbClr val="002060"/>
                    </a:solidFill>
                    <a:latin typeface="Times New Roman" panose="02020603050405020304" pitchFamily="18" charset="0"/>
                    <a:ea typeface="Times New Roman" panose="02020603050405020304" pitchFamily="18" charset="0"/>
                  </a:rPr>
                  <a:t> sin</a:t>
                </a:r>
                <a:r>
                  <a:rPr lang="en-GB" sz="3000" i="1" dirty="0">
                    <a:solidFill>
                      <a:srgbClr val="002060"/>
                    </a:solidFill>
                    <a:latin typeface="Times New Roman" panose="02020603050405020304" pitchFamily="18" charset="0"/>
                    <a:ea typeface="Times New Roman" panose="02020603050405020304" pitchFamily="18" charset="0"/>
                  </a:rPr>
                  <a:t>3</a:t>
                </a:r>
                <a:r>
                  <a:rPr lang="en-GB" sz="3000" i="1" dirty="0">
                    <a:solidFill>
                      <a:srgbClr val="002060"/>
                    </a:solidFill>
                    <a:latin typeface="Symbol" panose="05050102010706020507" pitchFamily="18" charset="2"/>
                    <a:ea typeface="Times New Roman" panose="02020603050405020304" pitchFamily="18" charset="0"/>
                  </a:rPr>
                  <a:t>w </a:t>
                </a:r>
                <a:r>
                  <a:rPr lang="en-GB" sz="3000" i="1" dirty="0">
                    <a:solidFill>
                      <a:srgbClr val="002060"/>
                    </a:solidFill>
                    <a:latin typeface="Times New Roman" panose="02020603050405020304" pitchFamily="18" charset="0"/>
                    <a:ea typeface="Times New Roman" panose="02020603050405020304" pitchFamily="18" charset="0"/>
                  </a:rPr>
                  <a:t>t</a:t>
                </a:r>
                <a:r>
                  <a:rPr lang="en-GB" sz="3000" dirty="0">
                    <a:solidFill>
                      <a:srgbClr val="002060"/>
                    </a:solidFill>
                    <a:latin typeface="Times New Roman" panose="02020603050405020304" pitchFamily="18" charset="0"/>
                    <a:ea typeface="Times New Roman" panose="02020603050405020304" pitchFamily="18" charset="0"/>
                  </a:rPr>
                  <a:t>	</a:t>
                </a:r>
                <a:endParaRPr lang="en-GB" sz="3000" dirty="0">
                  <a:effectLst/>
                  <a:latin typeface="Times New Roman" panose="02020603050405020304" pitchFamily="18" charset="0"/>
                  <a:ea typeface="Times New Roman" panose="02020603050405020304" pitchFamily="18" charset="0"/>
                </a:endParaRPr>
              </a:p>
              <a:p>
                <a:pPr algn="just">
                  <a:tabLst>
                    <a:tab pos="228600" algn="l"/>
                    <a:tab pos="3276600" algn="l"/>
                  </a:tabLst>
                </a:pPr>
                <a:r>
                  <a:rPr lang="en-GB" sz="3000" dirty="0">
                    <a:solidFill>
                      <a:srgbClr val="002060"/>
                    </a:solidFill>
                    <a:latin typeface="Times New Roman" panose="02020603050405020304" pitchFamily="18" charset="0"/>
                    <a:ea typeface="Times New Roman" panose="02020603050405020304" pitchFamily="18" charset="0"/>
                  </a:rPr>
                  <a:t>	</a:t>
                </a:r>
                <a:r>
                  <a:rPr lang="en-GB" sz="3000" i="1" dirty="0" err="1">
                    <a:solidFill>
                      <a:srgbClr val="002060"/>
                    </a:solidFill>
                    <a:latin typeface="Times New Roman" panose="02020603050405020304" pitchFamily="18" charset="0"/>
                    <a:ea typeface="Times New Roman" panose="02020603050405020304" pitchFamily="18" charset="0"/>
                  </a:rPr>
                  <a:t>i</a:t>
                </a:r>
                <a:r>
                  <a:rPr lang="en-GB" sz="3000" i="1" dirty="0">
                    <a:solidFill>
                      <a:srgbClr val="002060"/>
                    </a:solidFill>
                    <a:latin typeface="Times New Roman" panose="02020603050405020304" pitchFamily="18" charset="0"/>
                    <a:ea typeface="Times New Roman" panose="02020603050405020304" pitchFamily="18" charset="0"/>
                  </a:rPr>
                  <a:t>(t)=3+5</a:t>
                </a:r>
                <a:r>
                  <a:rPr lang="en-GB" sz="3000" dirty="0">
                    <a:solidFill>
                      <a:srgbClr val="002060"/>
                    </a:solidFill>
                    <a:latin typeface="Times New Roman" panose="02020603050405020304" pitchFamily="18" charset="0"/>
                    <a:ea typeface="Times New Roman" panose="02020603050405020304" pitchFamily="18" charset="0"/>
                  </a:rPr>
                  <a:t>sin</a:t>
                </a:r>
                <a:r>
                  <a:rPr lang="en-GB" sz="3000" i="1" dirty="0">
                    <a:solidFill>
                      <a:srgbClr val="002060"/>
                    </a:solidFill>
                    <a:latin typeface="Times New Roman" panose="02020603050405020304" pitchFamily="18" charset="0"/>
                    <a:ea typeface="Times New Roman" panose="02020603050405020304" pitchFamily="18" charset="0"/>
                  </a:rPr>
                  <a:t>(</a:t>
                </a:r>
                <a:r>
                  <a:rPr lang="en-GB" sz="3000" i="1" dirty="0" err="1">
                    <a:solidFill>
                      <a:srgbClr val="002060"/>
                    </a:solidFill>
                    <a:latin typeface="Symbol" panose="05050102010706020507" pitchFamily="18" charset="2"/>
                    <a:ea typeface="Times New Roman" panose="02020603050405020304" pitchFamily="18" charset="0"/>
                  </a:rPr>
                  <a:t>w</a:t>
                </a:r>
                <a:r>
                  <a:rPr lang="en-GB" sz="3000" i="1" dirty="0" err="1">
                    <a:solidFill>
                      <a:srgbClr val="002060"/>
                    </a:solidFill>
                    <a:latin typeface="Times New Roman" panose="02020603050405020304" pitchFamily="18" charset="0"/>
                    <a:ea typeface="Times New Roman" panose="02020603050405020304" pitchFamily="18" charset="0"/>
                  </a:rPr>
                  <a:t>t+</a:t>
                </a:r>
                <a:r>
                  <a:rPr lang="en-GB" sz="3000" i="1" dirty="0" err="1">
                    <a:solidFill>
                      <a:srgbClr val="002060"/>
                    </a:solidFill>
                    <a:latin typeface="Symbol" panose="05050102010706020507" pitchFamily="18" charset="2"/>
                    <a:ea typeface="Times New Roman" panose="02020603050405020304" pitchFamily="18" charset="0"/>
                  </a:rPr>
                  <a:t>p</a:t>
                </a:r>
                <a:r>
                  <a:rPr lang="en-GB" sz="3000" i="1" dirty="0">
                    <a:solidFill>
                      <a:srgbClr val="002060"/>
                    </a:solidFill>
                    <a:latin typeface="Times New Roman" panose="02020603050405020304" pitchFamily="18" charset="0"/>
                    <a:ea typeface="Times New Roman" panose="02020603050405020304" pitchFamily="18" charset="0"/>
                  </a:rPr>
                  <a:t>/2)+1</a:t>
                </a:r>
                <a:r>
                  <a:rPr lang="en-GB" sz="3000" dirty="0">
                    <a:solidFill>
                      <a:srgbClr val="002060"/>
                    </a:solidFill>
                    <a:latin typeface="Times New Roman" panose="02020603050405020304" pitchFamily="18" charset="0"/>
                    <a:ea typeface="Times New Roman" panose="02020603050405020304" pitchFamily="18" charset="0"/>
                  </a:rPr>
                  <a:t>sin</a:t>
                </a:r>
                <a:r>
                  <a:rPr lang="en-GB" sz="3000" i="1" dirty="0">
                    <a:solidFill>
                      <a:srgbClr val="002060"/>
                    </a:solidFill>
                    <a:latin typeface="Times New Roman" panose="02020603050405020304" pitchFamily="18" charset="0"/>
                    <a:ea typeface="Times New Roman" panose="02020603050405020304" pitchFamily="18" charset="0"/>
                  </a:rPr>
                  <a:t>(2</a:t>
                </a:r>
                <a:r>
                  <a:rPr lang="en-GB" sz="3000" i="1" dirty="0">
                    <a:solidFill>
                      <a:srgbClr val="002060"/>
                    </a:solidFill>
                    <a:latin typeface="Symbol" panose="05050102010706020507" pitchFamily="18" charset="2"/>
                    <a:ea typeface="Times New Roman" panose="02020603050405020304" pitchFamily="18" charset="0"/>
                  </a:rPr>
                  <a:t>w</a:t>
                </a:r>
                <a:r>
                  <a:rPr lang="en-GB" sz="3000" i="1" dirty="0">
                    <a:solidFill>
                      <a:srgbClr val="002060"/>
                    </a:solidFill>
                    <a:latin typeface="Times New Roman" panose="02020603050405020304" pitchFamily="18" charset="0"/>
                    <a:ea typeface="Times New Roman" panose="02020603050405020304" pitchFamily="18" charset="0"/>
                  </a:rPr>
                  <a:t>t- </a:t>
                </a:r>
                <a:r>
                  <a:rPr lang="en-GB" sz="3000" i="1" dirty="0">
                    <a:solidFill>
                      <a:srgbClr val="002060"/>
                    </a:solidFill>
                    <a:latin typeface="Symbol" panose="05050102010706020507" pitchFamily="18" charset="2"/>
                    <a:ea typeface="Times New Roman" panose="02020603050405020304" pitchFamily="18" charset="0"/>
                  </a:rPr>
                  <a:t>p</a:t>
                </a:r>
                <a:r>
                  <a:rPr lang="en-GB" sz="3000" i="1" dirty="0">
                    <a:solidFill>
                      <a:srgbClr val="002060"/>
                    </a:solidFill>
                    <a:latin typeface="Times New Roman" panose="02020603050405020304" pitchFamily="18" charset="0"/>
                    <a:ea typeface="Times New Roman" panose="02020603050405020304" pitchFamily="18" charset="0"/>
                  </a:rPr>
                  <a:t>/3)+1.414</a:t>
                </a:r>
                <a:r>
                  <a:rPr lang="en-GB" sz="3000" dirty="0">
                    <a:solidFill>
                      <a:srgbClr val="002060"/>
                    </a:solidFill>
                    <a:latin typeface="Times New Roman" panose="02020603050405020304" pitchFamily="18" charset="0"/>
                    <a:ea typeface="Times New Roman" panose="02020603050405020304" pitchFamily="18" charset="0"/>
                  </a:rPr>
                  <a:t>cos</a:t>
                </a:r>
                <a:r>
                  <a:rPr lang="en-GB" sz="3000" i="1" dirty="0">
                    <a:solidFill>
                      <a:srgbClr val="002060"/>
                    </a:solidFill>
                    <a:latin typeface="Times New Roman" panose="02020603050405020304" pitchFamily="18" charset="0"/>
                    <a:ea typeface="Times New Roman" panose="02020603050405020304" pitchFamily="18" charset="0"/>
                  </a:rPr>
                  <a:t>(3</a:t>
                </a:r>
                <a:r>
                  <a:rPr lang="en-GB" sz="3000" i="1" dirty="0">
                    <a:solidFill>
                      <a:srgbClr val="002060"/>
                    </a:solidFill>
                    <a:latin typeface="Symbol" panose="05050102010706020507" pitchFamily="18" charset="2"/>
                    <a:ea typeface="Times New Roman" panose="02020603050405020304" pitchFamily="18" charset="0"/>
                  </a:rPr>
                  <a:t>w</a:t>
                </a:r>
                <a:r>
                  <a:rPr lang="en-GB" sz="3000" i="1" dirty="0">
                    <a:solidFill>
                      <a:srgbClr val="002060"/>
                    </a:solidFill>
                    <a:latin typeface="Times New Roman" panose="02020603050405020304" pitchFamily="18" charset="0"/>
                    <a:ea typeface="Times New Roman" panose="02020603050405020304" pitchFamily="18" charset="0"/>
                  </a:rPr>
                  <a:t>t+</a:t>
                </a:r>
                <a:r>
                  <a:rPr lang="en-GB" sz="3000" i="1" dirty="0">
                    <a:solidFill>
                      <a:srgbClr val="002060"/>
                    </a:solidFill>
                    <a:latin typeface="Symbol" panose="05050102010706020507" pitchFamily="18" charset="2"/>
                    <a:ea typeface="Times New Roman" panose="02020603050405020304" pitchFamily="18" charset="0"/>
                  </a:rPr>
                  <a:t>p</a:t>
                </a:r>
                <a:r>
                  <a:rPr lang="en-GB" sz="3000" i="1" dirty="0">
                    <a:solidFill>
                      <a:srgbClr val="002060"/>
                    </a:solidFill>
                    <a:latin typeface="Times New Roman" panose="02020603050405020304" pitchFamily="18" charset="0"/>
                    <a:ea typeface="Times New Roman" panose="02020603050405020304" pitchFamily="18" charset="0"/>
                  </a:rPr>
                  <a:t>/4) </a:t>
                </a:r>
                <a:endParaRPr lang="en-GB" sz="3000" dirty="0">
                  <a:effectLst/>
                  <a:latin typeface="Times New Roman" panose="02020603050405020304" pitchFamily="18" charset="0"/>
                  <a:ea typeface="Times New Roman" panose="02020603050405020304" pitchFamily="18" charset="0"/>
                </a:endParaRPr>
              </a:p>
              <a:p>
                <a:pPr algn="just">
                  <a:spcBef>
                    <a:spcPts val="1200"/>
                  </a:spcBef>
                  <a:tabLst>
                    <a:tab pos="381000" algn="l"/>
                    <a:tab pos="3276600" algn="l"/>
                  </a:tabLst>
                </a:pPr>
                <a:r>
                  <a:rPr lang="en-GB" sz="3000" i="1" dirty="0">
                    <a:solidFill>
                      <a:srgbClr val="002060"/>
                    </a:solidFill>
                    <a:latin typeface="Times New Roman" panose="02020603050405020304" pitchFamily="18" charset="0"/>
                    <a:ea typeface="Times New Roman" panose="02020603050405020304" pitchFamily="18" charset="0"/>
                  </a:rPr>
                  <a:t>Solution</a:t>
                </a:r>
                <a:endParaRPr lang="en-GB" sz="3000" dirty="0">
                  <a:effectLst/>
                  <a:latin typeface="Times New Roman" panose="02020603050405020304" pitchFamily="18" charset="0"/>
                  <a:ea typeface="Times New Roman" panose="02020603050405020304" pitchFamily="18" charset="0"/>
                </a:endParaRPr>
              </a:p>
              <a:p>
                <a:pPr algn="just">
                  <a:spcAft>
                    <a:spcPts val="600"/>
                  </a:spcAft>
                  <a:tabLst>
                    <a:tab pos="381000" algn="l"/>
                    <a:tab pos="3276600" algn="l"/>
                  </a:tabLst>
                </a:pPr>
                <a:r>
                  <a:rPr lang="en-GB" sz="3000" dirty="0">
                    <a:solidFill>
                      <a:srgbClr val="002060"/>
                    </a:solidFill>
                    <a:latin typeface="Times New Roman" panose="02020603050405020304" pitchFamily="18" charset="0"/>
                    <a:ea typeface="Times New Roman" panose="02020603050405020304" pitchFamily="18" charset="0"/>
                  </a:rPr>
                  <a:t>	</a:t>
                </a:r>
                <a14:m>
                  <m:oMath xmlns:m="http://schemas.openxmlformats.org/officeDocument/2006/math">
                    <m:sSub>
                      <m:sSubPr>
                        <m:ctrlPr>
                          <a:rPr lang="en-GB" sz="3000" i="1">
                            <a:solidFill>
                              <a:srgbClr val="002060"/>
                            </a:solidFill>
                            <a:effectLst/>
                            <a:latin typeface="Cambria Math" panose="02040503050406030204" pitchFamily="18" charset="0"/>
                            <a:ea typeface="Times New Roman" panose="02020603050405020304" pitchFamily="18" charset="0"/>
                          </a:rPr>
                        </m:ctrlPr>
                      </m:sSubPr>
                      <m:e>
                        <m:r>
                          <a:rPr lang="en-GB" sz="3000" i="1">
                            <a:solidFill>
                              <a:srgbClr val="002060"/>
                            </a:solidFill>
                            <a:effectLst/>
                            <a:latin typeface="Cambria Math" panose="02040503050406030204" pitchFamily="18" charset="0"/>
                            <a:ea typeface="Times New Roman" panose="02020603050405020304" pitchFamily="18" charset="0"/>
                          </a:rPr>
                          <m:t>𝑉</m:t>
                        </m:r>
                      </m:e>
                      <m:sub>
                        <m:r>
                          <a:rPr lang="en-GB" sz="3000" i="1">
                            <a:solidFill>
                              <a:srgbClr val="002060"/>
                            </a:solidFill>
                            <a:effectLst/>
                            <a:latin typeface="Cambria Math" panose="02040503050406030204" pitchFamily="18" charset="0"/>
                            <a:ea typeface="Times New Roman" panose="02020603050405020304" pitchFamily="18" charset="0"/>
                          </a:rPr>
                          <m:t>𝑟𝑚𝑠</m:t>
                        </m:r>
                      </m:sub>
                    </m:sSub>
                    <m:r>
                      <a:rPr lang="en-GB" sz="3000" i="1">
                        <a:solidFill>
                          <a:srgbClr val="002060"/>
                        </a:solidFill>
                        <a:effectLst/>
                        <a:latin typeface="Cambria Math" panose="02040503050406030204" pitchFamily="18" charset="0"/>
                        <a:ea typeface="Times New Roman" panose="02020603050405020304" pitchFamily="18" charset="0"/>
                      </a:rPr>
                      <m:t>=</m:t>
                    </m:r>
                    <m:rad>
                      <m:radPr>
                        <m:degHide m:val="on"/>
                        <m:ctrlPr>
                          <a:rPr lang="en-GB" sz="3000" i="1">
                            <a:solidFill>
                              <a:srgbClr val="002060"/>
                            </a:solidFill>
                            <a:effectLst/>
                            <a:latin typeface="Cambria Math" panose="02040503050406030204" pitchFamily="18" charset="0"/>
                            <a:ea typeface="Times New Roman" panose="02020603050405020304" pitchFamily="18" charset="0"/>
                          </a:rPr>
                        </m:ctrlPr>
                      </m:radPr>
                      <m:deg/>
                      <m:e>
                        <m:sSup>
                          <m:sSupPr>
                            <m:ctrlPr>
                              <a:rPr lang="en-GB" sz="3000" i="1">
                                <a:solidFill>
                                  <a:srgbClr val="002060"/>
                                </a:solidFill>
                                <a:effectLst/>
                                <a:latin typeface="Cambria Math" panose="02040503050406030204" pitchFamily="18" charset="0"/>
                                <a:ea typeface="Times New Roman" panose="02020603050405020304" pitchFamily="18" charset="0"/>
                              </a:rPr>
                            </m:ctrlPr>
                          </m:sSupPr>
                          <m:e>
                            <m:r>
                              <a:rPr lang="en-GB" sz="3000" i="1">
                                <a:solidFill>
                                  <a:srgbClr val="002060"/>
                                </a:solidFill>
                                <a:effectLst/>
                                <a:latin typeface="Cambria Math" panose="02040503050406030204" pitchFamily="18" charset="0"/>
                                <a:ea typeface="Times New Roman" panose="02020603050405020304" pitchFamily="18" charset="0"/>
                              </a:rPr>
                              <m:t>5</m:t>
                            </m:r>
                          </m:e>
                          <m:sup>
                            <m:r>
                              <a:rPr lang="en-GB" sz="3000" i="1">
                                <a:solidFill>
                                  <a:srgbClr val="002060"/>
                                </a:solidFill>
                                <a:effectLst/>
                                <a:latin typeface="Cambria Math" panose="02040503050406030204" pitchFamily="18" charset="0"/>
                                <a:ea typeface="Times New Roman" panose="02020603050405020304" pitchFamily="18" charset="0"/>
                              </a:rPr>
                              <m:t>2</m:t>
                            </m:r>
                          </m:sup>
                        </m:sSup>
                        <m:r>
                          <a:rPr lang="en-GB" sz="3000" i="1">
                            <a:solidFill>
                              <a:srgbClr val="002060"/>
                            </a:solidFill>
                            <a:effectLst/>
                            <a:latin typeface="Cambria Math" panose="02040503050406030204" pitchFamily="18" charset="0"/>
                            <a:ea typeface="Times New Roman" panose="02020603050405020304" pitchFamily="18" charset="0"/>
                          </a:rPr>
                          <m:t>+</m:t>
                        </m:r>
                        <m:sSup>
                          <m:sSupPr>
                            <m:ctrlPr>
                              <a:rPr lang="en-GB" sz="3000" i="1">
                                <a:solidFill>
                                  <a:srgbClr val="002060"/>
                                </a:solidFill>
                                <a:effectLst/>
                                <a:latin typeface="Cambria Math" panose="02040503050406030204" pitchFamily="18" charset="0"/>
                                <a:ea typeface="Times New Roman" panose="02020603050405020304" pitchFamily="18" charset="0"/>
                              </a:rPr>
                            </m:ctrlPr>
                          </m:sSupPr>
                          <m:e>
                            <m:d>
                              <m:dPr>
                                <m:ctrlPr>
                                  <a:rPr lang="en-GB" sz="3000" i="1">
                                    <a:solidFill>
                                      <a:srgbClr val="002060"/>
                                    </a:solidFill>
                                    <a:effectLst/>
                                    <a:latin typeface="Cambria Math" panose="02040503050406030204" pitchFamily="18" charset="0"/>
                                    <a:ea typeface="Times New Roman" panose="02020603050405020304" pitchFamily="18" charset="0"/>
                                  </a:rPr>
                                </m:ctrlPr>
                              </m:dPr>
                              <m:e>
                                <m:f>
                                  <m:fPr>
                                    <m:ctrlPr>
                                      <a:rPr lang="en-GB" sz="3000" i="1">
                                        <a:solidFill>
                                          <a:srgbClr val="002060"/>
                                        </a:solidFill>
                                        <a:effectLst/>
                                        <a:latin typeface="Cambria Math" panose="02040503050406030204" pitchFamily="18" charset="0"/>
                                        <a:ea typeface="Times New Roman" panose="02020603050405020304" pitchFamily="18" charset="0"/>
                                      </a:rPr>
                                    </m:ctrlPr>
                                  </m:fPr>
                                  <m:num>
                                    <m:r>
                                      <a:rPr lang="en-GB" sz="3000" i="1">
                                        <a:solidFill>
                                          <a:srgbClr val="002060"/>
                                        </a:solidFill>
                                        <a:effectLst/>
                                        <a:latin typeface="Cambria Math" panose="02040503050406030204" pitchFamily="18" charset="0"/>
                                        <a:ea typeface="Times New Roman" panose="02020603050405020304" pitchFamily="18" charset="0"/>
                                      </a:rPr>
                                      <m:t>8</m:t>
                                    </m:r>
                                  </m:num>
                                  <m:den>
                                    <m:rad>
                                      <m:radPr>
                                        <m:degHide m:val="on"/>
                                        <m:ctrlPr>
                                          <a:rPr lang="en-GB" sz="3000" i="1">
                                            <a:solidFill>
                                              <a:srgbClr val="002060"/>
                                            </a:solidFill>
                                            <a:effectLst/>
                                            <a:latin typeface="Cambria Math" panose="02040503050406030204" pitchFamily="18" charset="0"/>
                                            <a:ea typeface="Times New Roman" panose="02020603050405020304" pitchFamily="18" charset="0"/>
                                          </a:rPr>
                                        </m:ctrlPr>
                                      </m:radPr>
                                      <m:deg/>
                                      <m:e>
                                        <m:r>
                                          <a:rPr lang="en-GB" sz="3000" i="1">
                                            <a:solidFill>
                                              <a:srgbClr val="002060"/>
                                            </a:solidFill>
                                            <a:effectLst/>
                                            <a:latin typeface="Cambria Math" panose="02040503050406030204" pitchFamily="18" charset="0"/>
                                            <a:ea typeface="Times New Roman" panose="02020603050405020304" pitchFamily="18" charset="0"/>
                                          </a:rPr>
                                          <m:t>2</m:t>
                                        </m:r>
                                      </m:e>
                                    </m:rad>
                                  </m:den>
                                </m:f>
                              </m:e>
                            </m:d>
                          </m:e>
                          <m:sup>
                            <m:r>
                              <a:rPr lang="en-GB" sz="3000" i="1">
                                <a:solidFill>
                                  <a:srgbClr val="002060"/>
                                </a:solidFill>
                                <a:effectLst/>
                                <a:latin typeface="Cambria Math" panose="02040503050406030204" pitchFamily="18" charset="0"/>
                                <a:ea typeface="Times New Roman" panose="02020603050405020304" pitchFamily="18" charset="0"/>
                              </a:rPr>
                              <m:t>2</m:t>
                            </m:r>
                          </m:sup>
                        </m:sSup>
                        <m:r>
                          <a:rPr lang="en-GB" sz="3000" i="1">
                            <a:solidFill>
                              <a:srgbClr val="002060"/>
                            </a:solidFill>
                            <a:effectLst/>
                            <a:latin typeface="Cambria Math" panose="02040503050406030204" pitchFamily="18" charset="0"/>
                            <a:ea typeface="Times New Roman" panose="02020603050405020304" pitchFamily="18" charset="0"/>
                          </a:rPr>
                          <m:t>+</m:t>
                        </m:r>
                        <m:sSup>
                          <m:sSupPr>
                            <m:ctrlPr>
                              <a:rPr lang="en-GB" sz="3000" i="1">
                                <a:solidFill>
                                  <a:srgbClr val="002060"/>
                                </a:solidFill>
                                <a:effectLst/>
                                <a:latin typeface="Cambria Math" panose="02040503050406030204" pitchFamily="18" charset="0"/>
                                <a:ea typeface="Times New Roman" panose="02020603050405020304" pitchFamily="18" charset="0"/>
                              </a:rPr>
                            </m:ctrlPr>
                          </m:sSupPr>
                          <m:e>
                            <m:d>
                              <m:dPr>
                                <m:ctrlPr>
                                  <a:rPr lang="en-GB" sz="3000" i="1">
                                    <a:solidFill>
                                      <a:srgbClr val="002060"/>
                                    </a:solidFill>
                                    <a:effectLst/>
                                    <a:latin typeface="Cambria Math" panose="02040503050406030204" pitchFamily="18" charset="0"/>
                                    <a:ea typeface="Times New Roman" panose="02020603050405020304" pitchFamily="18" charset="0"/>
                                  </a:rPr>
                                </m:ctrlPr>
                              </m:dPr>
                              <m:e>
                                <m:f>
                                  <m:fPr>
                                    <m:ctrlPr>
                                      <a:rPr lang="en-GB" sz="3000" i="1">
                                        <a:solidFill>
                                          <a:srgbClr val="002060"/>
                                        </a:solidFill>
                                        <a:effectLst/>
                                        <a:latin typeface="Cambria Math" panose="02040503050406030204" pitchFamily="18" charset="0"/>
                                        <a:ea typeface="Times New Roman" panose="02020603050405020304" pitchFamily="18" charset="0"/>
                                      </a:rPr>
                                    </m:ctrlPr>
                                  </m:fPr>
                                  <m:num>
                                    <m:r>
                                      <a:rPr lang="en-GB" sz="3000" i="1">
                                        <a:solidFill>
                                          <a:srgbClr val="002060"/>
                                        </a:solidFill>
                                        <a:effectLst/>
                                        <a:latin typeface="Cambria Math" panose="02040503050406030204" pitchFamily="18" charset="0"/>
                                        <a:ea typeface="Times New Roman" panose="02020603050405020304" pitchFamily="18" charset="0"/>
                                      </a:rPr>
                                      <m:t>2</m:t>
                                    </m:r>
                                  </m:num>
                                  <m:den>
                                    <m:rad>
                                      <m:radPr>
                                        <m:degHide m:val="on"/>
                                        <m:ctrlPr>
                                          <a:rPr lang="en-GB" sz="3000" i="1">
                                            <a:solidFill>
                                              <a:srgbClr val="002060"/>
                                            </a:solidFill>
                                            <a:effectLst/>
                                            <a:latin typeface="Cambria Math" panose="02040503050406030204" pitchFamily="18" charset="0"/>
                                            <a:ea typeface="Times New Roman" panose="02020603050405020304" pitchFamily="18" charset="0"/>
                                          </a:rPr>
                                        </m:ctrlPr>
                                      </m:radPr>
                                      <m:deg/>
                                      <m:e>
                                        <m:r>
                                          <a:rPr lang="en-GB" sz="3000" i="1">
                                            <a:solidFill>
                                              <a:srgbClr val="002060"/>
                                            </a:solidFill>
                                            <a:effectLst/>
                                            <a:latin typeface="Cambria Math" panose="02040503050406030204" pitchFamily="18" charset="0"/>
                                            <a:ea typeface="Times New Roman" panose="02020603050405020304" pitchFamily="18" charset="0"/>
                                          </a:rPr>
                                          <m:t>2</m:t>
                                        </m:r>
                                      </m:e>
                                    </m:rad>
                                  </m:den>
                                </m:f>
                              </m:e>
                            </m:d>
                          </m:e>
                          <m:sup>
                            <m:r>
                              <a:rPr lang="en-GB" sz="3000" i="1">
                                <a:solidFill>
                                  <a:srgbClr val="002060"/>
                                </a:solidFill>
                                <a:effectLst/>
                                <a:latin typeface="Cambria Math" panose="02040503050406030204" pitchFamily="18" charset="0"/>
                                <a:ea typeface="Times New Roman" panose="02020603050405020304" pitchFamily="18" charset="0"/>
                              </a:rPr>
                              <m:t>2</m:t>
                            </m:r>
                          </m:sup>
                        </m:sSup>
                      </m:e>
                    </m:rad>
                  </m:oMath>
                </a14:m>
                <a:r>
                  <a:rPr lang="en-GB" sz="3000" dirty="0">
                    <a:solidFill>
                      <a:srgbClr val="002060"/>
                    </a:solidFill>
                    <a:effectLst/>
                    <a:latin typeface="Times New Roman" panose="02020603050405020304" pitchFamily="18" charset="0"/>
                    <a:ea typeface="Times New Roman" panose="02020603050405020304" pitchFamily="18" charset="0"/>
                  </a:rPr>
                  <a:t>  =  7.681 V</a:t>
                </a:r>
                <a:endParaRPr lang="en-GB" sz="3000" dirty="0">
                  <a:effectLst/>
                  <a:latin typeface="Times New Roman" panose="02020603050405020304" pitchFamily="18" charset="0"/>
                  <a:ea typeface="Times New Roman" panose="02020603050405020304" pitchFamily="18" charset="0"/>
                </a:endParaRPr>
              </a:p>
              <a:p>
                <a:pPr algn="just">
                  <a:tabLst>
                    <a:tab pos="381000" algn="l"/>
                    <a:tab pos="3276600" algn="l"/>
                  </a:tabLst>
                </a:pPr>
                <a:r>
                  <a:rPr lang="en-GB" sz="3000" dirty="0">
                    <a:solidFill>
                      <a:srgbClr val="002060"/>
                    </a:solidFill>
                    <a:effectLst/>
                    <a:latin typeface="Times New Roman" panose="02020603050405020304" pitchFamily="18" charset="0"/>
                    <a:ea typeface="Times New Roman" panose="02020603050405020304" pitchFamily="18" charset="0"/>
                  </a:rPr>
                  <a:t>	</a:t>
                </a:r>
                <a14:m>
                  <m:oMath xmlns:m="http://schemas.openxmlformats.org/officeDocument/2006/math">
                    <m:sSub>
                      <m:sSubPr>
                        <m:ctrlPr>
                          <a:rPr lang="en-GB" sz="3000" i="1">
                            <a:solidFill>
                              <a:srgbClr val="002060"/>
                            </a:solidFill>
                            <a:effectLst/>
                            <a:latin typeface="Cambria Math" panose="02040503050406030204" pitchFamily="18" charset="0"/>
                            <a:ea typeface="Times New Roman" panose="02020603050405020304" pitchFamily="18" charset="0"/>
                          </a:rPr>
                        </m:ctrlPr>
                      </m:sSubPr>
                      <m:e>
                        <m:r>
                          <a:rPr lang="en-GB" sz="3000" i="1">
                            <a:solidFill>
                              <a:srgbClr val="002060"/>
                            </a:solidFill>
                            <a:effectLst/>
                            <a:latin typeface="Cambria Math" panose="02040503050406030204" pitchFamily="18" charset="0"/>
                            <a:ea typeface="Times New Roman" panose="02020603050405020304" pitchFamily="18" charset="0"/>
                          </a:rPr>
                          <m:t>𝐼</m:t>
                        </m:r>
                      </m:e>
                      <m:sub>
                        <m:r>
                          <a:rPr lang="en-GB" sz="3000" i="1">
                            <a:solidFill>
                              <a:srgbClr val="002060"/>
                            </a:solidFill>
                            <a:effectLst/>
                            <a:latin typeface="Cambria Math" panose="02040503050406030204" pitchFamily="18" charset="0"/>
                            <a:ea typeface="Times New Roman" panose="02020603050405020304" pitchFamily="18" charset="0"/>
                          </a:rPr>
                          <m:t>𝑟𝑚𝑠</m:t>
                        </m:r>
                      </m:sub>
                    </m:sSub>
                    <m:r>
                      <a:rPr lang="en-GB" sz="3000" i="1">
                        <a:solidFill>
                          <a:srgbClr val="002060"/>
                        </a:solidFill>
                        <a:effectLst/>
                        <a:latin typeface="Cambria Math" panose="02040503050406030204" pitchFamily="18" charset="0"/>
                        <a:ea typeface="Times New Roman" panose="02020603050405020304" pitchFamily="18" charset="0"/>
                      </a:rPr>
                      <m:t>=</m:t>
                    </m:r>
                    <m:rad>
                      <m:radPr>
                        <m:degHide m:val="on"/>
                        <m:ctrlPr>
                          <a:rPr lang="en-GB" sz="3000" i="1">
                            <a:solidFill>
                              <a:srgbClr val="002060"/>
                            </a:solidFill>
                            <a:effectLst/>
                            <a:latin typeface="Cambria Math" panose="02040503050406030204" pitchFamily="18" charset="0"/>
                            <a:ea typeface="Times New Roman" panose="02020603050405020304" pitchFamily="18" charset="0"/>
                          </a:rPr>
                        </m:ctrlPr>
                      </m:radPr>
                      <m:deg/>
                      <m:e>
                        <m:sSup>
                          <m:sSupPr>
                            <m:ctrlPr>
                              <a:rPr lang="en-GB" sz="3000" i="1">
                                <a:solidFill>
                                  <a:srgbClr val="002060"/>
                                </a:solidFill>
                                <a:effectLst/>
                                <a:latin typeface="Cambria Math" panose="02040503050406030204" pitchFamily="18" charset="0"/>
                                <a:ea typeface="Times New Roman" panose="02020603050405020304" pitchFamily="18" charset="0"/>
                              </a:rPr>
                            </m:ctrlPr>
                          </m:sSupPr>
                          <m:e>
                            <m:r>
                              <a:rPr lang="en-GB" sz="3000" i="1">
                                <a:solidFill>
                                  <a:srgbClr val="002060"/>
                                </a:solidFill>
                                <a:effectLst/>
                                <a:latin typeface="Cambria Math" panose="02040503050406030204" pitchFamily="18" charset="0"/>
                                <a:ea typeface="Times New Roman" panose="02020603050405020304" pitchFamily="18" charset="0"/>
                              </a:rPr>
                              <m:t>3</m:t>
                            </m:r>
                          </m:e>
                          <m:sup>
                            <m:r>
                              <a:rPr lang="en-GB" sz="3000" i="1">
                                <a:solidFill>
                                  <a:srgbClr val="002060"/>
                                </a:solidFill>
                                <a:effectLst/>
                                <a:latin typeface="Cambria Math" panose="02040503050406030204" pitchFamily="18" charset="0"/>
                                <a:ea typeface="Times New Roman" panose="02020603050405020304" pitchFamily="18" charset="0"/>
                              </a:rPr>
                              <m:t>2</m:t>
                            </m:r>
                          </m:sup>
                        </m:sSup>
                        <m:r>
                          <a:rPr lang="en-GB" sz="3000" i="1">
                            <a:solidFill>
                              <a:srgbClr val="002060"/>
                            </a:solidFill>
                            <a:effectLst/>
                            <a:latin typeface="Cambria Math" panose="02040503050406030204" pitchFamily="18" charset="0"/>
                            <a:ea typeface="Times New Roman" panose="02020603050405020304" pitchFamily="18" charset="0"/>
                          </a:rPr>
                          <m:t>+</m:t>
                        </m:r>
                        <m:sSup>
                          <m:sSupPr>
                            <m:ctrlPr>
                              <a:rPr lang="en-GB" sz="3000" i="1">
                                <a:solidFill>
                                  <a:srgbClr val="002060"/>
                                </a:solidFill>
                                <a:effectLst/>
                                <a:latin typeface="Cambria Math" panose="02040503050406030204" pitchFamily="18" charset="0"/>
                                <a:ea typeface="Times New Roman" panose="02020603050405020304" pitchFamily="18" charset="0"/>
                              </a:rPr>
                            </m:ctrlPr>
                          </m:sSupPr>
                          <m:e>
                            <m:d>
                              <m:dPr>
                                <m:ctrlPr>
                                  <a:rPr lang="en-GB" sz="3000" i="1">
                                    <a:solidFill>
                                      <a:srgbClr val="002060"/>
                                    </a:solidFill>
                                    <a:effectLst/>
                                    <a:latin typeface="Cambria Math" panose="02040503050406030204" pitchFamily="18" charset="0"/>
                                    <a:ea typeface="Times New Roman" panose="02020603050405020304" pitchFamily="18" charset="0"/>
                                  </a:rPr>
                                </m:ctrlPr>
                              </m:dPr>
                              <m:e>
                                <m:f>
                                  <m:fPr>
                                    <m:ctrlPr>
                                      <a:rPr lang="en-GB" sz="3000" i="1">
                                        <a:solidFill>
                                          <a:srgbClr val="002060"/>
                                        </a:solidFill>
                                        <a:effectLst/>
                                        <a:latin typeface="Cambria Math" panose="02040503050406030204" pitchFamily="18" charset="0"/>
                                        <a:ea typeface="Times New Roman" panose="02020603050405020304" pitchFamily="18" charset="0"/>
                                      </a:rPr>
                                    </m:ctrlPr>
                                  </m:fPr>
                                  <m:num>
                                    <m:r>
                                      <a:rPr lang="en-GB" sz="3000" i="1">
                                        <a:solidFill>
                                          <a:srgbClr val="002060"/>
                                        </a:solidFill>
                                        <a:effectLst/>
                                        <a:latin typeface="Cambria Math" panose="02040503050406030204" pitchFamily="18" charset="0"/>
                                        <a:ea typeface="Times New Roman" panose="02020603050405020304" pitchFamily="18" charset="0"/>
                                      </a:rPr>
                                      <m:t>5</m:t>
                                    </m:r>
                                  </m:num>
                                  <m:den>
                                    <m:rad>
                                      <m:radPr>
                                        <m:degHide m:val="on"/>
                                        <m:ctrlPr>
                                          <a:rPr lang="en-GB" sz="3000" i="1">
                                            <a:solidFill>
                                              <a:srgbClr val="002060"/>
                                            </a:solidFill>
                                            <a:effectLst/>
                                            <a:latin typeface="Cambria Math" panose="02040503050406030204" pitchFamily="18" charset="0"/>
                                            <a:ea typeface="Times New Roman" panose="02020603050405020304" pitchFamily="18" charset="0"/>
                                          </a:rPr>
                                        </m:ctrlPr>
                                      </m:radPr>
                                      <m:deg/>
                                      <m:e>
                                        <m:r>
                                          <a:rPr lang="en-GB" sz="3000" i="1">
                                            <a:solidFill>
                                              <a:srgbClr val="002060"/>
                                            </a:solidFill>
                                            <a:effectLst/>
                                            <a:latin typeface="Cambria Math" panose="02040503050406030204" pitchFamily="18" charset="0"/>
                                            <a:ea typeface="Times New Roman" panose="02020603050405020304" pitchFamily="18" charset="0"/>
                                          </a:rPr>
                                          <m:t>2</m:t>
                                        </m:r>
                                      </m:e>
                                    </m:rad>
                                  </m:den>
                                </m:f>
                              </m:e>
                            </m:d>
                          </m:e>
                          <m:sup>
                            <m:r>
                              <a:rPr lang="en-GB" sz="3000" i="1">
                                <a:solidFill>
                                  <a:srgbClr val="002060"/>
                                </a:solidFill>
                                <a:effectLst/>
                                <a:latin typeface="Cambria Math" panose="02040503050406030204" pitchFamily="18" charset="0"/>
                                <a:ea typeface="Times New Roman" panose="02020603050405020304" pitchFamily="18" charset="0"/>
                              </a:rPr>
                              <m:t>2</m:t>
                            </m:r>
                          </m:sup>
                        </m:sSup>
                        <m:r>
                          <a:rPr lang="en-GB" sz="3000" i="1">
                            <a:solidFill>
                              <a:srgbClr val="002060"/>
                            </a:solidFill>
                            <a:effectLst/>
                            <a:latin typeface="Cambria Math" panose="02040503050406030204" pitchFamily="18" charset="0"/>
                            <a:ea typeface="Times New Roman" panose="02020603050405020304" pitchFamily="18" charset="0"/>
                          </a:rPr>
                          <m:t>+</m:t>
                        </m:r>
                        <m:sSup>
                          <m:sSupPr>
                            <m:ctrlPr>
                              <a:rPr lang="en-GB" sz="3000" i="1">
                                <a:solidFill>
                                  <a:srgbClr val="002060"/>
                                </a:solidFill>
                                <a:effectLst/>
                                <a:latin typeface="Cambria Math" panose="02040503050406030204" pitchFamily="18" charset="0"/>
                                <a:ea typeface="Times New Roman" panose="02020603050405020304" pitchFamily="18" charset="0"/>
                              </a:rPr>
                            </m:ctrlPr>
                          </m:sSupPr>
                          <m:e>
                            <m:d>
                              <m:dPr>
                                <m:ctrlPr>
                                  <a:rPr lang="en-GB" sz="3000" i="1">
                                    <a:solidFill>
                                      <a:srgbClr val="002060"/>
                                    </a:solidFill>
                                    <a:effectLst/>
                                    <a:latin typeface="Cambria Math" panose="02040503050406030204" pitchFamily="18" charset="0"/>
                                    <a:ea typeface="Times New Roman" panose="02020603050405020304" pitchFamily="18" charset="0"/>
                                  </a:rPr>
                                </m:ctrlPr>
                              </m:dPr>
                              <m:e>
                                <m:f>
                                  <m:fPr>
                                    <m:ctrlPr>
                                      <a:rPr lang="en-GB" sz="3000" i="1">
                                        <a:solidFill>
                                          <a:srgbClr val="002060"/>
                                        </a:solidFill>
                                        <a:effectLst/>
                                        <a:latin typeface="Cambria Math" panose="02040503050406030204" pitchFamily="18" charset="0"/>
                                        <a:ea typeface="Times New Roman" panose="02020603050405020304" pitchFamily="18" charset="0"/>
                                      </a:rPr>
                                    </m:ctrlPr>
                                  </m:fPr>
                                  <m:num>
                                    <m:r>
                                      <a:rPr lang="en-GB" sz="3000" i="1">
                                        <a:solidFill>
                                          <a:srgbClr val="002060"/>
                                        </a:solidFill>
                                        <a:effectLst/>
                                        <a:latin typeface="Cambria Math" panose="02040503050406030204" pitchFamily="18" charset="0"/>
                                        <a:ea typeface="Times New Roman" panose="02020603050405020304" pitchFamily="18" charset="0"/>
                                      </a:rPr>
                                      <m:t>1</m:t>
                                    </m:r>
                                  </m:num>
                                  <m:den>
                                    <m:rad>
                                      <m:radPr>
                                        <m:degHide m:val="on"/>
                                        <m:ctrlPr>
                                          <a:rPr lang="en-GB" sz="3000" i="1">
                                            <a:solidFill>
                                              <a:srgbClr val="002060"/>
                                            </a:solidFill>
                                            <a:effectLst/>
                                            <a:latin typeface="Cambria Math" panose="02040503050406030204" pitchFamily="18" charset="0"/>
                                            <a:ea typeface="Times New Roman" panose="02020603050405020304" pitchFamily="18" charset="0"/>
                                          </a:rPr>
                                        </m:ctrlPr>
                                      </m:radPr>
                                      <m:deg/>
                                      <m:e>
                                        <m:r>
                                          <a:rPr lang="en-GB" sz="3000" i="1">
                                            <a:solidFill>
                                              <a:srgbClr val="002060"/>
                                            </a:solidFill>
                                            <a:effectLst/>
                                            <a:latin typeface="Cambria Math" panose="02040503050406030204" pitchFamily="18" charset="0"/>
                                            <a:ea typeface="Times New Roman" panose="02020603050405020304" pitchFamily="18" charset="0"/>
                                          </a:rPr>
                                          <m:t>2</m:t>
                                        </m:r>
                                      </m:e>
                                    </m:rad>
                                  </m:den>
                                </m:f>
                              </m:e>
                            </m:d>
                          </m:e>
                          <m:sup>
                            <m:r>
                              <a:rPr lang="en-GB" sz="3000" i="1">
                                <a:solidFill>
                                  <a:srgbClr val="002060"/>
                                </a:solidFill>
                                <a:effectLst/>
                                <a:latin typeface="Cambria Math" panose="02040503050406030204" pitchFamily="18" charset="0"/>
                                <a:ea typeface="Times New Roman" panose="02020603050405020304" pitchFamily="18" charset="0"/>
                              </a:rPr>
                              <m:t>2</m:t>
                            </m:r>
                          </m:sup>
                        </m:sSup>
                        <m:r>
                          <a:rPr lang="en-GB" sz="3000" i="1">
                            <a:solidFill>
                              <a:srgbClr val="002060"/>
                            </a:solidFill>
                            <a:effectLst/>
                            <a:latin typeface="Cambria Math" panose="02040503050406030204" pitchFamily="18" charset="0"/>
                            <a:ea typeface="Times New Roman" panose="02020603050405020304" pitchFamily="18" charset="0"/>
                          </a:rPr>
                          <m:t>+</m:t>
                        </m:r>
                        <m:sSup>
                          <m:sSupPr>
                            <m:ctrlPr>
                              <a:rPr lang="en-GB" sz="3000" i="1">
                                <a:solidFill>
                                  <a:srgbClr val="002060"/>
                                </a:solidFill>
                                <a:effectLst/>
                                <a:latin typeface="Cambria Math" panose="02040503050406030204" pitchFamily="18" charset="0"/>
                                <a:ea typeface="Times New Roman" panose="02020603050405020304" pitchFamily="18" charset="0"/>
                              </a:rPr>
                            </m:ctrlPr>
                          </m:sSupPr>
                          <m:e>
                            <m:d>
                              <m:dPr>
                                <m:ctrlPr>
                                  <a:rPr lang="en-GB" sz="3000" i="1">
                                    <a:solidFill>
                                      <a:srgbClr val="002060"/>
                                    </a:solidFill>
                                    <a:effectLst/>
                                    <a:latin typeface="Cambria Math" panose="02040503050406030204" pitchFamily="18" charset="0"/>
                                    <a:ea typeface="Times New Roman" panose="02020603050405020304" pitchFamily="18" charset="0"/>
                                  </a:rPr>
                                </m:ctrlPr>
                              </m:dPr>
                              <m:e>
                                <m:f>
                                  <m:fPr>
                                    <m:ctrlPr>
                                      <a:rPr lang="en-GB" sz="3000" i="1">
                                        <a:solidFill>
                                          <a:srgbClr val="002060"/>
                                        </a:solidFill>
                                        <a:effectLst/>
                                        <a:latin typeface="Cambria Math" panose="02040503050406030204" pitchFamily="18" charset="0"/>
                                        <a:ea typeface="Times New Roman" panose="02020603050405020304" pitchFamily="18" charset="0"/>
                                      </a:rPr>
                                    </m:ctrlPr>
                                  </m:fPr>
                                  <m:num>
                                    <m:r>
                                      <a:rPr lang="en-GB" sz="3000" i="1">
                                        <a:solidFill>
                                          <a:srgbClr val="002060"/>
                                        </a:solidFill>
                                        <a:effectLst/>
                                        <a:latin typeface="Cambria Math" panose="02040503050406030204" pitchFamily="18" charset="0"/>
                                        <a:ea typeface="Times New Roman" panose="02020603050405020304" pitchFamily="18" charset="0"/>
                                      </a:rPr>
                                      <m:t>1.414</m:t>
                                    </m:r>
                                  </m:num>
                                  <m:den>
                                    <m:rad>
                                      <m:radPr>
                                        <m:degHide m:val="on"/>
                                        <m:ctrlPr>
                                          <a:rPr lang="en-GB" sz="3000" i="1">
                                            <a:solidFill>
                                              <a:srgbClr val="002060"/>
                                            </a:solidFill>
                                            <a:effectLst/>
                                            <a:latin typeface="Cambria Math" panose="02040503050406030204" pitchFamily="18" charset="0"/>
                                            <a:ea typeface="Times New Roman" panose="02020603050405020304" pitchFamily="18" charset="0"/>
                                          </a:rPr>
                                        </m:ctrlPr>
                                      </m:radPr>
                                      <m:deg/>
                                      <m:e>
                                        <m:r>
                                          <a:rPr lang="en-GB" sz="3000" i="1">
                                            <a:solidFill>
                                              <a:srgbClr val="002060"/>
                                            </a:solidFill>
                                            <a:effectLst/>
                                            <a:latin typeface="Cambria Math" panose="02040503050406030204" pitchFamily="18" charset="0"/>
                                            <a:ea typeface="Times New Roman" panose="02020603050405020304" pitchFamily="18" charset="0"/>
                                          </a:rPr>
                                          <m:t>2</m:t>
                                        </m:r>
                                      </m:e>
                                    </m:rad>
                                  </m:den>
                                </m:f>
                              </m:e>
                            </m:d>
                          </m:e>
                          <m:sup>
                            <m:r>
                              <a:rPr lang="en-GB" sz="3000" i="1">
                                <a:solidFill>
                                  <a:srgbClr val="002060"/>
                                </a:solidFill>
                                <a:effectLst/>
                                <a:latin typeface="Cambria Math" panose="02040503050406030204" pitchFamily="18" charset="0"/>
                                <a:ea typeface="Times New Roman" panose="02020603050405020304" pitchFamily="18" charset="0"/>
                              </a:rPr>
                              <m:t>2</m:t>
                            </m:r>
                          </m:sup>
                        </m:sSup>
                      </m:e>
                    </m:rad>
                  </m:oMath>
                </a14:m>
                <a:r>
                  <a:rPr lang="en-GB" sz="3000" dirty="0">
                    <a:solidFill>
                      <a:srgbClr val="002060"/>
                    </a:solidFill>
                    <a:effectLst/>
                    <a:latin typeface="Times New Roman" panose="02020603050405020304" pitchFamily="18" charset="0"/>
                    <a:ea typeface="Times New Roman" panose="02020603050405020304" pitchFamily="18" charset="0"/>
                  </a:rPr>
                  <a:t>  =  4.796 A</a:t>
                </a:r>
                <a:endParaRPr lang="en-GB" sz="3000" dirty="0">
                  <a:effectLst/>
                  <a:latin typeface="Times New Roman" panose="02020603050405020304" pitchFamily="18" charset="0"/>
                  <a:ea typeface="Times New Roman" panose="02020603050405020304" pitchFamily="18" charset="0"/>
                </a:endParaRPr>
              </a:p>
              <a:p>
                <a:pPr algn="just">
                  <a:tabLst>
                    <a:tab pos="381000" algn="l"/>
                    <a:tab pos="685800" algn="l"/>
                    <a:tab pos="3276600" algn="l"/>
                  </a:tabLst>
                </a:pPr>
                <a:r>
                  <a:rPr lang="en-GB" sz="2800" i="1" dirty="0">
                    <a:solidFill>
                      <a:srgbClr val="002060"/>
                    </a:solidFill>
                    <a:effectLst/>
                    <a:latin typeface="Times New Roman" panose="02020603050405020304" pitchFamily="18" charset="0"/>
                    <a:ea typeface="Times New Roman" panose="02020603050405020304" pitchFamily="18" charset="0"/>
                  </a:rPr>
                  <a:t>P	</a:t>
                </a:r>
                <a:r>
                  <a:rPr lang="en-GB" sz="2800" dirty="0">
                    <a:solidFill>
                      <a:srgbClr val="002060"/>
                    </a:solidFill>
                    <a:effectLst/>
                    <a:latin typeface="Times New Roman" panose="02020603050405020304" pitchFamily="18" charset="0"/>
                    <a:ea typeface="Times New Roman" panose="02020603050405020304" pitchFamily="18" charset="0"/>
                  </a:rPr>
                  <a:t>=</a:t>
                </a:r>
                <a:r>
                  <a:rPr lang="en-GB" sz="2800" i="1" dirty="0">
                    <a:solidFill>
                      <a:srgbClr val="002060"/>
                    </a:solidFill>
                    <a:effectLst/>
                    <a:latin typeface="Times New Roman" panose="02020603050405020304" pitchFamily="18" charset="0"/>
                    <a:ea typeface="Times New Roman" panose="02020603050405020304" pitchFamily="18" charset="0"/>
                  </a:rPr>
                  <a:t>5</a:t>
                </a:r>
                <a:r>
                  <a:rPr lang="en-GB" sz="2800" i="1" dirty="0">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lang="en-GB" sz="2800" i="1" dirty="0">
                    <a:solidFill>
                      <a:srgbClr val="002060"/>
                    </a:solidFill>
                    <a:effectLst/>
                    <a:latin typeface="Times New Roman" panose="02020603050405020304" pitchFamily="18" charset="0"/>
                    <a:ea typeface="Times New Roman" panose="02020603050405020304" pitchFamily="18" charset="0"/>
                  </a:rPr>
                  <a:t>3+(8/</a:t>
                </a:r>
                <a:r>
                  <a:rPr lang="en-GB" sz="2800" i="1" dirty="0">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lang="en-GB" sz="2800" i="1" dirty="0">
                    <a:solidFill>
                      <a:srgbClr val="002060"/>
                    </a:solidFill>
                    <a:effectLst/>
                    <a:latin typeface="Times New Roman" panose="02020603050405020304" pitchFamily="18" charset="0"/>
                    <a:ea typeface="Times New Roman" panose="02020603050405020304" pitchFamily="18" charset="0"/>
                  </a:rPr>
                  <a:t>2).(5/</a:t>
                </a:r>
                <a:r>
                  <a:rPr lang="en-GB" sz="2800" i="1" dirty="0">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lang="en-GB" sz="2800" i="1" dirty="0">
                    <a:solidFill>
                      <a:srgbClr val="002060"/>
                    </a:solidFill>
                    <a:effectLst/>
                    <a:latin typeface="Times New Roman" panose="02020603050405020304" pitchFamily="18" charset="0"/>
                    <a:ea typeface="Times New Roman" panose="02020603050405020304" pitchFamily="18" charset="0"/>
                  </a:rPr>
                  <a:t>2).</a:t>
                </a:r>
                <a:r>
                  <a:rPr lang="en-GB" sz="2800" dirty="0">
                    <a:solidFill>
                      <a:srgbClr val="002060"/>
                    </a:solidFill>
                    <a:effectLst/>
                    <a:latin typeface="Times New Roman" panose="02020603050405020304" pitchFamily="18" charset="0"/>
                    <a:ea typeface="Times New Roman" panose="02020603050405020304" pitchFamily="18" charset="0"/>
                  </a:rPr>
                  <a:t>cos</a:t>
                </a:r>
                <a:r>
                  <a:rPr lang="en-GB" sz="2800" i="1" dirty="0">
                    <a:solidFill>
                      <a:srgbClr val="002060"/>
                    </a:solidFill>
                    <a:effectLst/>
                    <a:latin typeface="Times New Roman" panose="02020603050405020304" pitchFamily="18" charset="0"/>
                    <a:ea typeface="Times New Roman" panose="02020603050405020304" pitchFamily="18" charset="0"/>
                  </a:rPr>
                  <a:t>(</a:t>
                </a:r>
                <a:r>
                  <a:rPr lang="en-GB" sz="2800" i="1" dirty="0">
                    <a:solidFill>
                      <a:srgbClr val="002060"/>
                    </a:solidFill>
                    <a:effectLst/>
                    <a:latin typeface="Symbol" panose="05050102010706020507" pitchFamily="18" charset="2"/>
                    <a:ea typeface="Times New Roman" panose="02020603050405020304" pitchFamily="18" charset="0"/>
                  </a:rPr>
                  <a:t>p</a:t>
                </a:r>
                <a:r>
                  <a:rPr lang="en-GB" sz="2800" i="1" dirty="0">
                    <a:solidFill>
                      <a:srgbClr val="002060"/>
                    </a:solidFill>
                    <a:effectLst/>
                    <a:latin typeface="Times New Roman" panose="02020603050405020304" pitchFamily="18" charset="0"/>
                    <a:ea typeface="Times New Roman" panose="02020603050405020304" pitchFamily="18" charset="0"/>
                  </a:rPr>
                  <a:t>/3)+0+(2/</a:t>
                </a:r>
                <a:r>
                  <a:rPr lang="en-GB" sz="2800" i="1" dirty="0">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lang="en-GB" sz="2800" i="1" dirty="0">
                    <a:solidFill>
                      <a:srgbClr val="002060"/>
                    </a:solidFill>
                    <a:effectLst/>
                    <a:latin typeface="Times New Roman" panose="02020603050405020304" pitchFamily="18" charset="0"/>
                    <a:ea typeface="Times New Roman" panose="02020603050405020304" pitchFamily="18" charset="0"/>
                  </a:rPr>
                  <a:t>2).(1.414/</a:t>
                </a:r>
                <a:r>
                  <a:rPr lang="en-GB" sz="2800" i="1" dirty="0">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lang="en-GB" sz="2800" i="1" dirty="0">
                    <a:solidFill>
                      <a:srgbClr val="002060"/>
                    </a:solidFill>
                    <a:effectLst/>
                    <a:latin typeface="Times New Roman" panose="02020603050405020304" pitchFamily="18" charset="0"/>
                    <a:ea typeface="Times New Roman" panose="02020603050405020304" pitchFamily="18" charset="0"/>
                  </a:rPr>
                  <a:t>2).</a:t>
                </a:r>
                <a:r>
                  <a:rPr lang="en-GB" sz="2800" dirty="0">
                    <a:solidFill>
                      <a:srgbClr val="002060"/>
                    </a:solidFill>
                    <a:effectLst/>
                    <a:latin typeface="Times New Roman" panose="02020603050405020304" pitchFamily="18" charset="0"/>
                    <a:ea typeface="Times New Roman" panose="02020603050405020304" pitchFamily="18" charset="0"/>
                  </a:rPr>
                  <a:t>cos</a:t>
                </a:r>
                <a:r>
                  <a:rPr lang="en-GB" sz="2800" i="1" dirty="0">
                    <a:solidFill>
                      <a:srgbClr val="002060"/>
                    </a:solidFill>
                    <a:effectLst/>
                    <a:latin typeface="Times New Roman" panose="02020603050405020304" pitchFamily="18" charset="0"/>
                    <a:ea typeface="Times New Roman" panose="02020603050405020304" pitchFamily="18" charset="0"/>
                  </a:rPr>
                  <a:t>(</a:t>
                </a:r>
                <a:r>
                  <a:rPr lang="en-GB" sz="2800" i="1" dirty="0">
                    <a:solidFill>
                      <a:srgbClr val="002060"/>
                    </a:solidFill>
                    <a:effectLst/>
                    <a:latin typeface="Symbol" panose="05050102010706020507" pitchFamily="18" charset="2"/>
                    <a:ea typeface="Times New Roman" panose="02020603050405020304" pitchFamily="18" charset="0"/>
                  </a:rPr>
                  <a:t>p</a:t>
                </a:r>
                <a:r>
                  <a:rPr lang="en-GB" sz="2800" i="1" dirty="0">
                    <a:solidFill>
                      <a:srgbClr val="002060"/>
                    </a:solidFill>
                    <a:effectLst/>
                    <a:latin typeface="Times New Roman" panose="02020603050405020304" pitchFamily="18" charset="0"/>
                    <a:ea typeface="Times New Roman" panose="02020603050405020304" pitchFamily="18" charset="0"/>
                  </a:rPr>
                  <a:t>/2+</a:t>
                </a:r>
                <a:r>
                  <a:rPr lang="en-GB" sz="2800" i="1" dirty="0">
                    <a:solidFill>
                      <a:srgbClr val="002060"/>
                    </a:solidFill>
                    <a:effectLst/>
                    <a:latin typeface="Symbol" panose="05050102010706020507" pitchFamily="18" charset="2"/>
                    <a:ea typeface="Times New Roman" panose="02020603050405020304" pitchFamily="18" charset="0"/>
                  </a:rPr>
                  <a:t>p</a:t>
                </a:r>
                <a:r>
                  <a:rPr lang="en-GB" sz="2800" i="1" dirty="0">
                    <a:solidFill>
                      <a:srgbClr val="002060"/>
                    </a:solidFill>
                    <a:effectLst/>
                    <a:latin typeface="Times New Roman" panose="02020603050405020304" pitchFamily="18" charset="0"/>
                    <a:ea typeface="Times New Roman" panose="02020603050405020304" pitchFamily="18" charset="0"/>
                  </a:rPr>
                  <a:t>/4) </a:t>
                </a:r>
              </a:p>
              <a:p>
                <a:pPr algn="just">
                  <a:tabLst>
                    <a:tab pos="381000" algn="l"/>
                    <a:tab pos="685800" algn="l"/>
                    <a:tab pos="3276600" algn="l"/>
                  </a:tabLst>
                </a:pPr>
                <a:r>
                  <a:rPr lang="en-GB" sz="2800" i="1" dirty="0">
                    <a:solidFill>
                      <a:srgbClr val="002060"/>
                    </a:solidFill>
                    <a:latin typeface="Times New Roman" panose="02020603050405020304" pitchFamily="18" charset="0"/>
                    <a:ea typeface="Times New Roman" panose="02020603050405020304" pitchFamily="18" charset="0"/>
                  </a:rPr>
                  <a:t>    </a:t>
                </a:r>
                <a:r>
                  <a:rPr lang="en-GB" sz="2800" dirty="0">
                    <a:solidFill>
                      <a:srgbClr val="002060"/>
                    </a:solidFill>
                    <a:effectLst/>
                    <a:latin typeface="Times New Roman" panose="02020603050405020304" pitchFamily="18" charset="0"/>
                    <a:ea typeface="Times New Roman" panose="02020603050405020304" pitchFamily="18" charset="0"/>
                  </a:rPr>
                  <a:t>= </a:t>
                </a:r>
                <a:r>
                  <a:rPr lang="en-GB" sz="2800" i="1" dirty="0">
                    <a:solidFill>
                      <a:srgbClr val="002060"/>
                    </a:solidFill>
                    <a:effectLst/>
                    <a:latin typeface="Times New Roman" panose="02020603050405020304" pitchFamily="18" charset="0"/>
                    <a:ea typeface="Times New Roman" panose="02020603050405020304" pitchFamily="18" charset="0"/>
                  </a:rPr>
                  <a:t>15+1–1 = </a:t>
                </a:r>
                <a:r>
                  <a:rPr lang="en-GB" sz="2800" dirty="0">
                    <a:solidFill>
                      <a:srgbClr val="002060"/>
                    </a:solidFill>
                    <a:effectLst/>
                    <a:latin typeface="Times New Roman" panose="02020603050405020304" pitchFamily="18" charset="0"/>
                    <a:ea typeface="Times New Roman" panose="02020603050405020304" pitchFamily="18" charset="0"/>
                  </a:rPr>
                  <a:t>24 W</a:t>
                </a:r>
                <a:endParaRPr lang="en-GB" sz="3000" dirty="0">
                  <a:effectLst/>
                  <a:latin typeface="Times New Roman" panose="02020603050405020304" pitchFamily="18" charset="0"/>
                  <a:ea typeface="Times New Roman" panose="02020603050405020304" pitchFamily="18" charset="0"/>
                </a:endParaRPr>
              </a:p>
            </p:txBody>
          </p:sp>
        </mc:Choice>
        <mc:Fallback xmlns="">
          <p:sp>
            <p:nvSpPr>
              <p:cNvPr id="3" name="Rectangle 2">
                <a:extLst>
                  <a:ext uri="{FF2B5EF4-FFF2-40B4-BE49-F238E27FC236}">
                    <a16:creationId xmlns:a16="http://schemas.microsoft.com/office/drawing/2014/main" id="{3FDDF982-FDD5-47EC-B6F1-564630AFEA57}"/>
                  </a:ext>
                </a:extLst>
              </p:cNvPr>
              <p:cNvSpPr>
                <a:spLocks noRot="1" noChangeAspect="1" noMove="1" noResize="1" noEditPoints="1" noAdjustHandles="1" noChangeArrowheads="1" noChangeShapeType="1" noTextEdit="1"/>
              </p:cNvSpPr>
              <p:nvPr/>
            </p:nvSpPr>
            <p:spPr>
              <a:xfrm>
                <a:off x="429715" y="919085"/>
                <a:ext cx="11505611" cy="5895460"/>
              </a:xfrm>
              <a:prstGeom prst="rect">
                <a:avLst/>
              </a:prstGeom>
              <a:blipFill>
                <a:blip r:embed="rId5"/>
                <a:stretch>
                  <a:fillRect l="-1218" t="-1344" r="-1218" b="-931"/>
                </a:stretch>
              </a:blipFill>
            </p:spPr>
            <p:txBody>
              <a:bodyPr/>
              <a:lstStyle/>
              <a:p>
                <a:r>
                  <a:rPr lang="en-GB">
                    <a:noFill/>
                  </a:rPr>
                  <a:t> </a:t>
                </a:r>
              </a:p>
            </p:txBody>
          </p:sp>
        </mc:Fallback>
      </mc:AlternateContent>
    </p:spTree>
    <p:extLst>
      <p:ext uri="{BB962C8B-B14F-4D97-AF65-F5344CB8AC3E}">
        <p14:creationId xmlns:p14="http://schemas.microsoft.com/office/powerpoint/2010/main" val="748376827"/>
      </p:ext>
    </p:extLst>
  </p:cSld>
  <p:clrMapOvr>
    <a:masterClrMapping/>
  </p:clrMapOvr>
  <mc:AlternateContent xmlns:mc="http://schemas.openxmlformats.org/markup-compatibility/2006" xmlns:p14="http://schemas.microsoft.com/office/powerpoint/2010/main">
    <mc:Choice Requires="p14">
      <p:transition spd="slow" p14:dur="2000" advTm="111490"/>
    </mc:Choice>
    <mc:Fallback xmlns="">
      <p:transition spd="slow" advTm="11149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538291"/>
            <a:ext cx="10924085" cy="553998"/>
          </a:xfrm>
        </p:spPr>
        <p:txBody>
          <a:bodyPr>
            <a:normAutofit/>
          </a:bodyPr>
          <a:lstStyle/>
          <a:p>
            <a:r>
              <a:rPr lang="en-GB" dirty="0"/>
              <a:t>Overall power factor</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917ADC72-6F5B-4A75-BC67-3733EB1420F2}"/>
              </a:ext>
            </a:extLst>
          </p:cNvPr>
          <p:cNvSpPr>
            <a:spLocks noChangeArrowheads="1"/>
          </p:cNvSpPr>
          <p:nvPr/>
        </p:nvSpPr>
        <p:spPr bwMode="auto">
          <a:xfrm>
            <a:off x="20346" y="935361"/>
            <a:ext cx="11742821"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6858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6858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6858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6858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6858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6858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6858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6858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6858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685800" algn="l"/>
                <a:tab pos="3276600" algn="l"/>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Overall power factor of a periodic waveform is defined as ratio of active power to apparent power. </a:t>
            </a:r>
            <a:endParaRPr kumimoji="0" lang="en-GB" altLang="en-US" sz="3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685800" algn="l"/>
                <a:tab pos="3276600" algn="l"/>
              </a:tabLst>
            </a:pPr>
            <a:r>
              <a:rPr kumimoji="0" lang="en-GB" altLang="en-US"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None/>
              <a:tabLst>
                <a:tab pos="381000" algn="l"/>
                <a:tab pos="685800" algn="l"/>
                <a:tab pos="3276600" algn="l"/>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Overall power factor = </a:t>
            </a:r>
            <a:endParaRPr kumimoji="0" lang="en-GB" altLang="en-US" sz="3600" b="0" i="0" u="none" strike="noStrike" cap="none" normalizeH="0" baseline="0" dirty="0">
              <a:ln>
                <a:noFill/>
              </a:ln>
              <a:solidFill>
                <a:schemeClr val="tx1"/>
              </a:solidFill>
              <a:effectLst/>
              <a:latin typeface="Arial" panose="020B0604020202020204" pitchFamily="34" charset="0"/>
            </a:endParaRPr>
          </a:p>
        </p:txBody>
      </p:sp>
      <p:graphicFrame>
        <p:nvGraphicFramePr>
          <p:cNvPr id="4" name="Object 3">
            <a:extLst>
              <a:ext uri="{FF2B5EF4-FFF2-40B4-BE49-F238E27FC236}">
                <a16:creationId xmlns:a16="http://schemas.microsoft.com/office/drawing/2014/main" id="{C2B26A29-06BA-41A3-AB63-6C960DE9A3DE}"/>
              </a:ext>
            </a:extLst>
          </p:cNvPr>
          <p:cNvGraphicFramePr>
            <a:graphicFrameLocks noChangeAspect="1"/>
          </p:cNvGraphicFramePr>
          <p:nvPr>
            <p:extLst>
              <p:ext uri="{D42A27DB-BD31-4B8C-83A1-F6EECF244321}">
                <p14:modId xmlns:p14="http://schemas.microsoft.com/office/powerpoint/2010/main" val="2758511059"/>
              </p:ext>
            </p:extLst>
          </p:nvPr>
        </p:nvGraphicFramePr>
        <p:xfrm>
          <a:off x="4660232" y="2006028"/>
          <a:ext cx="3176336" cy="1337404"/>
        </p:xfrm>
        <a:graphic>
          <a:graphicData uri="http://schemas.openxmlformats.org/presentationml/2006/ole">
            <mc:AlternateContent xmlns:mc="http://schemas.openxmlformats.org/markup-compatibility/2006">
              <mc:Choice xmlns:v="urn:schemas-microsoft-com:vml" Requires="v">
                <p:oleObj r:id="rId3" imgW="1016000" imgH="419100" progId="Equation.3">
                  <p:embed/>
                </p:oleObj>
              </mc:Choice>
              <mc:Fallback>
                <p:oleObj r:id="rId3" imgW="1016000" imgH="4191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0232" y="2006028"/>
                        <a:ext cx="3176336" cy="1337404"/>
                      </a:xfrm>
                      <a:prstGeom prst="rect">
                        <a:avLst/>
                      </a:prstGeom>
                      <a:noFill/>
                    </p:spPr>
                  </p:pic>
                </p:oleObj>
              </mc:Fallback>
            </mc:AlternateContent>
          </a:graphicData>
        </a:graphic>
      </p:graphicFrame>
      <p:sp>
        <p:nvSpPr>
          <p:cNvPr id="5" name="Rectangle 3">
            <a:extLst>
              <a:ext uri="{FF2B5EF4-FFF2-40B4-BE49-F238E27FC236}">
                <a16:creationId xmlns:a16="http://schemas.microsoft.com/office/drawing/2014/main" id="{50BB6042-A792-4D5C-B3E5-C59E78A7873A}"/>
              </a:ext>
            </a:extLst>
          </p:cNvPr>
          <p:cNvSpPr>
            <a:spLocks noChangeArrowheads="1"/>
          </p:cNvSpPr>
          <p:nvPr/>
        </p:nvSpPr>
        <p:spPr bwMode="auto">
          <a:xfrm>
            <a:off x="152401" y="3405846"/>
            <a:ext cx="112014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6858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6858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6858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6858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6858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6858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6858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6858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6858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685800" algn="l"/>
                <a:tab pos="3276600" algn="l"/>
              </a:tabLst>
            </a:pPr>
            <a:r>
              <a:rPr kumimoji="0" lang="en-GB" altLang="en-US" sz="40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Overall power factor = 24/(7.681 </a:t>
            </a:r>
            <a:r>
              <a:rPr kumimoji="0" lang="en-GB" altLang="en-US" sz="40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a:t>
            </a:r>
            <a:r>
              <a:rPr kumimoji="0" lang="en-GB" altLang="en-US" sz="40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4.796) = 0.651</a:t>
            </a:r>
            <a:endParaRPr kumimoji="0" lang="en-GB" altLang="en-US" sz="40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tab pos="381000" algn="l"/>
                <a:tab pos="685800" algn="l"/>
                <a:tab pos="3276600" algn="l"/>
              </a:tabLst>
            </a:pPr>
            <a:r>
              <a:rPr kumimoji="0" lang="en-GB" altLang="en-US" sz="40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With non-sinusoidal waveforms, power factor is not associated with lead or lag as these no longer have any meaning.</a:t>
            </a:r>
            <a:r>
              <a:rPr kumimoji="0" lang="en-GB"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 </a:t>
            </a:r>
            <a:endParaRPr kumimoji="0" lang="en-GB" altLang="en-US" sz="40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2101182138"/>
      </p:ext>
    </p:extLst>
  </p:cSld>
  <p:clrMapOvr>
    <a:masterClrMapping/>
  </p:clrMapOvr>
  <mc:AlternateContent xmlns:mc="http://schemas.openxmlformats.org/markup-compatibility/2006" xmlns:p14="http://schemas.microsoft.com/office/powerpoint/2010/main">
    <mc:Choice Requires="p14">
      <p:transition spd="slow" p14:dur="2000" advTm="46674"/>
    </mc:Choice>
    <mc:Fallback xmlns="">
      <p:transition spd="slow" advTm="46674"/>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fontScale="90000"/>
          </a:bodyPr>
          <a:lstStyle/>
          <a:p>
            <a:r>
              <a:rPr lang="en-GB" sz="3600" dirty="0"/>
              <a:t>Fundamental displacement factor</a:t>
            </a:r>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BABC5BA0-2D5C-4D1F-B702-0689C9F34472}"/>
              </a:ext>
            </a:extLst>
          </p:cNvPr>
          <p:cNvSpPr/>
          <p:nvPr/>
        </p:nvSpPr>
        <p:spPr>
          <a:xfrm>
            <a:off x="309400" y="1116352"/>
            <a:ext cx="11332570" cy="5386090"/>
          </a:xfrm>
          <a:prstGeom prst="rect">
            <a:avLst/>
          </a:prstGeom>
        </p:spPr>
        <p:txBody>
          <a:bodyPr wrap="square">
            <a:spAutoFit/>
          </a:bodyPr>
          <a:lstStyle/>
          <a:p>
            <a:pPr algn="just">
              <a:spcAft>
                <a:spcPts val="600"/>
              </a:spcAft>
              <a:tabLst>
                <a:tab pos="381000" algn="l"/>
                <a:tab pos="685800" algn="l"/>
                <a:tab pos="3276600" algn="l"/>
              </a:tabLst>
            </a:pPr>
            <a:r>
              <a:rPr lang="en-GB" sz="3600" dirty="0">
                <a:solidFill>
                  <a:srgbClr val="002060"/>
                </a:solidFill>
                <a:latin typeface="Times New Roman" panose="02020603050405020304" pitchFamily="18" charset="0"/>
                <a:ea typeface="Times New Roman" panose="02020603050405020304" pitchFamily="18" charset="0"/>
              </a:rPr>
              <a:t>Fundamental displacement factor corresponds to power factor of the fundamental.  </a:t>
            </a:r>
            <a:endParaRPr lang="en-GB" sz="3600" dirty="0">
              <a:latin typeface="Times New Roman" panose="02020603050405020304" pitchFamily="18" charset="0"/>
              <a:ea typeface="Times New Roman" panose="02020603050405020304" pitchFamily="18" charset="0"/>
            </a:endParaRPr>
          </a:p>
          <a:p>
            <a:pPr algn="just">
              <a:spcAft>
                <a:spcPts val="600"/>
              </a:spcAft>
              <a:tabLst>
                <a:tab pos="381000" algn="l"/>
                <a:tab pos="685800" algn="l"/>
                <a:tab pos="3276600" algn="l"/>
              </a:tabLst>
            </a:pPr>
            <a:r>
              <a:rPr lang="en-GB" sz="3600" dirty="0">
                <a:solidFill>
                  <a:srgbClr val="002060"/>
                </a:solidFill>
                <a:latin typeface="Times New Roman" panose="02020603050405020304" pitchFamily="18" charset="0"/>
                <a:ea typeface="Times New Roman" panose="02020603050405020304" pitchFamily="18" charset="0"/>
              </a:rPr>
              <a:t>It tells by how much the fundamental component of current is displaced from the fundamental component of voltage, and hence is also associated with the terms lead and lag.</a:t>
            </a:r>
            <a:endParaRPr lang="en-GB" sz="3600" dirty="0">
              <a:latin typeface="Times New Roman" panose="02020603050405020304" pitchFamily="18" charset="0"/>
              <a:ea typeface="Times New Roman" panose="02020603050405020304" pitchFamily="18" charset="0"/>
            </a:endParaRPr>
          </a:p>
          <a:p>
            <a:pPr algn="just">
              <a:spcAft>
                <a:spcPts val="600"/>
              </a:spcAft>
              <a:tabLst>
                <a:tab pos="381000" algn="l"/>
                <a:tab pos="685800" algn="l"/>
                <a:tab pos="3276600" algn="l"/>
              </a:tabLst>
            </a:pPr>
            <a:r>
              <a:rPr lang="en-GB" sz="3600" dirty="0">
                <a:solidFill>
                  <a:srgbClr val="002060"/>
                </a:solidFill>
                <a:latin typeface="Times New Roman" panose="02020603050405020304" pitchFamily="18" charset="0"/>
                <a:ea typeface="Times New Roman" panose="02020603050405020304" pitchFamily="18" charset="0"/>
              </a:rPr>
              <a:t>	Fundamental displacement factor (</a:t>
            </a:r>
            <a:r>
              <a:rPr lang="en-GB" sz="3600" dirty="0" err="1">
                <a:solidFill>
                  <a:srgbClr val="002060"/>
                </a:solidFill>
                <a:latin typeface="Times New Roman" panose="02020603050405020304" pitchFamily="18" charset="0"/>
                <a:ea typeface="Times New Roman" panose="02020603050405020304" pitchFamily="18" charset="0"/>
              </a:rPr>
              <a:t>FDF</a:t>
            </a:r>
            <a:r>
              <a:rPr lang="en-GB" sz="3600" dirty="0">
                <a:solidFill>
                  <a:srgbClr val="002060"/>
                </a:solidFill>
                <a:latin typeface="Times New Roman" panose="02020603050405020304" pitchFamily="18" charset="0"/>
                <a:ea typeface="Times New Roman" panose="02020603050405020304" pitchFamily="18" charset="0"/>
              </a:rPr>
              <a:t>) </a:t>
            </a:r>
            <a:endParaRPr lang="en-GB" sz="3600" dirty="0">
              <a:latin typeface="Times New Roman" panose="02020603050405020304" pitchFamily="18" charset="0"/>
              <a:ea typeface="Times New Roman" panose="02020603050405020304" pitchFamily="18" charset="0"/>
            </a:endParaRPr>
          </a:p>
          <a:p>
            <a:pPr algn="just">
              <a:spcAft>
                <a:spcPts val="600"/>
              </a:spcAft>
              <a:tabLst>
                <a:tab pos="381000" algn="l"/>
                <a:tab pos="685800" algn="l"/>
                <a:tab pos="3276600" algn="l"/>
              </a:tabLst>
            </a:pPr>
            <a:r>
              <a:rPr lang="en-GB" sz="3600" dirty="0">
                <a:solidFill>
                  <a:srgbClr val="002060"/>
                </a:solidFill>
                <a:latin typeface="Times New Roman" panose="02020603050405020304" pitchFamily="18" charset="0"/>
                <a:ea typeface="Times New Roman" panose="02020603050405020304" pitchFamily="18" charset="0"/>
              </a:rPr>
              <a:t>	= cos </a:t>
            </a:r>
            <a:r>
              <a:rPr lang="en-GB" sz="3600" dirty="0">
                <a:solidFill>
                  <a:srgbClr val="002060"/>
                </a:solidFill>
                <a:latin typeface="Symbol" panose="05050102010706020507" pitchFamily="18" charset="2"/>
                <a:ea typeface="Times New Roman" panose="02020603050405020304" pitchFamily="18" charset="0"/>
              </a:rPr>
              <a:t>f</a:t>
            </a:r>
            <a:r>
              <a:rPr lang="en-GB" sz="3600" baseline="-25000" dirty="0">
                <a:solidFill>
                  <a:srgbClr val="002060"/>
                </a:solidFill>
                <a:latin typeface="Times New Roman" panose="02020603050405020304" pitchFamily="18" charset="0"/>
                <a:ea typeface="Times New Roman" panose="02020603050405020304" pitchFamily="18" charset="0"/>
              </a:rPr>
              <a:t>1</a:t>
            </a:r>
            <a:r>
              <a:rPr lang="en-GB" sz="3600" dirty="0">
                <a:solidFill>
                  <a:srgbClr val="002060"/>
                </a:solidFill>
                <a:latin typeface="Times New Roman" panose="02020603050405020304" pitchFamily="18" charset="0"/>
                <a:ea typeface="Times New Roman" panose="02020603050405020304" pitchFamily="18" charset="0"/>
              </a:rPr>
              <a:t> = cos (</a:t>
            </a:r>
            <a:r>
              <a:rPr lang="en-GB" sz="3600" dirty="0">
                <a:solidFill>
                  <a:srgbClr val="002060"/>
                </a:solidFill>
                <a:latin typeface="Symbol" panose="05050102010706020507" pitchFamily="18" charset="2"/>
                <a:ea typeface="Times New Roman" panose="02020603050405020304" pitchFamily="18" charset="0"/>
              </a:rPr>
              <a:t>p</a:t>
            </a:r>
            <a:r>
              <a:rPr lang="en-GB" sz="3600" dirty="0">
                <a:solidFill>
                  <a:srgbClr val="002060"/>
                </a:solidFill>
                <a:latin typeface="Times New Roman" panose="02020603050405020304" pitchFamily="18" charset="0"/>
                <a:ea typeface="Times New Roman" panose="02020603050405020304" pitchFamily="18" charset="0"/>
              </a:rPr>
              <a:t>/2 - </a:t>
            </a:r>
            <a:r>
              <a:rPr lang="en-GB" sz="3600" dirty="0">
                <a:solidFill>
                  <a:srgbClr val="002060"/>
                </a:solidFill>
                <a:latin typeface="Symbol" panose="05050102010706020507" pitchFamily="18" charset="2"/>
                <a:ea typeface="Times New Roman" panose="02020603050405020304" pitchFamily="18" charset="0"/>
              </a:rPr>
              <a:t>p</a:t>
            </a:r>
            <a:r>
              <a:rPr lang="en-GB" sz="3600" dirty="0">
                <a:solidFill>
                  <a:srgbClr val="002060"/>
                </a:solidFill>
                <a:latin typeface="Times New Roman" panose="02020603050405020304" pitchFamily="18" charset="0"/>
                <a:ea typeface="Times New Roman" panose="02020603050405020304" pitchFamily="18" charset="0"/>
              </a:rPr>
              <a:t>/6) = cos</a:t>
            </a:r>
            <a:r>
              <a:rPr lang="en-GB" sz="3600" dirty="0">
                <a:solidFill>
                  <a:srgbClr val="002060"/>
                </a:solidFill>
                <a:latin typeface="Symbol" panose="05050102010706020507" pitchFamily="18" charset="2"/>
                <a:ea typeface="Times New Roman" panose="02020603050405020304" pitchFamily="18" charset="0"/>
              </a:rPr>
              <a:t> p</a:t>
            </a:r>
            <a:r>
              <a:rPr lang="en-GB" sz="3600" dirty="0">
                <a:solidFill>
                  <a:srgbClr val="002060"/>
                </a:solidFill>
                <a:latin typeface="Times New Roman" panose="02020603050405020304" pitchFamily="18" charset="0"/>
                <a:ea typeface="Times New Roman" panose="02020603050405020304" pitchFamily="18" charset="0"/>
              </a:rPr>
              <a:t>/3 = 0.5 lead</a:t>
            </a:r>
            <a:endParaRPr lang="en-GB" sz="3600" dirty="0">
              <a:latin typeface="Times New Roman" panose="02020603050405020304" pitchFamily="18" charset="0"/>
              <a:ea typeface="Times New Roman" panose="02020603050405020304" pitchFamily="18" charset="0"/>
            </a:endParaRPr>
          </a:p>
          <a:p>
            <a:r>
              <a:rPr lang="en-GB" sz="3600" dirty="0">
                <a:solidFill>
                  <a:srgbClr val="002060"/>
                </a:solidFill>
                <a:latin typeface="Times New Roman" panose="02020603050405020304" pitchFamily="18" charset="0"/>
                <a:ea typeface="Times New Roman" panose="02020603050405020304" pitchFamily="18" charset="0"/>
              </a:rPr>
              <a:t>Note that the term lead is used as the original current           is leading the voltage  by an angle </a:t>
            </a:r>
            <a:r>
              <a:rPr lang="en-GB" sz="3600" dirty="0">
                <a:solidFill>
                  <a:srgbClr val="002060"/>
                </a:solidFill>
                <a:latin typeface="Symbol" panose="05050102010706020507" pitchFamily="18" charset="2"/>
                <a:ea typeface="Times New Roman" panose="02020603050405020304" pitchFamily="18" charset="0"/>
                <a:cs typeface="Times New Roman" panose="02020603050405020304" pitchFamily="18" charset="0"/>
              </a:rPr>
              <a:t>p</a:t>
            </a:r>
            <a:r>
              <a:rPr lang="en-GB" sz="3600" dirty="0">
                <a:solidFill>
                  <a:srgbClr val="002060"/>
                </a:solidFill>
                <a:latin typeface="Times New Roman" panose="02020603050405020304" pitchFamily="18" charset="0"/>
                <a:ea typeface="Times New Roman" panose="02020603050405020304" pitchFamily="18" charset="0"/>
              </a:rPr>
              <a:t>/3.</a:t>
            </a:r>
            <a:endParaRPr lang="en-GB" sz="3600" dirty="0"/>
          </a:p>
        </p:txBody>
      </p:sp>
    </p:spTree>
    <p:extLst>
      <p:ext uri="{BB962C8B-B14F-4D97-AF65-F5344CB8AC3E}">
        <p14:creationId xmlns:p14="http://schemas.microsoft.com/office/powerpoint/2010/main" val="3882113295"/>
      </p:ext>
    </p:extLst>
  </p:cSld>
  <p:clrMapOvr>
    <a:masterClrMapping/>
  </p:clrMapOvr>
  <mc:AlternateContent xmlns:mc="http://schemas.openxmlformats.org/markup-compatibility/2006" xmlns:p14="http://schemas.microsoft.com/office/powerpoint/2010/main">
    <mc:Choice Requires="p14">
      <p:transition spd="slow" p14:dur="2000" advTm="93458"/>
    </mc:Choice>
    <mc:Fallback xmlns="">
      <p:transition spd="slow" advTm="93458"/>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a:bodyPr>
          <a:lstStyle/>
          <a:p>
            <a:r>
              <a:rPr lang="en-GB" dirty="0"/>
              <a:t>Analysis of Circuits in presence of Harmonics in Source</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D1C6032A-6C37-4918-B8B7-00D14E268D0A}"/>
              </a:ext>
            </a:extLst>
          </p:cNvPr>
          <p:cNvSpPr/>
          <p:nvPr/>
        </p:nvSpPr>
        <p:spPr>
          <a:xfrm>
            <a:off x="355226" y="1116352"/>
            <a:ext cx="11481548" cy="3385542"/>
          </a:xfrm>
          <a:prstGeom prst="rect">
            <a:avLst/>
          </a:prstGeom>
        </p:spPr>
        <p:txBody>
          <a:bodyPr wrap="square">
            <a:spAutoFit/>
          </a:bodyPr>
          <a:lstStyle/>
          <a:p>
            <a:pPr algn="just">
              <a:spcAft>
                <a:spcPts val="600"/>
              </a:spcAft>
              <a:tabLst>
                <a:tab pos="381000" algn="l"/>
                <a:tab pos="3276600" algn="l"/>
              </a:tabLst>
            </a:pPr>
            <a:r>
              <a:rPr lang="en-GB" sz="3400" dirty="0">
                <a:solidFill>
                  <a:srgbClr val="002060"/>
                </a:solidFill>
                <a:latin typeface="Times New Roman" panose="02020603050405020304" pitchFamily="18" charset="0"/>
                <a:ea typeface="Times New Roman" panose="02020603050405020304" pitchFamily="18" charset="0"/>
              </a:rPr>
              <a:t>Due to presence of non-linear devices in the system, voltages and currents get distorted from sinusoidal.</a:t>
            </a:r>
            <a:endParaRPr lang="en-GB" sz="3400" dirty="0">
              <a:latin typeface="Times New Roman" panose="02020603050405020304" pitchFamily="18" charset="0"/>
              <a:ea typeface="Times New Roman" panose="02020603050405020304" pitchFamily="18" charset="0"/>
            </a:endParaRPr>
          </a:p>
          <a:p>
            <a:pPr algn="just">
              <a:spcAft>
                <a:spcPts val="600"/>
              </a:spcAft>
              <a:tabLst>
                <a:tab pos="381000" algn="l"/>
                <a:tab pos="3276600" algn="l"/>
              </a:tabLst>
            </a:pPr>
            <a:r>
              <a:rPr lang="en-GB" sz="3400" dirty="0">
                <a:solidFill>
                  <a:srgbClr val="002060"/>
                </a:solidFill>
                <a:latin typeface="Times New Roman" panose="02020603050405020304" pitchFamily="18" charset="0"/>
                <a:ea typeface="Times New Roman" panose="02020603050405020304" pitchFamily="18" charset="0"/>
              </a:rPr>
              <a:t>Thus it becomes necessary to analyse circuits in the presence of distortion in source.</a:t>
            </a:r>
            <a:endParaRPr lang="en-GB" sz="3400" dirty="0">
              <a:latin typeface="Times New Roman" panose="02020603050405020304" pitchFamily="18" charset="0"/>
              <a:ea typeface="Times New Roman" panose="02020603050405020304" pitchFamily="18" charset="0"/>
            </a:endParaRPr>
          </a:p>
          <a:p>
            <a:pPr algn="just">
              <a:spcAft>
                <a:spcPts val="600"/>
              </a:spcAft>
              <a:tabLst>
                <a:tab pos="381000" algn="l"/>
                <a:tab pos="3276600" algn="l"/>
              </a:tabLst>
            </a:pPr>
            <a:r>
              <a:rPr lang="en-GB" sz="3400" dirty="0">
                <a:solidFill>
                  <a:srgbClr val="002060"/>
                </a:solidFill>
                <a:latin typeface="Times New Roman" panose="02020603050405020304" pitchFamily="18" charset="0"/>
                <a:ea typeface="Times New Roman" panose="02020603050405020304" pitchFamily="18" charset="0"/>
              </a:rPr>
              <a:t>This can be done by using the Fourier Series of supply voltage and the principle of superposition.</a:t>
            </a:r>
            <a:endParaRPr lang="en-GB" sz="3400" dirty="0">
              <a:latin typeface="Times New Roman" panose="02020603050405020304" pitchFamily="18" charset="0"/>
              <a:ea typeface="Times New Roman" panose="02020603050405020304" pitchFamily="18" charset="0"/>
            </a:endParaRPr>
          </a:p>
        </p:txBody>
      </p:sp>
      <p:sp>
        <p:nvSpPr>
          <p:cNvPr id="4" name="Rectangle 3">
            <a:extLst>
              <a:ext uri="{FF2B5EF4-FFF2-40B4-BE49-F238E27FC236}">
                <a16:creationId xmlns:a16="http://schemas.microsoft.com/office/drawing/2014/main" id="{CF1DDB3A-4241-46B8-A710-4B3B264178A7}"/>
              </a:ext>
            </a:extLst>
          </p:cNvPr>
          <p:cNvSpPr/>
          <p:nvPr/>
        </p:nvSpPr>
        <p:spPr>
          <a:xfrm>
            <a:off x="357526" y="4399564"/>
            <a:ext cx="9243674" cy="2185214"/>
          </a:xfrm>
          <a:prstGeom prst="rect">
            <a:avLst/>
          </a:prstGeom>
        </p:spPr>
        <p:txBody>
          <a:bodyPr wrap="square">
            <a:spAutoFit/>
          </a:bodyPr>
          <a:lstStyle/>
          <a:p>
            <a:r>
              <a:rPr lang="en-GB" sz="3400" cap="all" dirty="0">
                <a:solidFill>
                  <a:srgbClr val="002060"/>
                </a:solidFill>
                <a:latin typeface="Times New Roman" panose="02020603050405020304" pitchFamily="18" charset="0"/>
                <a:ea typeface="Times New Roman" panose="02020603050405020304" pitchFamily="18" charset="0"/>
              </a:rPr>
              <a:t>F</a:t>
            </a:r>
            <a:r>
              <a:rPr lang="en-GB" sz="3400" dirty="0">
                <a:solidFill>
                  <a:srgbClr val="002060"/>
                </a:solidFill>
                <a:latin typeface="Times New Roman" panose="02020603050405020304" pitchFamily="18" charset="0"/>
                <a:ea typeface="Times New Roman" panose="02020603050405020304" pitchFamily="18" charset="0"/>
              </a:rPr>
              <a:t>or each frequency component, circuit is analysed, as for pure sinusoidal quantities, using normal complex number analysis, and the results are summed up to give the resultant waveform.</a:t>
            </a:r>
            <a:endParaRPr lang="en-GB" sz="3400" dirty="0"/>
          </a:p>
        </p:txBody>
      </p:sp>
    </p:spTree>
    <p:extLst>
      <p:ext uri="{BB962C8B-B14F-4D97-AF65-F5344CB8AC3E}">
        <p14:creationId xmlns:p14="http://schemas.microsoft.com/office/powerpoint/2010/main" val="3253633299"/>
      </p:ext>
    </p:extLst>
  </p:cSld>
  <p:clrMapOvr>
    <a:masterClrMapping/>
  </p:clrMapOvr>
  <mc:AlternateContent xmlns:mc="http://schemas.openxmlformats.org/markup-compatibility/2006" xmlns:p14="http://schemas.microsoft.com/office/powerpoint/2010/main">
    <mc:Choice Requires="p14">
      <p:transition spd="slow" p14:dur="2000" advTm="61156"/>
    </mc:Choice>
    <mc:Fallback xmlns="">
      <p:transition spd="slow" advTm="61156"/>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fontScale="90000"/>
          </a:bodyPr>
          <a:lstStyle/>
          <a:p>
            <a:r>
              <a:rPr lang="en-GB" sz="3600" dirty="0"/>
              <a:t>Example 7</a:t>
            </a:r>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4A5E3B43-9D62-4CB7-AA76-26B398175E65}"/>
              </a:ext>
            </a:extLst>
          </p:cNvPr>
          <p:cNvSpPr/>
          <p:nvPr/>
        </p:nvSpPr>
        <p:spPr>
          <a:xfrm>
            <a:off x="259267" y="4030579"/>
            <a:ext cx="11264980" cy="2462213"/>
          </a:xfrm>
          <a:prstGeom prst="rect">
            <a:avLst/>
          </a:prstGeom>
        </p:spPr>
        <p:txBody>
          <a:bodyPr wrap="square">
            <a:spAutoFit/>
          </a:bodyPr>
          <a:lstStyle/>
          <a:p>
            <a:pPr>
              <a:spcAft>
                <a:spcPts val="600"/>
              </a:spcAft>
              <a:tabLst>
                <a:tab pos="381000" algn="l"/>
                <a:tab pos="3276600" algn="l"/>
              </a:tabLst>
            </a:pPr>
            <a:r>
              <a:rPr lang="en-GB" sz="3600" dirty="0">
                <a:solidFill>
                  <a:srgbClr val="002060"/>
                </a:solidFill>
                <a:latin typeface="Times New Roman" panose="02020603050405020304" pitchFamily="18" charset="0"/>
                <a:ea typeface="Times New Roman" panose="02020603050405020304" pitchFamily="18" charset="0"/>
              </a:rPr>
              <a:t>Determine voltage across load R for supply voltage e(t) applied to circuit shown in figure 22.</a:t>
            </a:r>
            <a:endParaRPr lang="en-GB" sz="3600" dirty="0">
              <a:latin typeface="Times New Roman" panose="02020603050405020304" pitchFamily="18" charset="0"/>
              <a:ea typeface="Times New Roman" panose="02020603050405020304" pitchFamily="18" charset="0"/>
            </a:endParaRPr>
          </a:p>
          <a:p>
            <a:pPr marL="400050" marR="0" algn="just">
              <a:spcBef>
                <a:spcPts val="0"/>
              </a:spcBef>
              <a:spcAft>
                <a:spcPts val="600"/>
              </a:spcAft>
              <a:tabLst>
                <a:tab pos="381000" algn="l"/>
                <a:tab pos="3276600" algn="l"/>
              </a:tabLst>
            </a:pPr>
            <a:r>
              <a:rPr lang="de-DE" sz="3600" dirty="0">
                <a:solidFill>
                  <a:srgbClr val="002060"/>
                </a:solidFill>
                <a:latin typeface="Times New Roman" panose="02020603050405020304" pitchFamily="18" charset="0"/>
                <a:ea typeface="Times New Roman" panose="02020603050405020304" pitchFamily="18" charset="0"/>
              </a:rPr>
              <a:t>e(t) = 100 + 30 sin(300t + </a:t>
            </a:r>
            <a:r>
              <a:rPr lang="en-GB" sz="3600" dirty="0">
                <a:solidFill>
                  <a:srgbClr val="002060"/>
                </a:solidFill>
                <a:latin typeface="Symbol" panose="05050102010706020507" pitchFamily="18" charset="2"/>
                <a:ea typeface="Times New Roman" panose="02020603050405020304" pitchFamily="18" charset="0"/>
              </a:rPr>
              <a:t>p</a:t>
            </a:r>
            <a:r>
              <a:rPr lang="de-DE" sz="3600" dirty="0">
                <a:solidFill>
                  <a:srgbClr val="002060"/>
                </a:solidFill>
                <a:latin typeface="Times New Roman" panose="02020603050405020304" pitchFamily="18" charset="0"/>
                <a:ea typeface="Times New Roman" panose="02020603050405020304" pitchFamily="18" charset="0"/>
              </a:rPr>
              <a:t>/6) + 20 sin 900t </a:t>
            </a:r>
            <a:endParaRPr lang="en-GB" sz="3600" dirty="0">
              <a:latin typeface="Times New Roman" panose="02020603050405020304" pitchFamily="18" charset="0"/>
              <a:ea typeface="Times New Roman" panose="02020603050405020304" pitchFamily="18" charset="0"/>
            </a:endParaRPr>
          </a:p>
          <a:p>
            <a:r>
              <a:rPr lang="de-DE" sz="3600" dirty="0">
                <a:solidFill>
                  <a:srgbClr val="002060"/>
                </a:solidFill>
                <a:latin typeface="Times New Roman" panose="02020603050405020304" pitchFamily="18" charset="0"/>
                <a:ea typeface="Times New Roman" panose="02020603050405020304" pitchFamily="18" charset="0"/>
              </a:rPr>
              <a:t>	+ </a:t>
            </a:r>
            <a:r>
              <a:rPr lang="en-GB" sz="3600" dirty="0">
                <a:solidFill>
                  <a:srgbClr val="002060"/>
                </a:solidFill>
                <a:latin typeface="Times New Roman" panose="02020603050405020304" pitchFamily="18" charset="0"/>
                <a:ea typeface="Times New Roman" panose="02020603050405020304" pitchFamily="18" charset="0"/>
              </a:rPr>
              <a:t>15 sin (1500t - </a:t>
            </a:r>
            <a:r>
              <a:rPr lang="en-GB" sz="3600" dirty="0">
                <a:solidFill>
                  <a:srgbClr val="002060"/>
                </a:solidFill>
                <a:latin typeface="Symbol" panose="05050102010706020507" pitchFamily="18" charset="2"/>
                <a:ea typeface="Times New Roman" panose="02020603050405020304" pitchFamily="18" charset="0"/>
                <a:cs typeface="Times New Roman" panose="02020603050405020304" pitchFamily="18" charset="0"/>
              </a:rPr>
              <a:t>p</a:t>
            </a:r>
            <a:r>
              <a:rPr lang="en-GB" sz="3600" dirty="0">
                <a:solidFill>
                  <a:srgbClr val="002060"/>
                </a:solidFill>
                <a:latin typeface="Times New Roman" panose="02020603050405020304" pitchFamily="18" charset="0"/>
                <a:ea typeface="Times New Roman" panose="02020603050405020304" pitchFamily="18" charset="0"/>
              </a:rPr>
              <a:t>/6) + 10 sin 2100t</a:t>
            </a:r>
            <a:endParaRPr lang="en-GB" sz="3600" dirty="0"/>
          </a:p>
        </p:txBody>
      </p:sp>
      <p:grpSp>
        <p:nvGrpSpPr>
          <p:cNvPr id="5" name="Group 4">
            <a:extLst>
              <a:ext uri="{FF2B5EF4-FFF2-40B4-BE49-F238E27FC236}">
                <a16:creationId xmlns:a16="http://schemas.microsoft.com/office/drawing/2014/main" id="{DB9EA6B4-8450-4EBD-8E3B-A2C48A4B807A}"/>
              </a:ext>
            </a:extLst>
          </p:cNvPr>
          <p:cNvGrpSpPr>
            <a:grpSpLocks noChangeAspect="1"/>
          </p:cNvGrpSpPr>
          <p:nvPr/>
        </p:nvGrpSpPr>
        <p:grpSpPr bwMode="auto">
          <a:xfrm>
            <a:off x="1252449" y="1093294"/>
            <a:ext cx="9407530" cy="2937284"/>
            <a:chOff x="6098" y="4377"/>
            <a:chExt cx="4680" cy="1727"/>
          </a:xfrm>
        </p:grpSpPr>
        <p:sp>
          <p:nvSpPr>
            <p:cNvPr id="6" name="Oval 5">
              <a:extLst>
                <a:ext uri="{FF2B5EF4-FFF2-40B4-BE49-F238E27FC236}">
                  <a16:creationId xmlns:a16="http://schemas.microsoft.com/office/drawing/2014/main" id="{AF37B85C-3E24-491A-BB9A-AF8749440D74}"/>
                </a:ext>
              </a:extLst>
            </p:cNvPr>
            <p:cNvSpPr>
              <a:spLocks noChangeAspect="1" noChangeArrowheads="1"/>
            </p:cNvSpPr>
            <p:nvPr/>
          </p:nvSpPr>
          <p:spPr bwMode="auto">
            <a:xfrm>
              <a:off x="6518" y="5378"/>
              <a:ext cx="360" cy="360"/>
            </a:xfrm>
            <a:prstGeom prst="ellipse">
              <a:avLst/>
            </a:pr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3600"/>
            </a:p>
          </p:txBody>
        </p:sp>
        <p:cxnSp>
          <p:nvCxnSpPr>
            <p:cNvPr id="7" name="Line 773">
              <a:extLst>
                <a:ext uri="{FF2B5EF4-FFF2-40B4-BE49-F238E27FC236}">
                  <a16:creationId xmlns:a16="http://schemas.microsoft.com/office/drawing/2014/main" id="{CD97E7D6-A9C9-40FF-B6BF-517E0EF91502}"/>
                </a:ext>
              </a:extLst>
            </p:cNvPr>
            <p:cNvCxnSpPr>
              <a:cxnSpLocks noChangeAspect="1" noChangeShapeType="1"/>
            </p:cNvCxnSpPr>
            <p:nvPr/>
          </p:nvCxnSpPr>
          <p:spPr bwMode="auto">
            <a:xfrm flipV="1">
              <a:off x="6698" y="483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8" name="Line 774">
              <a:extLst>
                <a:ext uri="{FF2B5EF4-FFF2-40B4-BE49-F238E27FC236}">
                  <a16:creationId xmlns:a16="http://schemas.microsoft.com/office/drawing/2014/main" id="{C62EE888-9C21-49FC-8E51-969B22B71FE3}"/>
                </a:ext>
              </a:extLst>
            </p:cNvPr>
            <p:cNvCxnSpPr>
              <a:cxnSpLocks noChangeAspect="1" noChangeShapeType="1"/>
            </p:cNvCxnSpPr>
            <p:nvPr/>
          </p:nvCxnSpPr>
          <p:spPr bwMode="auto">
            <a:xfrm flipV="1">
              <a:off x="6698" y="5738"/>
              <a:ext cx="0" cy="36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nvGrpSpPr>
            <p:cNvPr id="9" name="Group 8">
              <a:extLst>
                <a:ext uri="{FF2B5EF4-FFF2-40B4-BE49-F238E27FC236}">
                  <a16:creationId xmlns:a16="http://schemas.microsoft.com/office/drawing/2014/main" id="{1934608B-5211-44D5-8196-900A20D50482}"/>
                </a:ext>
              </a:extLst>
            </p:cNvPr>
            <p:cNvGrpSpPr>
              <a:grpSpLocks noChangeAspect="1"/>
            </p:cNvGrpSpPr>
            <p:nvPr/>
          </p:nvGrpSpPr>
          <p:grpSpPr bwMode="auto">
            <a:xfrm rot="-5400000">
              <a:off x="7253" y="4403"/>
              <a:ext cx="121" cy="751"/>
              <a:chOff x="6232" y="3219"/>
              <a:chExt cx="121" cy="751"/>
            </a:xfrm>
          </p:grpSpPr>
          <p:sp>
            <p:nvSpPr>
              <p:cNvPr id="42" name="Arc 776">
                <a:extLst>
                  <a:ext uri="{FF2B5EF4-FFF2-40B4-BE49-F238E27FC236}">
                    <a16:creationId xmlns:a16="http://schemas.microsoft.com/office/drawing/2014/main" id="{8B5650F6-2396-4A41-8931-7C4435DB2404}"/>
                  </a:ext>
                </a:extLst>
              </p:cNvPr>
              <p:cNvSpPr>
                <a:spLocks noChangeAspect="1"/>
              </p:cNvSpPr>
              <p:nvPr/>
            </p:nvSpPr>
            <p:spPr bwMode="auto">
              <a:xfrm>
                <a:off x="6233" y="3219"/>
                <a:ext cx="91" cy="182"/>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200"/>
                      <a:pt x="0" y="43200"/>
                    </a:cubicBezTo>
                  </a:path>
                  <a:path w="21600" h="43200" stroke="0" extrusionOk="0">
                    <a:moveTo>
                      <a:pt x="-1" y="0"/>
                    </a:moveTo>
                    <a:cubicBezTo>
                      <a:pt x="11929" y="0"/>
                      <a:pt x="21600" y="9670"/>
                      <a:pt x="21600" y="21600"/>
                    </a:cubicBezTo>
                    <a:cubicBezTo>
                      <a:pt x="21600" y="33529"/>
                      <a:pt x="11929" y="43200"/>
                      <a:pt x="0" y="432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3600"/>
              </a:p>
            </p:txBody>
          </p:sp>
          <p:sp>
            <p:nvSpPr>
              <p:cNvPr id="43" name="Arc 777">
                <a:extLst>
                  <a:ext uri="{FF2B5EF4-FFF2-40B4-BE49-F238E27FC236}">
                    <a16:creationId xmlns:a16="http://schemas.microsoft.com/office/drawing/2014/main" id="{54E0F48F-C8C2-4BBB-A1FB-A32CDED94629}"/>
                  </a:ext>
                </a:extLst>
              </p:cNvPr>
              <p:cNvSpPr>
                <a:spLocks noChangeAspect="1"/>
              </p:cNvSpPr>
              <p:nvPr/>
            </p:nvSpPr>
            <p:spPr bwMode="auto">
              <a:xfrm>
                <a:off x="6232" y="3414"/>
                <a:ext cx="91" cy="182"/>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200"/>
                      <a:pt x="0" y="43200"/>
                    </a:cubicBezTo>
                  </a:path>
                  <a:path w="21600" h="43200" stroke="0" extrusionOk="0">
                    <a:moveTo>
                      <a:pt x="-1" y="0"/>
                    </a:moveTo>
                    <a:cubicBezTo>
                      <a:pt x="11929" y="0"/>
                      <a:pt x="21600" y="9670"/>
                      <a:pt x="21600" y="21600"/>
                    </a:cubicBezTo>
                    <a:cubicBezTo>
                      <a:pt x="21600" y="33529"/>
                      <a:pt x="11929" y="43200"/>
                      <a:pt x="0" y="432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3600"/>
              </a:p>
            </p:txBody>
          </p:sp>
          <p:sp>
            <p:nvSpPr>
              <p:cNvPr id="44" name="Arc 778">
                <a:extLst>
                  <a:ext uri="{FF2B5EF4-FFF2-40B4-BE49-F238E27FC236}">
                    <a16:creationId xmlns:a16="http://schemas.microsoft.com/office/drawing/2014/main" id="{9574AB42-EE0B-4F27-9861-1DCD940015F4}"/>
                  </a:ext>
                </a:extLst>
              </p:cNvPr>
              <p:cNvSpPr>
                <a:spLocks noChangeAspect="1"/>
              </p:cNvSpPr>
              <p:nvPr/>
            </p:nvSpPr>
            <p:spPr bwMode="auto">
              <a:xfrm>
                <a:off x="6248" y="3593"/>
                <a:ext cx="91" cy="182"/>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200"/>
                      <a:pt x="0" y="43200"/>
                    </a:cubicBezTo>
                  </a:path>
                  <a:path w="21600" h="43200" stroke="0" extrusionOk="0">
                    <a:moveTo>
                      <a:pt x="-1" y="0"/>
                    </a:moveTo>
                    <a:cubicBezTo>
                      <a:pt x="11929" y="0"/>
                      <a:pt x="21600" y="9670"/>
                      <a:pt x="21600" y="21600"/>
                    </a:cubicBezTo>
                    <a:cubicBezTo>
                      <a:pt x="21600" y="33529"/>
                      <a:pt x="11929" y="43200"/>
                      <a:pt x="0" y="432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3600"/>
              </a:p>
            </p:txBody>
          </p:sp>
          <p:sp>
            <p:nvSpPr>
              <p:cNvPr id="45" name="Arc 779">
                <a:extLst>
                  <a:ext uri="{FF2B5EF4-FFF2-40B4-BE49-F238E27FC236}">
                    <a16:creationId xmlns:a16="http://schemas.microsoft.com/office/drawing/2014/main" id="{6843FBA0-9B48-4A68-828B-FBD3B9546F07}"/>
                  </a:ext>
                </a:extLst>
              </p:cNvPr>
              <p:cNvSpPr>
                <a:spLocks noChangeAspect="1"/>
              </p:cNvSpPr>
              <p:nvPr/>
            </p:nvSpPr>
            <p:spPr bwMode="auto">
              <a:xfrm>
                <a:off x="6262" y="3788"/>
                <a:ext cx="91" cy="182"/>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200"/>
                      <a:pt x="0" y="43200"/>
                    </a:cubicBezTo>
                  </a:path>
                  <a:path w="21600" h="43200" stroke="0" extrusionOk="0">
                    <a:moveTo>
                      <a:pt x="-1" y="0"/>
                    </a:moveTo>
                    <a:cubicBezTo>
                      <a:pt x="11929" y="0"/>
                      <a:pt x="21600" y="9670"/>
                      <a:pt x="21600" y="21600"/>
                    </a:cubicBezTo>
                    <a:cubicBezTo>
                      <a:pt x="21600" y="33529"/>
                      <a:pt x="11929" y="43200"/>
                      <a:pt x="0" y="432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3600"/>
              </a:p>
            </p:txBody>
          </p:sp>
        </p:grpSp>
        <p:cxnSp>
          <p:nvCxnSpPr>
            <p:cNvPr id="10" name="Line 780">
              <a:extLst>
                <a:ext uri="{FF2B5EF4-FFF2-40B4-BE49-F238E27FC236}">
                  <a16:creationId xmlns:a16="http://schemas.microsoft.com/office/drawing/2014/main" id="{BD247FE5-1B12-4DF8-BB41-3C7F227E3022}"/>
                </a:ext>
              </a:extLst>
            </p:cNvPr>
            <p:cNvCxnSpPr>
              <a:cxnSpLocks noChangeAspect="1" noChangeShapeType="1"/>
            </p:cNvCxnSpPr>
            <p:nvPr/>
          </p:nvCxnSpPr>
          <p:spPr bwMode="auto">
            <a:xfrm>
              <a:off x="6698" y="4838"/>
              <a:ext cx="24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1" name="Line 783">
              <a:extLst>
                <a:ext uri="{FF2B5EF4-FFF2-40B4-BE49-F238E27FC236}">
                  <a16:creationId xmlns:a16="http://schemas.microsoft.com/office/drawing/2014/main" id="{326B674F-8A85-41B0-AC37-ACE77CDA7E5E}"/>
                </a:ext>
              </a:extLst>
            </p:cNvPr>
            <p:cNvCxnSpPr>
              <a:cxnSpLocks noChangeAspect="1" noChangeShapeType="1"/>
            </p:cNvCxnSpPr>
            <p:nvPr/>
          </p:nvCxnSpPr>
          <p:spPr bwMode="auto">
            <a:xfrm>
              <a:off x="7673" y="4793"/>
              <a:ext cx="18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nvGrpSpPr>
            <p:cNvPr id="12" name="Group 11">
              <a:extLst>
                <a:ext uri="{FF2B5EF4-FFF2-40B4-BE49-F238E27FC236}">
                  <a16:creationId xmlns:a16="http://schemas.microsoft.com/office/drawing/2014/main" id="{EF669E7F-A124-40E6-94DB-B94DAA4C84B4}"/>
                </a:ext>
              </a:extLst>
            </p:cNvPr>
            <p:cNvGrpSpPr>
              <a:grpSpLocks noChangeAspect="1"/>
            </p:cNvGrpSpPr>
            <p:nvPr/>
          </p:nvGrpSpPr>
          <p:grpSpPr bwMode="auto">
            <a:xfrm>
              <a:off x="7853" y="4703"/>
              <a:ext cx="360" cy="180"/>
              <a:chOff x="2018" y="2138"/>
              <a:chExt cx="1200" cy="357"/>
            </a:xfrm>
          </p:grpSpPr>
          <p:cxnSp>
            <p:nvCxnSpPr>
              <p:cNvPr id="36" name="Line 785">
                <a:extLst>
                  <a:ext uri="{FF2B5EF4-FFF2-40B4-BE49-F238E27FC236}">
                    <a16:creationId xmlns:a16="http://schemas.microsoft.com/office/drawing/2014/main" id="{8D708701-0FA0-4AC1-B2F1-12FDCCF0B2D2}"/>
                  </a:ext>
                </a:extLst>
              </p:cNvPr>
              <p:cNvCxnSpPr>
                <a:cxnSpLocks noChangeAspect="1" noChangeShapeType="1"/>
              </p:cNvCxnSpPr>
              <p:nvPr/>
            </p:nvCxnSpPr>
            <p:spPr bwMode="auto">
              <a:xfrm flipV="1">
                <a:off x="2018" y="2138"/>
                <a:ext cx="120" cy="18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37" name="Line 786">
                <a:extLst>
                  <a:ext uri="{FF2B5EF4-FFF2-40B4-BE49-F238E27FC236}">
                    <a16:creationId xmlns:a16="http://schemas.microsoft.com/office/drawing/2014/main" id="{2DFC047C-F2BC-42DF-8F4F-7D2990D25DDF}"/>
                  </a:ext>
                </a:extLst>
              </p:cNvPr>
              <p:cNvCxnSpPr>
                <a:cxnSpLocks noChangeAspect="1" noChangeShapeType="1"/>
              </p:cNvCxnSpPr>
              <p:nvPr/>
            </p:nvCxnSpPr>
            <p:spPr bwMode="auto">
              <a:xfrm flipH="1" flipV="1">
                <a:off x="3098" y="2138"/>
                <a:ext cx="120" cy="18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38" name="Line 787">
                <a:extLst>
                  <a:ext uri="{FF2B5EF4-FFF2-40B4-BE49-F238E27FC236}">
                    <a16:creationId xmlns:a16="http://schemas.microsoft.com/office/drawing/2014/main" id="{BE9134D1-C265-4997-A0E2-B2CCD1BE4B11}"/>
                  </a:ext>
                </a:extLst>
              </p:cNvPr>
              <p:cNvCxnSpPr>
                <a:cxnSpLocks noChangeAspect="1" noChangeShapeType="1"/>
              </p:cNvCxnSpPr>
              <p:nvPr/>
            </p:nvCxnSpPr>
            <p:spPr bwMode="auto">
              <a:xfrm flipH="1" flipV="1">
                <a:off x="2125" y="2138"/>
                <a:ext cx="238" cy="357"/>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39" name="Line 788">
                <a:extLst>
                  <a:ext uri="{FF2B5EF4-FFF2-40B4-BE49-F238E27FC236}">
                    <a16:creationId xmlns:a16="http://schemas.microsoft.com/office/drawing/2014/main" id="{15C9715A-1F1A-4FDB-A5A5-9C0F046110C2}"/>
                  </a:ext>
                </a:extLst>
              </p:cNvPr>
              <p:cNvCxnSpPr>
                <a:cxnSpLocks noChangeAspect="1" noChangeShapeType="1"/>
              </p:cNvCxnSpPr>
              <p:nvPr/>
            </p:nvCxnSpPr>
            <p:spPr bwMode="auto">
              <a:xfrm flipV="1">
                <a:off x="2380" y="2138"/>
                <a:ext cx="238" cy="357"/>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40" name="Line 789">
                <a:extLst>
                  <a:ext uri="{FF2B5EF4-FFF2-40B4-BE49-F238E27FC236}">
                    <a16:creationId xmlns:a16="http://schemas.microsoft.com/office/drawing/2014/main" id="{39D5329F-2B01-4E5B-8B19-4FB69900D777}"/>
                  </a:ext>
                </a:extLst>
              </p:cNvPr>
              <p:cNvCxnSpPr>
                <a:cxnSpLocks noChangeAspect="1" noChangeShapeType="1"/>
              </p:cNvCxnSpPr>
              <p:nvPr/>
            </p:nvCxnSpPr>
            <p:spPr bwMode="auto">
              <a:xfrm flipH="1" flipV="1">
                <a:off x="2605" y="2138"/>
                <a:ext cx="238" cy="357"/>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41" name="Line 790">
                <a:extLst>
                  <a:ext uri="{FF2B5EF4-FFF2-40B4-BE49-F238E27FC236}">
                    <a16:creationId xmlns:a16="http://schemas.microsoft.com/office/drawing/2014/main" id="{27AB73DD-4DF9-45C2-B1AF-6AF44FFEC3CF}"/>
                  </a:ext>
                </a:extLst>
              </p:cNvPr>
              <p:cNvCxnSpPr>
                <a:cxnSpLocks noChangeAspect="1" noChangeShapeType="1"/>
              </p:cNvCxnSpPr>
              <p:nvPr/>
            </p:nvCxnSpPr>
            <p:spPr bwMode="auto">
              <a:xfrm flipV="1">
                <a:off x="2860" y="2138"/>
                <a:ext cx="238" cy="357"/>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cxnSp>
          <p:nvCxnSpPr>
            <p:cNvPr id="13" name="Line 791">
              <a:extLst>
                <a:ext uri="{FF2B5EF4-FFF2-40B4-BE49-F238E27FC236}">
                  <a16:creationId xmlns:a16="http://schemas.microsoft.com/office/drawing/2014/main" id="{2F402EFE-9607-4A3F-BD37-65AF058E86BA}"/>
                </a:ext>
              </a:extLst>
            </p:cNvPr>
            <p:cNvCxnSpPr>
              <a:cxnSpLocks noChangeAspect="1" noChangeShapeType="1"/>
            </p:cNvCxnSpPr>
            <p:nvPr/>
          </p:nvCxnSpPr>
          <p:spPr bwMode="auto">
            <a:xfrm>
              <a:off x="8213" y="4793"/>
              <a:ext cx="1365"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nvGrpSpPr>
            <p:cNvPr id="14" name="Group 13">
              <a:extLst>
                <a:ext uri="{FF2B5EF4-FFF2-40B4-BE49-F238E27FC236}">
                  <a16:creationId xmlns:a16="http://schemas.microsoft.com/office/drawing/2014/main" id="{1E8D1047-1292-4BE7-9F4B-68D7ED96E79E}"/>
                </a:ext>
              </a:extLst>
            </p:cNvPr>
            <p:cNvGrpSpPr>
              <a:grpSpLocks noChangeAspect="1"/>
            </p:cNvGrpSpPr>
            <p:nvPr/>
          </p:nvGrpSpPr>
          <p:grpSpPr bwMode="auto">
            <a:xfrm rot="5400000">
              <a:off x="8912" y="5277"/>
              <a:ext cx="1292" cy="361"/>
              <a:chOff x="1658" y="2144"/>
              <a:chExt cx="1440" cy="361"/>
            </a:xfrm>
          </p:grpSpPr>
          <p:cxnSp>
            <p:nvCxnSpPr>
              <p:cNvPr id="26" name="Line 793">
                <a:extLst>
                  <a:ext uri="{FF2B5EF4-FFF2-40B4-BE49-F238E27FC236}">
                    <a16:creationId xmlns:a16="http://schemas.microsoft.com/office/drawing/2014/main" id="{1BE88726-03F9-4C5D-98C9-57D3785A85EE}"/>
                  </a:ext>
                </a:extLst>
              </p:cNvPr>
              <p:cNvCxnSpPr>
                <a:cxnSpLocks noChangeAspect="1" noChangeShapeType="1"/>
              </p:cNvCxnSpPr>
              <p:nvPr/>
            </p:nvCxnSpPr>
            <p:spPr bwMode="auto">
              <a:xfrm>
                <a:off x="1658" y="2318"/>
                <a:ext cx="36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nvGrpSpPr>
              <p:cNvPr id="27" name="Group 26">
                <a:extLst>
                  <a:ext uri="{FF2B5EF4-FFF2-40B4-BE49-F238E27FC236}">
                    <a16:creationId xmlns:a16="http://schemas.microsoft.com/office/drawing/2014/main" id="{52539783-BBAA-43EB-A4D6-5C2872E51312}"/>
                  </a:ext>
                </a:extLst>
              </p:cNvPr>
              <p:cNvGrpSpPr>
                <a:grpSpLocks noChangeAspect="1"/>
              </p:cNvGrpSpPr>
              <p:nvPr/>
            </p:nvGrpSpPr>
            <p:grpSpPr bwMode="auto">
              <a:xfrm>
                <a:off x="2018" y="2144"/>
                <a:ext cx="720" cy="361"/>
                <a:chOff x="2018" y="2138"/>
                <a:chExt cx="1200" cy="357"/>
              </a:xfrm>
            </p:grpSpPr>
            <p:cxnSp>
              <p:nvCxnSpPr>
                <p:cNvPr id="29" name="Line 795">
                  <a:extLst>
                    <a:ext uri="{FF2B5EF4-FFF2-40B4-BE49-F238E27FC236}">
                      <a16:creationId xmlns:a16="http://schemas.microsoft.com/office/drawing/2014/main" id="{7EC1C649-8CD9-4726-A12B-B29647B33627}"/>
                    </a:ext>
                  </a:extLst>
                </p:cNvPr>
                <p:cNvCxnSpPr>
                  <a:cxnSpLocks noChangeAspect="1" noChangeShapeType="1"/>
                </p:cNvCxnSpPr>
                <p:nvPr/>
              </p:nvCxnSpPr>
              <p:spPr bwMode="auto">
                <a:xfrm flipV="1">
                  <a:off x="2018" y="2138"/>
                  <a:ext cx="120" cy="18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30" name="Line 796">
                  <a:extLst>
                    <a:ext uri="{FF2B5EF4-FFF2-40B4-BE49-F238E27FC236}">
                      <a16:creationId xmlns:a16="http://schemas.microsoft.com/office/drawing/2014/main" id="{552B3D41-7EBD-4865-A797-1B644D6436CA}"/>
                    </a:ext>
                  </a:extLst>
                </p:cNvPr>
                <p:cNvCxnSpPr>
                  <a:cxnSpLocks noChangeAspect="1" noChangeShapeType="1"/>
                </p:cNvCxnSpPr>
                <p:nvPr/>
              </p:nvCxnSpPr>
              <p:spPr bwMode="auto">
                <a:xfrm flipH="1" flipV="1">
                  <a:off x="3098" y="2138"/>
                  <a:ext cx="120" cy="18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31" name="Line 797">
                  <a:extLst>
                    <a:ext uri="{FF2B5EF4-FFF2-40B4-BE49-F238E27FC236}">
                      <a16:creationId xmlns:a16="http://schemas.microsoft.com/office/drawing/2014/main" id="{673709F1-87D3-45FB-BB2B-E05236C2E5BC}"/>
                    </a:ext>
                  </a:extLst>
                </p:cNvPr>
                <p:cNvCxnSpPr>
                  <a:cxnSpLocks noChangeAspect="1" noChangeShapeType="1"/>
                </p:cNvCxnSpPr>
                <p:nvPr/>
              </p:nvCxnSpPr>
              <p:spPr bwMode="auto">
                <a:xfrm flipH="1" flipV="1">
                  <a:off x="2125" y="2138"/>
                  <a:ext cx="238" cy="357"/>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32" name="Line 798">
                  <a:extLst>
                    <a:ext uri="{FF2B5EF4-FFF2-40B4-BE49-F238E27FC236}">
                      <a16:creationId xmlns:a16="http://schemas.microsoft.com/office/drawing/2014/main" id="{094501DA-B947-4807-BA01-9DBC2795CAB9}"/>
                    </a:ext>
                  </a:extLst>
                </p:cNvPr>
                <p:cNvCxnSpPr>
                  <a:cxnSpLocks noChangeAspect="1" noChangeShapeType="1"/>
                </p:cNvCxnSpPr>
                <p:nvPr/>
              </p:nvCxnSpPr>
              <p:spPr bwMode="auto">
                <a:xfrm flipV="1">
                  <a:off x="2380" y="2138"/>
                  <a:ext cx="238" cy="357"/>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33" name="Line 799">
                  <a:extLst>
                    <a:ext uri="{FF2B5EF4-FFF2-40B4-BE49-F238E27FC236}">
                      <a16:creationId xmlns:a16="http://schemas.microsoft.com/office/drawing/2014/main" id="{DD0B1449-6B45-4989-9DB5-BFE731B9BFE7}"/>
                    </a:ext>
                  </a:extLst>
                </p:cNvPr>
                <p:cNvCxnSpPr>
                  <a:cxnSpLocks noChangeAspect="1" noChangeShapeType="1"/>
                </p:cNvCxnSpPr>
                <p:nvPr/>
              </p:nvCxnSpPr>
              <p:spPr bwMode="auto">
                <a:xfrm flipH="1" flipV="1">
                  <a:off x="2605" y="2138"/>
                  <a:ext cx="238" cy="357"/>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35" name="Line 800">
                  <a:extLst>
                    <a:ext uri="{FF2B5EF4-FFF2-40B4-BE49-F238E27FC236}">
                      <a16:creationId xmlns:a16="http://schemas.microsoft.com/office/drawing/2014/main" id="{959F04FD-2D09-4916-91C3-9E364FE4430E}"/>
                    </a:ext>
                  </a:extLst>
                </p:cNvPr>
                <p:cNvCxnSpPr>
                  <a:cxnSpLocks noChangeAspect="1" noChangeShapeType="1"/>
                </p:cNvCxnSpPr>
                <p:nvPr/>
              </p:nvCxnSpPr>
              <p:spPr bwMode="auto">
                <a:xfrm flipV="1">
                  <a:off x="2860" y="2138"/>
                  <a:ext cx="238" cy="357"/>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cxnSp>
            <p:nvCxnSpPr>
              <p:cNvPr id="28" name="Line 801">
                <a:extLst>
                  <a:ext uri="{FF2B5EF4-FFF2-40B4-BE49-F238E27FC236}">
                    <a16:creationId xmlns:a16="http://schemas.microsoft.com/office/drawing/2014/main" id="{49A80BB4-8441-4681-9208-9E47633CB77D}"/>
                  </a:ext>
                </a:extLst>
              </p:cNvPr>
              <p:cNvCxnSpPr>
                <a:cxnSpLocks noChangeAspect="1" noChangeShapeType="1"/>
              </p:cNvCxnSpPr>
              <p:nvPr/>
            </p:nvCxnSpPr>
            <p:spPr bwMode="auto">
              <a:xfrm>
                <a:off x="2738" y="2318"/>
                <a:ext cx="36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grpSp>
          <p:nvGrpSpPr>
            <p:cNvPr id="15" name="Group 14">
              <a:extLst>
                <a:ext uri="{FF2B5EF4-FFF2-40B4-BE49-F238E27FC236}">
                  <a16:creationId xmlns:a16="http://schemas.microsoft.com/office/drawing/2014/main" id="{C3A5F3F5-9B19-44DB-9CAB-6C1165733600}"/>
                </a:ext>
              </a:extLst>
            </p:cNvPr>
            <p:cNvGrpSpPr>
              <a:grpSpLocks noChangeAspect="1"/>
            </p:cNvGrpSpPr>
            <p:nvPr/>
          </p:nvGrpSpPr>
          <p:grpSpPr bwMode="auto">
            <a:xfrm rot="-5400000">
              <a:off x="8018" y="5258"/>
              <a:ext cx="1320" cy="360"/>
              <a:chOff x="6218" y="1958"/>
              <a:chExt cx="1320" cy="360"/>
            </a:xfrm>
          </p:grpSpPr>
          <p:cxnSp>
            <p:nvCxnSpPr>
              <p:cNvPr id="22" name="Line 803">
                <a:extLst>
                  <a:ext uri="{FF2B5EF4-FFF2-40B4-BE49-F238E27FC236}">
                    <a16:creationId xmlns:a16="http://schemas.microsoft.com/office/drawing/2014/main" id="{FF18D79C-89B1-4E06-B330-6A92C64EF293}"/>
                  </a:ext>
                </a:extLst>
              </p:cNvPr>
              <p:cNvCxnSpPr>
                <a:cxnSpLocks noChangeAspect="1" noChangeShapeType="1"/>
              </p:cNvCxnSpPr>
              <p:nvPr/>
            </p:nvCxnSpPr>
            <p:spPr bwMode="auto">
              <a:xfrm>
                <a:off x="6218" y="2138"/>
                <a:ext cx="60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23" name="Line 804">
                <a:extLst>
                  <a:ext uri="{FF2B5EF4-FFF2-40B4-BE49-F238E27FC236}">
                    <a16:creationId xmlns:a16="http://schemas.microsoft.com/office/drawing/2014/main" id="{2FCAE108-4038-4DF3-BB39-0FFDEF1DF92B}"/>
                  </a:ext>
                </a:extLst>
              </p:cNvPr>
              <p:cNvCxnSpPr>
                <a:cxnSpLocks noChangeAspect="1" noChangeShapeType="1"/>
              </p:cNvCxnSpPr>
              <p:nvPr/>
            </p:nvCxnSpPr>
            <p:spPr bwMode="auto">
              <a:xfrm>
                <a:off x="6938" y="2138"/>
                <a:ext cx="60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24" name="Line 805">
                <a:extLst>
                  <a:ext uri="{FF2B5EF4-FFF2-40B4-BE49-F238E27FC236}">
                    <a16:creationId xmlns:a16="http://schemas.microsoft.com/office/drawing/2014/main" id="{7FB1963B-7278-4D33-9AF4-73F903005F40}"/>
                  </a:ext>
                </a:extLst>
              </p:cNvPr>
              <p:cNvCxnSpPr>
                <a:cxnSpLocks noChangeAspect="1" noChangeShapeType="1"/>
              </p:cNvCxnSpPr>
              <p:nvPr/>
            </p:nvCxnSpPr>
            <p:spPr bwMode="auto">
              <a:xfrm>
                <a:off x="6818" y="1958"/>
                <a:ext cx="0" cy="36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25" name="Line 806">
                <a:extLst>
                  <a:ext uri="{FF2B5EF4-FFF2-40B4-BE49-F238E27FC236}">
                    <a16:creationId xmlns:a16="http://schemas.microsoft.com/office/drawing/2014/main" id="{2EB6C22A-6DA2-4CA2-9E3D-2BDC492A54CD}"/>
                  </a:ext>
                </a:extLst>
              </p:cNvPr>
              <p:cNvCxnSpPr>
                <a:cxnSpLocks noChangeAspect="1" noChangeShapeType="1"/>
              </p:cNvCxnSpPr>
              <p:nvPr/>
            </p:nvCxnSpPr>
            <p:spPr bwMode="auto">
              <a:xfrm>
                <a:off x="6938" y="1958"/>
                <a:ext cx="0" cy="36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cxnSp>
          <p:nvCxnSpPr>
            <p:cNvPr id="16" name="Line 807">
              <a:extLst>
                <a:ext uri="{FF2B5EF4-FFF2-40B4-BE49-F238E27FC236}">
                  <a16:creationId xmlns:a16="http://schemas.microsoft.com/office/drawing/2014/main" id="{4BD2564B-F418-435C-812E-FC90476D570E}"/>
                </a:ext>
              </a:extLst>
            </p:cNvPr>
            <p:cNvCxnSpPr>
              <a:cxnSpLocks noChangeAspect="1" noChangeShapeType="1"/>
            </p:cNvCxnSpPr>
            <p:nvPr/>
          </p:nvCxnSpPr>
          <p:spPr bwMode="auto">
            <a:xfrm>
              <a:off x="6698" y="6098"/>
              <a:ext cx="288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17" name="Text Box 808">
              <a:extLst>
                <a:ext uri="{FF2B5EF4-FFF2-40B4-BE49-F238E27FC236}">
                  <a16:creationId xmlns:a16="http://schemas.microsoft.com/office/drawing/2014/main" id="{CFE12A48-CEE6-45E7-B582-9EE6885C640A}"/>
                </a:ext>
              </a:extLst>
            </p:cNvPr>
            <p:cNvSpPr txBox="1">
              <a:spLocks noChangeAspect="1" noChangeArrowheads="1"/>
            </p:cNvSpPr>
            <p:nvPr/>
          </p:nvSpPr>
          <p:spPr bwMode="auto">
            <a:xfrm>
              <a:off x="6098" y="5378"/>
              <a:ext cx="60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600">
                  <a:solidFill>
                    <a:srgbClr val="002060"/>
                  </a:solidFill>
                  <a:effectLst/>
                  <a:latin typeface="Times New Roman" panose="02020603050405020304" pitchFamily="18" charset="0"/>
                  <a:ea typeface="Times New Roman" panose="02020603050405020304" pitchFamily="18" charset="0"/>
                </a:rPr>
                <a:t>e(t)</a:t>
              </a:r>
              <a:endParaRPr lang="en-GB" sz="3600">
                <a:effectLst/>
                <a:latin typeface="Times New Roman" panose="02020603050405020304" pitchFamily="18" charset="0"/>
                <a:ea typeface="Times New Roman" panose="02020603050405020304" pitchFamily="18" charset="0"/>
              </a:endParaRPr>
            </a:p>
          </p:txBody>
        </p:sp>
        <p:sp>
          <p:nvSpPr>
            <p:cNvPr id="18" name="Text Box 809">
              <a:extLst>
                <a:ext uri="{FF2B5EF4-FFF2-40B4-BE49-F238E27FC236}">
                  <a16:creationId xmlns:a16="http://schemas.microsoft.com/office/drawing/2014/main" id="{DB4B7AF2-7EEA-403C-B1B8-9CCB4B5D698B}"/>
                </a:ext>
              </a:extLst>
            </p:cNvPr>
            <p:cNvSpPr txBox="1">
              <a:spLocks noChangeAspect="1" noChangeArrowheads="1"/>
            </p:cNvSpPr>
            <p:nvPr/>
          </p:nvSpPr>
          <p:spPr bwMode="auto">
            <a:xfrm>
              <a:off x="6878" y="4868"/>
              <a:ext cx="9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600">
                  <a:solidFill>
                    <a:srgbClr val="002060"/>
                  </a:solidFill>
                  <a:effectLst/>
                  <a:latin typeface="Times New Roman" panose="02020603050405020304" pitchFamily="18" charset="0"/>
                  <a:ea typeface="Times New Roman" panose="02020603050405020304" pitchFamily="18" charset="0"/>
                </a:rPr>
                <a:t>L = 50mH</a:t>
              </a:r>
              <a:endParaRPr lang="en-GB" sz="3600">
                <a:effectLst/>
                <a:latin typeface="Times New Roman" panose="02020603050405020304" pitchFamily="18" charset="0"/>
                <a:ea typeface="Times New Roman" panose="02020603050405020304" pitchFamily="18" charset="0"/>
              </a:endParaRPr>
            </a:p>
          </p:txBody>
        </p:sp>
        <p:sp>
          <p:nvSpPr>
            <p:cNvPr id="19" name="Text Box 810">
              <a:extLst>
                <a:ext uri="{FF2B5EF4-FFF2-40B4-BE49-F238E27FC236}">
                  <a16:creationId xmlns:a16="http://schemas.microsoft.com/office/drawing/2014/main" id="{B7463A37-84CF-42CD-8F24-04E677900048}"/>
                </a:ext>
              </a:extLst>
            </p:cNvPr>
            <p:cNvSpPr txBox="1">
              <a:spLocks noChangeAspect="1" noChangeArrowheads="1"/>
            </p:cNvSpPr>
            <p:nvPr/>
          </p:nvSpPr>
          <p:spPr bwMode="auto">
            <a:xfrm>
              <a:off x="7538" y="4377"/>
              <a:ext cx="9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600">
                  <a:solidFill>
                    <a:srgbClr val="002060"/>
                  </a:solidFill>
                  <a:effectLst/>
                  <a:latin typeface="Times New Roman" panose="02020603050405020304" pitchFamily="18" charset="0"/>
                  <a:ea typeface="Times New Roman" panose="02020603050405020304" pitchFamily="18" charset="0"/>
                </a:rPr>
                <a:t>r = 10 </a:t>
              </a:r>
              <a:r>
                <a:rPr lang="en-GB" sz="3600">
                  <a:solidFill>
                    <a:srgbClr val="002060"/>
                  </a:solidFill>
                  <a:effectLst/>
                  <a:latin typeface="Symbol" panose="05050102010706020507" pitchFamily="18" charset="2"/>
                  <a:ea typeface="Times New Roman" panose="02020603050405020304" pitchFamily="18" charset="0"/>
                </a:rPr>
                <a:t>W</a:t>
              </a:r>
              <a:endParaRPr lang="en-GB" sz="3600">
                <a:effectLst/>
                <a:latin typeface="Times New Roman" panose="02020603050405020304" pitchFamily="18" charset="0"/>
                <a:ea typeface="Times New Roman" panose="02020603050405020304" pitchFamily="18" charset="0"/>
              </a:endParaRPr>
            </a:p>
          </p:txBody>
        </p:sp>
        <p:sp>
          <p:nvSpPr>
            <p:cNvPr id="20" name="Text Box 811">
              <a:extLst>
                <a:ext uri="{FF2B5EF4-FFF2-40B4-BE49-F238E27FC236}">
                  <a16:creationId xmlns:a16="http://schemas.microsoft.com/office/drawing/2014/main" id="{796BD993-E264-4169-9D3F-DBBB71420EEA}"/>
                </a:ext>
              </a:extLst>
            </p:cNvPr>
            <p:cNvSpPr txBox="1">
              <a:spLocks noChangeAspect="1" noChangeArrowheads="1"/>
            </p:cNvSpPr>
            <p:nvPr/>
          </p:nvSpPr>
          <p:spPr bwMode="auto">
            <a:xfrm>
              <a:off x="7418" y="5378"/>
              <a:ext cx="10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600">
                  <a:solidFill>
                    <a:srgbClr val="002060"/>
                  </a:solidFill>
                  <a:effectLst/>
                  <a:latin typeface="Times New Roman" panose="02020603050405020304" pitchFamily="18" charset="0"/>
                  <a:ea typeface="Times New Roman" panose="02020603050405020304" pitchFamily="18" charset="0"/>
                </a:rPr>
                <a:t>C = 100 </a:t>
              </a:r>
              <a:r>
                <a:rPr lang="en-GB" sz="3600">
                  <a:solidFill>
                    <a:srgbClr val="002060"/>
                  </a:solidFill>
                  <a:effectLst/>
                  <a:latin typeface="Symbol" panose="05050102010706020507" pitchFamily="18" charset="2"/>
                  <a:ea typeface="Times New Roman" panose="02020603050405020304" pitchFamily="18" charset="0"/>
                </a:rPr>
                <a:t>m</a:t>
              </a:r>
              <a:r>
                <a:rPr lang="en-GB" sz="3600">
                  <a:solidFill>
                    <a:srgbClr val="002060"/>
                  </a:solidFill>
                  <a:effectLst/>
                  <a:latin typeface="Times New Roman" panose="02020603050405020304" pitchFamily="18" charset="0"/>
                  <a:ea typeface="Times New Roman" panose="02020603050405020304" pitchFamily="18" charset="0"/>
                </a:rPr>
                <a:t>F</a:t>
              </a:r>
              <a:endParaRPr lang="en-GB" sz="3600">
                <a:effectLst/>
                <a:latin typeface="Times New Roman" panose="02020603050405020304" pitchFamily="18" charset="0"/>
                <a:ea typeface="Times New Roman" panose="02020603050405020304" pitchFamily="18" charset="0"/>
              </a:endParaRPr>
            </a:p>
          </p:txBody>
        </p:sp>
        <p:sp>
          <p:nvSpPr>
            <p:cNvPr id="21" name="Text Box 812">
              <a:extLst>
                <a:ext uri="{FF2B5EF4-FFF2-40B4-BE49-F238E27FC236}">
                  <a16:creationId xmlns:a16="http://schemas.microsoft.com/office/drawing/2014/main" id="{DE36AE01-01EA-4B2F-B059-8D710E901AA0}"/>
                </a:ext>
              </a:extLst>
            </p:cNvPr>
            <p:cNvSpPr txBox="1">
              <a:spLocks noChangeAspect="1" noChangeArrowheads="1"/>
            </p:cNvSpPr>
            <p:nvPr/>
          </p:nvSpPr>
          <p:spPr bwMode="auto">
            <a:xfrm>
              <a:off x="9818" y="5198"/>
              <a:ext cx="9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600">
                  <a:solidFill>
                    <a:srgbClr val="002060"/>
                  </a:solidFill>
                  <a:effectLst/>
                  <a:latin typeface="Times New Roman" panose="02020603050405020304" pitchFamily="18" charset="0"/>
                  <a:ea typeface="Times New Roman" panose="02020603050405020304" pitchFamily="18" charset="0"/>
                </a:rPr>
                <a:t>R = 100 </a:t>
              </a:r>
              <a:r>
                <a:rPr lang="en-GB" sz="3600">
                  <a:solidFill>
                    <a:srgbClr val="002060"/>
                  </a:solidFill>
                  <a:effectLst/>
                  <a:latin typeface="Symbol" panose="05050102010706020507" pitchFamily="18" charset="2"/>
                  <a:ea typeface="Times New Roman" panose="02020603050405020304" pitchFamily="18" charset="0"/>
                </a:rPr>
                <a:t>W</a:t>
              </a:r>
              <a:endParaRPr lang="en-GB" sz="3600">
                <a:effectLst/>
                <a:latin typeface="Times New Roman" panose="02020603050405020304" pitchFamily="18" charset="0"/>
                <a:ea typeface="Times New Roman" panose="02020603050405020304" pitchFamily="18" charset="0"/>
              </a:endParaRPr>
            </a:p>
          </p:txBody>
        </p:sp>
      </p:grpSp>
    </p:spTree>
    <p:extLst>
      <p:ext uri="{BB962C8B-B14F-4D97-AF65-F5344CB8AC3E}">
        <p14:creationId xmlns:p14="http://schemas.microsoft.com/office/powerpoint/2010/main" val="39355065"/>
      </p:ext>
    </p:extLst>
  </p:cSld>
  <p:clrMapOvr>
    <a:masterClrMapping/>
  </p:clrMapOvr>
  <mc:AlternateContent xmlns:mc="http://schemas.openxmlformats.org/markup-compatibility/2006" xmlns:p14="http://schemas.microsoft.com/office/powerpoint/2010/main">
    <mc:Choice Requires="p14">
      <p:transition spd="slow" p14:dur="2000" advTm="48736"/>
    </mc:Choice>
    <mc:Fallback xmlns="">
      <p:transition spd="slow" advTm="48736"/>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a:bodyPr>
          <a:lstStyle/>
          <a:p>
            <a:pPr algn="l"/>
            <a:r>
              <a:rPr lang="en-GB" dirty="0"/>
              <a:t>Solution</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8D288BF8-3F00-403A-AA8B-B37DBBE241DC}"/>
              </a:ext>
            </a:extLst>
          </p:cNvPr>
          <p:cNvGraphicFramePr>
            <a:graphicFrameLocks noChangeAspect="1"/>
          </p:cNvGraphicFramePr>
          <p:nvPr>
            <p:extLst>
              <p:ext uri="{D42A27DB-BD31-4B8C-83A1-F6EECF244321}">
                <p14:modId xmlns:p14="http://schemas.microsoft.com/office/powerpoint/2010/main" val="2177179918"/>
              </p:ext>
            </p:extLst>
          </p:nvPr>
        </p:nvGraphicFramePr>
        <p:xfrm>
          <a:off x="3562350" y="1030286"/>
          <a:ext cx="2533650" cy="1066800"/>
        </p:xfrm>
        <a:graphic>
          <a:graphicData uri="http://schemas.openxmlformats.org/presentationml/2006/ole">
            <mc:AlternateContent xmlns:mc="http://schemas.openxmlformats.org/markup-compatibility/2006">
              <mc:Choice xmlns:v="urn:schemas-microsoft-com:vml" Requires="v">
                <p:oleObj r:id="rId3" imgW="964781" imgH="406224" progId="Equation.3">
                  <p:embed/>
                </p:oleObj>
              </mc:Choice>
              <mc:Fallback>
                <p:oleObj r:id="rId3" imgW="964781" imgH="406224"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2350" y="1030286"/>
                        <a:ext cx="2533650"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869733C2-B333-4350-A7FC-7F3B04D7913D}"/>
              </a:ext>
            </a:extLst>
          </p:cNvPr>
          <p:cNvGraphicFramePr>
            <a:graphicFrameLocks noChangeAspect="1"/>
          </p:cNvGraphicFramePr>
          <p:nvPr>
            <p:extLst>
              <p:ext uri="{D42A27DB-BD31-4B8C-83A1-F6EECF244321}">
                <p14:modId xmlns:p14="http://schemas.microsoft.com/office/powerpoint/2010/main" val="3512380569"/>
              </p:ext>
            </p:extLst>
          </p:nvPr>
        </p:nvGraphicFramePr>
        <p:xfrm>
          <a:off x="95250" y="3116760"/>
          <a:ext cx="12001500" cy="1790700"/>
        </p:xfrm>
        <a:graphic>
          <a:graphicData uri="http://schemas.openxmlformats.org/presentationml/2006/ole">
            <mc:AlternateContent xmlns:mc="http://schemas.openxmlformats.org/markup-compatibility/2006">
              <mc:Choice xmlns:v="urn:schemas-microsoft-com:vml" Requires="v">
                <p:oleObj r:id="rId5" imgW="4940300" imgH="736600" progId="Equation.3">
                  <p:embed/>
                </p:oleObj>
              </mc:Choice>
              <mc:Fallback>
                <p:oleObj r:id="rId5" imgW="4940300" imgH="7366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250" y="3116760"/>
                        <a:ext cx="12001500" cy="179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a:extLst>
              <a:ext uri="{FF2B5EF4-FFF2-40B4-BE49-F238E27FC236}">
                <a16:creationId xmlns:a16="http://schemas.microsoft.com/office/drawing/2014/main" id="{CB5EC570-7CB8-48AD-9AAE-E36275F91439}"/>
              </a:ext>
            </a:extLst>
          </p:cNvPr>
          <p:cNvGraphicFramePr>
            <a:graphicFrameLocks noChangeAspect="1"/>
          </p:cNvGraphicFramePr>
          <p:nvPr>
            <p:extLst>
              <p:ext uri="{D42A27DB-BD31-4B8C-83A1-F6EECF244321}">
                <p14:modId xmlns:p14="http://schemas.microsoft.com/office/powerpoint/2010/main" val="2754347676"/>
              </p:ext>
            </p:extLst>
          </p:nvPr>
        </p:nvGraphicFramePr>
        <p:xfrm>
          <a:off x="0" y="5131790"/>
          <a:ext cx="10082463" cy="1157685"/>
        </p:xfrm>
        <a:graphic>
          <a:graphicData uri="http://schemas.openxmlformats.org/presentationml/2006/ole">
            <mc:AlternateContent xmlns:mc="http://schemas.openxmlformats.org/markup-compatibility/2006">
              <mc:Choice xmlns:v="urn:schemas-microsoft-com:vml" Requires="v">
                <p:oleObj r:id="rId7" imgW="4127500" imgH="431800" progId="Equation.3">
                  <p:embed/>
                </p:oleObj>
              </mc:Choice>
              <mc:Fallback>
                <p:oleObj r:id="rId7" imgW="4127500" imgH="431800"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5131790"/>
                        <a:ext cx="10082463" cy="1157685"/>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C3901D72-9D3D-4EBB-962C-0F16B6A1CBB4}"/>
              </a:ext>
            </a:extLst>
          </p:cNvPr>
          <p:cNvSpPr>
            <a:spLocks noChangeArrowheads="1"/>
          </p:cNvSpPr>
          <p:nvPr/>
        </p:nvSpPr>
        <p:spPr bwMode="auto">
          <a:xfrm>
            <a:off x="152400" y="1278404"/>
            <a:ext cx="348113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For the </a:t>
            </a:r>
            <a:r>
              <a:rPr kumimoji="0" lang="en-GB" altLang="en-US" sz="32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d.c.</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term, </a:t>
            </a:r>
            <a:endParaRPr kumimoji="0" lang="en-GB" altLang="en-US" sz="1050" b="0" i="0" u="none" strike="noStrike" cap="none" normalizeH="0" baseline="0" dirty="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7D90812C-D502-4D4F-B18D-754B3B40CA2C}"/>
              </a:ext>
            </a:extLst>
          </p:cNvPr>
          <p:cNvSpPr>
            <a:spLocks noChangeArrowheads="1"/>
          </p:cNvSpPr>
          <p:nvPr/>
        </p:nvSpPr>
        <p:spPr bwMode="auto">
          <a:xfrm>
            <a:off x="152400" y="1937493"/>
            <a:ext cx="1057976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For any </a:t>
            </a:r>
            <a:r>
              <a:rPr kumimoji="0" lang="en-GB" altLang="en-US" sz="3600" b="0" i="0"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a.c</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term, </a:t>
            </a:r>
            <a:endParaRPr kumimoji="0" lang="en-GB" altLang="en-US" sz="11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if </a:t>
            </a:r>
            <a:r>
              <a:rPr kumimoji="0" lang="en-GB" altLang="en-US" sz="3600" b="0" i="0"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V</a:t>
            </a:r>
            <a:r>
              <a:rPr kumimoji="0" lang="en-GB" altLang="en-US" sz="3600" b="0" i="0" u="none" strike="noStrike" cap="none" normalizeH="0" baseline="-3000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nm</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is peak value of n</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th</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harmonic of output voltage, </a:t>
            </a:r>
            <a:endParaRPr kumimoji="0" lang="en-GB" altLang="en-US" sz="11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p:txBody>
      </p:sp>
      <p:sp>
        <p:nvSpPr>
          <p:cNvPr id="8" name="Rectangle 6">
            <a:extLst>
              <a:ext uri="{FF2B5EF4-FFF2-40B4-BE49-F238E27FC236}">
                <a16:creationId xmlns:a16="http://schemas.microsoft.com/office/drawing/2014/main" id="{DE7AFA92-9E20-4F41-B08A-D0609E65FD98}"/>
              </a:ext>
            </a:extLst>
          </p:cNvPr>
          <p:cNvSpPr>
            <a:spLocks noChangeArrowheads="1"/>
          </p:cNvSpPr>
          <p:nvPr/>
        </p:nvSpPr>
        <p:spPr bwMode="auto">
          <a:xfrm>
            <a:off x="0" y="3314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5659F1DF-FA0A-46E4-ABBF-118E2FCBE07A}"/>
              </a:ext>
            </a:extLst>
          </p:cNvPr>
          <p:cNvSpPr/>
          <p:nvPr/>
        </p:nvSpPr>
        <p:spPr>
          <a:xfrm>
            <a:off x="6187866" y="1315561"/>
            <a:ext cx="3121945" cy="584775"/>
          </a:xfrm>
          <a:prstGeom prst="rect">
            <a:avLst/>
          </a:prstGeom>
        </p:spPr>
        <p:txBody>
          <a:bodyPr wrap="none">
            <a:spAutoFit/>
          </a:bodyPr>
          <a:lstStyle/>
          <a:p>
            <a:pPr lvl="0" algn="just" eaLnBrk="0" fontAlgn="base" hangingPunct="0">
              <a:spcBef>
                <a:spcPct val="0"/>
              </a:spcBef>
              <a:spcAft>
                <a:spcPct val="0"/>
              </a:spcAft>
              <a:tabLst>
                <a:tab pos="381000" algn="l"/>
                <a:tab pos="3276600" algn="l"/>
              </a:tabLst>
            </a:pPr>
            <a:r>
              <a:rPr lang="en-GB" altLang="en-US" sz="3200" dirty="0">
                <a:solidFill>
                  <a:srgbClr val="002060"/>
                </a:solidFill>
                <a:latin typeface="Arial" panose="020B0604020202020204" pitchFamily="34" charset="0"/>
                <a:ea typeface="Times New Roman" panose="02020603050405020304" pitchFamily="18" charset="0"/>
              </a:rPr>
              <a:t>.  </a:t>
            </a:r>
            <a:r>
              <a:rPr lang="en-GB" altLang="en-US"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altLang="en-US" sz="3200" i="1" dirty="0">
                <a:solidFill>
                  <a:srgbClr val="002060"/>
                </a:solidFill>
                <a:ea typeface="Times New Roman" panose="02020603050405020304" pitchFamily="18" charset="0"/>
              </a:rPr>
              <a:t>V</a:t>
            </a:r>
            <a:r>
              <a:rPr lang="en-GB" altLang="en-US" sz="3200" i="1" baseline="-300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dc</a:t>
            </a:r>
            <a:r>
              <a:rPr lang="en-GB" altLang="en-US"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 = 90.91 V</a:t>
            </a:r>
            <a:endParaRPr lang="en-GB" altLang="en-US" sz="1100" dirty="0">
              <a:latin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3353470233"/>
      </p:ext>
    </p:extLst>
  </p:cSld>
  <p:clrMapOvr>
    <a:masterClrMapping/>
  </p:clrMapOvr>
  <mc:AlternateContent xmlns:mc="http://schemas.openxmlformats.org/markup-compatibility/2006" xmlns:p14="http://schemas.microsoft.com/office/powerpoint/2010/main">
    <mc:Choice Requires="p14">
      <p:transition spd="slow" p14:dur="2000" advTm="90944"/>
    </mc:Choice>
    <mc:Fallback xmlns="">
      <p:transition spd="slow" advTm="90944"/>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26593015-73A7-4281-8CF8-9DE81406998D}"/>
                  </a:ext>
                </a:extLst>
              </p:cNvPr>
              <p:cNvSpPr/>
              <p:nvPr/>
            </p:nvSpPr>
            <p:spPr>
              <a:xfrm>
                <a:off x="328862" y="609600"/>
                <a:ext cx="11710737" cy="5825506"/>
              </a:xfrm>
              <a:prstGeom prst="rect">
                <a:avLst/>
              </a:prstGeom>
            </p:spPr>
            <p:txBody>
              <a:bodyPr wrap="square">
                <a:spAutoFit/>
              </a:bodyPr>
              <a:lstStyle/>
              <a:p>
                <a:pPr algn="just">
                  <a:spcAft>
                    <a:spcPts val="600"/>
                  </a:spcAft>
                  <a:tabLst>
                    <a:tab pos="381000" algn="l"/>
                    <a:tab pos="3276600" algn="l"/>
                  </a:tabLst>
                </a:pPr>
                <a14:m>
                  <m:oMath xmlns:m="http://schemas.openxmlformats.org/officeDocument/2006/math">
                    <m:sSub>
                      <m:sSubPr>
                        <m:ctrlPr>
                          <a:rPr lang="en-GB" sz="3200" i="1">
                            <a:solidFill>
                              <a:srgbClr val="002060"/>
                            </a:solidFill>
                            <a:latin typeface="Cambria Math" panose="02040503050406030204" pitchFamily="18" charset="0"/>
                            <a:ea typeface="Times New Roman" panose="02020603050405020304" pitchFamily="18" charset="0"/>
                          </a:rPr>
                        </m:ctrlPr>
                      </m:sSubPr>
                      <m:e>
                        <m:r>
                          <a:rPr lang="en-GB" sz="3200" i="1">
                            <a:solidFill>
                              <a:srgbClr val="002060"/>
                            </a:solidFill>
                            <a:latin typeface="Cambria Math" panose="02040503050406030204" pitchFamily="18" charset="0"/>
                            <a:ea typeface="Times New Roman" panose="02020603050405020304" pitchFamily="18" charset="0"/>
                          </a:rPr>
                          <m:t>𝑉</m:t>
                        </m:r>
                      </m:e>
                      <m:sub>
                        <m:r>
                          <a:rPr lang="en-GB" sz="3200" i="1">
                            <a:solidFill>
                              <a:srgbClr val="002060"/>
                            </a:solidFill>
                            <a:latin typeface="Cambria Math" panose="02040503050406030204" pitchFamily="18" charset="0"/>
                            <a:ea typeface="Times New Roman" panose="02020603050405020304" pitchFamily="18" charset="0"/>
                          </a:rPr>
                          <m:t>𝑛𝑚</m:t>
                        </m:r>
                      </m:sub>
                    </m:sSub>
                    <m:r>
                      <a:rPr lang="en-GB" sz="3200" i="1">
                        <a:solidFill>
                          <a:srgbClr val="002060"/>
                        </a:solidFill>
                        <a:latin typeface="Cambria Math" panose="02040503050406030204" pitchFamily="18" charset="0"/>
                        <a:ea typeface="Times New Roman" panose="02020603050405020304" pitchFamily="18" charset="0"/>
                      </a:rPr>
                      <m:t>=</m:t>
                    </m:r>
                    <m:sSub>
                      <m:sSubPr>
                        <m:ctrlPr>
                          <a:rPr lang="en-GB" sz="3200" i="1">
                            <a:solidFill>
                              <a:srgbClr val="002060"/>
                            </a:solidFill>
                            <a:latin typeface="Cambria Math" panose="02040503050406030204" pitchFamily="18" charset="0"/>
                            <a:ea typeface="Times New Roman" panose="02020603050405020304" pitchFamily="18" charset="0"/>
                          </a:rPr>
                        </m:ctrlPr>
                      </m:sSubPr>
                      <m:e>
                        <m:r>
                          <a:rPr lang="en-GB" sz="3200" i="1">
                            <a:solidFill>
                              <a:srgbClr val="002060"/>
                            </a:solidFill>
                            <a:latin typeface="Cambria Math" panose="02040503050406030204" pitchFamily="18" charset="0"/>
                            <a:ea typeface="Times New Roman" panose="02020603050405020304" pitchFamily="18" charset="0"/>
                          </a:rPr>
                          <m:t>𝐸</m:t>
                        </m:r>
                      </m:e>
                      <m:sub>
                        <m:r>
                          <a:rPr lang="en-GB" sz="3200" i="1">
                            <a:solidFill>
                              <a:srgbClr val="002060"/>
                            </a:solidFill>
                            <a:latin typeface="Cambria Math" panose="02040503050406030204" pitchFamily="18" charset="0"/>
                            <a:ea typeface="Times New Roman" panose="02020603050405020304" pitchFamily="18" charset="0"/>
                          </a:rPr>
                          <m:t>𝑛𝑚</m:t>
                        </m:r>
                      </m:sub>
                    </m:sSub>
                    <m:r>
                      <a:rPr lang="en-GB" sz="3200" i="1">
                        <a:solidFill>
                          <a:srgbClr val="002060"/>
                        </a:solidFill>
                        <a:latin typeface="Cambria Math" panose="02040503050406030204" pitchFamily="18" charset="0"/>
                        <a:ea typeface="Times New Roman" panose="02020603050405020304" pitchFamily="18" charset="0"/>
                        <a:cs typeface="Cambria Math" panose="02040503050406030204" pitchFamily="18" charset="0"/>
                      </a:rPr>
                      <m:t>⋅</m:t>
                    </m:r>
                    <m:f>
                      <m:fPr>
                        <m:ctrlPr>
                          <a:rPr lang="en-GB" sz="3200" i="1">
                            <a:solidFill>
                              <a:srgbClr val="002060"/>
                            </a:solidFill>
                            <a:latin typeface="Cambria Math" panose="02040503050406030204" pitchFamily="18" charset="0"/>
                            <a:ea typeface="Times New Roman" panose="02020603050405020304" pitchFamily="18" charset="0"/>
                          </a:rPr>
                        </m:ctrlPr>
                      </m:fPr>
                      <m:num>
                        <m:r>
                          <a:rPr lang="en-GB" sz="3200" i="1">
                            <a:solidFill>
                              <a:srgbClr val="002060"/>
                            </a:solidFill>
                            <a:latin typeface="Cambria Math" panose="02040503050406030204" pitchFamily="18" charset="0"/>
                            <a:ea typeface="Times New Roman" panose="02020603050405020304" pitchFamily="18" charset="0"/>
                          </a:rPr>
                          <m:t>100</m:t>
                        </m:r>
                      </m:num>
                      <m:den>
                        <m:r>
                          <a:rPr lang="en-GB" sz="3200" i="1">
                            <a:solidFill>
                              <a:srgbClr val="002060"/>
                            </a:solidFill>
                            <a:latin typeface="Cambria Math" panose="02040503050406030204" pitchFamily="18" charset="0"/>
                            <a:ea typeface="Times New Roman" panose="02020603050405020304" pitchFamily="18" charset="0"/>
                          </a:rPr>
                          <m:t>100+(</m:t>
                        </m:r>
                        <m:r>
                          <a:rPr lang="en-GB" sz="3200" i="1">
                            <a:solidFill>
                              <a:srgbClr val="002060"/>
                            </a:solidFill>
                            <a:latin typeface="Cambria Math" panose="02040503050406030204" pitchFamily="18" charset="0"/>
                            <a:ea typeface="Times New Roman" panose="02020603050405020304" pitchFamily="18" charset="0"/>
                          </a:rPr>
                          <m:t>𝑗</m:t>
                        </m:r>
                        <m:r>
                          <a:rPr lang="en-GB" sz="3200" i="1">
                            <a:solidFill>
                              <a:srgbClr val="002060"/>
                            </a:solidFill>
                            <a:latin typeface="Cambria Math" panose="02040503050406030204" pitchFamily="18" charset="0"/>
                            <a:ea typeface="Times New Roman" panose="02020603050405020304" pitchFamily="18" charset="0"/>
                          </a:rPr>
                          <m:t>15</m:t>
                        </m:r>
                        <m:r>
                          <a:rPr lang="en-GB" sz="3200" i="1">
                            <a:solidFill>
                              <a:srgbClr val="002060"/>
                            </a:solidFill>
                            <a:latin typeface="Cambria Math" panose="02040503050406030204" pitchFamily="18" charset="0"/>
                            <a:ea typeface="Times New Roman" panose="02020603050405020304" pitchFamily="18" charset="0"/>
                          </a:rPr>
                          <m:t>𝑛</m:t>
                        </m:r>
                        <m:r>
                          <a:rPr lang="en-GB" sz="3200" i="1">
                            <a:solidFill>
                              <a:srgbClr val="002060"/>
                            </a:solidFill>
                            <a:latin typeface="Cambria Math" panose="02040503050406030204" pitchFamily="18" charset="0"/>
                            <a:ea typeface="Times New Roman" panose="02020603050405020304" pitchFamily="18" charset="0"/>
                          </a:rPr>
                          <m:t>+10)(1+</m:t>
                        </m:r>
                        <m:r>
                          <a:rPr lang="en-GB" sz="3200" i="1">
                            <a:solidFill>
                              <a:srgbClr val="002060"/>
                            </a:solidFill>
                            <a:latin typeface="Cambria Math" panose="02040503050406030204" pitchFamily="18" charset="0"/>
                            <a:ea typeface="Times New Roman" panose="02020603050405020304" pitchFamily="18" charset="0"/>
                          </a:rPr>
                          <m:t>𝑗</m:t>
                        </m:r>
                        <m:r>
                          <a:rPr lang="en-GB" sz="3200" i="1">
                            <a:solidFill>
                              <a:srgbClr val="002060"/>
                            </a:solidFill>
                            <a:latin typeface="Cambria Math" panose="02040503050406030204" pitchFamily="18" charset="0"/>
                            <a:ea typeface="Times New Roman" panose="02020603050405020304" pitchFamily="18" charset="0"/>
                          </a:rPr>
                          <m:t>3</m:t>
                        </m:r>
                        <m:r>
                          <a:rPr lang="en-GB" sz="3200" i="1">
                            <a:solidFill>
                              <a:srgbClr val="002060"/>
                            </a:solidFill>
                            <a:latin typeface="Cambria Math" panose="02040503050406030204" pitchFamily="18" charset="0"/>
                            <a:ea typeface="Times New Roman" panose="02020603050405020304" pitchFamily="18" charset="0"/>
                          </a:rPr>
                          <m:t>𝑛</m:t>
                        </m:r>
                        <m:r>
                          <a:rPr lang="en-GB" sz="3200" i="1">
                            <a:solidFill>
                              <a:srgbClr val="002060"/>
                            </a:solidFill>
                            <a:latin typeface="Cambria Math" panose="02040503050406030204" pitchFamily="18" charset="0"/>
                            <a:ea typeface="Times New Roman" panose="02020603050405020304" pitchFamily="18" charset="0"/>
                          </a:rPr>
                          <m:t>)</m:t>
                        </m:r>
                      </m:den>
                    </m:f>
                  </m:oMath>
                </a14:m>
                <a:r>
                  <a:rPr lang="en-GB" sz="3200" dirty="0">
                    <a:solidFill>
                      <a:srgbClr val="002060"/>
                    </a:solidFill>
                    <a:latin typeface="Times New Roman" panose="02020603050405020304" pitchFamily="18" charset="0"/>
                    <a:ea typeface="Times New Roman" panose="02020603050405020304" pitchFamily="18" charset="0"/>
                  </a:rPr>
                  <a:t> 	</a:t>
                </a:r>
                <a14:m>
                  <m:oMath xmlns:m="http://schemas.openxmlformats.org/officeDocument/2006/math">
                    <m:r>
                      <a:rPr lang="en-GB" sz="3200" i="1">
                        <a:solidFill>
                          <a:srgbClr val="002060"/>
                        </a:solidFill>
                        <a:latin typeface="Cambria Math" panose="02040503050406030204" pitchFamily="18" charset="0"/>
                        <a:ea typeface="Times New Roman" panose="02020603050405020304" pitchFamily="18" charset="0"/>
                      </a:rPr>
                      <m:t>=</m:t>
                    </m:r>
                    <m:sSub>
                      <m:sSubPr>
                        <m:ctrlPr>
                          <a:rPr lang="en-GB" sz="3200" i="1">
                            <a:solidFill>
                              <a:srgbClr val="002060"/>
                            </a:solidFill>
                            <a:latin typeface="Cambria Math" panose="02040503050406030204" pitchFamily="18" charset="0"/>
                            <a:ea typeface="Times New Roman" panose="02020603050405020304" pitchFamily="18" charset="0"/>
                          </a:rPr>
                        </m:ctrlPr>
                      </m:sSubPr>
                      <m:e>
                        <m:r>
                          <a:rPr lang="en-GB" sz="3200" i="1">
                            <a:solidFill>
                              <a:srgbClr val="002060"/>
                            </a:solidFill>
                            <a:latin typeface="Cambria Math" panose="02040503050406030204" pitchFamily="18" charset="0"/>
                            <a:ea typeface="Times New Roman" panose="02020603050405020304" pitchFamily="18" charset="0"/>
                          </a:rPr>
                          <m:t>𝐸</m:t>
                        </m:r>
                      </m:e>
                      <m:sub>
                        <m:r>
                          <a:rPr lang="en-GB" sz="3200" i="1">
                            <a:solidFill>
                              <a:srgbClr val="002060"/>
                            </a:solidFill>
                            <a:latin typeface="Cambria Math" panose="02040503050406030204" pitchFamily="18" charset="0"/>
                            <a:ea typeface="Times New Roman" panose="02020603050405020304" pitchFamily="18" charset="0"/>
                          </a:rPr>
                          <m:t>𝑛𝑚</m:t>
                        </m:r>
                      </m:sub>
                    </m:sSub>
                    <m:r>
                      <a:rPr lang="en-GB" sz="3200" i="1">
                        <a:solidFill>
                          <a:srgbClr val="002060"/>
                        </a:solidFill>
                        <a:latin typeface="Cambria Math" panose="02040503050406030204" pitchFamily="18" charset="0"/>
                        <a:ea typeface="Times New Roman" panose="02020603050405020304" pitchFamily="18" charset="0"/>
                        <a:cs typeface="Cambria Math" panose="02040503050406030204" pitchFamily="18" charset="0"/>
                      </a:rPr>
                      <m:t>⋅</m:t>
                    </m:r>
                    <m:f>
                      <m:fPr>
                        <m:ctrlPr>
                          <a:rPr lang="en-GB" sz="3200" i="1">
                            <a:solidFill>
                              <a:srgbClr val="002060"/>
                            </a:solidFill>
                            <a:latin typeface="Cambria Math" panose="02040503050406030204" pitchFamily="18" charset="0"/>
                            <a:ea typeface="Times New Roman" panose="02020603050405020304" pitchFamily="18" charset="0"/>
                          </a:rPr>
                        </m:ctrlPr>
                      </m:fPr>
                      <m:num>
                        <m:r>
                          <a:rPr lang="en-GB" sz="3200" i="1">
                            <a:solidFill>
                              <a:srgbClr val="002060"/>
                            </a:solidFill>
                            <a:latin typeface="Cambria Math" panose="02040503050406030204" pitchFamily="18" charset="0"/>
                            <a:ea typeface="Times New Roman" panose="02020603050405020304" pitchFamily="18" charset="0"/>
                          </a:rPr>
                          <m:t>100</m:t>
                        </m:r>
                      </m:num>
                      <m:den>
                        <m:r>
                          <a:rPr lang="en-GB" sz="3200" i="1">
                            <a:solidFill>
                              <a:srgbClr val="002060"/>
                            </a:solidFill>
                            <a:latin typeface="Cambria Math" panose="02040503050406030204" pitchFamily="18" charset="0"/>
                            <a:ea typeface="Times New Roman" panose="02020603050405020304" pitchFamily="18" charset="0"/>
                          </a:rPr>
                          <m:t>110−45</m:t>
                        </m:r>
                        <m:sSup>
                          <m:sSupPr>
                            <m:ctrlPr>
                              <a:rPr lang="en-GB" sz="3200" i="1">
                                <a:solidFill>
                                  <a:srgbClr val="002060"/>
                                </a:solidFill>
                                <a:latin typeface="Cambria Math" panose="02040503050406030204" pitchFamily="18" charset="0"/>
                                <a:ea typeface="Times New Roman" panose="02020603050405020304" pitchFamily="18" charset="0"/>
                              </a:rPr>
                            </m:ctrlPr>
                          </m:sSupPr>
                          <m:e>
                            <m:r>
                              <a:rPr lang="en-GB" sz="3200" i="1">
                                <a:solidFill>
                                  <a:srgbClr val="002060"/>
                                </a:solidFill>
                                <a:latin typeface="Cambria Math" panose="02040503050406030204" pitchFamily="18" charset="0"/>
                                <a:ea typeface="Times New Roman" panose="02020603050405020304" pitchFamily="18" charset="0"/>
                              </a:rPr>
                              <m:t>𝑛</m:t>
                            </m:r>
                          </m:e>
                          <m:sup>
                            <m:r>
                              <a:rPr lang="en-GB" sz="3200" i="1">
                                <a:solidFill>
                                  <a:srgbClr val="002060"/>
                                </a:solidFill>
                                <a:latin typeface="Cambria Math" panose="02040503050406030204" pitchFamily="18" charset="0"/>
                                <a:ea typeface="Times New Roman" panose="02020603050405020304" pitchFamily="18" charset="0"/>
                              </a:rPr>
                              <m:t>2</m:t>
                            </m:r>
                          </m:sup>
                        </m:sSup>
                        <m:r>
                          <a:rPr lang="en-GB" sz="3200" i="1">
                            <a:solidFill>
                              <a:srgbClr val="002060"/>
                            </a:solidFill>
                            <a:latin typeface="Cambria Math" panose="02040503050406030204" pitchFamily="18" charset="0"/>
                            <a:ea typeface="Times New Roman" panose="02020603050405020304" pitchFamily="18" charset="0"/>
                          </a:rPr>
                          <m:t>+</m:t>
                        </m:r>
                        <m:r>
                          <a:rPr lang="en-GB" sz="3200" i="1">
                            <a:solidFill>
                              <a:srgbClr val="002060"/>
                            </a:solidFill>
                            <a:latin typeface="Cambria Math" panose="02040503050406030204" pitchFamily="18" charset="0"/>
                            <a:ea typeface="Times New Roman" panose="02020603050405020304" pitchFamily="18" charset="0"/>
                          </a:rPr>
                          <m:t>𝑗</m:t>
                        </m:r>
                        <m:r>
                          <a:rPr lang="en-GB" sz="3200" i="1">
                            <a:solidFill>
                              <a:srgbClr val="002060"/>
                            </a:solidFill>
                            <a:latin typeface="Cambria Math" panose="02040503050406030204" pitchFamily="18" charset="0"/>
                            <a:ea typeface="Times New Roman" panose="02020603050405020304" pitchFamily="18" charset="0"/>
                          </a:rPr>
                          <m:t>45</m:t>
                        </m:r>
                        <m:r>
                          <a:rPr lang="en-GB" sz="3200" i="1">
                            <a:solidFill>
                              <a:srgbClr val="002060"/>
                            </a:solidFill>
                            <a:latin typeface="Cambria Math" panose="02040503050406030204" pitchFamily="18" charset="0"/>
                            <a:ea typeface="Times New Roman" panose="02020603050405020304" pitchFamily="18" charset="0"/>
                          </a:rPr>
                          <m:t>𝑛</m:t>
                        </m:r>
                      </m:den>
                    </m:f>
                  </m:oMath>
                </a14:m>
                <a:endParaRPr lang="en-GB" sz="3200" dirty="0">
                  <a:effectLst/>
                  <a:latin typeface="Times New Roman" panose="02020603050405020304" pitchFamily="18" charset="0"/>
                  <a:ea typeface="Times New Roman" panose="02020603050405020304" pitchFamily="18" charset="0"/>
                </a:endParaRPr>
              </a:p>
              <a:p>
                <a:pPr algn="just">
                  <a:spcAft>
                    <a:spcPts val="600"/>
                  </a:spcAft>
                  <a:tabLst>
                    <a:tab pos="381000" algn="l"/>
                    <a:tab pos="3276600" algn="l"/>
                  </a:tabLst>
                </a:pPr>
                <a:r>
                  <a:rPr lang="pt-BR" sz="3200" dirty="0">
                    <a:solidFill>
                      <a:srgbClr val="002060"/>
                    </a:solidFill>
                    <a:latin typeface="Times New Roman" panose="02020603050405020304" pitchFamily="18" charset="0"/>
                    <a:ea typeface="Times New Roman" panose="02020603050405020304" pitchFamily="18" charset="0"/>
                  </a:rPr>
                  <a:t>for the fundamental</a:t>
                </a:r>
                <a:endParaRPr lang="en-GB" sz="3200" dirty="0">
                  <a:effectLst/>
                  <a:latin typeface="Times New Roman" panose="02020603050405020304" pitchFamily="18" charset="0"/>
                  <a:ea typeface="Times New Roman" panose="02020603050405020304" pitchFamily="18" charset="0"/>
                </a:endParaRPr>
              </a:p>
              <a:p>
                <a:pPr algn="just">
                  <a:spcAft>
                    <a:spcPts val="600"/>
                  </a:spcAft>
                  <a:tabLst>
                    <a:tab pos="381000" algn="l"/>
                    <a:tab pos="2362200" algn="l"/>
                    <a:tab pos="3276600" algn="l"/>
                  </a:tabLst>
                </a:pPr>
                <a:r>
                  <a:rPr lang="pt-BR" sz="3200" i="1" dirty="0">
                    <a:solidFill>
                      <a:srgbClr val="002060"/>
                    </a:solidFill>
                    <a:latin typeface="Times New Roman" panose="02020603050405020304" pitchFamily="18" charset="0"/>
                    <a:ea typeface="Times New Roman" panose="02020603050405020304" pitchFamily="18" charset="0"/>
                  </a:rPr>
                  <a:t>V</a:t>
                </a:r>
                <a:r>
                  <a:rPr lang="pt-BR" sz="3200" i="1" baseline="-25000" dirty="0">
                    <a:solidFill>
                      <a:srgbClr val="002060"/>
                    </a:solidFill>
                    <a:latin typeface="Times New Roman" panose="02020603050405020304" pitchFamily="18" charset="0"/>
                    <a:ea typeface="Times New Roman" panose="02020603050405020304" pitchFamily="18" charset="0"/>
                  </a:rPr>
                  <a:t>1m</a:t>
                </a:r>
                <a:r>
                  <a:rPr lang="pt-BR" sz="3200" i="1" dirty="0">
                    <a:solidFill>
                      <a:srgbClr val="002060"/>
                    </a:solidFill>
                    <a:latin typeface="Times New Roman" panose="02020603050405020304" pitchFamily="18" charset="0"/>
                    <a:ea typeface="Times New Roman" panose="02020603050405020304" pitchFamily="18" charset="0"/>
                  </a:rPr>
                  <a:t> =30</a:t>
                </a:r>
                <a:r>
                  <a:rPr lang="en-GB" sz="3200" i="1"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pt-BR" sz="3200" i="1" dirty="0">
                    <a:solidFill>
                      <a:srgbClr val="002060"/>
                    </a:solidFill>
                    <a:latin typeface="Times New Roman" panose="02020603050405020304" pitchFamily="18" charset="0"/>
                    <a:ea typeface="Times New Roman" panose="02020603050405020304" pitchFamily="18" charset="0"/>
                  </a:rPr>
                  <a:t>100/(65+j45)=3000/79.06</a:t>
                </a:r>
                <a:r>
                  <a:rPr lang="en-GB" sz="3200" i="1"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pt-BR" sz="3200" i="1" dirty="0">
                    <a:solidFill>
                      <a:srgbClr val="002060"/>
                    </a:solidFill>
                    <a:latin typeface="Times New Roman" panose="02020603050405020304" pitchFamily="18" charset="0"/>
                    <a:ea typeface="Times New Roman" panose="02020603050405020304" pitchFamily="18" charset="0"/>
                  </a:rPr>
                  <a:t>34.7</a:t>
                </a:r>
                <a:r>
                  <a:rPr lang="pt-BR" sz="3200" i="1" baseline="30000" dirty="0">
                    <a:solidFill>
                      <a:srgbClr val="002060"/>
                    </a:solidFill>
                    <a:latin typeface="Times New Roman" panose="02020603050405020304" pitchFamily="18" charset="0"/>
                    <a:ea typeface="Times New Roman" panose="02020603050405020304" pitchFamily="18" charset="0"/>
                  </a:rPr>
                  <a:t>o</a:t>
                </a:r>
                <a:r>
                  <a:rPr lang="pt-BR" sz="3200" i="1" dirty="0">
                    <a:solidFill>
                      <a:srgbClr val="002060"/>
                    </a:solidFill>
                    <a:latin typeface="Times New Roman" panose="02020603050405020304" pitchFamily="18" charset="0"/>
                    <a:ea typeface="Times New Roman" panose="02020603050405020304" pitchFamily="18" charset="0"/>
                  </a:rPr>
                  <a:t>=37.95</a:t>
                </a:r>
                <a:r>
                  <a:rPr lang="en-GB" sz="3200" i="1"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pt-BR" sz="3200" i="1" dirty="0">
                    <a:solidFill>
                      <a:srgbClr val="002060"/>
                    </a:solidFill>
                    <a:latin typeface="Times New Roman" panose="02020603050405020304" pitchFamily="18" charset="0"/>
                    <a:ea typeface="Times New Roman" panose="02020603050405020304" pitchFamily="18" charset="0"/>
                  </a:rPr>
                  <a:t> -34.7</a:t>
                </a:r>
                <a:r>
                  <a:rPr lang="pt-BR" sz="3200" i="1" baseline="30000" dirty="0">
                    <a:solidFill>
                      <a:srgbClr val="002060"/>
                    </a:solidFill>
                    <a:latin typeface="Times New Roman" panose="02020603050405020304" pitchFamily="18" charset="0"/>
                    <a:ea typeface="Times New Roman" panose="02020603050405020304" pitchFamily="18" charset="0"/>
                  </a:rPr>
                  <a:t>o</a:t>
                </a:r>
                <a:endParaRPr lang="en-GB" sz="3200" dirty="0">
                  <a:effectLst/>
                  <a:latin typeface="Times New Roman" panose="02020603050405020304" pitchFamily="18" charset="0"/>
                  <a:ea typeface="Times New Roman" panose="02020603050405020304" pitchFamily="18" charset="0"/>
                </a:endParaRPr>
              </a:p>
              <a:p>
                <a:pPr algn="just">
                  <a:spcAft>
                    <a:spcPts val="600"/>
                  </a:spcAft>
                  <a:tabLst>
                    <a:tab pos="381000" algn="l"/>
                    <a:tab pos="2362200" algn="l"/>
                    <a:tab pos="3276600" algn="l"/>
                  </a:tabLst>
                </a:pPr>
                <a:r>
                  <a:rPr lang="pt-BR" sz="3200" i="1" dirty="0">
                    <a:solidFill>
                      <a:srgbClr val="002060"/>
                    </a:solidFill>
                    <a:latin typeface="Times New Roman" panose="02020603050405020304" pitchFamily="18" charset="0"/>
                    <a:ea typeface="Times New Roman" panose="02020603050405020304" pitchFamily="18" charset="0"/>
                  </a:rPr>
                  <a:t>V</a:t>
                </a:r>
                <a:r>
                  <a:rPr lang="pt-BR" sz="3200" i="1" baseline="-25000" dirty="0">
                    <a:solidFill>
                      <a:srgbClr val="002060"/>
                    </a:solidFill>
                    <a:latin typeface="Times New Roman" panose="02020603050405020304" pitchFamily="18" charset="0"/>
                    <a:ea typeface="Times New Roman" panose="02020603050405020304" pitchFamily="18" charset="0"/>
                  </a:rPr>
                  <a:t>3m</a:t>
                </a:r>
                <a:r>
                  <a:rPr lang="pt-BR" sz="3200" i="1" dirty="0">
                    <a:solidFill>
                      <a:srgbClr val="002060"/>
                    </a:solidFill>
                    <a:latin typeface="Times New Roman" panose="02020603050405020304" pitchFamily="18" charset="0"/>
                    <a:ea typeface="Times New Roman" panose="02020603050405020304" pitchFamily="18" charset="0"/>
                  </a:rPr>
                  <a:t>=20</a:t>
                </a:r>
                <a:r>
                  <a:rPr lang="en-GB" sz="3200" i="1"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pt-BR" sz="3200" i="1" dirty="0">
                    <a:solidFill>
                      <a:srgbClr val="002060"/>
                    </a:solidFill>
                    <a:latin typeface="Times New Roman" panose="02020603050405020304" pitchFamily="18" charset="0"/>
                    <a:ea typeface="Times New Roman" panose="02020603050405020304" pitchFamily="18" charset="0"/>
                  </a:rPr>
                  <a:t>100/(-295+j135)=2000/324.42</a:t>
                </a:r>
                <a:r>
                  <a:rPr lang="en-GB" sz="3200" i="1"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pt-BR" sz="3200" i="1" dirty="0">
                    <a:solidFill>
                      <a:srgbClr val="002060"/>
                    </a:solidFill>
                    <a:latin typeface="Times New Roman" panose="02020603050405020304" pitchFamily="18" charset="0"/>
                    <a:ea typeface="Times New Roman" panose="02020603050405020304" pitchFamily="18" charset="0"/>
                  </a:rPr>
                  <a:t>155.4</a:t>
                </a:r>
                <a:r>
                  <a:rPr lang="pt-BR" sz="3200" i="1" baseline="30000" dirty="0">
                    <a:solidFill>
                      <a:srgbClr val="002060"/>
                    </a:solidFill>
                    <a:latin typeface="Times New Roman" panose="02020603050405020304" pitchFamily="18" charset="0"/>
                    <a:ea typeface="Times New Roman" panose="02020603050405020304" pitchFamily="18" charset="0"/>
                  </a:rPr>
                  <a:t>o</a:t>
                </a:r>
                <a:r>
                  <a:rPr lang="pt-BR" sz="3200" i="1" dirty="0">
                    <a:solidFill>
                      <a:srgbClr val="002060"/>
                    </a:solidFill>
                    <a:latin typeface="Times New Roman" panose="02020603050405020304" pitchFamily="18" charset="0"/>
                    <a:ea typeface="Times New Roman" panose="02020603050405020304" pitchFamily="18" charset="0"/>
                  </a:rPr>
                  <a:t>=6.16</a:t>
                </a:r>
                <a:r>
                  <a:rPr lang="en-GB" sz="3200" i="1"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pt-BR" sz="3200" i="1" dirty="0">
                    <a:solidFill>
                      <a:srgbClr val="002060"/>
                    </a:solidFill>
                    <a:latin typeface="Times New Roman" panose="02020603050405020304" pitchFamily="18" charset="0"/>
                    <a:ea typeface="Times New Roman" panose="02020603050405020304" pitchFamily="18" charset="0"/>
                  </a:rPr>
                  <a:t>-155.4</a:t>
                </a:r>
                <a:r>
                  <a:rPr lang="pt-BR" sz="3200" i="1" baseline="30000" dirty="0">
                    <a:solidFill>
                      <a:srgbClr val="002060"/>
                    </a:solidFill>
                    <a:latin typeface="Times New Roman" panose="02020603050405020304" pitchFamily="18" charset="0"/>
                    <a:ea typeface="Times New Roman" panose="02020603050405020304" pitchFamily="18" charset="0"/>
                  </a:rPr>
                  <a:t>o</a:t>
                </a:r>
                <a:endParaRPr lang="en-GB" sz="3200" dirty="0">
                  <a:effectLst/>
                  <a:latin typeface="Times New Roman" panose="02020603050405020304" pitchFamily="18" charset="0"/>
                  <a:ea typeface="Times New Roman" panose="02020603050405020304" pitchFamily="18" charset="0"/>
                </a:endParaRPr>
              </a:p>
              <a:p>
                <a:pPr algn="just">
                  <a:spcAft>
                    <a:spcPts val="600"/>
                  </a:spcAft>
                  <a:tabLst>
                    <a:tab pos="381000" algn="l"/>
                    <a:tab pos="2362200" algn="l"/>
                    <a:tab pos="3276600" algn="l"/>
                  </a:tabLst>
                </a:pPr>
                <a:r>
                  <a:rPr lang="pt-BR" sz="3200" i="1" dirty="0">
                    <a:solidFill>
                      <a:srgbClr val="002060"/>
                    </a:solidFill>
                    <a:latin typeface="Times New Roman" panose="02020603050405020304" pitchFamily="18" charset="0"/>
                    <a:ea typeface="Times New Roman" panose="02020603050405020304" pitchFamily="18" charset="0"/>
                  </a:rPr>
                  <a:t>V</a:t>
                </a:r>
                <a:r>
                  <a:rPr lang="pt-BR" sz="3200" i="1" baseline="-25000" dirty="0">
                    <a:solidFill>
                      <a:srgbClr val="002060"/>
                    </a:solidFill>
                    <a:latin typeface="Times New Roman" panose="02020603050405020304" pitchFamily="18" charset="0"/>
                    <a:ea typeface="Times New Roman" panose="02020603050405020304" pitchFamily="18" charset="0"/>
                  </a:rPr>
                  <a:t>5m</a:t>
                </a:r>
                <a:r>
                  <a:rPr lang="pt-BR" sz="3200" i="1" dirty="0">
                    <a:solidFill>
                      <a:srgbClr val="002060"/>
                    </a:solidFill>
                    <a:latin typeface="Times New Roman" panose="02020603050405020304" pitchFamily="18" charset="0"/>
                    <a:ea typeface="Times New Roman" panose="02020603050405020304" pitchFamily="18" charset="0"/>
                  </a:rPr>
                  <a:t> =15</a:t>
                </a:r>
                <a:r>
                  <a:rPr lang="en-GB" sz="3200" i="1"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pt-BR" sz="3200" i="1" dirty="0">
                    <a:solidFill>
                      <a:srgbClr val="002060"/>
                    </a:solidFill>
                    <a:latin typeface="Times New Roman" panose="02020603050405020304" pitchFamily="18" charset="0"/>
                    <a:ea typeface="Times New Roman" panose="02020603050405020304" pitchFamily="18" charset="0"/>
                  </a:rPr>
                  <a:t>100/(-1015+j225)=1500/1039.64</a:t>
                </a:r>
                <a:r>
                  <a:rPr lang="en-GB" sz="3200" i="1"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pt-BR" sz="3200" i="1" dirty="0">
                    <a:solidFill>
                      <a:srgbClr val="002060"/>
                    </a:solidFill>
                    <a:latin typeface="Times New Roman" panose="02020603050405020304" pitchFamily="18" charset="0"/>
                    <a:ea typeface="Times New Roman" panose="02020603050405020304" pitchFamily="18" charset="0"/>
                  </a:rPr>
                  <a:t>167.5</a:t>
                </a:r>
                <a:r>
                  <a:rPr lang="pt-BR" sz="3200" i="1" baseline="30000" dirty="0">
                    <a:solidFill>
                      <a:srgbClr val="002060"/>
                    </a:solidFill>
                    <a:latin typeface="Times New Roman" panose="02020603050405020304" pitchFamily="18" charset="0"/>
                    <a:ea typeface="Times New Roman" panose="02020603050405020304" pitchFamily="18" charset="0"/>
                  </a:rPr>
                  <a:t>o</a:t>
                </a:r>
                <a:r>
                  <a:rPr lang="pt-BR" sz="3200" i="1" dirty="0">
                    <a:solidFill>
                      <a:srgbClr val="002060"/>
                    </a:solidFill>
                    <a:latin typeface="Times New Roman" panose="02020603050405020304" pitchFamily="18" charset="0"/>
                    <a:ea typeface="Times New Roman" panose="02020603050405020304" pitchFamily="18" charset="0"/>
                  </a:rPr>
                  <a:t>=1.44</a:t>
                </a:r>
                <a:r>
                  <a:rPr lang="en-GB" sz="3200" i="1"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pt-BR" sz="3200" i="1" dirty="0">
                    <a:solidFill>
                      <a:srgbClr val="002060"/>
                    </a:solidFill>
                    <a:latin typeface="Times New Roman" panose="02020603050405020304" pitchFamily="18" charset="0"/>
                    <a:ea typeface="Times New Roman" panose="02020603050405020304" pitchFamily="18" charset="0"/>
                  </a:rPr>
                  <a:t>-167.5</a:t>
                </a:r>
                <a:r>
                  <a:rPr lang="pt-BR" sz="3200" i="1" baseline="30000" dirty="0">
                    <a:solidFill>
                      <a:srgbClr val="002060"/>
                    </a:solidFill>
                    <a:latin typeface="Times New Roman" panose="02020603050405020304" pitchFamily="18" charset="0"/>
                    <a:ea typeface="Times New Roman" panose="02020603050405020304" pitchFamily="18" charset="0"/>
                  </a:rPr>
                  <a:t>o</a:t>
                </a:r>
                <a:endParaRPr lang="en-GB" sz="3200" dirty="0">
                  <a:effectLst/>
                  <a:latin typeface="Times New Roman" panose="02020603050405020304" pitchFamily="18" charset="0"/>
                  <a:ea typeface="Times New Roman" panose="02020603050405020304" pitchFamily="18" charset="0"/>
                </a:endParaRPr>
              </a:p>
              <a:p>
                <a:pPr algn="just">
                  <a:spcAft>
                    <a:spcPts val="600"/>
                  </a:spcAft>
                  <a:tabLst>
                    <a:tab pos="381000" algn="l"/>
                    <a:tab pos="2362200" algn="l"/>
                    <a:tab pos="3276600" algn="l"/>
                  </a:tabLst>
                </a:pPr>
                <a:r>
                  <a:rPr lang="pt-BR" sz="3200" i="1" dirty="0">
                    <a:solidFill>
                      <a:srgbClr val="002060"/>
                    </a:solidFill>
                    <a:latin typeface="Times New Roman" panose="02020603050405020304" pitchFamily="18" charset="0"/>
                    <a:ea typeface="Times New Roman" panose="02020603050405020304" pitchFamily="18" charset="0"/>
                  </a:rPr>
                  <a:t>V</a:t>
                </a:r>
                <a:r>
                  <a:rPr lang="pt-BR" sz="3200" i="1" baseline="-25000" dirty="0">
                    <a:solidFill>
                      <a:srgbClr val="002060"/>
                    </a:solidFill>
                    <a:latin typeface="Times New Roman" panose="02020603050405020304" pitchFamily="18" charset="0"/>
                    <a:ea typeface="Times New Roman" panose="02020603050405020304" pitchFamily="18" charset="0"/>
                  </a:rPr>
                  <a:t>7m</a:t>
                </a:r>
                <a:r>
                  <a:rPr lang="pt-BR" sz="3200" i="1" dirty="0">
                    <a:solidFill>
                      <a:srgbClr val="002060"/>
                    </a:solidFill>
                    <a:latin typeface="Times New Roman" panose="02020603050405020304" pitchFamily="18" charset="0"/>
                    <a:ea typeface="Times New Roman" panose="02020603050405020304" pitchFamily="18" charset="0"/>
                  </a:rPr>
                  <a:t> =10</a:t>
                </a:r>
                <a:r>
                  <a:rPr lang="en-GB" sz="3200" i="1"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pt-BR" sz="3200" i="1" dirty="0">
                    <a:solidFill>
                      <a:srgbClr val="002060"/>
                    </a:solidFill>
                    <a:latin typeface="Times New Roman" panose="02020603050405020304" pitchFamily="18" charset="0"/>
                    <a:ea typeface="Times New Roman" panose="02020603050405020304" pitchFamily="18" charset="0"/>
                  </a:rPr>
                  <a:t>100/(-2095+j315)	=1000/2118.5</a:t>
                </a:r>
                <a:r>
                  <a:rPr lang="en-GB" sz="3200" i="1"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pt-BR" sz="3200" i="1" dirty="0">
                    <a:solidFill>
                      <a:srgbClr val="002060"/>
                    </a:solidFill>
                    <a:latin typeface="Times New Roman" panose="02020603050405020304" pitchFamily="18" charset="0"/>
                    <a:ea typeface="Times New Roman" panose="02020603050405020304" pitchFamily="18" charset="0"/>
                  </a:rPr>
                  <a:t>171.4</a:t>
                </a:r>
                <a:r>
                  <a:rPr lang="pt-BR" sz="3200" i="1" baseline="30000" dirty="0">
                    <a:solidFill>
                      <a:srgbClr val="002060"/>
                    </a:solidFill>
                    <a:latin typeface="Times New Roman" panose="02020603050405020304" pitchFamily="18" charset="0"/>
                    <a:ea typeface="Times New Roman" panose="02020603050405020304" pitchFamily="18" charset="0"/>
                  </a:rPr>
                  <a:t>o</a:t>
                </a:r>
                <a:r>
                  <a:rPr lang="pt-BR" sz="3200" i="1" dirty="0">
                    <a:solidFill>
                      <a:srgbClr val="002060"/>
                    </a:solidFill>
                    <a:latin typeface="Times New Roman" panose="02020603050405020304" pitchFamily="18" charset="0"/>
                    <a:ea typeface="Times New Roman" panose="02020603050405020304" pitchFamily="18" charset="0"/>
                  </a:rPr>
                  <a:t>=0.47</a:t>
                </a:r>
                <a:r>
                  <a:rPr lang="en-GB" sz="3200" i="1"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pt-BR" sz="3200" i="1" dirty="0">
                    <a:solidFill>
                      <a:srgbClr val="002060"/>
                    </a:solidFill>
                    <a:latin typeface="Times New Roman" panose="02020603050405020304" pitchFamily="18" charset="0"/>
                    <a:ea typeface="Times New Roman" panose="02020603050405020304" pitchFamily="18" charset="0"/>
                  </a:rPr>
                  <a:t>-171.4</a:t>
                </a:r>
                <a:r>
                  <a:rPr lang="pt-BR" sz="3200" i="1" baseline="30000" dirty="0">
                    <a:solidFill>
                      <a:srgbClr val="002060"/>
                    </a:solidFill>
                    <a:latin typeface="Times New Roman" panose="02020603050405020304" pitchFamily="18" charset="0"/>
                    <a:ea typeface="Times New Roman" panose="02020603050405020304" pitchFamily="18" charset="0"/>
                  </a:rPr>
                  <a:t>o</a:t>
                </a:r>
                <a:endParaRPr lang="en-GB" sz="3200" dirty="0">
                  <a:effectLst/>
                  <a:latin typeface="Times New Roman" panose="02020603050405020304" pitchFamily="18" charset="0"/>
                  <a:ea typeface="Times New Roman" panose="02020603050405020304" pitchFamily="18" charset="0"/>
                </a:endParaRPr>
              </a:p>
              <a:p>
                <a:pPr marL="1200150" indent="-1200150">
                  <a:spcAft>
                    <a:spcPts val="600"/>
                  </a:spcAft>
                  <a:tabLst>
                    <a:tab pos="742950" algn="l"/>
                    <a:tab pos="1200150" algn="l"/>
                    <a:tab pos="3276600" algn="l"/>
                  </a:tabLst>
                </a:pPr>
                <a:r>
                  <a:rPr lang="pt-BR" sz="3200" dirty="0">
                    <a:solidFill>
                      <a:srgbClr val="002060"/>
                    </a:solidFill>
                    <a:effectLst/>
                    <a:latin typeface="Times New Roman" panose="02020603050405020304" pitchFamily="18" charset="0"/>
                    <a:ea typeface="Times New Roman" panose="02020603050405020304" pitchFamily="18" charset="0"/>
                  </a:rPr>
                  <a:t>v(t)	= 90.91+37.95sin(300t+</a:t>
                </a:r>
                <a:r>
                  <a:rPr lang="en-GB" sz="3200" dirty="0">
                    <a:solidFill>
                      <a:srgbClr val="002060"/>
                    </a:solidFill>
                    <a:effectLst/>
                    <a:latin typeface="Symbol" panose="05050102010706020507" pitchFamily="18" charset="2"/>
                    <a:ea typeface="Times New Roman" panose="02020603050405020304" pitchFamily="18" charset="0"/>
                  </a:rPr>
                  <a:t>30</a:t>
                </a:r>
                <a:r>
                  <a:rPr lang="en-GB" sz="3200" baseline="30000" dirty="0">
                    <a:solidFill>
                      <a:srgbClr val="002060"/>
                    </a:solidFill>
                    <a:effectLst/>
                    <a:latin typeface="Symbol" panose="05050102010706020507" pitchFamily="18" charset="2"/>
                    <a:ea typeface="Times New Roman" panose="02020603050405020304" pitchFamily="18" charset="0"/>
                  </a:rPr>
                  <a:t>o</a:t>
                </a:r>
                <a:r>
                  <a:rPr lang="en-GB" sz="3200" dirty="0">
                    <a:solidFill>
                      <a:srgbClr val="002060"/>
                    </a:solidFill>
                    <a:effectLst/>
                    <a:latin typeface="Symbol" panose="05050102010706020507" pitchFamily="18" charset="2"/>
                    <a:ea typeface="Times New Roman" panose="02020603050405020304" pitchFamily="18" charset="0"/>
                  </a:rPr>
                  <a:t> -34.7</a:t>
                </a:r>
                <a:r>
                  <a:rPr lang="en-GB" sz="3200" baseline="30000" dirty="0">
                    <a:solidFill>
                      <a:srgbClr val="002060"/>
                    </a:solidFill>
                    <a:effectLst/>
                    <a:latin typeface="Symbol" panose="05050102010706020507" pitchFamily="18" charset="2"/>
                    <a:ea typeface="Times New Roman" panose="02020603050405020304" pitchFamily="18" charset="0"/>
                  </a:rPr>
                  <a:t>o</a:t>
                </a:r>
                <a:r>
                  <a:rPr lang="pt-BR" sz="3200" dirty="0">
                    <a:solidFill>
                      <a:srgbClr val="002060"/>
                    </a:solidFill>
                    <a:effectLst/>
                    <a:latin typeface="Times New Roman" panose="02020603050405020304" pitchFamily="18" charset="0"/>
                    <a:ea typeface="Times New Roman" panose="02020603050405020304" pitchFamily="18" charset="0"/>
                  </a:rPr>
                  <a:t>)+6.16sin(900t </a:t>
                </a:r>
                <a:r>
                  <a:rPr lang="en-GB" sz="3200" dirty="0">
                    <a:solidFill>
                      <a:srgbClr val="002060"/>
                    </a:solidFill>
                    <a:effectLst/>
                    <a:latin typeface="Symbol" panose="05050102010706020507" pitchFamily="18" charset="2"/>
                    <a:ea typeface="Times New Roman" panose="02020603050405020304" pitchFamily="18" charset="0"/>
                  </a:rPr>
                  <a:t>-</a:t>
                </a:r>
                <a:r>
                  <a:rPr lang="pt-BR" sz="3200" dirty="0">
                    <a:solidFill>
                      <a:srgbClr val="002060"/>
                    </a:solidFill>
                    <a:effectLst/>
                    <a:latin typeface="Times New Roman" panose="02020603050405020304" pitchFamily="18" charset="0"/>
                    <a:ea typeface="Times New Roman" panose="02020603050405020304" pitchFamily="18" charset="0"/>
                  </a:rPr>
                  <a:t> 155.4</a:t>
                </a:r>
                <a:r>
                  <a:rPr lang="pt-BR" sz="3200" baseline="30000" dirty="0">
                    <a:solidFill>
                      <a:srgbClr val="002060"/>
                    </a:solidFill>
                    <a:effectLst/>
                    <a:latin typeface="Times New Roman" panose="02020603050405020304" pitchFamily="18" charset="0"/>
                    <a:ea typeface="Times New Roman" panose="02020603050405020304" pitchFamily="18" charset="0"/>
                  </a:rPr>
                  <a:t>o</a:t>
                </a:r>
                <a:r>
                  <a:rPr lang="pt-BR" sz="3200" dirty="0">
                    <a:solidFill>
                      <a:srgbClr val="002060"/>
                    </a:solidFill>
                    <a:effectLst/>
                    <a:latin typeface="Times New Roman" panose="02020603050405020304" pitchFamily="18" charset="0"/>
                    <a:ea typeface="Times New Roman" panose="02020603050405020304" pitchFamily="18" charset="0"/>
                  </a:rPr>
                  <a:t>) +1.44 sin(1500t</a:t>
                </a:r>
                <a:r>
                  <a:rPr lang="en-GB" sz="3200" dirty="0">
                    <a:solidFill>
                      <a:srgbClr val="002060"/>
                    </a:solidFill>
                    <a:effectLst/>
                    <a:latin typeface="Symbol" panose="05050102010706020507" pitchFamily="18" charset="2"/>
                    <a:ea typeface="Times New Roman" panose="02020603050405020304" pitchFamily="18" charset="0"/>
                  </a:rPr>
                  <a:t>-30</a:t>
                </a:r>
                <a:r>
                  <a:rPr lang="en-GB" sz="3200" baseline="30000" dirty="0">
                    <a:solidFill>
                      <a:srgbClr val="002060"/>
                    </a:solidFill>
                    <a:effectLst/>
                    <a:latin typeface="Symbol" panose="05050102010706020507" pitchFamily="18" charset="2"/>
                    <a:ea typeface="Times New Roman" panose="02020603050405020304" pitchFamily="18" charset="0"/>
                  </a:rPr>
                  <a:t>o</a:t>
                </a:r>
                <a:r>
                  <a:rPr lang="en-GB" sz="3200" dirty="0">
                    <a:solidFill>
                      <a:srgbClr val="002060"/>
                    </a:solidFill>
                    <a:effectLst/>
                    <a:latin typeface="Symbol" panose="05050102010706020507" pitchFamily="18" charset="2"/>
                    <a:ea typeface="Times New Roman" panose="02020603050405020304" pitchFamily="18" charset="0"/>
                  </a:rPr>
                  <a:t> -167.5</a:t>
                </a:r>
                <a:r>
                  <a:rPr lang="en-GB" sz="3200" baseline="30000" dirty="0">
                    <a:solidFill>
                      <a:srgbClr val="002060"/>
                    </a:solidFill>
                    <a:effectLst/>
                    <a:latin typeface="Symbol" panose="05050102010706020507" pitchFamily="18" charset="2"/>
                    <a:ea typeface="Times New Roman" panose="02020603050405020304" pitchFamily="18" charset="0"/>
                  </a:rPr>
                  <a:t>o</a:t>
                </a:r>
                <a:r>
                  <a:rPr lang="pt-BR" sz="3200" dirty="0">
                    <a:solidFill>
                      <a:srgbClr val="002060"/>
                    </a:solidFill>
                    <a:effectLst/>
                    <a:latin typeface="Times New Roman" panose="02020603050405020304" pitchFamily="18" charset="0"/>
                    <a:ea typeface="Times New Roman" panose="02020603050405020304" pitchFamily="18" charset="0"/>
                  </a:rPr>
                  <a:t>)+0.47sin (2100t </a:t>
                </a:r>
                <a:r>
                  <a:rPr lang="en-GB" sz="3200" dirty="0">
                    <a:solidFill>
                      <a:srgbClr val="002060"/>
                    </a:solidFill>
                    <a:effectLst/>
                    <a:latin typeface="Symbol" panose="05050102010706020507" pitchFamily="18" charset="2"/>
                    <a:ea typeface="Times New Roman" panose="02020603050405020304" pitchFamily="18" charset="0"/>
                  </a:rPr>
                  <a:t>-</a:t>
                </a:r>
                <a:r>
                  <a:rPr lang="pt-BR" sz="3200" dirty="0">
                    <a:solidFill>
                      <a:srgbClr val="002060"/>
                    </a:solidFill>
                    <a:effectLst/>
                    <a:latin typeface="Times New Roman" panose="02020603050405020304" pitchFamily="18" charset="0"/>
                    <a:ea typeface="Times New Roman" panose="02020603050405020304" pitchFamily="18" charset="0"/>
                  </a:rPr>
                  <a:t> 171.4</a:t>
                </a:r>
                <a:r>
                  <a:rPr lang="pt-BR" sz="3200" baseline="30000" dirty="0">
                    <a:solidFill>
                      <a:srgbClr val="002060"/>
                    </a:solidFill>
                    <a:effectLst/>
                    <a:latin typeface="Times New Roman" panose="02020603050405020304" pitchFamily="18" charset="0"/>
                    <a:ea typeface="Times New Roman" panose="02020603050405020304" pitchFamily="18" charset="0"/>
                  </a:rPr>
                  <a:t>o</a:t>
                </a:r>
                <a:r>
                  <a:rPr lang="pt-BR" sz="3200" dirty="0">
                    <a:solidFill>
                      <a:srgbClr val="002060"/>
                    </a:solidFill>
                    <a:effectLst/>
                    <a:latin typeface="Times New Roman" panose="02020603050405020304" pitchFamily="18" charset="0"/>
                    <a:ea typeface="Times New Roman" panose="02020603050405020304" pitchFamily="18" charset="0"/>
                  </a:rPr>
                  <a:t>)</a:t>
                </a:r>
                <a:endParaRPr lang="en-GB" sz="3200" dirty="0">
                  <a:effectLst/>
                  <a:latin typeface="Times New Roman" panose="02020603050405020304" pitchFamily="18" charset="0"/>
                  <a:ea typeface="Times New Roman" panose="02020603050405020304" pitchFamily="18" charset="0"/>
                </a:endParaRPr>
              </a:p>
              <a:p>
                <a:pPr marL="1200150" indent="-1200150">
                  <a:tabLst>
                    <a:tab pos="1200150" algn="l"/>
                    <a:tab pos="3276600" algn="l"/>
                  </a:tabLst>
                </a:pPr>
                <a:r>
                  <a:rPr lang="es-ES" sz="3200" dirty="0">
                    <a:solidFill>
                      <a:srgbClr val="002060"/>
                    </a:solidFill>
                    <a:effectLst/>
                    <a:latin typeface="Times New Roman" panose="02020603050405020304" pitchFamily="18" charset="0"/>
                    <a:ea typeface="Times New Roman" panose="02020603050405020304" pitchFamily="18" charset="0"/>
                  </a:rPr>
                  <a:t>v(t) = 90.91 + 37.95 sin(300t</a:t>
                </a:r>
                <a:r>
                  <a:rPr lang="en-GB" sz="3200" dirty="0">
                    <a:solidFill>
                      <a:srgbClr val="002060"/>
                    </a:solidFill>
                    <a:effectLst/>
                    <a:latin typeface="Symbol" panose="05050102010706020507" pitchFamily="18" charset="2"/>
                    <a:ea typeface="Times New Roman" panose="02020603050405020304" pitchFamily="18" charset="0"/>
                  </a:rPr>
                  <a:t> -4.7</a:t>
                </a:r>
                <a:r>
                  <a:rPr lang="en-GB" sz="3200" baseline="30000" dirty="0">
                    <a:solidFill>
                      <a:srgbClr val="002060"/>
                    </a:solidFill>
                    <a:effectLst/>
                    <a:latin typeface="Symbol" panose="05050102010706020507" pitchFamily="18" charset="2"/>
                    <a:ea typeface="Times New Roman" panose="02020603050405020304" pitchFamily="18" charset="0"/>
                  </a:rPr>
                  <a:t>o</a:t>
                </a:r>
                <a:r>
                  <a:rPr lang="es-ES" sz="3200" dirty="0">
                    <a:solidFill>
                      <a:srgbClr val="002060"/>
                    </a:solidFill>
                    <a:effectLst/>
                    <a:latin typeface="Times New Roman" panose="02020603050405020304" pitchFamily="18" charset="0"/>
                    <a:ea typeface="Times New Roman" panose="02020603050405020304" pitchFamily="18" charset="0"/>
                  </a:rPr>
                  <a:t>) + 6.16 sin(900t </a:t>
                </a:r>
                <a:r>
                  <a:rPr lang="en-GB" sz="3200" dirty="0">
                    <a:solidFill>
                      <a:srgbClr val="002060"/>
                    </a:solidFill>
                    <a:effectLst/>
                    <a:latin typeface="Symbol" panose="05050102010706020507" pitchFamily="18" charset="2"/>
                    <a:ea typeface="Times New Roman" panose="02020603050405020304" pitchFamily="18" charset="0"/>
                  </a:rPr>
                  <a:t>-</a:t>
                </a:r>
                <a:r>
                  <a:rPr lang="es-ES" sz="3200" dirty="0">
                    <a:solidFill>
                      <a:srgbClr val="002060"/>
                    </a:solidFill>
                    <a:effectLst/>
                    <a:latin typeface="Times New Roman" panose="02020603050405020304" pitchFamily="18" charset="0"/>
                    <a:ea typeface="Times New Roman" panose="02020603050405020304" pitchFamily="18" charset="0"/>
                  </a:rPr>
                  <a:t>155.4</a:t>
                </a:r>
                <a:r>
                  <a:rPr lang="es-ES" sz="3200" baseline="30000" dirty="0">
                    <a:solidFill>
                      <a:srgbClr val="002060"/>
                    </a:solidFill>
                    <a:effectLst/>
                    <a:latin typeface="Times New Roman" panose="02020603050405020304" pitchFamily="18" charset="0"/>
                    <a:ea typeface="Times New Roman" panose="02020603050405020304" pitchFamily="18" charset="0"/>
                  </a:rPr>
                  <a:t>o</a:t>
                </a:r>
                <a:r>
                  <a:rPr lang="es-ES" sz="3200" dirty="0">
                    <a:solidFill>
                      <a:srgbClr val="002060"/>
                    </a:solidFill>
                    <a:effectLst/>
                    <a:latin typeface="Times New Roman" panose="02020603050405020304" pitchFamily="18" charset="0"/>
                    <a:ea typeface="Times New Roman" panose="02020603050405020304" pitchFamily="18" charset="0"/>
                  </a:rPr>
                  <a:t>) </a:t>
                </a:r>
              </a:p>
              <a:p>
                <a:pPr marL="1200150" indent="-1200150">
                  <a:tabLst>
                    <a:tab pos="1200150" algn="l"/>
                    <a:tab pos="3276600" algn="l"/>
                  </a:tabLst>
                </a:pPr>
                <a:r>
                  <a:rPr lang="es-ES" sz="3200" dirty="0">
                    <a:solidFill>
                      <a:srgbClr val="002060"/>
                    </a:solidFill>
                    <a:effectLst/>
                    <a:latin typeface="Times New Roman" panose="02020603050405020304" pitchFamily="18" charset="0"/>
                    <a:ea typeface="Times New Roman" panose="02020603050405020304" pitchFamily="18" charset="0"/>
                  </a:rPr>
                  <a:t>    + 1.44 sin(1500t</a:t>
                </a:r>
                <a:r>
                  <a:rPr lang="en-GB" sz="3200" dirty="0">
                    <a:solidFill>
                      <a:srgbClr val="002060"/>
                    </a:solidFill>
                    <a:effectLst/>
                    <a:latin typeface="Symbol" panose="05050102010706020507" pitchFamily="18" charset="2"/>
                    <a:ea typeface="Times New Roman" panose="02020603050405020304" pitchFamily="18" charset="0"/>
                  </a:rPr>
                  <a:t> -197.5</a:t>
                </a:r>
                <a:r>
                  <a:rPr lang="en-GB" sz="3200" baseline="30000" dirty="0">
                    <a:solidFill>
                      <a:srgbClr val="002060"/>
                    </a:solidFill>
                    <a:effectLst/>
                    <a:latin typeface="Symbol" panose="05050102010706020507" pitchFamily="18" charset="2"/>
                    <a:ea typeface="Times New Roman" panose="02020603050405020304" pitchFamily="18" charset="0"/>
                  </a:rPr>
                  <a:t>o</a:t>
                </a:r>
                <a:r>
                  <a:rPr lang="es-ES" sz="3200" dirty="0">
                    <a:solidFill>
                      <a:srgbClr val="002060"/>
                    </a:solidFill>
                    <a:effectLst/>
                    <a:latin typeface="Times New Roman" panose="02020603050405020304" pitchFamily="18" charset="0"/>
                    <a:ea typeface="Times New Roman" panose="02020603050405020304" pitchFamily="18" charset="0"/>
                  </a:rPr>
                  <a:t>) </a:t>
                </a:r>
                <a:r>
                  <a:rPr lang="en-GB" sz="3200" dirty="0">
                    <a:solidFill>
                      <a:srgbClr val="002060"/>
                    </a:solidFill>
                    <a:effectLst/>
                    <a:latin typeface="Times New Roman" panose="02020603050405020304" pitchFamily="18" charset="0"/>
                    <a:ea typeface="Times New Roman" panose="02020603050405020304" pitchFamily="18" charset="0"/>
                  </a:rPr>
                  <a:t>+ 0.47 sin (2100t –171.4</a:t>
                </a:r>
                <a:r>
                  <a:rPr lang="en-GB" sz="3200" baseline="30000" dirty="0">
                    <a:solidFill>
                      <a:srgbClr val="002060"/>
                    </a:solidFill>
                    <a:effectLst/>
                    <a:latin typeface="Times New Roman" panose="02020603050405020304" pitchFamily="18" charset="0"/>
                    <a:ea typeface="Times New Roman" panose="02020603050405020304" pitchFamily="18" charset="0"/>
                  </a:rPr>
                  <a:t>o</a:t>
                </a:r>
                <a:r>
                  <a:rPr lang="en-GB" sz="3200" dirty="0">
                    <a:solidFill>
                      <a:srgbClr val="002060"/>
                    </a:solidFill>
                    <a:effectLst/>
                    <a:latin typeface="Times New Roman" panose="02020603050405020304" pitchFamily="18" charset="0"/>
                    <a:ea typeface="Times New Roman" panose="02020603050405020304" pitchFamily="18" charset="0"/>
                  </a:rPr>
                  <a:t>)</a:t>
                </a:r>
                <a:endParaRPr lang="en-GB" sz="3200" dirty="0">
                  <a:effectLst/>
                  <a:latin typeface="Times New Roman" panose="02020603050405020304" pitchFamily="18" charset="0"/>
                  <a:ea typeface="Times New Roman" panose="02020603050405020304" pitchFamily="18" charset="0"/>
                </a:endParaRPr>
              </a:p>
            </p:txBody>
          </p:sp>
        </mc:Choice>
        <mc:Fallback xmlns="">
          <p:sp>
            <p:nvSpPr>
              <p:cNvPr id="3" name="Rectangle 2">
                <a:extLst>
                  <a:ext uri="{FF2B5EF4-FFF2-40B4-BE49-F238E27FC236}">
                    <a16:creationId xmlns:a16="http://schemas.microsoft.com/office/drawing/2014/main" id="{26593015-73A7-4281-8CF8-9DE81406998D}"/>
                  </a:ext>
                </a:extLst>
              </p:cNvPr>
              <p:cNvSpPr>
                <a:spLocks noRot="1" noChangeAspect="1" noMove="1" noResize="1" noEditPoints="1" noAdjustHandles="1" noChangeArrowheads="1" noChangeShapeType="1" noTextEdit="1"/>
              </p:cNvSpPr>
              <p:nvPr/>
            </p:nvSpPr>
            <p:spPr>
              <a:xfrm>
                <a:off x="328862" y="609600"/>
                <a:ext cx="11710737" cy="5825506"/>
              </a:xfrm>
              <a:prstGeom prst="rect">
                <a:avLst/>
              </a:prstGeom>
              <a:blipFill>
                <a:blip r:embed="rId5"/>
                <a:stretch>
                  <a:fillRect l="-1353" r="-1874" b="-2406"/>
                </a:stretch>
              </a:blipFill>
            </p:spPr>
            <p:txBody>
              <a:bodyPr/>
              <a:lstStyle/>
              <a:p>
                <a:r>
                  <a:rPr lang="en-GB">
                    <a:noFill/>
                  </a:rPr>
                  <a:t> </a:t>
                </a:r>
              </a:p>
            </p:txBody>
          </p:sp>
        </mc:Fallback>
      </mc:AlternateContent>
    </p:spTree>
    <p:extLst>
      <p:ext uri="{BB962C8B-B14F-4D97-AF65-F5344CB8AC3E}">
        <p14:creationId xmlns:p14="http://schemas.microsoft.com/office/powerpoint/2010/main" val="171909330"/>
      </p:ext>
    </p:extLst>
  </p:cSld>
  <p:clrMapOvr>
    <a:masterClrMapping/>
  </p:clrMapOvr>
  <mc:AlternateContent xmlns:mc="http://schemas.openxmlformats.org/markup-compatibility/2006" xmlns:p14="http://schemas.microsoft.com/office/powerpoint/2010/main">
    <mc:Choice Requires="p14">
      <p:transition spd="slow" p14:dur="2000" advTm="48473"/>
    </mc:Choice>
    <mc:Fallback xmlns="">
      <p:transition spd="slow" advTm="48473"/>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a:bodyPr>
          <a:lstStyle/>
          <a:p>
            <a:r>
              <a:rPr lang="en-GB" dirty="0"/>
              <a:t>Harmonic Analysis of Graphical Waveforms</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14F74D7C-004F-4400-9C9A-560B45BF4E48}"/>
              </a:ext>
            </a:extLst>
          </p:cNvPr>
          <p:cNvGraphicFramePr>
            <a:graphicFrameLocks noChangeAspect="1"/>
          </p:cNvGraphicFramePr>
          <p:nvPr>
            <p:extLst>
              <p:ext uri="{D42A27DB-BD31-4B8C-83A1-F6EECF244321}">
                <p14:modId xmlns:p14="http://schemas.microsoft.com/office/powerpoint/2010/main" val="2459013327"/>
              </p:ext>
            </p:extLst>
          </p:nvPr>
        </p:nvGraphicFramePr>
        <p:xfrm>
          <a:off x="152400" y="3886227"/>
          <a:ext cx="3219450" cy="1352550"/>
        </p:xfrm>
        <a:graphic>
          <a:graphicData uri="http://schemas.openxmlformats.org/presentationml/2006/ole">
            <mc:AlternateContent xmlns:mc="http://schemas.openxmlformats.org/markup-compatibility/2006">
              <mc:Choice xmlns:v="urn:schemas-microsoft-com:vml" Requires="v">
                <p:oleObj r:id="rId3" imgW="926698" imgH="393529" progId="Equation.3">
                  <p:embed/>
                </p:oleObj>
              </mc:Choice>
              <mc:Fallback>
                <p:oleObj r:id="rId3" imgW="926698" imgH="39352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3886227"/>
                        <a:ext cx="3219450" cy="1352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CBC33390-4AA7-4136-BB0D-B4F07FEA4785}"/>
              </a:ext>
            </a:extLst>
          </p:cNvPr>
          <p:cNvGraphicFramePr>
            <a:graphicFrameLocks noChangeAspect="1"/>
          </p:cNvGraphicFramePr>
          <p:nvPr>
            <p:extLst>
              <p:ext uri="{D42A27DB-BD31-4B8C-83A1-F6EECF244321}">
                <p14:modId xmlns:p14="http://schemas.microsoft.com/office/powerpoint/2010/main" val="3289056423"/>
              </p:ext>
            </p:extLst>
          </p:nvPr>
        </p:nvGraphicFramePr>
        <p:xfrm>
          <a:off x="0" y="5183604"/>
          <a:ext cx="10082463" cy="1345074"/>
        </p:xfrm>
        <a:graphic>
          <a:graphicData uri="http://schemas.openxmlformats.org/presentationml/2006/ole">
            <mc:AlternateContent xmlns:mc="http://schemas.openxmlformats.org/markup-compatibility/2006">
              <mc:Choice xmlns:v="urn:schemas-microsoft-com:vml" Requires="v">
                <p:oleObj r:id="rId5" imgW="3886200" imgH="431800" progId="Equation.3">
                  <p:embed/>
                </p:oleObj>
              </mc:Choice>
              <mc:Fallback>
                <p:oleObj r:id="rId5" imgW="3886200" imgH="4318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5183604"/>
                        <a:ext cx="10082463" cy="1345074"/>
                      </a:xfrm>
                      <a:prstGeom prst="rect">
                        <a:avLst/>
                      </a:prstGeom>
                      <a:noFill/>
                    </p:spPr>
                  </p:pic>
                </p:oleObj>
              </mc:Fallback>
            </mc:AlternateContent>
          </a:graphicData>
        </a:graphic>
      </p:graphicFrame>
      <p:sp>
        <p:nvSpPr>
          <p:cNvPr id="5" name="Rectangle 3">
            <a:extLst>
              <a:ext uri="{FF2B5EF4-FFF2-40B4-BE49-F238E27FC236}">
                <a16:creationId xmlns:a16="http://schemas.microsoft.com/office/drawing/2014/main" id="{FD5C047A-ECAD-4BB7-98B2-038DEBAE6FB2}"/>
              </a:ext>
            </a:extLst>
          </p:cNvPr>
          <p:cNvSpPr>
            <a:spLocks noChangeArrowheads="1"/>
          </p:cNvSpPr>
          <p:nvPr/>
        </p:nvSpPr>
        <p:spPr bwMode="auto">
          <a:xfrm>
            <a:off x="92242" y="962424"/>
            <a:ext cx="1183907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Experimental waveforms, are known at discrete points, </a:t>
            </a: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not function of t. </a:t>
            </a:r>
            <a:endParaRPr kumimoji="0" lang="en-GB" altLang="en-US" sz="3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Fourier coefficients need to be obtained graphically.</a:t>
            </a:r>
            <a:endParaRPr kumimoji="0" lang="en-GB" altLang="en-US" sz="3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With discrete data, approximations are made.</a:t>
            </a:r>
            <a:endParaRPr kumimoji="0" lang="en-GB" altLang="en-US" sz="3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Integrals used are replaced by finite summations.</a:t>
            </a:r>
            <a:endParaRPr kumimoji="0" lang="en-GB" altLang="en-US" sz="3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If period T = 2</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a:t>
            </a:r>
            <a:r>
              <a:rPr kumimoji="0" lang="en-GB" altLang="en-US" sz="3200" b="0" i="0" u="none" strike="noStrike" cap="none" normalizeH="0" baseline="0" dirty="0">
                <a:ln>
                  <a:noFill/>
                </a:ln>
                <a:solidFill>
                  <a:srgbClr val="002060"/>
                </a:solidFill>
                <a:effectLst/>
                <a:ea typeface="Times New Roman" panose="02020603050405020304" pitchFamily="18" charset="0"/>
              </a:rPr>
              <a:t>/</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0" u="none" strike="noStrike" cap="none" normalizeH="0" baseline="0" dirty="0">
                <a:ln>
                  <a:noFill/>
                </a:ln>
                <a:solidFill>
                  <a:srgbClr val="002060"/>
                </a:solidFill>
                <a:effectLst/>
                <a:ea typeface="Times New Roman" panose="02020603050405020304" pitchFamily="18" charset="0"/>
              </a:rPr>
              <a:t> is divided into N equal intervals </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D</a:t>
            </a:r>
            <a:r>
              <a:rPr kumimoji="0" lang="en-GB" altLang="en-US" sz="3200" b="0" i="0" u="none" strike="noStrike" cap="none" normalizeH="0" baseline="0" dirty="0">
                <a:ln>
                  <a:noFill/>
                </a:ln>
                <a:solidFill>
                  <a:srgbClr val="002060"/>
                </a:solidFill>
                <a:effectLst/>
                <a:ea typeface="Times New Roman" panose="02020603050405020304" pitchFamily="18" charset="0"/>
              </a:rPr>
              <a:t>t, </a:t>
            </a:r>
            <a:endParaRPr kumimoji="0" lang="en-GB" altLang="en-US" sz="3200" b="0" i="0" u="none" strike="noStrike" cap="none" normalizeH="0" baseline="0" dirty="0">
              <a:ln>
                <a:noFill/>
              </a:ln>
              <a:solidFill>
                <a:schemeClr val="tx1"/>
              </a:solidFill>
              <a:effectLst/>
            </a:endParaRPr>
          </a:p>
        </p:txBody>
      </p:sp>
      <p:sp>
        <p:nvSpPr>
          <p:cNvPr id="6" name="Rectangle 4">
            <a:extLst>
              <a:ext uri="{FF2B5EF4-FFF2-40B4-BE49-F238E27FC236}">
                <a16:creationId xmlns:a16="http://schemas.microsoft.com/office/drawing/2014/main" id="{AF3A5783-3E0D-4C38-822F-D25B24F879CD}"/>
              </a:ext>
            </a:extLst>
          </p:cNvPr>
          <p:cNvSpPr>
            <a:spLocks noChangeArrowheads="1"/>
          </p:cNvSpPr>
          <p:nvPr/>
        </p:nvSpPr>
        <p:spPr bwMode="auto">
          <a:xfrm>
            <a:off x="0" y="36144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1586695657"/>
      </p:ext>
    </p:extLst>
  </p:cSld>
  <p:clrMapOvr>
    <a:masterClrMapping/>
  </p:clrMapOvr>
  <mc:AlternateContent xmlns:mc="http://schemas.openxmlformats.org/markup-compatibility/2006" xmlns:p14="http://schemas.microsoft.com/office/powerpoint/2010/main">
    <mc:Choice Requires="p14">
      <p:transition spd="slow" p14:dur="2000" advTm="84850"/>
    </mc:Choice>
    <mc:Fallback xmlns="">
      <p:transition spd="slow" advTm="8485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94CE951A-539C-4B13-B308-ADD77DC9147F}"/>
              </a:ext>
            </a:extLst>
          </p:cNvPr>
          <p:cNvGraphicFramePr>
            <a:graphicFrameLocks noChangeAspect="1"/>
          </p:cNvGraphicFramePr>
          <p:nvPr>
            <p:extLst>
              <p:ext uri="{D42A27DB-BD31-4B8C-83A1-F6EECF244321}">
                <p14:modId xmlns:p14="http://schemas.microsoft.com/office/powerpoint/2010/main" val="289758078"/>
              </p:ext>
            </p:extLst>
          </p:nvPr>
        </p:nvGraphicFramePr>
        <p:xfrm>
          <a:off x="343401" y="1247775"/>
          <a:ext cx="6229350" cy="1466850"/>
        </p:xfrm>
        <a:graphic>
          <a:graphicData uri="http://schemas.openxmlformats.org/presentationml/2006/ole">
            <mc:AlternateContent xmlns:mc="http://schemas.openxmlformats.org/markup-compatibility/2006">
              <mc:Choice xmlns:v="urn:schemas-microsoft-com:vml" Requires="v">
                <p:oleObj r:id="rId3" imgW="1816100" imgH="419100" progId="Equation.3">
                  <p:embed/>
                </p:oleObj>
              </mc:Choice>
              <mc:Fallback>
                <p:oleObj r:id="rId3" imgW="1816100" imgH="4191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401" y="1247775"/>
                        <a:ext cx="6229350" cy="1466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26060423-F973-4477-8DD1-03EEED94F8EF}"/>
              </a:ext>
            </a:extLst>
          </p:cNvPr>
          <p:cNvGraphicFramePr>
            <a:graphicFrameLocks noChangeAspect="1"/>
          </p:cNvGraphicFramePr>
          <p:nvPr>
            <p:extLst>
              <p:ext uri="{D42A27DB-BD31-4B8C-83A1-F6EECF244321}">
                <p14:modId xmlns:p14="http://schemas.microsoft.com/office/powerpoint/2010/main" val="1545685991"/>
              </p:ext>
            </p:extLst>
          </p:nvPr>
        </p:nvGraphicFramePr>
        <p:xfrm>
          <a:off x="343401" y="2729162"/>
          <a:ext cx="6229350" cy="1466850"/>
        </p:xfrm>
        <a:graphic>
          <a:graphicData uri="http://schemas.openxmlformats.org/presentationml/2006/ole">
            <mc:AlternateContent xmlns:mc="http://schemas.openxmlformats.org/markup-compatibility/2006">
              <mc:Choice xmlns:v="urn:schemas-microsoft-com:vml" Requires="v">
                <p:oleObj r:id="rId5" imgW="1790700" imgH="419100" progId="Equation.3">
                  <p:embed/>
                </p:oleObj>
              </mc:Choice>
              <mc:Fallback>
                <p:oleObj r:id="rId5" imgW="1790700" imgH="4191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3401" y="2729162"/>
                        <a:ext cx="6229350" cy="1466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a:extLst>
              <a:ext uri="{FF2B5EF4-FFF2-40B4-BE49-F238E27FC236}">
                <a16:creationId xmlns:a16="http://schemas.microsoft.com/office/drawing/2014/main" id="{8DB6155A-3EE1-4142-B66D-EC46DB776D13}"/>
              </a:ext>
            </a:extLst>
          </p:cNvPr>
          <p:cNvGraphicFramePr>
            <a:graphicFrameLocks noChangeAspect="1"/>
          </p:cNvGraphicFramePr>
          <p:nvPr>
            <p:extLst>
              <p:ext uri="{D42A27DB-BD31-4B8C-83A1-F6EECF244321}">
                <p14:modId xmlns:p14="http://schemas.microsoft.com/office/powerpoint/2010/main" val="2749550663"/>
              </p:ext>
            </p:extLst>
          </p:nvPr>
        </p:nvGraphicFramePr>
        <p:xfrm>
          <a:off x="505326" y="5276850"/>
          <a:ext cx="2952750" cy="1428750"/>
        </p:xfrm>
        <a:graphic>
          <a:graphicData uri="http://schemas.openxmlformats.org/presentationml/2006/ole">
            <mc:AlternateContent xmlns:mc="http://schemas.openxmlformats.org/markup-compatibility/2006">
              <mc:Choice xmlns:v="urn:schemas-microsoft-com:vml" Requires="v">
                <p:oleObj r:id="rId7" imgW="799753" imgH="393529" progId="Equation.3">
                  <p:embed/>
                </p:oleObj>
              </mc:Choice>
              <mc:Fallback>
                <p:oleObj r:id="rId7" imgW="799753" imgH="393529"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5326" y="5276850"/>
                        <a:ext cx="2952750" cy="142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a:extLst>
              <a:ext uri="{FF2B5EF4-FFF2-40B4-BE49-F238E27FC236}">
                <a16:creationId xmlns:a16="http://schemas.microsoft.com/office/drawing/2014/main" id="{CA748DD4-E90C-48E0-87FF-230B8C1A7BA9}"/>
              </a:ext>
            </a:extLst>
          </p:cNvPr>
          <p:cNvSpPr>
            <a:spLocks noChangeArrowheads="1"/>
          </p:cNvSpPr>
          <p:nvPr/>
        </p:nvSpPr>
        <p:spPr bwMode="auto">
          <a:xfrm>
            <a:off x="505326" y="605522"/>
            <a:ext cx="261486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similarly</a:t>
            </a:r>
            <a:endParaRPr kumimoji="0" lang="en-GB" altLang="en-US" sz="1100" b="0" i="0" u="none" strike="noStrike" cap="none" normalizeH="0" baseline="0" dirty="0">
              <a:ln>
                <a:noFill/>
              </a:ln>
              <a:solidFill>
                <a:schemeClr val="tx1"/>
              </a:solidFill>
              <a:effectLst/>
              <a:latin typeface="Arial" panose="020B0604020202020204" pitchFamily="34" charset="0"/>
            </a:endParaRPr>
          </a:p>
        </p:txBody>
      </p:sp>
      <p:sp>
        <p:nvSpPr>
          <p:cNvPr id="8" name="Rectangle 6">
            <a:extLst>
              <a:ext uri="{FF2B5EF4-FFF2-40B4-BE49-F238E27FC236}">
                <a16:creationId xmlns:a16="http://schemas.microsoft.com/office/drawing/2014/main" id="{007475A6-8CB5-4EC5-A502-7CF1346ED293}"/>
              </a:ext>
            </a:extLst>
          </p:cNvPr>
          <p:cNvSpPr>
            <a:spLocks noChangeArrowheads="1"/>
          </p:cNvSpPr>
          <p:nvPr/>
        </p:nvSpPr>
        <p:spPr bwMode="auto">
          <a:xfrm>
            <a:off x="0" y="19240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2514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2514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2514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2514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2514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2514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2514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2514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2514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2514600" algn="l"/>
              </a:tabLst>
            </a:pPr>
            <a:r>
              <a:rPr kumimoji="0" lang="en-GB" altLang="en-US" sz="36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     	</a:t>
            </a:r>
            <a:endParaRPr kumimoji="0" lang="en-GB" altLang="en-US" sz="11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2514600" algn="l"/>
              </a:tabLst>
            </a:pPr>
            <a:r>
              <a:rPr kumimoji="0" lang="en-GB" altLang="en-US" sz="36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7">
            <a:extLst>
              <a:ext uri="{FF2B5EF4-FFF2-40B4-BE49-F238E27FC236}">
                <a16:creationId xmlns:a16="http://schemas.microsoft.com/office/drawing/2014/main" id="{9C7807D5-B5BC-46FD-AC5A-3D419D979EAE}"/>
              </a:ext>
            </a:extLst>
          </p:cNvPr>
          <p:cNvSpPr>
            <a:spLocks noChangeArrowheads="1"/>
          </p:cNvSpPr>
          <p:nvPr/>
        </p:nvSpPr>
        <p:spPr bwMode="auto">
          <a:xfrm>
            <a:off x="164431" y="3966686"/>
            <a:ext cx="1202756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2514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2514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2514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2514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2514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2514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2514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2514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2514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2514600" algn="l"/>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endParaRPr kumimoji="0" lang="en-GB"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81000" algn="l"/>
                <a:tab pos="2514600" algn="l"/>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Values of cos </a:t>
            </a:r>
            <a:r>
              <a:rPr kumimoji="0" lang="en-GB" altLang="en-US" sz="3600" b="0" i="1"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n</a:t>
            </a:r>
            <a:r>
              <a:rPr kumimoji="0" lang="en-GB" altLang="en-US" sz="3600" b="0" i="1"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rPr>
              <a:t>w</a:t>
            </a:r>
            <a:r>
              <a:rPr kumimoji="0" lang="en-GB" altLang="en-US" sz="3600" b="0" i="1" u="none" strike="noStrike" cap="none" normalizeH="0" baseline="0" dirty="0">
                <a:ln>
                  <a:noFill/>
                </a:ln>
                <a:solidFill>
                  <a:srgbClr val="002060"/>
                </a:solidFill>
                <a:effectLst/>
                <a:ea typeface="Times New Roman" panose="02020603050405020304" pitchFamily="18" charset="0"/>
              </a:rPr>
              <a:t> </a:t>
            </a:r>
            <a:r>
              <a:rPr kumimoji="0" lang="en-GB" altLang="en-US" sz="3600" b="0" i="1" u="none" strike="noStrike" cap="none" normalizeH="0" baseline="0" dirty="0" err="1">
                <a:ln>
                  <a:noFill/>
                </a:ln>
                <a:solidFill>
                  <a:srgbClr val="002060"/>
                </a:solidFill>
                <a:effectLst/>
                <a:ea typeface="Times New Roman" panose="02020603050405020304" pitchFamily="18" charset="0"/>
              </a:rPr>
              <a:t>t</a:t>
            </a:r>
            <a:r>
              <a:rPr kumimoji="0" lang="en-GB" altLang="en-US" sz="3600" b="0" i="1"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p</a:t>
            </a:r>
            <a:r>
              <a:rPr kumimoji="0" lang="en-GB" altLang="en-US" sz="3600" b="0"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and sin </a:t>
            </a:r>
            <a:r>
              <a:rPr kumimoji="0" lang="en-GB" altLang="en-US" sz="3600" b="0" i="1"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n</a:t>
            </a:r>
            <a:r>
              <a:rPr kumimoji="0" lang="en-GB" altLang="en-US" sz="3600" b="0" i="1"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rPr>
              <a:t>w</a:t>
            </a:r>
            <a:r>
              <a:rPr kumimoji="0" lang="en-GB" altLang="en-US" sz="3600" b="0" i="1" u="none" strike="noStrike" cap="none" normalizeH="0" baseline="0" dirty="0">
                <a:ln>
                  <a:noFill/>
                </a:ln>
                <a:solidFill>
                  <a:srgbClr val="002060"/>
                </a:solidFill>
                <a:effectLst/>
                <a:ea typeface="Times New Roman" panose="02020603050405020304" pitchFamily="18" charset="0"/>
              </a:rPr>
              <a:t> </a:t>
            </a:r>
            <a:r>
              <a:rPr kumimoji="0" lang="en-GB" altLang="en-US" sz="3600" b="0" i="1" u="none" strike="noStrike" cap="none" normalizeH="0" baseline="0" dirty="0" err="1">
                <a:ln>
                  <a:noFill/>
                </a:ln>
                <a:solidFill>
                  <a:srgbClr val="002060"/>
                </a:solidFill>
                <a:effectLst/>
                <a:ea typeface="Times New Roman" panose="02020603050405020304" pitchFamily="18" charset="0"/>
              </a:rPr>
              <a:t>t</a:t>
            </a:r>
            <a:r>
              <a:rPr kumimoji="0" lang="en-GB" altLang="en-US" sz="3600" b="0" i="1"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p</a:t>
            </a: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calculated at mid interval.</a:t>
            </a:r>
            <a:r>
              <a:rPr kumimoji="0" lang="en-GB" altLang="en-US" sz="3600" b="0"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endParaRPr kumimoji="0" lang="en-GB"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81000" algn="l"/>
                <a:tab pos="2514600" algn="l"/>
              </a:tabLst>
            </a:pP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1F8E95A3-8BFB-4544-B3C0-C6B80C9201D1}"/>
              </a:ext>
            </a:extLst>
          </p:cNvPr>
          <p:cNvSpPr>
            <a:spLocks noChangeArrowheads="1"/>
          </p:cNvSpPr>
          <p:nvPr/>
        </p:nvSpPr>
        <p:spPr bwMode="auto">
          <a:xfrm>
            <a:off x="0" y="48196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1306876667"/>
      </p:ext>
    </p:extLst>
  </p:cSld>
  <p:clrMapOvr>
    <a:masterClrMapping/>
  </p:clrMapOvr>
  <mc:AlternateContent xmlns:mc="http://schemas.openxmlformats.org/markup-compatibility/2006" xmlns:p14="http://schemas.microsoft.com/office/powerpoint/2010/main">
    <mc:Choice Requires="p14">
      <p:transition spd="slow" p14:dur="2000" advTm="44509"/>
    </mc:Choice>
    <mc:Fallback xmlns="">
      <p:transition spd="slow" advTm="44509"/>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5850769" cy="421377"/>
          </a:xfrm>
        </p:spPr>
        <p:txBody>
          <a:bodyPr>
            <a:normAutofit fontScale="90000"/>
          </a:bodyPr>
          <a:lstStyle/>
          <a:p>
            <a:pPr algn="l"/>
            <a:r>
              <a:rPr lang="en-GB" sz="3600" dirty="0"/>
              <a:t>Example 8</a:t>
            </a:r>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4" name="Rectangle 1">
            <a:extLst>
              <a:ext uri="{FF2B5EF4-FFF2-40B4-BE49-F238E27FC236}">
                <a16:creationId xmlns:a16="http://schemas.microsoft.com/office/drawing/2014/main" id="{845524A0-6DA3-4F8D-9155-47A5D5F48C07}"/>
              </a:ext>
            </a:extLst>
          </p:cNvPr>
          <p:cNvSpPr>
            <a:spLocks noChangeArrowheads="1"/>
          </p:cNvSpPr>
          <p:nvPr/>
        </p:nvSpPr>
        <p:spPr bwMode="auto">
          <a:xfrm>
            <a:off x="152400" y="1007794"/>
            <a:ext cx="730717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Waveform obtained from a graph plotter which has been read off at 24 discrete intervals of time in one period.</a:t>
            </a:r>
            <a:endParaRPr kumimoji="0" lang="en-GB" altLang="en-US" sz="3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Find fundamental and third-harmonic of half-wave symmetric waveform.  </a:t>
            </a:r>
            <a:endParaRPr kumimoji="0" lang="en-GB" altLang="en-US" sz="3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One half-cycle of waveform is defined as discrete ordinates as follows.</a:t>
            </a:r>
            <a:endParaRPr kumimoji="0" lang="en-GB" altLang="en-US" sz="3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2</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 </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ea typeface="Times New Roman" panose="02020603050405020304" pitchFamily="18" charset="0"/>
              </a:rPr>
              <a:t> 360</a:t>
            </a:r>
            <a:r>
              <a:rPr kumimoji="0" lang="en-GB" altLang="en-US" sz="3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o</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 </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ea typeface="Times New Roman" panose="02020603050405020304" pitchFamily="18" charset="0"/>
              </a:rPr>
              <a:t> 24 divisions, </a:t>
            </a:r>
            <a:endParaRPr kumimoji="0" lang="en-GB" altLang="en-US" sz="32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1 div= 15</a:t>
            </a:r>
            <a:r>
              <a:rPr kumimoji="0" lang="en-GB" altLang="en-US" sz="3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o</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 </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q</a:t>
            </a:r>
            <a:endPar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endParaRPr>
          </a:p>
        </p:txBody>
      </p:sp>
      <p:sp>
        <p:nvSpPr>
          <p:cNvPr id="6" name="Text Box 899">
            <a:extLst>
              <a:ext uri="{FF2B5EF4-FFF2-40B4-BE49-F238E27FC236}">
                <a16:creationId xmlns:a16="http://schemas.microsoft.com/office/drawing/2014/main" id="{2B36DDF0-FE88-404F-BBC3-A3EE411FD1DD}"/>
              </a:ext>
            </a:extLst>
          </p:cNvPr>
          <p:cNvSpPr txBox="1">
            <a:spLocks noChangeAspect="1" noChangeArrowheads="1"/>
          </p:cNvSpPr>
          <p:nvPr/>
        </p:nvSpPr>
        <p:spPr bwMode="auto">
          <a:xfrm>
            <a:off x="7885430" y="4403876"/>
            <a:ext cx="4306570" cy="456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600">
                <a:solidFill>
                  <a:srgbClr val="002060"/>
                </a:solidFill>
                <a:effectLst/>
                <a:latin typeface="Times New Roman" panose="02020603050405020304" pitchFamily="18" charset="0"/>
                <a:ea typeface="Times New Roman" panose="02020603050405020304" pitchFamily="18" charset="0"/>
              </a:rPr>
              <a:t>Figure 23 – discrete waveform</a:t>
            </a:r>
            <a:endParaRPr lang="en-GB" sz="1200">
              <a:effectLst/>
              <a:latin typeface="Times New Roman" panose="02020603050405020304" pitchFamily="18" charset="0"/>
              <a:ea typeface="Times New Roman" panose="02020603050405020304" pitchFamily="18" charset="0"/>
            </a:endParaRPr>
          </a:p>
        </p:txBody>
      </p:sp>
      <p:grpSp>
        <p:nvGrpSpPr>
          <p:cNvPr id="7" name="Group 6">
            <a:extLst>
              <a:ext uri="{FF2B5EF4-FFF2-40B4-BE49-F238E27FC236}">
                <a16:creationId xmlns:a16="http://schemas.microsoft.com/office/drawing/2014/main" id="{E193AE91-2942-4601-8184-17F2DC1EE3E6}"/>
              </a:ext>
            </a:extLst>
          </p:cNvPr>
          <p:cNvGrpSpPr>
            <a:grpSpLocks noChangeAspect="1"/>
          </p:cNvGrpSpPr>
          <p:nvPr/>
        </p:nvGrpSpPr>
        <p:grpSpPr bwMode="auto">
          <a:xfrm>
            <a:off x="7576030" y="1030977"/>
            <a:ext cx="4306570" cy="3200400"/>
            <a:chOff x="6622" y="439"/>
            <a:chExt cx="9236" cy="6297"/>
          </a:xfrm>
        </p:grpSpPr>
        <p:cxnSp>
          <p:nvCxnSpPr>
            <p:cNvPr id="8" name="Line 868">
              <a:extLst>
                <a:ext uri="{FF2B5EF4-FFF2-40B4-BE49-F238E27FC236}">
                  <a16:creationId xmlns:a16="http://schemas.microsoft.com/office/drawing/2014/main" id="{586822ED-1E6D-4310-AC50-261432EE601D}"/>
                </a:ext>
              </a:extLst>
            </p:cNvPr>
            <p:cNvCxnSpPr>
              <a:cxnSpLocks noChangeAspect="1" noChangeShapeType="1"/>
            </p:cNvCxnSpPr>
            <p:nvPr/>
          </p:nvCxnSpPr>
          <p:spPr bwMode="auto">
            <a:xfrm>
              <a:off x="7587" y="439"/>
              <a:ext cx="0" cy="6297"/>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9" name="Line 869">
              <a:extLst>
                <a:ext uri="{FF2B5EF4-FFF2-40B4-BE49-F238E27FC236}">
                  <a16:creationId xmlns:a16="http://schemas.microsoft.com/office/drawing/2014/main" id="{C2B87EF2-3FC7-4FC3-ADA4-9AE0D168F942}"/>
                </a:ext>
              </a:extLst>
            </p:cNvPr>
            <p:cNvCxnSpPr>
              <a:cxnSpLocks noChangeAspect="1" noChangeShapeType="1"/>
            </p:cNvCxnSpPr>
            <p:nvPr/>
          </p:nvCxnSpPr>
          <p:spPr bwMode="auto">
            <a:xfrm>
              <a:off x="7587" y="3588"/>
              <a:ext cx="8271"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grpSp>
          <p:nvGrpSpPr>
            <p:cNvPr id="10" name="Group 9">
              <a:extLst>
                <a:ext uri="{FF2B5EF4-FFF2-40B4-BE49-F238E27FC236}">
                  <a16:creationId xmlns:a16="http://schemas.microsoft.com/office/drawing/2014/main" id="{2538B794-DE23-4EF4-A8CB-A079BA1F80A2}"/>
                </a:ext>
              </a:extLst>
            </p:cNvPr>
            <p:cNvGrpSpPr>
              <a:grpSpLocks noChangeAspect="1"/>
            </p:cNvGrpSpPr>
            <p:nvPr/>
          </p:nvGrpSpPr>
          <p:grpSpPr bwMode="auto">
            <a:xfrm>
              <a:off x="7587" y="760"/>
              <a:ext cx="7352" cy="5658"/>
              <a:chOff x="6818" y="3166"/>
              <a:chExt cx="2880" cy="2264"/>
            </a:xfrm>
          </p:grpSpPr>
          <p:sp>
            <p:nvSpPr>
              <p:cNvPr id="38" name="Freeform 871">
                <a:extLst>
                  <a:ext uri="{FF2B5EF4-FFF2-40B4-BE49-F238E27FC236}">
                    <a16:creationId xmlns:a16="http://schemas.microsoft.com/office/drawing/2014/main" id="{53C8354B-E1BB-485F-A291-01776B56BB2C}"/>
                  </a:ext>
                </a:extLst>
              </p:cNvPr>
              <p:cNvSpPr>
                <a:spLocks noChangeAspect="1"/>
              </p:cNvSpPr>
              <p:nvPr/>
            </p:nvSpPr>
            <p:spPr bwMode="auto">
              <a:xfrm>
                <a:off x="6818" y="3166"/>
                <a:ext cx="1440" cy="1132"/>
              </a:xfrm>
              <a:custGeom>
                <a:avLst/>
                <a:gdLst>
                  <a:gd name="T0" fmla="*/ 0 w 1440"/>
                  <a:gd name="T1" fmla="*/ 1132 h 1132"/>
                  <a:gd name="T2" fmla="*/ 120 w 1440"/>
                  <a:gd name="T3" fmla="*/ 772 h 1132"/>
                  <a:gd name="T4" fmla="*/ 360 w 1440"/>
                  <a:gd name="T5" fmla="*/ 592 h 1132"/>
                  <a:gd name="T6" fmla="*/ 562 w 1440"/>
                  <a:gd name="T7" fmla="*/ 554 h 1132"/>
                  <a:gd name="T8" fmla="*/ 832 w 1440"/>
                  <a:gd name="T9" fmla="*/ 404 h 1132"/>
                  <a:gd name="T10" fmla="*/ 1012 w 1440"/>
                  <a:gd name="T11" fmla="*/ 29 h 1132"/>
                  <a:gd name="T12" fmla="*/ 1200 w 1440"/>
                  <a:gd name="T13" fmla="*/ 232 h 1132"/>
                  <a:gd name="T14" fmla="*/ 1440 w 1440"/>
                  <a:gd name="T15" fmla="*/ 1132 h 1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0" h="1132">
                    <a:moveTo>
                      <a:pt x="0" y="1132"/>
                    </a:moveTo>
                    <a:cubicBezTo>
                      <a:pt x="30" y="997"/>
                      <a:pt x="60" y="862"/>
                      <a:pt x="120" y="772"/>
                    </a:cubicBezTo>
                    <a:cubicBezTo>
                      <a:pt x="180" y="682"/>
                      <a:pt x="286" y="628"/>
                      <a:pt x="360" y="592"/>
                    </a:cubicBezTo>
                    <a:cubicBezTo>
                      <a:pt x="434" y="556"/>
                      <a:pt x="483" y="585"/>
                      <a:pt x="562" y="554"/>
                    </a:cubicBezTo>
                    <a:cubicBezTo>
                      <a:pt x="641" y="523"/>
                      <a:pt x="757" y="491"/>
                      <a:pt x="832" y="404"/>
                    </a:cubicBezTo>
                    <a:cubicBezTo>
                      <a:pt x="907" y="317"/>
                      <a:pt x="951" y="58"/>
                      <a:pt x="1012" y="29"/>
                    </a:cubicBezTo>
                    <a:cubicBezTo>
                      <a:pt x="1073" y="0"/>
                      <a:pt x="1129" y="48"/>
                      <a:pt x="1200" y="232"/>
                    </a:cubicBezTo>
                    <a:cubicBezTo>
                      <a:pt x="1271" y="416"/>
                      <a:pt x="1360" y="772"/>
                      <a:pt x="1440" y="1132"/>
                    </a:cubicBezTo>
                  </a:path>
                </a:pathLst>
              </a:cu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9" name="Freeform 872">
                <a:extLst>
                  <a:ext uri="{FF2B5EF4-FFF2-40B4-BE49-F238E27FC236}">
                    <a16:creationId xmlns:a16="http://schemas.microsoft.com/office/drawing/2014/main" id="{DEAB39B4-D0D1-4CB1-BA58-7BA469FE30E2}"/>
                  </a:ext>
                </a:extLst>
              </p:cNvPr>
              <p:cNvSpPr>
                <a:spLocks noChangeAspect="1"/>
              </p:cNvSpPr>
              <p:nvPr/>
            </p:nvSpPr>
            <p:spPr bwMode="auto">
              <a:xfrm flipV="1">
                <a:off x="8258" y="4298"/>
                <a:ext cx="1440" cy="1132"/>
              </a:xfrm>
              <a:custGeom>
                <a:avLst/>
                <a:gdLst>
                  <a:gd name="T0" fmla="*/ 0 w 1440"/>
                  <a:gd name="T1" fmla="*/ 1132 h 1132"/>
                  <a:gd name="T2" fmla="*/ 120 w 1440"/>
                  <a:gd name="T3" fmla="*/ 772 h 1132"/>
                  <a:gd name="T4" fmla="*/ 360 w 1440"/>
                  <a:gd name="T5" fmla="*/ 592 h 1132"/>
                  <a:gd name="T6" fmla="*/ 562 w 1440"/>
                  <a:gd name="T7" fmla="*/ 554 h 1132"/>
                  <a:gd name="T8" fmla="*/ 832 w 1440"/>
                  <a:gd name="T9" fmla="*/ 404 h 1132"/>
                  <a:gd name="T10" fmla="*/ 1012 w 1440"/>
                  <a:gd name="T11" fmla="*/ 29 h 1132"/>
                  <a:gd name="T12" fmla="*/ 1200 w 1440"/>
                  <a:gd name="T13" fmla="*/ 232 h 1132"/>
                  <a:gd name="T14" fmla="*/ 1440 w 1440"/>
                  <a:gd name="T15" fmla="*/ 1132 h 1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0" h="1132">
                    <a:moveTo>
                      <a:pt x="0" y="1132"/>
                    </a:moveTo>
                    <a:cubicBezTo>
                      <a:pt x="30" y="997"/>
                      <a:pt x="60" y="862"/>
                      <a:pt x="120" y="772"/>
                    </a:cubicBezTo>
                    <a:cubicBezTo>
                      <a:pt x="180" y="682"/>
                      <a:pt x="286" y="628"/>
                      <a:pt x="360" y="592"/>
                    </a:cubicBezTo>
                    <a:cubicBezTo>
                      <a:pt x="434" y="556"/>
                      <a:pt x="483" y="585"/>
                      <a:pt x="562" y="554"/>
                    </a:cubicBezTo>
                    <a:cubicBezTo>
                      <a:pt x="641" y="523"/>
                      <a:pt x="757" y="491"/>
                      <a:pt x="832" y="404"/>
                    </a:cubicBezTo>
                    <a:cubicBezTo>
                      <a:pt x="907" y="317"/>
                      <a:pt x="951" y="58"/>
                      <a:pt x="1012" y="29"/>
                    </a:cubicBezTo>
                    <a:cubicBezTo>
                      <a:pt x="1073" y="0"/>
                      <a:pt x="1129" y="48"/>
                      <a:pt x="1200" y="232"/>
                    </a:cubicBezTo>
                    <a:cubicBezTo>
                      <a:pt x="1271" y="416"/>
                      <a:pt x="1360" y="772"/>
                      <a:pt x="1440" y="1132"/>
                    </a:cubicBezTo>
                  </a:path>
                </a:pathLst>
              </a:cu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cxnSp>
          <p:nvCxnSpPr>
            <p:cNvPr id="11" name="Line 873">
              <a:extLst>
                <a:ext uri="{FF2B5EF4-FFF2-40B4-BE49-F238E27FC236}">
                  <a16:creationId xmlns:a16="http://schemas.microsoft.com/office/drawing/2014/main" id="{E5F362CC-5A3A-467E-BCEE-52F205F16844}"/>
                </a:ext>
              </a:extLst>
            </p:cNvPr>
            <p:cNvCxnSpPr>
              <a:cxnSpLocks noChangeAspect="1" noChangeShapeType="1"/>
            </p:cNvCxnSpPr>
            <p:nvPr/>
          </p:nvCxnSpPr>
          <p:spPr bwMode="auto">
            <a:xfrm>
              <a:off x="7894"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12" name="Line 874">
              <a:extLst>
                <a:ext uri="{FF2B5EF4-FFF2-40B4-BE49-F238E27FC236}">
                  <a16:creationId xmlns:a16="http://schemas.microsoft.com/office/drawing/2014/main" id="{FFA35B09-38E6-4871-85DE-8D71D36238D5}"/>
                </a:ext>
              </a:extLst>
            </p:cNvPr>
            <p:cNvCxnSpPr>
              <a:cxnSpLocks noChangeAspect="1" noChangeShapeType="1"/>
            </p:cNvCxnSpPr>
            <p:nvPr/>
          </p:nvCxnSpPr>
          <p:spPr bwMode="auto">
            <a:xfrm>
              <a:off x="8200"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13" name="Line 875">
              <a:extLst>
                <a:ext uri="{FF2B5EF4-FFF2-40B4-BE49-F238E27FC236}">
                  <a16:creationId xmlns:a16="http://schemas.microsoft.com/office/drawing/2014/main" id="{CC560F92-BEED-46EB-9EDE-CD2CFE00D1DA}"/>
                </a:ext>
              </a:extLst>
            </p:cNvPr>
            <p:cNvCxnSpPr>
              <a:cxnSpLocks noChangeAspect="1" noChangeShapeType="1"/>
            </p:cNvCxnSpPr>
            <p:nvPr/>
          </p:nvCxnSpPr>
          <p:spPr bwMode="auto">
            <a:xfrm>
              <a:off x="8506"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14" name="Line 876">
              <a:extLst>
                <a:ext uri="{FF2B5EF4-FFF2-40B4-BE49-F238E27FC236}">
                  <a16:creationId xmlns:a16="http://schemas.microsoft.com/office/drawing/2014/main" id="{50B662B2-B8B5-401C-9DE6-7B188F85BBC2}"/>
                </a:ext>
              </a:extLst>
            </p:cNvPr>
            <p:cNvCxnSpPr>
              <a:cxnSpLocks noChangeAspect="1" noChangeShapeType="1"/>
            </p:cNvCxnSpPr>
            <p:nvPr/>
          </p:nvCxnSpPr>
          <p:spPr bwMode="auto">
            <a:xfrm>
              <a:off x="8813"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15" name="Line 877">
              <a:extLst>
                <a:ext uri="{FF2B5EF4-FFF2-40B4-BE49-F238E27FC236}">
                  <a16:creationId xmlns:a16="http://schemas.microsoft.com/office/drawing/2014/main" id="{8D33291E-60B0-4BE4-91EE-A06D1E8E5DAD}"/>
                </a:ext>
              </a:extLst>
            </p:cNvPr>
            <p:cNvCxnSpPr>
              <a:cxnSpLocks noChangeAspect="1" noChangeShapeType="1"/>
            </p:cNvCxnSpPr>
            <p:nvPr/>
          </p:nvCxnSpPr>
          <p:spPr bwMode="auto">
            <a:xfrm>
              <a:off x="9119"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16" name="Line 878">
              <a:extLst>
                <a:ext uri="{FF2B5EF4-FFF2-40B4-BE49-F238E27FC236}">
                  <a16:creationId xmlns:a16="http://schemas.microsoft.com/office/drawing/2014/main" id="{65821B45-04AB-4CCB-B666-25D0F41AB25D}"/>
                </a:ext>
              </a:extLst>
            </p:cNvPr>
            <p:cNvCxnSpPr>
              <a:cxnSpLocks noChangeAspect="1" noChangeShapeType="1"/>
            </p:cNvCxnSpPr>
            <p:nvPr/>
          </p:nvCxnSpPr>
          <p:spPr bwMode="auto">
            <a:xfrm>
              <a:off x="9425"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17" name="Line 879">
              <a:extLst>
                <a:ext uri="{FF2B5EF4-FFF2-40B4-BE49-F238E27FC236}">
                  <a16:creationId xmlns:a16="http://schemas.microsoft.com/office/drawing/2014/main" id="{FA754245-6BEC-4078-95D9-51E30EC42ECE}"/>
                </a:ext>
              </a:extLst>
            </p:cNvPr>
            <p:cNvCxnSpPr>
              <a:cxnSpLocks noChangeAspect="1" noChangeShapeType="1"/>
            </p:cNvCxnSpPr>
            <p:nvPr/>
          </p:nvCxnSpPr>
          <p:spPr bwMode="auto">
            <a:xfrm>
              <a:off x="9732"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18" name="Line 880">
              <a:extLst>
                <a:ext uri="{FF2B5EF4-FFF2-40B4-BE49-F238E27FC236}">
                  <a16:creationId xmlns:a16="http://schemas.microsoft.com/office/drawing/2014/main" id="{BF5A1094-E66E-486C-90AE-8CFFA3A518AB}"/>
                </a:ext>
              </a:extLst>
            </p:cNvPr>
            <p:cNvCxnSpPr>
              <a:cxnSpLocks noChangeAspect="1" noChangeShapeType="1"/>
            </p:cNvCxnSpPr>
            <p:nvPr/>
          </p:nvCxnSpPr>
          <p:spPr bwMode="auto">
            <a:xfrm>
              <a:off x="10038"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19" name="Line 881">
              <a:extLst>
                <a:ext uri="{FF2B5EF4-FFF2-40B4-BE49-F238E27FC236}">
                  <a16:creationId xmlns:a16="http://schemas.microsoft.com/office/drawing/2014/main" id="{1ACDFDE5-C3E2-4999-9CC6-0BC1BFC1B56C}"/>
                </a:ext>
              </a:extLst>
            </p:cNvPr>
            <p:cNvCxnSpPr>
              <a:cxnSpLocks noChangeAspect="1" noChangeShapeType="1"/>
            </p:cNvCxnSpPr>
            <p:nvPr/>
          </p:nvCxnSpPr>
          <p:spPr bwMode="auto">
            <a:xfrm>
              <a:off x="10344"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20" name="Line 882">
              <a:extLst>
                <a:ext uri="{FF2B5EF4-FFF2-40B4-BE49-F238E27FC236}">
                  <a16:creationId xmlns:a16="http://schemas.microsoft.com/office/drawing/2014/main" id="{F682E2F5-3AB6-4AC4-A075-32A580A2B5F0}"/>
                </a:ext>
              </a:extLst>
            </p:cNvPr>
            <p:cNvCxnSpPr>
              <a:cxnSpLocks noChangeAspect="1" noChangeShapeType="1"/>
            </p:cNvCxnSpPr>
            <p:nvPr/>
          </p:nvCxnSpPr>
          <p:spPr bwMode="auto">
            <a:xfrm>
              <a:off x="10651"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21" name="Line 883">
              <a:extLst>
                <a:ext uri="{FF2B5EF4-FFF2-40B4-BE49-F238E27FC236}">
                  <a16:creationId xmlns:a16="http://schemas.microsoft.com/office/drawing/2014/main" id="{A6EEF3AD-BD3D-4BF0-B3D2-8DC9E9876D0B}"/>
                </a:ext>
              </a:extLst>
            </p:cNvPr>
            <p:cNvCxnSpPr>
              <a:cxnSpLocks noChangeAspect="1" noChangeShapeType="1"/>
            </p:cNvCxnSpPr>
            <p:nvPr/>
          </p:nvCxnSpPr>
          <p:spPr bwMode="auto">
            <a:xfrm>
              <a:off x="10957"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22" name="Line 884">
              <a:extLst>
                <a:ext uri="{FF2B5EF4-FFF2-40B4-BE49-F238E27FC236}">
                  <a16:creationId xmlns:a16="http://schemas.microsoft.com/office/drawing/2014/main" id="{8D808C6B-A2B4-43AC-A92A-F4B9D1A55BE6}"/>
                </a:ext>
              </a:extLst>
            </p:cNvPr>
            <p:cNvCxnSpPr>
              <a:cxnSpLocks noChangeAspect="1" noChangeShapeType="1"/>
            </p:cNvCxnSpPr>
            <p:nvPr/>
          </p:nvCxnSpPr>
          <p:spPr bwMode="auto">
            <a:xfrm>
              <a:off x="11263"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23" name="Line 885">
              <a:extLst>
                <a:ext uri="{FF2B5EF4-FFF2-40B4-BE49-F238E27FC236}">
                  <a16:creationId xmlns:a16="http://schemas.microsoft.com/office/drawing/2014/main" id="{26A5E664-3957-4D2F-B27A-6B7D593D653A}"/>
                </a:ext>
              </a:extLst>
            </p:cNvPr>
            <p:cNvCxnSpPr>
              <a:cxnSpLocks noChangeAspect="1" noChangeShapeType="1"/>
            </p:cNvCxnSpPr>
            <p:nvPr/>
          </p:nvCxnSpPr>
          <p:spPr bwMode="auto">
            <a:xfrm>
              <a:off x="11570"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24" name="Line 886">
              <a:extLst>
                <a:ext uri="{FF2B5EF4-FFF2-40B4-BE49-F238E27FC236}">
                  <a16:creationId xmlns:a16="http://schemas.microsoft.com/office/drawing/2014/main" id="{9EF20811-2C8A-49A8-BC53-6732C3FC15F6}"/>
                </a:ext>
              </a:extLst>
            </p:cNvPr>
            <p:cNvCxnSpPr>
              <a:cxnSpLocks noChangeAspect="1" noChangeShapeType="1"/>
            </p:cNvCxnSpPr>
            <p:nvPr/>
          </p:nvCxnSpPr>
          <p:spPr bwMode="auto">
            <a:xfrm>
              <a:off x="11876"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25" name="Line 887">
              <a:extLst>
                <a:ext uri="{FF2B5EF4-FFF2-40B4-BE49-F238E27FC236}">
                  <a16:creationId xmlns:a16="http://schemas.microsoft.com/office/drawing/2014/main" id="{80114D3A-D8BD-46E3-A73B-47338A30B740}"/>
                </a:ext>
              </a:extLst>
            </p:cNvPr>
            <p:cNvCxnSpPr>
              <a:cxnSpLocks noChangeAspect="1" noChangeShapeType="1"/>
            </p:cNvCxnSpPr>
            <p:nvPr/>
          </p:nvCxnSpPr>
          <p:spPr bwMode="auto">
            <a:xfrm>
              <a:off x="12182"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26" name="Line 888">
              <a:extLst>
                <a:ext uri="{FF2B5EF4-FFF2-40B4-BE49-F238E27FC236}">
                  <a16:creationId xmlns:a16="http://schemas.microsoft.com/office/drawing/2014/main" id="{F3AC0866-D6A8-485F-9F9F-0B716BB62AD0}"/>
                </a:ext>
              </a:extLst>
            </p:cNvPr>
            <p:cNvCxnSpPr>
              <a:cxnSpLocks noChangeAspect="1" noChangeShapeType="1"/>
            </p:cNvCxnSpPr>
            <p:nvPr/>
          </p:nvCxnSpPr>
          <p:spPr bwMode="auto">
            <a:xfrm>
              <a:off x="12488"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27" name="Line 889">
              <a:extLst>
                <a:ext uri="{FF2B5EF4-FFF2-40B4-BE49-F238E27FC236}">
                  <a16:creationId xmlns:a16="http://schemas.microsoft.com/office/drawing/2014/main" id="{3AFC00D6-4EB2-41D9-8150-385A5FFEEF61}"/>
                </a:ext>
              </a:extLst>
            </p:cNvPr>
            <p:cNvCxnSpPr>
              <a:cxnSpLocks noChangeAspect="1" noChangeShapeType="1"/>
            </p:cNvCxnSpPr>
            <p:nvPr/>
          </p:nvCxnSpPr>
          <p:spPr bwMode="auto">
            <a:xfrm>
              <a:off x="12795"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28" name="Line 890">
              <a:extLst>
                <a:ext uri="{FF2B5EF4-FFF2-40B4-BE49-F238E27FC236}">
                  <a16:creationId xmlns:a16="http://schemas.microsoft.com/office/drawing/2014/main" id="{A7869E94-0379-4A05-9A39-6B6F5F126EA7}"/>
                </a:ext>
              </a:extLst>
            </p:cNvPr>
            <p:cNvCxnSpPr>
              <a:cxnSpLocks noChangeAspect="1" noChangeShapeType="1"/>
            </p:cNvCxnSpPr>
            <p:nvPr/>
          </p:nvCxnSpPr>
          <p:spPr bwMode="auto">
            <a:xfrm>
              <a:off x="13101"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29" name="Line 891">
              <a:extLst>
                <a:ext uri="{FF2B5EF4-FFF2-40B4-BE49-F238E27FC236}">
                  <a16:creationId xmlns:a16="http://schemas.microsoft.com/office/drawing/2014/main" id="{B397BFC3-70CB-46AD-89ED-E8BEFE60A42E}"/>
                </a:ext>
              </a:extLst>
            </p:cNvPr>
            <p:cNvCxnSpPr>
              <a:cxnSpLocks noChangeAspect="1" noChangeShapeType="1"/>
            </p:cNvCxnSpPr>
            <p:nvPr/>
          </p:nvCxnSpPr>
          <p:spPr bwMode="auto">
            <a:xfrm>
              <a:off x="13407"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30" name="Line 892">
              <a:extLst>
                <a:ext uri="{FF2B5EF4-FFF2-40B4-BE49-F238E27FC236}">
                  <a16:creationId xmlns:a16="http://schemas.microsoft.com/office/drawing/2014/main" id="{D944BF8D-6756-438F-B682-3385D4C277E2}"/>
                </a:ext>
              </a:extLst>
            </p:cNvPr>
            <p:cNvCxnSpPr>
              <a:cxnSpLocks noChangeAspect="1" noChangeShapeType="1"/>
            </p:cNvCxnSpPr>
            <p:nvPr/>
          </p:nvCxnSpPr>
          <p:spPr bwMode="auto">
            <a:xfrm>
              <a:off x="13714"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31" name="Line 893">
              <a:extLst>
                <a:ext uri="{FF2B5EF4-FFF2-40B4-BE49-F238E27FC236}">
                  <a16:creationId xmlns:a16="http://schemas.microsoft.com/office/drawing/2014/main" id="{791D9BF4-E03E-40EB-8028-B1D6C1165890}"/>
                </a:ext>
              </a:extLst>
            </p:cNvPr>
            <p:cNvCxnSpPr>
              <a:cxnSpLocks noChangeAspect="1" noChangeShapeType="1"/>
            </p:cNvCxnSpPr>
            <p:nvPr/>
          </p:nvCxnSpPr>
          <p:spPr bwMode="auto">
            <a:xfrm>
              <a:off x="14020"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32" name="Line 894">
              <a:extLst>
                <a:ext uri="{FF2B5EF4-FFF2-40B4-BE49-F238E27FC236}">
                  <a16:creationId xmlns:a16="http://schemas.microsoft.com/office/drawing/2014/main" id="{A93C2186-7FF9-4F78-BAED-375260ACB9E2}"/>
                </a:ext>
              </a:extLst>
            </p:cNvPr>
            <p:cNvCxnSpPr>
              <a:cxnSpLocks noChangeAspect="1" noChangeShapeType="1"/>
            </p:cNvCxnSpPr>
            <p:nvPr/>
          </p:nvCxnSpPr>
          <p:spPr bwMode="auto">
            <a:xfrm>
              <a:off x="14326"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33" name="Line 895">
              <a:extLst>
                <a:ext uri="{FF2B5EF4-FFF2-40B4-BE49-F238E27FC236}">
                  <a16:creationId xmlns:a16="http://schemas.microsoft.com/office/drawing/2014/main" id="{956AA5DB-D005-4D6B-B58F-9C97B67F3857}"/>
                </a:ext>
              </a:extLst>
            </p:cNvPr>
            <p:cNvCxnSpPr>
              <a:cxnSpLocks noChangeAspect="1" noChangeShapeType="1"/>
            </p:cNvCxnSpPr>
            <p:nvPr/>
          </p:nvCxnSpPr>
          <p:spPr bwMode="auto">
            <a:xfrm>
              <a:off x="14633"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cxnSp>
          <p:nvCxnSpPr>
            <p:cNvPr id="35" name="Line 896">
              <a:extLst>
                <a:ext uri="{FF2B5EF4-FFF2-40B4-BE49-F238E27FC236}">
                  <a16:creationId xmlns:a16="http://schemas.microsoft.com/office/drawing/2014/main" id="{B21D2401-4E40-483D-83BE-0AF148862B78}"/>
                </a:ext>
              </a:extLst>
            </p:cNvPr>
            <p:cNvCxnSpPr>
              <a:cxnSpLocks noChangeAspect="1" noChangeShapeType="1"/>
            </p:cNvCxnSpPr>
            <p:nvPr/>
          </p:nvCxnSpPr>
          <p:spPr bwMode="auto">
            <a:xfrm>
              <a:off x="14939" y="439"/>
              <a:ext cx="0" cy="6297"/>
            </a:xfrm>
            <a:prstGeom prst="line">
              <a:avLst/>
            </a:prstGeom>
            <a:noFill/>
            <a:ln w="28575">
              <a:solidFill>
                <a:srgbClr val="808080"/>
              </a:solidFill>
              <a:prstDash val="dash"/>
              <a:round/>
              <a:headEnd/>
              <a:tailEnd/>
            </a:ln>
            <a:extLst>
              <a:ext uri="{909E8E84-426E-40DD-AFC4-6F175D3DCCD1}">
                <a14:hiddenFill xmlns:a14="http://schemas.microsoft.com/office/drawing/2010/main">
                  <a:noFill/>
                </a14:hiddenFill>
              </a:ext>
            </a:extLst>
          </p:spPr>
        </p:cxnSp>
        <p:sp>
          <p:nvSpPr>
            <p:cNvPr id="36" name="Text Box 897">
              <a:extLst>
                <a:ext uri="{FF2B5EF4-FFF2-40B4-BE49-F238E27FC236}">
                  <a16:creationId xmlns:a16="http://schemas.microsoft.com/office/drawing/2014/main" id="{8EE7C52A-6A26-45F3-A1AC-1375B9A19E62}"/>
                </a:ext>
              </a:extLst>
            </p:cNvPr>
            <p:cNvSpPr txBox="1">
              <a:spLocks noChangeAspect="1" noChangeArrowheads="1"/>
            </p:cNvSpPr>
            <p:nvPr/>
          </p:nvSpPr>
          <p:spPr bwMode="auto">
            <a:xfrm>
              <a:off x="6622" y="439"/>
              <a:ext cx="1225" cy="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200">
                  <a:solidFill>
                    <a:srgbClr val="002060"/>
                  </a:solidFill>
                  <a:effectLst/>
                  <a:latin typeface="Times New Roman" panose="02020603050405020304" pitchFamily="18" charset="0"/>
                  <a:ea typeface="Times New Roman" panose="02020603050405020304" pitchFamily="18" charset="0"/>
                </a:rPr>
                <a:t>i(t)</a:t>
              </a:r>
              <a:endParaRPr lang="en-GB" sz="1200">
                <a:effectLst/>
                <a:latin typeface="Times New Roman" panose="02020603050405020304" pitchFamily="18" charset="0"/>
                <a:ea typeface="Times New Roman" panose="02020603050405020304" pitchFamily="18" charset="0"/>
              </a:endParaRPr>
            </a:p>
          </p:txBody>
        </p:sp>
        <p:sp>
          <p:nvSpPr>
            <p:cNvPr id="37" name="Text Box 898">
              <a:extLst>
                <a:ext uri="{FF2B5EF4-FFF2-40B4-BE49-F238E27FC236}">
                  <a16:creationId xmlns:a16="http://schemas.microsoft.com/office/drawing/2014/main" id="{746CCEDF-FA62-4468-9B03-804F98B9783B}"/>
                </a:ext>
              </a:extLst>
            </p:cNvPr>
            <p:cNvSpPr txBox="1">
              <a:spLocks noChangeAspect="1" noChangeArrowheads="1"/>
            </p:cNvSpPr>
            <p:nvPr/>
          </p:nvSpPr>
          <p:spPr bwMode="auto">
            <a:xfrm>
              <a:off x="15318" y="3588"/>
              <a:ext cx="442" cy="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200">
                  <a:solidFill>
                    <a:srgbClr val="002060"/>
                  </a:solidFill>
                  <a:effectLst/>
                  <a:latin typeface="Times New Roman" panose="02020603050405020304" pitchFamily="18" charset="0"/>
                  <a:ea typeface="Times New Roman" panose="02020603050405020304" pitchFamily="18" charset="0"/>
                </a:rPr>
                <a:t>t</a:t>
              </a:r>
              <a:endParaRPr lang="en-GB" sz="1200">
                <a:effectLst/>
                <a:latin typeface="Times New Roman" panose="02020603050405020304" pitchFamily="18" charset="0"/>
                <a:ea typeface="Times New Roman" panose="02020603050405020304" pitchFamily="18" charset="0"/>
              </a:endParaRPr>
            </a:p>
          </p:txBody>
        </p:sp>
      </p:grpSp>
      <p:graphicFrame>
        <p:nvGraphicFramePr>
          <p:cNvPr id="42" name="Table 41">
            <a:extLst>
              <a:ext uri="{FF2B5EF4-FFF2-40B4-BE49-F238E27FC236}">
                <a16:creationId xmlns:a16="http://schemas.microsoft.com/office/drawing/2014/main" id="{6BE696A4-8549-48A8-8FD3-34C82EEC3562}"/>
              </a:ext>
            </a:extLst>
          </p:cNvPr>
          <p:cNvGraphicFramePr>
            <a:graphicFrameLocks noGrp="1"/>
          </p:cNvGraphicFramePr>
          <p:nvPr>
            <p:extLst>
              <p:ext uri="{D42A27DB-BD31-4B8C-83A1-F6EECF244321}">
                <p14:modId xmlns:p14="http://schemas.microsoft.com/office/powerpoint/2010/main" val="3039102310"/>
              </p:ext>
            </p:extLst>
          </p:nvPr>
        </p:nvGraphicFramePr>
        <p:xfrm>
          <a:off x="286564" y="5649265"/>
          <a:ext cx="9453475" cy="886298"/>
        </p:xfrm>
        <a:graphic>
          <a:graphicData uri="http://schemas.openxmlformats.org/drawingml/2006/table">
            <a:tbl>
              <a:tblPr/>
              <a:tblGrid>
                <a:gridCol w="674885">
                  <a:extLst>
                    <a:ext uri="{9D8B030D-6E8A-4147-A177-3AD203B41FA5}">
                      <a16:colId xmlns:a16="http://schemas.microsoft.com/office/drawing/2014/main" val="2102277255"/>
                    </a:ext>
                  </a:extLst>
                </a:gridCol>
                <a:gridCol w="674885">
                  <a:extLst>
                    <a:ext uri="{9D8B030D-6E8A-4147-A177-3AD203B41FA5}">
                      <a16:colId xmlns:a16="http://schemas.microsoft.com/office/drawing/2014/main" val="2121635108"/>
                    </a:ext>
                  </a:extLst>
                </a:gridCol>
                <a:gridCol w="674885">
                  <a:extLst>
                    <a:ext uri="{9D8B030D-6E8A-4147-A177-3AD203B41FA5}">
                      <a16:colId xmlns:a16="http://schemas.microsoft.com/office/drawing/2014/main" val="3256825526"/>
                    </a:ext>
                  </a:extLst>
                </a:gridCol>
                <a:gridCol w="674885">
                  <a:extLst>
                    <a:ext uri="{9D8B030D-6E8A-4147-A177-3AD203B41FA5}">
                      <a16:colId xmlns:a16="http://schemas.microsoft.com/office/drawing/2014/main" val="3851996982"/>
                    </a:ext>
                  </a:extLst>
                </a:gridCol>
                <a:gridCol w="674885">
                  <a:extLst>
                    <a:ext uri="{9D8B030D-6E8A-4147-A177-3AD203B41FA5}">
                      <a16:colId xmlns:a16="http://schemas.microsoft.com/office/drawing/2014/main" val="1342299979"/>
                    </a:ext>
                  </a:extLst>
                </a:gridCol>
                <a:gridCol w="674885">
                  <a:extLst>
                    <a:ext uri="{9D8B030D-6E8A-4147-A177-3AD203B41FA5}">
                      <a16:colId xmlns:a16="http://schemas.microsoft.com/office/drawing/2014/main" val="3302494621"/>
                    </a:ext>
                  </a:extLst>
                </a:gridCol>
                <a:gridCol w="674885">
                  <a:extLst>
                    <a:ext uri="{9D8B030D-6E8A-4147-A177-3AD203B41FA5}">
                      <a16:colId xmlns:a16="http://schemas.microsoft.com/office/drawing/2014/main" val="3148859106"/>
                    </a:ext>
                  </a:extLst>
                </a:gridCol>
                <a:gridCol w="674885">
                  <a:extLst>
                    <a:ext uri="{9D8B030D-6E8A-4147-A177-3AD203B41FA5}">
                      <a16:colId xmlns:a16="http://schemas.microsoft.com/office/drawing/2014/main" val="1576605306"/>
                    </a:ext>
                  </a:extLst>
                </a:gridCol>
                <a:gridCol w="674885">
                  <a:extLst>
                    <a:ext uri="{9D8B030D-6E8A-4147-A177-3AD203B41FA5}">
                      <a16:colId xmlns:a16="http://schemas.microsoft.com/office/drawing/2014/main" val="119285238"/>
                    </a:ext>
                  </a:extLst>
                </a:gridCol>
                <a:gridCol w="675902">
                  <a:extLst>
                    <a:ext uri="{9D8B030D-6E8A-4147-A177-3AD203B41FA5}">
                      <a16:colId xmlns:a16="http://schemas.microsoft.com/office/drawing/2014/main" val="817623108"/>
                    </a:ext>
                  </a:extLst>
                </a:gridCol>
                <a:gridCol w="675902">
                  <a:extLst>
                    <a:ext uri="{9D8B030D-6E8A-4147-A177-3AD203B41FA5}">
                      <a16:colId xmlns:a16="http://schemas.microsoft.com/office/drawing/2014/main" val="4190476196"/>
                    </a:ext>
                  </a:extLst>
                </a:gridCol>
                <a:gridCol w="675902">
                  <a:extLst>
                    <a:ext uri="{9D8B030D-6E8A-4147-A177-3AD203B41FA5}">
                      <a16:colId xmlns:a16="http://schemas.microsoft.com/office/drawing/2014/main" val="1135701521"/>
                    </a:ext>
                  </a:extLst>
                </a:gridCol>
                <a:gridCol w="675902">
                  <a:extLst>
                    <a:ext uri="{9D8B030D-6E8A-4147-A177-3AD203B41FA5}">
                      <a16:colId xmlns:a16="http://schemas.microsoft.com/office/drawing/2014/main" val="294172344"/>
                    </a:ext>
                  </a:extLst>
                </a:gridCol>
                <a:gridCol w="675902">
                  <a:extLst>
                    <a:ext uri="{9D8B030D-6E8A-4147-A177-3AD203B41FA5}">
                      <a16:colId xmlns:a16="http://schemas.microsoft.com/office/drawing/2014/main" val="3086120693"/>
                    </a:ext>
                  </a:extLst>
                </a:gridCol>
              </a:tblGrid>
              <a:tr h="287452">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p</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0</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5</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6</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7</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8</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9</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11</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12</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7367936"/>
                  </a:ext>
                </a:extLst>
              </a:tr>
              <a:tr h="521300">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i(t</a:t>
                      </a:r>
                      <a:r>
                        <a:rPr lang="en-GB" sz="2400" baseline="-250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0</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6.5</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10.4</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12.5</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14.1</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15.9</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18.2</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21.8</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27.8</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19.2</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5</a:t>
                      </a:r>
                      <a:endParaRPr lang="en-GB"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600"/>
                        </a:spcAft>
                        <a:tabLst>
                          <a:tab pos="381000" algn="l"/>
                          <a:tab pos="3276600" algn="l"/>
                        </a:tabLst>
                      </a:pPr>
                      <a:r>
                        <a:rPr lang="en-GB" sz="2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0</a:t>
                      </a:r>
                      <a:endParaRPr lang="en-GB"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08525845"/>
                  </a:ext>
                </a:extLst>
              </a:tr>
            </a:tbl>
          </a:graphicData>
        </a:graphic>
      </p:graphicFrame>
    </p:spTree>
    <p:extLst>
      <p:ext uri="{BB962C8B-B14F-4D97-AF65-F5344CB8AC3E}">
        <p14:creationId xmlns:p14="http://schemas.microsoft.com/office/powerpoint/2010/main" val="2691906199"/>
      </p:ext>
    </p:extLst>
  </p:cSld>
  <p:clrMapOvr>
    <a:masterClrMapping/>
  </p:clrMapOvr>
  <mc:AlternateContent xmlns:mc="http://schemas.openxmlformats.org/markup-compatibility/2006" xmlns:p14="http://schemas.microsoft.com/office/powerpoint/2010/main">
    <mc:Choice Requires="p14">
      <p:transition spd="slow" p14:dur="2000" advTm="59518"/>
    </mc:Choice>
    <mc:Fallback xmlns="">
      <p:transition spd="slow" advTm="59518"/>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fontScale="90000"/>
          </a:bodyPr>
          <a:lstStyle/>
          <a:p>
            <a:r>
              <a:rPr lang="en-GB" sz="3600" dirty="0"/>
              <a:t>Solution</a:t>
            </a:r>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0A1F3397-54B3-4B4B-9736-82191F4FC812}"/>
              </a:ext>
            </a:extLst>
          </p:cNvPr>
          <p:cNvSpPr>
            <a:spLocks noChangeArrowheads="1"/>
          </p:cNvSpPr>
          <p:nvPr/>
        </p:nvSpPr>
        <p:spPr bwMode="auto">
          <a:xfrm>
            <a:off x="429715" y="218974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Waveform has half-wave symmetry </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ea typeface="Times New Roman" panose="02020603050405020304" pitchFamily="18" charset="0"/>
              </a:rPr>
              <a:t> no even harmonics</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endParaRPr kumimoji="0" lang="en-GB" altLang="en-US" sz="11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Integration (or summation) is done only over half a  cycle.</a:t>
            </a:r>
            <a:endParaRPr kumimoji="0" lang="en-GB" altLang="en-US" sz="11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It is seen that mean value of waveform is zero so that </a:t>
            </a:r>
            <a:r>
              <a:rPr kumimoji="0" lang="en-GB" altLang="en-US" sz="3200" b="0" i="0"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a:t>
            </a:r>
            <a:r>
              <a:rPr kumimoji="0" lang="en-GB" altLang="en-US" sz="3200" b="0" i="0" u="none" strike="noStrike" cap="none" normalizeH="0" baseline="-3000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o</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/2 = 0.</a:t>
            </a:r>
            <a:endParaRPr kumimoji="0" lang="en-GB" altLang="en-US" sz="11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Consider numerical evaluation of individual coefficients.</a:t>
            </a:r>
            <a:endParaRPr kumimoji="0" lang="en-GB" altLang="en-US" sz="11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endPar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endParaRPr>
          </a:p>
        </p:txBody>
      </p:sp>
      <p:graphicFrame>
        <p:nvGraphicFramePr>
          <p:cNvPr id="4" name="Object 3">
            <a:extLst>
              <a:ext uri="{FF2B5EF4-FFF2-40B4-BE49-F238E27FC236}">
                <a16:creationId xmlns:a16="http://schemas.microsoft.com/office/drawing/2014/main" id="{ABB2210A-CF93-433A-95B5-EFBE14AD9BCD}"/>
              </a:ext>
            </a:extLst>
          </p:cNvPr>
          <p:cNvGraphicFramePr>
            <a:graphicFrameLocks noChangeAspect="1"/>
          </p:cNvGraphicFramePr>
          <p:nvPr>
            <p:extLst>
              <p:ext uri="{D42A27DB-BD31-4B8C-83A1-F6EECF244321}">
                <p14:modId xmlns:p14="http://schemas.microsoft.com/office/powerpoint/2010/main" val="1284187156"/>
              </p:ext>
            </p:extLst>
          </p:nvPr>
        </p:nvGraphicFramePr>
        <p:xfrm>
          <a:off x="429715" y="3368842"/>
          <a:ext cx="7696200" cy="1123950"/>
        </p:xfrm>
        <a:graphic>
          <a:graphicData uri="http://schemas.openxmlformats.org/presentationml/2006/ole">
            <mc:AlternateContent xmlns:mc="http://schemas.openxmlformats.org/markup-compatibility/2006">
              <mc:Choice xmlns:v="urn:schemas-microsoft-com:vml" Requires="v">
                <p:oleObj r:id="rId3" imgW="2895600" imgH="419100" progId="Equation.3">
                  <p:embed/>
                </p:oleObj>
              </mc:Choice>
              <mc:Fallback>
                <p:oleObj r:id="rId3" imgW="2895600" imgH="4191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715" y="3368842"/>
                        <a:ext cx="7696200" cy="1123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3">
            <a:extLst>
              <a:ext uri="{FF2B5EF4-FFF2-40B4-BE49-F238E27FC236}">
                <a16:creationId xmlns:a16="http://schemas.microsoft.com/office/drawing/2014/main" id="{16FED557-FB18-4F93-91EF-817BF771C545}"/>
              </a:ext>
            </a:extLst>
          </p:cNvPr>
          <p:cNvSpPr>
            <a:spLocks noChangeArrowheads="1"/>
          </p:cNvSpPr>
          <p:nvPr/>
        </p:nvSpPr>
        <p:spPr bwMode="auto">
          <a:xfrm>
            <a:off x="0" y="4643128"/>
            <a:ext cx="11553738"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5715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5715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5715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5715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5715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5715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5715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5715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571500" algn="l"/>
                <a:tab pos="3276600" algn="l"/>
              </a:tabLst>
              <a:defRPr>
                <a:solidFill>
                  <a:schemeClr val="tx1"/>
                </a:solidFill>
                <a:latin typeface="Arial" panose="020B0604020202020204" pitchFamily="34" charset="0"/>
              </a:defRPr>
            </a:lvl9pPr>
          </a:lstStyle>
          <a:p>
            <a:pPr marL="577850" marR="0" lvl="0" indent="-577850" algn="l" defTabSz="914400" rtl="0" eaLnBrk="0" fontAlgn="base" latinLnBrk="0" hangingPunct="0">
              <a:lnSpc>
                <a:spcPct val="100000"/>
              </a:lnSpc>
              <a:spcBef>
                <a:spcPct val="0"/>
              </a:spcBef>
              <a:spcAft>
                <a:spcPct val="0"/>
              </a:spcAft>
              <a:buClrTx/>
              <a:buSzTx/>
              <a:buFontTx/>
              <a:buNone/>
              <a:tabLst>
                <a:tab pos="571500" algn="l"/>
                <a:tab pos="3276600" algn="l"/>
              </a:tabLst>
            </a:pPr>
            <a:r>
              <a:rPr kumimoji="0" lang="pt-BR"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(1/6).[6.5 cos 15</a:t>
            </a:r>
            <a:r>
              <a:rPr kumimoji="0" lang="pt-BR"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o</a:t>
            </a:r>
            <a:r>
              <a:rPr kumimoji="0" lang="pt-BR"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+ 10.4 cos 30</a:t>
            </a:r>
            <a:r>
              <a:rPr kumimoji="0" lang="pt-BR"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o</a:t>
            </a:r>
            <a:r>
              <a:rPr kumimoji="0" lang="pt-BR"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+ 12.5 cos 45</a:t>
            </a:r>
            <a:r>
              <a:rPr kumimoji="0" lang="pt-BR"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o</a:t>
            </a:r>
            <a:r>
              <a:rPr kumimoji="0" lang="pt-BR"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+ 14.1 cos 60</a:t>
            </a:r>
            <a:r>
              <a:rPr kumimoji="0" lang="pt-BR"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o</a:t>
            </a:r>
            <a:r>
              <a:rPr kumimoji="0" lang="pt-BR"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+ 15.9cos 75</a:t>
            </a:r>
            <a:r>
              <a:rPr kumimoji="0" lang="pt-BR"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o</a:t>
            </a:r>
            <a:r>
              <a:rPr kumimoji="0" lang="pt-BR"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+18.2cos 90</a:t>
            </a:r>
            <a:r>
              <a:rPr kumimoji="0" lang="pt-BR"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o</a:t>
            </a:r>
            <a:r>
              <a:rPr kumimoji="0" lang="pt-BR"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+ 21.8cos 105</a:t>
            </a:r>
            <a:r>
              <a:rPr kumimoji="0" lang="pt-BR"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o</a:t>
            </a:r>
            <a:r>
              <a:rPr kumimoji="0" lang="pt-BR"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+ 27.8cos 120</a:t>
            </a:r>
            <a:r>
              <a:rPr kumimoji="0" lang="pt-BR"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o</a:t>
            </a:r>
            <a:r>
              <a:rPr kumimoji="0" lang="pt-BR"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+ 19.2 cos 135</a:t>
            </a:r>
            <a:r>
              <a:rPr kumimoji="0" lang="pt-BR"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o</a:t>
            </a:r>
            <a:r>
              <a:rPr kumimoji="0" lang="pt-BR"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+ 10 cos 150</a:t>
            </a:r>
            <a:r>
              <a:rPr kumimoji="0" lang="pt-BR"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o</a:t>
            </a:r>
            <a:r>
              <a:rPr kumimoji="0" lang="pt-BR"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+ 5 cos 165</a:t>
            </a:r>
            <a:r>
              <a:rPr kumimoji="0" lang="pt-BR"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o</a:t>
            </a:r>
            <a:r>
              <a:rPr kumimoji="0" lang="pt-BR"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+0 cos 180</a:t>
            </a:r>
            <a:r>
              <a:rPr kumimoji="0" lang="pt-BR"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o</a:t>
            </a:r>
            <a:r>
              <a:rPr kumimoji="0" lang="pt-BR"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p>
          <a:p>
            <a:pPr marL="577850" marR="0" lvl="0" indent="-577850" algn="l" defTabSz="914400" rtl="0" eaLnBrk="0" fontAlgn="base" latinLnBrk="0" hangingPunct="0">
              <a:lnSpc>
                <a:spcPct val="100000"/>
              </a:lnSpc>
              <a:spcBef>
                <a:spcPct val="0"/>
              </a:spcBef>
              <a:spcAft>
                <a:spcPct val="0"/>
              </a:spcAft>
              <a:buClrTx/>
              <a:buSzTx/>
              <a:buFontTx/>
              <a:buNone/>
              <a:tabLst>
                <a:tab pos="571500" algn="l"/>
                <a:tab pos="3276600" algn="l"/>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(1/6).(-11.32) = -1.89</a:t>
            </a:r>
            <a:r>
              <a:rPr kumimoji="0" lang="en-GB" altLang="en-US" sz="1000" b="0" i="0" u="none" strike="noStrike" cap="none" normalizeH="0" baseline="0" dirty="0">
                <a:ln>
                  <a:noFill/>
                </a:ln>
                <a:solidFill>
                  <a:schemeClr val="tx1"/>
                </a:solidFill>
                <a:effectLst/>
                <a:latin typeface="Arial" panose="020B0604020202020204" pitchFamily="34" charset="0"/>
              </a:rPr>
              <a:t> </a:t>
            </a:r>
            <a:endParaRPr kumimoji="0" lang="en-GB"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82757168"/>
      </p:ext>
    </p:extLst>
  </p:cSld>
  <p:clrMapOvr>
    <a:masterClrMapping/>
  </p:clrMapOvr>
  <mc:AlternateContent xmlns:mc="http://schemas.openxmlformats.org/markup-compatibility/2006" xmlns:p14="http://schemas.microsoft.com/office/powerpoint/2010/main">
    <mc:Choice Requires="p14">
      <p:transition spd="slow" p14:dur="2000" advTm="45735"/>
    </mc:Choice>
    <mc:Fallback xmlns="">
      <p:transition spd="slow" advTm="45735"/>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1C1DFB25-DD5C-44F3-8AA5-AE9E7FF27FB3}"/>
                  </a:ext>
                </a:extLst>
              </p:cNvPr>
              <p:cNvSpPr/>
              <p:nvPr/>
            </p:nvSpPr>
            <p:spPr>
              <a:xfrm>
                <a:off x="304800" y="648805"/>
                <a:ext cx="11887200" cy="4766048"/>
              </a:xfrm>
              <a:prstGeom prst="rect">
                <a:avLst/>
              </a:prstGeom>
            </p:spPr>
            <p:txBody>
              <a:bodyPr wrap="square">
                <a:spAutoFit/>
              </a:bodyPr>
              <a:lstStyle/>
              <a:p>
                <a:pPr algn="just">
                  <a:spcAft>
                    <a:spcPts val="600"/>
                  </a:spcAft>
                  <a:tabLst>
                    <a:tab pos="381000" algn="l"/>
                    <a:tab pos="3276600" algn="l"/>
                  </a:tabLst>
                </a:pPr>
                <a14:m>
                  <m:oMath xmlns:m="http://schemas.openxmlformats.org/officeDocument/2006/math">
                    <m:sSub>
                      <m:sSubPr>
                        <m:ctrlPr>
                          <a:rPr lang="en-GB" sz="2800" i="1">
                            <a:solidFill>
                              <a:srgbClr val="002060"/>
                            </a:solidFill>
                            <a:latin typeface="Cambria Math" panose="02040503050406030204" pitchFamily="18" charset="0"/>
                            <a:ea typeface="Times New Roman" panose="02020603050405020304" pitchFamily="18" charset="0"/>
                          </a:rPr>
                        </m:ctrlPr>
                      </m:sSubPr>
                      <m:e>
                        <m:r>
                          <a:rPr lang="en-GB" sz="2800" i="1">
                            <a:solidFill>
                              <a:srgbClr val="002060"/>
                            </a:solidFill>
                            <a:latin typeface="Cambria Math" panose="02040503050406030204" pitchFamily="18" charset="0"/>
                            <a:ea typeface="Times New Roman" panose="02020603050405020304" pitchFamily="18" charset="0"/>
                          </a:rPr>
                          <m:t>𝐵</m:t>
                        </m:r>
                      </m:e>
                      <m:sub>
                        <m:r>
                          <a:rPr lang="en-GB" sz="2800" i="1">
                            <a:solidFill>
                              <a:srgbClr val="002060"/>
                            </a:solidFill>
                            <a:latin typeface="Cambria Math" panose="02040503050406030204" pitchFamily="18" charset="0"/>
                            <a:ea typeface="Times New Roman" panose="02020603050405020304" pitchFamily="18" charset="0"/>
                          </a:rPr>
                          <m:t>1</m:t>
                        </m:r>
                      </m:sub>
                    </m:sSub>
                    <m:r>
                      <a:rPr lang="en-GB" sz="2800" i="1">
                        <a:solidFill>
                          <a:srgbClr val="002060"/>
                        </a:solidFill>
                        <a:latin typeface="Cambria Math" panose="02040503050406030204" pitchFamily="18" charset="0"/>
                        <a:ea typeface="Times New Roman" panose="02020603050405020304" pitchFamily="18" charset="0"/>
                      </a:rPr>
                      <m:t>=</m:t>
                    </m:r>
                    <m:f>
                      <m:fPr>
                        <m:ctrlPr>
                          <a:rPr lang="en-GB" sz="2800" i="1">
                            <a:solidFill>
                              <a:srgbClr val="002060"/>
                            </a:solidFill>
                            <a:latin typeface="Cambria Math" panose="02040503050406030204" pitchFamily="18" charset="0"/>
                            <a:ea typeface="Times New Roman" panose="02020603050405020304" pitchFamily="18" charset="0"/>
                          </a:rPr>
                        </m:ctrlPr>
                      </m:fPr>
                      <m:num>
                        <m:r>
                          <a:rPr lang="en-GB" sz="2800" i="1">
                            <a:solidFill>
                              <a:srgbClr val="002060"/>
                            </a:solidFill>
                            <a:latin typeface="Cambria Math" panose="02040503050406030204" pitchFamily="18" charset="0"/>
                            <a:ea typeface="Times New Roman" panose="02020603050405020304" pitchFamily="18" charset="0"/>
                          </a:rPr>
                          <m:t>1</m:t>
                        </m:r>
                      </m:num>
                      <m:den>
                        <m:r>
                          <a:rPr lang="en-GB" sz="2800" i="1">
                            <a:solidFill>
                              <a:srgbClr val="002060"/>
                            </a:solidFill>
                            <a:latin typeface="Cambria Math" panose="02040503050406030204" pitchFamily="18" charset="0"/>
                            <a:ea typeface="Times New Roman" panose="02020603050405020304" pitchFamily="18" charset="0"/>
                          </a:rPr>
                          <m:t>6</m:t>
                        </m:r>
                      </m:den>
                    </m:f>
                    <m:nary>
                      <m:naryPr>
                        <m:chr m:val="∑"/>
                        <m:ctrlPr>
                          <a:rPr lang="en-GB" sz="2800" i="1">
                            <a:solidFill>
                              <a:srgbClr val="002060"/>
                            </a:solidFill>
                            <a:latin typeface="Cambria Math" panose="02040503050406030204" pitchFamily="18" charset="0"/>
                            <a:ea typeface="Times New Roman" panose="02020603050405020304" pitchFamily="18" charset="0"/>
                          </a:rPr>
                        </m:ctrlPr>
                      </m:naryPr>
                      <m:sub>
                        <m:r>
                          <a:rPr lang="en-GB" sz="2800" i="1">
                            <a:solidFill>
                              <a:srgbClr val="002060"/>
                            </a:solidFill>
                            <a:latin typeface="Cambria Math" panose="02040503050406030204" pitchFamily="18" charset="0"/>
                            <a:ea typeface="Times New Roman" panose="02020603050405020304" pitchFamily="18" charset="0"/>
                          </a:rPr>
                          <m:t>𝑝</m:t>
                        </m:r>
                        <m:r>
                          <a:rPr lang="en-GB" sz="2800" i="1">
                            <a:solidFill>
                              <a:srgbClr val="002060"/>
                            </a:solidFill>
                            <a:latin typeface="Cambria Math" panose="02040503050406030204" pitchFamily="18" charset="0"/>
                            <a:ea typeface="Times New Roman" panose="02020603050405020304" pitchFamily="18" charset="0"/>
                          </a:rPr>
                          <m:t>=1</m:t>
                        </m:r>
                      </m:sub>
                      <m:sup>
                        <m:r>
                          <a:rPr lang="en-GB" sz="2800" i="1">
                            <a:solidFill>
                              <a:srgbClr val="002060"/>
                            </a:solidFill>
                            <a:latin typeface="Cambria Math" panose="02040503050406030204" pitchFamily="18" charset="0"/>
                            <a:ea typeface="Times New Roman" panose="02020603050405020304" pitchFamily="18" charset="0"/>
                          </a:rPr>
                          <m:t>12</m:t>
                        </m:r>
                      </m:sup>
                      <m:e>
                        <m:r>
                          <a:rPr lang="en-GB" sz="2800" i="1">
                            <a:solidFill>
                              <a:srgbClr val="002060"/>
                            </a:solidFill>
                            <a:latin typeface="Cambria Math" panose="02040503050406030204" pitchFamily="18" charset="0"/>
                            <a:ea typeface="Times New Roman" panose="02020603050405020304" pitchFamily="18" charset="0"/>
                          </a:rPr>
                          <m:t>𝑖</m:t>
                        </m:r>
                        <m:r>
                          <a:rPr lang="en-GB" sz="2800" i="1">
                            <a:solidFill>
                              <a:srgbClr val="002060"/>
                            </a:solidFill>
                            <a:latin typeface="Cambria Math" panose="02040503050406030204" pitchFamily="18" charset="0"/>
                            <a:ea typeface="Times New Roman" panose="02020603050405020304" pitchFamily="18" charset="0"/>
                          </a:rPr>
                          <m:t>(</m:t>
                        </m:r>
                        <m:sSub>
                          <m:sSubPr>
                            <m:ctrlPr>
                              <a:rPr lang="en-GB" sz="2800" i="1">
                                <a:solidFill>
                                  <a:srgbClr val="002060"/>
                                </a:solidFill>
                                <a:latin typeface="Cambria Math" panose="02040503050406030204" pitchFamily="18" charset="0"/>
                                <a:ea typeface="Times New Roman" panose="02020603050405020304" pitchFamily="18" charset="0"/>
                              </a:rPr>
                            </m:ctrlPr>
                          </m:sSubPr>
                          <m:e>
                            <m:r>
                              <a:rPr lang="en-GB" sz="2800" i="1">
                                <a:solidFill>
                                  <a:srgbClr val="002060"/>
                                </a:solidFill>
                                <a:latin typeface="Cambria Math" panose="02040503050406030204" pitchFamily="18" charset="0"/>
                                <a:ea typeface="Times New Roman" panose="02020603050405020304" pitchFamily="18" charset="0"/>
                              </a:rPr>
                              <m:t>𝑡</m:t>
                            </m:r>
                          </m:e>
                          <m:sub>
                            <m:r>
                              <a:rPr lang="en-GB" sz="2800" i="1">
                                <a:solidFill>
                                  <a:srgbClr val="002060"/>
                                </a:solidFill>
                                <a:latin typeface="Cambria Math" panose="02040503050406030204" pitchFamily="18" charset="0"/>
                                <a:ea typeface="Times New Roman" panose="02020603050405020304" pitchFamily="18" charset="0"/>
                              </a:rPr>
                              <m:t>𝑝</m:t>
                            </m:r>
                          </m:sub>
                        </m:sSub>
                        <m:r>
                          <a:rPr lang="en-GB" sz="2800" i="1">
                            <a:solidFill>
                              <a:srgbClr val="002060"/>
                            </a:solidFill>
                            <a:latin typeface="Cambria Math" panose="02040503050406030204" pitchFamily="18" charset="0"/>
                            <a:ea typeface="Times New Roman" panose="02020603050405020304" pitchFamily="18" charset="0"/>
                            <a:cs typeface="Cambria Math" panose="02040503050406030204" pitchFamily="18" charset="0"/>
                          </a:rPr>
                          <m:t>)⋅</m:t>
                        </m:r>
                        <m:func>
                          <m:funcPr>
                            <m:ctrlPr>
                              <a:rPr lang="en-GB" sz="2800" i="1">
                                <a:solidFill>
                                  <a:srgbClr val="002060"/>
                                </a:solidFill>
                                <a:latin typeface="Cambria Math" panose="02040503050406030204" pitchFamily="18" charset="0"/>
                                <a:ea typeface="Times New Roman" panose="02020603050405020304" pitchFamily="18" charset="0"/>
                              </a:rPr>
                            </m:ctrlPr>
                          </m:funcPr>
                          <m:fName>
                            <m:r>
                              <a:rPr lang="en-GB" sz="2800" i="1">
                                <a:solidFill>
                                  <a:srgbClr val="002060"/>
                                </a:solidFill>
                                <a:latin typeface="Cambria Math" panose="02040503050406030204" pitchFamily="18" charset="0"/>
                                <a:ea typeface="Times New Roman" panose="02020603050405020304" pitchFamily="18" charset="0"/>
                              </a:rPr>
                              <m:t>𝑠𝑖𝑛</m:t>
                            </m:r>
                          </m:fName>
                          <m:e>
                            <m:r>
                              <a:rPr lang="en-GB" sz="2800" i="1">
                                <a:solidFill>
                                  <a:srgbClr val="002060"/>
                                </a:solidFill>
                                <a:latin typeface="Cambria Math" panose="02040503050406030204" pitchFamily="18" charset="0"/>
                                <a:ea typeface="Times New Roman" panose="02020603050405020304" pitchFamily="18" charset="0"/>
                              </a:rPr>
                              <m:t>𝑝</m:t>
                            </m:r>
                          </m:e>
                        </m:func>
                        <m:r>
                          <a:rPr lang="en-GB" sz="2800" i="1">
                            <a:solidFill>
                              <a:srgbClr val="002060"/>
                            </a:solidFill>
                            <a:latin typeface="Cambria Math" panose="02040503050406030204" pitchFamily="18" charset="0"/>
                            <a:ea typeface="Times New Roman" panose="02020603050405020304" pitchFamily="18" charset="0"/>
                          </a:rPr>
                          <m:t>𝜃</m:t>
                        </m:r>
                      </m:e>
                    </m:nary>
                  </m:oMath>
                </a14:m>
                <a:r>
                  <a:rPr lang="en-GB" sz="2800" dirty="0">
                    <a:solidFill>
                      <a:srgbClr val="002060"/>
                    </a:solidFill>
                    <a:latin typeface="Times New Roman" panose="02020603050405020304" pitchFamily="18" charset="0"/>
                    <a:ea typeface="Times New Roman" panose="02020603050405020304" pitchFamily="18" charset="0"/>
                  </a:rPr>
                  <a:t> </a:t>
                </a:r>
                <a:r>
                  <a:rPr lang="es-ES" sz="2800" dirty="0">
                    <a:solidFill>
                      <a:srgbClr val="002060"/>
                    </a:solidFill>
                    <a:latin typeface="Times New Roman" panose="02020603050405020304" pitchFamily="18" charset="0"/>
                    <a:ea typeface="Times New Roman" panose="02020603050405020304" pitchFamily="18" charset="0"/>
                  </a:rPr>
                  <a:t>= (1/6).[ 6.5 sin15</a:t>
                </a:r>
                <a:r>
                  <a:rPr lang="es-ES" sz="2800" baseline="30000" dirty="0">
                    <a:solidFill>
                      <a:srgbClr val="002060"/>
                    </a:solidFill>
                    <a:latin typeface="Times New Roman" panose="02020603050405020304" pitchFamily="18" charset="0"/>
                    <a:ea typeface="Times New Roman" panose="02020603050405020304" pitchFamily="18" charset="0"/>
                  </a:rPr>
                  <a:t>o</a:t>
                </a:r>
                <a:r>
                  <a:rPr lang="es-ES" sz="2800" dirty="0">
                    <a:solidFill>
                      <a:srgbClr val="002060"/>
                    </a:solidFill>
                    <a:latin typeface="Times New Roman" panose="02020603050405020304" pitchFamily="18" charset="0"/>
                    <a:ea typeface="Times New Roman" panose="02020603050405020304" pitchFamily="18" charset="0"/>
                  </a:rPr>
                  <a:t> + 10.4sin 30</a:t>
                </a:r>
                <a:r>
                  <a:rPr lang="es-ES" sz="2800" baseline="30000" dirty="0">
                    <a:solidFill>
                      <a:srgbClr val="002060"/>
                    </a:solidFill>
                    <a:latin typeface="Times New Roman" panose="02020603050405020304" pitchFamily="18" charset="0"/>
                    <a:ea typeface="Times New Roman" panose="02020603050405020304" pitchFamily="18" charset="0"/>
                  </a:rPr>
                  <a:t>o</a:t>
                </a:r>
                <a:r>
                  <a:rPr lang="es-ES" sz="2800" dirty="0">
                    <a:solidFill>
                      <a:srgbClr val="002060"/>
                    </a:solidFill>
                    <a:latin typeface="Times New Roman" panose="02020603050405020304" pitchFamily="18" charset="0"/>
                    <a:ea typeface="Times New Roman" panose="02020603050405020304" pitchFamily="18" charset="0"/>
                  </a:rPr>
                  <a:t> + 12.5sin 45</a:t>
                </a:r>
                <a:r>
                  <a:rPr lang="es-ES" sz="2800" baseline="30000" dirty="0">
                    <a:solidFill>
                      <a:srgbClr val="002060"/>
                    </a:solidFill>
                    <a:latin typeface="Times New Roman" panose="02020603050405020304" pitchFamily="18" charset="0"/>
                    <a:ea typeface="Times New Roman" panose="02020603050405020304" pitchFamily="18" charset="0"/>
                  </a:rPr>
                  <a:t>o</a:t>
                </a:r>
                <a:r>
                  <a:rPr lang="es-ES" sz="2800" dirty="0">
                    <a:solidFill>
                      <a:srgbClr val="002060"/>
                    </a:solidFill>
                    <a:latin typeface="Times New Roman" panose="02020603050405020304" pitchFamily="18" charset="0"/>
                    <a:ea typeface="Times New Roman" panose="02020603050405020304" pitchFamily="18" charset="0"/>
                  </a:rPr>
                  <a:t> </a:t>
                </a:r>
                <a:endParaRPr lang="en-GB" sz="2800" dirty="0">
                  <a:latin typeface="Times New Roman" panose="02020603050405020304" pitchFamily="18" charset="0"/>
                  <a:ea typeface="Times New Roman" panose="02020603050405020304" pitchFamily="18" charset="0"/>
                </a:endParaRPr>
              </a:p>
              <a:p>
                <a:pPr algn="just">
                  <a:spcAft>
                    <a:spcPts val="600"/>
                  </a:spcAft>
                  <a:tabLst>
                    <a:tab pos="381000" algn="l"/>
                    <a:tab pos="3276600" algn="l"/>
                  </a:tabLst>
                </a:pPr>
                <a:r>
                  <a:rPr lang="es-ES" sz="2800" dirty="0">
                    <a:solidFill>
                      <a:srgbClr val="002060"/>
                    </a:solidFill>
                    <a:latin typeface="Times New Roman" panose="02020603050405020304" pitchFamily="18" charset="0"/>
                    <a:ea typeface="Times New Roman" panose="02020603050405020304" pitchFamily="18" charset="0"/>
                  </a:rPr>
                  <a:t>        + 14.1sin 60</a:t>
                </a:r>
                <a:r>
                  <a:rPr lang="es-ES" sz="2800" baseline="30000" dirty="0">
                    <a:solidFill>
                      <a:srgbClr val="002060"/>
                    </a:solidFill>
                    <a:latin typeface="Times New Roman" panose="02020603050405020304" pitchFamily="18" charset="0"/>
                    <a:ea typeface="Times New Roman" panose="02020603050405020304" pitchFamily="18" charset="0"/>
                  </a:rPr>
                  <a:t>o </a:t>
                </a:r>
                <a:r>
                  <a:rPr lang="es-ES" sz="2800" dirty="0">
                    <a:solidFill>
                      <a:srgbClr val="002060"/>
                    </a:solidFill>
                    <a:latin typeface="Times New Roman" panose="02020603050405020304" pitchFamily="18" charset="0"/>
                    <a:ea typeface="Times New Roman" panose="02020603050405020304" pitchFamily="18" charset="0"/>
                  </a:rPr>
                  <a:t>+ 15.9sin 75</a:t>
                </a:r>
                <a:r>
                  <a:rPr lang="es-ES" sz="2800" baseline="30000" dirty="0">
                    <a:solidFill>
                      <a:srgbClr val="002060"/>
                    </a:solidFill>
                    <a:latin typeface="Times New Roman" panose="02020603050405020304" pitchFamily="18" charset="0"/>
                    <a:ea typeface="Times New Roman" panose="02020603050405020304" pitchFamily="18" charset="0"/>
                  </a:rPr>
                  <a:t>o</a:t>
                </a:r>
                <a:r>
                  <a:rPr lang="es-ES" sz="2800" dirty="0">
                    <a:solidFill>
                      <a:srgbClr val="002060"/>
                    </a:solidFill>
                    <a:latin typeface="Times New Roman" panose="02020603050405020304" pitchFamily="18" charset="0"/>
                    <a:ea typeface="Times New Roman" panose="02020603050405020304" pitchFamily="18" charset="0"/>
                  </a:rPr>
                  <a:t> +18.2sin 90</a:t>
                </a:r>
                <a:r>
                  <a:rPr lang="es-ES" sz="2800" baseline="30000" dirty="0">
                    <a:solidFill>
                      <a:srgbClr val="002060"/>
                    </a:solidFill>
                    <a:latin typeface="Times New Roman" panose="02020603050405020304" pitchFamily="18" charset="0"/>
                    <a:ea typeface="Times New Roman" panose="02020603050405020304" pitchFamily="18" charset="0"/>
                  </a:rPr>
                  <a:t>o</a:t>
                </a:r>
                <a:r>
                  <a:rPr lang="es-ES" sz="2800" dirty="0">
                    <a:solidFill>
                      <a:srgbClr val="002060"/>
                    </a:solidFill>
                    <a:latin typeface="Times New Roman" panose="02020603050405020304" pitchFamily="18" charset="0"/>
                    <a:ea typeface="Times New Roman" panose="02020603050405020304" pitchFamily="18" charset="0"/>
                  </a:rPr>
                  <a:t> + 21.8sin 105</a:t>
                </a:r>
                <a:r>
                  <a:rPr lang="es-ES" sz="2800" baseline="30000" dirty="0">
                    <a:solidFill>
                      <a:srgbClr val="002060"/>
                    </a:solidFill>
                    <a:latin typeface="Times New Roman" panose="02020603050405020304" pitchFamily="18" charset="0"/>
                    <a:ea typeface="Times New Roman" panose="02020603050405020304" pitchFamily="18" charset="0"/>
                  </a:rPr>
                  <a:t>o</a:t>
                </a:r>
                <a:r>
                  <a:rPr lang="es-ES" sz="2800" dirty="0">
                    <a:solidFill>
                      <a:srgbClr val="002060"/>
                    </a:solidFill>
                    <a:latin typeface="Times New Roman" panose="02020603050405020304" pitchFamily="18" charset="0"/>
                    <a:ea typeface="Times New Roman" panose="02020603050405020304" pitchFamily="18" charset="0"/>
                  </a:rPr>
                  <a:t> + 27.8sin 120</a:t>
                </a:r>
                <a:r>
                  <a:rPr lang="es-ES" sz="2800" baseline="30000" dirty="0">
                    <a:solidFill>
                      <a:srgbClr val="002060"/>
                    </a:solidFill>
                    <a:latin typeface="Times New Roman" panose="02020603050405020304" pitchFamily="18" charset="0"/>
                    <a:ea typeface="Times New Roman" panose="02020603050405020304" pitchFamily="18" charset="0"/>
                  </a:rPr>
                  <a:t>o</a:t>
                </a:r>
                <a:r>
                  <a:rPr lang="es-ES" sz="2800" dirty="0">
                    <a:solidFill>
                      <a:srgbClr val="002060"/>
                    </a:solidFill>
                    <a:latin typeface="Times New Roman" panose="02020603050405020304" pitchFamily="18" charset="0"/>
                    <a:ea typeface="Times New Roman" panose="02020603050405020304" pitchFamily="18" charset="0"/>
                  </a:rPr>
                  <a:t> </a:t>
                </a:r>
                <a:endParaRPr lang="en-GB" sz="2800" dirty="0">
                  <a:latin typeface="Times New Roman" panose="02020603050405020304" pitchFamily="18" charset="0"/>
                  <a:ea typeface="Times New Roman" panose="02020603050405020304" pitchFamily="18" charset="0"/>
                </a:endParaRPr>
              </a:p>
              <a:p>
                <a:pPr algn="just">
                  <a:spcAft>
                    <a:spcPts val="600"/>
                  </a:spcAft>
                  <a:tabLst>
                    <a:tab pos="381000" algn="l"/>
                    <a:tab pos="3276600" algn="l"/>
                  </a:tabLst>
                </a:pPr>
                <a:r>
                  <a:rPr lang="es-ES" sz="2800" dirty="0">
                    <a:solidFill>
                      <a:srgbClr val="002060"/>
                    </a:solidFill>
                    <a:latin typeface="Times New Roman" panose="02020603050405020304" pitchFamily="18" charset="0"/>
                    <a:ea typeface="Times New Roman" panose="02020603050405020304" pitchFamily="18" charset="0"/>
                  </a:rPr>
                  <a:t>        + 19.2sin 135</a:t>
                </a:r>
                <a:r>
                  <a:rPr lang="es-ES" sz="2800" baseline="30000" dirty="0">
                    <a:solidFill>
                      <a:srgbClr val="002060"/>
                    </a:solidFill>
                    <a:latin typeface="Times New Roman" panose="02020603050405020304" pitchFamily="18" charset="0"/>
                    <a:ea typeface="Times New Roman" panose="02020603050405020304" pitchFamily="18" charset="0"/>
                  </a:rPr>
                  <a:t>o</a:t>
                </a:r>
                <a:r>
                  <a:rPr lang="es-ES" sz="2800" dirty="0">
                    <a:solidFill>
                      <a:srgbClr val="002060"/>
                    </a:solidFill>
                    <a:latin typeface="Times New Roman" panose="02020603050405020304" pitchFamily="18" charset="0"/>
                    <a:ea typeface="Times New Roman" panose="02020603050405020304" pitchFamily="18" charset="0"/>
                  </a:rPr>
                  <a:t> + 10sin 150</a:t>
                </a:r>
                <a:r>
                  <a:rPr lang="es-ES" sz="2800" baseline="30000" dirty="0">
                    <a:solidFill>
                      <a:srgbClr val="002060"/>
                    </a:solidFill>
                    <a:latin typeface="Times New Roman" panose="02020603050405020304" pitchFamily="18" charset="0"/>
                    <a:ea typeface="Times New Roman" panose="02020603050405020304" pitchFamily="18" charset="0"/>
                  </a:rPr>
                  <a:t>o</a:t>
                </a:r>
                <a:r>
                  <a:rPr lang="es-ES" sz="2800" dirty="0">
                    <a:solidFill>
                      <a:srgbClr val="002060"/>
                    </a:solidFill>
                    <a:latin typeface="Times New Roman" panose="02020603050405020304" pitchFamily="18" charset="0"/>
                    <a:ea typeface="Times New Roman" panose="02020603050405020304" pitchFamily="18" charset="0"/>
                  </a:rPr>
                  <a:t> + 5sin 165</a:t>
                </a:r>
                <a:r>
                  <a:rPr lang="es-ES" sz="2800" baseline="30000" dirty="0">
                    <a:solidFill>
                      <a:srgbClr val="002060"/>
                    </a:solidFill>
                    <a:latin typeface="Times New Roman" panose="02020603050405020304" pitchFamily="18" charset="0"/>
                    <a:ea typeface="Times New Roman" panose="02020603050405020304" pitchFamily="18" charset="0"/>
                  </a:rPr>
                  <a:t>o</a:t>
                </a:r>
                <a:r>
                  <a:rPr lang="es-ES" sz="2800" dirty="0">
                    <a:solidFill>
                      <a:srgbClr val="002060"/>
                    </a:solidFill>
                    <a:latin typeface="Times New Roman" panose="02020603050405020304" pitchFamily="18" charset="0"/>
                    <a:ea typeface="Times New Roman" panose="02020603050405020304" pitchFamily="18" charset="0"/>
                  </a:rPr>
                  <a:t> +0sin 180</a:t>
                </a:r>
                <a:r>
                  <a:rPr lang="es-ES" sz="2800" baseline="30000" dirty="0">
                    <a:solidFill>
                      <a:srgbClr val="002060"/>
                    </a:solidFill>
                    <a:latin typeface="Times New Roman" panose="02020603050405020304" pitchFamily="18" charset="0"/>
                    <a:ea typeface="Times New Roman" panose="02020603050405020304" pitchFamily="18" charset="0"/>
                  </a:rPr>
                  <a:t>o</a:t>
                </a:r>
                <a:r>
                  <a:rPr lang="es-ES" sz="2800" dirty="0">
                    <a:solidFill>
                      <a:srgbClr val="002060"/>
                    </a:solidFill>
                    <a:latin typeface="Times New Roman" panose="02020603050405020304" pitchFamily="18" charset="0"/>
                    <a:ea typeface="Times New Roman" panose="02020603050405020304" pitchFamily="18" charset="0"/>
                  </a:rPr>
                  <a:t>] </a:t>
                </a:r>
                <a:r>
                  <a:rPr lang="pt-BR" sz="2800" dirty="0">
                    <a:solidFill>
                      <a:srgbClr val="002060"/>
                    </a:solidFill>
                    <a:latin typeface="Times New Roman" panose="02020603050405020304" pitchFamily="18" charset="0"/>
                    <a:ea typeface="Times New Roman" panose="02020603050405020304" pitchFamily="18" charset="0"/>
                  </a:rPr>
                  <a:t>= (1/6).(126.5) = 21.1</a:t>
                </a:r>
                <a:endParaRPr lang="en-GB" sz="2800" dirty="0">
                  <a:latin typeface="Times New Roman" panose="02020603050405020304" pitchFamily="18" charset="0"/>
                  <a:ea typeface="Times New Roman" panose="02020603050405020304" pitchFamily="18" charset="0"/>
                </a:endParaRPr>
              </a:p>
              <a:p>
                <a:pPr marL="1028700" marR="0" indent="-1028700" algn="just">
                  <a:spcBef>
                    <a:spcPts val="0"/>
                  </a:spcBef>
                  <a:spcAft>
                    <a:spcPts val="600"/>
                  </a:spcAft>
                  <a:tabLst>
                    <a:tab pos="571500" algn="l"/>
                    <a:tab pos="3276600" algn="l"/>
                  </a:tabLst>
                </a:pPr>
                <a:r>
                  <a:rPr lang="pt-BR" sz="2800" dirty="0">
                    <a:solidFill>
                      <a:srgbClr val="002060"/>
                    </a:solidFill>
                    <a:latin typeface="Times New Roman" panose="02020603050405020304" pitchFamily="18" charset="0"/>
                    <a:ea typeface="Times New Roman" panose="02020603050405020304" pitchFamily="18" charset="0"/>
                  </a:rPr>
                  <a:t>A</a:t>
                </a:r>
                <a:r>
                  <a:rPr lang="pt-BR" sz="2800" baseline="-25000" dirty="0">
                    <a:solidFill>
                      <a:srgbClr val="002060"/>
                    </a:solidFill>
                    <a:latin typeface="Times New Roman" panose="02020603050405020304" pitchFamily="18" charset="0"/>
                    <a:ea typeface="Times New Roman" panose="02020603050405020304" pitchFamily="18" charset="0"/>
                  </a:rPr>
                  <a:t>3</a:t>
                </a:r>
                <a:r>
                  <a:rPr lang="pt-BR" sz="2800" dirty="0">
                    <a:solidFill>
                      <a:srgbClr val="002060"/>
                    </a:solidFill>
                    <a:latin typeface="Times New Roman" panose="02020603050405020304" pitchFamily="18" charset="0"/>
                    <a:ea typeface="Times New Roman" panose="02020603050405020304" pitchFamily="18" charset="0"/>
                  </a:rPr>
                  <a:t> = (1/6).[6.5cos 45</a:t>
                </a:r>
                <a:r>
                  <a:rPr lang="pt-BR" sz="2800" baseline="30000" dirty="0">
                    <a:solidFill>
                      <a:srgbClr val="002060"/>
                    </a:solidFill>
                    <a:latin typeface="Times New Roman" panose="02020603050405020304" pitchFamily="18" charset="0"/>
                    <a:ea typeface="Times New Roman" panose="02020603050405020304" pitchFamily="18" charset="0"/>
                  </a:rPr>
                  <a:t>o</a:t>
                </a:r>
                <a:r>
                  <a:rPr lang="pt-BR" sz="2800" dirty="0">
                    <a:solidFill>
                      <a:srgbClr val="002060"/>
                    </a:solidFill>
                    <a:latin typeface="Times New Roman" panose="02020603050405020304" pitchFamily="18" charset="0"/>
                    <a:ea typeface="Times New Roman" panose="02020603050405020304" pitchFamily="18" charset="0"/>
                  </a:rPr>
                  <a:t>+ 10.4cos 90</a:t>
                </a:r>
                <a:r>
                  <a:rPr lang="pt-BR" sz="2800" baseline="30000" dirty="0">
                    <a:solidFill>
                      <a:srgbClr val="002060"/>
                    </a:solidFill>
                    <a:latin typeface="Times New Roman" panose="02020603050405020304" pitchFamily="18" charset="0"/>
                    <a:ea typeface="Times New Roman" panose="02020603050405020304" pitchFamily="18" charset="0"/>
                  </a:rPr>
                  <a:t>o</a:t>
                </a:r>
                <a:r>
                  <a:rPr lang="pt-BR" sz="2800" dirty="0">
                    <a:solidFill>
                      <a:srgbClr val="002060"/>
                    </a:solidFill>
                    <a:latin typeface="Times New Roman" panose="02020603050405020304" pitchFamily="18" charset="0"/>
                    <a:ea typeface="Times New Roman" panose="02020603050405020304" pitchFamily="18" charset="0"/>
                  </a:rPr>
                  <a:t>+ 12.5cos 135</a:t>
                </a:r>
                <a:r>
                  <a:rPr lang="pt-BR" sz="2800" baseline="30000" dirty="0">
                    <a:solidFill>
                      <a:srgbClr val="002060"/>
                    </a:solidFill>
                    <a:latin typeface="Times New Roman" panose="02020603050405020304" pitchFamily="18" charset="0"/>
                    <a:ea typeface="Times New Roman" panose="02020603050405020304" pitchFamily="18" charset="0"/>
                  </a:rPr>
                  <a:t>o</a:t>
                </a:r>
                <a:r>
                  <a:rPr lang="pt-BR" sz="2800" dirty="0">
                    <a:solidFill>
                      <a:srgbClr val="002060"/>
                    </a:solidFill>
                    <a:latin typeface="Times New Roman" panose="02020603050405020304" pitchFamily="18" charset="0"/>
                    <a:ea typeface="Times New Roman" panose="02020603050405020304" pitchFamily="18" charset="0"/>
                  </a:rPr>
                  <a:t>+ 14.1cos 180</a:t>
                </a:r>
                <a:r>
                  <a:rPr lang="pt-BR" sz="2800" baseline="30000" dirty="0">
                    <a:solidFill>
                      <a:srgbClr val="002060"/>
                    </a:solidFill>
                    <a:latin typeface="Times New Roman" panose="02020603050405020304" pitchFamily="18" charset="0"/>
                    <a:ea typeface="Times New Roman" panose="02020603050405020304" pitchFamily="18" charset="0"/>
                  </a:rPr>
                  <a:t>o</a:t>
                </a:r>
                <a:r>
                  <a:rPr lang="pt-BR" sz="2800" dirty="0">
                    <a:solidFill>
                      <a:srgbClr val="002060"/>
                    </a:solidFill>
                    <a:latin typeface="Times New Roman" panose="02020603050405020304" pitchFamily="18" charset="0"/>
                    <a:ea typeface="Times New Roman" panose="02020603050405020304" pitchFamily="18" charset="0"/>
                  </a:rPr>
                  <a:t> + 15.9cos 225</a:t>
                </a:r>
                <a:r>
                  <a:rPr lang="pt-BR" sz="2800" baseline="30000" dirty="0">
                    <a:solidFill>
                      <a:srgbClr val="002060"/>
                    </a:solidFill>
                    <a:latin typeface="Times New Roman" panose="02020603050405020304" pitchFamily="18" charset="0"/>
                    <a:ea typeface="Times New Roman" panose="02020603050405020304" pitchFamily="18" charset="0"/>
                  </a:rPr>
                  <a:t>o</a:t>
                </a:r>
                <a:endParaRPr lang="en-GB" sz="2800" dirty="0">
                  <a:latin typeface="Times New Roman" panose="02020603050405020304" pitchFamily="18" charset="0"/>
                  <a:ea typeface="Times New Roman" panose="02020603050405020304" pitchFamily="18" charset="0"/>
                </a:endParaRPr>
              </a:p>
              <a:p>
                <a:pPr marL="1028700" marR="0" indent="-1028700" algn="just">
                  <a:spcBef>
                    <a:spcPts val="0"/>
                  </a:spcBef>
                  <a:spcAft>
                    <a:spcPts val="600"/>
                  </a:spcAft>
                  <a:tabLst>
                    <a:tab pos="571500" algn="l"/>
                    <a:tab pos="3276600" algn="l"/>
                  </a:tabLst>
                </a:pPr>
                <a:r>
                  <a:rPr lang="pt-BR" sz="2800" dirty="0">
                    <a:solidFill>
                      <a:srgbClr val="002060"/>
                    </a:solidFill>
                    <a:latin typeface="Times New Roman" panose="02020603050405020304" pitchFamily="18" charset="0"/>
                    <a:ea typeface="Times New Roman" panose="02020603050405020304" pitchFamily="18" charset="0"/>
                  </a:rPr>
                  <a:t>        +18.2cos 270</a:t>
                </a:r>
                <a:r>
                  <a:rPr lang="pt-BR" sz="2800" baseline="30000" dirty="0">
                    <a:solidFill>
                      <a:srgbClr val="002060"/>
                    </a:solidFill>
                    <a:latin typeface="Times New Roman" panose="02020603050405020304" pitchFamily="18" charset="0"/>
                    <a:ea typeface="Times New Roman" panose="02020603050405020304" pitchFamily="18" charset="0"/>
                  </a:rPr>
                  <a:t>o</a:t>
                </a:r>
                <a:r>
                  <a:rPr lang="pt-BR" sz="2800" dirty="0">
                    <a:solidFill>
                      <a:srgbClr val="002060"/>
                    </a:solidFill>
                    <a:latin typeface="Times New Roman" panose="02020603050405020304" pitchFamily="18" charset="0"/>
                    <a:ea typeface="Times New Roman" panose="02020603050405020304" pitchFamily="18" charset="0"/>
                  </a:rPr>
                  <a:t> + 21.8cos 315</a:t>
                </a:r>
                <a:r>
                  <a:rPr lang="pt-BR" sz="2800" baseline="30000" dirty="0">
                    <a:solidFill>
                      <a:srgbClr val="002060"/>
                    </a:solidFill>
                    <a:latin typeface="Times New Roman" panose="02020603050405020304" pitchFamily="18" charset="0"/>
                    <a:ea typeface="Times New Roman" panose="02020603050405020304" pitchFamily="18" charset="0"/>
                  </a:rPr>
                  <a:t>o</a:t>
                </a:r>
                <a:r>
                  <a:rPr lang="pt-BR" sz="2800" dirty="0">
                    <a:solidFill>
                      <a:srgbClr val="002060"/>
                    </a:solidFill>
                    <a:latin typeface="Times New Roman" panose="02020603050405020304" pitchFamily="18" charset="0"/>
                    <a:ea typeface="Times New Roman" panose="02020603050405020304" pitchFamily="18" charset="0"/>
                  </a:rPr>
                  <a:t> + 27.8cos 360</a:t>
                </a:r>
                <a:r>
                  <a:rPr lang="pt-BR" sz="2800" baseline="30000" dirty="0">
                    <a:solidFill>
                      <a:srgbClr val="002060"/>
                    </a:solidFill>
                    <a:latin typeface="Times New Roman" panose="02020603050405020304" pitchFamily="18" charset="0"/>
                    <a:ea typeface="Times New Roman" panose="02020603050405020304" pitchFamily="18" charset="0"/>
                  </a:rPr>
                  <a:t>o</a:t>
                </a:r>
                <a:r>
                  <a:rPr lang="pt-BR" sz="2800" dirty="0">
                    <a:solidFill>
                      <a:srgbClr val="002060"/>
                    </a:solidFill>
                    <a:latin typeface="Times New Roman" panose="02020603050405020304" pitchFamily="18" charset="0"/>
                    <a:ea typeface="Times New Roman" panose="02020603050405020304" pitchFamily="18" charset="0"/>
                  </a:rPr>
                  <a:t>  + 19.2cos 45</a:t>
                </a:r>
                <a:r>
                  <a:rPr lang="pt-BR" sz="2800" baseline="30000" dirty="0">
                    <a:solidFill>
                      <a:srgbClr val="002060"/>
                    </a:solidFill>
                    <a:latin typeface="Times New Roman" panose="02020603050405020304" pitchFamily="18" charset="0"/>
                    <a:ea typeface="Times New Roman" panose="02020603050405020304" pitchFamily="18" charset="0"/>
                  </a:rPr>
                  <a:t>o</a:t>
                </a:r>
                <a:r>
                  <a:rPr lang="pt-BR" sz="2800" dirty="0">
                    <a:solidFill>
                      <a:srgbClr val="002060"/>
                    </a:solidFill>
                    <a:latin typeface="Times New Roman" panose="02020603050405020304" pitchFamily="18" charset="0"/>
                    <a:ea typeface="Times New Roman" panose="02020603050405020304" pitchFamily="18" charset="0"/>
                  </a:rPr>
                  <a:t> + 10cos 90</a:t>
                </a:r>
                <a:r>
                  <a:rPr lang="pt-BR" sz="2800" baseline="30000" dirty="0">
                    <a:solidFill>
                      <a:srgbClr val="002060"/>
                    </a:solidFill>
                    <a:latin typeface="Times New Roman" panose="02020603050405020304" pitchFamily="18" charset="0"/>
                    <a:ea typeface="Times New Roman" panose="02020603050405020304" pitchFamily="18" charset="0"/>
                  </a:rPr>
                  <a:t>o</a:t>
                </a:r>
                <a:r>
                  <a:rPr lang="pt-BR" sz="2800" dirty="0">
                    <a:solidFill>
                      <a:srgbClr val="002060"/>
                    </a:solidFill>
                    <a:latin typeface="Times New Roman" panose="02020603050405020304" pitchFamily="18" charset="0"/>
                    <a:ea typeface="Times New Roman" panose="02020603050405020304" pitchFamily="18" charset="0"/>
                  </a:rPr>
                  <a:t> </a:t>
                </a:r>
                <a:endParaRPr lang="en-GB" sz="2800" dirty="0">
                  <a:latin typeface="Times New Roman" panose="02020603050405020304" pitchFamily="18" charset="0"/>
                  <a:ea typeface="Times New Roman" panose="02020603050405020304" pitchFamily="18" charset="0"/>
                </a:endParaRPr>
              </a:p>
              <a:p>
                <a:pPr marL="1028700" marR="0" indent="-1028700" algn="just">
                  <a:spcBef>
                    <a:spcPts val="0"/>
                  </a:spcBef>
                  <a:spcAft>
                    <a:spcPts val="600"/>
                  </a:spcAft>
                  <a:tabLst>
                    <a:tab pos="571500" algn="l"/>
                    <a:tab pos="3276600" algn="l"/>
                  </a:tabLst>
                </a:pPr>
                <a:r>
                  <a:rPr lang="pt-BR" sz="2800" dirty="0">
                    <a:solidFill>
                      <a:srgbClr val="002060"/>
                    </a:solidFill>
                    <a:latin typeface="Times New Roman" panose="02020603050405020304" pitchFamily="18" charset="0"/>
                    <a:ea typeface="Times New Roman" panose="02020603050405020304" pitchFamily="18" charset="0"/>
                  </a:rPr>
                  <a:t>        + 5 cos 135</a:t>
                </a:r>
                <a:r>
                  <a:rPr lang="pt-BR" sz="2800" baseline="30000" dirty="0">
                    <a:solidFill>
                      <a:srgbClr val="002060"/>
                    </a:solidFill>
                    <a:latin typeface="Times New Roman" panose="02020603050405020304" pitchFamily="18" charset="0"/>
                    <a:ea typeface="Times New Roman" panose="02020603050405020304" pitchFamily="18" charset="0"/>
                  </a:rPr>
                  <a:t>o</a:t>
                </a:r>
                <a:r>
                  <a:rPr lang="pt-BR" sz="2800" dirty="0">
                    <a:solidFill>
                      <a:srgbClr val="002060"/>
                    </a:solidFill>
                    <a:latin typeface="Times New Roman" panose="02020603050405020304" pitchFamily="18" charset="0"/>
                    <a:ea typeface="Times New Roman" panose="02020603050405020304" pitchFamily="18" charset="0"/>
                  </a:rPr>
                  <a:t> +0 cos 180</a:t>
                </a:r>
                <a:r>
                  <a:rPr lang="pt-BR" sz="2800" baseline="30000" dirty="0">
                    <a:solidFill>
                      <a:srgbClr val="002060"/>
                    </a:solidFill>
                    <a:latin typeface="Times New Roman" panose="02020603050405020304" pitchFamily="18" charset="0"/>
                    <a:ea typeface="Times New Roman" panose="02020603050405020304" pitchFamily="18" charset="0"/>
                  </a:rPr>
                  <a:t>o</a:t>
                </a:r>
                <a:r>
                  <a:rPr lang="pt-BR" sz="2800" dirty="0">
                    <a:solidFill>
                      <a:srgbClr val="002060"/>
                    </a:solidFill>
                    <a:latin typeface="Times New Roman" panose="02020603050405020304" pitchFamily="18" charset="0"/>
                    <a:ea typeface="Times New Roman" panose="02020603050405020304" pitchFamily="18" charset="0"/>
                  </a:rPr>
                  <a:t>] </a:t>
                </a:r>
                <a:r>
                  <a:rPr lang="es-ES" sz="2800" dirty="0">
                    <a:solidFill>
                      <a:srgbClr val="002060"/>
                    </a:solidFill>
                    <a:latin typeface="Times New Roman" panose="02020603050405020304" pitchFamily="18" charset="0"/>
                    <a:ea typeface="Times New Roman" panose="02020603050405020304" pitchFamily="18" charset="0"/>
                  </a:rPr>
                  <a:t>= (1/6).(23.67) = 3.94</a:t>
                </a:r>
                <a:endParaRPr lang="en-GB" sz="2800" dirty="0">
                  <a:latin typeface="Times New Roman" panose="02020603050405020304" pitchFamily="18" charset="0"/>
                  <a:ea typeface="Times New Roman" panose="02020603050405020304" pitchFamily="18" charset="0"/>
                </a:endParaRPr>
              </a:p>
              <a:p>
                <a:pPr marL="1028700" marR="0" indent="-1028700" algn="just">
                  <a:spcBef>
                    <a:spcPts val="0"/>
                  </a:spcBef>
                  <a:spcAft>
                    <a:spcPts val="600"/>
                  </a:spcAft>
                  <a:tabLst>
                    <a:tab pos="571500" algn="l"/>
                    <a:tab pos="3276600" algn="l"/>
                  </a:tabLst>
                </a:pPr>
                <a:r>
                  <a:rPr lang="es-ES" sz="2800" dirty="0">
                    <a:solidFill>
                      <a:srgbClr val="002060"/>
                    </a:solidFill>
                    <a:latin typeface="Times New Roman" panose="02020603050405020304" pitchFamily="18" charset="0"/>
                    <a:ea typeface="Times New Roman" panose="02020603050405020304" pitchFamily="18" charset="0"/>
                  </a:rPr>
                  <a:t>B</a:t>
                </a:r>
                <a:r>
                  <a:rPr lang="es-ES" sz="2800" baseline="-25000" dirty="0">
                    <a:solidFill>
                      <a:srgbClr val="002060"/>
                    </a:solidFill>
                    <a:latin typeface="Times New Roman" panose="02020603050405020304" pitchFamily="18" charset="0"/>
                    <a:ea typeface="Times New Roman" panose="02020603050405020304" pitchFamily="18" charset="0"/>
                  </a:rPr>
                  <a:t>3</a:t>
                </a:r>
                <a:r>
                  <a:rPr lang="es-ES" sz="2800" dirty="0">
                    <a:solidFill>
                      <a:srgbClr val="002060"/>
                    </a:solidFill>
                    <a:latin typeface="Times New Roman" panose="02020603050405020304" pitchFamily="18" charset="0"/>
                    <a:ea typeface="Times New Roman" panose="02020603050405020304" pitchFamily="18" charset="0"/>
                  </a:rPr>
                  <a:t> = (1/6).[6.5sin 45</a:t>
                </a:r>
                <a:r>
                  <a:rPr lang="es-ES" sz="2800" baseline="30000" dirty="0">
                    <a:solidFill>
                      <a:srgbClr val="002060"/>
                    </a:solidFill>
                    <a:latin typeface="Times New Roman" panose="02020603050405020304" pitchFamily="18" charset="0"/>
                    <a:ea typeface="Times New Roman" panose="02020603050405020304" pitchFamily="18" charset="0"/>
                  </a:rPr>
                  <a:t>o </a:t>
                </a:r>
                <a:r>
                  <a:rPr lang="es-ES" sz="2800" dirty="0">
                    <a:solidFill>
                      <a:srgbClr val="002060"/>
                    </a:solidFill>
                    <a:latin typeface="Times New Roman" panose="02020603050405020304" pitchFamily="18" charset="0"/>
                    <a:ea typeface="Times New Roman" panose="02020603050405020304" pitchFamily="18" charset="0"/>
                  </a:rPr>
                  <a:t>+ 10.4sin 90</a:t>
                </a:r>
                <a:r>
                  <a:rPr lang="es-ES" sz="2800" baseline="30000" dirty="0">
                    <a:solidFill>
                      <a:srgbClr val="002060"/>
                    </a:solidFill>
                    <a:latin typeface="Times New Roman" panose="02020603050405020304" pitchFamily="18" charset="0"/>
                    <a:ea typeface="Times New Roman" panose="02020603050405020304" pitchFamily="18" charset="0"/>
                  </a:rPr>
                  <a:t>o </a:t>
                </a:r>
                <a:r>
                  <a:rPr lang="es-ES" sz="2800" dirty="0">
                    <a:solidFill>
                      <a:srgbClr val="002060"/>
                    </a:solidFill>
                    <a:latin typeface="Times New Roman" panose="02020603050405020304" pitchFamily="18" charset="0"/>
                    <a:ea typeface="Times New Roman" panose="02020603050405020304" pitchFamily="18" charset="0"/>
                  </a:rPr>
                  <a:t>+ 12.5sin 135</a:t>
                </a:r>
                <a:r>
                  <a:rPr lang="es-ES" sz="2800" baseline="30000" dirty="0">
                    <a:solidFill>
                      <a:srgbClr val="002060"/>
                    </a:solidFill>
                    <a:latin typeface="Times New Roman" panose="02020603050405020304" pitchFamily="18" charset="0"/>
                    <a:ea typeface="Times New Roman" panose="02020603050405020304" pitchFamily="18" charset="0"/>
                  </a:rPr>
                  <a:t>o </a:t>
                </a:r>
                <a:r>
                  <a:rPr lang="es-ES" sz="2800" dirty="0">
                    <a:solidFill>
                      <a:srgbClr val="002060"/>
                    </a:solidFill>
                    <a:latin typeface="Times New Roman" panose="02020603050405020304" pitchFamily="18" charset="0"/>
                    <a:ea typeface="Times New Roman" panose="02020603050405020304" pitchFamily="18" charset="0"/>
                  </a:rPr>
                  <a:t>+ 14.1sin 180</a:t>
                </a:r>
                <a:r>
                  <a:rPr lang="es-ES" sz="2800" baseline="30000" dirty="0">
                    <a:solidFill>
                      <a:srgbClr val="002060"/>
                    </a:solidFill>
                    <a:latin typeface="Times New Roman" panose="02020603050405020304" pitchFamily="18" charset="0"/>
                    <a:ea typeface="Times New Roman" panose="02020603050405020304" pitchFamily="18" charset="0"/>
                  </a:rPr>
                  <a:t>o</a:t>
                </a:r>
                <a:r>
                  <a:rPr lang="es-ES" sz="2800" dirty="0">
                    <a:solidFill>
                      <a:srgbClr val="002060"/>
                    </a:solidFill>
                    <a:latin typeface="Times New Roman" panose="02020603050405020304" pitchFamily="18" charset="0"/>
                    <a:ea typeface="Times New Roman" panose="02020603050405020304" pitchFamily="18" charset="0"/>
                  </a:rPr>
                  <a:t> + 15.9sin 225</a:t>
                </a:r>
                <a:r>
                  <a:rPr lang="es-ES" sz="2800" baseline="30000" dirty="0">
                    <a:solidFill>
                      <a:srgbClr val="002060"/>
                    </a:solidFill>
                    <a:latin typeface="Times New Roman" panose="02020603050405020304" pitchFamily="18" charset="0"/>
                    <a:ea typeface="Times New Roman" panose="02020603050405020304" pitchFamily="18" charset="0"/>
                  </a:rPr>
                  <a:t>o</a:t>
                </a:r>
                <a:endParaRPr lang="en-GB" sz="2800" dirty="0">
                  <a:latin typeface="Times New Roman" panose="02020603050405020304" pitchFamily="18" charset="0"/>
                  <a:ea typeface="Times New Roman" panose="02020603050405020304" pitchFamily="18" charset="0"/>
                </a:endParaRPr>
              </a:p>
              <a:p>
                <a:pPr marL="1028700" marR="0" indent="-1028700" algn="just">
                  <a:spcBef>
                    <a:spcPts val="0"/>
                  </a:spcBef>
                  <a:spcAft>
                    <a:spcPts val="600"/>
                  </a:spcAft>
                  <a:tabLst>
                    <a:tab pos="571500" algn="l"/>
                    <a:tab pos="3276600" algn="l"/>
                  </a:tabLst>
                </a:pPr>
                <a:r>
                  <a:rPr lang="es-ES" sz="2800" dirty="0">
                    <a:solidFill>
                      <a:srgbClr val="002060"/>
                    </a:solidFill>
                    <a:latin typeface="Times New Roman" panose="02020603050405020304" pitchFamily="18" charset="0"/>
                    <a:ea typeface="Times New Roman" panose="02020603050405020304" pitchFamily="18" charset="0"/>
                  </a:rPr>
                  <a:t>        + 18.2sin 270</a:t>
                </a:r>
                <a:r>
                  <a:rPr lang="es-ES" sz="2800" baseline="30000" dirty="0">
                    <a:solidFill>
                      <a:srgbClr val="002060"/>
                    </a:solidFill>
                    <a:latin typeface="Times New Roman" panose="02020603050405020304" pitchFamily="18" charset="0"/>
                    <a:ea typeface="Times New Roman" panose="02020603050405020304" pitchFamily="18" charset="0"/>
                  </a:rPr>
                  <a:t>o</a:t>
                </a:r>
                <a:r>
                  <a:rPr lang="es-ES" sz="2800" dirty="0">
                    <a:solidFill>
                      <a:srgbClr val="002060"/>
                    </a:solidFill>
                    <a:latin typeface="Times New Roman" panose="02020603050405020304" pitchFamily="18" charset="0"/>
                    <a:ea typeface="Times New Roman" panose="02020603050405020304" pitchFamily="18" charset="0"/>
                  </a:rPr>
                  <a:t> + 21.8sin 315</a:t>
                </a:r>
                <a:r>
                  <a:rPr lang="es-ES" sz="2800" baseline="30000" dirty="0">
                    <a:solidFill>
                      <a:srgbClr val="002060"/>
                    </a:solidFill>
                    <a:latin typeface="Times New Roman" panose="02020603050405020304" pitchFamily="18" charset="0"/>
                    <a:ea typeface="Times New Roman" panose="02020603050405020304" pitchFamily="18" charset="0"/>
                  </a:rPr>
                  <a:t>o</a:t>
                </a:r>
                <a:r>
                  <a:rPr lang="es-ES" sz="2800" dirty="0">
                    <a:solidFill>
                      <a:srgbClr val="002060"/>
                    </a:solidFill>
                    <a:latin typeface="Times New Roman" panose="02020603050405020304" pitchFamily="18" charset="0"/>
                    <a:ea typeface="Times New Roman" panose="02020603050405020304" pitchFamily="18" charset="0"/>
                  </a:rPr>
                  <a:t> + 27.8sin 360</a:t>
                </a:r>
                <a:r>
                  <a:rPr lang="es-ES" sz="2800" baseline="30000" dirty="0">
                    <a:solidFill>
                      <a:srgbClr val="002060"/>
                    </a:solidFill>
                    <a:latin typeface="Times New Roman" panose="02020603050405020304" pitchFamily="18" charset="0"/>
                    <a:ea typeface="Times New Roman" panose="02020603050405020304" pitchFamily="18" charset="0"/>
                  </a:rPr>
                  <a:t>o</a:t>
                </a:r>
                <a:r>
                  <a:rPr lang="es-ES" sz="2800" dirty="0">
                    <a:solidFill>
                      <a:srgbClr val="002060"/>
                    </a:solidFill>
                    <a:latin typeface="Times New Roman" panose="02020603050405020304" pitchFamily="18" charset="0"/>
                    <a:ea typeface="Times New Roman" panose="02020603050405020304" pitchFamily="18" charset="0"/>
                  </a:rPr>
                  <a:t> + 19.2sin 45</a:t>
                </a:r>
                <a:r>
                  <a:rPr lang="es-ES" sz="2800" baseline="30000" dirty="0">
                    <a:solidFill>
                      <a:srgbClr val="002060"/>
                    </a:solidFill>
                    <a:latin typeface="Times New Roman" panose="02020603050405020304" pitchFamily="18" charset="0"/>
                    <a:ea typeface="Times New Roman" panose="02020603050405020304" pitchFamily="18" charset="0"/>
                  </a:rPr>
                  <a:t>o</a:t>
                </a:r>
                <a:r>
                  <a:rPr lang="es-ES" sz="2800" dirty="0">
                    <a:solidFill>
                      <a:srgbClr val="002060"/>
                    </a:solidFill>
                    <a:latin typeface="Times New Roman" panose="02020603050405020304" pitchFamily="18" charset="0"/>
                    <a:ea typeface="Times New Roman" panose="02020603050405020304" pitchFamily="18" charset="0"/>
                  </a:rPr>
                  <a:t> + 10sin 90</a:t>
                </a:r>
                <a:r>
                  <a:rPr lang="es-ES" sz="2800" baseline="30000" dirty="0">
                    <a:solidFill>
                      <a:srgbClr val="002060"/>
                    </a:solidFill>
                    <a:latin typeface="Times New Roman" panose="02020603050405020304" pitchFamily="18" charset="0"/>
                    <a:ea typeface="Times New Roman" panose="02020603050405020304" pitchFamily="18" charset="0"/>
                  </a:rPr>
                  <a:t>o</a:t>
                </a:r>
                <a:r>
                  <a:rPr lang="es-ES" sz="2800" dirty="0">
                    <a:solidFill>
                      <a:srgbClr val="002060"/>
                    </a:solidFill>
                    <a:latin typeface="Times New Roman" panose="02020603050405020304" pitchFamily="18" charset="0"/>
                    <a:ea typeface="Times New Roman" panose="02020603050405020304" pitchFamily="18" charset="0"/>
                  </a:rPr>
                  <a:t> </a:t>
                </a:r>
                <a:endParaRPr lang="en-GB" sz="2800" dirty="0">
                  <a:latin typeface="Times New Roman" panose="02020603050405020304" pitchFamily="18" charset="0"/>
                  <a:ea typeface="Times New Roman" panose="02020603050405020304" pitchFamily="18" charset="0"/>
                </a:endParaRPr>
              </a:p>
              <a:p>
                <a:pPr marL="1028700" marR="0" indent="-1028700" algn="just">
                  <a:spcBef>
                    <a:spcPts val="0"/>
                  </a:spcBef>
                  <a:spcAft>
                    <a:spcPts val="600"/>
                  </a:spcAft>
                  <a:tabLst>
                    <a:tab pos="571500" algn="l"/>
                    <a:tab pos="3276600" algn="l"/>
                  </a:tabLst>
                </a:pPr>
                <a:r>
                  <a:rPr lang="es-ES" sz="2800" dirty="0">
                    <a:solidFill>
                      <a:srgbClr val="002060"/>
                    </a:solidFill>
                    <a:latin typeface="Times New Roman" panose="02020603050405020304" pitchFamily="18" charset="0"/>
                    <a:ea typeface="Times New Roman" panose="02020603050405020304" pitchFamily="18" charset="0"/>
                  </a:rPr>
                  <a:t>        + 5 sin 135</a:t>
                </a:r>
                <a:r>
                  <a:rPr lang="es-ES" sz="2800" baseline="30000" dirty="0">
                    <a:solidFill>
                      <a:srgbClr val="002060"/>
                    </a:solidFill>
                    <a:latin typeface="Times New Roman" panose="02020603050405020304" pitchFamily="18" charset="0"/>
                    <a:ea typeface="Times New Roman" panose="02020603050405020304" pitchFamily="18" charset="0"/>
                  </a:rPr>
                  <a:t>o</a:t>
                </a:r>
                <a:r>
                  <a:rPr lang="es-ES" sz="2800" dirty="0">
                    <a:solidFill>
                      <a:srgbClr val="002060"/>
                    </a:solidFill>
                    <a:latin typeface="Times New Roman" panose="02020603050405020304" pitchFamily="18" charset="0"/>
                    <a:ea typeface="Times New Roman" panose="02020603050405020304" pitchFamily="18" charset="0"/>
                  </a:rPr>
                  <a:t> + 0 sin 180</a:t>
                </a:r>
                <a:r>
                  <a:rPr lang="es-ES" sz="2800" baseline="30000" dirty="0">
                    <a:solidFill>
                      <a:srgbClr val="002060"/>
                    </a:solidFill>
                    <a:latin typeface="Times New Roman" panose="02020603050405020304" pitchFamily="18" charset="0"/>
                    <a:ea typeface="Times New Roman" panose="02020603050405020304" pitchFamily="18" charset="0"/>
                  </a:rPr>
                  <a:t>o</a:t>
                </a:r>
                <a:r>
                  <a:rPr lang="es-ES" sz="2800" dirty="0">
                    <a:solidFill>
                      <a:srgbClr val="002060"/>
                    </a:solidFill>
                    <a:latin typeface="Times New Roman" panose="02020603050405020304" pitchFamily="18" charset="0"/>
                    <a:ea typeface="Times New Roman" panose="02020603050405020304" pitchFamily="18" charset="0"/>
                  </a:rPr>
                  <a:t>] = (1/6).(6.09) = 1.015</a:t>
                </a:r>
                <a:endParaRPr lang="en-GB" sz="2800" dirty="0">
                  <a:latin typeface="Times New Roman" panose="02020603050405020304" pitchFamily="18" charset="0"/>
                  <a:ea typeface="Times New Roman" panose="02020603050405020304" pitchFamily="18" charset="0"/>
                </a:endParaRPr>
              </a:p>
            </p:txBody>
          </p:sp>
        </mc:Choice>
        <mc:Fallback xmlns="">
          <p:sp>
            <p:nvSpPr>
              <p:cNvPr id="3" name="Rectangle 2">
                <a:extLst>
                  <a:ext uri="{FF2B5EF4-FFF2-40B4-BE49-F238E27FC236}">
                    <a16:creationId xmlns:a16="http://schemas.microsoft.com/office/drawing/2014/main" id="{1C1DFB25-DD5C-44F3-8AA5-AE9E7FF27FB3}"/>
                  </a:ext>
                </a:extLst>
              </p:cNvPr>
              <p:cNvSpPr>
                <a:spLocks noRot="1" noChangeAspect="1" noMove="1" noResize="1" noEditPoints="1" noAdjustHandles="1" noChangeArrowheads="1" noChangeShapeType="1" noTextEdit="1"/>
              </p:cNvSpPr>
              <p:nvPr/>
            </p:nvSpPr>
            <p:spPr>
              <a:xfrm>
                <a:off x="304800" y="648805"/>
                <a:ext cx="11887200" cy="4766048"/>
              </a:xfrm>
              <a:prstGeom prst="rect">
                <a:avLst/>
              </a:prstGeom>
              <a:blipFill>
                <a:blip r:embed="rId5"/>
                <a:stretch>
                  <a:fillRect l="-1026" b="-2685"/>
                </a:stretch>
              </a:blipFill>
            </p:spPr>
            <p:txBody>
              <a:bodyPr/>
              <a:lstStyle/>
              <a:p>
                <a:r>
                  <a:rPr lang="en-GB">
                    <a:noFill/>
                  </a:rPr>
                  <a:t> </a:t>
                </a:r>
              </a:p>
            </p:txBody>
          </p:sp>
        </mc:Fallback>
      </mc:AlternateContent>
      <p:sp>
        <p:nvSpPr>
          <p:cNvPr id="4" name="Rectangle 3">
            <a:extLst>
              <a:ext uri="{FF2B5EF4-FFF2-40B4-BE49-F238E27FC236}">
                <a16:creationId xmlns:a16="http://schemas.microsoft.com/office/drawing/2014/main" id="{9862F0F2-01D9-4261-A708-B6B3082D138F}"/>
              </a:ext>
            </a:extLst>
          </p:cNvPr>
          <p:cNvSpPr/>
          <p:nvPr/>
        </p:nvSpPr>
        <p:spPr>
          <a:xfrm>
            <a:off x="304799" y="5454058"/>
            <a:ext cx="9488905" cy="1077218"/>
          </a:xfrm>
          <a:prstGeom prst="rect">
            <a:avLst/>
          </a:prstGeom>
        </p:spPr>
        <p:txBody>
          <a:bodyPr wrap="square">
            <a:spAutoFit/>
          </a:bodyPr>
          <a:lstStyle/>
          <a:p>
            <a:r>
              <a:rPr lang="en-GB" sz="3200" dirty="0">
                <a:solidFill>
                  <a:srgbClr val="002060"/>
                </a:solidFill>
                <a:latin typeface="Times New Roman" panose="02020603050405020304" pitchFamily="18" charset="0"/>
                <a:ea typeface="Times New Roman" panose="02020603050405020304" pitchFamily="18" charset="0"/>
              </a:rPr>
              <a:t>Determination of higher harmonics would not be accurate unless more points are defined on waveform.</a:t>
            </a:r>
            <a:endParaRPr lang="en-GB" sz="3200" dirty="0"/>
          </a:p>
        </p:txBody>
      </p:sp>
    </p:spTree>
    <p:extLst>
      <p:ext uri="{BB962C8B-B14F-4D97-AF65-F5344CB8AC3E}">
        <p14:creationId xmlns:p14="http://schemas.microsoft.com/office/powerpoint/2010/main" val="622478209"/>
      </p:ext>
    </p:extLst>
  </p:cSld>
  <p:clrMapOvr>
    <a:masterClrMapping/>
  </p:clrMapOvr>
  <mc:AlternateContent xmlns:mc="http://schemas.openxmlformats.org/markup-compatibility/2006" xmlns:p14="http://schemas.microsoft.com/office/powerpoint/2010/main">
    <mc:Choice Requires="p14">
      <p:transition spd="slow" p14:dur="2000" advTm="27990"/>
    </mc:Choice>
    <mc:Fallback xmlns="">
      <p:transition spd="slow" advTm="27990"/>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29376B2F-0981-48EB-955B-4C96E63676FD}"/>
              </a:ext>
            </a:extLst>
          </p:cNvPr>
          <p:cNvSpPr>
            <a:spLocks noChangeArrowheads="1"/>
          </p:cNvSpPr>
          <p:nvPr/>
        </p:nvSpPr>
        <p:spPr bwMode="auto">
          <a:xfrm>
            <a:off x="389019" y="519515"/>
            <a:ext cx="11425989" cy="4447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571500" algn="l"/>
                <a:tab pos="13716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571500" algn="l"/>
                <a:tab pos="13716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571500" algn="l"/>
                <a:tab pos="13716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571500" algn="l"/>
                <a:tab pos="13716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571500" algn="l"/>
                <a:tab pos="13716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571500" algn="l"/>
                <a:tab pos="13716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571500" algn="l"/>
                <a:tab pos="13716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571500" algn="l"/>
                <a:tab pos="13716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571500" algn="l"/>
                <a:tab pos="13716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571500" algn="l"/>
                <a:tab pos="1371600" algn="l"/>
                <a:tab pos="3276600" algn="l"/>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s-ES" altLang="en-US" sz="3600" b="0" i="0" u="none" strike="noStrike" cap="none" normalizeH="0" baseline="0" dirty="0">
                <a:ln>
                  <a:noFill/>
                </a:ln>
                <a:solidFill>
                  <a:srgbClr val="002060"/>
                </a:solidFill>
                <a:effectLst/>
                <a:ea typeface="Times New Roman" panose="02020603050405020304" pitchFamily="18" charset="0"/>
              </a:rPr>
              <a:t>	</a:t>
            </a:r>
            <a:r>
              <a:rPr kumimoji="0" lang="es-ES" altLang="en-US" sz="33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fundamental</a:t>
            </a:r>
            <a:r>
              <a:rPr kumimoji="0" lang="es-ES"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s-ES" altLang="en-US" sz="33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s-ES"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s-ES" altLang="en-US" sz="33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s-ES" altLang="en-US" sz="3300" b="0" i="0" u="none" strike="noStrike" cap="none" normalizeH="0" baseline="0" dirty="0">
                <a:ln>
                  <a:noFill/>
                </a:ln>
                <a:solidFill>
                  <a:srgbClr val="002060"/>
                </a:solidFill>
                <a:effectLst/>
                <a:ea typeface="Times New Roman" panose="02020603050405020304" pitchFamily="18" charset="0"/>
              </a:rPr>
              <a:t>1.89</a:t>
            </a:r>
            <a:r>
              <a:rPr kumimoji="0" lang="es-ES"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s-ES" altLang="en-US" sz="33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cos</a:t>
            </a:r>
            <a:r>
              <a:rPr kumimoji="0" lang="es-ES"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33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w</a:t>
            </a:r>
            <a:r>
              <a:rPr kumimoji="0" lang="es-ES" altLang="en-US" sz="3300" b="0" i="0" u="none" strike="noStrike" cap="none" normalizeH="0" baseline="0" dirty="0">
                <a:ln>
                  <a:noFill/>
                </a:ln>
                <a:solidFill>
                  <a:srgbClr val="002060"/>
                </a:solidFill>
                <a:effectLst/>
                <a:ea typeface="Times New Roman" panose="02020603050405020304" pitchFamily="18" charset="0"/>
                <a:sym typeface="Symbol" panose="05050102010706020507" pitchFamily="18" charset="2"/>
              </a:rPr>
              <a:t>t</a:t>
            </a:r>
            <a:r>
              <a:rPr kumimoji="0" lang="es-ES"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s-ES" altLang="en-US" sz="33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s-ES"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s-ES" altLang="en-US" sz="33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21.1</a:t>
            </a:r>
            <a:r>
              <a:rPr kumimoji="0" lang="es-ES"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s-ES" altLang="en-US" sz="33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sin</a:t>
            </a:r>
            <a:r>
              <a:rPr kumimoji="0" lang="es-ES"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33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w</a:t>
            </a:r>
            <a:r>
              <a:rPr kumimoji="0" lang="es-ES" altLang="en-US" sz="3300" b="0" i="0" u="none" strike="noStrike" cap="none" normalizeH="0" baseline="0" dirty="0">
                <a:ln>
                  <a:noFill/>
                </a:ln>
                <a:solidFill>
                  <a:srgbClr val="002060"/>
                </a:solidFill>
                <a:effectLst/>
                <a:ea typeface="Times New Roman" panose="02020603050405020304" pitchFamily="18" charset="0"/>
                <a:sym typeface="Symbol" panose="05050102010706020507" pitchFamily="18" charset="2"/>
              </a:rPr>
              <a:t>t</a:t>
            </a:r>
            <a:r>
              <a:rPr kumimoji="0" lang="es-ES"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s-ES" altLang="en-US" sz="33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s-ES"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s-ES" altLang="en-US" sz="33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21.2 sin(</a:t>
            </a:r>
            <a:r>
              <a:rPr kumimoji="0" lang="en-GB" altLang="en-US" sz="33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w</a:t>
            </a:r>
            <a:r>
              <a:rPr kumimoji="0" lang="es-ES" altLang="en-US" sz="3300" b="0" i="0" u="none" strike="noStrike" cap="none" normalizeH="0" baseline="0" dirty="0">
                <a:ln>
                  <a:noFill/>
                </a:ln>
                <a:solidFill>
                  <a:srgbClr val="002060"/>
                </a:solidFill>
                <a:effectLst/>
                <a:ea typeface="Times New Roman" panose="02020603050405020304" pitchFamily="18" charset="0"/>
                <a:sym typeface="Symbol" panose="05050102010706020507" pitchFamily="18" charset="2"/>
              </a:rPr>
              <a:t>t</a:t>
            </a:r>
            <a:r>
              <a:rPr kumimoji="0" lang="es-ES"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s-ES" altLang="en-US" sz="33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s-ES"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s-ES" altLang="en-US" sz="33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5.1</a:t>
            </a:r>
            <a:r>
              <a:rPr kumimoji="0" lang="es-ES" altLang="en-US" sz="33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o</a:t>
            </a:r>
            <a:r>
              <a:rPr kumimoji="0" lang="es-ES" altLang="en-US" sz="33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endParaRPr kumimoji="0" lang="en-GB" altLang="en-US" sz="11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just" defTabSz="914400" rtl="0" eaLnBrk="0" fontAlgn="base" latinLnBrk="0" hangingPunct="0">
              <a:lnSpc>
                <a:spcPct val="100000"/>
              </a:lnSpc>
              <a:spcBef>
                <a:spcPct val="0"/>
              </a:spcBef>
              <a:spcAft>
                <a:spcPct val="0"/>
              </a:spcAft>
              <a:buClrTx/>
              <a:buSzTx/>
              <a:buFontTx/>
              <a:buNone/>
              <a:tabLst>
                <a:tab pos="571500" algn="l"/>
                <a:tab pos="1371600" algn="l"/>
                <a:tab pos="3276600" algn="l"/>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third</a:t>
            </a:r>
            <a:r>
              <a:rPr kumimoji="0" lang="en-GB" altLang="en-US" sz="14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harmonic=3.94</a:t>
            </a:r>
            <a:r>
              <a:rPr kumimoji="0" lang="en-GB" altLang="en-US" sz="14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cos</a:t>
            </a:r>
            <a:r>
              <a:rPr kumimoji="0" lang="en-GB" altLang="en-US" sz="14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3</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w</a:t>
            </a:r>
            <a:r>
              <a:rPr kumimoji="0" lang="en-GB" altLang="en-US" sz="3200" b="0" i="0" u="none" strike="noStrike" cap="none" normalizeH="0" baseline="0" dirty="0">
                <a:ln>
                  <a:noFill/>
                </a:ln>
                <a:solidFill>
                  <a:srgbClr val="002060"/>
                </a:solidFill>
                <a:effectLst/>
                <a:ea typeface="Times New Roman" panose="02020603050405020304" pitchFamily="18" charset="0"/>
                <a:sym typeface="Symbol" panose="05050102010706020507" pitchFamily="18" charset="2"/>
              </a:rPr>
              <a:t>t</a:t>
            </a:r>
            <a:r>
              <a:rPr kumimoji="0" lang="en-GB" altLang="en-US" sz="14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+1.01</a:t>
            </a:r>
            <a:r>
              <a:rPr kumimoji="0" lang="en-GB" altLang="en-US" sz="14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sin</a:t>
            </a:r>
            <a:r>
              <a:rPr kumimoji="0" lang="en-GB" altLang="en-US" sz="14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3</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w</a:t>
            </a:r>
            <a:r>
              <a:rPr kumimoji="0" lang="en-GB" altLang="en-US" sz="3200" b="0" i="0" u="none" strike="noStrike" cap="none" normalizeH="0" baseline="0" dirty="0">
                <a:ln>
                  <a:noFill/>
                </a:ln>
                <a:solidFill>
                  <a:srgbClr val="002060"/>
                </a:solidFill>
                <a:effectLst/>
                <a:ea typeface="Times New Roman" panose="02020603050405020304" pitchFamily="18" charset="0"/>
                <a:sym typeface="Symbol" panose="05050102010706020507" pitchFamily="18" charset="2"/>
              </a:rPr>
              <a:t>t</a:t>
            </a:r>
            <a:r>
              <a:rPr kumimoji="0" lang="en-GB" altLang="en-US" sz="14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=4.07sin(3</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w</a:t>
            </a:r>
            <a:r>
              <a:rPr kumimoji="0" lang="en-GB" altLang="en-US" sz="3200" b="0" i="0" u="none" strike="noStrike" cap="none" normalizeH="0" baseline="0" dirty="0">
                <a:ln>
                  <a:noFill/>
                </a:ln>
                <a:solidFill>
                  <a:srgbClr val="002060"/>
                </a:solidFill>
                <a:effectLst/>
                <a:ea typeface="Times New Roman" panose="02020603050405020304" pitchFamily="18" charset="0"/>
                <a:sym typeface="Symbol" panose="05050102010706020507" pitchFamily="18" charset="2"/>
              </a:rPr>
              <a:t>t</a:t>
            </a:r>
            <a:r>
              <a:rPr kumimoji="0" lang="en-GB" altLang="en-US" sz="14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+75.6</a:t>
            </a:r>
            <a:r>
              <a:rPr kumimoji="0" lang="en-GB" altLang="en-US" sz="3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o</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endParaRPr kumimoji="0" lang="en-GB" altLang="en-US" sz="11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just" defTabSz="914400" rtl="0" eaLnBrk="0" fontAlgn="base" latinLnBrk="0" hangingPunct="0">
              <a:lnSpc>
                <a:spcPct val="100000"/>
              </a:lnSpc>
              <a:spcBef>
                <a:spcPct val="0"/>
              </a:spcBef>
              <a:spcAft>
                <a:spcPct val="0"/>
              </a:spcAft>
              <a:buClrTx/>
              <a:buSzTx/>
              <a:buFontTx/>
              <a:buNone/>
              <a:tabLst>
                <a:tab pos="571500" algn="l"/>
                <a:tab pos="1371600" algn="l"/>
                <a:tab pos="3276600" algn="l"/>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In practical waveforms higher harmonics are generally smaller in amplitude.</a:t>
            </a:r>
            <a:endParaRPr kumimoji="0" lang="en-GB" altLang="en-US" sz="11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just" defTabSz="914400" rtl="0" eaLnBrk="0" fontAlgn="base" latinLnBrk="0" hangingPunct="0">
              <a:lnSpc>
                <a:spcPct val="100000"/>
              </a:lnSpc>
              <a:spcBef>
                <a:spcPts val="600"/>
              </a:spcBef>
              <a:spcAft>
                <a:spcPct val="0"/>
              </a:spcAft>
              <a:buClrTx/>
              <a:buSzTx/>
              <a:buFontTx/>
              <a:buNone/>
              <a:tabLst>
                <a:tab pos="571500" algn="l"/>
                <a:tab pos="1371600" algn="l"/>
                <a:tab pos="3276600" algn="l"/>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If the fifth and higher harmonics are neglected,</a:t>
            </a:r>
            <a:endParaRPr kumimoji="0" lang="en-GB" altLang="en-US" sz="11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marL="0" marR="0" lvl="0" indent="0" algn="just" defTabSz="914400" rtl="0" eaLnBrk="0" fontAlgn="base" latinLnBrk="0" hangingPunct="0">
              <a:lnSpc>
                <a:spcPct val="100000"/>
              </a:lnSpc>
              <a:spcBef>
                <a:spcPct val="0"/>
              </a:spcBef>
              <a:spcAft>
                <a:spcPct val="0"/>
              </a:spcAft>
              <a:buClrTx/>
              <a:buSzTx/>
              <a:buFontTx/>
              <a:buNone/>
              <a:tabLst>
                <a:tab pos="571500" algn="l"/>
                <a:tab pos="1371600" algn="l"/>
                <a:tab pos="3276600" algn="l"/>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3600" b="0" i="0"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i</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(t) = 21.2 sin(</a:t>
            </a:r>
            <a:r>
              <a:rPr kumimoji="0" lang="en-GB" altLang="en-US" sz="3600" b="0" i="0" u="none" strike="noStrike" cap="none" normalizeH="0" baseline="0" dirty="0" err="1">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w</a:t>
            </a:r>
            <a:r>
              <a:rPr kumimoji="0" lang="en-GB" altLang="en-US" sz="3600" b="0" i="0" u="none" strike="noStrike" cap="none" normalizeH="0" baseline="0" dirty="0" err="1">
                <a:ln>
                  <a:noFill/>
                </a:ln>
                <a:solidFill>
                  <a:srgbClr val="002060"/>
                </a:solidFill>
                <a:effectLst/>
                <a:ea typeface="Times New Roman" panose="02020603050405020304" pitchFamily="18" charset="0"/>
                <a:sym typeface="Symbol" panose="05050102010706020507" pitchFamily="18" charset="2"/>
              </a:rPr>
              <a:t>t</a:t>
            </a:r>
            <a:r>
              <a:rPr kumimoji="0" lang="en-GB" altLang="en-US" sz="3600" b="0" i="0" u="none" strike="noStrike" cap="none" normalizeH="0" baseline="0" dirty="0">
                <a:ln>
                  <a:noFill/>
                </a:ln>
                <a:solidFill>
                  <a:srgbClr val="002060"/>
                </a:solidFill>
                <a:effectLst/>
                <a:ea typeface="Times New Roman" panose="02020603050405020304" pitchFamily="18" charset="0"/>
                <a:sym typeface="Symbol" panose="05050102010706020507" pitchFamily="18" charset="2"/>
              </a:rPr>
              <a:t> </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sym typeface="Symbol" panose="05050102010706020507" pitchFamily="18" charset="2"/>
              </a:rPr>
              <a:t> 5.1</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o</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+ 4.07 sin(3</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w</a:t>
            </a:r>
            <a:r>
              <a:rPr kumimoji="0" lang="en-GB" altLang="en-US" sz="3600" b="0" i="0" u="none" strike="noStrike" cap="none" normalizeH="0" baseline="0" dirty="0">
                <a:ln>
                  <a:noFill/>
                </a:ln>
                <a:solidFill>
                  <a:srgbClr val="002060"/>
                </a:solidFill>
                <a:effectLst/>
                <a:ea typeface="Times New Roman" panose="02020603050405020304" pitchFamily="18" charset="0"/>
                <a:sym typeface="Symbol" panose="05050102010706020507" pitchFamily="18" charset="2"/>
              </a:rPr>
              <a:t>t </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+75.6</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o</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a:t>
            </a:r>
          </a:p>
          <a:p>
            <a:pPr marL="0" marR="0" lvl="0" indent="0" algn="just" defTabSz="914400" rtl="0" eaLnBrk="0" fontAlgn="base" latinLnBrk="0" hangingPunct="0">
              <a:lnSpc>
                <a:spcPct val="100000"/>
              </a:lnSpc>
              <a:spcBef>
                <a:spcPct val="0"/>
              </a:spcBef>
              <a:spcAft>
                <a:spcPct val="0"/>
              </a:spcAft>
              <a:buClrTx/>
              <a:buSzTx/>
              <a:buFontTx/>
              <a:buNone/>
              <a:tabLst>
                <a:tab pos="571500" algn="l"/>
                <a:tab pos="1371600" algn="l"/>
                <a:tab pos="3276600" algn="l"/>
              </a:tabLst>
            </a:pPr>
            <a:endPar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endParaRPr>
          </a:p>
          <a:p>
            <a:pPr marL="0" marR="0" lvl="0" indent="0" algn="just" defTabSz="914400" rtl="0" eaLnBrk="0" fontAlgn="base" latinLnBrk="0" hangingPunct="0">
              <a:lnSpc>
                <a:spcPct val="100000"/>
              </a:lnSpc>
              <a:spcBef>
                <a:spcPct val="0"/>
              </a:spcBef>
              <a:spcAft>
                <a:spcPct val="0"/>
              </a:spcAft>
              <a:buClrTx/>
              <a:buSzTx/>
              <a:buFontTx/>
              <a:buNone/>
              <a:tabLst>
                <a:tab pos="571500" algn="l"/>
                <a:tab pos="1371600" algn="l"/>
                <a:tab pos="3276600" algn="l"/>
              </a:tabLst>
            </a:pPr>
            <a:endParaRPr kumimoji="0" lang="en-GB" altLang="en-US" sz="1100" b="0" i="0" u="none" strike="noStrike" cap="none" normalizeH="0" baseline="0" dirty="0">
              <a:ln>
                <a:noFill/>
              </a:ln>
              <a:solidFill>
                <a:schemeClr val="tx1"/>
              </a:solidFill>
              <a:effectLst/>
              <a:latin typeface="Times New Roman" panose="02020603050405020304" pitchFamily="18" charset="0"/>
              <a:sym typeface="Symbol" panose="05050102010706020507" pitchFamily="18" charset="2"/>
            </a:endParaRPr>
          </a:p>
          <a:p>
            <a:pPr lvl="0" algn="just"/>
            <a:r>
              <a:rPr lang="en-GB" altLang="en-US" sz="36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s-ES" altLang="en-US" sz="3600" dirty="0">
                <a:solidFill>
                  <a:srgbClr val="002060"/>
                </a:solidFill>
                <a:ea typeface="Times New Roman" panose="02020603050405020304" pitchFamily="18" charset="0"/>
              </a:rPr>
              <a:t>	</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Effective value 	= </a:t>
            </a:r>
            <a:endParaRPr kumimoji="0" lang="en-GB" altLang="en-US" sz="33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endParaRPr>
          </a:p>
        </p:txBody>
      </p:sp>
      <p:graphicFrame>
        <p:nvGraphicFramePr>
          <p:cNvPr id="4" name="Object 3">
            <a:extLst>
              <a:ext uri="{FF2B5EF4-FFF2-40B4-BE49-F238E27FC236}">
                <a16:creationId xmlns:a16="http://schemas.microsoft.com/office/drawing/2014/main" id="{123EB23D-02E9-434C-A893-44A4C7971735}"/>
              </a:ext>
            </a:extLst>
          </p:cNvPr>
          <p:cNvGraphicFramePr>
            <a:graphicFrameLocks noChangeAspect="1"/>
          </p:cNvGraphicFramePr>
          <p:nvPr>
            <p:extLst>
              <p:ext uri="{D42A27DB-BD31-4B8C-83A1-F6EECF244321}">
                <p14:modId xmlns:p14="http://schemas.microsoft.com/office/powerpoint/2010/main" val="111959487"/>
              </p:ext>
            </p:extLst>
          </p:nvPr>
        </p:nvGraphicFramePr>
        <p:xfrm>
          <a:off x="4371975" y="3810001"/>
          <a:ext cx="3448050" cy="1524000"/>
        </p:xfrm>
        <a:graphic>
          <a:graphicData uri="http://schemas.openxmlformats.org/presentationml/2006/ole">
            <mc:AlternateContent xmlns:mc="http://schemas.openxmlformats.org/markup-compatibility/2006">
              <mc:Choice xmlns:v="urn:schemas-microsoft-com:vml" Requires="v">
                <p:oleObj r:id="rId3" imgW="1054100" imgH="457200" progId="Equation.3">
                  <p:embed/>
                </p:oleObj>
              </mc:Choice>
              <mc:Fallback>
                <p:oleObj r:id="rId3" imgW="1054100" imgH="4572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1975" y="3810001"/>
                        <a:ext cx="3448050" cy="15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3">
            <a:extLst>
              <a:ext uri="{FF2B5EF4-FFF2-40B4-BE49-F238E27FC236}">
                <a16:creationId xmlns:a16="http://schemas.microsoft.com/office/drawing/2014/main" id="{AD22BAF4-A9F8-4A22-B1AE-231008447DA3}"/>
              </a:ext>
            </a:extLst>
          </p:cNvPr>
          <p:cNvSpPr>
            <a:spLocks noChangeArrowheads="1"/>
          </p:cNvSpPr>
          <p:nvPr/>
        </p:nvSpPr>
        <p:spPr bwMode="auto">
          <a:xfrm>
            <a:off x="443163" y="5322241"/>
            <a:ext cx="995212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571500" algn="l"/>
                <a:tab pos="13716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571500" algn="l"/>
                <a:tab pos="13716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571500" algn="l"/>
                <a:tab pos="13716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571500" algn="l"/>
                <a:tab pos="13716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571500" algn="l"/>
                <a:tab pos="13716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571500" algn="l"/>
                <a:tab pos="13716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571500" algn="l"/>
                <a:tab pos="13716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571500" algn="l"/>
                <a:tab pos="13716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571500" algn="l"/>
                <a:tab pos="13716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71500" algn="l"/>
                <a:tab pos="1371600" algn="l"/>
                <a:tab pos="3276600" algn="l"/>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Error caused would generally be only in the second decimal place in the above example.</a:t>
            </a:r>
            <a:r>
              <a:rPr kumimoji="0" lang="en-GB" altLang="en-US" sz="1100" b="0" i="0" u="none" strike="noStrike" cap="none" normalizeH="0" baseline="0" dirty="0">
                <a:ln>
                  <a:noFill/>
                </a:ln>
                <a:solidFill>
                  <a:schemeClr val="tx1"/>
                </a:solidFill>
                <a:effectLst/>
                <a:latin typeface="Arial" panose="020B0604020202020204" pitchFamily="34" charset="0"/>
              </a:rPr>
              <a:t>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41BAC4D4-DA76-45FF-AEFE-783BDC79972F}"/>
              </a:ext>
            </a:extLst>
          </p:cNvPr>
          <p:cNvSpPr/>
          <p:nvPr/>
        </p:nvSpPr>
        <p:spPr>
          <a:xfrm>
            <a:off x="8162640" y="4387335"/>
            <a:ext cx="2021900" cy="646331"/>
          </a:xfrm>
          <a:prstGeom prst="rect">
            <a:avLst/>
          </a:prstGeom>
        </p:spPr>
        <p:txBody>
          <a:bodyPr wrap="none">
            <a:spAutoFit/>
          </a:bodyPr>
          <a:lstStyle/>
          <a:p>
            <a:pPr lvl="0" eaLnBrk="0" fontAlgn="base" hangingPunct="0">
              <a:spcBef>
                <a:spcPct val="0"/>
              </a:spcBef>
              <a:spcAft>
                <a:spcPct val="0"/>
              </a:spcAft>
              <a:tabLst>
                <a:tab pos="571500" algn="l"/>
                <a:tab pos="1371600" algn="l"/>
                <a:tab pos="3276600" algn="l"/>
              </a:tabLst>
            </a:pPr>
            <a:r>
              <a:rPr lang="en-GB" altLang="en-US" sz="36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15.26 A</a:t>
            </a:r>
            <a:endParaRPr lang="en-GB" altLang="en-US" sz="32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5246706"/>
      </p:ext>
    </p:extLst>
  </p:cSld>
  <p:clrMapOvr>
    <a:masterClrMapping/>
  </p:clrMapOvr>
  <mc:AlternateContent xmlns:mc="http://schemas.openxmlformats.org/markup-compatibility/2006" xmlns:p14="http://schemas.microsoft.com/office/powerpoint/2010/main">
    <mc:Choice Requires="p14">
      <p:transition spd="slow" p14:dur="2000" advTm="58423"/>
    </mc:Choice>
    <mc:Fallback xmlns="">
      <p:transition spd="slow" advTm="58423"/>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34543"/>
            <a:ext cx="10924085" cy="553998"/>
          </a:xfrm>
        </p:spPr>
        <p:txBody>
          <a:bodyPr>
            <a:normAutofit/>
          </a:bodyPr>
          <a:lstStyle/>
          <a:p>
            <a:r>
              <a:rPr lang="en-GB" dirty="0"/>
              <a:t>Complex form of the Fourier Series</a:t>
            </a:r>
            <a:endParaRPr lang="en-GB" sz="3600" dirty="0"/>
          </a:p>
        </p:txBody>
      </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Rectangle 2">
            <a:extLst>
              <a:ext uri="{FF2B5EF4-FFF2-40B4-BE49-F238E27FC236}">
                <a16:creationId xmlns:a16="http://schemas.microsoft.com/office/drawing/2014/main" id="{42110BAD-5C71-4303-A7EB-D6C57CF36213}"/>
              </a:ext>
            </a:extLst>
          </p:cNvPr>
          <p:cNvSpPr/>
          <p:nvPr/>
        </p:nvSpPr>
        <p:spPr>
          <a:xfrm>
            <a:off x="429715" y="1188541"/>
            <a:ext cx="11332570" cy="5509200"/>
          </a:xfrm>
          <a:prstGeom prst="rect">
            <a:avLst/>
          </a:prstGeom>
        </p:spPr>
        <p:txBody>
          <a:bodyPr wrap="square">
            <a:spAutoFit/>
          </a:bodyPr>
          <a:lstStyle/>
          <a:p>
            <a:pPr algn="just">
              <a:tabLst>
                <a:tab pos="381000" algn="l"/>
                <a:tab pos="3276600" algn="l"/>
              </a:tabLst>
            </a:pPr>
            <a:r>
              <a:rPr lang="en-GB" sz="3200" dirty="0">
                <a:solidFill>
                  <a:srgbClr val="002060"/>
                </a:solidFill>
                <a:latin typeface="Times New Roman" panose="02020603050405020304" pitchFamily="18" charset="0"/>
                <a:ea typeface="Times New Roman" panose="02020603050405020304" pitchFamily="18" charset="0"/>
              </a:rPr>
              <a:t>It would have been noted that the only frequency terms that were considered were positive frequency terms going up to infinity but that time was not limited to positive values.  </a:t>
            </a:r>
            <a:endParaRPr lang="en-GB" sz="3200" dirty="0">
              <a:latin typeface="Times New Roman" panose="02020603050405020304" pitchFamily="18" charset="0"/>
              <a:ea typeface="Times New Roman" panose="02020603050405020304" pitchFamily="18" charset="0"/>
            </a:endParaRPr>
          </a:p>
          <a:p>
            <a:pPr algn="just">
              <a:tabLst>
                <a:tab pos="381000" algn="l"/>
                <a:tab pos="3276600" algn="l"/>
              </a:tabLst>
            </a:pPr>
            <a:r>
              <a:rPr lang="en-GB" sz="3200" dirty="0">
                <a:solidFill>
                  <a:srgbClr val="002060"/>
                </a:solidFill>
                <a:latin typeface="Times New Roman" panose="02020603050405020304" pitchFamily="18" charset="0"/>
                <a:ea typeface="Times New Roman" panose="02020603050405020304" pitchFamily="18" charset="0"/>
              </a:rPr>
              <a:t>Mathematically speaking, frequency can have negative values, but as will be obvious, negative frequency terms would have a corresponding positive frequency term giving the same Fourier component. </a:t>
            </a:r>
            <a:endParaRPr lang="en-GB" sz="3200" dirty="0">
              <a:latin typeface="Times New Roman" panose="02020603050405020304" pitchFamily="18" charset="0"/>
              <a:ea typeface="Times New Roman" panose="02020603050405020304" pitchFamily="18" charset="0"/>
            </a:endParaRPr>
          </a:p>
          <a:p>
            <a:pPr algn="just">
              <a:tabLst>
                <a:tab pos="381000" algn="l"/>
                <a:tab pos="3276600" algn="l"/>
              </a:tabLst>
            </a:pPr>
            <a:r>
              <a:rPr lang="en-GB" sz="3200" dirty="0">
                <a:solidFill>
                  <a:srgbClr val="002060"/>
                </a:solidFill>
                <a:latin typeface="Times New Roman" panose="02020603050405020304" pitchFamily="18" charset="0"/>
                <a:ea typeface="Times New Roman" panose="02020603050405020304" pitchFamily="18" charset="0"/>
              </a:rPr>
              <a:t>In the complex form, negative frequency terms are also defined.</a:t>
            </a:r>
            <a:endParaRPr lang="en-GB" sz="3200" dirty="0">
              <a:latin typeface="Times New Roman" panose="02020603050405020304" pitchFamily="18" charset="0"/>
              <a:ea typeface="Times New Roman" panose="02020603050405020304" pitchFamily="18" charset="0"/>
            </a:endParaRPr>
          </a:p>
          <a:p>
            <a:pPr algn="just">
              <a:tabLst>
                <a:tab pos="381000" algn="l"/>
                <a:tab pos="3276600" algn="l"/>
              </a:tabLst>
            </a:pPr>
            <a:r>
              <a:rPr lang="en-GB" sz="3200" dirty="0">
                <a:solidFill>
                  <a:srgbClr val="002060"/>
                </a:solidFill>
                <a:latin typeface="Times New Roman" panose="02020603050405020304" pitchFamily="18" charset="0"/>
                <a:ea typeface="Times New Roman" panose="02020603050405020304" pitchFamily="18" charset="0"/>
              </a:rPr>
              <a:t>Using the trigonometric expressions</a:t>
            </a:r>
            <a:endParaRPr lang="en-GB" sz="3200" dirty="0">
              <a:latin typeface="Times New Roman" panose="02020603050405020304" pitchFamily="18" charset="0"/>
              <a:ea typeface="Times New Roman" panose="02020603050405020304" pitchFamily="18" charset="0"/>
            </a:endParaRPr>
          </a:p>
          <a:p>
            <a:pPr algn="just">
              <a:tabLst>
                <a:tab pos="381000" algn="l"/>
                <a:tab pos="3276600" algn="l"/>
              </a:tabLst>
            </a:pPr>
            <a:r>
              <a:rPr lang="en-GB" sz="3200" dirty="0">
                <a:solidFill>
                  <a:srgbClr val="002060"/>
                </a:solidFill>
                <a:latin typeface="Times New Roman" panose="02020603050405020304" pitchFamily="18" charset="0"/>
                <a:ea typeface="Times New Roman" panose="02020603050405020304" pitchFamily="18" charset="0"/>
              </a:rPr>
              <a:t>	e </a:t>
            </a:r>
            <a:r>
              <a:rPr lang="en-GB" sz="3200" baseline="30000" dirty="0" err="1">
                <a:solidFill>
                  <a:srgbClr val="002060"/>
                </a:solidFill>
                <a:latin typeface="Times New Roman" panose="02020603050405020304" pitchFamily="18" charset="0"/>
                <a:ea typeface="Times New Roman" panose="02020603050405020304" pitchFamily="18" charset="0"/>
              </a:rPr>
              <a:t>j</a:t>
            </a:r>
            <a:r>
              <a:rPr lang="en-GB" sz="3200" baseline="30000" dirty="0" err="1">
                <a:solidFill>
                  <a:srgbClr val="002060"/>
                </a:solidFill>
                <a:latin typeface="Symbol" panose="05050102010706020507" pitchFamily="18" charset="2"/>
                <a:ea typeface="Times New Roman" panose="02020603050405020304" pitchFamily="18" charset="0"/>
              </a:rPr>
              <a:t>q</a:t>
            </a:r>
            <a:r>
              <a:rPr lang="en-GB" sz="3200" dirty="0">
                <a:solidFill>
                  <a:srgbClr val="002060"/>
                </a:solidFill>
                <a:latin typeface="Times New Roman" panose="02020603050405020304" pitchFamily="18" charset="0"/>
                <a:ea typeface="Times New Roman" panose="02020603050405020304" pitchFamily="18" charset="0"/>
              </a:rPr>
              <a:t> = cos </a:t>
            </a:r>
            <a:r>
              <a:rPr lang="en-GB" sz="3200" dirty="0">
                <a:solidFill>
                  <a:srgbClr val="002060"/>
                </a:solidFill>
                <a:latin typeface="Symbol" panose="05050102010706020507" pitchFamily="18" charset="2"/>
                <a:ea typeface="Times New Roman" panose="02020603050405020304" pitchFamily="18" charset="0"/>
              </a:rPr>
              <a:t>q</a:t>
            </a:r>
            <a:r>
              <a:rPr lang="en-GB" sz="3200" dirty="0">
                <a:solidFill>
                  <a:srgbClr val="002060"/>
                </a:solidFill>
                <a:latin typeface="Times New Roman" panose="02020603050405020304" pitchFamily="18" charset="0"/>
                <a:ea typeface="Times New Roman" panose="02020603050405020304" pitchFamily="18" charset="0"/>
              </a:rPr>
              <a:t> + j sin </a:t>
            </a:r>
            <a:r>
              <a:rPr lang="en-GB" sz="3200" dirty="0">
                <a:solidFill>
                  <a:srgbClr val="002060"/>
                </a:solidFill>
                <a:latin typeface="Symbol" panose="05050102010706020507" pitchFamily="18" charset="2"/>
                <a:ea typeface="Times New Roman" panose="02020603050405020304" pitchFamily="18" charset="0"/>
              </a:rPr>
              <a:t>q   </a:t>
            </a:r>
            <a:r>
              <a:rPr lang="en-GB" sz="3200" dirty="0">
                <a:solidFill>
                  <a:srgbClr val="002060"/>
                </a:solidFill>
                <a:latin typeface="Times New Roman" panose="02020603050405020304" pitchFamily="18" charset="0"/>
                <a:ea typeface="Times New Roman" panose="02020603050405020304" pitchFamily="18" charset="0"/>
              </a:rPr>
              <a:t>and</a:t>
            </a:r>
            <a:r>
              <a:rPr lang="en-GB" sz="3200" dirty="0">
                <a:solidFill>
                  <a:srgbClr val="002060"/>
                </a:solidFill>
                <a:latin typeface="Symbol" panose="05050102010706020507" pitchFamily="18" charset="2"/>
                <a:ea typeface="Times New Roman" panose="02020603050405020304" pitchFamily="18" charset="0"/>
              </a:rPr>
              <a:t>  </a:t>
            </a:r>
            <a:r>
              <a:rPr lang="en-GB" sz="3200" dirty="0">
                <a:solidFill>
                  <a:srgbClr val="002060"/>
                </a:solidFill>
                <a:latin typeface="Times New Roman" panose="02020603050405020304" pitchFamily="18" charset="0"/>
                <a:ea typeface="Times New Roman" panose="02020603050405020304" pitchFamily="18" charset="0"/>
              </a:rPr>
              <a:t>e</a:t>
            </a:r>
            <a:r>
              <a:rPr lang="en-GB" sz="3200" baseline="30000" dirty="0">
                <a:solidFill>
                  <a:srgbClr val="002060"/>
                </a:solidFill>
                <a:latin typeface="Arial" panose="020B0604020202020204" pitchFamily="34" charset="0"/>
                <a:ea typeface="Times New Roman" panose="02020603050405020304" pitchFamily="18" charset="0"/>
              </a:rPr>
              <a:t>–</a:t>
            </a:r>
            <a:r>
              <a:rPr lang="en-GB" sz="3200" dirty="0">
                <a:solidFill>
                  <a:srgbClr val="002060"/>
                </a:solidFill>
                <a:latin typeface="Times New Roman" panose="02020603050405020304" pitchFamily="18" charset="0"/>
                <a:ea typeface="Times New Roman" panose="02020603050405020304" pitchFamily="18" charset="0"/>
              </a:rPr>
              <a:t> </a:t>
            </a:r>
            <a:r>
              <a:rPr lang="en-GB" sz="3200" baseline="30000" dirty="0" err="1">
                <a:solidFill>
                  <a:srgbClr val="002060"/>
                </a:solidFill>
                <a:latin typeface="Times New Roman" panose="02020603050405020304" pitchFamily="18" charset="0"/>
                <a:ea typeface="Times New Roman" panose="02020603050405020304" pitchFamily="18" charset="0"/>
              </a:rPr>
              <a:t>j</a:t>
            </a:r>
            <a:r>
              <a:rPr lang="en-GB" sz="3200" baseline="30000" dirty="0" err="1">
                <a:solidFill>
                  <a:srgbClr val="002060"/>
                </a:solidFill>
                <a:latin typeface="Symbol" panose="05050102010706020507" pitchFamily="18" charset="2"/>
                <a:ea typeface="Times New Roman" panose="02020603050405020304" pitchFamily="18" charset="0"/>
              </a:rPr>
              <a:t>q</a:t>
            </a:r>
            <a:r>
              <a:rPr lang="en-GB" sz="3200" dirty="0">
                <a:solidFill>
                  <a:srgbClr val="002060"/>
                </a:solidFill>
                <a:latin typeface="Times New Roman" panose="02020603050405020304" pitchFamily="18" charset="0"/>
                <a:ea typeface="Times New Roman" panose="02020603050405020304" pitchFamily="18" charset="0"/>
              </a:rPr>
              <a:t> = cos </a:t>
            </a:r>
            <a:r>
              <a:rPr lang="en-GB" sz="3200" dirty="0">
                <a:solidFill>
                  <a:srgbClr val="002060"/>
                </a:solidFill>
                <a:latin typeface="Symbol" panose="05050102010706020507" pitchFamily="18" charset="2"/>
                <a:ea typeface="Times New Roman" panose="02020603050405020304" pitchFamily="18" charset="0"/>
              </a:rPr>
              <a:t>q</a:t>
            </a:r>
            <a:r>
              <a:rPr lang="en-GB" sz="3200" dirty="0">
                <a:solidFill>
                  <a:srgbClr val="002060"/>
                </a:solidFill>
                <a:latin typeface="Times New Roman" panose="02020603050405020304" pitchFamily="18" charset="0"/>
                <a:ea typeface="Times New Roman" panose="02020603050405020304" pitchFamily="18" charset="0"/>
              </a:rPr>
              <a:t> </a:t>
            </a:r>
            <a:r>
              <a:rPr lang="en-GB" sz="3200" dirty="0">
                <a:solidFill>
                  <a:srgbClr val="002060"/>
                </a:solidFill>
                <a:latin typeface="Arial" panose="020B0604020202020204" pitchFamily="34" charset="0"/>
                <a:ea typeface="Times New Roman" panose="02020603050405020304" pitchFamily="18" charset="0"/>
              </a:rPr>
              <a:t>–</a:t>
            </a:r>
            <a:r>
              <a:rPr lang="en-GB" sz="3200" dirty="0">
                <a:solidFill>
                  <a:srgbClr val="002060"/>
                </a:solidFill>
                <a:latin typeface="Times New Roman" panose="02020603050405020304" pitchFamily="18" charset="0"/>
                <a:ea typeface="Times New Roman" panose="02020603050405020304" pitchFamily="18" charset="0"/>
              </a:rPr>
              <a:t> j sin </a:t>
            </a:r>
            <a:r>
              <a:rPr lang="en-GB" sz="3200" dirty="0">
                <a:solidFill>
                  <a:srgbClr val="002060"/>
                </a:solidFill>
                <a:latin typeface="Symbol" panose="05050102010706020507" pitchFamily="18" charset="2"/>
                <a:ea typeface="Times New Roman" panose="02020603050405020304" pitchFamily="18" charset="0"/>
              </a:rPr>
              <a:t>q</a:t>
            </a:r>
            <a:endParaRPr lang="en-GB" sz="3200" dirty="0">
              <a:latin typeface="Times New Roman" panose="02020603050405020304" pitchFamily="18" charset="0"/>
              <a:ea typeface="Times New Roman" panose="02020603050405020304" pitchFamily="18" charset="0"/>
            </a:endParaRPr>
          </a:p>
          <a:p>
            <a:r>
              <a:rPr lang="en-GB" sz="3200" dirty="0">
                <a:solidFill>
                  <a:srgbClr val="002060"/>
                </a:solidFill>
                <a:latin typeface="Times New Roman" panose="02020603050405020304" pitchFamily="18" charset="0"/>
                <a:ea typeface="Times New Roman" panose="02020603050405020304" pitchFamily="18" charset="0"/>
              </a:rPr>
              <a:t>rewrite Fourier series.</a:t>
            </a:r>
            <a:endParaRPr lang="en-GB" sz="3200" dirty="0"/>
          </a:p>
        </p:txBody>
      </p:sp>
    </p:spTree>
    <p:extLst>
      <p:ext uri="{BB962C8B-B14F-4D97-AF65-F5344CB8AC3E}">
        <p14:creationId xmlns:p14="http://schemas.microsoft.com/office/powerpoint/2010/main" val="1587851165"/>
      </p:ext>
    </p:extLst>
  </p:cSld>
  <p:clrMapOvr>
    <a:masterClrMapping/>
  </p:clrMapOvr>
  <mc:AlternateContent xmlns:mc="http://schemas.openxmlformats.org/markup-compatibility/2006" xmlns:p14="http://schemas.microsoft.com/office/powerpoint/2010/main">
    <mc:Choice Requires="p14">
      <p:transition spd="slow" p14:dur="2000" advTm="88449"/>
    </mc:Choice>
    <mc:Fallback xmlns="">
      <p:transition spd="slow" advTm="88449"/>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12" name="Object 11">
            <a:extLst>
              <a:ext uri="{FF2B5EF4-FFF2-40B4-BE49-F238E27FC236}">
                <a16:creationId xmlns:a16="http://schemas.microsoft.com/office/drawing/2014/main" id="{D1F10730-61E1-4E13-8647-48964E421F5E}"/>
              </a:ext>
            </a:extLst>
          </p:cNvPr>
          <p:cNvGraphicFramePr>
            <a:graphicFrameLocks noChangeAspect="1"/>
          </p:cNvGraphicFramePr>
          <p:nvPr>
            <p:extLst>
              <p:ext uri="{D42A27DB-BD31-4B8C-83A1-F6EECF244321}">
                <p14:modId xmlns:p14="http://schemas.microsoft.com/office/powerpoint/2010/main" val="3829756439"/>
              </p:ext>
            </p:extLst>
          </p:nvPr>
        </p:nvGraphicFramePr>
        <p:xfrm>
          <a:off x="336882" y="481263"/>
          <a:ext cx="7258050" cy="1104900"/>
        </p:xfrm>
        <a:graphic>
          <a:graphicData uri="http://schemas.openxmlformats.org/presentationml/2006/ole">
            <mc:AlternateContent xmlns:mc="http://schemas.openxmlformats.org/markup-compatibility/2006">
              <mc:Choice xmlns:v="urn:schemas-microsoft-com:vml" Requires="v">
                <p:oleObj r:id="rId3" imgW="2590800" imgH="393700" progId="Equation.3">
                  <p:embed/>
                </p:oleObj>
              </mc:Choice>
              <mc:Fallback>
                <p:oleObj r:id="rId3" imgW="2590800" imgH="3937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882" y="481263"/>
                        <a:ext cx="7258050" cy="1104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a:extLst>
              <a:ext uri="{FF2B5EF4-FFF2-40B4-BE49-F238E27FC236}">
                <a16:creationId xmlns:a16="http://schemas.microsoft.com/office/drawing/2014/main" id="{9D86D3A8-82EA-4E29-A9EA-D8BDE9291C19}"/>
              </a:ext>
            </a:extLst>
          </p:cNvPr>
          <p:cNvGraphicFramePr>
            <a:graphicFrameLocks noChangeAspect="1"/>
          </p:cNvGraphicFramePr>
          <p:nvPr>
            <p:extLst>
              <p:ext uri="{D42A27DB-BD31-4B8C-83A1-F6EECF244321}">
                <p14:modId xmlns:p14="http://schemas.microsoft.com/office/powerpoint/2010/main" val="1240233741"/>
              </p:ext>
            </p:extLst>
          </p:nvPr>
        </p:nvGraphicFramePr>
        <p:xfrm>
          <a:off x="312819" y="1393662"/>
          <a:ext cx="9182100" cy="1276350"/>
        </p:xfrm>
        <a:graphic>
          <a:graphicData uri="http://schemas.openxmlformats.org/presentationml/2006/ole">
            <mc:AlternateContent xmlns:mc="http://schemas.openxmlformats.org/markup-compatibility/2006">
              <mc:Choice xmlns:v="urn:schemas-microsoft-com:vml" Requires="v">
                <p:oleObj r:id="rId5" imgW="3543300" imgH="482600" progId="Equation.3">
                  <p:embed/>
                </p:oleObj>
              </mc:Choice>
              <mc:Fallback>
                <p:oleObj r:id="rId5" imgW="3543300" imgH="48260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819" y="1393662"/>
                        <a:ext cx="9182100" cy="1276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3">
            <a:extLst>
              <a:ext uri="{FF2B5EF4-FFF2-40B4-BE49-F238E27FC236}">
                <a16:creationId xmlns:a16="http://schemas.microsoft.com/office/drawing/2014/main" id="{E32BBC34-4FA8-406B-B3B6-BA115AD1003E}"/>
              </a:ext>
            </a:extLst>
          </p:cNvPr>
          <p:cNvGraphicFramePr>
            <a:graphicFrameLocks noChangeAspect="1"/>
          </p:cNvGraphicFramePr>
          <p:nvPr>
            <p:extLst>
              <p:ext uri="{D42A27DB-BD31-4B8C-83A1-F6EECF244321}">
                <p14:modId xmlns:p14="http://schemas.microsoft.com/office/powerpoint/2010/main" val="2150540853"/>
              </p:ext>
            </p:extLst>
          </p:nvPr>
        </p:nvGraphicFramePr>
        <p:xfrm>
          <a:off x="312819" y="3079587"/>
          <a:ext cx="10134600" cy="1200150"/>
        </p:xfrm>
        <a:graphic>
          <a:graphicData uri="http://schemas.openxmlformats.org/presentationml/2006/ole">
            <mc:AlternateContent xmlns:mc="http://schemas.openxmlformats.org/markup-compatibility/2006">
              <mc:Choice xmlns:v="urn:schemas-microsoft-com:vml" Requires="v">
                <p:oleObj r:id="rId7" imgW="3644900" imgH="431800" progId="Equation.3">
                  <p:embed/>
                </p:oleObj>
              </mc:Choice>
              <mc:Fallback>
                <p:oleObj r:id="rId7" imgW="3644900" imgH="4318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819" y="3079587"/>
                        <a:ext cx="10134600" cy="1200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14">
            <a:extLst>
              <a:ext uri="{FF2B5EF4-FFF2-40B4-BE49-F238E27FC236}">
                <a16:creationId xmlns:a16="http://schemas.microsoft.com/office/drawing/2014/main" id="{1B6039F8-C9BE-42EE-88DC-4918F802AF90}"/>
              </a:ext>
            </a:extLst>
          </p:cNvPr>
          <p:cNvGraphicFramePr>
            <a:graphicFrameLocks noChangeAspect="1"/>
          </p:cNvGraphicFramePr>
          <p:nvPr>
            <p:extLst>
              <p:ext uri="{D42A27DB-BD31-4B8C-83A1-F6EECF244321}">
                <p14:modId xmlns:p14="http://schemas.microsoft.com/office/powerpoint/2010/main" val="2184762686"/>
              </p:ext>
            </p:extLst>
          </p:nvPr>
        </p:nvGraphicFramePr>
        <p:xfrm>
          <a:off x="2813382" y="5254311"/>
          <a:ext cx="2721144" cy="1214395"/>
        </p:xfrm>
        <a:graphic>
          <a:graphicData uri="http://schemas.openxmlformats.org/presentationml/2006/ole">
            <mc:AlternateContent xmlns:mc="http://schemas.openxmlformats.org/markup-compatibility/2006">
              <mc:Choice xmlns:v="urn:schemas-microsoft-com:vml" Requires="v">
                <p:oleObj r:id="rId9" imgW="901309" imgH="393529" progId="Equation.3">
                  <p:embed/>
                </p:oleObj>
              </mc:Choice>
              <mc:Fallback>
                <p:oleObj r:id="rId9" imgW="901309" imgH="393529"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13382" y="5254311"/>
                        <a:ext cx="2721144" cy="1214395"/>
                      </a:xfrm>
                      <a:prstGeom prst="rect">
                        <a:avLst/>
                      </a:prstGeom>
                      <a:noFill/>
                    </p:spPr>
                  </p:pic>
                </p:oleObj>
              </mc:Fallback>
            </mc:AlternateContent>
          </a:graphicData>
        </a:graphic>
      </p:graphicFrame>
      <p:sp>
        <p:nvSpPr>
          <p:cNvPr id="16" name="Rectangle 14">
            <a:extLst>
              <a:ext uri="{FF2B5EF4-FFF2-40B4-BE49-F238E27FC236}">
                <a16:creationId xmlns:a16="http://schemas.microsoft.com/office/drawing/2014/main" id="{280E0EBA-BB01-414D-B1A6-A2998524FC6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17" name="Rectangle 15">
            <a:extLst>
              <a:ext uri="{FF2B5EF4-FFF2-40B4-BE49-F238E27FC236}">
                <a16:creationId xmlns:a16="http://schemas.microsoft.com/office/drawing/2014/main" id="{7BF5B5C3-CDCE-4FFE-8809-DFCB7584D19B}"/>
              </a:ext>
            </a:extLst>
          </p:cNvPr>
          <p:cNvSpPr>
            <a:spLocks noChangeArrowheads="1"/>
          </p:cNvSpPr>
          <p:nvPr/>
        </p:nvSpPr>
        <p:spPr bwMode="auto">
          <a:xfrm>
            <a:off x="0" y="15621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18" name="Rectangle 16">
            <a:extLst>
              <a:ext uri="{FF2B5EF4-FFF2-40B4-BE49-F238E27FC236}">
                <a16:creationId xmlns:a16="http://schemas.microsoft.com/office/drawing/2014/main" id="{17B8E1CE-6355-408C-BAD5-3EB03581A872}"/>
              </a:ext>
            </a:extLst>
          </p:cNvPr>
          <p:cNvSpPr>
            <a:spLocks noChangeArrowheads="1"/>
          </p:cNvSpPr>
          <p:nvPr/>
        </p:nvSpPr>
        <p:spPr bwMode="auto">
          <a:xfrm>
            <a:off x="0" y="2586006"/>
            <a:ext cx="1082842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This can be re-written in the following form</a:t>
            </a:r>
            <a:endParaRPr kumimoji="0" lang="en-GB" altLang="en-US" sz="1050" b="0" i="0" u="none" strike="noStrike" cap="none" normalizeH="0" baseline="0" dirty="0">
              <a:ln>
                <a:noFill/>
              </a:ln>
              <a:solidFill>
                <a:schemeClr val="tx1"/>
              </a:solidFill>
              <a:effectLst/>
              <a:latin typeface="Arial" panose="020B0604020202020204" pitchFamily="34" charset="0"/>
            </a:endParaRPr>
          </a:p>
        </p:txBody>
      </p:sp>
      <p:sp>
        <p:nvSpPr>
          <p:cNvPr id="19" name="Rectangle 17">
            <a:extLst>
              <a:ext uri="{FF2B5EF4-FFF2-40B4-BE49-F238E27FC236}">
                <a16:creationId xmlns:a16="http://schemas.microsoft.com/office/drawing/2014/main" id="{DAC697BA-9629-4548-BEFB-8203982B7BA4}"/>
              </a:ext>
            </a:extLst>
          </p:cNvPr>
          <p:cNvSpPr>
            <a:spLocks noChangeArrowheads="1"/>
          </p:cNvSpPr>
          <p:nvPr/>
        </p:nvSpPr>
        <p:spPr bwMode="auto">
          <a:xfrm>
            <a:off x="51132" y="4199481"/>
            <a:ext cx="11887200"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It is to be noted that B</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o</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is always 0, so that the </a:t>
            </a:r>
            <a:r>
              <a:rPr kumimoji="0" lang="en-GB" altLang="en-US" sz="3200" b="1"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j0</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with </a:t>
            </a:r>
            <a:r>
              <a:rPr kumimoji="0" lang="en-GB" altLang="en-US" sz="32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A</a:t>
            </a:r>
            <a:r>
              <a:rPr kumimoji="0" lang="en-GB" altLang="en-US" sz="32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o</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may be written as </a:t>
            </a:r>
            <a:r>
              <a:rPr kumimoji="0" lang="en-GB" altLang="en-US" sz="32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jB</a:t>
            </a:r>
            <a:r>
              <a:rPr kumimoji="0" lang="en-GB" altLang="en-US" sz="32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o</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Also e</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j0 </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1</a:t>
            </a:r>
            <a:endParaRPr kumimoji="0" lang="en-GB" altLang="en-US" sz="105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endPar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Thus defining  </a:t>
            </a:r>
            <a:endParaRPr kumimoji="0" lang="en-GB" altLang="en-US" sz="1600" b="0" i="0" u="none" strike="noStrike" cap="none" normalizeH="0" baseline="0" dirty="0">
              <a:ln>
                <a:noFill/>
              </a:ln>
              <a:solidFill>
                <a:schemeClr val="tx1"/>
              </a:solidFill>
              <a:effectLst/>
              <a:latin typeface="Arial" panose="020B0604020202020204" pitchFamily="34" charset="0"/>
            </a:endParaRPr>
          </a:p>
        </p:txBody>
      </p:sp>
      <p:sp>
        <p:nvSpPr>
          <p:cNvPr id="20" name="Rectangle 18">
            <a:extLst>
              <a:ext uri="{FF2B5EF4-FFF2-40B4-BE49-F238E27FC236}">
                <a16:creationId xmlns:a16="http://schemas.microsoft.com/office/drawing/2014/main" id="{F97CC28F-2FE6-4977-9644-B03C536F1DD7}"/>
              </a:ext>
            </a:extLst>
          </p:cNvPr>
          <p:cNvSpPr>
            <a:spLocks noChangeArrowheads="1"/>
          </p:cNvSpPr>
          <p:nvPr/>
        </p:nvSpPr>
        <p:spPr bwMode="auto">
          <a:xfrm>
            <a:off x="0" y="6438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6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70561783"/>
      </p:ext>
    </p:extLst>
  </p:cSld>
  <p:clrMapOvr>
    <a:masterClrMapping/>
  </p:clrMapOvr>
  <mc:AlternateContent xmlns:mc="http://schemas.openxmlformats.org/markup-compatibility/2006" xmlns:p14="http://schemas.microsoft.com/office/powerpoint/2010/main">
    <mc:Choice Requires="p14">
      <p:transition spd="slow" p14:dur="2000" advTm="22278"/>
    </mc:Choice>
    <mc:Fallback xmlns="">
      <p:transition spd="slow" advTm="22278"/>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C1C783C1-5FC9-4FE2-9E9E-DDDE45E16D7E}"/>
              </a:ext>
            </a:extLst>
          </p:cNvPr>
          <p:cNvGraphicFramePr>
            <a:graphicFrameLocks noChangeAspect="1"/>
          </p:cNvGraphicFramePr>
          <p:nvPr>
            <p:extLst>
              <p:ext uri="{D42A27DB-BD31-4B8C-83A1-F6EECF244321}">
                <p14:modId xmlns:p14="http://schemas.microsoft.com/office/powerpoint/2010/main" val="799425025"/>
              </p:ext>
            </p:extLst>
          </p:nvPr>
        </p:nvGraphicFramePr>
        <p:xfrm>
          <a:off x="2152649" y="456699"/>
          <a:ext cx="2424393" cy="1200652"/>
        </p:xfrm>
        <a:graphic>
          <a:graphicData uri="http://schemas.openxmlformats.org/presentationml/2006/ole">
            <mc:AlternateContent xmlns:mc="http://schemas.openxmlformats.org/markup-compatibility/2006">
              <mc:Choice xmlns:v="urn:schemas-microsoft-com:vml" Requires="v">
                <p:oleObj r:id="rId3" imgW="825500" imgH="393700" progId="Equation.3">
                  <p:embed/>
                </p:oleObj>
              </mc:Choice>
              <mc:Fallback>
                <p:oleObj r:id="rId3" imgW="825500" imgH="3937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2649" y="456699"/>
                        <a:ext cx="2424393" cy="1200652"/>
                      </a:xfrm>
                      <a:prstGeom prst="rect">
                        <a:avLst/>
                      </a:prstGeom>
                      <a:noFill/>
                    </p:spPr>
                  </p:pic>
                </p:oleObj>
              </mc:Fallback>
            </mc:AlternateContent>
          </a:graphicData>
        </a:graphic>
      </p:graphicFrame>
      <p:graphicFrame>
        <p:nvGraphicFramePr>
          <p:cNvPr id="4" name="Object 3">
            <a:extLst>
              <a:ext uri="{FF2B5EF4-FFF2-40B4-BE49-F238E27FC236}">
                <a16:creationId xmlns:a16="http://schemas.microsoft.com/office/drawing/2014/main" id="{A7B522C4-AD19-45AB-B892-FD82DAE2B2A2}"/>
              </a:ext>
            </a:extLst>
          </p:cNvPr>
          <p:cNvGraphicFramePr>
            <a:graphicFrameLocks noChangeAspect="1"/>
          </p:cNvGraphicFramePr>
          <p:nvPr>
            <p:extLst>
              <p:ext uri="{D42A27DB-BD31-4B8C-83A1-F6EECF244321}">
                <p14:modId xmlns:p14="http://schemas.microsoft.com/office/powerpoint/2010/main" val="940818829"/>
              </p:ext>
            </p:extLst>
          </p:nvPr>
        </p:nvGraphicFramePr>
        <p:xfrm>
          <a:off x="5657849" y="374735"/>
          <a:ext cx="3330537" cy="1224462"/>
        </p:xfrm>
        <a:graphic>
          <a:graphicData uri="http://schemas.openxmlformats.org/presentationml/2006/ole">
            <mc:AlternateContent xmlns:mc="http://schemas.openxmlformats.org/markup-compatibility/2006">
              <mc:Choice xmlns:v="urn:schemas-microsoft-com:vml" Requires="v">
                <p:oleObj r:id="rId5" imgW="1079032" imgH="393529" progId="Equation.3">
                  <p:embed/>
                </p:oleObj>
              </mc:Choice>
              <mc:Fallback>
                <p:oleObj r:id="rId5" imgW="1079032" imgH="393529"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7849" y="374735"/>
                        <a:ext cx="3330537" cy="1224462"/>
                      </a:xfrm>
                      <a:prstGeom prst="rect">
                        <a:avLst/>
                      </a:prstGeom>
                      <a:noFill/>
                    </p:spPr>
                  </p:pic>
                </p:oleObj>
              </mc:Fallback>
            </mc:AlternateContent>
          </a:graphicData>
        </a:graphic>
      </p:graphicFrame>
      <p:graphicFrame>
        <p:nvGraphicFramePr>
          <p:cNvPr id="5" name="Object 4">
            <a:extLst>
              <a:ext uri="{FF2B5EF4-FFF2-40B4-BE49-F238E27FC236}">
                <a16:creationId xmlns:a16="http://schemas.microsoft.com/office/drawing/2014/main" id="{E48569A8-29DD-4FCB-B9FB-0B6D730E38C9}"/>
              </a:ext>
            </a:extLst>
          </p:cNvPr>
          <p:cNvGraphicFramePr>
            <a:graphicFrameLocks noChangeAspect="1"/>
          </p:cNvGraphicFramePr>
          <p:nvPr>
            <p:extLst>
              <p:ext uri="{D42A27DB-BD31-4B8C-83A1-F6EECF244321}">
                <p14:modId xmlns:p14="http://schemas.microsoft.com/office/powerpoint/2010/main" val="1038099922"/>
              </p:ext>
            </p:extLst>
          </p:nvPr>
        </p:nvGraphicFramePr>
        <p:xfrm>
          <a:off x="1450811" y="2780299"/>
          <a:ext cx="4264189" cy="1333500"/>
        </p:xfrm>
        <a:graphic>
          <a:graphicData uri="http://schemas.openxmlformats.org/presentationml/2006/ole">
            <mc:AlternateContent xmlns:mc="http://schemas.openxmlformats.org/markup-compatibility/2006">
              <mc:Choice xmlns:v="urn:schemas-microsoft-com:vml" Requires="v">
                <p:oleObj r:id="rId7" imgW="1713756" imgH="495085" progId="Equation.3">
                  <p:embed/>
                </p:oleObj>
              </mc:Choice>
              <mc:Fallback>
                <p:oleObj r:id="rId7" imgW="1713756" imgH="495085"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50811" y="2780299"/>
                        <a:ext cx="4264189" cy="1333500"/>
                      </a:xfrm>
                      <a:prstGeom prst="rect">
                        <a:avLst/>
                      </a:prstGeom>
                      <a:noFill/>
                    </p:spPr>
                  </p:pic>
                </p:oleObj>
              </mc:Fallback>
            </mc:AlternateContent>
          </a:graphicData>
        </a:graphic>
      </p:graphicFrame>
      <p:graphicFrame>
        <p:nvGraphicFramePr>
          <p:cNvPr id="6" name="Object 5">
            <a:extLst>
              <a:ext uri="{FF2B5EF4-FFF2-40B4-BE49-F238E27FC236}">
                <a16:creationId xmlns:a16="http://schemas.microsoft.com/office/drawing/2014/main" id="{D222C282-0834-4A1C-90B5-20EBBE2CF00B}"/>
              </a:ext>
            </a:extLst>
          </p:cNvPr>
          <p:cNvGraphicFramePr>
            <a:graphicFrameLocks noChangeAspect="1"/>
          </p:cNvGraphicFramePr>
          <p:nvPr>
            <p:extLst>
              <p:ext uri="{D42A27DB-BD31-4B8C-83A1-F6EECF244321}">
                <p14:modId xmlns:p14="http://schemas.microsoft.com/office/powerpoint/2010/main" val="2436131676"/>
              </p:ext>
            </p:extLst>
          </p:nvPr>
        </p:nvGraphicFramePr>
        <p:xfrm>
          <a:off x="5955635" y="2751534"/>
          <a:ext cx="5102889" cy="1390650"/>
        </p:xfrm>
        <a:graphic>
          <a:graphicData uri="http://schemas.openxmlformats.org/presentationml/2006/ole">
            <mc:AlternateContent xmlns:mc="http://schemas.openxmlformats.org/markup-compatibility/2006">
              <mc:Choice xmlns:v="urn:schemas-microsoft-com:vml" Requires="v">
                <p:oleObj r:id="rId9" imgW="1968500" imgH="508000" progId="Equation.3">
                  <p:embed/>
                </p:oleObj>
              </mc:Choice>
              <mc:Fallback>
                <p:oleObj r:id="rId9" imgW="1968500" imgH="508000" progId="Equation.3">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55635" y="2751534"/>
                        <a:ext cx="5102889" cy="1390650"/>
                      </a:xfrm>
                      <a:prstGeom prst="rect">
                        <a:avLst/>
                      </a:prstGeom>
                      <a:noFill/>
                    </p:spPr>
                  </p:pic>
                </p:oleObj>
              </mc:Fallback>
            </mc:AlternateContent>
          </a:graphicData>
        </a:graphic>
      </p:graphicFrame>
      <p:graphicFrame>
        <p:nvGraphicFramePr>
          <p:cNvPr id="7" name="Object 6">
            <a:extLst>
              <a:ext uri="{FF2B5EF4-FFF2-40B4-BE49-F238E27FC236}">
                <a16:creationId xmlns:a16="http://schemas.microsoft.com/office/drawing/2014/main" id="{456D95F9-3C90-4DFE-AB24-6D53735A4BD9}"/>
              </a:ext>
            </a:extLst>
          </p:cNvPr>
          <p:cNvGraphicFramePr>
            <a:graphicFrameLocks noChangeAspect="1"/>
          </p:cNvGraphicFramePr>
          <p:nvPr>
            <p:extLst>
              <p:ext uri="{D42A27DB-BD31-4B8C-83A1-F6EECF244321}">
                <p14:modId xmlns:p14="http://schemas.microsoft.com/office/powerpoint/2010/main" val="2261589680"/>
              </p:ext>
            </p:extLst>
          </p:nvPr>
        </p:nvGraphicFramePr>
        <p:xfrm>
          <a:off x="1152525" y="4022063"/>
          <a:ext cx="4468227" cy="1200150"/>
        </p:xfrm>
        <a:graphic>
          <a:graphicData uri="http://schemas.openxmlformats.org/presentationml/2006/ole">
            <mc:AlternateContent xmlns:mc="http://schemas.openxmlformats.org/markup-compatibility/2006">
              <mc:Choice xmlns:v="urn:schemas-microsoft-com:vml" Requires="v">
                <p:oleObj r:id="rId11" imgW="1764534" imgH="444307" progId="Equation.3">
                  <p:embed/>
                </p:oleObj>
              </mc:Choice>
              <mc:Fallback>
                <p:oleObj r:id="rId11" imgW="1764534" imgH="444307" progId="Equation.3">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52525" y="4022063"/>
                        <a:ext cx="4468227" cy="1200150"/>
                      </a:xfrm>
                      <a:prstGeom prst="rect">
                        <a:avLst/>
                      </a:prstGeom>
                      <a:noFill/>
                    </p:spPr>
                  </p:pic>
                </p:oleObj>
              </mc:Fallback>
            </mc:AlternateContent>
          </a:graphicData>
        </a:graphic>
      </p:graphicFrame>
      <p:graphicFrame>
        <p:nvGraphicFramePr>
          <p:cNvPr id="8" name="Object 7">
            <a:extLst>
              <a:ext uri="{FF2B5EF4-FFF2-40B4-BE49-F238E27FC236}">
                <a16:creationId xmlns:a16="http://schemas.microsoft.com/office/drawing/2014/main" id="{028C02AB-9869-4D8E-81A9-47D1FEC8F1DC}"/>
              </a:ext>
            </a:extLst>
          </p:cNvPr>
          <p:cNvGraphicFramePr>
            <a:graphicFrameLocks noChangeAspect="1"/>
          </p:cNvGraphicFramePr>
          <p:nvPr>
            <p:extLst>
              <p:ext uri="{D42A27DB-BD31-4B8C-83A1-F6EECF244321}">
                <p14:modId xmlns:p14="http://schemas.microsoft.com/office/powerpoint/2010/main" val="1084423932"/>
              </p:ext>
            </p:extLst>
          </p:nvPr>
        </p:nvGraphicFramePr>
        <p:xfrm>
          <a:off x="5618748" y="3943444"/>
          <a:ext cx="5343524" cy="1314450"/>
        </p:xfrm>
        <a:graphic>
          <a:graphicData uri="http://schemas.openxmlformats.org/presentationml/2006/ole">
            <mc:AlternateContent xmlns:mc="http://schemas.openxmlformats.org/markup-compatibility/2006">
              <mc:Choice xmlns:v="urn:schemas-microsoft-com:vml" Requires="v">
                <p:oleObj r:id="rId13" imgW="1968500" imgH="444500" progId="Equation.3">
                  <p:embed/>
                </p:oleObj>
              </mc:Choice>
              <mc:Fallback>
                <p:oleObj r:id="rId13" imgW="1968500" imgH="444500" progId="Equation.3">
                  <p:embed/>
                  <p:pic>
                    <p:nvPicPr>
                      <p:cNvPr id="0" name="Object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18748" y="3943444"/>
                        <a:ext cx="5343524" cy="1314450"/>
                      </a:xfrm>
                      <a:prstGeom prst="rect">
                        <a:avLst/>
                      </a:prstGeom>
                      <a:noFill/>
                    </p:spPr>
                  </p:pic>
                </p:oleObj>
              </mc:Fallback>
            </mc:AlternateContent>
          </a:graphicData>
        </a:graphic>
      </p:graphicFrame>
      <p:graphicFrame>
        <p:nvGraphicFramePr>
          <p:cNvPr id="9" name="Object 8">
            <a:extLst>
              <a:ext uri="{FF2B5EF4-FFF2-40B4-BE49-F238E27FC236}">
                <a16:creationId xmlns:a16="http://schemas.microsoft.com/office/drawing/2014/main" id="{00A3996F-6911-44BF-BAFF-75727047795B}"/>
              </a:ext>
            </a:extLst>
          </p:cNvPr>
          <p:cNvGraphicFramePr>
            <a:graphicFrameLocks noChangeAspect="1"/>
          </p:cNvGraphicFramePr>
          <p:nvPr>
            <p:extLst>
              <p:ext uri="{D42A27DB-BD31-4B8C-83A1-F6EECF244321}">
                <p14:modId xmlns:p14="http://schemas.microsoft.com/office/powerpoint/2010/main" val="1222498527"/>
              </p:ext>
            </p:extLst>
          </p:nvPr>
        </p:nvGraphicFramePr>
        <p:xfrm>
          <a:off x="240635" y="5094040"/>
          <a:ext cx="5715000" cy="1085850"/>
        </p:xfrm>
        <a:graphic>
          <a:graphicData uri="http://schemas.openxmlformats.org/presentationml/2006/ole">
            <mc:AlternateContent xmlns:mc="http://schemas.openxmlformats.org/markup-compatibility/2006">
              <mc:Choice xmlns:v="urn:schemas-microsoft-com:vml" Requires="v">
                <p:oleObj r:id="rId15" imgW="1981200" imgH="406400" progId="Equation.3">
                  <p:embed/>
                </p:oleObj>
              </mc:Choice>
              <mc:Fallback>
                <p:oleObj r:id="rId15" imgW="1981200" imgH="406400" progId="Equation.3">
                  <p:embed/>
                  <p:pic>
                    <p:nvPicPr>
                      <p:cNvPr id="0" name="Object 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0635" y="5094040"/>
                        <a:ext cx="5715000" cy="1085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8">
            <a:extLst>
              <a:ext uri="{FF2B5EF4-FFF2-40B4-BE49-F238E27FC236}">
                <a16:creationId xmlns:a16="http://schemas.microsoft.com/office/drawing/2014/main" id="{DF340A6D-E3DC-4BE3-B5FC-983D7C888081}"/>
              </a:ext>
            </a:extLst>
          </p:cNvPr>
          <p:cNvSpPr>
            <a:spLocks noChangeArrowheads="1"/>
          </p:cNvSpPr>
          <p:nvPr/>
        </p:nvSpPr>
        <p:spPr bwMode="auto">
          <a:xfrm>
            <a:off x="152400" y="738499"/>
            <a:ext cx="20002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we have  </a:t>
            </a:r>
            <a:endParaRPr kumimoji="0" lang="en-GB" altLang="en-US" sz="1600" b="0" i="0" u="none" strike="noStrike" cap="none" normalizeH="0" baseline="0" dirty="0">
              <a:ln>
                <a:noFill/>
              </a:ln>
              <a:solidFill>
                <a:schemeClr val="tx1"/>
              </a:solidFill>
              <a:effectLst/>
              <a:latin typeface="Arial" panose="020B0604020202020204" pitchFamily="34" charset="0"/>
            </a:endParaRPr>
          </a:p>
        </p:txBody>
      </p:sp>
      <p:sp>
        <p:nvSpPr>
          <p:cNvPr id="11" name="Rectangle 9">
            <a:extLst>
              <a:ext uri="{FF2B5EF4-FFF2-40B4-BE49-F238E27FC236}">
                <a16:creationId xmlns:a16="http://schemas.microsoft.com/office/drawing/2014/main" id="{A72B4CDA-F81C-4C8B-833E-24757DD39F46}"/>
              </a:ext>
            </a:extLst>
          </p:cNvPr>
          <p:cNvSpPr>
            <a:spLocks noChangeArrowheads="1"/>
          </p:cNvSpPr>
          <p:nvPr/>
        </p:nvSpPr>
        <p:spPr bwMode="auto">
          <a:xfrm>
            <a:off x="4369467" y="707737"/>
            <a:ext cx="175661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and  </a:t>
            </a:r>
            <a:endParaRPr kumimoji="0" lang="en-GB" altLang="en-US" sz="1600" b="0" i="0" u="none" strike="noStrike" cap="none" normalizeH="0" baseline="0" dirty="0">
              <a:ln>
                <a:noFill/>
              </a:ln>
              <a:solidFill>
                <a:schemeClr val="tx1"/>
              </a:solidFill>
              <a:effectLst/>
              <a:latin typeface="Arial" panose="020B0604020202020204" pitchFamily="34" charset="0"/>
            </a:endParaRPr>
          </a:p>
        </p:txBody>
      </p:sp>
      <p:sp>
        <p:nvSpPr>
          <p:cNvPr id="12" name="Rectangle 10">
            <a:extLst>
              <a:ext uri="{FF2B5EF4-FFF2-40B4-BE49-F238E27FC236}">
                <a16:creationId xmlns:a16="http://schemas.microsoft.com/office/drawing/2014/main" id="{8CE25590-0012-4435-BF5C-50D1FB77BB3A}"/>
              </a:ext>
            </a:extLst>
          </p:cNvPr>
          <p:cNvSpPr>
            <a:spLocks noChangeArrowheads="1"/>
          </p:cNvSpPr>
          <p:nvPr/>
        </p:nvSpPr>
        <p:spPr bwMode="auto">
          <a:xfrm>
            <a:off x="168441" y="1671885"/>
            <a:ext cx="11718758"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the term on right hand side outside summation can be written as </a:t>
            </a:r>
            <a:r>
              <a:rPr kumimoji="0" lang="en-GB" altLang="en-US" sz="3200" b="0" i="1" u="none" strike="noStrike" cap="none" normalizeH="0" baseline="0" dirty="0">
                <a:ln>
                  <a:noFill/>
                </a:ln>
                <a:solidFill>
                  <a:srgbClr val="002060"/>
                </a:solidFill>
                <a:effectLst/>
                <a:ea typeface="Times New Roman" panose="02020603050405020304" pitchFamily="18" charset="0"/>
              </a:rPr>
              <a:t>C</a:t>
            </a:r>
            <a:r>
              <a:rPr kumimoji="0" lang="en-GB" altLang="en-US" sz="3200" b="0" i="1" u="none" strike="noStrike" cap="none" normalizeH="0" baseline="-30000" dirty="0">
                <a:ln>
                  <a:noFill/>
                </a:ln>
                <a:solidFill>
                  <a:srgbClr val="002060"/>
                </a:solidFill>
                <a:effectLst/>
                <a:ea typeface="Times New Roman" panose="02020603050405020304" pitchFamily="18" charset="0"/>
              </a:rPr>
              <a:t>o </a:t>
            </a:r>
            <a:r>
              <a:rPr kumimoji="0" lang="en-GB" altLang="en-US" sz="3200" b="0" i="1" u="none" strike="noStrike" cap="none" normalizeH="0" baseline="0" dirty="0">
                <a:ln>
                  <a:noFill/>
                </a:ln>
                <a:solidFill>
                  <a:srgbClr val="002060"/>
                </a:solidFill>
                <a:effectLst/>
                <a:ea typeface="Times New Roman" panose="02020603050405020304" pitchFamily="18" charset="0"/>
              </a:rPr>
              <a:t>e </a:t>
            </a:r>
            <a:r>
              <a:rPr kumimoji="0" lang="en-GB" altLang="en-US" sz="3200" b="0" i="1" u="none" strike="noStrike" cap="none" normalizeH="0" baseline="30000" dirty="0">
                <a:ln>
                  <a:noFill/>
                </a:ln>
                <a:solidFill>
                  <a:srgbClr val="002060"/>
                </a:solidFill>
                <a:effectLst/>
                <a:ea typeface="Times New Roman" panose="02020603050405020304" pitchFamily="18" charset="0"/>
              </a:rPr>
              <a:t>j0</a:t>
            </a:r>
            <a:r>
              <a:rPr kumimoji="0" lang="en-GB" altLang="en-US" sz="3200" b="0" i="0" u="none" strike="noStrike" cap="none" normalizeH="0" baseline="0" dirty="0">
                <a:ln>
                  <a:noFill/>
                </a:ln>
                <a:solidFill>
                  <a:srgbClr val="002060"/>
                </a:solidFill>
                <a:effectLst/>
                <a:ea typeface="Times New Roman" panose="02020603050405020304" pitchFamily="18" charset="0"/>
              </a:rPr>
              <a:t> and first term inside summation becomes </a:t>
            </a:r>
            <a:r>
              <a:rPr kumimoji="0" lang="en-GB" altLang="en-US" sz="3200" b="0" i="1" u="none" strike="noStrike" cap="none" normalizeH="0" baseline="0" dirty="0">
                <a:ln>
                  <a:noFill/>
                </a:ln>
                <a:solidFill>
                  <a:srgbClr val="002060"/>
                </a:solidFill>
                <a:effectLst/>
                <a:ea typeface="Times New Roman" panose="02020603050405020304" pitchFamily="18" charset="0"/>
              </a:rPr>
              <a:t>C</a:t>
            </a:r>
            <a:r>
              <a:rPr kumimoji="0" lang="en-GB" altLang="en-US" sz="3200" b="0" i="1" u="none" strike="noStrike" cap="none" normalizeH="0" baseline="-30000" dirty="0">
                <a:ln>
                  <a:noFill/>
                </a:ln>
                <a:solidFill>
                  <a:srgbClr val="002060"/>
                </a:solidFill>
                <a:effectLst/>
                <a:ea typeface="Times New Roman" panose="02020603050405020304" pitchFamily="18" charset="0"/>
              </a:rPr>
              <a:t>n </a:t>
            </a:r>
            <a:r>
              <a:rPr kumimoji="0" lang="en-GB" altLang="en-US" sz="3200" b="0" i="1" u="none" strike="noStrike" cap="none" normalizeH="0" baseline="0" dirty="0">
                <a:ln>
                  <a:noFill/>
                </a:ln>
                <a:solidFill>
                  <a:srgbClr val="002060"/>
                </a:solidFill>
                <a:effectLst/>
                <a:ea typeface="Times New Roman" panose="02020603050405020304" pitchFamily="18" charset="0"/>
              </a:rPr>
              <a:t>e </a:t>
            </a:r>
            <a:r>
              <a:rPr kumimoji="0" lang="en-GB" altLang="en-US" sz="3200" b="0" i="1" u="none" strike="noStrike" cap="none" normalizeH="0" baseline="30000" dirty="0" err="1">
                <a:ln>
                  <a:noFill/>
                </a:ln>
                <a:solidFill>
                  <a:srgbClr val="002060"/>
                </a:solidFill>
                <a:effectLst/>
                <a:ea typeface="Times New Roman" panose="02020603050405020304" pitchFamily="18" charset="0"/>
              </a:rPr>
              <a:t>jn</a:t>
            </a:r>
            <a:r>
              <a:rPr kumimoji="0" lang="en-GB" altLang="en-US" sz="3200" b="0" i="1" u="none" strike="noStrike" cap="none" normalizeH="0" baseline="30000" dirty="0" err="1">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1" u="none" strike="noStrike" cap="none" normalizeH="0" baseline="-30000" dirty="0">
                <a:ln>
                  <a:noFill/>
                </a:ln>
                <a:solidFill>
                  <a:srgbClr val="002060"/>
                </a:solidFill>
                <a:effectLst/>
                <a:ea typeface="Times New Roman" panose="02020603050405020304" pitchFamily="18" charset="0"/>
              </a:rPr>
              <a:t>º</a:t>
            </a:r>
            <a:r>
              <a:rPr kumimoji="0" lang="en-GB" altLang="en-US" sz="3200" b="0" i="1" u="none" strike="noStrike" cap="none" normalizeH="0" baseline="30000" dirty="0">
                <a:ln>
                  <a:noFill/>
                </a:ln>
                <a:solidFill>
                  <a:srgbClr val="002060"/>
                </a:solidFill>
                <a:effectLst/>
                <a:ea typeface="Times New Roman" panose="02020603050405020304" pitchFamily="18" charset="0"/>
              </a:rPr>
              <a:t> t</a:t>
            </a:r>
            <a:r>
              <a:rPr kumimoji="0" lang="en-GB" altLang="en-US" sz="3200" b="0" i="1" u="none" strike="noStrike" cap="none" normalizeH="0" baseline="0" dirty="0">
                <a:ln>
                  <a:noFill/>
                </a:ln>
                <a:solidFill>
                  <a:srgbClr val="002060"/>
                </a:solidFill>
                <a:effectLst/>
                <a:ea typeface="Times New Roman" panose="02020603050405020304" pitchFamily="18" charset="0"/>
              </a:rPr>
              <a:t>.</a:t>
            </a:r>
            <a:endParaRPr kumimoji="0" lang="en-GB" altLang="en-US" sz="3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endParaRPr kumimoji="0" lang="en-GB" altLang="en-US" sz="3200" b="0" i="0" u="none" strike="noStrike" cap="none" normalizeH="0" baseline="0" dirty="0">
              <a:ln>
                <a:noFill/>
              </a:ln>
              <a:solidFill>
                <a:srgbClr val="002060"/>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Since </a:t>
            </a:r>
            <a:endParaRPr kumimoji="0" lang="en-GB" altLang="en-US" sz="3200" b="0" i="0" u="none" strike="noStrike" cap="none" normalizeH="0" baseline="0" dirty="0">
              <a:ln>
                <a:noFill/>
              </a:ln>
              <a:solidFill>
                <a:schemeClr val="tx1"/>
              </a:solidFill>
              <a:effectLst/>
            </a:endParaRPr>
          </a:p>
        </p:txBody>
      </p:sp>
      <p:sp>
        <p:nvSpPr>
          <p:cNvPr id="13" name="Rectangle 11">
            <a:extLst>
              <a:ext uri="{FF2B5EF4-FFF2-40B4-BE49-F238E27FC236}">
                <a16:creationId xmlns:a16="http://schemas.microsoft.com/office/drawing/2014/main" id="{942DDCDE-E0C8-440F-B702-9C453E1EAFB6}"/>
              </a:ext>
            </a:extLst>
          </p:cNvPr>
          <p:cNvSpPr>
            <a:spLocks noChangeArrowheads="1"/>
          </p:cNvSpPr>
          <p:nvPr/>
        </p:nvSpPr>
        <p:spPr bwMode="auto">
          <a:xfrm>
            <a:off x="5650834" y="3105834"/>
            <a:ext cx="6256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12">
            <a:extLst>
              <a:ext uri="{FF2B5EF4-FFF2-40B4-BE49-F238E27FC236}">
                <a16:creationId xmlns:a16="http://schemas.microsoft.com/office/drawing/2014/main" id="{F3F09B24-C8BC-48FD-95DE-E7FAC6CEF07F}"/>
              </a:ext>
            </a:extLst>
          </p:cNvPr>
          <p:cNvSpPr>
            <a:spLocks noChangeArrowheads="1"/>
          </p:cNvSpPr>
          <p:nvPr/>
        </p:nvSpPr>
        <p:spPr bwMode="auto">
          <a:xfrm>
            <a:off x="152400" y="4222078"/>
            <a:ext cx="118661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and </a:t>
            </a:r>
            <a:endParaRPr kumimoji="0" lang="en-GB"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5" name="Rectangle 13">
            <a:extLst>
              <a:ext uri="{FF2B5EF4-FFF2-40B4-BE49-F238E27FC236}">
                <a16:creationId xmlns:a16="http://schemas.microsoft.com/office/drawing/2014/main" id="{EABE5206-D9D7-404E-BAB1-229FAEC379F4}"/>
              </a:ext>
            </a:extLst>
          </p:cNvPr>
          <p:cNvSpPr>
            <a:spLocks noChangeArrowheads="1"/>
          </p:cNvSpPr>
          <p:nvPr/>
        </p:nvSpPr>
        <p:spPr bwMode="auto">
          <a:xfrm>
            <a:off x="5548563" y="4252717"/>
            <a:ext cx="50532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14">
            <a:extLst>
              <a:ext uri="{FF2B5EF4-FFF2-40B4-BE49-F238E27FC236}">
                <a16:creationId xmlns:a16="http://schemas.microsoft.com/office/drawing/2014/main" id="{118F3C52-38B2-4C19-90DD-0EE68666EFE2}"/>
              </a:ext>
            </a:extLst>
          </p:cNvPr>
          <p:cNvSpPr>
            <a:spLocks noChangeArrowheads="1"/>
          </p:cNvSpPr>
          <p:nvPr/>
        </p:nvSpPr>
        <p:spPr bwMode="auto">
          <a:xfrm>
            <a:off x="10843209" y="4090058"/>
            <a:ext cx="149191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GB" altLang="en-US" sz="4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GB" altLang="en-US" sz="36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B</a:t>
            </a:r>
            <a:r>
              <a:rPr kumimoji="0" lang="en-GB" altLang="en-US" sz="3600" b="0" i="1"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n</a:t>
            </a:r>
            <a:endParaRPr kumimoji="0" lang="en-GB"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7" name="Rectangle 15">
            <a:extLst>
              <a:ext uri="{FF2B5EF4-FFF2-40B4-BE49-F238E27FC236}">
                <a16:creationId xmlns:a16="http://schemas.microsoft.com/office/drawing/2014/main" id="{87839673-CC69-41A0-AEEE-700C892AB73B}"/>
              </a:ext>
            </a:extLst>
          </p:cNvPr>
          <p:cNvSpPr>
            <a:spLocks noChangeArrowheads="1"/>
          </p:cNvSpPr>
          <p:nvPr/>
        </p:nvSpPr>
        <p:spPr bwMode="auto">
          <a:xfrm>
            <a:off x="104274" y="5971025"/>
            <a:ext cx="1017297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i.e. Second term inside summation becomes </a:t>
            </a:r>
            <a:r>
              <a:rPr kumimoji="0" lang="en-GB" altLang="en-US" sz="3200" b="0" i="1" u="none" strike="noStrike" cap="none" normalizeH="0" baseline="0" dirty="0">
                <a:ln>
                  <a:noFill/>
                </a:ln>
                <a:solidFill>
                  <a:srgbClr val="002060"/>
                </a:solidFill>
                <a:effectLst/>
                <a:ea typeface="Times New Roman" panose="02020603050405020304" pitchFamily="18" charset="0"/>
              </a:rPr>
              <a:t>C</a:t>
            </a:r>
            <a:r>
              <a:rPr kumimoji="0" lang="en-GB" altLang="en-US" sz="3200" b="0" i="1" u="none" strike="noStrike" cap="none" normalizeH="0" baseline="-30000" dirty="0">
                <a:ln>
                  <a:noFill/>
                </a:ln>
                <a:solidFill>
                  <a:srgbClr val="002060"/>
                </a:solidFill>
                <a:effectLst/>
                <a:ea typeface="Times New Roman" panose="02020603050405020304" pitchFamily="18" charset="0"/>
              </a:rPr>
              <a:t>-n </a:t>
            </a:r>
            <a:r>
              <a:rPr kumimoji="0" lang="en-GB" altLang="en-US" sz="3200" b="0" i="1" u="none" strike="noStrike" cap="none" normalizeH="0" baseline="0" dirty="0">
                <a:ln>
                  <a:noFill/>
                </a:ln>
                <a:solidFill>
                  <a:srgbClr val="002060"/>
                </a:solidFill>
                <a:effectLst/>
                <a:ea typeface="Times New Roman" panose="02020603050405020304" pitchFamily="18" charset="0"/>
              </a:rPr>
              <a:t>e</a:t>
            </a:r>
            <a:r>
              <a:rPr kumimoji="0" lang="en-GB" altLang="en-US" sz="3200" b="0" i="1" u="none" strike="noStrike" cap="none" normalizeH="0" baseline="30000" dirty="0">
                <a:ln>
                  <a:noFill/>
                </a:ln>
                <a:solidFill>
                  <a:srgbClr val="002060"/>
                </a:solidFill>
                <a:effectLst/>
                <a:ea typeface="Times New Roman" panose="02020603050405020304" pitchFamily="18" charset="0"/>
              </a:rPr>
              <a:t>-</a:t>
            </a:r>
            <a:r>
              <a:rPr kumimoji="0" lang="en-GB" altLang="en-US" sz="3200" b="0" i="1" u="none" strike="noStrike" cap="none" normalizeH="0" baseline="0" dirty="0">
                <a:ln>
                  <a:noFill/>
                </a:ln>
                <a:solidFill>
                  <a:srgbClr val="002060"/>
                </a:solidFill>
                <a:effectLst/>
                <a:ea typeface="Times New Roman" panose="02020603050405020304" pitchFamily="18" charset="0"/>
              </a:rPr>
              <a:t> </a:t>
            </a:r>
            <a:r>
              <a:rPr kumimoji="0" lang="en-GB" altLang="en-US" sz="3200" b="0" i="1" u="none" strike="noStrike" cap="none" normalizeH="0" baseline="30000" dirty="0" err="1">
                <a:ln>
                  <a:noFill/>
                </a:ln>
                <a:solidFill>
                  <a:srgbClr val="002060"/>
                </a:solidFill>
                <a:effectLst/>
                <a:ea typeface="Times New Roman" panose="02020603050405020304" pitchFamily="18" charset="0"/>
              </a:rPr>
              <a:t>jn</a:t>
            </a:r>
            <a:r>
              <a:rPr kumimoji="0" lang="en-GB" altLang="en-US" sz="3200" b="0" i="1" u="none" strike="noStrike" cap="none" normalizeH="0" baseline="30000" dirty="0" err="1">
                <a:ln>
                  <a:noFill/>
                </a:ln>
                <a:solidFill>
                  <a:srgbClr val="002060"/>
                </a:solidFill>
                <a:effectLst/>
                <a:latin typeface="Symbol" panose="05050102010706020507" pitchFamily="18" charset="2"/>
                <a:ea typeface="Times New Roman" panose="02020603050405020304" pitchFamily="18" charset="0"/>
              </a:rPr>
              <a:t>w</a:t>
            </a:r>
            <a:r>
              <a:rPr kumimoji="0" lang="en-GB" altLang="en-US" sz="3200" b="0" i="1" u="none" strike="noStrike" cap="none" normalizeH="0" baseline="-30000" dirty="0">
                <a:ln>
                  <a:noFill/>
                </a:ln>
                <a:solidFill>
                  <a:srgbClr val="002060"/>
                </a:solidFill>
                <a:effectLst/>
                <a:ea typeface="Times New Roman" panose="02020603050405020304" pitchFamily="18" charset="0"/>
              </a:rPr>
              <a:t>º</a:t>
            </a:r>
            <a:r>
              <a:rPr kumimoji="0" lang="en-GB" altLang="en-US" sz="3200" b="0" i="1" u="none" strike="noStrike" cap="none" normalizeH="0" baseline="30000" dirty="0">
                <a:ln>
                  <a:noFill/>
                </a:ln>
                <a:solidFill>
                  <a:srgbClr val="002060"/>
                </a:solidFill>
                <a:effectLst/>
                <a:ea typeface="Times New Roman" panose="02020603050405020304" pitchFamily="18" charset="0"/>
              </a:rPr>
              <a:t> t</a:t>
            </a:r>
            <a:r>
              <a:rPr kumimoji="0" lang="en-GB" altLang="en-US" sz="3200" b="0" i="1" u="none" strike="noStrike" cap="none" normalizeH="0" baseline="0" dirty="0">
                <a:ln>
                  <a:noFill/>
                </a:ln>
                <a:solidFill>
                  <a:srgbClr val="002060"/>
                </a:solidFill>
                <a:effectLst/>
                <a:ea typeface="Times New Roman" panose="02020603050405020304" pitchFamily="18" charset="0"/>
              </a:rPr>
              <a:t>.</a:t>
            </a:r>
            <a:endParaRPr kumimoji="0" lang="en-GB" altLang="en-US" sz="1600" b="0" i="0" u="none" strike="noStrike" cap="none" normalizeH="0" baseline="0" dirty="0">
              <a:ln>
                <a:noFill/>
              </a:ln>
              <a:solidFill>
                <a:schemeClr val="tx1"/>
              </a:solidFill>
              <a:effectLst/>
              <a:latin typeface="Arial" panose="020B0604020202020204" pitchFamily="34" charset="0"/>
            </a:endParaRPr>
          </a:p>
        </p:txBody>
      </p:sp>
      <p:sp>
        <p:nvSpPr>
          <p:cNvPr id="19" name="Rectangle 12">
            <a:extLst>
              <a:ext uri="{FF2B5EF4-FFF2-40B4-BE49-F238E27FC236}">
                <a16:creationId xmlns:a16="http://schemas.microsoft.com/office/drawing/2014/main" id="{25E42F2A-3AA0-4966-B622-FF54C2710CAB}"/>
              </a:ext>
            </a:extLst>
          </p:cNvPr>
          <p:cNvSpPr>
            <a:spLocks noChangeArrowheads="1"/>
          </p:cNvSpPr>
          <p:nvPr/>
        </p:nvSpPr>
        <p:spPr bwMode="auto">
          <a:xfrm>
            <a:off x="10986335" y="3053316"/>
            <a:ext cx="120566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 </a:t>
            </a:r>
            <a:r>
              <a:rPr kumimoji="0" lang="en-GB" altLang="en-US" sz="36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kumimoji="0" lang="en-GB" altLang="en-US" sz="3600" b="0" i="1"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n</a:t>
            </a:r>
            <a:endParaRPr kumimoji="0" lang="en-GB"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1505100"/>
      </p:ext>
    </p:extLst>
  </p:cSld>
  <p:clrMapOvr>
    <a:masterClrMapping/>
  </p:clrMapOvr>
  <mc:AlternateContent xmlns:mc="http://schemas.openxmlformats.org/markup-compatibility/2006" xmlns:p14="http://schemas.microsoft.com/office/powerpoint/2010/main">
    <mc:Choice Requires="p14">
      <p:transition spd="slow" p14:dur="2000" advTm="24501"/>
    </mc:Choice>
    <mc:Fallback xmlns="">
      <p:transition spd="slow" advTm="24501"/>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5C7CC76C-7D11-4AE1-921F-E55EF3227E4C}"/>
              </a:ext>
            </a:extLst>
          </p:cNvPr>
          <p:cNvGraphicFramePr>
            <a:graphicFrameLocks noChangeAspect="1"/>
          </p:cNvGraphicFramePr>
          <p:nvPr>
            <p:extLst>
              <p:ext uri="{D42A27DB-BD31-4B8C-83A1-F6EECF244321}">
                <p14:modId xmlns:p14="http://schemas.microsoft.com/office/powerpoint/2010/main" val="2524346192"/>
              </p:ext>
            </p:extLst>
          </p:nvPr>
        </p:nvGraphicFramePr>
        <p:xfrm>
          <a:off x="336885" y="1780877"/>
          <a:ext cx="3962400" cy="1390650"/>
        </p:xfrm>
        <a:graphic>
          <a:graphicData uri="http://schemas.openxmlformats.org/presentationml/2006/ole">
            <mc:AlternateContent xmlns:mc="http://schemas.openxmlformats.org/markup-compatibility/2006">
              <mc:Choice xmlns:v="urn:schemas-microsoft-com:vml" Requires="v">
                <p:oleObj r:id="rId3" imgW="1231366" imgH="431613" progId="Equation.3">
                  <p:embed/>
                </p:oleObj>
              </mc:Choice>
              <mc:Fallback>
                <p:oleObj r:id="rId3" imgW="1231366" imgH="431613"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885" y="1780877"/>
                        <a:ext cx="3962400" cy="1390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15BA3B41-8DA9-4CAA-8EFB-C934DB01557C}"/>
              </a:ext>
            </a:extLst>
          </p:cNvPr>
          <p:cNvGraphicFramePr>
            <a:graphicFrameLocks noChangeAspect="1"/>
          </p:cNvGraphicFramePr>
          <p:nvPr>
            <p:extLst>
              <p:ext uri="{D42A27DB-BD31-4B8C-83A1-F6EECF244321}">
                <p14:modId xmlns:p14="http://schemas.microsoft.com/office/powerpoint/2010/main" val="25748064"/>
              </p:ext>
            </p:extLst>
          </p:nvPr>
        </p:nvGraphicFramePr>
        <p:xfrm>
          <a:off x="152400" y="4062543"/>
          <a:ext cx="2590800" cy="1123950"/>
        </p:xfrm>
        <a:graphic>
          <a:graphicData uri="http://schemas.openxmlformats.org/presentationml/2006/ole">
            <mc:AlternateContent xmlns:mc="http://schemas.openxmlformats.org/markup-compatibility/2006">
              <mc:Choice xmlns:v="urn:schemas-microsoft-com:vml" Requires="v">
                <p:oleObj r:id="rId5" imgW="952087" imgH="406224" progId="Equation.3">
                  <p:embed/>
                </p:oleObj>
              </mc:Choice>
              <mc:Fallback>
                <p:oleObj r:id="rId5" imgW="952087" imgH="406224"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4062543"/>
                        <a:ext cx="2590800" cy="1123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a:extLst>
              <a:ext uri="{FF2B5EF4-FFF2-40B4-BE49-F238E27FC236}">
                <a16:creationId xmlns:a16="http://schemas.microsoft.com/office/drawing/2014/main" id="{300AE2C0-C6F2-4C5D-830D-1A8A727124E9}"/>
              </a:ext>
            </a:extLst>
          </p:cNvPr>
          <p:cNvGraphicFramePr>
            <a:graphicFrameLocks noChangeAspect="1"/>
          </p:cNvGraphicFramePr>
          <p:nvPr>
            <p:extLst>
              <p:ext uri="{D42A27DB-BD31-4B8C-83A1-F6EECF244321}">
                <p14:modId xmlns:p14="http://schemas.microsoft.com/office/powerpoint/2010/main" val="2269360134"/>
              </p:ext>
            </p:extLst>
          </p:nvPr>
        </p:nvGraphicFramePr>
        <p:xfrm>
          <a:off x="2791327" y="3767268"/>
          <a:ext cx="7677150" cy="1714500"/>
        </p:xfrm>
        <a:graphic>
          <a:graphicData uri="http://schemas.openxmlformats.org/presentationml/2006/ole">
            <mc:AlternateContent xmlns:mc="http://schemas.openxmlformats.org/markup-compatibility/2006">
              <mc:Choice xmlns:v="urn:schemas-microsoft-com:vml" Requires="v">
                <p:oleObj r:id="rId7" imgW="2578100" imgH="571500" progId="Equation.3">
                  <p:embed/>
                </p:oleObj>
              </mc:Choice>
              <mc:Fallback>
                <p:oleObj r:id="rId7" imgW="2578100" imgH="571500"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91327" y="3767268"/>
                        <a:ext cx="7677150" cy="171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a:extLst>
              <a:ext uri="{FF2B5EF4-FFF2-40B4-BE49-F238E27FC236}">
                <a16:creationId xmlns:a16="http://schemas.microsoft.com/office/drawing/2014/main" id="{37AB7F56-3596-4B6F-B688-64347858390A}"/>
              </a:ext>
            </a:extLst>
          </p:cNvPr>
          <p:cNvGraphicFramePr>
            <a:graphicFrameLocks noChangeAspect="1"/>
          </p:cNvGraphicFramePr>
          <p:nvPr>
            <p:extLst>
              <p:ext uri="{D42A27DB-BD31-4B8C-83A1-F6EECF244321}">
                <p14:modId xmlns:p14="http://schemas.microsoft.com/office/powerpoint/2010/main" val="599687165"/>
              </p:ext>
            </p:extLst>
          </p:nvPr>
        </p:nvGraphicFramePr>
        <p:xfrm>
          <a:off x="336885" y="5337390"/>
          <a:ext cx="3962400" cy="1390650"/>
        </p:xfrm>
        <a:graphic>
          <a:graphicData uri="http://schemas.openxmlformats.org/presentationml/2006/ole">
            <mc:AlternateContent xmlns:mc="http://schemas.openxmlformats.org/markup-compatibility/2006">
              <mc:Choice xmlns:v="urn:schemas-microsoft-com:vml" Requires="v">
                <p:oleObj r:id="rId9" imgW="1663700" imgH="571500" progId="Equation.3">
                  <p:embed/>
                </p:oleObj>
              </mc:Choice>
              <mc:Fallback>
                <p:oleObj r:id="rId9" imgW="1663700" imgH="571500" progId="Equation.3">
                  <p:embed/>
                  <p:pic>
                    <p:nvPicPr>
                      <p:cNvPr id="0" name="Object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6885" y="5337390"/>
                        <a:ext cx="3962400" cy="1390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5">
            <a:extLst>
              <a:ext uri="{FF2B5EF4-FFF2-40B4-BE49-F238E27FC236}">
                <a16:creationId xmlns:a16="http://schemas.microsoft.com/office/drawing/2014/main" id="{369B6F79-A4E1-4296-B75C-88DDA3755371}"/>
              </a:ext>
            </a:extLst>
          </p:cNvPr>
          <p:cNvSpPr>
            <a:spLocks noChangeArrowheads="1"/>
          </p:cNvSpPr>
          <p:nvPr/>
        </p:nvSpPr>
        <p:spPr bwMode="auto">
          <a:xfrm>
            <a:off x="0" y="437299"/>
            <a:ext cx="12039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The three sets of terms in equations correspond to zero term, positive terms and negative terms of frequency.</a:t>
            </a:r>
            <a:endParaRPr kumimoji="0" lang="en-GB" altLang="en-US" sz="3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Thus Fourier Series may be written in complex form as</a:t>
            </a:r>
            <a:endParaRPr kumimoji="0" lang="en-GB" altLang="en-US" sz="3200" b="0" i="0" u="none" strike="noStrike" cap="none" normalizeH="0" baseline="0" dirty="0">
              <a:ln>
                <a:noFill/>
              </a:ln>
              <a:solidFill>
                <a:schemeClr val="tx1"/>
              </a:solidFill>
              <a:effectLst/>
              <a:latin typeface="Arial" panose="020B0604020202020204" pitchFamily="34" charset="0"/>
            </a:endParaRPr>
          </a:p>
        </p:txBody>
      </p:sp>
      <p:sp>
        <p:nvSpPr>
          <p:cNvPr id="8" name="Rectangle 6">
            <a:extLst>
              <a:ext uri="{FF2B5EF4-FFF2-40B4-BE49-F238E27FC236}">
                <a16:creationId xmlns:a16="http://schemas.microsoft.com/office/drawing/2014/main" id="{89F2CFF2-0E3B-41CF-9D42-FF41DF836FD2}"/>
              </a:ext>
            </a:extLst>
          </p:cNvPr>
          <p:cNvSpPr>
            <a:spLocks noChangeArrowheads="1"/>
          </p:cNvSpPr>
          <p:nvPr/>
        </p:nvSpPr>
        <p:spPr bwMode="auto">
          <a:xfrm>
            <a:off x="152400" y="3155813"/>
            <a:ext cx="1003433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and Fourier coefficient </a:t>
            </a:r>
            <a:r>
              <a:rPr kumimoji="0" lang="en-GB" altLang="en-US" sz="3200" b="0"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C</a:t>
            </a:r>
            <a:r>
              <a:rPr kumimoji="0" lang="en-GB" altLang="en-US" sz="3200" b="0" i="1"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n</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can be calculated as follows.</a:t>
            </a:r>
            <a:endParaRPr kumimoji="0" lang="en-GB" altLang="en-US" sz="11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95176135"/>
      </p:ext>
    </p:extLst>
  </p:cSld>
  <p:clrMapOvr>
    <a:masterClrMapping/>
  </p:clrMapOvr>
  <mc:AlternateContent xmlns:mc="http://schemas.openxmlformats.org/markup-compatibility/2006" xmlns:p14="http://schemas.microsoft.com/office/powerpoint/2010/main">
    <mc:Choice Requires="p14">
      <p:transition spd="slow" p14:dur="2000" advTm="41173"/>
    </mc:Choice>
    <mc:Fallback xmlns="">
      <p:transition spd="slow" advTm="41173"/>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F90116E8-8FA9-411A-82B2-18EB37CA57E2}"/>
              </a:ext>
            </a:extLst>
          </p:cNvPr>
          <p:cNvGraphicFramePr>
            <a:graphicFrameLocks noChangeAspect="1"/>
          </p:cNvGraphicFramePr>
          <p:nvPr>
            <p:extLst>
              <p:ext uri="{D42A27DB-BD31-4B8C-83A1-F6EECF244321}">
                <p14:modId xmlns:p14="http://schemas.microsoft.com/office/powerpoint/2010/main" val="149933402"/>
              </p:ext>
            </p:extLst>
          </p:nvPr>
        </p:nvGraphicFramePr>
        <p:xfrm>
          <a:off x="360945" y="818145"/>
          <a:ext cx="3543300" cy="1219200"/>
        </p:xfrm>
        <a:graphic>
          <a:graphicData uri="http://schemas.openxmlformats.org/presentationml/2006/ole">
            <mc:AlternateContent xmlns:mc="http://schemas.openxmlformats.org/markup-compatibility/2006">
              <mc:Choice xmlns:v="urn:schemas-microsoft-com:vml" Requires="v">
                <p:oleObj r:id="rId3" imgW="1244600" imgH="431800" progId="Equation.3">
                  <p:embed/>
                </p:oleObj>
              </mc:Choice>
              <mc:Fallback>
                <p:oleObj r:id="rId3" imgW="1244600" imgH="4318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945" y="818145"/>
                        <a:ext cx="3543300" cy="1219200"/>
                      </a:xfrm>
                      <a:prstGeom prst="rect">
                        <a:avLst/>
                      </a:prstGeom>
                      <a:noFill/>
                      <a:extLst>
                        <a:ext uri="{909E8E84-426E-40DD-AFC4-6F175D3DCCD1}">
                          <a14:hiddenFill xmlns:a14="http://schemas.microsoft.com/office/drawing/2010/main">
                            <a:solidFill>
                              <a:srgbClr val="C00000"/>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768B2C5C-2A50-471F-920D-3054FA91E90B}"/>
              </a:ext>
            </a:extLst>
          </p:cNvPr>
          <p:cNvGraphicFramePr>
            <a:graphicFrameLocks noChangeAspect="1"/>
          </p:cNvGraphicFramePr>
          <p:nvPr>
            <p:extLst>
              <p:ext uri="{D42A27DB-BD31-4B8C-83A1-F6EECF244321}">
                <p14:modId xmlns:p14="http://schemas.microsoft.com/office/powerpoint/2010/main" val="376583900"/>
              </p:ext>
            </p:extLst>
          </p:nvPr>
        </p:nvGraphicFramePr>
        <p:xfrm>
          <a:off x="502318" y="2282874"/>
          <a:ext cx="4362450" cy="1219200"/>
        </p:xfrm>
        <a:graphic>
          <a:graphicData uri="http://schemas.openxmlformats.org/presentationml/2006/ole">
            <mc:AlternateContent xmlns:mc="http://schemas.openxmlformats.org/markup-compatibility/2006">
              <mc:Choice xmlns:v="urn:schemas-microsoft-com:vml" Requires="v">
                <p:oleObj r:id="rId5" imgW="1600200" imgH="444500" progId="Equation.3">
                  <p:embed/>
                </p:oleObj>
              </mc:Choice>
              <mc:Fallback>
                <p:oleObj r:id="rId5" imgW="1600200" imgH="4445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318" y="2282874"/>
                        <a:ext cx="4362450"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3">
            <a:extLst>
              <a:ext uri="{FF2B5EF4-FFF2-40B4-BE49-F238E27FC236}">
                <a16:creationId xmlns:a16="http://schemas.microsoft.com/office/drawing/2014/main" id="{EBE668F1-0383-4630-B2B6-161E4E2A6033}"/>
              </a:ext>
            </a:extLst>
          </p:cNvPr>
          <p:cNvSpPr>
            <a:spLocks noChangeArrowheads="1"/>
          </p:cNvSpPr>
          <p:nvPr/>
        </p:nvSpPr>
        <p:spPr bwMode="auto">
          <a:xfrm>
            <a:off x="120315" y="449557"/>
            <a:ext cx="1161448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The Fourier Series may be written in complex form as</a:t>
            </a:r>
            <a:endParaRPr kumimoji="0" lang="en-GB" altLang="en-US" sz="3200" b="0" i="0" u="none" strike="noStrike" cap="none" normalizeH="0" baseline="0" dirty="0">
              <a:ln>
                <a:noFill/>
              </a:ln>
              <a:solidFill>
                <a:schemeClr val="tx1"/>
              </a:solidFill>
              <a:effectLst/>
              <a:latin typeface="Arial" panose="020B0604020202020204" pitchFamily="34" charset="0"/>
            </a:endParaRPr>
          </a:p>
        </p:txBody>
      </p:sp>
      <p:sp>
        <p:nvSpPr>
          <p:cNvPr id="6" name="Rectangle 4">
            <a:extLst>
              <a:ext uri="{FF2B5EF4-FFF2-40B4-BE49-F238E27FC236}">
                <a16:creationId xmlns:a16="http://schemas.microsoft.com/office/drawing/2014/main" id="{7FA18362-928C-4318-ADB5-50527A1D7464}"/>
              </a:ext>
            </a:extLst>
          </p:cNvPr>
          <p:cNvSpPr>
            <a:spLocks noChangeArrowheads="1"/>
          </p:cNvSpPr>
          <p:nvPr/>
        </p:nvSpPr>
        <p:spPr bwMode="auto">
          <a:xfrm>
            <a:off x="152400" y="1861264"/>
            <a:ext cx="1161448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1pPr>
            <a:lvl2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2pPr>
            <a:lvl3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3pPr>
            <a:lvl4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4pPr>
            <a:lvl5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5pPr>
            <a:lvl6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6pPr>
            <a:lvl7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7pPr>
            <a:lvl8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8pPr>
            <a:lvl9pPr eaLnBrk="0" fontAlgn="base" hangingPunct="0">
              <a:spcBef>
                <a:spcPct val="0"/>
              </a:spcBef>
              <a:spcAft>
                <a:spcPct val="0"/>
              </a:spcAft>
              <a:tabLst>
                <a:tab pos="381000" algn="l"/>
                <a:tab pos="3276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1000" algn="l"/>
                <a:tab pos="3276600" algn="l"/>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where the Fourier coefficients </a:t>
            </a:r>
            <a:r>
              <a:rPr kumimoji="0" lang="en-GB" altLang="en-US" sz="3200" b="0"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C</a:t>
            </a:r>
            <a:r>
              <a:rPr kumimoji="0" lang="en-GB" altLang="en-US" sz="3200" b="0" i="1"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n</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are given by</a:t>
            </a:r>
            <a:endParaRPr kumimoji="0" lang="en-GB" altLang="en-US" sz="3200" b="0" i="0" u="none" strike="noStrike" cap="none" normalizeH="0" baseline="0" dirty="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96F8EE93-30D2-4A52-9B23-950F85A5A8ED}"/>
              </a:ext>
            </a:extLst>
          </p:cNvPr>
          <p:cNvSpPr>
            <a:spLocks noChangeArrowheads="1"/>
          </p:cNvSpPr>
          <p:nvPr/>
        </p:nvSpPr>
        <p:spPr bwMode="auto">
          <a:xfrm>
            <a:off x="192504" y="3274672"/>
            <a:ext cx="11847096"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1pPr>
            <a:lvl2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2pPr>
            <a:lvl3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3pPr>
            <a:lvl4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4pPr>
            <a:lvl5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5pPr>
            <a:lvl6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6pPr>
            <a:lvl7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7pPr>
            <a:lvl8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8pPr>
            <a:lvl9pPr eaLnBrk="0" fontAlgn="base" hangingPunct="0">
              <a:spcBef>
                <a:spcPct val="0"/>
              </a:spcBef>
              <a:spcAft>
                <a:spcPct val="0"/>
              </a:spcAft>
              <a:tabLst>
                <a:tab pos="457200" algn="r"/>
                <a:tab pos="2743200" algn="ctr"/>
                <a:tab pos="5486400" algn="r"/>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GB" altLang="en-US" sz="3200" b="0" i="0" u="none" strike="noStrike" cap="none" normalizeH="0" baseline="0" dirty="0">
                <a:ln>
                  <a:noFill/>
                </a:ln>
                <a:solidFill>
                  <a:srgbClr val="002060"/>
                </a:solidFill>
                <a:effectLst/>
                <a:ea typeface="Times New Roman" panose="02020603050405020304" pitchFamily="18" charset="0"/>
              </a:rPr>
              <a:t>In symmetrical form, </a:t>
            </a:r>
            <a:endParaRPr kumimoji="0" lang="en-GB" altLang="en-US" sz="3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GB" altLang="en-US" sz="3200" b="0" i="0" u="none" strike="noStrike" cap="none" normalizeH="0" baseline="0" dirty="0">
                <a:ln>
                  <a:noFill/>
                </a:ln>
                <a:solidFill>
                  <a:srgbClr val="002060"/>
                </a:solidFill>
                <a:effectLst/>
                <a:ea typeface="Times New Roman" panose="02020603050405020304" pitchFamily="18" charset="0"/>
              </a:rPr>
              <a:t>Fourier series is written with t</a:t>
            </a:r>
            <a:r>
              <a:rPr kumimoji="0" lang="en-GB" altLang="en-US" sz="3200" b="0" i="0" u="none" strike="noStrike" cap="none" normalizeH="0" baseline="-30000" dirty="0">
                <a:ln>
                  <a:noFill/>
                </a:ln>
                <a:solidFill>
                  <a:srgbClr val="002060"/>
                </a:solidFill>
                <a:effectLst/>
                <a:ea typeface="Times New Roman" panose="02020603050405020304" pitchFamily="18" charset="0"/>
              </a:rPr>
              <a:t>o</a:t>
            </a:r>
            <a:r>
              <a:rPr kumimoji="0" lang="en-GB" altLang="en-US" sz="3200" b="0" i="0" u="none" strike="noStrike" cap="none" normalizeH="0" baseline="0" dirty="0">
                <a:ln>
                  <a:noFill/>
                </a:ln>
                <a:solidFill>
                  <a:srgbClr val="002060"/>
                </a:solidFill>
                <a:effectLst/>
                <a:ea typeface="Times New Roman" panose="02020603050405020304" pitchFamily="18" charset="0"/>
              </a:rPr>
              <a:t> = </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t>
            </a:r>
            <a:r>
              <a:rPr kumimoji="0" lang="en-GB" altLang="en-US" sz="3200" b="0" i="0" u="none" strike="noStrike" cap="none" normalizeH="0" baseline="0" dirty="0">
                <a:ln>
                  <a:noFill/>
                </a:ln>
                <a:solidFill>
                  <a:srgbClr val="002060"/>
                </a:solidFill>
                <a:effectLst/>
                <a:ea typeface="Times New Roman" panose="02020603050405020304" pitchFamily="18" charset="0"/>
              </a:rPr>
              <a:t>T/2.</a:t>
            </a:r>
            <a:endParaRPr kumimoji="0" lang="en-GB" altLang="en-US" sz="3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GB" altLang="en-US" sz="3200" b="0" i="0" u="none" strike="noStrike" cap="none" normalizeH="0" baseline="0" dirty="0">
                <a:ln>
                  <a:noFill/>
                </a:ln>
                <a:solidFill>
                  <a:srgbClr val="002060"/>
                </a:solidFill>
                <a:effectLst/>
                <a:ea typeface="Times New Roman" panose="02020603050405020304" pitchFamily="18" charset="0"/>
              </a:rPr>
              <a:t>Fourier series is written for a periodic function with period T, </a:t>
            </a:r>
            <a:endParaRPr lang="en-GB" altLang="en-US" sz="3200" dirty="0"/>
          </a:p>
          <a:p>
            <a:pPr marL="0" marR="0" lvl="0" indent="0" algn="just" defTabSz="914400" rtl="0" eaLnBrk="0" fontAlgn="base" latinLnBrk="0" hangingPunct="0">
              <a:lnSpc>
                <a:spcPct val="100000"/>
              </a:lnSpc>
              <a:spcBef>
                <a:spcPct val="0"/>
              </a:spcBef>
              <a:spcAft>
                <a:spcPct val="0"/>
              </a:spcAft>
              <a:buClrTx/>
              <a:buSzTx/>
              <a:buFontTx/>
              <a:buNone/>
              <a:tabLst>
                <a:tab pos="457200" algn="r"/>
                <a:tab pos="2743200" algn="ctr"/>
                <a:tab pos="5486400" algn="r"/>
              </a:tabLst>
            </a:pPr>
            <a:r>
              <a:rPr kumimoji="0" lang="en-GB" altLang="en-US" sz="3200" b="0" i="0" u="none" strike="noStrike" cap="none" normalizeH="0" baseline="0" dirty="0">
                <a:ln>
                  <a:noFill/>
                </a:ln>
                <a:solidFill>
                  <a:srgbClr val="002060"/>
                </a:solidFill>
                <a:effectLst/>
                <a:ea typeface="Times New Roman" panose="02020603050405020304" pitchFamily="18" charset="0"/>
              </a:rPr>
              <a:t>and discrete frequency components are obtained for the waveform.  </a:t>
            </a:r>
            <a:endParaRPr kumimoji="0" lang="en-GB" altLang="en-US" sz="3200" b="0" i="0" u="none" strike="noStrike" cap="none" normalizeH="0" baseline="0" dirty="0">
              <a:ln>
                <a:noFill/>
              </a:ln>
              <a:solidFill>
                <a:schemeClr val="tx1"/>
              </a:solidFill>
              <a:effectLst/>
            </a:endParaRPr>
          </a:p>
        </p:txBody>
      </p:sp>
      <p:sp>
        <p:nvSpPr>
          <p:cNvPr id="8" name="Rectangle 7">
            <a:extLst>
              <a:ext uri="{FF2B5EF4-FFF2-40B4-BE49-F238E27FC236}">
                <a16:creationId xmlns:a16="http://schemas.microsoft.com/office/drawing/2014/main" id="{D48DE20D-E9C4-43F6-A57F-CC2DE91BAB04}"/>
              </a:ext>
            </a:extLst>
          </p:cNvPr>
          <p:cNvSpPr/>
          <p:nvPr/>
        </p:nvSpPr>
        <p:spPr>
          <a:xfrm>
            <a:off x="152400" y="5660776"/>
            <a:ext cx="9424737" cy="1077218"/>
          </a:xfrm>
          <a:prstGeom prst="rect">
            <a:avLst/>
          </a:prstGeom>
        </p:spPr>
        <p:txBody>
          <a:bodyPr wrap="square">
            <a:spAutoFit/>
          </a:bodyPr>
          <a:lstStyle/>
          <a:p>
            <a:pPr lvl="0" algn="just" eaLnBrk="0" fontAlgn="base" hangingPunct="0">
              <a:spcBef>
                <a:spcPct val="0"/>
              </a:spcBef>
              <a:spcAft>
                <a:spcPct val="0"/>
              </a:spcAft>
              <a:tabLst>
                <a:tab pos="457200" algn="r"/>
                <a:tab pos="2743200" algn="ctr"/>
                <a:tab pos="5486400" algn="r"/>
              </a:tabLst>
            </a:pPr>
            <a:r>
              <a:rPr lang="en-GB" altLang="en-US" sz="3200" dirty="0">
                <a:solidFill>
                  <a:srgbClr val="002060"/>
                </a:solidFill>
                <a:ea typeface="Times New Roman" panose="02020603050405020304" pitchFamily="18" charset="0"/>
              </a:rPr>
              <a:t>Fundamental frequency </a:t>
            </a:r>
            <a:r>
              <a:rPr lang="en-GB" altLang="en-US" sz="3200" dirty="0">
                <a:solidFill>
                  <a:srgbClr val="002060"/>
                </a:solidFill>
                <a:latin typeface="Symbol" panose="05050102010706020507" pitchFamily="18" charset="2"/>
                <a:ea typeface="Times New Roman" panose="02020603050405020304" pitchFamily="18" charset="0"/>
              </a:rPr>
              <a:t>w</a:t>
            </a:r>
            <a:r>
              <a:rPr lang="en-GB" altLang="en-US" sz="3200" baseline="-30000" dirty="0">
                <a:solidFill>
                  <a:srgbClr val="002060"/>
                </a:solidFill>
                <a:ea typeface="Times New Roman" panose="02020603050405020304" pitchFamily="18" charset="0"/>
              </a:rPr>
              <a:t>o</a:t>
            </a:r>
            <a:r>
              <a:rPr lang="en-GB" altLang="en-US" sz="3200" dirty="0">
                <a:solidFill>
                  <a:srgbClr val="002060"/>
                </a:solidFill>
                <a:ea typeface="Times New Roman" panose="02020603050405020304" pitchFamily="18" charset="0"/>
              </a:rPr>
              <a:t> is related to period T by expression </a:t>
            </a:r>
            <a:r>
              <a:rPr lang="en-GB" altLang="en-US" sz="3200" dirty="0">
                <a:solidFill>
                  <a:srgbClr val="002060"/>
                </a:solidFill>
                <a:latin typeface="Symbol" panose="05050102010706020507" pitchFamily="18" charset="2"/>
                <a:ea typeface="Times New Roman" panose="02020603050405020304" pitchFamily="18" charset="0"/>
              </a:rPr>
              <a:t>w</a:t>
            </a:r>
            <a:r>
              <a:rPr lang="en-GB" altLang="en-US" sz="3200" baseline="-30000" dirty="0">
                <a:solidFill>
                  <a:srgbClr val="002060"/>
                </a:solidFill>
                <a:ea typeface="Times New Roman" panose="02020603050405020304" pitchFamily="18" charset="0"/>
              </a:rPr>
              <a:t>o</a:t>
            </a:r>
            <a:r>
              <a:rPr lang="en-GB" altLang="en-US" sz="3200" dirty="0">
                <a:solidFill>
                  <a:srgbClr val="002060"/>
                </a:solidFill>
                <a:ea typeface="Times New Roman" panose="02020603050405020304" pitchFamily="18" charset="0"/>
              </a:rPr>
              <a:t> = 2</a:t>
            </a:r>
            <a:r>
              <a:rPr lang="en-GB" altLang="en-US" sz="3200" dirty="0">
                <a:solidFill>
                  <a:srgbClr val="002060"/>
                </a:solidFill>
                <a:latin typeface="Symbol" panose="05050102010706020507" pitchFamily="18" charset="2"/>
                <a:ea typeface="Times New Roman" panose="02020603050405020304" pitchFamily="18" charset="0"/>
              </a:rPr>
              <a:t>p</a:t>
            </a:r>
            <a:r>
              <a:rPr lang="en-GB" altLang="en-US" sz="3200" dirty="0">
                <a:solidFill>
                  <a:srgbClr val="002060"/>
                </a:solidFill>
                <a:ea typeface="Times New Roman" panose="02020603050405020304" pitchFamily="18" charset="0"/>
              </a:rPr>
              <a:t>/T.</a:t>
            </a:r>
            <a:endParaRPr lang="en-GB" altLang="en-US" sz="3200" dirty="0"/>
          </a:p>
        </p:txBody>
      </p:sp>
    </p:spTree>
    <p:extLst>
      <p:ext uri="{BB962C8B-B14F-4D97-AF65-F5344CB8AC3E}">
        <p14:creationId xmlns:p14="http://schemas.microsoft.com/office/powerpoint/2010/main" val="1184226988"/>
      </p:ext>
    </p:extLst>
  </p:cSld>
  <p:clrMapOvr>
    <a:masterClrMapping/>
  </p:clrMapOvr>
  <mc:AlternateContent xmlns:mc="http://schemas.openxmlformats.org/markup-compatibility/2006" xmlns:p14="http://schemas.microsoft.com/office/powerpoint/2010/main">
    <mc:Choice Requires="p14">
      <p:transition spd="slow" p14:dur="2000" advTm="19986"/>
    </mc:Choice>
    <mc:Fallback xmlns="">
      <p:transition spd="slow" advTm="19986"/>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992F8-88A1-42A6-84C9-2DD244D1569C}"/>
              </a:ext>
            </a:extLst>
          </p:cNvPr>
          <p:cNvSpPr>
            <a:spLocks noGrp="1"/>
          </p:cNvSpPr>
          <p:nvPr>
            <p:ph type="title"/>
          </p:nvPr>
        </p:nvSpPr>
        <p:spPr/>
        <p:txBody>
          <a:bodyPr>
            <a:normAutofit fontScale="90000"/>
          </a:bodyPr>
          <a:lstStyle/>
          <a:p>
            <a:r>
              <a:rPr lang="en-US" dirty="0"/>
              <a:t>End of Presentation</a:t>
            </a:r>
            <a:endParaRPr lang="en-GB" dirty="0"/>
          </a:p>
        </p:txBody>
      </p:sp>
    </p:spTree>
    <p:extLst>
      <p:ext uri="{BB962C8B-B14F-4D97-AF65-F5344CB8AC3E}">
        <p14:creationId xmlns:p14="http://schemas.microsoft.com/office/powerpoint/2010/main" val="3691370358"/>
      </p:ext>
    </p:extLst>
  </p:cSld>
  <p:clrMapOvr>
    <a:masterClrMapping/>
  </p:clrMapOvr>
  <mc:AlternateContent xmlns:mc="http://schemas.openxmlformats.org/markup-compatibility/2006" xmlns:p14="http://schemas.microsoft.com/office/powerpoint/2010/main">
    <mc:Choice Requires="p14">
      <p:transition spd="slow" p14:dur="2000" advTm="16844"/>
    </mc:Choice>
    <mc:Fallback xmlns="">
      <p:transition spd="slow" advTm="16844"/>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7|26.6"/>
</p:tagLst>
</file>

<file path=ppt/tags/tag2.xml><?xml version="1.0" encoding="utf-8"?>
<p:tagLst xmlns:a="http://schemas.openxmlformats.org/drawingml/2006/main" xmlns:r="http://schemas.openxmlformats.org/officeDocument/2006/relationships" xmlns:p="http://schemas.openxmlformats.org/presentationml/2006/main">
  <p:tag name="TIMING" val="|1.3|2.8|4|40.3|24.9|5.6|5.5|5.6|1.8|6.8|7.9|4.8|15.4|8.8"/>
</p:tagLst>
</file>

<file path=ppt/tags/tag3.xml><?xml version="1.0" encoding="utf-8"?>
<p:tagLst xmlns:a="http://schemas.openxmlformats.org/drawingml/2006/main" xmlns:r="http://schemas.openxmlformats.org/officeDocument/2006/relationships" xmlns:p="http://schemas.openxmlformats.org/presentationml/2006/main">
  <p:tag name="TIMING" val="|13.6|6.4|4.8|5.7|0.9|3.1|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23379</TotalTime>
  <Words>11101</Words>
  <Application>Microsoft Office PowerPoint</Application>
  <PresentationFormat>Widescreen</PresentationFormat>
  <Paragraphs>1007</Paragraphs>
  <Slides>78</Slides>
  <Notes>76</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78</vt:i4>
      </vt:variant>
    </vt:vector>
  </HeadingPairs>
  <TitlesOfParts>
    <vt:vector size="88" baseType="lpstr">
      <vt:lpstr>Arial</vt:lpstr>
      <vt:lpstr>Brush Script MT</vt:lpstr>
      <vt:lpstr>Calibri</vt:lpstr>
      <vt:lpstr>Calibri Light</vt:lpstr>
      <vt:lpstr>Cambria Math</vt:lpstr>
      <vt:lpstr>Symbol</vt:lpstr>
      <vt:lpstr>Times New Roman</vt:lpstr>
      <vt:lpstr>Office Theme</vt:lpstr>
      <vt:lpstr>Custom Design</vt:lpstr>
      <vt:lpstr>Equation.3</vt:lpstr>
      <vt:lpstr>6.0 Non-sinusoidal Waveforms Fourier Analysis </vt:lpstr>
      <vt:lpstr>Learning Outcomes</vt:lpstr>
      <vt:lpstr>Non-Sinusoidal Waveforms – Fourier Analysis</vt:lpstr>
      <vt:lpstr>Other Waveforms</vt:lpstr>
      <vt:lpstr>PowerPoint Presentation</vt:lpstr>
      <vt:lpstr>Fourier Series</vt:lpstr>
      <vt:lpstr>Symmetry in Waveforms</vt:lpstr>
      <vt:lpstr>Even Symmetry     f(t) = f(-t)</vt:lpstr>
      <vt:lpstr>PowerPoint Presentation</vt:lpstr>
      <vt:lpstr>Odd Symmetry     f(t) = (-) f(-t)</vt:lpstr>
      <vt:lpstr>PowerPoint Presentation</vt:lpstr>
      <vt:lpstr>Decomposition into odd and even functions</vt:lpstr>
      <vt:lpstr>Half-wave Symmetry</vt:lpstr>
      <vt:lpstr>PowerPoint Presentation</vt:lpstr>
      <vt:lpstr>Some useful Trigonometric Properties</vt:lpstr>
      <vt:lpstr>Evaluation of Coefficients An and Bn</vt:lpstr>
      <vt:lpstr>PowerPoint Presentation</vt:lpstr>
      <vt:lpstr>PowerPoint Presentation</vt:lpstr>
      <vt:lpstr>Analysis of Symmetrical  Waveforms</vt:lpstr>
      <vt:lpstr>PowerPoint Presentation</vt:lpstr>
      <vt:lpstr>PowerPoint Presentation</vt:lpstr>
      <vt:lpstr>PowerPoint Presentation</vt:lpstr>
      <vt:lpstr>Odd Symmetry</vt:lpstr>
      <vt:lpstr>PowerPoint Presentation</vt:lpstr>
      <vt:lpstr>PowerPoint Presentation</vt:lpstr>
      <vt:lpstr>PowerPoint Presentation</vt:lpstr>
      <vt:lpstr>Half-wave Symmetry</vt:lpstr>
      <vt:lpstr>PowerPoint Presentation</vt:lpstr>
      <vt:lpstr>PowerPoint Presentation</vt:lpstr>
      <vt:lpstr>Summary for waveforms with symmetrical properties</vt:lpstr>
      <vt:lpstr>PowerPoint Presentation</vt:lpstr>
      <vt:lpstr>Piecewise Continuous waveforms</vt:lpstr>
      <vt:lpstr>Line Frequency Spectrum</vt:lpstr>
      <vt:lpstr>Harmonic magnitude and phase angle</vt:lpstr>
      <vt:lpstr>Example 1</vt:lpstr>
      <vt:lpstr>Solution</vt:lpstr>
      <vt:lpstr>PowerPoint Presentation</vt:lpstr>
      <vt:lpstr>Fourier Synthesis of Rectangular Waveform</vt:lpstr>
      <vt:lpstr>Frequency spectrum of  Rectangular waveform</vt:lpstr>
      <vt:lpstr>Example 2</vt:lpstr>
      <vt:lpstr>PowerPoint Presentation</vt:lpstr>
      <vt:lpstr>PowerPoint Presentation</vt:lpstr>
      <vt:lpstr>Example 3</vt:lpstr>
      <vt:lpstr>PowerPoint Presentation</vt:lpstr>
      <vt:lpstr>Derivative of triangular waveform y(t)</vt:lpstr>
      <vt:lpstr>PowerPoint Presentation</vt:lpstr>
      <vt:lpstr>Example 4</vt:lpstr>
      <vt:lpstr>PowerPoint Presentation</vt:lpstr>
      <vt:lpstr>PowerPoint Presentation</vt:lpstr>
      <vt:lpstr>PowerPoint Presentation</vt:lpstr>
      <vt:lpstr>Example 5</vt:lpstr>
      <vt:lpstr>Solution</vt:lpstr>
      <vt:lpstr>PowerPoint Presentation</vt:lpstr>
      <vt:lpstr>PowerPoint Presentation</vt:lpstr>
      <vt:lpstr>Effective Value of a Periodic Waveform</vt:lpstr>
      <vt:lpstr>PowerPoint Presentation</vt:lpstr>
      <vt:lpstr>PowerPoint Presentation</vt:lpstr>
      <vt:lpstr>Calculation of Power and Power Factor associated with Periodic Waveforms</vt:lpstr>
      <vt:lpstr>PowerPoint Presentation</vt:lpstr>
      <vt:lpstr>Example 6</vt:lpstr>
      <vt:lpstr>Overall power factor</vt:lpstr>
      <vt:lpstr>Fundamental displacement factor</vt:lpstr>
      <vt:lpstr>Analysis of Circuits in presence of Harmonics in Source</vt:lpstr>
      <vt:lpstr>Example 7</vt:lpstr>
      <vt:lpstr>Solution</vt:lpstr>
      <vt:lpstr>PowerPoint Presentation</vt:lpstr>
      <vt:lpstr>Harmonic Analysis of Graphical Waveforms</vt:lpstr>
      <vt:lpstr>PowerPoint Presentation</vt:lpstr>
      <vt:lpstr>Example 8</vt:lpstr>
      <vt:lpstr>Solution</vt:lpstr>
      <vt:lpstr>PowerPoint Presentation</vt:lpstr>
      <vt:lpstr>PowerPoint Presentation</vt:lpstr>
      <vt:lpstr>Complex form of the Fourier Series</vt:lpstr>
      <vt:lpstr>PowerPoint Presentation</vt:lpstr>
      <vt:lpstr>PowerPoint Presentation</vt:lpstr>
      <vt:lpstr>PowerPoint Presentation</vt:lpstr>
      <vt:lpstr>PowerPoint Presentation</vt:lpstr>
      <vt:lpstr>End of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 Waveform Characteristics</dc:title>
  <dc:creator>Lucas</dc:creator>
  <cp:lastModifiedBy>Prof. JR Luca</cp:lastModifiedBy>
  <cp:revision>524</cp:revision>
  <dcterms:created xsi:type="dcterms:W3CDTF">2020-04-15T07:17:18Z</dcterms:created>
  <dcterms:modified xsi:type="dcterms:W3CDTF">2021-07-28T01:11:36Z</dcterms:modified>
</cp:coreProperties>
</file>